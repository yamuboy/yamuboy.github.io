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98" r:id="rId1"/>
  </p:sldMasterIdLst>
  <p:notesMasterIdLst>
    <p:notesMasterId r:id="rId23"/>
  </p:notesMasterIdLst>
  <p:handoutMasterIdLst>
    <p:handoutMasterId r:id="rId24"/>
  </p:handoutMasterIdLst>
  <p:sldIdLst>
    <p:sldId id="507" r:id="rId2"/>
    <p:sldId id="508" r:id="rId3"/>
    <p:sldId id="509" r:id="rId4"/>
    <p:sldId id="571" r:id="rId5"/>
    <p:sldId id="614" r:id="rId6"/>
    <p:sldId id="628" r:id="rId7"/>
    <p:sldId id="615" r:id="rId8"/>
    <p:sldId id="616" r:id="rId9"/>
    <p:sldId id="618" r:id="rId10"/>
    <p:sldId id="617" r:id="rId11"/>
    <p:sldId id="629" r:id="rId12"/>
    <p:sldId id="599" r:id="rId13"/>
    <p:sldId id="623" r:id="rId14"/>
    <p:sldId id="624" r:id="rId15"/>
    <p:sldId id="625" r:id="rId16"/>
    <p:sldId id="626" r:id="rId17"/>
    <p:sldId id="621" r:id="rId18"/>
    <p:sldId id="627" r:id="rId19"/>
    <p:sldId id="631" r:id="rId20"/>
    <p:sldId id="606" r:id="rId21"/>
    <p:sldId id="550" r:id="rId22"/>
  </p:sldIdLst>
  <p:sldSz cx="9144000" cy="6858000" type="screen4x3"/>
  <p:notesSz cx="7010400" cy="9296400"/>
  <p:custDataLst>
    <p:tags r:id="rId25"/>
  </p:custDataLst>
  <p:defaultTextStyle>
    <a:defPPr>
      <a:defRPr lang="en-US"/>
    </a:defPPr>
    <a:lvl1pPr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8">
          <p15:clr>
            <a:srgbClr val="A4A3A4"/>
          </p15:clr>
        </p15:guide>
        <p15:guide id="2" orient="horz" pos="3889">
          <p15:clr>
            <a:srgbClr val="A4A3A4"/>
          </p15:clr>
        </p15:guide>
        <p15:guide id="3" orient="horz" pos="722">
          <p15:clr>
            <a:srgbClr val="A4A3A4"/>
          </p15:clr>
        </p15:guide>
        <p15:guide id="4" pos="2880">
          <p15:clr>
            <a:srgbClr val="A4A3A4"/>
          </p15:clr>
        </p15:guide>
        <p15:guide id="5" pos="260">
          <p15:clr>
            <a:srgbClr val="A4A3A4"/>
          </p15:clr>
        </p15:guide>
        <p15:guide id="6" pos="54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DDDDD"/>
    <a:srgbClr val="EAEAEA"/>
    <a:srgbClr val="C0C0C0"/>
    <a:srgbClr val="B2B2B2"/>
    <a:srgbClr val="FFFF66"/>
    <a:srgbClr val="3333CC"/>
    <a:srgbClr val="FF00CC"/>
    <a:srgbClr val="CBCBD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57" autoAdjust="0"/>
  </p:normalViewPr>
  <p:slideViewPr>
    <p:cSldViewPr snapToGrid="0">
      <p:cViewPr varScale="1">
        <p:scale>
          <a:sx n="76" d="100"/>
          <a:sy n="76" d="100"/>
        </p:scale>
        <p:origin x="307" y="67"/>
      </p:cViewPr>
      <p:guideLst>
        <p:guide orient="horz" pos="948"/>
        <p:guide orient="horz" pos="3889"/>
        <p:guide orient="horz" pos="722"/>
        <p:guide pos="2880"/>
        <p:guide pos="260"/>
        <p:guide pos="5499"/>
      </p:guideLst>
    </p:cSldViewPr>
  </p:slideViewPr>
  <p:outlineViewPr>
    <p:cViewPr>
      <p:scale>
        <a:sx n="33" d="100"/>
        <a:sy n="33" d="100"/>
      </p:scale>
      <p:origin x="0" y="-13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1136"/>
    </p:cViewPr>
  </p:sorterViewPr>
  <p:notesViewPr>
    <p:cSldViewPr snapToGrid="0">
      <p:cViewPr varScale="1">
        <p:scale>
          <a:sx n="97" d="100"/>
          <a:sy n="97" d="100"/>
        </p:scale>
        <p:origin x="-1698" y="-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576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23381-AFEF-490F-AA45-31EC49CF1500}" type="datetimeFigureOut">
              <a:rPr lang="en-US" smtClean="0"/>
              <a:pPr/>
              <a:t>4/14/2017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576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BF31A-114D-494C-A5D5-F6526D1752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866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576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A216A-1E3F-4AD2-B74F-855E5673142F}" type="datetimeFigureOut">
              <a:rPr lang="en-US" smtClean="0"/>
              <a:pPr/>
              <a:t>4/14/2017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413" y="4415133"/>
            <a:ext cx="5609574" cy="4183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576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09BFF-9304-4EE8-967B-56F816FBB8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38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489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199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737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580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338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A09BFF-9304-4EE8-967B-56F816FBB8C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237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806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975EE82-340F-498E-817E-1433A48CF702}" type="slidenum">
              <a:rPr lang="en-US" altLang="en-US" sz="1200"/>
              <a:pPr eaLnBrk="1" hangingPunct="1"/>
              <a:t>12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80016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88AF8A9B-EB35-4388-998E-5DF5E360925A}" type="datetime1">
              <a:rPr lang="en-US" altLang="en-US" smtClean="0"/>
              <a:pPr>
                <a:defRPr/>
              </a:pPr>
              <a:t>4/14/2017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/>
              <a:t>Proprietary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34EB26-5FAB-4E11-9281-1574D5202000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0797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DA336-A14B-4867-882E-F8AF67F518D9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545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panose="020B0604020202020204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84BA9E0-44F8-4B58-A8B6-4F1626FAAB0E}" type="slidenum">
              <a:rPr lang="en-US" altLang="en-US" sz="1200"/>
              <a:pPr eaLnBrk="1" hangingPunct="1"/>
              <a:t>20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22754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994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4231" y="930872"/>
            <a:ext cx="2817272" cy="7399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2943225"/>
            <a:ext cx="6400800" cy="6400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MACOM Title Slide </a:t>
            </a:r>
            <a:br>
              <a:rPr lang="en-US" dirty="0" smtClean="0"/>
            </a:br>
            <a:r>
              <a:rPr lang="en-US" dirty="0" smtClean="0"/>
              <a:t>Arial Black 24pt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3749040"/>
            <a:ext cx="4572000" cy="731520"/>
          </a:xfrm>
        </p:spPr>
        <p:txBody>
          <a:bodyPr/>
          <a:lstStyle>
            <a:lvl1pPr marL="0" indent="0">
              <a:spcBef>
                <a:spcPts val="600"/>
              </a:spcBef>
              <a:buFontTx/>
              <a:buNone/>
              <a:defRPr sz="1800" baseline="0">
                <a:solidFill>
                  <a:schemeClr val="bg1"/>
                </a:solidFill>
              </a:defRPr>
            </a:lvl1pPr>
            <a:lvl2pPr marL="400050" indent="0">
              <a:buFontTx/>
              <a:buNone/>
              <a:defRPr/>
            </a:lvl2pPr>
            <a:lvl3pPr marL="800100" indent="0">
              <a:buFontTx/>
              <a:buNone/>
              <a:defRPr/>
            </a:lvl3pPr>
            <a:lvl4pPr marL="1143000" indent="0">
              <a:buFontTx/>
              <a:buNone/>
              <a:defRPr/>
            </a:lvl4pPr>
            <a:lvl5pPr marL="1543050" indent="0">
              <a:buFontTx/>
              <a:buNone/>
              <a:defRPr/>
            </a:lvl5pPr>
          </a:lstStyle>
          <a:p>
            <a:r>
              <a:rPr lang="en-US" dirty="0" smtClean="0"/>
              <a:t>Click to edit Subhead Arial 18pt</a:t>
            </a:r>
            <a:br>
              <a:rPr lang="en-US" dirty="0" smtClean="0"/>
            </a:br>
            <a:r>
              <a:rPr lang="en-US" dirty="0" smtClean="0"/>
              <a:t>Presenter Name and Date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3400"/>
            <a:ext cx="9144000" cy="2514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2426"/>
            <a:ext cx="8766807" cy="27797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3715" y="346569"/>
            <a:ext cx="1484623" cy="247437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88554" y="1920240"/>
            <a:ext cx="7315200" cy="64008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188554" y="2651760"/>
            <a:ext cx="7315200" cy="914400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00050" indent="0">
              <a:buFontTx/>
              <a:buNone/>
              <a:defRPr/>
            </a:lvl2pPr>
            <a:lvl3pPr marL="800100" indent="0">
              <a:buFontTx/>
              <a:buNone/>
              <a:defRPr/>
            </a:lvl3pPr>
            <a:lvl4pPr marL="1143000" indent="0">
              <a:buFontTx/>
              <a:buNone/>
              <a:defRPr/>
            </a:lvl4pPr>
            <a:lvl5pPr marL="154305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2750" y="310896"/>
            <a:ext cx="6400800" cy="36576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1"/>
          </p:nvPr>
        </p:nvSpPr>
        <p:spPr bwMode="gray">
          <a:xfrm>
            <a:off x="412749" y="676275"/>
            <a:ext cx="8316913" cy="365760"/>
          </a:xfrm>
        </p:spPr>
        <p:txBody>
          <a:bodyPr anchor="t" anchorCtr="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61130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12750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711383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12750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711383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750" y="310896"/>
            <a:ext cx="6400800" cy="3657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1"/>
          </p:nvPr>
        </p:nvSpPr>
        <p:spPr bwMode="gray">
          <a:xfrm>
            <a:off x="412749" y="676275"/>
            <a:ext cx="6400800" cy="365760"/>
          </a:xfrm>
        </p:spPr>
        <p:txBody>
          <a:bodyPr anchor="t" anchorCtr="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7672987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12750" y="1504950"/>
            <a:ext cx="4018280" cy="64008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>
              <a:spcBef>
                <a:spcPts val="0"/>
              </a:spcBef>
              <a:buNone/>
              <a:defRPr lang="en-US" sz="1800" b="1" dirty="0" smtClean="0">
                <a:latin typeface="+mj-lt"/>
              </a:defRPr>
            </a:lvl1pPr>
          </a:lstStyle>
          <a:p>
            <a:pPr marL="0" lvl="0" indent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12750" y="2126744"/>
            <a:ext cx="4018280" cy="4047044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>
              <a:spcBef>
                <a:spcPts val="800"/>
              </a:spcBef>
              <a:defRPr sz="1600"/>
            </a:lvl4pPr>
            <a:lvl5pPr marL="1600200" indent="-228600">
              <a:spcBef>
                <a:spcPts val="8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4711383" y="1504950"/>
            <a:ext cx="4018280" cy="64008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>
              <a:spcBef>
                <a:spcPts val="0"/>
              </a:spcBef>
              <a:buNone/>
              <a:defRPr lang="en-US" sz="1800" b="1" dirty="0" smtClean="0">
                <a:latin typeface="+mj-lt"/>
              </a:defRPr>
            </a:lvl1pPr>
          </a:lstStyle>
          <a:p>
            <a:pPr marL="0" lvl="0" indent="0"/>
            <a:r>
              <a:rPr lang="en-US" smtClean="0"/>
              <a:t>Click to edit Master text styles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4"/>
          </p:nvPr>
        </p:nvSpPr>
        <p:spPr bwMode="gray">
          <a:xfrm>
            <a:off x="4711383" y="2126744"/>
            <a:ext cx="4018280" cy="4047044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138" y="4988742"/>
            <a:ext cx="6330615" cy="993474"/>
          </a:xfr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3" name="Picture 2" descr="banner 8 Jan_small.jp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203575"/>
            <a:ext cx="9144000" cy="1792733"/>
          </a:xfrm>
          <a:prstGeom prst="rect">
            <a:avLst/>
          </a:prstGeom>
        </p:spPr>
      </p:pic>
      <p:pic>
        <p:nvPicPr>
          <p:cNvPr id="4" name="Picture 3" descr="MACOM wrdmrk 3025 TM Tag RFLT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0250" y="1600200"/>
            <a:ext cx="344658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8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2122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9223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9675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885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039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4768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8744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9785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261" y="202980"/>
            <a:ext cx="6144799" cy="4608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Arial" pitchFamily="34" charset="0"/>
              <a:buChar char="•"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24260" y="663575"/>
            <a:ext cx="6144815" cy="422275"/>
          </a:xfrm>
        </p:spPr>
        <p:txBody>
          <a:bodyPr lIns="90000" tIns="46800" rIns="90000" bIns="46800"/>
          <a:lstStyle>
            <a:lvl1pPr marL="0" indent="1588">
              <a:buNone/>
              <a:tabLst/>
              <a:defRPr sz="1800">
                <a:solidFill>
                  <a:srgbClr val="8996A0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4"/>
          </p:nvPr>
        </p:nvSpPr>
        <p:spPr>
          <a:xfrm>
            <a:off x="3311525" y="6508750"/>
            <a:ext cx="2519363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95CFEC9-DCDE-483F-9C62-EBF9D31C73AA}" type="datetime3">
              <a:rPr lang="en-US" smtClean="0"/>
              <a:pPr>
                <a:defRPr/>
              </a:pPr>
              <a:t>14 April 2017</a:t>
            </a:fld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5"/>
          </p:nvPr>
        </p:nvSpPr>
        <p:spPr>
          <a:xfrm>
            <a:off x="431800" y="6508750"/>
            <a:ext cx="381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0600ADF-17AC-4085-9C50-2A0435A0545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9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3400"/>
            <a:ext cx="9144000" cy="2514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3715" y="346569"/>
            <a:ext cx="1484623" cy="247437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 bwMode="auto">
          <a:xfrm>
            <a:off x="0" y="1147763"/>
            <a:ext cx="8774810" cy="0"/>
          </a:xfrm>
          <a:prstGeom prst="line">
            <a:avLst/>
          </a:prstGeom>
          <a:solidFill>
            <a:schemeClr val="accent2"/>
          </a:solidFill>
          <a:ln w="28575" cap="sq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12750" y="310896"/>
            <a:ext cx="64008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55398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12751" y="1504951"/>
            <a:ext cx="8316912" cy="466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53996" name="Text Box 12"/>
          <p:cNvSpPr txBox="1">
            <a:spLocks noChangeArrowheads="1"/>
          </p:cNvSpPr>
          <p:nvPr userDrawn="1"/>
        </p:nvSpPr>
        <p:spPr bwMode="gray">
          <a:xfrm>
            <a:off x="412750" y="6557963"/>
            <a:ext cx="5600700" cy="300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91440" tIns="45720" rIns="91440" bIns="45720"/>
          <a:lstStyle/>
          <a:p>
            <a:pPr algn="l">
              <a:spcBef>
                <a:spcPts val="900"/>
              </a:spcBef>
            </a:pPr>
            <a:r>
              <a:rPr lang="en-US" sz="1000" kern="1200" dirty="0" smtClean="0">
                <a:solidFill>
                  <a:schemeClr val="tx2"/>
                </a:solidFill>
                <a:latin typeface="Arial" charset="0"/>
                <a:ea typeface="+mn-ea"/>
                <a:cs typeface="+mn-cs"/>
              </a:rPr>
              <a:t>Company Confidential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gray">
          <a:xfrm>
            <a:off x="7926388" y="6557963"/>
            <a:ext cx="803275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32004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78AFB4-C6FC-46C2-866E-1D035D18C5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1" r:id="rId2"/>
    <p:sldLayoutId id="2147483700" r:id="rId3"/>
    <p:sldLayoutId id="2147483713" r:id="rId4"/>
    <p:sldLayoutId id="2147483702" r:id="rId5"/>
    <p:sldLayoutId id="2147483715" r:id="rId6"/>
    <p:sldLayoutId id="2147483712" r:id="rId7"/>
    <p:sldLayoutId id="2147483704" r:id="rId8"/>
    <p:sldLayoutId id="2147483705" r:id="rId9"/>
    <p:sldLayoutId id="2147483716" r:id="rId10"/>
    <p:sldLayoutId id="2147483717" r:id="rId11"/>
    <p:sldLayoutId id="2147483721" r:id="rId12"/>
    <p:sldLayoutId id="2147483722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</p:sldLayoutIdLst>
  <p:transition>
    <p:wipe dir="r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 u="none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285750" indent="-285750" algn="l" rtl="0" eaLnBrk="1" fontAlgn="base" hangingPunct="1">
        <a:lnSpc>
          <a:spcPct val="95000"/>
        </a:lnSpc>
        <a:spcBef>
          <a:spcPts val="1200"/>
        </a:spcBef>
        <a:spcAft>
          <a:spcPct val="0"/>
        </a:spcAft>
        <a:buClr>
          <a:schemeClr val="accent2"/>
        </a:buClr>
        <a:buFont typeface="Arial Black" panose="020B0A04020102020204" pitchFamily="34" charset="0"/>
        <a:buChar char="&gt;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800">
          <a:solidFill>
            <a:schemeClr val="tx2"/>
          </a:solidFill>
          <a:latin typeface="+mn-lt"/>
        </a:defRPr>
      </a:lvl2pPr>
      <a:lvl3pPr marL="85725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3pPr>
      <a:lvl4pPr marL="11430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4pPr>
      <a:lvl5pPr marL="14859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5pPr>
      <a:lvl6pPr marL="22288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emf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2.emf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Microsoft_Excel_97-2003_Worksheet1.xls"/><Relationship Id="rId5" Type="http://schemas.openxmlformats.org/officeDocument/2006/relationships/oleObject" Target="../embeddings/oleObject1.bin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848955"/>
            <a:ext cx="7136296" cy="6400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MACOM</a:t>
            </a:r>
            <a:br>
              <a:rPr lang="en-US" dirty="0" smtClean="0"/>
            </a:br>
            <a:r>
              <a:rPr lang="en-US" dirty="0" smtClean="0"/>
              <a:t>Diode Products – NLTL Comb Generators</a:t>
            </a:r>
            <a:br>
              <a:rPr lang="en-US" dirty="0" smtClean="0"/>
            </a:br>
            <a:r>
              <a:rPr lang="en-US" dirty="0" smtClean="0"/>
              <a:t>rev 0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914400" y="3777321"/>
            <a:ext cx="4572000" cy="731520"/>
          </a:xfrm>
        </p:spPr>
        <p:txBody>
          <a:bodyPr/>
          <a:lstStyle/>
          <a:p>
            <a:r>
              <a:rPr lang="en-US" dirty="0" smtClean="0"/>
              <a:t>Joe Bukowski, Rick Cory</a:t>
            </a:r>
          </a:p>
          <a:p>
            <a:r>
              <a:rPr lang="en-US" dirty="0" smtClean="0"/>
              <a:t>11 April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30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6795" y="422029"/>
            <a:ext cx="52475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 smtClean="0"/>
              <a:t>Product Families</a:t>
            </a:r>
          </a:p>
        </p:txBody>
      </p:sp>
      <p:sp>
        <p:nvSpPr>
          <p:cNvPr id="30" name="Freeform 29"/>
          <p:cNvSpPr/>
          <p:nvPr/>
        </p:nvSpPr>
        <p:spPr>
          <a:xfrm>
            <a:off x="3572029" y="3457545"/>
            <a:ext cx="1674580" cy="1150965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kern="1200" dirty="0" smtClean="0"/>
              <a:t>Diode Products</a:t>
            </a:r>
            <a:endParaRPr lang="en-US" sz="2400" b="1" kern="1200" dirty="0"/>
          </a:p>
        </p:txBody>
      </p:sp>
      <p:sp>
        <p:nvSpPr>
          <p:cNvPr id="32" name="Freeform 31"/>
          <p:cNvSpPr/>
          <p:nvPr/>
        </p:nvSpPr>
        <p:spPr>
          <a:xfrm>
            <a:off x="3689087" y="1488128"/>
            <a:ext cx="1371600" cy="1245435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  <a:ln w="57150">
            <a:solidFill>
              <a:schemeClr val="bg2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kern="1200" dirty="0" smtClean="0"/>
              <a:t>PIN/NIP Diodes: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dirty="0" smtClean="0"/>
              <a:t>Switching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kern="1200" dirty="0" smtClean="0"/>
              <a:t>Attenuation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dirty="0" smtClean="0"/>
              <a:t>Limiting</a:t>
            </a:r>
            <a:endParaRPr lang="en-US" sz="1400" b="1" kern="1200" dirty="0"/>
          </a:p>
        </p:txBody>
      </p:sp>
      <p:sp>
        <p:nvSpPr>
          <p:cNvPr id="34" name="Freeform 33"/>
          <p:cNvSpPr/>
          <p:nvPr/>
        </p:nvSpPr>
        <p:spPr>
          <a:xfrm>
            <a:off x="5952417" y="2418202"/>
            <a:ext cx="1371600" cy="100584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  <a:ln w="57150">
            <a:solidFill>
              <a:schemeClr val="bg1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tabLst>
                <a:tab pos="1603375" algn="l"/>
              </a:tabLst>
            </a:pPr>
            <a:r>
              <a:rPr lang="en-US" sz="1200" b="1" kern="1200" dirty="0" smtClean="0"/>
              <a:t>Schottky Diodes: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tabLst>
                <a:tab pos="1603375" algn="l"/>
              </a:tabLst>
            </a:pPr>
            <a:r>
              <a:rPr lang="en-US" sz="1200" b="1" dirty="0" smtClean="0"/>
              <a:t>Detection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tabLst>
                <a:tab pos="1603375" algn="l"/>
              </a:tabLst>
            </a:pPr>
            <a:r>
              <a:rPr lang="en-US" sz="1200" b="1" kern="1200" dirty="0" smtClean="0"/>
              <a:t>Frequency Mixing</a:t>
            </a:r>
            <a:endParaRPr lang="en-US" sz="1200" b="1" kern="1200" dirty="0"/>
          </a:p>
        </p:txBody>
      </p:sp>
      <p:sp>
        <p:nvSpPr>
          <p:cNvPr id="36" name="Freeform 35"/>
          <p:cNvSpPr/>
          <p:nvPr/>
        </p:nvSpPr>
        <p:spPr>
          <a:xfrm>
            <a:off x="1530167" y="4547701"/>
            <a:ext cx="1371600" cy="1005840"/>
          </a:xfrm>
          <a:custGeom>
            <a:avLst/>
            <a:gdLst>
              <a:gd name="connsiteX0" fmla="*/ 0 w 1196197"/>
              <a:gd name="connsiteY0" fmla="*/ 85508 h 855077"/>
              <a:gd name="connsiteX1" fmla="*/ 25045 w 1196197"/>
              <a:gd name="connsiteY1" fmla="*/ 25045 h 855077"/>
              <a:gd name="connsiteX2" fmla="*/ 85508 w 1196197"/>
              <a:gd name="connsiteY2" fmla="*/ 0 h 855077"/>
              <a:gd name="connsiteX3" fmla="*/ 1110689 w 1196197"/>
              <a:gd name="connsiteY3" fmla="*/ 0 h 855077"/>
              <a:gd name="connsiteX4" fmla="*/ 1171152 w 1196197"/>
              <a:gd name="connsiteY4" fmla="*/ 25045 h 855077"/>
              <a:gd name="connsiteX5" fmla="*/ 1196197 w 1196197"/>
              <a:gd name="connsiteY5" fmla="*/ 85508 h 855077"/>
              <a:gd name="connsiteX6" fmla="*/ 1196197 w 1196197"/>
              <a:gd name="connsiteY6" fmla="*/ 769569 h 855077"/>
              <a:gd name="connsiteX7" fmla="*/ 1171152 w 1196197"/>
              <a:gd name="connsiteY7" fmla="*/ 830032 h 855077"/>
              <a:gd name="connsiteX8" fmla="*/ 1110689 w 1196197"/>
              <a:gd name="connsiteY8" fmla="*/ 855077 h 855077"/>
              <a:gd name="connsiteX9" fmla="*/ 85508 w 1196197"/>
              <a:gd name="connsiteY9" fmla="*/ 855077 h 855077"/>
              <a:gd name="connsiteX10" fmla="*/ 25045 w 1196197"/>
              <a:gd name="connsiteY10" fmla="*/ 830032 h 855077"/>
              <a:gd name="connsiteX11" fmla="*/ 0 w 1196197"/>
              <a:gd name="connsiteY11" fmla="*/ 769569 h 855077"/>
              <a:gd name="connsiteX12" fmla="*/ 0 w 1196197"/>
              <a:gd name="connsiteY12" fmla="*/ 85508 h 85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855077">
                <a:moveTo>
                  <a:pt x="0" y="85508"/>
                </a:moveTo>
                <a:cubicBezTo>
                  <a:pt x="0" y="62830"/>
                  <a:pt x="9009" y="41081"/>
                  <a:pt x="25045" y="25045"/>
                </a:cubicBezTo>
                <a:cubicBezTo>
                  <a:pt x="41081" y="9009"/>
                  <a:pt x="62830" y="0"/>
                  <a:pt x="85508" y="0"/>
                </a:cubicBezTo>
                <a:lnTo>
                  <a:pt x="1110689" y="0"/>
                </a:lnTo>
                <a:cubicBezTo>
                  <a:pt x="1133367" y="0"/>
                  <a:pt x="1155116" y="9009"/>
                  <a:pt x="1171152" y="25045"/>
                </a:cubicBezTo>
                <a:cubicBezTo>
                  <a:pt x="1187188" y="41081"/>
                  <a:pt x="1196197" y="62830"/>
                  <a:pt x="1196197" y="85508"/>
                </a:cubicBezTo>
                <a:lnTo>
                  <a:pt x="1196197" y="769569"/>
                </a:lnTo>
                <a:cubicBezTo>
                  <a:pt x="1196197" y="792247"/>
                  <a:pt x="1187188" y="813996"/>
                  <a:pt x="1171152" y="830032"/>
                </a:cubicBezTo>
                <a:cubicBezTo>
                  <a:pt x="1155116" y="846068"/>
                  <a:pt x="1133367" y="855077"/>
                  <a:pt x="1110689" y="855077"/>
                </a:cubicBezTo>
                <a:lnTo>
                  <a:pt x="85508" y="855077"/>
                </a:lnTo>
                <a:cubicBezTo>
                  <a:pt x="62830" y="855077"/>
                  <a:pt x="41081" y="846068"/>
                  <a:pt x="25045" y="830032"/>
                </a:cubicBezTo>
                <a:cubicBezTo>
                  <a:pt x="9009" y="813996"/>
                  <a:pt x="0" y="792247"/>
                  <a:pt x="0" y="769569"/>
                </a:cubicBezTo>
                <a:lnTo>
                  <a:pt x="0" y="85508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204" tIns="35204" rIns="35204" bIns="35204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/>
              <a:t>Attenuators</a:t>
            </a:r>
            <a:endParaRPr lang="en-US" sz="1600" b="1" kern="1200" dirty="0"/>
          </a:p>
        </p:txBody>
      </p:sp>
      <p:sp>
        <p:nvSpPr>
          <p:cNvPr id="38" name="Freeform 37"/>
          <p:cNvSpPr/>
          <p:nvPr/>
        </p:nvSpPr>
        <p:spPr>
          <a:xfrm>
            <a:off x="1530167" y="2400774"/>
            <a:ext cx="1371600" cy="100584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Varactor Diodes: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Tuning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Phase Shifting</a:t>
            </a:r>
            <a:endParaRPr lang="en-US" sz="1200" b="1" kern="1200" dirty="0"/>
          </a:p>
        </p:txBody>
      </p:sp>
      <p:sp>
        <p:nvSpPr>
          <p:cNvPr id="40" name="Freeform 39"/>
          <p:cNvSpPr/>
          <p:nvPr/>
        </p:nvSpPr>
        <p:spPr>
          <a:xfrm>
            <a:off x="3682783" y="5343763"/>
            <a:ext cx="1371600" cy="1347156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  <a:ln w="57150">
            <a:solidFill>
              <a:schemeClr val="bg1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Passive Devices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RF Chokes/Inductors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MNS Capacitors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Resistors</a:t>
            </a:r>
            <a:endParaRPr lang="en-US" sz="1200" b="1" kern="1200" dirty="0"/>
          </a:p>
        </p:txBody>
      </p:sp>
      <p:sp>
        <p:nvSpPr>
          <p:cNvPr id="42" name="Freeform 41"/>
          <p:cNvSpPr/>
          <p:nvPr/>
        </p:nvSpPr>
        <p:spPr>
          <a:xfrm>
            <a:off x="5952417" y="4540776"/>
            <a:ext cx="1371600" cy="100584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  <a:ln w="57150">
            <a:solidFill>
              <a:srgbClr val="FF0000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Multiplier Diodes: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Frequency Multiplication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Waveshaping</a:t>
            </a:r>
            <a:endParaRPr lang="en-US" sz="1200" b="1" kern="1200" dirty="0"/>
          </a:p>
        </p:txBody>
      </p:sp>
      <p:cxnSp>
        <p:nvCxnSpPr>
          <p:cNvPr id="65" name="Straight Arrow Connector 64"/>
          <p:cNvCxnSpPr/>
          <p:nvPr/>
        </p:nvCxnSpPr>
        <p:spPr>
          <a:xfrm flipH="1" flipV="1">
            <a:off x="4383742" y="2838484"/>
            <a:ext cx="6304" cy="5028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 flipV="1">
            <a:off x="2994212" y="3179143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369616" y="3179143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369616" y="4547701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2994212" y="4547701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368583" y="4724702"/>
            <a:ext cx="6304" cy="5028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19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164" y="126938"/>
            <a:ext cx="597869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 smtClean="0"/>
              <a:t>Product Configurations</a:t>
            </a:r>
          </a:p>
        </p:txBody>
      </p:sp>
      <p:sp>
        <p:nvSpPr>
          <p:cNvPr id="48" name="Freeform 47"/>
          <p:cNvSpPr/>
          <p:nvPr/>
        </p:nvSpPr>
        <p:spPr>
          <a:xfrm>
            <a:off x="3833492" y="3078218"/>
            <a:ext cx="1698286" cy="952726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00206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 smtClean="0"/>
              <a:t>Packaged </a:t>
            </a:r>
            <a:r>
              <a:rPr lang="en-US" b="1" dirty="0"/>
              <a:t>Solutions</a:t>
            </a:r>
          </a:p>
        </p:txBody>
      </p:sp>
      <p:cxnSp>
        <p:nvCxnSpPr>
          <p:cNvPr id="103" name="Straight Arrow Connector 102"/>
          <p:cNvCxnSpPr/>
          <p:nvPr/>
        </p:nvCxnSpPr>
        <p:spPr>
          <a:xfrm flipH="1" flipV="1">
            <a:off x="3139247" y="3543278"/>
            <a:ext cx="438766" cy="113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64" y="2193551"/>
            <a:ext cx="2401204" cy="27446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070" y="2792896"/>
            <a:ext cx="2077227" cy="1855580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 flipV="1">
            <a:off x="5787257" y="3554580"/>
            <a:ext cx="438766" cy="113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48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Comb Generators</a:t>
            </a:r>
            <a:endParaRPr lang="en-US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SRD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NLTL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62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comb generator produces even- and odd-order harmonics of an input signal</a:t>
            </a:r>
          </a:p>
          <a:p>
            <a:r>
              <a:rPr lang="en-US" sz="2400" dirty="0" smtClean="0"/>
              <a:t>Comb generation requires a nonlinear impedance (NLZ) device to distort the input sinusoidal signal</a:t>
            </a:r>
          </a:p>
          <a:p>
            <a:r>
              <a:rPr lang="en-US" sz="2400" dirty="0" smtClean="0"/>
              <a:t>Step recovery diodes (SRDs) have been used as </a:t>
            </a:r>
            <a:r>
              <a:rPr lang="en-US" sz="2400" dirty="0" err="1" smtClean="0"/>
              <a:t>NLZ</a:t>
            </a:r>
            <a:r>
              <a:rPr lang="en-US" sz="2400" dirty="0" smtClean="0"/>
              <a:t> devices</a:t>
            </a:r>
          </a:p>
          <a:p>
            <a:r>
              <a:rPr lang="en-US" sz="2400" dirty="0" smtClean="0"/>
              <a:t>Varactor diodes are </a:t>
            </a:r>
            <a:r>
              <a:rPr lang="en-US" sz="2400" dirty="0" err="1" smtClean="0"/>
              <a:t>NLZ</a:t>
            </a:r>
            <a:r>
              <a:rPr lang="en-US" sz="2400" dirty="0" smtClean="0"/>
              <a:t> devices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 Generation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2667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554" y="2310531"/>
            <a:ext cx="7315200" cy="640080"/>
          </a:xfrm>
        </p:spPr>
        <p:txBody>
          <a:bodyPr>
            <a:noAutofit/>
          </a:bodyPr>
          <a:lstStyle/>
          <a:p>
            <a:r>
              <a:rPr lang="en-US" sz="3600" dirty="0" smtClean="0"/>
              <a:t>Step Recovery Diode Comb Generators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8537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318052" y="1306171"/>
            <a:ext cx="4303644" cy="4668838"/>
          </a:xfrm>
        </p:spPr>
        <p:txBody>
          <a:bodyPr/>
          <a:lstStyle/>
          <a:p>
            <a:r>
              <a:rPr lang="en-US" dirty="0" smtClean="0"/>
              <a:t>An SRD is a 3-layer device, similar to PIN diode</a:t>
            </a:r>
          </a:p>
          <a:p>
            <a:pPr lvl="1"/>
            <a:r>
              <a:rPr lang="en-US" dirty="0" smtClean="0"/>
              <a:t>Middle layer of SRD has higher n-type dopant concentration than I layer of PIN diode</a:t>
            </a:r>
          </a:p>
          <a:p>
            <a:r>
              <a:rPr lang="en-US" dirty="0" smtClean="0"/>
              <a:t>Under forward bias, center layer stores charge</a:t>
            </a:r>
          </a:p>
          <a:p>
            <a:r>
              <a:rPr lang="en-US" dirty="0" smtClean="0"/>
              <a:t>As input signal reverses polarity</a:t>
            </a:r>
          </a:p>
          <a:p>
            <a:pPr lvl="1"/>
            <a:r>
              <a:rPr lang="en-US" dirty="0" smtClean="0"/>
              <a:t>Initially, charge is conducted from diode and its impedance remains low</a:t>
            </a:r>
          </a:p>
          <a:p>
            <a:pPr lvl="1"/>
            <a:r>
              <a:rPr lang="en-US" dirty="0" smtClean="0"/>
              <a:t>When large majority of charge is removed, hole-electron recombination becomes dominant and diode “snaps off” (impedance transitions from very low to very high)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4711383" y="4065104"/>
            <a:ext cx="4018280" cy="2514600"/>
          </a:xfrm>
        </p:spPr>
        <p:txBody>
          <a:bodyPr/>
          <a:lstStyle/>
          <a:p>
            <a:r>
              <a:rPr lang="en-US" dirty="0" smtClean="0"/>
              <a:t>SRD parameters</a:t>
            </a:r>
          </a:p>
          <a:p>
            <a:pPr lvl="1"/>
            <a:r>
              <a:rPr lang="en-US" dirty="0" smtClean="0"/>
              <a:t>Carrier Lifetime (T</a:t>
            </a:r>
            <a:r>
              <a:rPr lang="en-US" baseline="-25000" dirty="0" smtClean="0"/>
              <a:t>L</a:t>
            </a:r>
            <a:r>
              <a:rPr lang="en-US" dirty="0" smtClean="0"/>
              <a:t> or </a:t>
            </a:r>
            <a:r>
              <a:rPr lang="en-US" dirty="0" smtClean="0">
                <a:sym typeface="Symbol" panose="05050102010706020507" pitchFamily="18" charset="2"/>
              </a:rPr>
              <a:t>)</a:t>
            </a:r>
          </a:p>
          <a:p>
            <a:pPr lvl="1"/>
            <a:r>
              <a:rPr lang="en-US" dirty="0" smtClean="0">
                <a:sym typeface="Symbol" panose="05050102010706020507" pitchFamily="18" charset="2"/>
              </a:rPr>
              <a:t>Transition time (T</a:t>
            </a:r>
            <a:r>
              <a:rPr lang="en-US" baseline="-25000" dirty="0" smtClean="0">
                <a:sym typeface="Symbol" panose="05050102010706020507" pitchFamily="18" charset="2"/>
              </a:rPr>
              <a:t>T</a:t>
            </a:r>
            <a:r>
              <a:rPr lang="en-US" dirty="0" smtClean="0">
                <a:sym typeface="Symbol" panose="05050102010706020507" pitchFamily="18" charset="2"/>
              </a:rPr>
              <a:t>) </a:t>
            </a:r>
          </a:p>
          <a:p>
            <a:pPr lvl="2"/>
            <a:r>
              <a:rPr lang="en-US" dirty="0" smtClean="0">
                <a:sym typeface="Symbol" panose="05050102010706020507" pitchFamily="18" charset="2"/>
              </a:rPr>
              <a:t>AKA snap time (T</a:t>
            </a:r>
            <a:r>
              <a:rPr lang="en-US" baseline="-25000" dirty="0" smtClean="0">
                <a:sym typeface="Symbol" panose="05050102010706020507" pitchFamily="18" charset="2"/>
              </a:rPr>
              <a:t>S</a:t>
            </a:r>
            <a:r>
              <a:rPr lang="en-US" dirty="0" smtClean="0"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dirty="0" smtClean="0">
                <a:sym typeface="Symbol" panose="05050102010706020507" pitchFamily="18" charset="2"/>
              </a:rPr>
              <a:t>Junction capacitance (C</a:t>
            </a:r>
            <a:r>
              <a:rPr lang="en-US" baseline="-25000" dirty="0" smtClean="0">
                <a:sym typeface="Symbol" panose="05050102010706020507" pitchFamily="18" charset="2"/>
              </a:rPr>
              <a:t>J</a:t>
            </a:r>
            <a:r>
              <a:rPr lang="en-US" dirty="0" smtClean="0"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dirty="0" smtClean="0">
                <a:sym typeface="Symbol" panose="05050102010706020507" pitchFamily="18" charset="2"/>
              </a:rPr>
              <a:t>Reverse breakdown voltage (V</a:t>
            </a:r>
            <a:r>
              <a:rPr lang="en-US" baseline="-25000" dirty="0" smtClean="0">
                <a:sym typeface="Symbol" panose="05050102010706020507" pitchFamily="18" charset="2"/>
              </a:rPr>
              <a:t>B</a:t>
            </a:r>
            <a:r>
              <a:rPr lang="en-US" dirty="0" smtClean="0">
                <a:sym typeface="Symbol" panose="05050102010706020507" pitchFamily="18" charset="2"/>
              </a:rPr>
              <a:t>)</a:t>
            </a:r>
          </a:p>
          <a:p>
            <a:pPr lvl="2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SRD Structure and Operation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324" y="1216720"/>
            <a:ext cx="3518452" cy="21560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 bwMode="auto">
          <a:xfrm>
            <a:off x="4751298" y="3441383"/>
            <a:ext cx="4124504" cy="394195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 smtClean="0">
                <a:solidFill>
                  <a:schemeClr val="tx2"/>
                </a:solidFill>
                <a:latin typeface="+mn-lt"/>
              </a:rPr>
              <a:t>Howell, C.M., Selection of Multiplier Diodes, AN3023</a:t>
            </a:r>
          </a:p>
        </p:txBody>
      </p:sp>
    </p:spTree>
    <p:extLst>
      <p:ext uri="{BB962C8B-B14F-4D97-AF65-F5344CB8AC3E}">
        <p14:creationId xmlns:p14="http://schemas.microsoft.com/office/powerpoint/2010/main" val="39443418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12750" y="3518449"/>
            <a:ext cx="4018280" cy="2218015"/>
          </a:xfrm>
        </p:spPr>
        <p:txBody>
          <a:bodyPr/>
          <a:lstStyle/>
          <a:p>
            <a:r>
              <a:rPr lang="en-US" dirty="0" smtClean="0"/>
              <a:t>SRD frequency multiplier</a:t>
            </a:r>
          </a:p>
          <a:p>
            <a:pPr lvl="1"/>
            <a:r>
              <a:rPr lang="en-US" dirty="0" smtClean="0"/>
              <a:t>Input Z match, LPF structure</a:t>
            </a:r>
          </a:p>
          <a:p>
            <a:pPr lvl="1"/>
            <a:r>
              <a:rPr lang="en-US" dirty="0" smtClean="0"/>
              <a:t>SRD impulse generator</a:t>
            </a:r>
          </a:p>
          <a:p>
            <a:pPr lvl="1"/>
            <a:r>
              <a:rPr lang="en-US" dirty="0" smtClean="0"/>
              <a:t>Output Z match, filter structure</a:t>
            </a:r>
          </a:p>
          <a:p>
            <a:r>
              <a:rPr lang="en-US" dirty="0" smtClean="0"/>
              <a:t>SRD performance is highly wafer-lot-dependent</a:t>
            </a:r>
          </a:p>
          <a:p>
            <a:pPr lvl="1"/>
            <a:r>
              <a:rPr lang="en-US" dirty="0" smtClean="0"/>
              <a:t>Performance is not amenable to simulation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343637" y="3518448"/>
            <a:ext cx="4204017" cy="3061255"/>
          </a:xfrm>
        </p:spPr>
        <p:txBody>
          <a:bodyPr/>
          <a:lstStyle/>
          <a:p>
            <a:r>
              <a:rPr lang="en-US" dirty="0" smtClean="0"/>
              <a:t>SRD parameter selection</a:t>
            </a:r>
            <a:endParaRPr lang="en-US" dirty="0"/>
          </a:p>
          <a:p>
            <a:pPr lvl="1"/>
            <a:r>
              <a:rPr lang="en-US" dirty="0"/>
              <a:t>Carrier Lifetime (T</a:t>
            </a:r>
            <a:r>
              <a:rPr lang="en-US" baseline="-25000" dirty="0"/>
              <a:t>L</a:t>
            </a:r>
            <a:r>
              <a:rPr lang="en-US" dirty="0"/>
              <a:t> or </a:t>
            </a:r>
            <a:r>
              <a:rPr lang="en-US" dirty="0">
                <a:sym typeface="Symbol" panose="05050102010706020507" pitchFamily="18" charset="2"/>
              </a:rPr>
              <a:t>)</a:t>
            </a:r>
          </a:p>
          <a:p>
            <a:pPr lvl="2"/>
            <a:r>
              <a:rPr lang="en-US" dirty="0">
                <a:sym typeface="Symbol" panose="05050102010706020507" pitchFamily="18" charset="2"/>
              </a:rPr>
              <a:t>  10 x T</a:t>
            </a:r>
            <a:r>
              <a:rPr lang="en-US" baseline="-25000" dirty="0">
                <a:sym typeface="Symbol" panose="05050102010706020507" pitchFamily="18" charset="2"/>
              </a:rPr>
              <a:t>fundamental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Transition time (T</a:t>
            </a:r>
            <a:r>
              <a:rPr lang="en-US" baseline="-25000" dirty="0">
                <a:sym typeface="Symbol" panose="05050102010706020507" pitchFamily="18" charset="2"/>
              </a:rPr>
              <a:t>T</a:t>
            </a:r>
            <a:r>
              <a:rPr lang="en-US" dirty="0">
                <a:sym typeface="Symbol" panose="05050102010706020507" pitchFamily="18" charset="2"/>
              </a:rPr>
              <a:t>) </a:t>
            </a:r>
          </a:p>
          <a:p>
            <a:pPr lvl="2"/>
            <a:r>
              <a:rPr lang="en-US" dirty="0" smtClean="0">
                <a:sym typeface="Symbol" panose="05050102010706020507" pitchFamily="18" charset="2"/>
              </a:rPr>
              <a:t>T</a:t>
            </a:r>
            <a:r>
              <a:rPr lang="en-US" baseline="-25000" dirty="0" smtClean="0">
                <a:sym typeface="Symbol" panose="05050102010706020507" pitchFamily="18" charset="2"/>
              </a:rPr>
              <a:t>T</a:t>
            </a:r>
            <a:r>
              <a:rPr lang="en-US" dirty="0" smtClean="0">
                <a:sym typeface="Symbol" panose="05050102010706020507" pitchFamily="18" charset="2"/>
              </a:rPr>
              <a:t> &lt;&lt; T</a:t>
            </a:r>
            <a:r>
              <a:rPr lang="en-US" baseline="-25000" dirty="0" smtClean="0">
                <a:sym typeface="Symbol" panose="05050102010706020507" pitchFamily="18" charset="2"/>
              </a:rPr>
              <a:t>harmonic</a:t>
            </a:r>
            <a:endParaRPr lang="en-US" baseline="-25000" dirty="0">
              <a:sym typeface="Symbol" panose="05050102010706020507" pitchFamily="18" charset="2"/>
            </a:endParaRPr>
          </a:p>
          <a:p>
            <a:pPr lvl="1"/>
            <a:r>
              <a:rPr lang="en-US" dirty="0">
                <a:sym typeface="Symbol" panose="05050102010706020507" pitchFamily="18" charset="2"/>
              </a:rPr>
              <a:t>Junction capacitance (C</a:t>
            </a:r>
            <a:r>
              <a:rPr lang="en-US" baseline="-25000" dirty="0">
                <a:sym typeface="Symbol" panose="05050102010706020507" pitchFamily="18" charset="2"/>
              </a:rPr>
              <a:t>J</a:t>
            </a:r>
            <a:r>
              <a:rPr lang="en-US" dirty="0" smtClean="0">
                <a:sym typeface="Symbol" panose="05050102010706020507" pitchFamily="18" charset="2"/>
              </a:rPr>
              <a:t>)</a:t>
            </a:r>
          </a:p>
          <a:p>
            <a:pPr lvl="2"/>
            <a:r>
              <a:rPr lang="en-US" dirty="0" smtClean="0">
                <a:sym typeface="Symbol" panose="05050102010706020507" pitchFamily="18" charset="2"/>
              </a:rPr>
              <a:t>X</a:t>
            </a:r>
            <a:r>
              <a:rPr lang="en-US" baseline="-25000" dirty="0" smtClean="0">
                <a:sym typeface="Symbol" panose="05050102010706020507" pitchFamily="18" charset="2"/>
              </a:rPr>
              <a:t>CJ</a:t>
            </a:r>
            <a:r>
              <a:rPr lang="en-US" dirty="0" smtClean="0">
                <a:sym typeface="Symbol" panose="05050102010706020507" pitchFamily="18" charset="2"/>
              </a:rPr>
              <a:t>  50  @ T</a:t>
            </a:r>
            <a:r>
              <a:rPr lang="en-US" baseline="-25000" dirty="0" smtClean="0">
                <a:sym typeface="Symbol" panose="05050102010706020507" pitchFamily="18" charset="2"/>
              </a:rPr>
              <a:t>harmonic</a:t>
            </a:r>
            <a:endParaRPr lang="en-US" dirty="0">
              <a:sym typeface="Symbol" panose="05050102010706020507" pitchFamily="18" charset="2"/>
            </a:endParaRPr>
          </a:p>
          <a:p>
            <a:pPr lvl="1"/>
            <a:r>
              <a:rPr lang="en-US" dirty="0">
                <a:sym typeface="Symbol" panose="05050102010706020507" pitchFamily="18" charset="2"/>
              </a:rPr>
              <a:t>Reverse breakdown voltage (V</a:t>
            </a:r>
            <a:r>
              <a:rPr lang="en-US" baseline="-25000" dirty="0">
                <a:sym typeface="Symbol" panose="05050102010706020507" pitchFamily="18" charset="2"/>
              </a:rPr>
              <a:t>B</a:t>
            </a:r>
            <a:r>
              <a:rPr lang="en-US" dirty="0" smtClean="0">
                <a:sym typeface="Symbol" panose="05050102010706020507" pitchFamily="18" charset="2"/>
              </a:rPr>
              <a:t>)</a:t>
            </a:r>
          </a:p>
          <a:p>
            <a:pPr lvl="2"/>
            <a:r>
              <a:rPr lang="en-US" dirty="0" smtClean="0">
                <a:sym typeface="Symbol" panose="05050102010706020507" pitchFamily="18" charset="2"/>
              </a:rPr>
              <a:t>V</a:t>
            </a:r>
            <a:r>
              <a:rPr lang="en-US" baseline="-25000" dirty="0" smtClean="0">
                <a:sym typeface="Symbol" panose="05050102010706020507" pitchFamily="18" charset="2"/>
              </a:rPr>
              <a:t>B</a:t>
            </a:r>
            <a:r>
              <a:rPr lang="en-US" dirty="0" smtClean="0">
                <a:sym typeface="Symbol" panose="05050102010706020507" pitchFamily="18" charset="2"/>
              </a:rPr>
              <a:t> &gt; V</a:t>
            </a:r>
            <a:r>
              <a:rPr lang="en-US" baseline="-25000" dirty="0" smtClean="0">
                <a:sym typeface="Symbol" panose="05050102010706020507" pitchFamily="18" charset="2"/>
              </a:rPr>
              <a:t>pk</a:t>
            </a:r>
            <a:r>
              <a:rPr lang="en-US" dirty="0" smtClean="0">
                <a:sym typeface="Symbol" panose="05050102010706020507" pitchFamily="18" charset="2"/>
              </a:rPr>
              <a:t> @ fundamental frequency</a:t>
            </a:r>
            <a:endParaRPr lang="en-US" dirty="0">
              <a:sym typeface="Symbol" panose="05050102010706020507" pitchFamily="18" charset="2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SRD Frequency Multiplier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1" y="1229273"/>
            <a:ext cx="4715840" cy="21400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5394974" y="2102220"/>
            <a:ext cx="3444225" cy="394195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100" dirty="0" smtClean="0">
                <a:solidFill>
                  <a:schemeClr val="tx2"/>
                </a:solidFill>
                <a:latin typeface="+mn-lt"/>
              </a:rPr>
              <a:t>Howell, C.M., Selection of Multiplier Diodes, AN3023</a:t>
            </a:r>
          </a:p>
        </p:txBody>
      </p:sp>
    </p:spTree>
    <p:extLst>
      <p:ext uri="{BB962C8B-B14F-4D97-AF65-F5344CB8AC3E}">
        <p14:creationId xmlns:p14="http://schemas.microsoft.com/office/powerpoint/2010/main" val="230015554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12750" y="3518449"/>
            <a:ext cx="4018280" cy="2218015"/>
          </a:xfrm>
        </p:spPr>
        <p:txBody>
          <a:bodyPr/>
          <a:lstStyle/>
          <a:p>
            <a:r>
              <a:rPr lang="en-US" dirty="0" smtClean="0"/>
              <a:t>Low frequency input signal drives SRD into conduction during its positive alternation</a:t>
            </a:r>
          </a:p>
          <a:p>
            <a:r>
              <a:rPr lang="en-US" dirty="0" smtClean="0"/>
              <a:t>Charge stored in the diode</a:t>
            </a:r>
          </a:p>
          <a:p>
            <a:r>
              <a:rPr lang="en-US" dirty="0" smtClean="0"/>
              <a:t>While negative alternation conducts charge from diode its impedance remains low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343637" y="3518448"/>
            <a:ext cx="4495562" cy="3061255"/>
          </a:xfrm>
        </p:spPr>
        <p:txBody>
          <a:bodyPr/>
          <a:lstStyle/>
          <a:p>
            <a:r>
              <a:rPr lang="en-US" dirty="0" smtClean="0"/>
              <a:t>When recombination dominates, the diode’s impedance rapidly goes from low to very high</a:t>
            </a:r>
          </a:p>
          <a:p>
            <a:r>
              <a:rPr lang="en-US" dirty="0" smtClean="0">
                <a:sym typeface="Symbol" panose="05050102010706020507" pitchFamily="18" charset="2"/>
              </a:rPr>
              <a:t>This change causes the current through the inductor to (almost) instantaneously go to 0 A</a:t>
            </a:r>
          </a:p>
          <a:p>
            <a:r>
              <a:rPr lang="en-US" dirty="0" smtClean="0">
                <a:sym typeface="Symbol" panose="05050102010706020507" pitchFamily="18" charset="2"/>
              </a:rPr>
              <a:t>Abrupt change in current through the inductor produces a (non-ideal), harmonic-rich voltage impulse</a:t>
            </a:r>
            <a:endParaRPr lang="en-US" dirty="0">
              <a:sym typeface="Symbol" panose="05050102010706020507" pitchFamily="18" charset="2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SRD Frequency Multiplier - Operation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1" y="1229273"/>
            <a:ext cx="4715840" cy="21400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5091437" y="3109390"/>
            <a:ext cx="3444225" cy="394195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100" dirty="0" smtClean="0">
                <a:solidFill>
                  <a:schemeClr val="tx2"/>
                </a:solidFill>
                <a:latin typeface="+mn-lt"/>
              </a:rPr>
              <a:t>Howell, C.M., Selection of Multiplier Diodes, AN3023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675" y="1567110"/>
            <a:ext cx="3471760" cy="146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153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2750" y="1206777"/>
            <a:ext cx="4964320" cy="4668837"/>
          </a:xfrm>
        </p:spPr>
        <p:txBody>
          <a:bodyPr/>
          <a:lstStyle/>
          <a:p>
            <a:r>
              <a:rPr lang="en-US" dirty="0" smtClean="0"/>
              <a:t>Difficult to design Z match circuit</a:t>
            </a:r>
          </a:p>
          <a:p>
            <a:pPr lvl="1"/>
            <a:r>
              <a:rPr lang="en-US" dirty="0" smtClean="0"/>
              <a:t>In conduction, SRD impedance is approximately 5 to 10 </a:t>
            </a:r>
            <a:r>
              <a:rPr lang="en-US" dirty="0" smtClean="0">
                <a:sym typeface="Symbol" panose="05050102010706020507" pitchFamily="18" charset="2"/>
              </a:rPr>
              <a:t></a:t>
            </a:r>
          </a:p>
          <a:p>
            <a:pPr lvl="1"/>
            <a:r>
              <a:rPr lang="en-US" dirty="0" smtClean="0">
                <a:sym typeface="Symbol" panose="05050102010706020507" pitchFamily="18" charset="2"/>
              </a:rPr>
              <a:t>After snap occurs, </a:t>
            </a:r>
            <a:r>
              <a:rPr lang="en-US" dirty="0"/>
              <a:t>SRD impedance is </a:t>
            </a:r>
            <a:r>
              <a:rPr lang="en-US" dirty="0" smtClean="0"/>
              <a:t>very large and capacitive</a:t>
            </a:r>
          </a:p>
          <a:p>
            <a:r>
              <a:rPr lang="en-US" dirty="0" smtClean="0">
                <a:sym typeface="Symbol" panose="05050102010706020507" pitchFamily="18" charset="2"/>
              </a:rPr>
              <a:t>Performance is highly dependent on input power</a:t>
            </a:r>
          </a:p>
          <a:p>
            <a:pPr lvl="1"/>
            <a:r>
              <a:rPr lang="en-US" dirty="0" smtClean="0">
                <a:sym typeface="Symbol" panose="05050102010706020507" pitchFamily="18" charset="2"/>
              </a:rPr>
              <a:t>17 dBm ≤ P</a:t>
            </a:r>
            <a:r>
              <a:rPr lang="en-US" baseline="-25000" dirty="0" smtClean="0">
                <a:sym typeface="Symbol" panose="05050102010706020507" pitchFamily="18" charset="2"/>
              </a:rPr>
              <a:t>IN</a:t>
            </a:r>
            <a:r>
              <a:rPr lang="en-US" dirty="0" smtClean="0">
                <a:sym typeface="Symbol" panose="05050102010706020507" pitchFamily="18" charset="2"/>
              </a:rPr>
              <a:t> ≤ 33 dBm</a:t>
            </a:r>
          </a:p>
          <a:p>
            <a:r>
              <a:rPr lang="en-US" dirty="0" smtClean="0">
                <a:sym typeface="Symbol" panose="05050102010706020507" pitchFamily="18" charset="2"/>
              </a:rPr>
              <a:t>Output spectrum has sinx/x envelope</a:t>
            </a:r>
          </a:p>
          <a:p>
            <a:r>
              <a:rPr lang="en-US" dirty="0" smtClean="0">
                <a:sym typeface="Symbol" panose="05050102010706020507" pitchFamily="18" charset="2"/>
              </a:rPr>
              <a:t>Output power  fundamental input power/harmonic order</a:t>
            </a:r>
          </a:p>
          <a:p>
            <a:r>
              <a:rPr lang="en-US" dirty="0" smtClean="0">
                <a:sym typeface="Symbol" panose="05050102010706020507" pitchFamily="18" charset="2"/>
              </a:rPr>
              <a:t>Recombination is inherently stochastic</a:t>
            </a:r>
          </a:p>
          <a:p>
            <a:pPr lvl="1"/>
            <a:r>
              <a:rPr lang="en-US" dirty="0" smtClean="0">
                <a:sym typeface="Symbol" panose="05050102010706020507" pitchFamily="18" charset="2"/>
              </a:rPr>
              <a:t>Produces jitter in time domain  phase noise in frequency domain</a:t>
            </a:r>
            <a:endParaRPr lang="en-US" dirty="0">
              <a:sym typeface="Symbol" panose="05050102010706020507" pitchFamily="18" charset="2"/>
            </a:endParaRP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SRD Multiplier Performance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070" y="2182571"/>
            <a:ext cx="3294821" cy="2349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5560943" y="4712907"/>
            <a:ext cx="2922105" cy="695740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>
              <a:spcBef>
                <a:spcPts val="900"/>
              </a:spcBef>
            </a:pPr>
            <a:r>
              <a:rPr lang="en-US" dirty="0" smtClean="0">
                <a:solidFill>
                  <a:schemeClr val="tx2"/>
                </a:solidFill>
                <a:latin typeface="+mn-lt"/>
              </a:rPr>
              <a:t>Output Spectrum of SRD Comb Generator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5377070" y="5565914"/>
            <a:ext cx="3405685" cy="565502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 smtClean="0">
                <a:solidFill>
                  <a:schemeClr val="tx2"/>
                </a:solidFill>
                <a:latin typeface="+mn-lt"/>
              </a:rPr>
              <a:t>A Simple Low Cost Comb Generator Frequency Calibrator, Martin, L, Ham Radio, July 1988 </a:t>
            </a:r>
          </a:p>
        </p:txBody>
      </p:sp>
    </p:spTree>
    <p:extLst>
      <p:ext uri="{BB962C8B-B14F-4D97-AF65-F5344CB8AC3E}">
        <p14:creationId xmlns:p14="http://schemas.microsoft.com/office/powerpoint/2010/main" val="112988076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554" y="2310531"/>
            <a:ext cx="7315200" cy="640080"/>
          </a:xfrm>
        </p:spPr>
        <p:txBody>
          <a:bodyPr>
            <a:noAutofit/>
          </a:bodyPr>
          <a:lstStyle/>
          <a:p>
            <a:r>
              <a:rPr lang="en-US" sz="3600" dirty="0" smtClean="0"/>
              <a:t>Nonlinear Transmission Line Comb Generators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7810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42461"/>
            <a:ext cx="5410200" cy="11430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MACOM Low Phase Noise Comb Generators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17268"/>
            <a:ext cx="7772400" cy="231581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Low phase noise comb generator product line is based on </a:t>
            </a:r>
            <a:r>
              <a:rPr lang="en-US" b="1" dirty="0" smtClean="0">
                <a:solidFill>
                  <a:srgbClr val="000000"/>
                </a:solidFill>
              </a:rPr>
              <a:t>Non-Linear-Transmission-Line</a:t>
            </a:r>
            <a:r>
              <a:rPr lang="en-US" dirty="0" smtClean="0"/>
              <a:t> (NLTL) technology.</a:t>
            </a:r>
            <a:endParaRPr lang="en-US" dirty="0"/>
          </a:p>
          <a:p>
            <a:pPr eaLnBrk="1" hangingPunct="1">
              <a:defRPr/>
            </a:pPr>
            <a:r>
              <a:rPr lang="en-US" dirty="0" smtClean="0"/>
              <a:t>Review: a single-impedance transmission line comprises a uniform value of inductance and capacitance per unit length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 smtClean="0"/>
              <a:t>In a practical nonlinear transmission line, the fixed capacitance per unit length is replaced with a nonlinear capacitance</a:t>
            </a:r>
          </a:p>
          <a:p>
            <a:pPr marL="0" indent="0" eaLnBrk="1" hangingPunct="1">
              <a:buNone/>
              <a:defRPr/>
            </a:pPr>
            <a:endParaRPr lang="en-US" sz="2800" b="1" dirty="0" smtClean="0">
              <a:solidFill>
                <a:srgbClr val="FFFF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9" y="2395060"/>
            <a:ext cx="4912482" cy="15113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 bwMode="auto">
          <a:xfrm>
            <a:off x="4104861" y="2768050"/>
            <a:ext cx="914400" cy="914400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>
              <a:spcBef>
                <a:spcPts val="900"/>
              </a:spcBef>
            </a:pPr>
            <a:endParaRPr lang="en-US" dirty="0" smtClean="0">
              <a:solidFill>
                <a:schemeClr val="tx2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361044" y="2675177"/>
                <a:ext cx="2007704" cy="768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box>
                            <m:boxPr>
                              <m:ctrlP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4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𝑙𝑒𝑛𝑔𝑡h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𝑙𝑒𝑛𝑔𝑡h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box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044" y="2675177"/>
                <a:ext cx="2007704" cy="76873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54" y="4586080"/>
            <a:ext cx="4912482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6015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12750" y="2872406"/>
            <a:ext cx="8316912" cy="3201988"/>
          </a:xfrm>
        </p:spPr>
        <p:txBody>
          <a:bodyPr/>
          <a:lstStyle/>
          <a:p>
            <a:r>
              <a:rPr lang="en-US" dirty="0" smtClean="0"/>
              <a:t>The MACOM family of NLTL comb generators utilize GaAs Schottky varactors diodes (STVARs)</a:t>
            </a:r>
          </a:p>
          <a:p>
            <a:r>
              <a:rPr lang="en-US" dirty="0" smtClean="0"/>
              <a:t>Required doping profile of STVARs for NLTL comb generators is difficult to produce and must precisely meet requirements</a:t>
            </a:r>
          </a:p>
          <a:p>
            <a:r>
              <a:rPr lang="en-US" dirty="0" smtClean="0"/>
              <a:t>Schottky diodes are utilized because they are majority carrier devices – no minority charge carrier storage can occur</a:t>
            </a:r>
          </a:p>
          <a:p>
            <a:pPr lvl="1"/>
            <a:r>
              <a:rPr lang="en-US" dirty="0" smtClean="0"/>
              <a:t>The capacitance of the STVAR can change extremely rapidly (single picoseconds order of magnitude)</a:t>
            </a:r>
          </a:p>
          <a:p>
            <a:pPr lvl="1"/>
            <a:r>
              <a:rPr lang="en-US" dirty="0" smtClean="0"/>
              <a:t>No shot noise is generated</a:t>
            </a:r>
          </a:p>
          <a:p>
            <a:pPr lvl="1"/>
            <a:r>
              <a:rPr lang="en-US" u="sng" dirty="0" smtClean="0"/>
              <a:t>Much less phase noise is produced</a:t>
            </a:r>
            <a:endParaRPr lang="en-US" u="sng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NLTL Comb Generator Composition</a:t>
            </a:r>
            <a:endParaRPr lang="en-US" sz="2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932" y="1130641"/>
            <a:ext cx="4912482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3680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99860" y="1301751"/>
            <a:ext cx="4068939" cy="4668837"/>
          </a:xfrm>
        </p:spPr>
        <p:txBody>
          <a:bodyPr/>
          <a:lstStyle/>
          <a:p>
            <a:r>
              <a:rPr lang="en-US" sz="1800" dirty="0" smtClean="0"/>
              <a:t>The velocity of propagation along the NLTL is a function of signal voltage due to the presence of the STVARs</a:t>
            </a:r>
          </a:p>
          <a:p>
            <a:pPr lvl="1"/>
            <a:r>
              <a:rPr lang="en-US" sz="1600" dirty="0" smtClean="0"/>
              <a:t>Large signal voltage </a:t>
            </a:r>
            <a:r>
              <a:rPr lang="en-US" sz="1600" dirty="0" smtClean="0">
                <a:sym typeface="Symbol" panose="05050102010706020507" pitchFamily="18" charset="2"/>
              </a:rPr>
              <a:t></a:t>
            </a:r>
            <a:r>
              <a:rPr lang="en-US" sz="1600" dirty="0" smtClean="0"/>
              <a:t> small STVAR capacitance </a:t>
            </a:r>
            <a:r>
              <a:rPr lang="en-US" sz="1600" dirty="0" smtClean="0">
                <a:sym typeface="Symbol" panose="05050102010706020507" pitchFamily="18" charset="2"/>
              </a:rPr>
              <a:t> fast velocity of propagation</a:t>
            </a:r>
          </a:p>
          <a:p>
            <a:pPr lvl="1"/>
            <a:r>
              <a:rPr lang="en-US" sz="1600" dirty="0" smtClean="0"/>
              <a:t>Small </a:t>
            </a:r>
            <a:r>
              <a:rPr lang="en-US" sz="1600" dirty="0"/>
              <a:t>signal voltage </a:t>
            </a:r>
            <a:r>
              <a:rPr lang="en-US" sz="1600" dirty="0">
                <a:sym typeface="Symbol" panose="05050102010706020507" pitchFamily="18" charset="2"/>
              </a:rPr>
              <a:t></a:t>
            </a:r>
            <a:r>
              <a:rPr lang="en-US" sz="1600" dirty="0"/>
              <a:t> </a:t>
            </a:r>
            <a:r>
              <a:rPr lang="en-US" sz="1600" dirty="0" smtClean="0"/>
              <a:t>large </a:t>
            </a:r>
            <a:r>
              <a:rPr lang="en-US" sz="1600" dirty="0"/>
              <a:t>STVAR capacitance </a:t>
            </a:r>
            <a:r>
              <a:rPr lang="en-US" sz="1600" dirty="0">
                <a:sym typeface="Symbol" panose="05050102010706020507" pitchFamily="18" charset="2"/>
              </a:rPr>
              <a:t> </a:t>
            </a:r>
            <a:r>
              <a:rPr lang="en-US" sz="1600" dirty="0" smtClean="0">
                <a:sym typeface="Symbol" panose="05050102010706020507" pitchFamily="18" charset="2"/>
              </a:rPr>
              <a:t>slow </a:t>
            </a:r>
            <a:r>
              <a:rPr lang="en-US" sz="1600" dirty="0">
                <a:sym typeface="Symbol" panose="05050102010706020507" pitchFamily="18" charset="2"/>
              </a:rPr>
              <a:t>velocity of </a:t>
            </a:r>
            <a:r>
              <a:rPr lang="en-US" sz="1600" dirty="0" smtClean="0">
                <a:sym typeface="Symbol" panose="05050102010706020507" pitchFamily="18" charset="2"/>
              </a:rPr>
              <a:t>propagation</a:t>
            </a:r>
          </a:p>
          <a:p>
            <a:r>
              <a:rPr lang="en-US" sz="1800" dirty="0" smtClean="0">
                <a:sym typeface="Symbol" panose="05050102010706020507" pitchFamily="18" charset="2"/>
              </a:rPr>
              <a:t>Low voltage portion of incident pulse is increasingly delayed with respect to high voltage portion as the wave front propagates through the NLTL</a:t>
            </a:r>
          </a:p>
          <a:p>
            <a:r>
              <a:rPr lang="en-US" sz="1800" dirty="0" smtClean="0">
                <a:sym typeface="Symbol" panose="05050102010706020507" pitchFamily="18" charset="2"/>
              </a:rPr>
              <a:t>Fourier analysis of resulting waveform shows spectrum rich in harmonics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NLTL Operation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751" y="1684688"/>
            <a:ext cx="4749493" cy="31244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5067239" y="5226757"/>
            <a:ext cx="3817117" cy="743831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 smtClean="0">
                <a:solidFill>
                  <a:schemeClr val="tx2"/>
                </a:solidFill>
                <a:latin typeface="+mn-lt"/>
              </a:rPr>
              <a:t>Nonlinear Transmission Lines for Picosecond Pulse, Impulse and Millimeter-Wave Harmonic Generation, Case, M. G., PhD Thesis, UCSB, July 2, 1993</a:t>
            </a:r>
          </a:p>
        </p:txBody>
      </p:sp>
    </p:spTree>
    <p:extLst>
      <p:ext uri="{BB962C8B-B14F-4D97-AF65-F5344CB8AC3E}">
        <p14:creationId xmlns:p14="http://schemas.microsoft.com/office/powerpoint/2010/main" val="3953216438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SRD Comb Generator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NLTL Comb Generator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NLTL vs. SRD Comb Generator</a:t>
            </a:r>
            <a:br>
              <a:rPr lang="en-US" dirty="0"/>
            </a:br>
            <a:r>
              <a:rPr lang="en-US" dirty="0" smtClean="0"/>
              <a:t>Output Spectrum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11" y="2182571"/>
            <a:ext cx="3294821" cy="2349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 bwMode="auto">
          <a:xfrm>
            <a:off x="638984" y="4712907"/>
            <a:ext cx="2922105" cy="695740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>
              <a:spcBef>
                <a:spcPts val="900"/>
              </a:spcBef>
            </a:pPr>
            <a:r>
              <a:rPr lang="en-US" dirty="0" smtClean="0">
                <a:solidFill>
                  <a:schemeClr val="tx2"/>
                </a:solidFill>
                <a:latin typeface="+mn-lt"/>
              </a:rPr>
              <a:t>Output Spectrum of SRD Comb Generator 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55111" y="5565914"/>
            <a:ext cx="3405685" cy="565502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 smtClean="0">
                <a:solidFill>
                  <a:schemeClr val="tx2"/>
                </a:solidFill>
                <a:latin typeface="+mn-lt"/>
              </a:rPr>
              <a:t>A Simple Low Cost Comb Generator Frequency Calibrator, Martin, L, Ham Radio, July 1988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426" y="2017360"/>
            <a:ext cx="3133725" cy="23717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 bwMode="auto">
          <a:xfrm>
            <a:off x="5154235" y="4712907"/>
            <a:ext cx="2922105" cy="695740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>
              <a:spcBef>
                <a:spcPts val="900"/>
              </a:spcBef>
            </a:pPr>
            <a:r>
              <a:rPr lang="en-US" dirty="0" smtClean="0">
                <a:solidFill>
                  <a:schemeClr val="tx2"/>
                </a:solidFill>
                <a:latin typeface="+mn-lt"/>
              </a:rPr>
              <a:t>Output Spectrum of NLTL Comb Generator </a:t>
            </a:r>
          </a:p>
        </p:txBody>
      </p:sp>
    </p:spTree>
    <p:extLst>
      <p:ext uri="{BB962C8B-B14F-4D97-AF65-F5344CB8AC3E}">
        <p14:creationId xmlns:p14="http://schemas.microsoft.com/office/powerpoint/2010/main" val="613855972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12751" y="4989444"/>
            <a:ext cx="8462892" cy="1184344"/>
          </a:xfrm>
        </p:spPr>
        <p:txBody>
          <a:bodyPr/>
          <a:lstStyle/>
          <a:p>
            <a:r>
              <a:rPr lang="en-US" dirty="0" smtClean="0"/>
              <a:t>Phase noise of NLTL comb generator as much as 15 dB lower than that of SRD comb generator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NLTL vs. SRD Comb Generator</a:t>
            </a:r>
            <a:br>
              <a:rPr lang="en-US" dirty="0" smtClean="0"/>
            </a:br>
            <a:r>
              <a:rPr lang="en-US" dirty="0" smtClean="0"/>
              <a:t>Phase Noise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459" y="1272209"/>
            <a:ext cx="4030130" cy="30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23467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dirty="0" smtClean="0"/>
              <a:t>Cross-correlation capable of removing uncorrelated noise due to mixers and post amplifiers</a:t>
            </a:r>
          </a:p>
          <a:p>
            <a:pPr>
              <a:lnSpc>
                <a:spcPct val="100000"/>
              </a:lnSpc>
            </a:pPr>
            <a:r>
              <a:rPr lang="en-US" altLang="en-US" dirty="0" smtClean="0"/>
              <a:t>Uncorrelated noise reduced by 5Log(N) where N is the number of samples.  1000 samples lowers noise floor -15 dB.</a:t>
            </a:r>
          </a:p>
        </p:txBody>
      </p:sp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 smtClean="0"/>
              <a:t>Cross-Correlated Interferometer Test System</a:t>
            </a:r>
          </a:p>
        </p:txBody>
      </p:sp>
      <p:pic>
        <p:nvPicPr>
          <p:cNvPr id="15667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1" y="3215861"/>
            <a:ext cx="8774112" cy="270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17730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Cross-Correlation Phase Noise Test System</a:t>
            </a:r>
          </a:p>
        </p:txBody>
      </p:sp>
      <p:pic>
        <p:nvPicPr>
          <p:cNvPr id="21507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64961" y="1591737"/>
            <a:ext cx="8058150" cy="470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848637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49" y="208722"/>
            <a:ext cx="7412165" cy="6941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Non-Linear Transmission Line </a:t>
            </a:r>
            <a:br>
              <a:rPr lang="en-US" dirty="0" smtClean="0"/>
            </a:br>
            <a:r>
              <a:rPr lang="en-US" dirty="0" smtClean="0"/>
              <a:t>Comb Generators</a:t>
            </a:r>
            <a:endParaRPr 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8870" y="1257605"/>
            <a:ext cx="6477000" cy="2632255"/>
          </a:xfrm>
        </p:spPr>
        <p:txBody>
          <a:bodyPr/>
          <a:lstStyle/>
          <a:p>
            <a:pPr>
              <a:buFont typeface="Wingdings 3" pitchFamily="18" charset="2"/>
              <a:buNone/>
            </a:pPr>
            <a:r>
              <a:rPr lang="en-US" sz="1800" dirty="0" smtClean="0"/>
              <a:t>NLTL Comb Generators offer key advantages relative to “typical SRD” products:</a:t>
            </a:r>
          </a:p>
          <a:p>
            <a:pPr lvl="1" eaLnBrk="1" hangingPunct="1"/>
            <a:r>
              <a:rPr lang="en-US" sz="1400" b="1" dirty="0" smtClean="0">
                <a:solidFill>
                  <a:srgbClr val="339966"/>
                </a:solidFill>
              </a:rPr>
              <a:t>Lower phase noise</a:t>
            </a:r>
            <a:r>
              <a:rPr lang="en-US" sz="1400" dirty="0" smtClean="0"/>
              <a:t> – improved phase noise performance of multiplied source</a:t>
            </a:r>
          </a:p>
          <a:p>
            <a:pPr lvl="1" eaLnBrk="1" hangingPunct="1"/>
            <a:r>
              <a:rPr lang="en-US" sz="1400" b="1" dirty="0" smtClean="0">
                <a:solidFill>
                  <a:srgbClr val="339966"/>
                </a:solidFill>
              </a:rPr>
              <a:t>Lower input power</a:t>
            </a:r>
            <a:r>
              <a:rPr lang="en-US" sz="1400" dirty="0" smtClean="0"/>
              <a:t> – reduced PA requirements and power consumption</a:t>
            </a:r>
          </a:p>
          <a:p>
            <a:pPr lvl="1" eaLnBrk="1" hangingPunct="1"/>
            <a:r>
              <a:rPr lang="en-US" sz="1400" b="1" dirty="0" smtClean="0">
                <a:solidFill>
                  <a:srgbClr val="339966"/>
                </a:solidFill>
              </a:rPr>
              <a:t>Range of input frequency</a:t>
            </a:r>
            <a:r>
              <a:rPr lang="en-US" sz="1400" dirty="0" smtClean="0"/>
              <a:t> – enables use of single part in several designs or use with a tunable source (up to 3x instead of a few %)</a:t>
            </a:r>
          </a:p>
          <a:p>
            <a:pPr lvl="1" eaLnBrk="1" hangingPunct="1"/>
            <a:r>
              <a:rPr lang="en-US" sz="1400" b="1" dirty="0" smtClean="0">
                <a:solidFill>
                  <a:srgbClr val="339966"/>
                </a:solidFill>
              </a:rPr>
              <a:t>Higher harmonic power at higher frequencies</a:t>
            </a:r>
            <a:r>
              <a:rPr lang="en-US" sz="1400" dirty="0" smtClean="0"/>
              <a:t> – SRD-based comb generators output power rapidly rolls off above 20 GHz</a:t>
            </a:r>
          </a:p>
          <a:p>
            <a:pPr lvl="1" eaLnBrk="1" hangingPunct="1"/>
            <a:r>
              <a:rPr lang="en-US" sz="1400" b="1" dirty="0" smtClean="0">
                <a:solidFill>
                  <a:srgbClr val="339966"/>
                </a:solidFill>
              </a:rPr>
              <a:t>Reliable construction</a:t>
            </a:r>
            <a:r>
              <a:rPr lang="en-US" sz="1400" dirty="0" smtClean="0"/>
              <a:t> – based on monolithic circuits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1600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58609" y="1806176"/>
            <a:ext cx="2079625" cy="153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56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832282"/>
              </p:ext>
            </p:extLst>
          </p:nvPr>
        </p:nvGraphicFramePr>
        <p:xfrm>
          <a:off x="1234990" y="4029500"/>
          <a:ext cx="6524625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Worksheet" r:id="rId6" imgW="6524608" imgH="2409757" progId="Excel.Sheet.8">
                  <p:embed/>
                </p:oleObj>
              </mc:Choice>
              <mc:Fallback>
                <p:oleObj name="Worksheet" r:id="rId6" imgW="6524608" imgH="240975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4990" y="4029500"/>
                        <a:ext cx="6524625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680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 smtClean="0"/>
              <a:t>Package Outline Drawings</a:t>
            </a:r>
          </a:p>
        </p:txBody>
      </p:sp>
      <p:pic>
        <p:nvPicPr>
          <p:cNvPr id="21507" name="Picture 5" descr="C:\Documents and Settings\kschoen\Desktop\Kipp Data\Products\comb generators\package drawings\7102-3_COAX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47800"/>
            <a:ext cx="2971800" cy="254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6" descr="C:\Documents and Settings\kschoen\Desktop\Kipp Data\Products\comb generators\package drawings\7102-3_DPI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343400"/>
            <a:ext cx="4267200" cy="232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8" descr="C:\Documents and Settings\kschoen\Desktop\Kipp Data\Products\comb generators\spec sheets and tech docs\spec sheet revisions\SMT-outline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3187700" cy="284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30487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188554" y="2307865"/>
            <a:ext cx="7315200" cy="640080"/>
          </a:xfrm>
        </p:spPr>
        <p:txBody>
          <a:bodyPr/>
          <a:lstStyle/>
          <a:p>
            <a:r>
              <a:rPr lang="en-US" sz="4000" dirty="0" smtClean="0"/>
              <a:t>Thank You</a:t>
            </a:r>
            <a:endParaRPr lang="en-US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1660880" y="554379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11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ISPRING_RESOURCE_PATHS_HASH_2" val="754e257bf4e67b6eda8b5226aec68fcba58438"/>
  <p:tag name="MMPROD_UIDATA" val="&lt;database version=&quot;11.0&quot;&gt;&lt;object type=&quot;1&quot; unique_id=&quot;10001&quot;&gt;&lt;object type=&quot;8&quot; unique_id=&quot;10222&quot;&gt;&lt;/object&gt;&lt;object type=&quot;2&quot; unique_id=&quot;10223&quot;&gt;&lt;object type=&quot;3&quot; unique_id=&quot;33884&quot;&gt;&lt;property id=&quot;20148&quot; value=&quot;5&quot;/&gt;&lt;property id=&quot;20300&quot; value=&quot;Slide 1 - &amp;quot;Click to Edit MACOM Title Slide  Arial Black 24pt&amp;quot;&quot;/&gt;&lt;property id=&quot;20307&quot; value=&quot;484&quot;/&gt;&lt;/object&gt;&lt;object type=&quot;3&quot; unique_id=&quot;33885&quot;&gt;&lt;property id=&quot;20148&quot; value=&quot;5&quot;/&gt;&lt;property id=&quot;20300&quot; value=&quot;Slide 2 - &amp;quot;Layout: Section Divider&amp;quot;&quot;/&gt;&lt;property id=&quot;20307&quot; value=&quot;503&quot;/&gt;&lt;/object&gt;&lt;object type=&quot;3&quot; unique_id=&quot;33886&quot;&gt;&lt;property id=&quot;20148&quot; value=&quot;5&quot;/&gt;&lt;property id=&quot;20300&quot; value=&quot;Slide 3 - &amp;quot;Title and Content, Arial Black 24pt&amp;quot;&quot;/&gt;&lt;property id=&quot;20307&quot; value=&quot;489&quot;/&gt;&lt;/object&gt;&lt;object type=&quot;3&quot; unique_id=&quot;33887&quot;&gt;&lt;property id=&quot;20148&quot; value=&quot;5&quot;/&gt;&lt;property id=&quot;20300&quot; value=&quot;Slide 4 - &amp;quot;Title and Content with Subhead&amp;quot;&quot;/&gt;&lt;property id=&quot;20307&quot; value=&quot;504&quot;/&gt;&lt;/object&gt;&lt;object type=&quot;3&quot; unique_id=&quot;33888&quot;&gt;&lt;property id=&quot;20148&quot; value=&quot;5&quot;/&gt;&lt;property id=&quot;20300&quot; value=&quot;Slide 5 - &amp;quot;Layout: Two Content, No subhead&amp;quot;&quot;/&gt;&lt;property id=&quot;20307&quot; value=&quot;490&quot;/&gt;&lt;/object&gt;&lt;object type=&quot;3&quot; unique_id=&quot;33889&quot;&gt;&lt;property id=&quot;20148&quot; value=&quot;5&quot;/&gt;&lt;property id=&quot;20300&quot; value=&quot;Slide 6 - &amp;quot;Layout: Two Content, with Subhead&amp;quot;&quot;/&gt;&lt;property id=&quot;20307&quot; value=&quot;505&quot;/&gt;&lt;/object&gt;&lt;object type=&quot;3&quot; unique_id=&quot;33890&quot;&gt;&lt;property id=&quot;20148&quot; value=&quot;5&quot;/&gt;&lt;property id=&quot;20300&quot; value=&quot;Slide 7 - &amp;quot;Layout: Comparison&amp;quot;&quot;/&gt;&lt;property id=&quot;20307&quot; value=&quot;506&quot;/&gt;&lt;/object&gt;&lt;object type=&quot;3&quot; unique_id=&quot;33891&quot;&gt;&lt;property id=&quot;20148&quot; value=&quot;5&quot;/&gt;&lt;property id=&quot;20300&quot; value=&quot;Slide 8 - &amp;quot;Color Scheme&amp;quot;&quot;/&gt;&lt;property id=&quot;20307&quot; value=&quot;491&quot;/&gt;&lt;/object&gt;&lt;object type=&quot;3&quot; unique_id=&quot;33892&quot;&gt;&lt;property id=&quot;20148&quot; value=&quot;5&quot;/&gt;&lt;property id=&quot;20300&quot; value=&quot;Slide 9 - &amp;quot;Default Settings&amp;quot;&quot;/&gt;&lt;property id=&quot;20307&quot; value=&quot;493&quot;/&gt;&lt;/object&gt;&lt;object type=&quot;3&quot; unique_id=&quot;33893&quot;&gt;&lt;property id=&quot;20148&quot; value=&quot;5&quot;/&gt;&lt;property id=&quot;20300&quot; value=&quot;Slide 10 - &amp;quot;Default Table Style&amp;quot;&quot;/&gt;&lt;property id=&quot;20307&quot; value=&quot;494&quot;/&gt;&lt;/object&gt;&lt;object type=&quot;3&quot; unique_id=&quot;33894&quot;&gt;&lt;property id=&quot;20148&quot; value=&quot;5&quot;/&gt;&lt;property id=&quot;20300&quot; value=&quot;Slide 11 - &amp;quot;Column Chart Sample&amp;quot;&quot;/&gt;&lt;property id=&quot;20307&quot; value=&quot;496&quot;/&gt;&lt;/object&gt;&lt;object type=&quot;3&quot; unique_id=&quot;33895&quot;&gt;&lt;property id=&quot;20148&quot; value=&quot;5&quot;/&gt;&lt;property id=&quot;20300&quot; value=&quot;Slide 12 - &amp;quot;Two Content  Column Chart Sample&amp;quot;&quot;/&gt;&lt;property id=&quot;20307&quot; value=&quot;495&quot;/&gt;&lt;/object&gt;&lt;object type=&quot;3&quot; unique_id=&quot;33896&quot;&gt;&lt;property id=&quot;20148&quot; value=&quot;5&quot;/&gt;&lt;property id=&quot;20300&quot; value=&quot;Slide 13 - &amp;quot;Line Chart Sample&amp;quot;&quot;/&gt;&lt;property id=&quot;20307&quot; value=&quot;501&quot;/&gt;&lt;/object&gt;&lt;object type=&quot;3&quot; unique_id=&quot;33897&quot;&gt;&lt;property id=&quot;20148&quot; value=&quot;5&quot;/&gt;&lt;property id=&quot;20300&quot; value=&quot;Slide 14 - &amp;quot;Two Content  Line Chart Sample&amp;quot;&quot;/&gt;&lt;property id=&quot;20307&quot; value=&quot;502&quot;/&gt;&lt;/object&gt;&lt;object type=&quot;3&quot; unique_id=&quot;33898&quot;&gt;&lt;property id=&quot;20148&quot; value=&quot;5&quot;/&gt;&lt;property id=&quot;20300&quot; value=&quot;Slide 15 - &amp;quot;Pie Chart Sample &amp;quot;&quot;/&gt;&lt;property id=&quot;20307&quot; value=&quot;499&quot;/&gt;&lt;/object&gt;&lt;object type=&quot;3&quot; unique_id=&quot;33899&quot;&gt;&lt;property id=&quot;20148&quot; value=&quot;5&quot;/&gt;&lt;property id=&quot;20300&quot; value=&quot;Slide 16 - &amp;quot;Two Content  Pie Chart Sample &amp;quot;&quot;/&gt;&lt;property id=&quot;20307&quot; value=&quot;500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PPT-2010-Template_LightDark">
  <a:themeElements>
    <a:clrScheme name="MACOM">
      <a:dk1>
        <a:sysClr val="windowText" lastClr="000000"/>
      </a:dk1>
      <a:lt1>
        <a:sysClr val="window" lastClr="FFFFFF"/>
      </a:lt1>
      <a:dk2>
        <a:srgbClr val="00243E"/>
      </a:dk2>
      <a:lt2>
        <a:srgbClr val="FFFFFF"/>
      </a:lt2>
      <a:accent1>
        <a:srgbClr val="005A84"/>
      </a:accent1>
      <a:accent2>
        <a:srgbClr val="0083C2"/>
      </a:accent2>
      <a:accent3>
        <a:srgbClr val="00A5B6"/>
      </a:accent3>
      <a:accent4>
        <a:srgbClr val="6C953C"/>
      </a:accent4>
      <a:accent5>
        <a:srgbClr val="8DC73F"/>
      </a:accent5>
      <a:accent6>
        <a:srgbClr val="DADA56"/>
      </a:accent6>
      <a:hlink>
        <a:srgbClr val="0083C2"/>
      </a:hlink>
      <a:folHlink>
        <a:srgbClr val="77B800"/>
      </a:folHlink>
    </a:clrScheme>
    <a:fontScheme name="MACOM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2700" cap="sq" algn="ctr">
          <a:noFill/>
          <a:miter lim="800000"/>
          <a:headEnd/>
          <a:tailEnd/>
        </a:ln>
        <a:effectLst/>
      </a:spPr>
      <a:bodyPr wrap="square" lIns="0" rIns="0" rtlCol="0" anchor="ctr"/>
      <a:lstStyle>
        <a:defPPr algn="ctr">
          <a:spcBef>
            <a:spcPts val="600"/>
          </a:spcBef>
          <a:defRPr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solidFill>
          <a:schemeClr val="accent2"/>
        </a:solidFill>
        <a:ln w="19050" cap="sq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noFill/>
        <a:ln w="12700" cap="sq" algn="ctr">
          <a:noFill/>
          <a:miter lim="800000"/>
          <a:headEnd/>
          <a:tailEnd/>
        </a:ln>
        <a:effectLst/>
      </a:spPr>
      <a:bodyPr wrap="square" rtlCol="0" anchor="ctr" anchorCtr="0">
        <a:noAutofit/>
      </a:bodyPr>
      <a:lstStyle>
        <a:defPPr>
          <a:spcBef>
            <a:spcPts val="900"/>
          </a:spcBef>
          <a:defRPr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17388-MACOM2016-4x3-edit</Template>
  <TotalTime>1621</TotalTime>
  <Words>974</Words>
  <Application>Microsoft Office PowerPoint</Application>
  <PresentationFormat>On-screen Show (4:3)</PresentationFormat>
  <Paragraphs>143</Paragraphs>
  <Slides>21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Calibri</vt:lpstr>
      <vt:lpstr>Cambria Math</vt:lpstr>
      <vt:lpstr>Symbol</vt:lpstr>
      <vt:lpstr>Times New Roman</vt:lpstr>
      <vt:lpstr>Wingdings 3</vt:lpstr>
      <vt:lpstr>PPT-2010-Template_LightDark</vt:lpstr>
      <vt:lpstr>Worksheet</vt:lpstr>
      <vt:lpstr>MACOM Diode Products – NLTL Comb Generators rev 0</vt:lpstr>
      <vt:lpstr>PowerPoint Presentation</vt:lpstr>
      <vt:lpstr>PowerPoint Presentation</vt:lpstr>
      <vt:lpstr>Comb Generators</vt:lpstr>
      <vt:lpstr>Comb Generation</vt:lpstr>
      <vt:lpstr>Step Recovery Diode Comb Generators</vt:lpstr>
      <vt:lpstr>SRD Structure and Operation</vt:lpstr>
      <vt:lpstr>SRD Frequency Multiplier</vt:lpstr>
      <vt:lpstr>SRD Frequency Multiplier - Operation</vt:lpstr>
      <vt:lpstr>SRD Multiplier Performance</vt:lpstr>
      <vt:lpstr>Nonlinear Transmission Line Comb Generators</vt:lpstr>
      <vt:lpstr>MACOM Low Phase Noise Comb Generators</vt:lpstr>
      <vt:lpstr>NLTL Comb Generator Composition</vt:lpstr>
      <vt:lpstr>NLTL Operation</vt:lpstr>
      <vt:lpstr>NLTL vs. SRD Comb Generator Output Spectrum</vt:lpstr>
      <vt:lpstr>NLTL vs. SRD Comb Generator Phase Noise</vt:lpstr>
      <vt:lpstr>Cross-Correlated Interferometer Test System</vt:lpstr>
      <vt:lpstr>Cross-Correlation Phase Noise Test System</vt:lpstr>
      <vt:lpstr>Non-Linear Transmission Line  Comb Generators</vt:lpstr>
      <vt:lpstr>Package Outline Drawings</vt:lpstr>
      <vt:lpstr>Thank You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Edit MACOM Title Slide  Arial Black 24pt</dc:title>
  <dc:creator>Megan Haley</dc:creator>
  <cp:lastModifiedBy>Rick Cory</cp:lastModifiedBy>
  <cp:revision>100</cp:revision>
  <cp:lastPrinted>2014-03-27T13:48:09Z</cp:lastPrinted>
  <dcterms:created xsi:type="dcterms:W3CDTF">2016-07-13T20:18:51Z</dcterms:created>
  <dcterms:modified xsi:type="dcterms:W3CDTF">2017-04-14T14:28:28Z</dcterms:modified>
</cp:coreProperties>
</file>