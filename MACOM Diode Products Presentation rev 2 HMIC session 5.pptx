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doc" ContentType="application/msword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98" r:id="rId1"/>
  </p:sldMasterIdLst>
  <p:notesMasterIdLst>
    <p:notesMasterId r:id="rId42"/>
  </p:notesMasterIdLst>
  <p:handoutMasterIdLst>
    <p:handoutMasterId r:id="rId43"/>
  </p:handoutMasterIdLst>
  <p:sldIdLst>
    <p:sldId id="507" r:id="rId2"/>
    <p:sldId id="508" r:id="rId3"/>
    <p:sldId id="509" r:id="rId4"/>
    <p:sldId id="571" r:id="rId5"/>
    <p:sldId id="572" r:id="rId6"/>
    <p:sldId id="573" r:id="rId7"/>
    <p:sldId id="574" r:id="rId8"/>
    <p:sldId id="575" r:id="rId9"/>
    <p:sldId id="576" r:id="rId10"/>
    <p:sldId id="577" r:id="rId11"/>
    <p:sldId id="578" r:id="rId12"/>
    <p:sldId id="579" r:id="rId13"/>
    <p:sldId id="580" r:id="rId14"/>
    <p:sldId id="511" r:id="rId15"/>
    <p:sldId id="512" r:id="rId16"/>
    <p:sldId id="514" r:id="rId17"/>
    <p:sldId id="561" r:id="rId18"/>
    <p:sldId id="522" r:id="rId19"/>
    <p:sldId id="529" r:id="rId20"/>
    <p:sldId id="530" r:id="rId21"/>
    <p:sldId id="531" r:id="rId22"/>
    <p:sldId id="532" r:id="rId23"/>
    <p:sldId id="533" r:id="rId24"/>
    <p:sldId id="568" r:id="rId25"/>
    <p:sldId id="539" r:id="rId26"/>
    <p:sldId id="542" r:id="rId27"/>
    <p:sldId id="582" r:id="rId28"/>
    <p:sldId id="581" r:id="rId29"/>
    <p:sldId id="570" r:id="rId30"/>
    <p:sldId id="544" r:id="rId31"/>
    <p:sldId id="545" r:id="rId32"/>
    <p:sldId id="546" r:id="rId33"/>
    <p:sldId id="550" r:id="rId34"/>
    <p:sldId id="551" r:id="rId35"/>
    <p:sldId id="554" r:id="rId36"/>
    <p:sldId id="555" r:id="rId37"/>
    <p:sldId id="556" r:id="rId38"/>
    <p:sldId id="563" r:id="rId39"/>
    <p:sldId id="567" r:id="rId40"/>
    <p:sldId id="569" r:id="rId41"/>
  </p:sldIdLst>
  <p:sldSz cx="9144000" cy="6858000" type="screen4x3"/>
  <p:notesSz cx="7010400" cy="9296400"/>
  <p:custDataLst>
    <p:tags r:id="rId44"/>
  </p:custDataLst>
  <p:defaultTextStyle>
    <a:defPPr>
      <a:defRPr lang="en-US"/>
    </a:defPPr>
    <a:lvl1pPr algn="ctr" rtl="0" fontAlgn="base">
      <a:lnSpc>
        <a:spcPct val="90000"/>
      </a:lnSpc>
      <a:spcBef>
        <a:spcPct val="5000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ctr" rtl="0" fontAlgn="base">
      <a:lnSpc>
        <a:spcPct val="90000"/>
      </a:lnSpc>
      <a:spcBef>
        <a:spcPct val="5000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ctr" rtl="0" fontAlgn="base">
      <a:lnSpc>
        <a:spcPct val="90000"/>
      </a:lnSpc>
      <a:spcBef>
        <a:spcPct val="5000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ctr" rtl="0" fontAlgn="base">
      <a:lnSpc>
        <a:spcPct val="90000"/>
      </a:lnSpc>
      <a:spcBef>
        <a:spcPct val="5000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ctr" rtl="0" fontAlgn="base">
      <a:lnSpc>
        <a:spcPct val="90000"/>
      </a:lnSpc>
      <a:spcBef>
        <a:spcPct val="5000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48">
          <p15:clr>
            <a:srgbClr val="A4A3A4"/>
          </p15:clr>
        </p15:guide>
        <p15:guide id="2" orient="horz" pos="3889">
          <p15:clr>
            <a:srgbClr val="A4A3A4"/>
          </p15:clr>
        </p15:guide>
        <p15:guide id="3" orient="horz" pos="722">
          <p15:clr>
            <a:srgbClr val="A4A3A4"/>
          </p15:clr>
        </p15:guide>
        <p15:guide id="4" pos="2880">
          <p15:clr>
            <a:srgbClr val="A4A3A4"/>
          </p15:clr>
        </p15:guide>
        <p15:guide id="5" pos="260">
          <p15:clr>
            <a:srgbClr val="A4A3A4"/>
          </p15:clr>
        </p15:guide>
        <p15:guide id="6" pos="549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DDDD"/>
    <a:srgbClr val="EAEAEA"/>
    <a:srgbClr val="000000"/>
    <a:srgbClr val="C0C0C0"/>
    <a:srgbClr val="B2B2B2"/>
    <a:srgbClr val="FFFF66"/>
    <a:srgbClr val="3333CC"/>
    <a:srgbClr val="FF00CC"/>
    <a:srgbClr val="CBCBDF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352" autoAdjust="0"/>
    <p:restoredTop sz="86578" autoAdjust="0"/>
  </p:normalViewPr>
  <p:slideViewPr>
    <p:cSldViewPr snapToGrid="0">
      <p:cViewPr varScale="1">
        <p:scale>
          <a:sx n="77" d="100"/>
          <a:sy n="77" d="100"/>
        </p:scale>
        <p:origin x="1906" y="62"/>
      </p:cViewPr>
      <p:guideLst>
        <p:guide orient="horz" pos="948"/>
        <p:guide orient="horz" pos="3889"/>
        <p:guide orient="horz" pos="722"/>
        <p:guide pos="2880"/>
        <p:guide pos="260"/>
        <p:guide pos="5499"/>
      </p:guideLst>
    </p:cSldViewPr>
  </p:slideViewPr>
  <p:outlineViewPr>
    <p:cViewPr>
      <p:scale>
        <a:sx n="33" d="100"/>
        <a:sy n="33" d="100"/>
      </p:scale>
      <p:origin x="0" y="-13358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19411"/>
    </p:cViewPr>
  </p:sorterViewPr>
  <p:notesViewPr>
    <p:cSldViewPr snapToGrid="0">
      <p:cViewPr varScale="1">
        <p:scale>
          <a:sx n="97" d="100"/>
          <a:sy n="97" d="100"/>
        </p:scale>
        <p:origin x="-1698" y="-90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handoutMaster" Target="handoutMasters/handoutMaster1.xml"/><Relationship Id="rId48" Type="http://schemas.openxmlformats.org/officeDocument/2006/relationships/tableStyles" Target="tableStyles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20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38258" cy="464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576" y="1"/>
            <a:ext cx="3038258" cy="464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623381-AFEF-490F-AA45-31EC49CF1500}" type="datetimeFigureOut">
              <a:rPr lang="en-US" smtClean="0"/>
              <a:pPr/>
              <a:t>3/17/2017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8830268"/>
            <a:ext cx="3038258" cy="4644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576" y="8830268"/>
            <a:ext cx="3038258" cy="4644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5BF31A-114D-494C-A5D5-F6526D17527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486694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38258" cy="464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576" y="1"/>
            <a:ext cx="3038258" cy="464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CA216A-1E3F-4AD2-B74F-855E5673142F}" type="datetimeFigureOut">
              <a:rPr lang="en-US" smtClean="0"/>
              <a:pPr/>
              <a:t>3/17/2017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0413" y="4415133"/>
            <a:ext cx="5609574" cy="41837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830268"/>
            <a:ext cx="3038258" cy="4644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576" y="8830268"/>
            <a:ext cx="3038258" cy="4644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A09BFF-9304-4EE8-967B-56F816FBB8C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47389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E985CD-0FB1-4244-87CC-A8D8BA843764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84894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E985CD-0FB1-4244-87CC-A8D8BA843764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1996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E985CD-0FB1-4244-87CC-A8D8BA843764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47375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E985CD-0FB1-4244-87CC-A8D8BA843764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75806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A09BFF-9304-4EE8-967B-56F816FBB8C1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0740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E985CD-0FB1-4244-87CC-A8D8BA843764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893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5997609-418E-4D0C-9783-1B23ADC71C1C}" type="slidenum">
              <a:rPr lang="en-US"/>
              <a:pPr/>
              <a:t>15</a:t>
            </a:fld>
            <a:endParaRPr lang="en-US" dirty="0"/>
          </a:p>
        </p:txBody>
      </p:sp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85194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E985CD-0FB1-4244-87CC-A8D8BA843764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2874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E985CD-0FB1-4244-87CC-A8D8BA843764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10293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E985CD-0FB1-4244-87CC-A8D8BA843764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78027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EDE6D96-5FE9-414A-9BA0-34288C82892E}" type="slidenum">
              <a:rPr lang="en-US"/>
              <a:pPr/>
              <a:t>20</a:t>
            </a:fld>
            <a:endParaRPr lang="en-US" dirty="0"/>
          </a:p>
        </p:txBody>
      </p:sp>
      <p:sp>
        <p:nvSpPr>
          <p:cNvPr id="189442" name="Rectangle 7"/>
          <p:cNvSpPr txBox="1">
            <a:spLocks noGrp="1" noChangeArrowheads="1"/>
          </p:cNvSpPr>
          <p:nvPr/>
        </p:nvSpPr>
        <p:spPr bwMode="auto">
          <a:xfrm>
            <a:off x="3970734" y="8830659"/>
            <a:ext cx="3038145" cy="464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93" tIns="46047" rIns="92093" bIns="46047" anchor="b"/>
          <a:lstStyle/>
          <a:p>
            <a:pPr algn="r" defTabSz="921175"/>
            <a:fld id="{C866AB2D-8B55-4514-ABC4-C2F09F655434}" type="slidenum">
              <a:rPr lang="en-US" sz="1200"/>
              <a:pPr algn="r" defTabSz="921175"/>
              <a:t>20</a:t>
            </a:fld>
            <a:endParaRPr lang="en-US" sz="1200" dirty="0"/>
          </a:p>
        </p:txBody>
      </p:sp>
      <p:sp>
        <p:nvSpPr>
          <p:cNvPr id="189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1100" y="696913"/>
            <a:ext cx="4648200" cy="3486150"/>
          </a:xfrm>
          <a:ln/>
        </p:spPr>
      </p:sp>
      <p:sp>
        <p:nvSpPr>
          <p:cNvPr id="1894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112" y="4416098"/>
            <a:ext cx="5142177" cy="4183995"/>
          </a:xfrm>
        </p:spPr>
        <p:txBody>
          <a:bodyPr lIns="92093" tIns="46047" rIns="92093" bIns="46047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64706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E985CD-0FB1-4244-87CC-A8D8BA843764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82282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E985CD-0FB1-4244-87CC-A8D8BA843764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55757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E985CD-0FB1-4244-87CC-A8D8BA843764}" type="slidenum">
              <a:rPr lang="en-US" smtClean="0"/>
              <a:pPr>
                <a:defRPr/>
              </a:pPr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47250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E985CD-0FB1-4244-87CC-A8D8BA843764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26430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E985CD-0FB1-4244-87CC-A8D8BA843764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105368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E985CD-0FB1-4244-87CC-A8D8BA843764}" type="slidenum">
              <a:rPr lang="en-US" smtClean="0"/>
              <a:pPr>
                <a:defRPr/>
              </a:pPr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559001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E985CD-0FB1-4244-87CC-A8D8BA843764}" type="slidenum">
              <a:rPr lang="en-US" smtClean="0"/>
              <a:pPr>
                <a:defRPr/>
              </a:pPr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416622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E985CD-0FB1-4244-87CC-A8D8BA843764}" type="slidenum">
              <a:rPr lang="en-US" smtClean="0"/>
              <a:pPr>
                <a:defRPr/>
              </a:pPr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14068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E985CD-0FB1-4244-87CC-A8D8BA843764}" type="slidenum">
              <a:rPr lang="en-US" smtClean="0"/>
              <a:pPr>
                <a:defRPr/>
              </a:pPr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160583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E985CD-0FB1-4244-87CC-A8D8BA843764}" type="slidenum">
              <a:rPr lang="en-US" smtClean="0"/>
              <a:pPr>
                <a:defRPr/>
              </a:pPr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099433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E985CD-0FB1-4244-87CC-A8D8BA843764}" type="slidenum">
              <a:rPr lang="en-US" smtClean="0"/>
              <a:pPr>
                <a:defRPr/>
              </a:pPr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466710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E985CD-0FB1-4244-87CC-A8D8BA843764}" type="slidenum">
              <a:rPr lang="en-US" smtClean="0"/>
              <a:pPr>
                <a:defRPr/>
              </a:pPr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485934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E985CD-0FB1-4244-87CC-A8D8BA843764}" type="slidenum">
              <a:rPr lang="en-US" smtClean="0"/>
              <a:pPr>
                <a:defRPr/>
              </a:pPr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466425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E985CD-0FB1-4244-87CC-A8D8BA843764}" type="slidenum">
              <a:rPr lang="en-US" smtClean="0"/>
              <a:pPr>
                <a:defRPr/>
              </a:pPr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184464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5997609-418E-4D0C-9783-1B23ADC71C1C}" type="slidenum">
              <a:rPr lang="en-US"/>
              <a:pPr/>
              <a:t>38</a:t>
            </a:fld>
            <a:endParaRPr lang="en-US" dirty="0"/>
          </a:p>
        </p:txBody>
      </p:sp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141391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Delete specs table?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E985CD-0FB1-4244-87CC-A8D8BA843764}" type="slidenum">
              <a:rPr lang="en-US" smtClean="0"/>
              <a:pPr>
                <a:defRPr/>
              </a:pPr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652386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Delete Specs Table?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E985CD-0FB1-4244-87CC-A8D8BA843764}" type="slidenum">
              <a:rPr lang="en-US" smtClean="0"/>
              <a:pPr>
                <a:defRPr/>
              </a:pPr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81011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74231" y="930872"/>
            <a:ext cx="2817272" cy="73998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14400" y="2943225"/>
            <a:ext cx="6400800" cy="64008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Click to Edit MACOM Title Slide </a:t>
            </a:r>
            <a:br>
              <a:rPr lang="en-US" dirty="0" smtClean="0"/>
            </a:br>
            <a:r>
              <a:rPr lang="en-US" dirty="0" smtClean="0"/>
              <a:t>Arial Black 24pt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914400" y="3749040"/>
            <a:ext cx="4572000" cy="731520"/>
          </a:xfrm>
        </p:spPr>
        <p:txBody>
          <a:bodyPr/>
          <a:lstStyle>
            <a:lvl1pPr marL="0" indent="0">
              <a:spcBef>
                <a:spcPts val="600"/>
              </a:spcBef>
              <a:buFontTx/>
              <a:buNone/>
              <a:defRPr sz="1800" baseline="0">
                <a:solidFill>
                  <a:schemeClr val="bg1"/>
                </a:solidFill>
              </a:defRPr>
            </a:lvl1pPr>
            <a:lvl2pPr marL="400050" indent="0">
              <a:buFontTx/>
              <a:buNone/>
              <a:defRPr/>
            </a:lvl2pPr>
            <a:lvl3pPr marL="800100" indent="0">
              <a:buFontTx/>
              <a:buNone/>
              <a:defRPr/>
            </a:lvl3pPr>
            <a:lvl4pPr marL="1143000" indent="0">
              <a:buFontTx/>
              <a:buNone/>
              <a:defRPr/>
            </a:lvl4pPr>
            <a:lvl5pPr marL="1543050" indent="0">
              <a:buFontTx/>
              <a:buNone/>
              <a:defRPr/>
            </a:lvl5pPr>
          </a:lstStyle>
          <a:p>
            <a:r>
              <a:rPr lang="en-US" dirty="0" smtClean="0"/>
              <a:t>Click to edit Subhead Arial 18pt</a:t>
            </a:r>
            <a:br>
              <a:rPr lang="en-US" dirty="0" smtClean="0"/>
            </a:br>
            <a:r>
              <a:rPr lang="en-US" dirty="0" smtClean="0"/>
              <a:t>Presenter Name and Date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4343400"/>
            <a:ext cx="9144000" cy="25146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342426"/>
            <a:ext cx="8766807" cy="277977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13715" y="346569"/>
            <a:ext cx="1484623" cy="247437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188554" y="1920240"/>
            <a:ext cx="7315200" cy="640080"/>
          </a:xfrm>
        </p:spPr>
        <p:txBody>
          <a:bodyPr anchor="b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1188554" y="2651760"/>
            <a:ext cx="7315200" cy="914400"/>
          </a:xfrm>
        </p:spPr>
        <p:txBody>
          <a:bodyPr/>
          <a:lstStyle>
            <a:lvl1pPr marL="0" indent="0">
              <a:buFontTx/>
              <a:buNone/>
              <a:defRPr sz="1800">
                <a:solidFill>
                  <a:schemeClr val="bg1"/>
                </a:solidFill>
              </a:defRPr>
            </a:lvl1pPr>
            <a:lvl2pPr marL="400050" indent="0">
              <a:buFontTx/>
              <a:buNone/>
              <a:defRPr/>
            </a:lvl2pPr>
            <a:lvl3pPr marL="800100" indent="0">
              <a:buFontTx/>
              <a:buNone/>
              <a:defRPr/>
            </a:lvl3pPr>
            <a:lvl4pPr marL="1143000" indent="0">
              <a:buFontTx/>
              <a:buNone/>
              <a:defRPr/>
            </a:lvl4pPr>
            <a:lvl5pPr marL="154305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  <p:transition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gray"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gray"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12750" y="310896"/>
            <a:ext cx="6400800" cy="365760"/>
          </a:xfrm>
        </p:spPr>
        <p:txBody>
          <a:bodyPr/>
          <a:lstStyle>
            <a:lvl1pPr>
              <a:defRPr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Text Placeholder 2"/>
          <p:cNvSpPr>
            <a:spLocks noGrp="1"/>
          </p:cNvSpPr>
          <p:nvPr>
            <p:ph type="body" idx="11"/>
          </p:nvPr>
        </p:nvSpPr>
        <p:spPr bwMode="gray">
          <a:xfrm>
            <a:off x="412749" y="676275"/>
            <a:ext cx="8316913" cy="365760"/>
          </a:xfrm>
        </p:spPr>
        <p:txBody>
          <a:bodyPr anchor="t" anchorCtr="0"/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sz="1800" b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16113055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412750" y="1504951"/>
            <a:ext cx="4018280" cy="4668838"/>
          </a:xfrm>
        </p:spPr>
        <p:txBody>
          <a:bodyPr/>
          <a:lstStyle>
            <a:lvl1pPr>
              <a:spcBef>
                <a:spcPts val="1200"/>
              </a:spcBef>
              <a:defRPr sz="2000"/>
            </a:lvl1pPr>
            <a:lvl2pPr>
              <a:spcBef>
                <a:spcPts val="800"/>
              </a:spcBef>
              <a:defRPr sz="1800"/>
            </a:lvl2pPr>
            <a:lvl3pPr>
              <a:spcBef>
                <a:spcPts val="800"/>
              </a:spcBef>
              <a:defRPr sz="1600"/>
            </a:lvl3pPr>
            <a:lvl4pPr marL="1143000" indent="-228600">
              <a:spcBef>
                <a:spcPts val="800"/>
              </a:spcBef>
              <a:defRPr sz="1600"/>
            </a:lvl4pPr>
            <a:lvl5pPr marL="1485900" indent="-228600">
              <a:spcBef>
                <a:spcPts val="800"/>
              </a:spcBef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gray">
          <a:xfrm>
            <a:off x="4711383" y="1504951"/>
            <a:ext cx="4018280" cy="4668838"/>
          </a:xfrm>
        </p:spPr>
        <p:txBody>
          <a:bodyPr/>
          <a:lstStyle>
            <a:lvl1pPr>
              <a:spcBef>
                <a:spcPts val="1200"/>
              </a:spcBef>
              <a:defRPr sz="2000"/>
            </a:lvl1pPr>
            <a:lvl2pPr>
              <a:spcBef>
                <a:spcPts val="800"/>
              </a:spcBef>
              <a:defRPr sz="1800"/>
            </a:lvl2pPr>
            <a:lvl3pPr>
              <a:spcBef>
                <a:spcPts val="800"/>
              </a:spcBef>
              <a:defRPr sz="1600"/>
            </a:lvl3pPr>
            <a:lvl4pPr marL="1143000" indent="-228600">
              <a:spcBef>
                <a:spcPts val="800"/>
              </a:spcBef>
              <a:defRPr sz="1600"/>
            </a:lvl4pPr>
            <a:lvl5pPr marL="1485900" indent="-228600">
              <a:spcBef>
                <a:spcPts val="800"/>
              </a:spcBef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ransition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412750" y="1504951"/>
            <a:ext cx="4018280" cy="4668838"/>
          </a:xfrm>
        </p:spPr>
        <p:txBody>
          <a:bodyPr/>
          <a:lstStyle>
            <a:lvl1pPr>
              <a:spcBef>
                <a:spcPts val="1200"/>
              </a:spcBef>
              <a:defRPr sz="2000"/>
            </a:lvl1pPr>
            <a:lvl2pPr>
              <a:spcBef>
                <a:spcPts val="800"/>
              </a:spcBef>
              <a:defRPr sz="1800"/>
            </a:lvl2pPr>
            <a:lvl3pPr>
              <a:spcBef>
                <a:spcPts val="800"/>
              </a:spcBef>
              <a:defRPr sz="1600"/>
            </a:lvl3pPr>
            <a:lvl4pPr marL="1143000" indent="-228600">
              <a:spcBef>
                <a:spcPts val="800"/>
              </a:spcBef>
              <a:defRPr sz="1600"/>
            </a:lvl4pPr>
            <a:lvl5pPr marL="1485900" indent="-228600">
              <a:spcBef>
                <a:spcPts val="800"/>
              </a:spcBef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gray">
          <a:xfrm>
            <a:off x="4711383" y="1504951"/>
            <a:ext cx="4018280" cy="4668838"/>
          </a:xfrm>
        </p:spPr>
        <p:txBody>
          <a:bodyPr/>
          <a:lstStyle>
            <a:lvl1pPr>
              <a:spcBef>
                <a:spcPts val="1200"/>
              </a:spcBef>
              <a:defRPr sz="2000"/>
            </a:lvl1pPr>
            <a:lvl2pPr>
              <a:spcBef>
                <a:spcPts val="800"/>
              </a:spcBef>
              <a:defRPr sz="1800"/>
            </a:lvl2pPr>
            <a:lvl3pPr>
              <a:spcBef>
                <a:spcPts val="800"/>
              </a:spcBef>
              <a:defRPr sz="1600"/>
            </a:lvl3pPr>
            <a:lvl4pPr marL="1143000" indent="-228600">
              <a:spcBef>
                <a:spcPts val="800"/>
              </a:spcBef>
              <a:defRPr sz="1600"/>
            </a:lvl4pPr>
            <a:lvl5pPr marL="1485900" indent="-228600">
              <a:spcBef>
                <a:spcPts val="800"/>
              </a:spcBef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2750" y="310896"/>
            <a:ext cx="6400800" cy="36576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Text Placeholder 2"/>
          <p:cNvSpPr>
            <a:spLocks noGrp="1"/>
          </p:cNvSpPr>
          <p:nvPr>
            <p:ph type="body" idx="11"/>
          </p:nvPr>
        </p:nvSpPr>
        <p:spPr bwMode="gray">
          <a:xfrm>
            <a:off x="412749" y="676275"/>
            <a:ext cx="6400800" cy="365760"/>
          </a:xfrm>
        </p:spPr>
        <p:txBody>
          <a:bodyPr anchor="t" anchorCtr="0"/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sz="1800" b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97672987"/>
      </p:ext>
    </p:extLst>
  </p:cSld>
  <p:clrMapOvr>
    <a:masterClrMapping/>
  </p:clrMapOvr>
  <p:transition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412750" y="1504950"/>
            <a:ext cx="4018280" cy="640080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285750" indent="-285750">
              <a:spcBef>
                <a:spcPts val="0"/>
              </a:spcBef>
              <a:buNone/>
              <a:defRPr lang="en-US" sz="1800" b="1" dirty="0" smtClean="0">
                <a:latin typeface="+mj-lt"/>
              </a:defRPr>
            </a:lvl1pPr>
          </a:lstStyle>
          <a:p>
            <a:pPr marL="0" lvl="0" indent="0"/>
            <a:r>
              <a:rPr lang="en-US" smtClean="0"/>
              <a:t>Click to edit Master text styles</a:t>
            </a:r>
          </a:p>
        </p:txBody>
      </p:sp>
      <p:sp>
        <p:nvSpPr>
          <p:cNvPr id="5" name="Content Placeholder 3"/>
          <p:cNvSpPr>
            <a:spLocks noGrp="1"/>
          </p:cNvSpPr>
          <p:nvPr>
            <p:ph sz="half" idx="2"/>
          </p:nvPr>
        </p:nvSpPr>
        <p:spPr bwMode="gray">
          <a:xfrm>
            <a:off x="412750" y="2126744"/>
            <a:ext cx="4018280" cy="4047044"/>
          </a:xfrm>
        </p:spPr>
        <p:txBody>
          <a:bodyPr/>
          <a:lstStyle>
            <a:lvl1pPr>
              <a:spcBef>
                <a:spcPts val="1200"/>
              </a:spcBef>
              <a:defRPr sz="2000"/>
            </a:lvl1pPr>
            <a:lvl2pPr>
              <a:spcBef>
                <a:spcPts val="800"/>
              </a:spcBef>
              <a:defRPr sz="1800"/>
            </a:lvl2pPr>
            <a:lvl3pPr>
              <a:spcBef>
                <a:spcPts val="800"/>
              </a:spcBef>
              <a:defRPr sz="1600"/>
            </a:lvl3pPr>
            <a:lvl4pPr>
              <a:spcBef>
                <a:spcPts val="800"/>
              </a:spcBef>
              <a:defRPr sz="1600"/>
            </a:lvl4pPr>
            <a:lvl5pPr marL="1600200" indent="-228600">
              <a:spcBef>
                <a:spcPts val="800"/>
              </a:spcBef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3"/>
          </p:nvPr>
        </p:nvSpPr>
        <p:spPr bwMode="gray">
          <a:xfrm>
            <a:off x="4711383" y="1504950"/>
            <a:ext cx="4018280" cy="640080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285750" indent="-285750">
              <a:spcBef>
                <a:spcPts val="0"/>
              </a:spcBef>
              <a:buNone/>
              <a:defRPr lang="en-US" sz="1800" b="1" dirty="0" smtClean="0">
                <a:latin typeface="+mj-lt"/>
              </a:defRPr>
            </a:lvl1pPr>
          </a:lstStyle>
          <a:p>
            <a:pPr marL="0" lvl="0" indent="0"/>
            <a:r>
              <a:rPr lang="en-US" smtClean="0"/>
              <a:t>Click to edit Master text styles</a:t>
            </a:r>
          </a:p>
        </p:txBody>
      </p:sp>
      <p:sp>
        <p:nvSpPr>
          <p:cNvPr id="7" name="Content Placeholder 5"/>
          <p:cNvSpPr>
            <a:spLocks noGrp="1"/>
          </p:cNvSpPr>
          <p:nvPr>
            <p:ph sz="quarter" idx="4"/>
          </p:nvPr>
        </p:nvSpPr>
        <p:spPr bwMode="gray">
          <a:xfrm>
            <a:off x="4711383" y="2126744"/>
            <a:ext cx="4018280" cy="4047044"/>
          </a:xfrm>
        </p:spPr>
        <p:txBody>
          <a:bodyPr/>
          <a:lstStyle>
            <a:lvl1pPr>
              <a:spcBef>
                <a:spcPts val="1200"/>
              </a:spcBef>
              <a:defRPr sz="2000"/>
            </a:lvl1pPr>
            <a:lvl2pPr>
              <a:spcBef>
                <a:spcPts val="800"/>
              </a:spcBef>
              <a:defRPr sz="1800"/>
            </a:lvl2pPr>
            <a:lvl3pPr>
              <a:spcBef>
                <a:spcPts val="800"/>
              </a:spcBef>
              <a:defRPr sz="1600"/>
            </a:lvl3pPr>
            <a:lvl4pPr>
              <a:spcBef>
                <a:spcPts val="800"/>
              </a:spcBef>
              <a:defRPr sz="1600"/>
            </a:lvl4pPr>
            <a:lvl5pPr marL="1485900" indent="-228600">
              <a:spcBef>
                <a:spcPts val="800"/>
              </a:spcBef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  <p:transition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ransition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1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2138" y="4988742"/>
            <a:ext cx="6330615" cy="993474"/>
          </a:xfrm>
        </p:spPr>
        <p:txBody>
          <a:bodyPr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pic>
        <p:nvPicPr>
          <p:cNvPr id="3" name="Picture 2" descr="banner 8 Jan_small.jp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203575"/>
            <a:ext cx="9144000" cy="1792733"/>
          </a:xfrm>
          <a:prstGeom prst="rect">
            <a:avLst/>
          </a:prstGeom>
        </p:spPr>
      </p:pic>
      <p:pic>
        <p:nvPicPr>
          <p:cNvPr id="4" name="Picture 3" descr="MACOM wrdmrk 3025 TM Tag RFLT.png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40250" y="1600200"/>
            <a:ext cx="344658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3804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421223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ullet List - Standard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7719392" cy="533400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4270" y="1059904"/>
            <a:ext cx="7726122" cy="510540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spcBef>
                <a:spcPts val="1200"/>
              </a:spcBef>
              <a:defRPr b="0" i="0" baseline="0"/>
            </a:lvl1pPr>
            <a:lvl2pPr>
              <a:lnSpc>
                <a:spcPct val="100000"/>
              </a:lnSpc>
              <a:spcBef>
                <a:spcPts val="600"/>
              </a:spcBef>
              <a:defRPr sz="1800" b="0" i="0" baseline="0"/>
            </a:lvl2pPr>
            <a:lvl3pPr>
              <a:lnSpc>
                <a:spcPct val="100000"/>
              </a:lnSpc>
              <a:defRPr b="0" i="0" baseline="0"/>
            </a:lvl3pPr>
            <a:lvl4pPr>
              <a:lnSpc>
                <a:spcPct val="100000"/>
              </a:lnSpc>
              <a:spcBef>
                <a:spcPts val="600"/>
              </a:spcBef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1600200" y="6613525"/>
            <a:ext cx="6096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86BA18-6A16-43B4-BC6F-0B09B9E9A901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6948649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84200"/>
            <a:ext cx="8031163" cy="4572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09600" y="1343025"/>
            <a:ext cx="7988300" cy="4900613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38450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592231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096750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88856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30399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647689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587447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997859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4343400"/>
            <a:ext cx="9144000" cy="25146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13715" y="346569"/>
            <a:ext cx="1484623" cy="247437"/>
          </a:xfrm>
          <a:prstGeom prst="rect">
            <a:avLst/>
          </a:prstGeom>
        </p:spPr>
      </p:pic>
      <p:cxnSp>
        <p:nvCxnSpPr>
          <p:cNvPr id="11" name="Straight Connector 10"/>
          <p:cNvCxnSpPr/>
          <p:nvPr userDrawn="1"/>
        </p:nvCxnSpPr>
        <p:spPr bwMode="auto">
          <a:xfrm>
            <a:off x="0" y="1147763"/>
            <a:ext cx="8774810" cy="0"/>
          </a:xfrm>
          <a:prstGeom prst="line">
            <a:avLst/>
          </a:prstGeom>
          <a:solidFill>
            <a:schemeClr val="accent2"/>
          </a:solidFill>
          <a:ln w="28575" cap="sq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5398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12750" y="310896"/>
            <a:ext cx="6400800" cy="64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  <a:endParaRPr lang="en-US" dirty="0" smtClean="0"/>
          </a:p>
        </p:txBody>
      </p:sp>
      <p:sp>
        <p:nvSpPr>
          <p:cNvPr id="553987" name="Rectangle 3"/>
          <p:cNvSpPr>
            <a:spLocks noGrp="1" noChangeArrowheads="1"/>
          </p:cNvSpPr>
          <p:nvPr>
            <p:ph type="body" idx="1"/>
          </p:nvPr>
        </p:nvSpPr>
        <p:spPr bwMode="gray">
          <a:xfrm>
            <a:off x="412751" y="1504951"/>
            <a:ext cx="8316912" cy="4668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553996" name="Text Box 12"/>
          <p:cNvSpPr txBox="1">
            <a:spLocks noChangeArrowheads="1"/>
          </p:cNvSpPr>
          <p:nvPr userDrawn="1"/>
        </p:nvSpPr>
        <p:spPr bwMode="gray">
          <a:xfrm>
            <a:off x="412750" y="6557963"/>
            <a:ext cx="5600700" cy="3000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91440" tIns="45720" rIns="91440" bIns="45720"/>
          <a:lstStyle/>
          <a:p>
            <a:pPr algn="l">
              <a:spcBef>
                <a:spcPts val="900"/>
              </a:spcBef>
            </a:pPr>
            <a:r>
              <a:rPr lang="en-US" sz="1000" kern="1200" dirty="0" smtClean="0">
                <a:solidFill>
                  <a:schemeClr val="tx2"/>
                </a:solidFill>
                <a:latin typeface="Arial" charset="0"/>
                <a:ea typeface="+mn-ea"/>
                <a:cs typeface="+mn-cs"/>
              </a:rPr>
              <a:t>Company Confidential</a:t>
            </a:r>
          </a:p>
        </p:txBody>
      </p:sp>
      <p:sp>
        <p:nvSpPr>
          <p:cNvPr id="7" name="Rectangle 5"/>
          <p:cNvSpPr txBox="1">
            <a:spLocks noChangeArrowheads="1"/>
          </p:cNvSpPr>
          <p:nvPr/>
        </p:nvSpPr>
        <p:spPr bwMode="gray">
          <a:xfrm>
            <a:off x="7926388" y="6557963"/>
            <a:ext cx="803275" cy="300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320040" numCol="1" anchor="t" anchorCtr="0" compatLnSpc="1">
            <a:prstTxWarp prst="textNoShape">
              <a:avLst/>
            </a:prstTxWarp>
          </a:bodyPr>
          <a:lstStyle>
            <a:lvl1pPr algn="r" eaLnBrk="0" hangingPunct="0">
              <a:lnSpc>
                <a:spcPct val="100000"/>
              </a:lnSpc>
              <a:spcBef>
                <a:spcPct val="0"/>
              </a:spcBef>
              <a:defRPr sz="1000">
                <a:solidFill>
                  <a:schemeClr val="tx2"/>
                </a:solidFill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C78AFB4-C6FC-46C2-866E-1D035D18C51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1" r:id="rId2"/>
    <p:sldLayoutId id="2147483700" r:id="rId3"/>
    <p:sldLayoutId id="2147483713" r:id="rId4"/>
    <p:sldLayoutId id="2147483702" r:id="rId5"/>
    <p:sldLayoutId id="2147483715" r:id="rId6"/>
    <p:sldLayoutId id="2147483712" r:id="rId7"/>
    <p:sldLayoutId id="2147483704" r:id="rId8"/>
    <p:sldLayoutId id="2147483705" r:id="rId9"/>
    <p:sldLayoutId id="2147483716" r:id="rId10"/>
    <p:sldLayoutId id="2147483717" r:id="rId11"/>
    <p:sldLayoutId id="2147483718" r:id="rId12"/>
    <p:sldLayoutId id="2147483719" r:id="rId13"/>
    <p:sldLayoutId id="2147483721" r:id="rId14"/>
    <p:sldLayoutId id="2147483722" r:id="rId15"/>
    <p:sldLayoutId id="2147483724" r:id="rId16"/>
    <p:sldLayoutId id="2147483725" r:id="rId17"/>
    <p:sldLayoutId id="2147483726" r:id="rId18"/>
    <p:sldLayoutId id="2147483727" r:id="rId19"/>
    <p:sldLayoutId id="2147483728" r:id="rId20"/>
  </p:sldLayoutIdLst>
  <p:transition>
    <p:wipe dir="r"/>
  </p:transition>
  <p:timing>
    <p:tnLst>
      <p:par>
        <p:cTn id="1" dur="indefinite" restart="never" nodeType="tmRoot"/>
      </p:par>
    </p:tnLst>
  </p:timing>
  <p:hf sldNum="0" hdr="0" ft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0" i="0" u="none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9pPr>
    </p:titleStyle>
    <p:bodyStyle>
      <a:lvl1pPr marL="285750" indent="-285750" algn="l" rtl="0" eaLnBrk="1" fontAlgn="base" hangingPunct="1">
        <a:lnSpc>
          <a:spcPct val="95000"/>
        </a:lnSpc>
        <a:spcBef>
          <a:spcPts val="1200"/>
        </a:spcBef>
        <a:spcAft>
          <a:spcPct val="0"/>
        </a:spcAft>
        <a:buClr>
          <a:schemeClr val="accent2"/>
        </a:buClr>
        <a:buFont typeface="Arial Black" panose="020B0A04020102020204" pitchFamily="34" charset="0"/>
        <a:buChar char="&gt;"/>
        <a:defRPr sz="2000">
          <a:solidFill>
            <a:schemeClr val="tx2"/>
          </a:solidFill>
          <a:latin typeface="+mn-lt"/>
          <a:ea typeface="+mn-ea"/>
          <a:cs typeface="+mn-cs"/>
        </a:defRPr>
      </a:lvl1pPr>
      <a:lvl2pPr marL="571500" indent="-228600" algn="l" rtl="0" eaLnBrk="1" fontAlgn="base" hangingPunct="1">
        <a:lnSpc>
          <a:spcPct val="95000"/>
        </a:lnSpc>
        <a:spcBef>
          <a:spcPts val="800"/>
        </a:spcBef>
        <a:spcAft>
          <a:spcPct val="0"/>
        </a:spcAft>
        <a:buClr>
          <a:schemeClr val="accent2"/>
        </a:buClr>
        <a:buFont typeface="Arial" panose="020B0604020202020204" pitchFamily="34" charset="0"/>
        <a:buChar char="•"/>
        <a:defRPr sz="1800">
          <a:solidFill>
            <a:schemeClr val="tx2"/>
          </a:solidFill>
          <a:latin typeface="+mn-lt"/>
        </a:defRPr>
      </a:lvl2pPr>
      <a:lvl3pPr marL="857250" indent="-228600" algn="l" rtl="0" eaLnBrk="1" fontAlgn="base" hangingPunct="1">
        <a:lnSpc>
          <a:spcPct val="95000"/>
        </a:lnSpc>
        <a:spcBef>
          <a:spcPts val="800"/>
        </a:spcBef>
        <a:spcAft>
          <a:spcPct val="0"/>
        </a:spcAft>
        <a:buClr>
          <a:schemeClr val="accent2"/>
        </a:buClr>
        <a:buFont typeface="Arial" panose="020B0604020202020204" pitchFamily="34" charset="0"/>
        <a:buChar char="•"/>
        <a:defRPr sz="1600">
          <a:solidFill>
            <a:schemeClr val="tx2"/>
          </a:solidFill>
          <a:latin typeface="+mn-lt"/>
        </a:defRPr>
      </a:lvl3pPr>
      <a:lvl4pPr marL="1143000" indent="-228600" algn="l" rtl="0" eaLnBrk="1" fontAlgn="base" hangingPunct="1">
        <a:lnSpc>
          <a:spcPct val="95000"/>
        </a:lnSpc>
        <a:spcBef>
          <a:spcPts val="800"/>
        </a:spcBef>
        <a:spcAft>
          <a:spcPct val="0"/>
        </a:spcAft>
        <a:buClr>
          <a:schemeClr val="accent2"/>
        </a:buClr>
        <a:buFont typeface="Arial" panose="020B0604020202020204" pitchFamily="34" charset="0"/>
        <a:buChar char="•"/>
        <a:defRPr sz="1600">
          <a:solidFill>
            <a:schemeClr val="tx2"/>
          </a:solidFill>
          <a:latin typeface="+mn-lt"/>
        </a:defRPr>
      </a:lvl4pPr>
      <a:lvl5pPr marL="1485900" indent="-228600" algn="l" rtl="0" eaLnBrk="1" fontAlgn="base" hangingPunct="1">
        <a:lnSpc>
          <a:spcPct val="95000"/>
        </a:lnSpc>
        <a:spcBef>
          <a:spcPts val="800"/>
        </a:spcBef>
        <a:spcAft>
          <a:spcPct val="0"/>
        </a:spcAft>
        <a:buClr>
          <a:schemeClr val="accent2"/>
        </a:buClr>
        <a:buFont typeface="Arial" panose="020B0604020202020204" pitchFamily="34" charset="0"/>
        <a:buChar char="•"/>
        <a:defRPr sz="1600">
          <a:solidFill>
            <a:schemeClr val="tx2"/>
          </a:solidFill>
          <a:latin typeface="+mn-lt"/>
        </a:defRPr>
      </a:lvl5pPr>
      <a:lvl6pPr marL="2228850" indent="-228600" algn="l" rtl="0" eaLnBrk="1" fontAlgn="base" hangingPunct="1">
        <a:lnSpc>
          <a:spcPct val="95000"/>
        </a:lnSpc>
        <a:spcBef>
          <a:spcPct val="25000"/>
        </a:spcBef>
        <a:spcAft>
          <a:spcPct val="0"/>
        </a:spcAft>
        <a:buClr>
          <a:schemeClr val="accent1"/>
        </a:buClr>
        <a:buChar char="•"/>
        <a:defRPr sz="1600">
          <a:solidFill>
            <a:schemeClr val="tx1"/>
          </a:solidFill>
          <a:latin typeface="+mn-lt"/>
        </a:defRPr>
      </a:lvl6pPr>
      <a:lvl7pPr marL="2686050" indent="-228600" algn="l" rtl="0" eaLnBrk="1" fontAlgn="base" hangingPunct="1">
        <a:lnSpc>
          <a:spcPct val="95000"/>
        </a:lnSpc>
        <a:spcBef>
          <a:spcPct val="25000"/>
        </a:spcBef>
        <a:spcAft>
          <a:spcPct val="0"/>
        </a:spcAft>
        <a:buClr>
          <a:schemeClr val="accent1"/>
        </a:buClr>
        <a:buChar char="•"/>
        <a:defRPr sz="1600">
          <a:solidFill>
            <a:schemeClr val="tx1"/>
          </a:solidFill>
          <a:latin typeface="+mn-lt"/>
        </a:defRPr>
      </a:lvl7pPr>
      <a:lvl8pPr marL="3143250" indent="-228600" algn="l" rtl="0" eaLnBrk="1" fontAlgn="base" hangingPunct="1">
        <a:lnSpc>
          <a:spcPct val="95000"/>
        </a:lnSpc>
        <a:spcBef>
          <a:spcPct val="25000"/>
        </a:spcBef>
        <a:spcAft>
          <a:spcPct val="0"/>
        </a:spcAft>
        <a:buClr>
          <a:schemeClr val="accent1"/>
        </a:buClr>
        <a:buChar char="•"/>
        <a:defRPr sz="1600">
          <a:solidFill>
            <a:schemeClr val="tx1"/>
          </a:solidFill>
          <a:latin typeface="+mn-lt"/>
        </a:defRPr>
      </a:lvl8pPr>
      <a:lvl9pPr marL="3600450" indent="-228600" algn="l" rtl="0" eaLnBrk="1" fontAlgn="base" hangingPunct="1">
        <a:lnSpc>
          <a:spcPct val="95000"/>
        </a:lnSpc>
        <a:spcBef>
          <a:spcPct val="25000"/>
        </a:spcBef>
        <a:spcAft>
          <a:spcPct val="0"/>
        </a:spcAft>
        <a:buClr>
          <a:schemeClr val="accent1"/>
        </a:buClr>
        <a:buChar char="•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2.png"/><Relationship Id="rId5" Type="http://schemas.openxmlformats.org/officeDocument/2006/relationships/image" Target="../media/image11.jpeg"/><Relationship Id="rId4" Type="http://schemas.openxmlformats.org/officeDocument/2006/relationships/image" Target="../media/image10.jpeg"/><Relationship Id="rId9" Type="http://schemas.openxmlformats.org/officeDocument/2006/relationships/image" Target="../media/image15.e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Word_97_-_2003_Document1.doc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8.wmf"/><Relationship Id="rId4" Type="http://schemas.openxmlformats.org/officeDocument/2006/relationships/image" Target="../media/image17.e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image" Target="../media/image20.wmf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image" Target="../media/image22.wmf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4.w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image" Target="../media/image25.wmf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29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30.e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jpeg"/><Relationship Id="rId3" Type="http://schemas.openxmlformats.org/officeDocument/2006/relationships/image" Target="../media/image32.png"/><Relationship Id="rId7" Type="http://schemas.openxmlformats.org/officeDocument/2006/relationships/image" Target="../media/image36.jpe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5.jpeg"/><Relationship Id="rId11" Type="http://schemas.openxmlformats.org/officeDocument/2006/relationships/image" Target="../media/image13.png"/><Relationship Id="rId5" Type="http://schemas.openxmlformats.org/officeDocument/2006/relationships/image" Target="../media/image34.emf"/><Relationship Id="rId10" Type="http://schemas.openxmlformats.org/officeDocument/2006/relationships/image" Target="../media/image12.png"/><Relationship Id="rId4" Type="http://schemas.openxmlformats.org/officeDocument/2006/relationships/image" Target="../media/image33.jpeg"/><Relationship Id="rId9" Type="http://schemas.openxmlformats.org/officeDocument/2006/relationships/image" Target="../media/image38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4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4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emf"/><Relationship Id="rId5" Type="http://schemas.openxmlformats.org/officeDocument/2006/relationships/image" Target="../media/image62.emf"/><Relationship Id="rId4" Type="http://schemas.openxmlformats.org/officeDocument/2006/relationships/image" Target="../media/image61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e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e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em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7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em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9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9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77.png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81.png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848955"/>
            <a:ext cx="6400800" cy="64008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MACOM</a:t>
            </a:r>
            <a:br>
              <a:rPr lang="en-US" dirty="0" smtClean="0"/>
            </a:br>
            <a:r>
              <a:rPr lang="en-US" dirty="0" smtClean="0"/>
              <a:t>Diode Products - HMIC</a:t>
            </a:r>
            <a:r>
              <a:rPr lang="en-US" baseline="42000" dirty="0"/>
              <a:t>TM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rev </a:t>
            </a:r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914400" y="3777321"/>
            <a:ext cx="4572000" cy="731520"/>
          </a:xfrm>
        </p:spPr>
        <p:txBody>
          <a:bodyPr/>
          <a:lstStyle/>
          <a:p>
            <a:r>
              <a:rPr lang="en-US" dirty="0" smtClean="0"/>
              <a:t>Joe Bukowski, Rick Cory</a:t>
            </a:r>
          </a:p>
          <a:p>
            <a:r>
              <a:rPr lang="en-US" dirty="0" smtClean="0"/>
              <a:t>17 March 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1300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36795" y="422029"/>
            <a:ext cx="5247568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200" b="1" dirty="0" smtClean="0"/>
              <a:t>Product Families</a:t>
            </a:r>
          </a:p>
        </p:txBody>
      </p:sp>
      <p:sp>
        <p:nvSpPr>
          <p:cNvPr id="30" name="Freeform 29"/>
          <p:cNvSpPr/>
          <p:nvPr/>
        </p:nvSpPr>
        <p:spPr>
          <a:xfrm>
            <a:off x="3572029" y="3457545"/>
            <a:ext cx="1674580" cy="1150965"/>
          </a:xfrm>
          <a:custGeom>
            <a:avLst/>
            <a:gdLst>
              <a:gd name="connsiteX0" fmla="*/ 0 w 1196197"/>
              <a:gd name="connsiteY0" fmla="*/ 59810 h 598098"/>
              <a:gd name="connsiteX1" fmla="*/ 17518 w 1196197"/>
              <a:gd name="connsiteY1" fmla="*/ 17518 h 598098"/>
              <a:gd name="connsiteX2" fmla="*/ 59810 w 1196197"/>
              <a:gd name="connsiteY2" fmla="*/ 0 h 598098"/>
              <a:gd name="connsiteX3" fmla="*/ 1136387 w 1196197"/>
              <a:gd name="connsiteY3" fmla="*/ 0 h 598098"/>
              <a:gd name="connsiteX4" fmla="*/ 1178679 w 1196197"/>
              <a:gd name="connsiteY4" fmla="*/ 17518 h 598098"/>
              <a:gd name="connsiteX5" fmla="*/ 1196197 w 1196197"/>
              <a:gd name="connsiteY5" fmla="*/ 59810 h 598098"/>
              <a:gd name="connsiteX6" fmla="*/ 1196197 w 1196197"/>
              <a:gd name="connsiteY6" fmla="*/ 538288 h 598098"/>
              <a:gd name="connsiteX7" fmla="*/ 1178679 w 1196197"/>
              <a:gd name="connsiteY7" fmla="*/ 580580 h 598098"/>
              <a:gd name="connsiteX8" fmla="*/ 1136387 w 1196197"/>
              <a:gd name="connsiteY8" fmla="*/ 598098 h 598098"/>
              <a:gd name="connsiteX9" fmla="*/ 59810 w 1196197"/>
              <a:gd name="connsiteY9" fmla="*/ 598098 h 598098"/>
              <a:gd name="connsiteX10" fmla="*/ 17518 w 1196197"/>
              <a:gd name="connsiteY10" fmla="*/ 580580 h 598098"/>
              <a:gd name="connsiteX11" fmla="*/ 0 w 1196197"/>
              <a:gd name="connsiteY11" fmla="*/ 538288 h 598098"/>
              <a:gd name="connsiteX12" fmla="*/ 0 w 1196197"/>
              <a:gd name="connsiteY12" fmla="*/ 59810 h 598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96197" h="598098">
                <a:moveTo>
                  <a:pt x="0" y="59810"/>
                </a:moveTo>
                <a:cubicBezTo>
                  <a:pt x="0" y="43947"/>
                  <a:pt x="6301" y="28734"/>
                  <a:pt x="17518" y="17518"/>
                </a:cubicBezTo>
                <a:cubicBezTo>
                  <a:pt x="28735" y="6301"/>
                  <a:pt x="43947" y="0"/>
                  <a:pt x="59810" y="0"/>
                </a:cubicBezTo>
                <a:lnTo>
                  <a:pt x="1136387" y="0"/>
                </a:lnTo>
                <a:cubicBezTo>
                  <a:pt x="1152250" y="0"/>
                  <a:pt x="1167463" y="6301"/>
                  <a:pt x="1178679" y="17518"/>
                </a:cubicBezTo>
                <a:cubicBezTo>
                  <a:pt x="1189896" y="28735"/>
                  <a:pt x="1196197" y="43947"/>
                  <a:pt x="1196197" y="59810"/>
                </a:cubicBezTo>
                <a:lnTo>
                  <a:pt x="1196197" y="538288"/>
                </a:lnTo>
                <a:cubicBezTo>
                  <a:pt x="1196197" y="554151"/>
                  <a:pt x="1189896" y="569364"/>
                  <a:pt x="1178679" y="580580"/>
                </a:cubicBezTo>
                <a:cubicBezTo>
                  <a:pt x="1167462" y="591797"/>
                  <a:pt x="1152250" y="598098"/>
                  <a:pt x="1136387" y="598098"/>
                </a:cubicBezTo>
                <a:lnTo>
                  <a:pt x="59810" y="598098"/>
                </a:lnTo>
                <a:cubicBezTo>
                  <a:pt x="43947" y="598098"/>
                  <a:pt x="28734" y="591797"/>
                  <a:pt x="17518" y="580580"/>
                </a:cubicBezTo>
                <a:cubicBezTo>
                  <a:pt x="6301" y="569363"/>
                  <a:pt x="0" y="554151"/>
                  <a:pt x="0" y="538288"/>
                </a:cubicBezTo>
                <a:lnTo>
                  <a:pt x="0" y="59810"/>
                </a:lnTo>
                <a:close/>
              </a:path>
            </a:pathLst>
          </a:custGeom>
          <a:solidFill>
            <a:srgbClr val="18921E"/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7678" tIns="27678" rIns="27678" bIns="27678" numCol="1" spcCol="1270" anchor="ctr" anchorCtr="0">
            <a:noAutofit/>
          </a:bodyPr>
          <a:lstStyle/>
          <a:p>
            <a:pPr lvl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b="1" kern="1200" dirty="0" smtClean="0"/>
              <a:t>Diode Products</a:t>
            </a:r>
            <a:endParaRPr lang="en-US" sz="2400" b="1" kern="1200" dirty="0"/>
          </a:p>
        </p:txBody>
      </p:sp>
      <p:sp>
        <p:nvSpPr>
          <p:cNvPr id="32" name="Freeform 31"/>
          <p:cNvSpPr/>
          <p:nvPr/>
        </p:nvSpPr>
        <p:spPr>
          <a:xfrm>
            <a:off x="3689087" y="1488128"/>
            <a:ext cx="1371600" cy="1245435"/>
          </a:xfrm>
          <a:custGeom>
            <a:avLst/>
            <a:gdLst>
              <a:gd name="connsiteX0" fmla="*/ 0 w 1196197"/>
              <a:gd name="connsiteY0" fmla="*/ 59810 h 598098"/>
              <a:gd name="connsiteX1" fmla="*/ 17518 w 1196197"/>
              <a:gd name="connsiteY1" fmla="*/ 17518 h 598098"/>
              <a:gd name="connsiteX2" fmla="*/ 59810 w 1196197"/>
              <a:gd name="connsiteY2" fmla="*/ 0 h 598098"/>
              <a:gd name="connsiteX3" fmla="*/ 1136387 w 1196197"/>
              <a:gd name="connsiteY3" fmla="*/ 0 h 598098"/>
              <a:gd name="connsiteX4" fmla="*/ 1178679 w 1196197"/>
              <a:gd name="connsiteY4" fmla="*/ 17518 h 598098"/>
              <a:gd name="connsiteX5" fmla="*/ 1196197 w 1196197"/>
              <a:gd name="connsiteY5" fmla="*/ 59810 h 598098"/>
              <a:gd name="connsiteX6" fmla="*/ 1196197 w 1196197"/>
              <a:gd name="connsiteY6" fmla="*/ 538288 h 598098"/>
              <a:gd name="connsiteX7" fmla="*/ 1178679 w 1196197"/>
              <a:gd name="connsiteY7" fmla="*/ 580580 h 598098"/>
              <a:gd name="connsiteX8" fmla="*/ 1136387 w 1196197"/>
              <a:gd name="connsiteY8" fmla="*/ 598098 h 598098"/>
              <a:gd name="connsiteX9" fmla="*/ 59810 w 1196197"/>
              <a:gd name="connsiteY9" fmla="*/ 598098 h 598098"/>
              <a:gd name="connsiteX10" fmla="*/ 17518 w 1196197"/>
              <a:gd name="connsiteY10" fmla="*/ 580580 h 598098"/>
              <a:gd name="connsiteX11" fmla="*/ 0 w 1196197"/>
              <a:gd name="connsiteY11" fmla="*/ 538288 h 598098"/>
              <a:gd name="connsiteX12" fmla="*/ 0 w 1196197"/>
              <a:gd name="connsiteY12" fmla="*/ 59810 h 598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96197" h="598098">
                <a:moveTo>
                  <a:pt x="0" y="59810"/>
                </a:moveTo>
                <a:cubicBezTo>
                  <a:pt x="0" y="43947"/>
                  <a:pt x="6301" y="28734"/>
                  <a:pt x="17518" y="17518"/>
                </a:cubicBezTo>
                <a:cubicBezTo>
                  <a:pt x="28735" y="6301"/>
                  <a:pt x="43947" y="0"/>
                  <a:pt x="59810" y="0"/>
                </a:cubicBezTo>
                <a:lnTo>
                  <a:pt x="1136387" y="0"/>
                </a:lnTo>
                <a:cubicBezTo>
                  <a:pt x="1152250" y="0"/>
                  <a:pt x="1167463" y="6301"/>
                  <a:pt x="1178679" y="17518"/>
                </a:cubicBezTo>
                <a:cubicBezTo>
                  <a:pt x="1189896" y="28735"/>
                  <a:pt x="1196197" y="43947"/>
                  <a:pt x="1196197" y="59810"/>
                </a:cubicBezTo>
                <a:lnTo>
                  <a:pt x="1196197" y="538288"/>
                </a:lnTo>
                <a:cubicBezTo>
                  <a:pt x="1196197" y="554151"/>
                  <a:pt x="1189896" y="569364"/>
                  <a:pt x="1178679" y="580580"/>
                </a:cubicBezTo>
                <a:cubicBezTo>
                  <a:pt x="1167462" y="591797"/>
                  <a:pt x="1152250" y="598098"/>
                  <a:pt x="1136387" y="598098"/>
                </a:cubicBezTo>
                <a:lnTo>
                  <a:pt x="59810" y="598098"/>
                </a:lnTo>
                <a:cubicBezTo>
                  <a:pt x="43947" y="598098"/>
                  <a:pt x="28734" y="591797"/>
                  <a:pt x="17518" y="580580"/>
                </a:cubicBezTo>
                <a:cubicBezTo>
                  <a:pt x="6301" y="569363"/>
                  <a:pt x="0" y="554151"/>
                  <a:pt x="0" y="538288"/>
                </a:cubicBezTo>
                <a:lnTo>
                  <a:pt x="0" y="59810"/>
                </a:lnTo>
                <a:close/>
              </a:path>
            </a:pathLst>
          </a:custGeom>
          <a:solidFill>
            <a:srgbClr val="18921E"/>
          </a:solidFill>
          <a:ln w="57150">
            <a:solidFill>
              <a:srgbClr val="FF0000"/>
            </a:solidFill>
          </a:ln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7678" tIns="27678" rIns="27678" bIns="27678" numCol="1" spcCol="1270" anchor="ctr" anchorCtr="0">
            <a:noAutofit/>
          </a:bodyPr>
          <a:lstStyle/>
          <a:p>
            <a:pPr lvl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400" b="1" kern="1200" dirty="0" smtClean="0"/>
              <a:t>PIN/NIP Diodes:</a:t>
            </a:r>
          </a:p>
          <a:p>
            <a:pPr lvl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400" b="1" dirty="0" smtClean="0"/>
              <a:t>Switching</a:t>
            </a:r>
          </a:p>
          <a:p>
            <a:pPr lvl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400" b="1" kern="1200" dirty="0" smtClean="0"/>
              <a:t>Attenuation</a:t>
            </a:r>
          </a:p>
          <a:p>
            <a:pPr lvl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400" b="1" dirty="0" smtClean="0"/>
              <a:t>Limiting</a:t>
            </a:r>
            <a:endParaRPr lang="en-US" sz="1400" b="1" kern="1200" dirty="0"/>
          </a:p>
        </p:txBody>
      </p:sp>
      <p:sp>
        <p:nvSpPr>
          <p:cNvPr id="34" name="Freeform 33"/>
          <p:cNvSpPr/>
          <p:nvPr/>
        </p:nvSpPr>
        <p:spPr>
          <a:xfrm>
            <a:off x="5952417" y="2418202"/>
            <a:ext cx="1371600" cy="1005840"/>
          </a:xfrm>
          <a:custGeom>
            <a:avLst/>
            <a:gdLst>
              <a:gd name="connsiteX0" fmla="*/ 0 w 1196197"/>
              <a:gd name="connsiteY0" fmla="*/ 59810 h 598098"/>
              <a:gd name="connsiteX1" fmla="*/ 17518 w 1196197"/>
              <a:gd name="connsiteY1" fmla="*/ 17518 h 598098"/>
              <a:gd name="connsiteX2" fmla="*/ 59810 w 1196197"/>
              <a:gd name="connsiteY2" fmla="*/ 0 h 598098"/>
              <a:gd name="connsiteX3" fmla="*/ 1136387 w 1196197"/>
              <a:gd name="connsiteY3" fmla="*/ 0 h 598098"/>
              <a:gd name="connsiteX4" fmla="*/ 1178679 w 1196197"/>
              <a:gd name="connsiteY4" fmla="*/ 17518 h 598098"/>
              <a:gd name="connsiteX5" fmla="*/ 1196197 w 1196197"/>
              <a:gd name="connsiteY5" fmla="*/ 59810 h 598098"/>
              <a:gd name="connsiteX6" fmla="*/ 1196197 w 1196197"/>
              <a:gd name="connsiteY6" fmla="*/ 538288 h 598098"/>
              <a:gd name="connsiteX7" fmla="*/ 1178679 w 1196197"/>
              <a:gd name="connsiteY7" fmla="*/ 580580 h 598098"/>
              <a:gd name="connsiteX8" fmla="*/ 1136387 w 1196197"/>
              <a:gd name="connsiteY8" fmla="*/ 598098 h 598098"/>
              <a:gd name="connsiteX9" fmla="*/ 59810 w 1196197"/>
              <a:gd name="connsiteY9" fmla="*/ 598098 h 598098"/>
              <a:gd name="connsiteX10" fmla="*/ 17518 w 1196197"/>
              <a:gd name="connsiteY10" fmla="*/ 580580 h 598098"/>
              <a:gd name="connsiteX11" fmla="*/ 0 w 1196197"/>
              <a:gd name="connsiteY11" fmla="*/ 538288 h 598098"/>
              <a:gd name="connsiteX12" fmla="*/ 0 w 1196197"/>
              <a:gd name="connsiteY12" fmla="*/ 59810 h 598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96197" h="598098">
                <a:moveTo>
                  <a:pt x="0" y="59810"/>
                </a:moveTo>
                <a:cubicBezTo>
                  <a:pt x="0" y="43947"/>
                  <a:pt x="6301" y="28734"/>
                  <a:pt x="17518" y="17518"/>
                </a:cubicBezTo>
                <a:cubicBezTo>
                  <a:pt x="28735" y="6301"/>
                  <a:pt x="43947" y="0"/>
                  <a:pt x="59810" y="0"/>
                </a:cubicBezTo>
                <a:lnTo>
                  <a:pt x="1136387" y="0"/>
                </a:lnTo>
                <a:cubicBezTo>
                  <a:pt x="1152250" y="0"/>
                  <a:pt x="1167463" y="6301"/>
                  <a:pt x="1178679" y="17518"/>
                </a:cubicBezTo>
                <a:cubicBezTo>
                  <a:pt x="1189896" y="28735"/>
                  <a:pt x="1196197" y="43947"/>
                  <a:pt x="1196197" y="59810"/>
                </a:cubicBezTo>
                <a:lnTo>
                  <a:pt x="1196197" y="538288"/>
                </a:lnTo>
                <a:cubicBezTo>
                  <a:pt x="1196197" y="554151"/>
                  <a:pt x="1189896" y="569364"/>
                  <a:pt x="1178679" y="580580"/>
                </a:cubicBezTo>
                <a:cubicBezTo>
                  <a:pt x="1167462" y="591797"/>
                  <a:pt x="1152250" y="598098"/>
                  <a:pt x="1136387" y="598098"/>
                </a:cubicBezTo>
                <a:lnTo>
                  <a:pt x="59810" y="598098"/>
                </a:lnTo>
                <a:cubicBezTo>
                  <a:pt x="43947" y="598098"/>
                  <a:pt x="28734" y="591797"/>
                  <a:pt x="17518" y="580580"/>
                </a:cubicBezTo>
                <a:cubicBezTo>
                  <a:pt x="6301" y="569363"/>
                  <a:pt x="0" y="554151"/>
                  <a:pt x="0" y="538288"/>
                </a:cubicBezTo>
                <a:lnTo>
                  <a:pt x="0" y="59810"/>
                </a:lnTo>
                <a:close/>
              </a:path>
            </a:pathLst>
          </a:custGeom>
          <a:solidFill>
            <a:srgbClr val="18921E"/>
          </a:solidFill>
          <a:ln w="57150">
            <a:solidFill>
              <a:srgbClr val="FF0000"/>
            </a:solidFill>
          </a:ln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7678" tIns="27678" rIns="27678" bIns="27678" numCol="1" spcCol="1270" anchor="ctr" anchorCtr="0">
            <a:noAutofit/>
          </a:bodyPr>
          <a:lstStyle/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tabLst>
                <a:tab pos="1603375" algn="l"/>
              </a:tabLst>
            </a:pPr>
            <a:r>
              <a:rPr lang="en-US" sz="1200" b="1" kern="1200" dirty="0" smtClean="0"/>
              <a:t>Schottky Diodes:</a:t>
            </a:r>
          </a:p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tabLst>
                <a:tab pos="1603375" algn="l"/>
              </a:tabLst>
            </a:pPr>
            <a:r>
              <a:rPr lang="en-US" sz="1200" b="1" dirty="0" smtClean="0"/>
              <a:t>Detection</a:t>
            </a:r>
          </a:p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tabLst>
                <a:tab pos="1603375" algn="l"/>
              </a:tabLst>
            </a:pPr>
            <a:r>
              <a:rPr lang="en-US" sz="1200" b="1" kern="1200" dirty="0" smtClean="0"/>
              <a:t>Frequency Mixing</a:t>
            </a:r>
            <a:endParaRPr lang="en-US" sz="1200" b="1" kern="1200" dirty="0"/>
          </a:p>
        </p:txBody>
      </p:sp>
      <p:sp>
        <p:nvSpPr>
          <p:cNvPr id="36" name="Freeform 35"/>
          <p:cNvSpPr/>
          <p:nvPr/>
        </p:nvSpPr>
        <p:spPr>
          <a:xfrm>
            <a:off x="1530167" y="4547701"/>
            <a:ext cx="1371600" cy="1005840"/>
          </a:xfrm>
          <a:custGeom>
            <a:avLst/>
            <a:gdLst>
              <a:gd name="connsiteX0" fmla="*/ 0 w 1196197"/>
              <a:gd name="connsiteY0" fmla="*/ 85508 h 855077"/>
              <a:gd name="connsiteX1" fmla="*/ 25045 w 1196197"/>
              <a:gd name="connsiteY1" fmla="*/ 25045 h 855077"/>
              <a:gd name="connsiteX2" fmla="*/ 85508 w 1196197"/>
              <a:gd name="connsiteY2" fmla="*/ 0 h 855077"/>
              <a:gd name="connsiteX3" fmla="*/ 1110689 w 1196197"/>
              <a:gd name="connsiteY3" fmla="*/ 0 h 855077"/>
              <a:gd name="connsiteX4" fmla="*/ 1171152 w 1196197"/>
              <a:gd name="connsiteY4" fmla="*/ 25045 h 855077"/>
              <a:gd name="connsiteX5" fmla="*/ 1196197 w 1196197"/>
              <a:gd name="connsiteY5" fmla="*/ 85508 h 855077"/>
              <a:gd name="connsiteX6" fmla="*/ 1196197 w 1196197"/>
              <a:gd name="connsiteY6" fmla="*/ 769569 h 855077"/>
              <a:gd name="connsiteX7" fmla="*/ 1171152 w 1196197"/>
              <a:gd name="connsiteY7" fmla="*/ 830032 h 855077"/>
              <a:gd name="connsiteX8" fmla="*/ 1110689 w 1196197"/>
              <a:gd name="connsiteY8" fmla="*/ 855077 h 855077"/>
              <a:gd name="connsiteX9" fmla="*/ 85508 w 1196197"/>
              <a:gd name="connsiteY9" fmla="*/ 855077 h 855077"/>
              <a:gd name="connsiteX10" fmla="*/ 25045 w 1196197"/>
              <a:gd name="connsiteY10" fmla="*/ 830032 h 855077"/>
              <a:gd name="connsiteX11" fmla="*/ 0 w 1196197"/>
              <a:gd name="connsiteY11" fmla="*/ 769569 h 855077"/>
              <a:gd name="connsiteX12" fmla="*/ 0 w 1196197"/>
              <a:gd name="connsiteY12" fmla="*/ 85508 h 855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96197" h="855077">
                <a:moveTo>
                  <a:pt x="0" y="85508"/>
                </a:moveTo>
                <a:cubicBezTo>
                  <a:pt x="0" y="62830"/>
                  <a:pt x="9009" y="41081"/>
                  <a:pt x="25045" y="25045"/>
                </a:cubicBezTo>
                <a:cubicBezTo>
                  <a:pt x="41081" y="9009"/>
                  <a:pt x="62830" y="0"/>
                  <a:pt x="85508" y="0"/>
                </a:cubicBezTo>
                <a:lnTo>
                  <a:pt x="1110689" y="0"/>
                </a:lnTo>
                <a:cubicBezTo>
                  <a:pt x="1133367" y="0"/>
                  <a:pt x="1155116" y="9009"/>
                  <a:pt x="1171152" y="25045"/>
                </a:cubicBezTo>
                <a:cubicBezTo>
                  <a:pt x="1187188" y="41081"/>
                  <a:pt x="1196197" y="62830"/>
                  <a:pt x="1196197" y="85508"/>
                </a:cubicBezTo>
                <a:lnTo>
                  <a:pt x="1196197" y="769569"/>
                </a:lnTo>
                <a:cubicBezTo>
                  <a:pt x="1196197" y="792247"/>
                  <a:pt x="1187188" y="813996"/>
                  <a:pt x="1171152" y="830032"/>
                </a:cubicBezTo>
                <a:cubicBezTo>
                  <a:pt x="1155116" y="846068"/>
                  <a:pt x="1133367" y="855077"/>
                  <a:pt x="1110689" y="855077"/>
                </a:cubicBezTo>
                <a:lnTo>
                  <a:pt x="85508" y="855077"/>
                </a:lnTo>
                <a:cubicBezTo>
                  <a:pt x="62830" y="855077"/>
                  <a:pt x="41081" y="846068"/>
                  <a:pt x="25045" y="830032"/>
                </a:cubicBezTo>
                <a:cubicBezTo>
                  <a:pt x="9009" y="813996"/>
                  <a:pt x="0" y="792247"/>
                  <a:pt x="0" y="769569"/>
                </a:cubicBezTo>
                <a:lnTo>
                  <a:pt x="0" y="85508"/>
                </a:lnTo>
                <a:close/>
              </a:path>
            </a:pathLst>
          </a:custGeom>
          <a:solidFill>
            <a:srgbClr val="18921E"/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5204" tIns="35204" rIns="35204" bIns="35204" numCol="1" spcCol="1270" anchor="ctr" anchorCtr="0">
            <a:noAutofit/>
          </a:bodyPr>
          <a:lstStyle/>
          <a:p>
            <a:pPr lvl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600" b="1" kern="1200" dirty="0" smtClean="0"/>
              <a:t>Attenuators</a:t>
            </a:r>
            <a:endParaRPr lang="en-US" sz="1600" b="1" kern="1200" dirty="0"/>
          </a:p>
        </p:txBody>
      </p:sp>
      <p:sp>
        <p:nvSpPr>
          <p:cNvPr id="38" name="Freeform 37"/>
          <p:cNvSpPr/>
          <p:nvPr/>
        </p:nvSpPr>
        <p:spPr>
          <a:xfrm>
            <a:off x="1530167" y="2400774"/>
            <a:ext cx="1371600" cy="1005840"/>
          </a:xfrm>
          <a:custGeom>
            <a:avLst/>
            <a:gdLst>
              <a:gd name="connsiteX0" fmla="*/ 0 w 1196197"/>
              <a:gd name="connsiteY0" fmla="*/ 59810 h 598098"/>
              <a:gd name="connsiteX1" fmla="*/ 17518 w 1196197"/>
              <a:gd name="connsiteY1" fmla="*/ 17518 h 598098"/>
              <a:gd name="connsiteX2" fmla="*/ 59810 w 1196197"/>
              <a:gd name="connsiteY2" fmla="*/ 0 h 598098"/>
              <a:gd name="connsiteX3" fmla="*/ 1136387 w 1196197"/>
              <a:gd name="connsiteY3" fmla="*/ 0 h 598098"/>
              <a:gd name="connsiteX4" fmla="*/ 1178679 w 1196197"/>
              <a:gd name="connsiteY4" fmla="*/ 17518 h 598098"/>
              <a:gd name="connsiteX5" fmla="*/ 1196197 w 1196197"/>
              <a:gd name="connsiteY5" fmla="*/ 59810 h 598098"/>
              <a:gd name="connsiteX6" fmla="*/ 1196197 w 1196197"/>
              <a:gd name="connsiteY6" fmla="*/ 538288 h 598098"/>
              <a:gd name="connsiteX7" fmla="*/ 1178679 w 1196197"/>
              <a:gd name="connsiteY7" fmla="*/ 580580 h 598098"/>
              <a:gd name="connsiteX8" fmla="*/ 1136387 w 1196197"/>
              <a:gd name="connsiteY8" fmla="*/ 598098 h 598098"/>
              <a:gd name="connsiteX9" fmla="*/ 59810 w 1196197"/>
              <a:gd name="connsiteY9" fmla="*/ 598098 h 598098"/>
              <a:gd name="connsiteX10" fmla="*/ 17518 w 1196197"/>
              <a:gd name="connsiteY10" fmla="*/ 580580 h 598098"/>
              <a:gd name="connsiteX11" fmla="*/ 0 w 1196197"/>
              <a:gd name="connsiteY11" fmla="*/ 538288 h 598098"/>
              <a:gd name="connsiteX12" fmla="*/ 0 w 1196197"/>
              <a:gd name="connsiteY12" fmla="*/ 59810 h 598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96197" h="598098">
                <a:moveTo>
                  <a:pt x="0" y="59810"/>
                </a:moveTo>
                <a:cubicBezTo>
                  <a:pt x="0" y="43947"/>
                  <a:pt x="6301" y="28734"/>
                  <a:pt x="17518" y="17518"/>
                </a:cubicBezTo>
                <a:cubicBezTo>
                  <a:pt x="28735" y="6301"/>
                  <a:pt x="43947" y="0"/>
                  <a:pt x="59810" y="0"/>
                </a:cubicBezTo>
                <a:lnTo>
                  <a:pt x="1136387" y="0"/>
                </a:lnTo>
                <a:cubicBezTo>
                  <a:pt x="1152250" y="0"/>
                  <a:pt x="1167463" y="6301"/>
                  <a:pt x="1178679" y="17518"/>
                </a:cubicBezTo>
                <a:cubicBezTo>
                  <a:pt x="1189896" y="28735"/>
                  <a:pt x="1196197" y="43947"/>
                  <a:pt x="1196197" y="59810"/>
                </a:cubicBezTo>
                <a:lnTo>
                  <a:pt x="1196197" y="538288"/>
                </a:lnTo>
                <a:cubicBezTo>
                  <a:pt x="1196197" y="554151"/>
                  <a:pt x="1189896" y="569364"/>
                  <a:pt x="1178679" y="580580"/>
                </a:cubicBezTo>
                <a:cubicBezTo>
                  <a:pt x="1167462" y="591797"/>
                  <a:pt x="1152250" y="598098"/>
                  <a:pt x="1136387" y="598098"/>
                </a:cubicBezTo>
                <a:lnTo>
                  <a:pt x="59810" y="598098"/>
                </a:lnTo>
                <a:cubicBezTo>
                  <a:pt x="43947" y="598098"/>
                  <a:pt x="28734" y="591797"/>
                  <a:pt x="17518" y="580580"/>
                </a:cubicBezTo>
                <a:cubicBezTo>
                  <a:pt x="6301" y="569363"/>
                  <a:pt x="0" y="554151"/>
                  <a:pt x="0" y="538288"/>
                </a:cubicBezTo>
                <a:lnTo>
                  <a:pt x="0" y="59810"/>
                </a:lnTo>
                <a:close/>
              </a:path>
            </a:pathLst>
          </a:custGeom>
          <a:solidFill>
            <a:srgbClr val="18921E"/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7678" tIns="27678" rIns="27678" bIns="27678" numCol="1" spcCol="1270" anchor="ctr" anchorCtr="0">
            <a:noAutofit/>
          </a:bodyPr>
          <a:lstStyle/>
          <a:p>
            <a:pPr lvl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200" b="1" kern="1200" dirty="0" smtClean="0"/>
              <a:t>Varactor Diodes:</a:t>
            </a:r>
          </a:p>
          <a:p>
            <a:pPr lvl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200" b="1" dirty="0" smtClean="0"/>
              <a:t>Tuning</a:t>
            </a:r>
          </a:p>
          <a:p>
            <a:pPr lvl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200" b="1" kern="1200" dirty="0" smtClean="0"/>
              <a:t>Phase Shifting</a:t>
            </a:r>
            <a:endParaRPr lang="en-US" sz="1200" b="1" kern="1200" dirty="0"/>
          </a:p>
        </p:txBody>
      </p:sp>
      <p:sp>
        <p:nvSpPr>
          <p:cNvPr id="40" name="Freeform 39"/>
          <p:cNvSpPr/>
          <p:nvPr/>
        </p:nvSpPr>
        <p:spPr>
          <a:xfrm>
            <a:off x="3682783" y="5343763"/>
            <a:ext cx="1371600" cy="1347156"/>
          </a:xfrm>
          <a:custGeom>
            <a:avLst/>
            <a:gdLst>
              <a:gd name="connsiteX0" fmla="*/ 0 w 1196197"/>
              <a:gd name="connsiteY0" fmla="*/ 59810 h 598098"/>
              <a:gd name="connsiteX1" fmla="*/ 17518 w 1196197"/>
              <a:gd name="connsiteY1" fmla="*/ 17518 h 598098"/>
              <a:gd name="connsiteX2" fmla="*/ 59810 w 1196197"/>
              <a:gd name="connsiteY2" fmla="*/ 0 h 598098"/>
              <a:gd name="connsiteX3" fmla="*/ 1136387 w 1196197"/>
              <a:gd name="connsiteY3" fmla="*/ 0 h 598098"/>
              <a:gd name="connsiteX4" fmla="*/ 1178679 w 1196197"/>
              <a:gd name="connsiteY4" fmla="*/ 17518 h 598098"/>
              <a:gd name="connsiteX5" fmla="*/ 1196197 w 1196197"/>
              <a:gd name="connsiteY5" fmla="*/ 59810 h 598098"/>
              <a:gd name="connsiteX6" fmla="*/ 1196197 w 1196197"/>
              <a:gd name="connsiteY6" fmla="*/ 538288 h 598098"/>
              <a:gd name="connsiteX7" fmla="*/ 1178679 w 1196197"/>
              <a:gd name="connsiteY7" fmla="*/ 580580 h 598098"/>
              <a:gd name="connsiteX8" fmla="*/ 1136387 w 1196197"/>
              <a:gd name="connsiteY8" fmla="*/ 598098 h 598098"/>
              <a:gd name="connsiteX9" fmla="*/ 59810 w 1196197"/>
              <a:gd name="connsiteY9" fmla="*/ 598098 h 598098"/>
              <a:gd name="connsiteX10" fmla="*/ 17518 w 1196197"/>
              <a:gd name="connsiteY10" fmla="*/ 580580 h 598098"/>
              <a:gd name="connsiteX11" fmla="*/ 0 w 1196197"/>
              <a:gd name="connsiteY11" fmla="*/ 538288 h 598098"/>
              <a:gd name="connsiteX12" fmla="*/ 0 w 1196197"/>
              <a:gd name="connsiteY12" fmla="*/ 59810 h 598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96197" h="598098">
                <a:moveTo>
                  <a:pt x="0" y="59810"/>
                </a:moveTo>
                <a:cubicBezTo>
                  <a:pt x="0" y="43947"/>
                  <a:pt x="6301" y="28734"/>
                  <a:pt x="17518" y="17518"/>
                </a:cubicBezTo>
                <a:cubicBezTo>
                  <a:pt x="28735" y="6301"/>
                  <a:pt x="43947" y="0"/>
                  <a:pt x="59810" y="0"/>
                </a:cubicBezTo>
                <a:lnTo>
                  <a:pt x="1136387" y="0"/>
                </a:lnTo>
                <a:cubicBezTo>
                  <a:pt x="1152250" y="0"/>
                  <a:pt x="1167463" y="6301"/>
                  <a:pt x="1178679" y="17518"/>
                </a:cubicBezTo>
                <a:cubicBezTo>
                  <a:pt x="1189896" y="28735"/>
                  <a:pt x="1196197" y="43947"/>
                  <a:pt x="1196197" y="59810"/>
                </a:cubicBezTo>
                <a:lnTo>
                  <a:pt x="1196197" y="538288"/>
                </a:lnTo>
                <a:cubicBezTo>
                  <a:pt x="1196197" y="554151"/>
                  <a:pt x="1189896" y="569364"/>
                  <a:pt x="1178679" y="580580"/>
                </a:cubicBezTo>
                <a:cubicBezTo>
                  <a:pt x="1167462" y="591797"/>
                  <a:pt x="1152250" y="598098"/>
                  <a:pt x="1136387" y="598098"/>
                </a:cubicBezTo>
                <a:lnTo>
                  <a:pt x="59810" y="598098"/>
                </a:lnTo>
                <a:cubicBezTo>
                  <a:pt x="43947" y="598098"/>
                  <a:pt x="28734" y="591797"/>
                  <a:pt x="17518" y="580580"/>
                </a:cubicBezTo>
                <a:cubicBezTo>
                  <a:pt x="6301" y="569363"/>
                  <a:pt x="0" y="554151"/>
                  <a:pt x="0" y="538288"/>
                </a:cubicBezTo>
                <a:lnTo>
                  <a:pt x="0" y="59810"/>
                </a:lnTo>
                <a:close/>
              </a:path>
            </a:pathLst>
          </a:custGeom>
          <a:solidFill>
            <a:srgbClr val="18921E"/>
          </a:solidFill>
          <a:ln w="57150">
            <a:solidFill>
              <a:srgbClr val="FF0000"/>
            </a:solidFill>
          </a:ln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7678" tIns="27678" rIns="27678" bIns="27678" numCol="1" spcCol="1270" anchor="ctr" anchorCtr="0">
            <a:noAutofit/>
          </a:bodyPr>
          <a:lstStyle/>
          <a:p>
            <a:pPr lvl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200" b="1" kern="1200" dirty="0" smtClean="0"/>
              <a:t>Passive Devices</a:t>
            </a:r>
          </a:p>
          <a:p>
            <a:pPr lvl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200" b="1" dirty="0" smtClean="0"/>
              <a:t>RF Chokes/Inductors</a:t>
            </a:r>
          </a:p>
          <a:p>
            <a:pPr lvl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200" b="1" kern="1200" dirty="0" smtClean="0"/>
              <a:t>MNS Capacitors</a:t>
            </a:r>
          </a:p>
          <a:p>
            <a:pPr lvl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200" b="1" dirty="0" smtClean="0"/>
              <a:t>Resistors</a:t>
            </a:r>
            <a:endParaRPr lang="en-US" sz="1200" b="1" kern="1200" dirty="0"/>
          </a:p>
        </p:txBody>
      </p:sp>
      <p:sp>
        <p:nvSpPr>
          <p:cNvPr id="42" name="Freeform 41"/>
          <p:cNvSpPr/>
          <p:nvPr/>
        </p:nvSpPr>
        <p:spPr>
          <a:xfrm>
            <a:off x="5952417" y="4540776"/>
            <a:ext cx="1371600" cy="1005840"/>
          </a:xfrm>
          <a:custGeom>
            <a:avLst/>
            <a:gdLst>
              <a:gd name="connsiteX0" fmla="*/ 0 w 1196197"/>
              <a:gd name="connsiteY0" fmla="*/ 59810 h 598098"/>
              <a:gd name="connsiteX1" fmla="*/ 17518 w 1196197"/>
              <a:gd name="connsiteY1" fmla="*/ 17518 h 598098"/>
              <a:gd name="connsiteX2" fmla="*/ 59810 w 1196197"/>
              <a:gd name="connsiteY2" fmla="*/ 0 h 598098"/>
              <a:gd name="connsiteX3" fmla="*/ 1136387 w 1196197"/>
              <a:gd name="connsiteY3" fmla="*/ 0 h 598098"/>
              <a:gd name="connsiteX4" fmla="*/ 1178679 w 1196197"/>
              <a:gd name="connsiteY4" fmla="*/ 17518 h 598098"/>
              <a:gd name="connsiteX5" fmla="*/ 1196197 w 1196197"/>
              <a:gd name="connsiteY5" fmla="*/ 59810 h 598098"/>
              <a:gd name="connsiteX6" fmla="*/ 1196197 w 1196197"/>
              <a:gd name="connsiteY6" fmla="*/ 538288 h 598098"/>
              <a:gd name="connsiteX7" fmla="*/ 1178679 w 1196197"/>
              <a:gd name="connsiteY7" fmla="*/ 580580 h 598098"/>
              <a:gd name="connsiteX8" fmla="*/ 1136387 w 1196197"/>
              <a:gd name="connsiteY8" fmla="*/ 598098 h 598098"/>
              <a:gd name="connsiteX9" fmla="*/ 59810 w 1196197"/>
              <a:gd name="connsiteY9" fmla="*/ 598098 h 598098"/>
              <a:gd name="connsiteX10" fmla="*/ 17518 w 1196197"/>
              <a:gd name="connsiteY10" fmla="*/ 580580 h 598098"/>
              <a:gd name="connsiteX11" fmla="*/ 0 w 1196197"/>
              <a:gd name="connsiteY11" fmla="*/ 538288 h 598098"/>
              <a:gd name="connsiteX12" fmla="*/ 0 w 1196197"/>
              <a:gd name="connsiteY12" fmla="*/ 59810 h 598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96197" h="598098">
                <a:moveTo>
                  <a:pt x="0" y="59810"/>
                </a:moveTo>
                <a:cubicBezTo>
                  <a:pt x="0" y="43947"/>
                  <a:pt x="6301" y="28734"/>
                  <a:pt x="17518" y="17518"/>
                </a:cubicBezTo>
                <a:cubicBezTo>
                  <a:pt x="28735" y="6301"/>
                  <a:pt x="43947" y="0"/>
                  <a:pt x="59810" y="0"/>
                </a:cubicBezTo>
                <a:lnTo>
                  <a:pt x="1136387" y="0"/>
                </a:lnTo>
                <a:cubicBezTo>
                  <a:pt x="1152250" y="0"/>
                  <a:pt x="1167463" y="6301"/>
                  <a:pt x="1178679" y="17518"/>
                </a:cubicBezTo>
                <a:cubicBezTo>
                  <a:pt x="1189896" y="28735"/>
                  <a:pt x="1196197" y="43947"/>
                  <a:pt x="1196197" y="59810"/>
                </a:cubicBezTo>
                <a:lnTo>
                  <a:pt x="1196197" y="538288"/>
                </a:lnTo>
                <a:cubicBezTo>
                  <a:pt x="1196197" y="554151"/>
                  <a:pt x="1189896" y="569364"/>
                  <a:pt x="1178679" y="580580"/>
                </a:cubicBezTo>
                <a:cubicBezTo>
                  <a:pt x="1167462" y="591797"/>
                  <a:pt x="1152250" y="598098"/>
                  <a:pt x="1136387" y="598098"/>
                </a:cubicBezTo>
                <a:lnTo>
                  <a:pt x="59810" y="598098"/>
                </a:lnTo>
                <a:cubicBezTo>
                  <a:pt x="43947" y="598098"/>
                  <a:pt x="28734" y="591797"/>
                  <a:pt x="17518" y="580580"/>
                </a:cubicBezTo>
                <a:cubicBezTo>
                  <a:pt x="6301" y="569363"/>
                  <a:pt x="0" y="554151"/>
                  <a:pt x="0" y="538288"/>
                </a:cubicBezTo>
                <a:lnTo>
                  <a:pt x="0" y="59810"/>
                </a:lnTo>
                <a:close/>
              </a:path>
            </a:pathLst>
          </a:custGeom>
          <a:solidFill>
            <a:srgbClr val="18921E"/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7678" tIns="27678" rIns="27678" bIns="27678" numCol="1" spcCol="1270" anchor="ctr" anchorCtr="0">
            <a:noAutofit/>
          </a:bodyPr>
          <a:lstStyle/>
          <a:p>
            <a:pPr lvl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200" b="1" kern="1200" dirty="0" smtClean="0"/>
              <a:t>Multiplier Diodes:</a:t>
            </a:r>
          </a:p>
          <a:p>
            <a:pPr lvl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200" b="1" dirty="0" smtClean="0"/>
              <a:t>Frequency Multiplication</a:t>
            </a:r>
          </a:p>
          <a:p>
            <a:pPr lvl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200" b="1" kern="1200" dirty="0" smtClean="0"/>
              <a:t>Waveshaping</a:t>
            </a:r>
            <a:endParaRPr lang="en-US" sz="1200" b="1" kern="1200" dirty="0"/>
          </a:p>
        </p:txBody>
      </p:sp>
      <p:cxnSp>
        <p:nvCxnSpPr>
          <p:cNvPr id="65" name="Straight Arrow Connector 64"/>
          <p:cNvCxnSpPr/>
          <p:nvPr/>
        </p:nvCxnSpPr>
        <p:spPr>
          <a:xfrm flipH="1" flipV="1">
            <a:off x="4383742" y="2838484"/>
            <a:ext cx="6304" cy="50286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 flipH="1" flipV="1">
            <a:off x="2994212" y="3179143"/>
            <a:ext cx="448074" cy="27840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V="1">
            <a:off x="5369616" y="3179143"/>
            <a:ext cx="448074" cy="27840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5369616" y="4547701"/>
            <a:ext cx="448074" cy="27840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H="1">
            <a:off x="2994212" y="4547701"/>
            <a:ext cx="448074" cy="27840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H="1">
            <a:off x="4368583" y="4724702"/>
            <a:ext cx="6304" cy="50286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8190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92164" y="126938"/>
            <a:ext cx="5978698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 b="1" dirty="0" smtClean="0"/>
              <a:t>Product Configurations</a:t>
            </a:r>
          </a:p>
        </p:txBody>
      </p:sp>
      <p:pic>
        <p:nvPicPr>
          <p:cNvPr id="73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2262414">
            <a:off x="3960200" y="4153946"/>
            <a:ext cx="741505" cy="602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5" name="Freeform 54"/>
          <p:cNvSpPr/>
          <p:nvPr/>
        </p:nvSpPr>
        <p:spPr>
          <a:xfrm>
            <a:off x="3754026" y="1468771"/>
            <a:ext cx="1162320" cy="900541"/>
          </a:xfrm>
          <a:custGeom>
            <a:avLst/>
            <a:gdLst>
              <a:gd name="connsiteX0" fmla="*/ 0 w 1196197"/>
              <a:gd name="connsiteY0" fmla="*/ 59810 h 598098"/>
              <a:gd name="connsiteX1" fmla="*/ 17518 w 1196197"/>
              <a:gd name="connsiteY1" fmla="*/ 17518 h 598098"/>
              <a:gd name="connsiteX2" fmla="*/ 59810 w 1196197"/>
              <a:gd name="connsiteY2" fmla="*/ 0 h 598098"/>
              <a:gd name="connsiteX3" fmla="*/ 1136387 w 1196197"/>
              <a:gd name="connsiteY3" fmla="*/ 0 h 598098"/>
              <a:gd name="connsiteX4" fmla="*/ 1178679 w 1196197"/>
              <a:gd name="connsiteY4" fmla="*/ 17518 h 598098"/>
              <a:gd name="connsiteX5" fmla="*/ 1196197 w 1196197"/>
              <a:gd name="connsiteY5" fmla="*/ 59810 h 598098"/>
              <a:gd name="connsiteX6" fmla="*/ 1196197 w 1196197"/>
              <a:gd name="connsiteY6" fmla="*/ 538288 h 598098"/>
              <a:gd name="connsiteX7" fmla="*/ 1178679 w 1196197"/>
              <a:gd name="connsiteY7" fmla="*/ 580580 h 598098"/>
              <a:gd name="connsiteX8" fmla="*/ 1136387 w 1196197"/>
              <a:gd name="connsiteY8" fmla="*/ 598098 h 598098"/>
              <a:gd name="connsiteX9" fmla="*/ 59810 w 1196197"/>
              <a:gd name="connsiteY9" fmla="*/ 598098 h 598098"/>
              <a:gd name="connsiteX10" fmla="*/ 17518 w 1196197"/>
              <a:gd name="connsiteY10" fmla="*/ 580580 h 598098"/>
              <a:gd name="connsiteX11" fmla="*/ 0 w 1196197"/>
              <a:gd name="connsiteY11" fmla="*/ 538288 h 598098"/>
              <a:gd name="connsiteX12" fmla="*/ 0 w 1196197"/>
              <a:gd name="connsiteY12" fmla="*/ 59810 h 598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96197" h="598098">
                <a:moveTo>
                  <a:pt x="0" y="59810"/>
                </a:moveTo>
                <a:cubicBezTo>
                  <a:pt x="0" y="43947"/>
                  <a:pt x="6301" y="28734"/>
                  <a:pt x="17518" y="17518"/>
                </a:cubicBezTo>
                <a:cubicBezTo>
                  <a:pt x="28735" y="6301"/>
                  <a:pt x="43947" y="0"/>
                  <a:pt x="59810" y="0"/>
                </a:cubicBezTo>
                <a:lnTo>
                  <a:pt x="1136387" y="0"/>
                </a:lnTo>
                <a:cubicBezTo>
                  <a:pt x="1152250" y="0"/>
                  <a:pt x="1167463" y="6301"/>
                  <a:pt x="1178679" y="17518"/>
                </a:cubicBezTo>
                <a:cubicBezTo>
                  <a:pt x="1189896" y="28735"/>
                  <a:pt x="1196197" y="43947"/>
                  <a:pt x="1196197" y="59810"/>
                </a:cubicBezTo>
                <a:lnTo>
                  <a:pt x="1196197" y="538288"/>
                </a:lnTo>
                <a:cubicBezTo>
                  <a:pt x="1196197" y="554151"/>
                  <a:pt x="1189896" y="569364"/>
                  <a:pt x="1178679" y="580580"/>
                </a:cubicBezTo>
                <a:cubicBezTo>
                  <a:pt x="1167462" y="591797"/>
                  <a:pt x="1152250" y="598098"/>
                  <a:pt x="1136387" y="598098"/>
                </a:cubicBezTo>
                <a:lnTo>
                  <a:pt x="59810" y="598098"/>
                </a:lnTo>
                <a:cubicBezTo>
                  <a:pt x="43947" y="598098"/>
                  <a:pt x="28734" y="591797"/>
                  <a:pt x="17518" y="580580"/>
                </a:cubicBezTo>
                <a:cubicBezTo>
                  <a:pt x="6301" y="569363"/>
                  <a:pt x="0" y="554151"/>
                  <a:pt x="0" y="538288"/>
                </a:cubicBezTo>
                <a:lnTo>
                  <a:pt x="0" y="59810"/>
                </a:lnTo>
                <a:close/>
              </a:path>
            </a:pathLst>
          </a:custGeom>
          <a:solidFill>
            <a:srgbClr val="18921E"/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7678" tIns="27678" rIns="27678" bIns="27678" numCol="1" spcCol="127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b="1" dirty="0"/>
              <a:t>Discrete Device</a:t>
            </a:r>
          </a:p>
        </p:txBody>
      </p:sp>
      <p:grpSp>
        <p:nvGrpSpPr>
          <p:cNvPr id="57" name="Group 56"/>
          <p:cNvGrpSpPr/>
          <p:nvPr/>
        </p:nvGrpSpPr>
        <p:grpSpPr>
          <a:xfrm>
            <a:off x="5484301" y="2414510"/>
            <a:ext cx="2447422" cy="845500"/>
            <a:chOff x="7495028" y="4286137"/>
            <a:chExt cx="2500537" cy="855077"/>
          </a:xfrm>
        </p:grpSpPr>
        <p:pic>
          <p:nvPicPr>
            <p:cNvPr id="90" name="Picture 4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 rot="1329096">
              <a:off x="9420243" y="4749811"/>
              <a:ext cx="575322" cy="249827"/>
            </a:xfrm>
            <a:prstGeom prst="rect">
              <a:avLst/>
            </a:prstGeom>
            <a:solidFill>
              <a:schemeClr val="folHlink">
                <a:alpha val="94901"/>
              </a:schemeClr>
            </a:solidFill>
            <a:ln w="28575">
              <a:solidFill>
                <a:schemeClr val="folHlink"/>
              </a:solidFill>
              <a:miter lim="800000"/>
              <a:headEnd/>
              <a:tailEnd/>
            </a:ln>
          </p:spPr>
        </p:pic>
        <p:pic>
          <p:nvPicPr>
            <p:cNvPr id="91" name="Picture 6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 rot="4729279">
              <a:off x="8846045" y="4646281"/>
              <a:ext cx="598631" cy="2836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92" name="Freeform 91"/>
            <p:cNvSpPr/>
            <p:nvPr/>
          </p:nvSpPr>
          <p:spPr>
            <a:xfrm>
              <a:off x="7495028" y="4286137"/>
              <a:ext cx="1196197" cy="855077"/>
            </a:xfrm>
            <a:custGeom>
              <a:avLst/>
              <a:gdLst>
                <a:gd name="connsiteX0" fmla="*/ 0 w 1196197"/>
                <a:gd name="connsiteY0" fmla="*/ 85508 h 855077"/>
                <a:gd name="connsiteX1" fmla="*/ 25045 w 1196197"/>
                <a:gd name="connsiteY1" fmla="*/ 25045 h 855077"/>
                <a:gd name="connsiteX2" fmla="*/ 85508 w 1196197"/>
                <a:gd name="connsiteY2" fmla="*/ 0 h 855077"/>
                <a:gd name="connsiteX3" fmla="*/ 1110689 w 1196197"/>
                <a:gd name="connsiteY3" fmla="*/ 0 h 855077"/>
                <a:gd name="connsiteX4" fmla="*/ 1171152 w 1196197"/>
                <a:gd name="connsiteY4" fmla="*/ 25045 h 855077"/>
                <a:gd name="connsiteX5" fmla="*/ 1196197 w 1196197"/>
                <a:gd name="connsiteY5" fmla="*/ 85508 h 855077"/>
                <a:gd name="connsiteX6" fmla="*/ 1196197 w 1196197"/>
                <a:gd name="connsiteY6" fmla="*/ 769569 h 855077"/>
                <a:gd name="connsiteX7" fmla="*/ 1171152 w 1196197"/>
                <a:gd name="connsiteY7" fmla="*/ 830032 h 855077"/>
                <a:gd name="connsiteX8" fmla="*/ 1110689 w 1196197"/>
                <a:gd name="connsiteY8" fmla="*/ 855077 h 855077"/>
                <a:gd name="connsiteX9" fmla="*/ 85508 w 1196197"/>
                <a:gd name="connsiteY9" fmla="*/ 855077 h 855077"/>
                <a:gd name="connsiteX10" fmla="*/ 25045 w 1196197"/>
                <a:gd name="connsiteY10" fmla="*/ 830032 h 855077"/>
                <a:gd name="connsiteX11" fmla="*/ 0 w 1196197"/>
                <a:gd name="connsiteY11" fmla="*/ 769569 h 855077"/>
                <a:gd name="connsiteX12" fmla="*/ 0 w 1196197"/>
                <a:gd name="connsiteY12" fmla="*/ 85508 h 8550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96197" h="855077">
                  <a:moveTo>
                    <a:pt x="0" y="85508"/>
                  </a:moveTo>
                  <a:cubicBezTo>
                    <a:pt x="0" y="62830"/>
                    <a:pt x="9009" y="41081"/>
                    <a:pt x="25045" y="25045"/>
                  </a:cubicBezTo>
                  <a:cubicBezTo>
                    <a:pt x="41081" y="9009"/>
                    <a:pt x="62830" y="0"/>
                    <a:pt x="85508" y="0"/>
                  </a:cubicBezTo>
                  <a:lnTo>
                    <a:pt x="1110689" y="0"/>
                  </a:lnTo>
                  <a:cubicBezTo>
                    <a:pt x="1133367" y="0"/>
                    <a:pt x="1155116" y="9009"/>
                    <a:pt x="1171152" y="25045"/>
                  </a:cubicBezTo>
                  <a:cubicBezTo>
                    <a:pt x="1187188" y="41081"/>
                    <a:pt x="1196197" y="62830"/>
                    <a:pt x="1196197" y="85508"/>
                  </a:cubicBezTo>
                  <a:lnTo>
                    <a:pt x="1196197" y="769569"/>
                  </a:lnTo>
                  <a:cubicBezTo>
                    <a:pt x="1196197" y="792247"/>
                    <a:pt x="1187188" y="813996"/>
                    <a:pt x="1171152" y="830032"/>
                  </a:cubicBezTo>
                  <a:cubicBezTo>
                    <a:pt x="1155116" y="846068"/>
                    <a:pt x="1133367" y="855077"/>
                    <a:pt x="1110689" y="855077"/>
                  </a:cubicBezTo>
                  <a:lnTo>
                    <a:pt x="85508" y="855077"/>
                  </a:lnTo>
                  <a:cubicBezTo>
                    <a:pt x="62830" y="855077"/>
                    <a:pt x="41081" y="846068"/>
                    <a:pt x="25045" y="830032"/>
                  </a:cubicBezTo>
                  <a:cubicBezTo>
                    <a:pt x="9009" y="813996"/>
                    <a:pt x="0" y="792247"/>
                    <a:pt x="0" y="769569"/>
                  </a:cubicBezTo>
                  <a:lnTo>
                    <a:pt x="0" y="85508"/>
                  </a:lnTo>
                  <a:close/>
                </a:path>
              </a:pathLst>
            </a:custGeom>
            <a:solidFill>
              <a:srgbClr val="18921E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5204" tIns="35204" rIns="35204" bIns="35204" numCol="1" spcCol="1270" anchor="ctr" anchorCtr="0">
              <a:noAutofit/>
            </a:bodyPr>
            <a:lstStyle/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050" b="1" dirty="0"/>
                <a:t>HMIC Discrete Surmount</a:t>
              </a:r>
            </a:p>
            <a:p>
              <a:pPr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050" b="1" dirty="0"/>
                <a:t>(to 26.5GHz)</a:t>
              </a:r>
            </a:p>
          </p:txBody>
        </p:sp>
      </p:grpSp>
      <p:pic>
        <p:nvPicPr>
          <p:cNvPr id="87" name="Picture 21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 rot="19472443">
            <a:off x="1094104" y="2732721"/>
            <a:ext cx="651413" cy="372921"/>
          </a:xfrm>
          <a:prstGeom prst="rect">
            <a:avLst/>
          </a:prstGeom>
          <a:noFill/>
        </p:spPr>
      </p:pic>
      <p:pic>
        <p:nvPicPr>
          <p:cNvPr id="88" name="Picture 18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 rot="13393308">
            <a:off x="295084" y="2789304"/>
            <a:ext cx="621609" cy="298326"/>
          </a:xfrm>
          <a:prstGeom prst="rect">
            <a:avLst/>
          </a:prstGeom>
          <a:noFill/>
        </p:spPr>
      </p:pic>
      <p:sp>
        <p:nvSpPr>
          <p:cNvPr id="89" name="Freeform 88"/>
          <p:cNvSpPr/>
          <p:nvPr/>
        </p:nvSpPr>
        <p:spPr>
          <a:xfrm>
            <a:off x="1907108" y="2490292"/>
            <a:ext cx="1170788" cy="693936"/>
          </a:xfrm>
          <a:custGeom>
            <a:avLst/>
            <a:gdLst>
              <a:gd name="connsiteX0" fmla="*/ 0 w 1196197"/>
              <a:gd name="connsiteY0" fmla="*/ 59810 h 598098"/>
              <a:gd name="connsiteX1" fmla="*/ 17518 w 1196197"/>
              <a:gd name="connsiteY1" fmla="*/ 17518 h 598098"/>
              <a:gd name="connsiteX2" fmla="*/ 59810 w 1196197"/>
              <a:gd name="connsiteY2" fmla="*/ 0 h 598098"/>
              <a:gd name="connsiteX3" fmla="*/ 1136387 w 1196197"/>
              <a:gd name="connsiteY3" fmla="*/ 0 h 598098"/>
              <a:gd name="connsiteX4" fmla="*/ 1178679 w 1196197"/>
              <a:gd name="connsiteY4" fmla="*/ 17518 h 598098"/>
              <a:gd name="connsiteX5" fmla="*/ 1196197 w 1196197"/>
              <a:gd name="connsiteY5" fmla="*/ 59810 h 598098"/>
              <a:gd name="connsiteX6" fmla="*/ 1196197 w 1196197"/>
              <a:gd name="connsiteY6" fmla="*/ 538288 h 598098"/>
              <a:gd name="connsiteX7" fmla="*/ 1178679 w 1196197"/>
              <a:gd name="connsiteY7" fmla="*/ 580580 h 598098"/>
              <a:gd name="connsiteX8" fmla="*/ 1136387 w 1196197"/>
              <a:gd name="connsiteY8" fmla="*/ 598098 h 598098"/>
              <a:gd name="connsiteX9" fmla="*/ 59810 w 1196197"/>
              <a:gd name="connsiteY9" fmla="*/ 598098 h 598098"/>
              <a:gd name="connsiteX10" fmla="*/ 17518 w 1196197"/>
              <a:gd name="connsiteY10" fmla="*/ 580580 h 598098"/>
              <a:gd name="connsiteX11" fmla="*/ 0 w 1196197"/>
              <a:gd name="connsiteY11" fmla="*/ 538288 h 598098"/>
              <a:gd name="connsiteX12" fmla="*/ 0 w 1196197"/>
              <a:gd name="connsiteY12" fmla="*/ 59810 h 598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96197" h="598098">
                <a:moveTo>
                  <a:pt x="0" y="59810"/>
                </a:moveTo>
                <a:cubicBezTo>
                  <a:pt x="0" y="43947"/>
                  <a:pt x="6301" y="28734"/>
                  <a:pt x="17518" y="17518"/>
                </a:cubicBezTo>
                <a:cubicBezTo>
                  <a:pt x="28735" y="6301"/>
                  <a:pt x="43947" y="0"/>
                  <a:pt x="59810" y="0"/>
                </a:cubicBezTo>
                <a:lnTo>
                  <a:pt x="1136387" y="0"/>
                </a:lnTo>
                <a:cubicBezTo>
                  <a:pt x="1152250" y="0"/>
                  <a:pt x="1167463" y="6301"/>
                  <a:pt x="1178679" y="17518"/>
                </a:cubicBezTo>
                <a:cubicBezTo>
                  <a:pt x="1189896" y="28735"/>
                  <a:pt x="1196197" y="43947"/>
                  <a:pt x="1196197" y="59810"/>
                </a:cubicBezTo>
                <a:lnTo>
                  <a:pt x="1196197" y="538288"/>
                </a:lnTo>
                <a:cubicBezTo>
                  <a:pt x="1196197" y="554151"/>
                  <a:pt x="1189896" y="569364"/>
                  <a:pt x="1178679" y="580580"/>
                </a:cubicBezTo>
                <a:cubicBezTo>
                  <a:pt x="1167462" y="591797"/>
                  <a:pt x="1152250" y="598098"/>
                  <a:pt x="1136387" y="598098"/>
                </a:cubicBezTo>
                <a:lnTo>
                  <a:pt x="59810" y="598098"/>
                </a:lnTo>
                <a:cubicBezTo>
                  <a:pt x="43947" y="598098"/>
                  <a:pt x="28734" y="591797"/>
                  <a:pt x="17518" y="580580"/>
                </a:cubicBezTo>
                <a:cubicBezTo>
                  <a:pt x="6301" y="569363"/>
                  <a:pt x="0" y="554151"/>
                  <a:pt x="0" y="538288"/>
                </a:cubicBezTo>
                <a:lnTo>
                  <a:pt x="0" y="59810"/>
                </a:lnTo>
                <a:close/>
              </a:path>
            </a:pathLst>
          </a:custGeom>
          <a:solidFill>
            <a:srgbClr val="18921E"/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7678" tIns="27678" rIns="27678" bIns="27678" numCol="1" spcCol="127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050" b="1" dirty="0"/>
              <a:t>Beam Lead/ Flip Chip</a:t>
            </a:r>
          </a:p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050" b="1" dirty="0"/>
              <a:t>(to 70+ GHz) </a:t>
            </a:r>
          </a:p>
        </p:txBody>
      </p:sp>
      <p:cxnSp>
        <p:nvCxnSpPr>
          <p:cNvPr id="61" name="Straight Arrow Connector 60"/>
          <p:cNvCxnSpPr/>
          <p:nvPr/>
        </p:nvCxnSpPr>
        <p:spPr>
          <a:xfrm>
            <a:off x="4272258" y="2578354"/>
            <a:ext cx="25950" cy="68165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/>
          <p:nvPr/>
        </p:nvCxnSpPr>
        <p:spPr>
          <a:xfrm>
            <a:off x="4944694" y="2414510"/>
            <a:ext cx="462193" cy="4227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Freeform 70"/>
          <p:cNvSpPr/>
          <p:nvPr/>
        </p:nvSpPr>
        <p:spPr>
          <a:xfrm>
            <a:off x="3745558" y="3389308"/>
            <a:ext cx="1170788" cy="591400"/>
          </a:xfrm>
          <a:custGeom>
            <a:avLst/>
            <a:gdLst>
              <a:gd name="connsiteX0" fmla="*/ 0 w 1196197"/>
              <a:gd name="connsiteY0" fmla="*/ 59810 h 598098"/>
              <a:gd name="connsiteX1" fmla="*/ 17518 w 1196197"/>
              <a:gd name="connsiteY1" fmla="*/ 17518 h 598098"/>
              <a:gd name="connsiteX2" fmla="*/ 59810 w 1196197"/>
              <a:gd name="connsiteY2" fmla="*/ 0 h 598098"/>
              <a:gd name="connsiteX3" fmla="*/ 1136387 w 1196197"/>
              <a:gd name="connsiteY3" fmla="*/ 0 h 598098"/>
              <a:gd name="connsiteX4" fmla="*/ 1178679 w 1196197"/>
              <a:gd name="connsiteY4" fmla="*/ 17518 h 598098"/>
              <a:gd name="connsiteX5" fmla="*/ 1196197 w 1196197"/>
              <a:gd name="connsiteY5" fmla="*/ 59810 h 598098"/>
              <a:gd name="connsiteX6" fmla="*/ 1196197 w 1196197"/>
              <a:gd name="connsiteY6" fmla="*/ 538288 h 598098"/>
              <a:gd name="connsiteX7" fmla="*/ 1178679 w 1196197"/>
              <a:gd name="connsiteY7" fmla="*/ 580580 h 598098"/>
              <a:gd name="connsiteX8" fmla="*/ 1136387 w 1196197"/>
              <a:gd name="connsiteY8" fmla="*/ 598098 h 598098"/>
              <a:gd name="connsiteX9" fmla="*/ 59810 w 1196197"/>
              <a:gd name="connsiteY9" fmla="*/ 598098 h 598098"/>
              <a:gd name="connsiteX10" fmla="*/ 17518 w 1196197"/>
              <a:gd name="connsiteY10" fmla="*/ 580580 h 598098"/>
              <a:gd name="connsiteX11" fmla="*/ 0 w 1196197"/>
              <a:gd name="connsiteY11" fmla="*/ 538288 h 598098"/>
              <a:gd name="connsiteX12" fmla="*/ 0 w 1196197"/>
              <a:gd name="connsiteY12" fmla="*/ 59810 h 598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96197" h="598098">
                <a:moveTo>
                  <a:pt x="0" y="59810"/>
                </a:moveTo>
                <a:cubicBezTo>
                  <a:pt x="0" y="43947"/>
                  <a:pt x="6301" y="28734"/>
                  <a:pt x="17518" y="17518"/>
                </a:cubicBezTo>
                <a:cubicBezTo>
                  <a:pt x="28735" y="6301"/>
                  <a:pt x="43947" y="0"/>
                  <a:pt x="59810" y="0"/>
                </a:cubicBezTo>
                <a:lnTo>
                  <a:pt x="1136387" y="0"/>
                </a:lnTo>
                <a:cubicBezTo>
                  <a:pt x="1152250" y="0"/>
                  <a:pt x="1167463" y="6301"/>
                  <a:pt x="1178679" y="17518"/>
                </a:cubicBezTo>
                <a:cubicBezTo>
                  <a:pt x="1189896" y="28735"/>
                  <a:pt x="1196197" y="43947"/>
                  <a:pt x="1196197" y="59810"/>
                </a:cubicBezTo>
                <a:lnTo>
                  <a:pt x="1196197" y="538288"/>
                </a:lnTo>
                <a:cubicBezTo>
                  <a:pt x="1196197" y="554151"/>
                  <a:pt x="1189896" y="569364"/>
                  <a:pt x="1178679" y="580580"/>
                </a:cubicBezTo>
                <a:cubicBezTo>
                  <a:pt x="1167462" y="591797"/>
                  <a:pt x="1152250" y="598098"/>
                  <a:pt x="1136387" y="598098"/>
                </a:cubicBezTo>
                <a:lnTo>
                  <a:pt x="59810" y="598098"/>
                </a:lnTo>
                <a:cubicBezTo>
                  <a:pt x="43947" y="598098"/>
                  <a:pt x="28734" y="591797"/>
                  <a:pt x="17518" y="580580"/>
                </a:cubicBezTo>
                <a:cubicBezTo>
                  <a:pt x="6301" y="569363"/>
                  <a:pt x="0" y="554151"/>
                  <a:pt x="0" y="538288"/>
                </a:cubicBezTo>
                <a:lnTo>
                  <a:pt x="0" y="59810"/>
                </a:lnTo>
                <a:close/>
              </a:path>
            </a:pathLst>
          </a:custGeom>
          <a:solidFill>
            <a:srgbClr val="18921E"/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7678" tIns="27678" rIns="27678" bIns="27678" numCol="1" spcCol="127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050" b="1" dirty="0"/>
              <a:t>Plastic</a:t>
            </a:r>
          </a:p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050" b="1" dirty="0"/>
              <a:t>(to 6 GHz)</a:t>
            </a:r>
          </a:p>
        </p:txBody>
      </p:sp>
      <p:cxnSp>
        <p:nvCxnSpPr>
          <p:cNvPr id="99" name="Straight Arrow Connector 98"/>
          <p:cNvCxnSpPr/>
          <p:nvPr/>
        </p:nvCxnSpPr>
        <p:spPr>
          <a:xfrm flipH="1">
            <a:off x="3155310" y="2414510"/>
            <a:ext cx="501491" cy="42181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4" name="Picture 36">
            <a:hlinkClick r:id="" action="ppaction://noaction"/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21040347">
            <a:off x="3037944" y="5703645"/>
            <a:ext cx="641373" cy="550736"/>
          </a:xfrm>
          <a:prstGeom prst="rect">
            <a:avLst/>
          </a:prstGeom>
          <a:noFill/>
          <a:ln w="38100">
            <a:solidFill>
              <a:srgbClr val="001522"/>
            </a:solidFill>
            <a:miter lim="800000"/>
            <a:headEnd/>
            <a:tailEnd/>
          </a:ln>
        </p:spPr>
      </p:pic>
      <p:pic>
        <p:nvPicPr>
          <p:cNvPr id="46" name="Picture 16">
            <a:hlinkClick r:id="" action="ppaction://noaction"/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1803430">
            <a:off x="2936302" y="4968171"/>
            <a:ext cx="608383" cy="479449"/>
          </a:xfrm>
          <a:prstGeom prst="rect">
            <a:avLst/>
          </a:prstGeom>
          <a:noFill/>
          <a:ln w="31750">
            <a:noFill/>
            <a:miter lim="800000"/>
            <a:headEnd/>
            <a:tailEnd/>
          </a:ln>
          <a:effectLst/>
        </p:spPr>
      </p:pic>
      <p:sp>
        <p:nvSpPr>
          <p:cNvPr id="48" name="Freeform 47"/>
          <p:cNvSpPr/>
          <p:nvPr/>
        </p:nvSpPr>
        <p:spPr>
          <a:xfrm>
            <a:off x="4336987" y="5026287"/>
            <a:ext cx="1698286" cy="952726"/>
          </a:xfrm>
          <a:custGeom>
            <a:avLst/>
            <a:gdLst>
              <a:gd name="connsiteX0" fmla="*/ 0 w 1196197"/>
              <a:gd name="connsiteY0" fmla="*/ 59810 h 598098"/>
              <a:gd name="connsiteX1" fmla="*/ 17518 w 1196197"/>
              <a:gd name="connsiteY1" fmla="*/ 17518 h 598098"/>
              <a:gd name="connsiteX2" fmla="*/ 59810 w 1196197"/>
              <a:gd name="connsiteY2" fmla="*/ 0 h 598098"/>
              <a:gd name="connsiteX3" fmla="*/ 1136387 w 1196197"/>
              <a:gd name="connsiteY3" fmla="*/ 0 h 598098"/>
              <a:gd name="connsiteX4" fmla="*/ 1178679 w 1196197"/>
              <a:gd name="connsiteY4" fmla="*/ 17518 h 598098"/>
              <a:gd name="connsiteX5" fmla="*/ 1196197 w 1196197"/>
              <a:gd name="connsiteY5" fmla="*/ 59810 h 598098"/>
              <a:gd name="connsiteX6" fmla="*/ 1196197 w 1196197"/>
              <a:gd name="connsiteY6" fmla="*/ 538288 h 598098"/>
              <a:gd name="connsiteX7" fmla="*/ 1178679 w 1196197"/>
              <a:gd name="connsiteY7" fmla="*/ 580580 h 598098"/>
              <a:gd name="connsiteX8" fmla="*/ 1136387 w 1196197"/>
              <a:gd name="connsiteY8" fmla="*/ 598098 h 598098"/>
              <a:gd name="connsiteX9" fmla="*/ 59810 w 1196197"/>
              <a:gd name="connsiteY9" fmla="*/ 598098 h 598098"/>
              <a:gd name="connsiteX10" fmla="*/ 17518 w 1196197"/>
              <a:gd name="connsiteY10" fmla="*/ 580580 h 598098"/>
              <a:gd name="connsiteX11" fmla="*/ 0 w 1196197"/>
              <a:gd name="connsiteY11" fmla="*/ 538288 h 598098"/>
              <a:gd name="connsiteX12" fmla="*/ 0 w 1196197"/>
              <a:gd name="connsiteY12" fmla="*/ 59810 h 598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96197" h="598098">
                <a:moveTo>
                  <a:pt x="0" y="59810"/>
                </a:moveTo>
                <a:cubicBezTo>
                  <a:pt x="0" y="43947"/>
                  <a:pt x="6301" y="28734"/>
                  <a:pt x="17518" y="17518"/>
                </a:cubicBezTo>
                <a:cubicBezTo>
                  <a:pt x="28735" y="6301"/>
                  <a:pt x="43947" y="0"/>
                  <a:pt x="59810" y="0"/>
                </a:cubicBezTo>
                <a:lnTo>
                  <a:pt x="1136387" y="0"/>
                </a:lnTo>
                <a:cubicBezTo>
                  <a:pt x="1152250" y="0"/>
                  <a:pt x="1167463" y="6301"/>
                  <a:pt x="1178679" y="17518"/>
                </a:cubicBezTo>
                <a:cubicBezTo>
                  <a:pt x="1189896" y="28735"/>
                  <a:pt x="1196197" y="43947"/>
                  <a:pt x="1196197" y="59810"/>
                </a:cubicBezTo>
                <a:lnTo>
                  <a:pt x="1196197" y="538288"/>
                </a:lnTo>
                <a:cubicBezTo>
                  <a:pt x="1196197" y="554151"/>
                  <a:pt x="1189896" y="569364"/>
                  <a:pt x="1178679" y="580580"/>
                </a:cubicBezTo>
                <a:cubicBezTo>
                  <a:pt x="1167462" y="591797"/>
                  <a:pt x="1152250" y="598098"/>
                  <a:pt x="1136387" y="598098"/>
                </a:cubicBezTo>
                <a:lnTo>
                  <a:pt x="59810" y="598098"/>
                </a:lnTo>
                <a:cubicBezTo>
                  <a:pt x="43947" y="598098"/>
                  <a:pt x="28734" y="591797"/>
                  <a:pt x="17518" y="580580"/>
                </a:cubicBezTo>
                <a:cubicBezTo>
                  <a:pt x="6301" y="569363"/>
                  <a:pt x="0" y="554151"/>
                  <a:pt x="0" y="538288"/>
                </a:cubicBezTo>
                <a:lnTo>
                  <a:pt x="0" y="59810"/>
                </a:lnTo>
                <a:close/>
              </a:path>
            </a:pathLst>
          </a:custGeom>
          <a:solidFill>
            <a:srgbClr val="002060"/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7678" tIns="27678" rIns="27678" bIns="27678" numCol="1" spcCol="1270" anchor="ctr" anchorCtr="0">
            <a:noAutofit/>
          </a:bodyPr>
          <a:lstStyle/>
          <a:p>
            <a:pPr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b="1" dirty="0"/>
              <a:t>Integrated Solutions</a:t>
            </a:r>
          </a:p>
        </p:txBody>
      </p:sp>
      <p:cxnSp>
        <p:nvCxnSpPr>
          <p:cNvPr id="103" name="Straight Arrow Connector 102"/>
          <p:cNvCxnSpPr/>
          <p:nvPr/>
        </p:nvCxnSpPr>
        <p:spPr>
          <a:xfrm flipH="1" flipV="1">
            <a:off x="3833492" y="5502650"/>
            <a:ext cx="438766" cy="1130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9485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 smtClean="0"/>
              <a:t>HMIC</a:t>
            </a:r>
            <a:r>
              <a:rPr lang="en-US" sz="3600" baseline="42000" dirty="0"/>
              <a:t>TM</a:t>
            </a:r>
            <a:r>
              <a:rPr lang="en-US" sz="3600" dirty="0" smtClean="0"/>
              <a:t> Process</a:t>
            </a:r>
            <a:endParaRPr lang="en-US" sz="36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 smtClean="0"/>
              <a:t>PIN Diode Circuits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Schottky Diode Circuits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 smtClean="0"/>
              <a:t>Passive Networks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0626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18122" y="1326047"/>
            <a:ext cx="4367971" cy="4668837"/>
          </a:xfrm>
        </p:spPr>
        <p:txBody>
          <a:bodyPr/>
          <a:lstStyle/>
          <a:p>
            <a:r>
              <a:rPr lang="en-US" dirty="0" smtClean="0"/>
              <a:t>The HMIC</a:t>
            </a:r>
            <a:r>
              <a:rPr lang="en-US" baseline="42000" dirty="0"/>
              <a:t>TM</a:t>
            </a:r>
            <a:r>
              <a:rPr lang="en-US" dirty="0" smtClean="0"/>
              <a:t> process comprises pedestals of Si embedded in borosilicate glass</a:t>
            </a:r>
          </a:p>
          <a:p>
            <a:r>
              <a:rPr lang="en-US" dirty="0" smtClean="0"/>
              <a:t>The Si pedestals may form</a:t>
            </a:r>
          </a:p>
          <a:p>
            <a:pPr lvl="1"/>
            <a:r>
              <a:rPr lang="en-US" dirty="0" smtClean="0"/>
              <a:t>PIN diodes</a:t>
            </a:r>
          </a:p>
          <a:p>
            <a:pPr lvl="1"/>
            <a:r>
              <a:rPr lang="en-US" dirty="0" smtClean="0"/>
              <a:t>Schottky diodes</a:t>
            </a:r>
          </a:p>
          <a:p>
            <a:pPr lvl="1"/>
            <a:r>
              <a:rPr lang="en-US" dirty="0" smtClean="0"/>
              <a:t>electrical vias</a:t>
            </a:r>
          </a:p>
          <a:p>
            <a:pPr lvl="1"/>
            <a:r>
              <a:rPr lang="en-US" dirty="0" smtClean="0"/>
              <a:t>thermal vias</a:t>
            </a:r>
          </a:p>
          <a:p>
            <a:r>
              <a:rPr lang="en-US" dirty="0" smtClean="0"/>
              <a:t>The glass features</a:t>
            </a:r>
          </a:p>
          <a:p>
            <a:pPr lvl="1"/>
            <a:r>
              <a:rPr lang="en-US" dirty="0" smtClean="0"/>
              <a:t>low relative dielectric constant (</a:t>
            </a:r>
            <a:r>
              <a:rPr lang="en-US" dirty="0" smtClean="0">
                <a:sym typeface="Symbol" panose="05050102010706020507" pitchFamily="18" charset="2"/>
              </a:rPr>
              <a:t></a:t>
            </a:r>
            <a:r>
              <a:rPr lang="en-US" baseline="-25000" dirty="0" smtClean="0">
                <a:sym typeface="Symbol" panose="05050102010706020507" pitchFamily="18" charset="2"/>
              </a:rPr>
              <a:t>r</a:t>
            </a:r>
            <a:r>
              <a:rPr lang="en-US" dirty="0" smtClean="0">
                <a:sym typeface="Symbol" panose="05050102010706020507" pitchFamily="18" charset="2"/>
              </a:rPr>
              <a:t> = 4.1)</a:t>
            </a:r>
            <a:r>
              <a:rPr lang="en-US" dirty="0" smtClean="0"/>
              <a:t> </a:t>
            </a:r>
          </a:p>
          <a:p>
            <a:pPr lvl="1"/>
            <a:r>
              <a:rPr lang="en-US" dirty="0" smtClean="0"/>
              <a:t>very low loss tangent</a:t>
            </a:r>
          </a:p>
          <a:p>
            <a:pPr lvl="1"/>
            <a:r>
              <a:rPr lang="en-US" dirty="0" smtClean="0"/>
              <a:t>thermal coefficient of expansion well matched to that of Si (TCE</a:t>
            </a:r>
            <a:r>
              <a:rPr lang="en-US" baseline="-25000" dirty="0" smtClean="0"/>
              <a:t>Si</a:t>
            </a:r>
            <a:r>
              <a:rPr lang="en-US" dirty="0" smtClean="0"/>
              <a:t> </a:t>
            </a:r>
            <a:r>
              <a:rPr lang="en-US" dirty="0" smtClean="0">
                <a:sym typeface="Symbol" panose="05050102010706020507" pitchFamily="18" charset="2"/>
              </a:rPr>
              <a:t> 3.0 ppm/C, TCE</a:t>
            </a:r>
            <a:r>
              <a:rPr lang="en-US" baseline="-25000" dirty="0" smtClean="0">
                <a:sym typeface="Symbol" panose="05050102010706020507" pitchFamily="18" charset="2"/>
              </a:rPr>
              <a:t>glass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>
                <a:sym typeface="Symbol" panose="05050102010706020507" pitchFamily="18" charset="2"/>
              </a:rPr>
              <a:t> </a:t>
            </a:r>
            <a:r>
              <a:rPr lang="en-US" dirty="0" smtClean="0">
                <a:sym typeface="Symbol" panose="05050102010706020507" pitchFamily="18" charset="2"/>
              </a:rPr>
              <a:t>3.3 </a:t>
            </a:r>
            <a:r>
              <a:rPr lang="en-US" dirty="0">
                <a:sym typeface="Symbol" panose="05050102010706020507" pitchFamily="18" charset="2"/>
              </a:rPr>
              <a:t>ppm/C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HMIC</a:t>
            </a:r>
            <a:r>
              <a:rPr lang="en-US" baseline="42000" dirty="0"/>
              <a:t>TM</a:t>
            </a:r>
            <a:r>
              <a:rPr lang="en-US" dirty="0" smtClean="0"/>
              <a:t> = Heterolithic Microwave Integrated Circuit</a:t>
            </a:r>
            <a:endParaRPr lang="en-US" dirty="0"/>
          </a:p>
        </p:txBody>
      </p:sp>
      <p:pic>
        <p:nvPicPr>
          <p:cNvPr id="4" name="Picture 4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5363" y="1736725"/>
            <a:ext cx="3995737" cy="3752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 bwMode="auto">
          <a:xfrm>
            <a:off x="5481326" y="5645426"/>
            <a:ext cx="2643809" cy="349458"/>
          </a:xfrm>
          <a:prstGeom prst="rect">
            <a:avLst/>
          </a:prstGeom>
          <a:noFill/>
          <a:ln w="12700" cap="sq" algn="ctr">
            <a:noFill/>
            <a:miter lim="800000"/>
            <a:headEnd/>
            <a:tailEnd/>
          </a:ln>
          <a:effectLst/>
        </p:spPr>
        <p:txBody>
          <a:bodyPr wrap="square" rtlCol="0" anchor="ctr" anchorCtr="0">
            <a:noAutofit/>
          </a:bodyPr>
          <a:lstStyle/>
          <a:p>
            <a:pPr>
              <a:spcBef>
                <a:spcPts val="900"/>
              </a:spcBef>
            </a:pPr>
            <a:r>
              <a:rPr lang="en-US" dirty="0" smtClean="0">
                <a:solidFill>
                  <a:schemeClr val="tx2"/>
                </a:solidFill>
                <a:latin typeface="+mn-lt"/>
              </a:rPr>
              <a:t>HMIC Surmount Diode</a:t>
            </a:r>
          </a:p>
        </p:txBody>
      </p:sp>
    </p:spTree>
    <p:extLst>
      <p:ext uri="{BB962C8B-B14F-4D97-AF65-F5344CB8AC3E}">
        <p14:creationId xmlns:p14="http://schemas.microsoft.com/office/powerpoint/2010/main" val="986313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12751" y="1381538"/>
            <a:ext cx="4821402" cy="4861607"/>
          </a:xfrm>
        </p:spPr>
        <p:txBody>
          <a:bodyPr/>
          <a:lstStyle/>
          <a:p>
            <a:r>
              <a:rPr lang="en-US" dirty="0" smtClean="0"/>
              <a:t>Start with Si wafer approximately 20 - 25 mils thick</a:t>
            </a:r>
          </a:p>
          <a:p>
            <a:r>
              <a:rPr lang="en-US" dirty="0" smtClean="0"/>
              <a:t>Use photolithography to mask regions of wafer where diodes or vias will be formed</a:t>
            </a:r>
          </a:p>
          <a:p>
            <a:r>
              <a:rPr lang="en-US" dirty="0" smtClean="0"/>
              <a:t>Etch Si in unmasked areas to depth greater than that of final wafer thickness</a:t>
            </a:r>
          </a:p>
          <a:p>
            <a:r>
              <a:rPr lang="en-US" dirty="0" smtClean="0"/>
              <a:t>“Sandwich” glass wafer on top of etched Si wafer and melt glass so it slumps into etched depressions</a:t>
            </a:r>
          </a:p>
          <a:p>
            <a:r>
              <a:rPr lang="en-US" dirty="0" smtClean="0"/>
              <a:t>Cool glass/Si wafer and remove excess glass from top side of wafer to expose tops of Si pedestals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Simplified HMIC</a:t>
            </a:r>
            <a:r>
              <a:rPr lang="en-US" baseline="42000" dirty="0"/>
              <a:t>TM</a:t>
            </a:r>
            <a:r>
              <a:rPr lang="en-US" dirty="0" smtClean="0"/>
              <a:t> Process</a:t>
            </a:r>
            <a:endParaRPr lang="en-US" dirty="0"/>
          </a:p>
        </p:txBody>
      </p:sp>
      <p:graphicFrame>
        <p:nvGraphicFramePr>
          <p:cNvPr id="6" name="Object 3">
            <a:hlinkClick r:id="" action="ppaction://ole?verb=0"/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54316136"/>
              </p:ext>
            </p:extLst>
          </p:nvPr>
        </p:nvGraphicFramePr>
        <p:xfrm>
          <a:off x="5549463" y="1381538"/>
          <a:ext cx="3371850" cy="227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9" name="Document" r:id="rId3" imgW="4116920" imgH="3247121" progId="Word.Document.8">
                  <p:embed/>
                </p:oleObj>
              </mc:Choice>
              <mc:Fallback>
                <p:oleObj name="Document" r:id="rId3" imgW="4116920" imgH="3247121" progId="Word.Document.8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49463" y="1381538"/>
                        <a:ext cx="3371850" cy="2276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fol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9463" y="3922700"/>
            <a:ext cx="3385179" cy="23204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/>
          <p:cNvSpPr txBox="1"/>
          <p:nvPr/>
        </p:nvSpPr>
        <p:spPr bwMode="auto">
          <a:xfrm>
            <a:off x="5943598" y="3658012"/>
            <a:ext cx="2590087" cy="178491"/>
          </a:xfrm>
          <a:prstGeom prst="rect">
            <a:avLst/>
          </a:prstGeom>
          <a:noFill/>
          <a:ln w="12700" cap="sq" algn="ctr">
            <a:noFill/>
            <a:miter lim="800000"/>
            <a:headEnd/>
            <a:tailEnd/>
          </a:ln>
          <a:effectLst/>
        </p:spPr>
        <p:txBody>
          <a:bodyPr wrap="square" rtlCol="0" anchor="ctr" anchorCtr="0">
            <a:noAutofit/>
          </a:bodyPr>
          <a:lstStyle/>
          <a:p>
            <a:pPr>
              <a:spcBef>
                <a:spcPts val="900"/>
              </a:spcBef>
            </a:pPr>
            <a:r>
              <a:rPr lang="en-US" sz="1600" dirty="0" smtClean="0">
                <a:solidFill>
                  <a:schemeClr val="tx2"/>
                </a:solidFill>
                <a:latin typeface="+mn-lt"/>
              </a:rPr>
              <a:t>“Wet-Etched” Si Wafer</a:t>
            </a:r>
          </a:p>
        </p:txBody>
      </p:sp>
      <p:sp>
        <p:nvSpPr>
          <p:cNvPr id="9" name="TextBox 8"/>
          <p:cNvSpPr txBox="1"/>
          <p:nvPr/>
        </p:nvSpPr>
        <p:spPr bwMode="auto">
          <a:xfrm>
            <a:off x="5947008" y="6329341"/>
            <a:ext cx="2590087" cy="178491"/>
          </a:xfrm>
          <a:prstGeom prst="rect">
            <a:avLst/>
          </a:prstGeom>
          <a:noFill/>
          <a:ln w="12700" cap="sq" algn="ctr">
            <a:noFill/>
            <a:miter lim="800000"/>
            <a:headEnd/>
            <a:tailEnd/>
          </a:ln>
          <a:effectLst/>
        </p:spPr>
        <p:txBody>
          <a:bodyPr wrap="square" rtlCol="0" anchor="ctr" anchorCtr="0">
            <a:noAutofit/>
          </a:bodyPr>
          <a:lstStyle/>
          <a:p>
            <a:pPr>
              <a:spcBef>
                <a:spcPts val="900"/>
              </a:spcBef>
            </a:pPr>
            <a:r>
              <a:rPr lang="en-US" sz="1600" dirty="0" smtClean="0">
                <a:solidFill>
                  <a:schemeClr val="tx2"/>
                </a:solidFill>
                <a:latin typeface="+mn-lt"/>
              </a:rPr>
              <a:t>“Dry-Etched” Si Wafer</a:t>
            </a:r>
          </a:p>
        </p:txBody>
      </p:sp>
    </p:spTree>
    <p:extLst>
      <p:ext uri="{BB962C8B-B14F-4D97-AF65-F5344CB8AC3E}">
        <p14:creationId xmlns:p14="http://schemas.microsoft.com/office/powerpoint/2010/main" val="3173806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13207" y="1288319"/>
            <a:ext cx="4490324" cy="5017890"/>
          </a:xfrm>
        </p:spPr>
        <p:txBody>
          <a:bodyPr/>
          <a:lstStyle/>
          <a:p>
            <a:r>
              <a:rPr lang="en-US" dirty="0" smtClean="0"/>
              <a:t>Form diode junctions in tops of Si pedestals</a:t>
            </a:r>
          </a:p>
          <a:p>
            <a:r>
              <a:rPr lang="en-US" dirty="0" smtClean="0"/>
              <a:t>Metalize top surface of glass/Si wafer to </a:t>
            </a:r>
          </a:p>
          <a:p>
            <a:pPr lvl="1"/>
            <a:r>
              <a:rPr lang="en-US" dirty="0" smtClean="0"/>
              <a:t>interconnect diodes </a:t>
            </a:r>
          </a:p>
          <a:p>
            <a:pPr lvl="1"/>
            <a:r>
              <a:rPr lang="en-US" dirty="0" smtClean="0"/>
              <a:t>form passive structures (spiral inductors, capacitors, resistors, transformers, etc.)</a:t>
            </a:r>
          </a:p>
          <a:p>
            <a:r>
              <a:rPr lang="en-US" dirty="0" smtClean="0"/>
              <a:t>Grind back side of wafer to expose underside of glass and Si pedestals</a:t>
            </a:r>
          </a:p>
          <a:p>
            <a:r>
              <a:rPr lang="en-US" dirty="0" smtClean="0"/>
              <a:t>Metalize back side of wafer</a:t>
            </a:r>
          </a:p>
          <a:p>
            <a:r>
              <a:rPr lang="en-US" dirty="0" smtClean="0"/>
              <a:t>Apply benzocyclobutene (BCB) layer to top side for scratch protection</a:t>
            </a:r>
          </a:p>
          <a:p>
            <a:r>
              <a:rPr lang="en-US" dirty="0" smtClean="0"/>
              <a:t>Dice wafer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Simplified HMIC</a:t>
            </a:r>
            <a:r>
              <a:rPr lang="en-US" baseline="42000" dirty="0"/>
              <a:t>TM</a:t>
            </a:r>
            <a:r>
              <a:rPr lang="en-US" dirty="0" smtClean="0"/>
              <a:t> Process (cont’d)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5465" y="2144110"/>
            <a:ext cx="4856170" cy="3003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562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HMIC</a:t>
            </a:r>
            <a:r>
              <a:rPr lang="en-US" baseline="42000" dirty="0"/>
              <a:t>TM</a:t>
            </a:r>
            <a:r>
              <a:rPr lang="en-US" altLang="en-US" dirty="0" smtClean="0"/>
              <a:t> Cross Section</a:t>
            </a:r>
          </a:p>
        </p:txBody>
      </p:sp>
      <p:grpSp>
        <p:nvGrpSpPr>
          <p:cNvPr id="8195" name="Group 3"/>
          <p:cNvGrpSpPr>
            <a:grpSpLocks/>
          </p:cNvGrpSpPr>
          <p:nvPr/>
        </p:nvGrpSpPr>
        <p:grpSpPr bwMode="auto">
          <a:xfrm>
            <a:off x="596900" y="1651000"/>
            <a:ext cx="7924800" cy="4114800"/>
            <a:chOff x="432" y="1056"/>
            <a:chExt cx="4992" cy="2592"/>
          </a:xfrm>
        </p:grpSpPr>
        <p:sp>
          <p:nvSpPr>
            <p:cNvPr id="8196" name="Rectangle 4"/>
            <p:cNvSpPr>
              <a:spLocks noChangeArrowheads="1"/>
            </p:cNvSpPr>
            <p:nvPr/>
          </p:nvSpPr>
          <p:spPr bwMode="auto">
            <a:xfrm>
              <a:off x="432" y="1056"/>
              <a:ext cx="4992" cy="2592"/>
            </a:xfrm>
            <a:prstGeom prst="rect">
              <a:avLst/>
            </a:prstGeom>
            <a:solidFill>
              <a:srgbClr val="DADAD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 dirty="0"/>
            </a:p>
          </p:txBody>
        </p:sp>
        <p:sp>
          <p:nvSpPr>
            <p:cNvPr id="8197" name="Rectangle 5" descr="Zig zag"/>
            <p:cNvSpPr>
              <a:spLocks noChangeArrowheads="1"/>
            </p:cNvSpPr>
            <p:nvPr/>
          </p:nvSpPr>
          <p:spPr bwMode="auto">
            <a:xfrm>
              <a:off x="1826" y="2309"/>
              <a:ext cx="772" cy="253"/>
            </a:xfrm>
            <a:prstGeom prst="rect">
              <a:avLst/>
            </a:prstGeom>
            <a:pattFill prst="zigZag">
              <a:fgClr>
                <a:srgbClr val="8901F3"/>
              </a:fgClr>
              <a:bgClr>
                <a:srgbClr val="FFFFFF"/>
              </a:bgClr>
            </a:patt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 dirty="0"/>
            </a:p>
          </p:txBody>
        </p:sp>
        <p:sp>
          <p:nvSpPr>
            <p:cNvPr id="8198" name="Freeform 6"/>
            <p:cNvSpPr>
              <a:spLocks/>
            </p:cNvSpPr>
            <p:nvPr/>
          </p:nvSpPr>
          <p:spPr bwMode="auto">
            <a:xfrm>
              <a:off x="2940" y="2060"/>
              <a:ext cx="152" cy="491"/>
            </a:xfrm>
            <a:custGeom>
              <a:avLst/>
              <a:gdLst>
                <a:gd name="T0" fmla="*/ 151 w 152"/>
                <a:gd name="T1" fmla="*/ 0 h 491"/>
                <a:gd name="T2" fmla="*/ 130 w 152"/>
                <a:gd name="T3" fmla="*/ 0 h 491"/>
                <a:gd name="T4" fmla="*/ 0 w 152"/>
                <a:gd name="T5" fmla="*/ 490 h 491"/>
                <a:gd name="T6" fmla="*/ 21 w 152"/>
                <a:gd name="T7" fmla="*/ 490 h 491"/>
                <a:gd name="T8" fmla="*/ 151 w 152"/>
                <a:gd name="T9" fmla="*/ 0 h 49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2" h="491">
                  <a:moveTo>
                    <a:pt x="151" y="0"/>
                  </a:moveTo>
                  <a:lnTo>
                    <a:pt x="130" y="0"/>
                  </a:lnTo>
                  <a:lnTo>
                    <a:pt x="0" y="490"/>
                  </a:lnTo>
                  <a:lnTo>
                    <a:pt x="21" y="490"/>
                  </a:lnTo>
                  <a:lnTo>
                    <a:pt x="151" y="0"/>
                  </a:lnTo>
                </a:path>
              </a:pathLst>
            </a:custGeom>
            <a:solidFill>
              <a:srgbClr val="00000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199" name="Rectangle 7" descr="50%"/>
            <p:cNvSpPr>
              <a:spLocks noChangeArrowheads="1"/>
            </p:cNvSpPr>
            <p:nvPr/>
          </p:nvSpPr>
          <p:spPr bwMode="auto">
            <a:xfrm>
              <a:off x="3247" y="2064"/>
              <a:ext cx="238" cy="51"/>
            </a:xfrm>
            <a:prstGeom prst="rect">
              <a:avLst/>
            </a:prstGeom>
            <a:pattFill prst="pct50">
              <a:fgClr>
                <a:srgbClr val="000000"/>
              </a:fgClr>
              <a:bgClr>
                <a:srgbClr val="FFFFFF"/>
              </a:bgClr>
            </a:patt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 dirty="0"/>
            </a:p>
          </p:txBody>
        </p:sp>
        <p:sp>
          <p:nvSpPr>
            <p:cNvPr id="8200" name="Rectangle 8" descr="Small grid"/>
            <p:cNvSpPr>
              <a:spLocks noChangeArrowheads="1"/>
            </p:cNvSpPr>
            <p:nvPr/>
          </p:nvSpPr>
          <p:spPr bwMode="auto">
            <a:xfrm>
              <a:off x="3009" y="2064"/>
              <a:ext cx="519" cy="115"/>
            </a:xfrm>
            <a:prstGeom prst="rect">
              <a:avLst/>
            </a:prstGeom>
            <a:pattFill prst="smGrid">
              <a:fgClr>
                <a:srgbClr val="414141"/>
              </a:fgClr>
              <a:bgClr>
                <a:schemeClr val="tx1"/>
              </a:bgClr>
            </a:patt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 dirty="0"/>
            </a:p>
          </p:txBody>
        </p:sp>
        <p:sp>
          <p:nvSpPr>
            <p:cNvPr id="8201" name="Rectangle 9" descr="Dark upward diagonal"/>
            <p:cNvSpPr>
              <a:spLocks noChangeArrowheads="1"/>
            </p:cNvSpPr>
            <p:nvPr/>
          </p:nvSpPr>
          <p:spPr bwMode="auto">
            <a:xfrm>
              <a:off x="2901" y="2150"/>
              <a:ext cx="735" cy="397"/>
            </a:xfrm>
            <a:prstGeom prst="rect">
              <a:avLst/>
            </a:prstGeom>
            <a:pattFill prst="dkUpDiag">
              <a:fgClr>
                <a:srgbClr val="DC0081"/>
              </a:fgClr>
              <a:bgClr>
                <a:schemeClr val="tx1"/>
              </a:bgClr>
            </a:patt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 dirty="0"/>
            </a:p>
          </p:txBody>
        </p:sp>
        <p:sp>
          <p:nvSpPr>
            <p:cNvPr id="8202" name="Rectangle 10"/>
            <p:cNvSpPr>
              <a:spLocks noChangeArrowheads="1"/>
            </p:cNvSpPr>
            <p:nvPr/>
          </p:nvSpPr>
          <p:spPr bwMode="auto">
            <a:xfrm>
              <a:off x="3117" y="2028"/>
              <a:ext cx="36" cy="29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 dirty="0"/>
            </a:p>
          </p:txBody>
        </p:sp>
        <p:sp>
          <p:nvSpPr>
            <p:cNvPr id="8203" name="Freeform 11"/>
            <p:cNvSpPr>
              <a:spLocks/>
            </p:cNvSpPr>
            <p:nvPr/>
          </p:nvSpPr>
          <p:spPr bwMode="auto">
            <a:xfrm>
              <a:off x="3156" y="2060"/>
              <a:ext cx="23" cy="1"/>
            </a:xfrm>
            <a:custGeom>
              <a:avLst/>
              <a:gdLst>
                <a:gd name="T0" fmla="*/ 22 w 23"/>
                <a:gd name="T1" fmla="*/ 0 h 1"/>
                <a:gd name="T2" fmla="*/ 14 w 23"/>
                <a:gd name="T3" fmla="*/ 0 h 1"/>
                <a:gd name="T4" fmla="*/ 7 w 23"/>
                <a:gd name="T5" fmla="*/ 0 h 1"/>
                <a:gd name="T6" fmla="*/ 0 w 23"/>
                <a:gd name="T7" fmla="*/ 0 h 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3" h="1">
                  <a:moveTo>
                    <a:pt x="22" y="0"/>
                  </a:moveTo>
                  <a:lnTo>
                    <a:pt x="14" y="0"/>
                  </a:lnTo>
                  <a:lnTo>
                    <a:pt x="7" y="0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8204" name="Group 12"/>
            <p:cNvGrpSpPr>
              <a:grpSpLocks/>
            </p:cNvGrpSpPr>
            <p:nvPr/>
          </p:nvGrpSpPr>
          <p:grpSpPr bwMode="auto">
            <a:xfrm>
              <a:off x="3103" y="2060"/>
              <a:ext cx="73" cy="29"/>
              <a:chOff x="3103" y="2060"/>
              <a:chExt cx="73" cy="29"/>
            </a:xfrm>
          </p:grpSpPr>
          <p:sp>
            <p:nvSpPr>
              <p:cNvPr id="8324" name="Arc 13"/>
              <p:cNvSpPr>
                <a:spLocks/>
              </p:cNvSpPr>
              <p:nvPr/>
            </p:nvSpPr>
            <p:spPr bwMode="auto">
              <a:xfrm>
                <a:off x="3103" y="2065"/>
                <a:ext cx="29" cy="18"/>
              </a:xfrm>
              <a:custGeom>
                <a:avLst/>
                <a:gdLst>
                  <a:gd name="T0" fmla="*/ 0 w 21600"/>
                  <a:gd name="T1" fmla="*/ 18 h 21587"/>
                  <a:gd name="T2" fmla="*/ 28 w 21600"/>
                  <a:gd name="T3" fmla="*/ 0 h 21587"/>
                  <a:gd name="T4" fmla="*/ 29 w 21600"/>
                  <a:gd name="T5" fmla="*/ 18 h 2158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587" fill="none" extrusionOk="0">
                    <a:moveTo>
                      <a:pt x="0" y="21587"/>
                    </a:moveTo>
                    <a:cubicBezTo>
                      <a:pt x="0" y="9947"/>
                      <a:pt x="9223" y="400"/>
                      <a:pt x="20855" y="-1"/>
                    </a:cubicBezTo>
                  </a:path>
                  <a:path w="21600" h="21587" stroke="0" extrusionOk="0">
                    <a:moveTo>
                      <a:pt x="0" y="21587"/>
                    </a:moveTo>
                    <a:cubicBezTo>
                      <a:pt x="0" y="9947"/>
                      <a:pt x="9223" y="400"/>
                      <a:pt x="20855" y="-1"/>
                    </a:cubicBezTo>
                    <a:lnTo>
                      <a:pt x="21600" y="21587"/>
                    </a:lnTo>
                    <a:lnTo>
                      <a:pt x="0" y="21587"/>
                    </a:lnTo>
                    <a:close/>
                  </a:path>
                </a:pathLst>
              </a:custGeom>
              <a:solidFill>
                <a:srgbClr val="00AE00"/>
              </a:solidFill>
              <a:ln w="12700" cap="rnd">
                <a:solidFill>
                  <a:srgbClr val="00AE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8325" name="Freeform 14"/>
              <p:cNvSpPr>
                <a:spLocks/>
              </p:cNvSpPr>
              <p:nvPr/>
            </p:nvSpPr>
            <p:spPr bwMode="auto">
              <a:xfrm>
                <a:off x="3106" y="2060"/>
                <a:ext cx="16" cy="23"/>
              </a:xfrm>
              <a:custGeom>
                <a:avLst/>
                <a:gdLst>
                  <a:gd name="T0" fmla="*/ 15 w 16"/>
                  <a:gd name="T1" fmla="*/ 22 h 23"/>
                  <a:gd name="T2" fmla="*/ 10 w 16"/>
                  <a:gd name="T3" fmla="*/ 22 h 23"/>
                  <a:gd name="T4" fmla="*/ 5 w 16"/>
                  <a:gd name="T5" fmla="*/ 22 h 23"/>
                  <a:gd name="T6" fmla="*/ 5 w 16"/>
                  <a:gd name="T7" fmla="*/ 17 h 23"/>
                  <a:gd name="T8" fmla="*/ 5 w 16"/>
                  <a:gd name="T9" fmla="*/ 11 h 23"/>
                  <a:gd name="T10" fmla="*/ 0 w 16"/>
                  <a:gd name="T11" fmla="*/ 6 h 23"/>
                  <a:gd name="T12" fmla="*/ 0 w 16"/>
                  <a:gd name="T13" fmla="*/ 0 h 23"/>
                  <a:gd name="T14" fmla="*/ 15 w 16"/>
                  <a:gd name="T15" fmla="*/ 0 h 23"/>
                  <a:gd name="T16" fmla="*/ 15 w 16"/>
                  <a:gd name="T17" fmla="*/ 22 h 23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6" h="23">
                    <a:moveTo>
                      <a:pt x="15" y="22"/>
                    </a:moveTo>
                    <a:lnTo>
                      <a:pt x="10" y="22"/>
                    </a:lnTo>
                    <a:lnTo>
                      <a:pt x="5" y="22"/>
                    </a:lnTo>
                    <a:lnTo>
                      <a:pt x="5" y="17"/>
                    </a:lnTo>
                    <a:lnTo>
                      <a:pt x="5" y="11"/>
                    </a:lnTo>
                    <a:lnTo>
                      <a:pt x="0" y="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22"/>
                    </a:lnTo>
                  </a:path>
                </a:pathLst>
              </a:custGeom>
              <a:solidFill>
                <a:srgbClr val="00AE00"/>
              </a:solidFill>
              <a:ln w="12700" cap="rnd" cmpd="sng">
                <a:solidFill>
                  <a:srgbClr val="00AE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326" name="Freeform 15"/>
              <p:cNvSpPr>
                <a:spLocks/>
              </p:cNvSpPr>
              <p:nvPr/>
            </p:nvSpPr>
            <p:spPr bwMode="auto">
              <a:xfrm>
                <a:off x="3106" y="2060"/>
                <a:ext cx="22" cy="29"/>
              </a:xfrm>
              <a:custGeom>
                <a:avLst/>
                <a:gdLst>
                  <a:gd name="T0" fmla="*/ 21 w 22"/>
                  <a:gd name="T1" fmla="*/ 28 h 29"/>
                  <a:gd name="T2" fmla="*/ 14 w 22"/>
                  <a:gd name="T3" fmla="*/ 28 h 29"/>
                  <a:gd name="T4" fmla="*/ 7 w 22"/>
                  <a:gd name="T5" fmla="*/ 28 h 29"/>
                  <a:gd name="T6" fmla="*/ 7 w 22"/>
                  <a:gd name="T7" fmla="*/ 21 h 29"/>
                  <a:gd name="T8" fmla="*/ 7 w 22"/>
                  <a:gd name="T9" fmla="*/ 14 h 29"/>
                  <a:gd name="T10" fmla="*/ 0 w 22"/>
                  <a:gd name="T11" fmla="*/ 7 h 29"/>
                  <a:gd name="T12" fmla="*/ 0 w 22"/>
                  <a:gd name="T13" fmla="*/ 0 h 2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2" h="29">
                    <a:moveTo>
                      <a:pt x="21" y="28"/>
                    </a:moveTo>
                    <a:lnTo>
                      <a:pt x="14" y="28"/>
                    </a:lnTo>
                    <a:lnTo>
                      <a:pt x="7" y="28"/>
                    </a:lnTo>
                    <a:lnTo>
                      <a:pt x="7" y="21"/>
                    </a:lnTo>
                    <a:lnTo>
                      <a:pt x="7" y="14"/>
                    </a:lnTo>
                    <a:lnTo>
                      <a:pt x="0" y="7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AE00"/>
              </a:solidFill>
              <a:ln w="12700" cap="rnd" cmpd="sng">
                <a:solidFill>
                  <a:srgbClr val="00AE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327" name="Arc 16"/>
              <p:cNvSpPr>
                <a:spLocks/>
              </p:cNvSpPr>
              <p:nvPr/>
            </p:nvSpPr>
            <p:spPr bwMode="auto">
              <a:xfrm>
                <a:off x="3147" y="2060"/>
                <a:ext cx="29" cy="18"/>
              </a:xfrm>
              <a:custGeom>
                <a:avLst/>
                <a:gdLst>
                  <a:gd name="T0" fmla="*/ 29 w 21600"/>
                  <a:gd name="T1" fmla="*/ 18 h 21600"/>
                  <a:gd name="T2" fmla="*/ 0 w 21600"/>
                  <a:gd name="T3" fmla="*/ 0 h 21600"/>
                  <a:gd name="T4" fmla="*/ 29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21600" y="21600"/>
                    </a:moveTo>
                    <a:cubicBezTo>
                      <a:pt x="9670" y="21600"/>
                      <a:pt x="0" y="11929"/>
                      <a:pt x="0" y="0"/>
                    </a:cubicBezTo>
                  </a:path>
                  <a:path w="21600" h="21600" stroke="0" extrusionOk="0">
                    <a:moveTo>
                      <a:pt x="21600" y="21600"/>
                    </a:moveTo>
                    <a:cubicBezTo>
                      <a:pt x="9670" y="21600"/>
                      <a:pt x="0" y="11929"/>
                      <a:pt x="0" y="0"/>
                    </a:cubicBezTo>
                    <a:lnTo>
                      <a:pt x="21600" y="0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00AE00"/>
              </a:solidFill>
              <a:ln w="12700" cap="rnd">
                <a:solidFill>
                  <a:srgbClr val="00AE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8328" name="Freeform 17"/>
              <p:cNvSpPr>
                <a:spLocks/>
              </p:cNvSpPr>
              <p:nvPr/>
            </p:nvSpPr>
            <p:spPr bwMode="auto">
              <a:xfrm>
                <a:off x="3149" y="2060"/>
                <a:ext cx="16" cy="23"/>
              </a:xfrm>
              <a:custGeom>
                <a:avLst/>
                <a:gdLst>
                  <a:gd name="T0" fmla="*/ 15 w 16"/>
                  <a:gd name="T1" fmla="*/ 0 h 23"/>
                  <a:gd name="T2" fmla="*/ 15 w 16"/>
                  <a:gd name="T3" fmla="*/ 6 h 23"/>
                  <a:gd name="T4" fmla="*/ 15 w 16"/>
                  <a:gd name="T5" fmla="*/ 11 h 23"/>
                  <a:gd name="T6" fmla="*/ 10 w 16"/>
                  <a:gd name="T7" fmla="*/ 17 h 23"/>
                  <a:gd name="T8" fmla="*/ 5 w 16"/>
                  <a:gd name="T9" fmla="*/ 22 h 23"/>
                  <a:gd name="T10" fmla="*/ 0 w 16"/>
                  <a:gd name="T11" fmla="*/ 22 h 23"/>
                  <a:gd name="T12" fmla="*/ 0 w 16"/>
                  <a:gd name="T13" fmla="*/ 0 h 23"/>
                  <a:gd name="T14" fmla="*/ 15 w 16"/>
                  <a:gd name="T15" fmla="*/ 0 h 2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6" h="23">
                    <a:moveTo>
                      <a:pt x="15" y="0"/>
                    </a:moveTo>
                    <a:lnTo>
                      <a:pt x="15" y="6"/>
                    </a:lnTo>
                    <a:lnTo>
                      <a:pt x="15" y="11"/>
                    </a:lnTo>
                    <a:lnTo>
                      <a:pt x="10" y="17"/>
                    </a:lnTo>
                    <a:lnTo>
                      <a:pt x="5" y="22"/>
                    </a:lnTo>
                    <a:lnTo>
                      <a:pt x="0" y="22"/>
                    </a:lnTo>
                    <a:lnTo>
                      <a:pt x="0" y="0"/>
                    </a:lnTo>
                    <a:lnTo>
                      <a:pt x="15" y="0"/>
                    </a:lnTo>
                  </a:path>
                </a:pathLst>
              </a:custGeom>
              <a:solidFill>
                <a:srgbClr val="00AE00"/>
              </a:solidFill>
              <a:ln w="12700" cap="rnd" cmpd="sng">
                <a:solidFill>
                  <a:srgbClr val="00AE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329" name="Freeform 18"/>
              <p:cNvSpPr>
                <a:spLocks/>
              </p:cNvSpPr>
              <p:nvPr/>
            </p:nvSpPr>
            <p:spPr bwMode="auto">
              <a:xfrm>
                <a:off x="3149" y="2060"/>
                <a:ext cx="22" cy="29"/>
              </a:xfrm>
              <a:custGeom>
                <a:avLst/>
                <a:gdLst>
                  <a:gd name="T0" fmla="*/ 21 w 22"/>
                  <a:gd name="T1" fmla="*/ 0 h 29"/>
                  <a:gd name="T2" fmla="*/ 21 w 22"/>
                  <a:gd name="T3" fmla="*/ 7 h 29"/>
                  <a:gd name="T4" fmla="*/ 21 w 22"/>
                  <a:gd name="T5" fmla="*/ 14 h 29"/>
                  <a:gd name="T6" fmla="*/ 14 w 22"/>
                  <a:gd name="T7" fmla="*/ 21 h 29"/>
                  <a:gd name="T8" fmla="*/ 7 w 22"/>
                  <a:gd name="T9" fmla="*/ 28 h 29"/>
                  <a:gd name="T10" fmla="*/ 0 w 22"/>
                  <a:gd name="T11" fmla="*/ 28 h 2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2" h="29">
                    <a:moveTo>
                      <a:pt x="21" y="0"/>
                    </a:moveTo>
                    <a:lnTo>
                      <a:pt x="21" y="7"/>
                    </a:lnTo>
                    <a:lnTo>
                      <a:pt x="21" y="14"/>
                    </a:lnTo>
                    <a:lnTo>
                      <a:pt x="14" y="21"/>
                    </a:lnTo>
                    <a:lnTo>
                      <a:pt x="7" y="28"/>
                    </a:lnTo>
                    <a:lnTo>
                      <a:pt x="0" y="28"/>
                    </a:lnTo>
                  </a:path>
                </a:pathLst>
              </a:custGeom>
              <a:solidFill>
                <a:srgbClr val="00AE00"/>
              </a:solidFill>
              <a:ln w="12700" cap="rnd" cmpd="sng">
                <a:solidFill>
                  <a:srgbClr val="00AE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330" name="Freeform 19"/>
              <p:cNvSpPr>
                <a:spLocks/>
              </p:cNvSpPr>
              <p:nvPr/>
            </p:nvSpPr>
            <p:spPr bwMode="auto">
              <a:xfrm>
                <a:off x="3127" y="2060"/>
                <a:ext cx="17" cy="23"/>
              </a:xfrm>
              <a:custGeom>
                <a:avLst/>
                <a:gdLst>
                  <a:gd name="T0" fmla="*/ 0 w 17"/>
                  <a:gd name="T1" fmla="*/ 0 h 23"/>
                  <a:gd name="T2" fmla="*/ 16 w 17"/>
                  <a:gd name="T3" fmla="*/ 0 h 23"/>
                  <a:gd name="T4" fmla="*/ 16 w 17"/>
                  <a:gd name="T5" fmla="*/ 22 h 23"/>
                  <a:gd name="T6" fmla="*/ 0 w 17"/>
                  <a:gd name="T7" fmla="*/ 22 h 23"/>
                  <a:gd name="T8" fmla="*/ 0 w 17"/>
                  <a:gd name="T9" fmla="*/ 0 h 2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7" h="23">
                    <a:moveTo>
                      <a:pt x="0" y="0"/>
                    </a:moveTo>
                    <a:lnTo>
                      <a:pt x="16" y="0"/>
                    </a:lnTo>
                    <a:lnTo>
                      <a:pt x="16" y="22"/>
                    </a:lnTo>
                    <a:lnTo>
                      <a:pt x="0" y="22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AE00"/>
              </a:solidFill>
              <a:ln w="12700" cap="rnd" cmpd="sng">
                <a:solidFill>
                  <a:srgbClr val="00AE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331" name="Line 20"/>
              <p:cNvSpPr>
                <a:spLocks noChangeShapeType="1"/>
              </p:cNvSpPr>
              <p:nvPr/>
            </p:nvSpPr>
            <p:spPr bwMode="auto">
              <a:xfrm>
                <a:off x="3110" y="2060"/>
                <a:ext cx="56" cy="0"/>
              </a:xfrm>
              <a:prstGeom prst="line">
                <a:avLst/>
              </a:prstGeom>
              <a:noFill/>
              <a:ln w="12700">
                <a:solidFill>
                  <a:srgbClr val="00AE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8332" name="Line 21"/>
              <p:cNvSpPr>
                <a:spLocks noChangeShapeType="1"/>
              </p:cNvSpPr>
              <p:nvPr/>
            </p:nvSpPr>
            <p:spPr bwMode="auto">
              <a:xfrm>
                <a:off x="3131" y="2088"/>
                <a:ext cx="14" cy="0"/>
              </a:xfrm>
              <a:prstGeom prst="line">
                <a:avLst/>
              </a:prstGeom>
              <a:noFill/>
              <a:ln w="12700">
                <a:solidFill>
                  <a:srgbClr val="00AE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sp>
          <p:nvSpPr>
            <p:cNvPr id="8205" name="Rectangle 22"/>
            <p:cNvSpPr>
              <a:spLocks noChangeArrowheads="1"/>
            </p:cNvSpPr>
            <p:nvPr/>
          </p:nvSpPr>
          <p:spPr bwMode="auto">
            <a:xfrm>
              <a:off x="3203" y="2028"/>
              <a:ext cx="606" cy="29"/>
            </a:xfrm>
            <a:prstGeom prst="rect">
              <a:avLst/>
            </a:prstGeom>
            <a:solidFill>
              <a:srgbClr val="FAFD00"/>
            </a:solidFill>
            <a:ln w="12700">
              <a:solidFill>
                <a:srgbClr val="FAFD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 dirty="0"/>
            </a:p>
          </p:txBody>
        </p:sp>
        <p:sp>
          <p:nvSpPr>
            <p:cNvPr id="8206" name="Rectangle 23" descr="Dark upward diagonal"/>
            <p:cNvSpPr>
              <a:spLocks noChangeArrowheads="1"/>
            </p:cNvSpPr>
            <p:nvPr/>
          </p:nvSpPr>
          <p:spPr bwMode="auto">
            <a:xfrm>
              <a:off x="1978" y="2121"/>
              <a:ext cx="519" cy="181"/>
            </a:xfrm>
            <a:prstGeom prst="rect">
              <a:avLst/>
            </a:prstGeom>
            <a:pattFill prst="dkUpDiag">
              <a:fgClr>
                <a:srgbClr val="DC0081"/>
              </a:fgClr>
              <a:bgClr>
                <a:schemeClr val="tx1"/>
              </a:bgClr>
            </a:patt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 dirty="0"/>
            </a:p>
          </p:txBody>
        </p:sp>
        <p:sp>
          <p:nvSpPr>
            <p:cNvPr id="8207" name="Rectangle 24" descr="Small grid"/>
            <p:cNvSpPr>
              <a:spLocks noChangeArrowheads="1"/>
            </p:cNvSpPr>
            <p:nvPr/>
          </p:nvSpPr>
          <p:spPr bwMode="auto">
            <a:xfrm>
              <a:off x="1999" y="2064"/>
              <a:ext cx="477" cy="79"/>
            </a:xfrm>
            <a:prstGeom prst="rect">
              <a:avLst/>
            </a:prstGeom>
            <a:pattFill prst="smGrid">
              <a:fgClr>
                <a:srgbClr val="414141"/>
              </a:fgClr>
              <a:bgClr>
                <a:schemeClr val="tx1"/>
              </a:bgClr>
            </a:patt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 dirty="0"/>
            </a:p>
          </p:txBody>
        </p:sp>
        <p:sp>
          <p:nvSpPr>
            <p:cNvPr id="8208" name="Rectangle 25"/>
            <p:cNvSpPr>
              <a:spLocks noChangeArrowheads="1"/>
            </p:cNvSpPr>
            <p:nvPr/>
          </p:nvSpPr>
          <p:spPr bwMode="auto">
            <a:xfrm>
              <a:off x="2244" y="2064"/>
              <a:ext cx="167" cy="14"/>
            </a:xfrm>
            <a:prstGeom prst="rect">
              <a:avLst/>
            </a:prstGeom>
            <a:solidFill>
              <a:srgbClr val="FC0128"/>
            </a:solidFill>
            <a:ln w="12700">
              <a:solidFill>
                <a:srgbClr val="FC012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 dirty="0"/>
            </a:p>
          </p:txBody>
        </p:sp>
        <p:sp>
          <p:nvSpPr>
            <p:cNvPr id="8209" name="Freeform 26" descr="20%"/>
            <p:cNvSpPr>
              <a:spLocks/>
            </p:cNvSpPr>
            <p:nvPr/>
          </p:nvSpPr>
          <p:spPr bwMode="auto">
            <a:xfrm>
              <a:off x="1707" y="2060"/>
              <a:ext cx="348" cy="485"/>
            </a:xfrm>
            <a:custGeom>
              <a:avLst/>
              <a:gdLst>
                <a:gd name="T0" fmla="*/ 0 w 348"/>
                <a:gd name="T1" fmla="*/ 0 h 485"/>
                <a:gd name="T2" fmla="*/ 347 w 348"/>
                <a:gd name="T3" fmla="*/ 0 h 485"/>
                <a:gd name="T4" fmla="*/ 177 w 348"/>
                <a:gd name="T5" fmla="*/ 484 h 485"/>
                <a:gd name="T6" fmla="*/ 0 w 348"/>
                <a:gd name="T7" fmla="*/ 484 h 485"/>
                <a:gd name="T8" fmla="*/ 0 w 348"/>
                <a:gd name="T9" fmla="*/ 0 h 48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8" h="485">
                  <a:moveTo>
                    <a:pt x="0" y="0"/>
                  </a:moveTo>
                  <a:lnTo>
                    <a:pt x="347" y="0"/>
                  </a:lnTo>
                  <a:lnTo>
                    <a:pt x="177" y="484"/>
                  </a:lnTo>
                  <a:lnTo>
                    <a:pt x="0" y="484"/>
                  </a:lnTo>
                  <a:lnTo>
                    <a:pt x="0" y="0"/>
                  </a:lnTo>
                </a:path>
              </a:pathLst>
            </a:custGeom>
            <a:pattFill prst="pct20">
              <a:fgClr>
                <a:schemeClr val="accent1"/>
              </a:fgClr>
              <a:bgClr>
                <a:schemeClr val="tx1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rnd" cmpd="sng">
                  <a:solidFill>
                    <a:schemeClr val="folHlink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210" name="Rectangle 27"/>
            <p:cNvSpPr>
              <a:spLocks noChangeArrowheads="1"/>
            </p:cNvSpPr>
            <p:nvPr/>
          </p:nvSpPr>
          <p:spPr bwMode="auto">
            <a:xfrm>
              <a:off x="2591" y="2554"/>
              <a:ext cx="166" cy="29"/>
            </a:xfrm>
            <a:prstGeom prst="rect">
              <a:avLst/>
            </a:prstGeom>
            <a:solidFill>
              <a:srgbClr val="FAFD00"/>
            </a:solidFill>
            <a:ln w="12700">
              <a:solidFill>
                <a:srgbClr val="FAFD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 dirty="0"/>
            </a:p>
          </p:txBody>
        </p:sp>
        <p:sp>
          <p:nvSpPr>
            <p:cNvPr id="8211" name="Rectangle 28"/>
            <p:cNvSpPr>
              <a:spLocks noChangeArrowheads="1"/>
            </p:cNvSpPr>
            <p:nvPr/>
          </p:nvSpPr>
          <p:spPr bwMode="auto">
            <a:xfrm>
              <a:off x="1711" y="2554"/>
              <a:ext cx="916" cy="29"/>
            </a:xfrm>
            <a:prstGeom prst="rect">
              <a:avLst/>
            </a:prstGeom>
            <a:solidFill>
              <a:srgbClr val="FAFD00"/>
            </a:solidFill>
            <a:ln w="12700">
              <a:solidFill>
                <a:srgbClr val="FAFD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 dirty="0"/>
            </a:p>
          </p:txBody>
        </p:sp>
        <p:sp>
          <p:nvSpPr>
            <p:cNvPr id="8212" name="Rectangle 29" descr="Wide downward diagonal"/>
            <p:cNvSpPr>
              <a:spLocks noChangeArrowheads="1"/>
            </p:cNvSpPr>
            <p:nvPr/>
          </p:nvSpPr>
          <p:spPr bwMode="auto">
            <a:xfrm>
              <a:off x="2172" y="2028"/>
              <a:ext cx="58" cy="29"/>
            </a:xfrm>
            <a:prstGeom prst="rect">
              <a:avLst/>
            </a:prstGeom>
            <a:pattFill prst="wdDnDiag">
              <a:fgClr>
                <a:srgbClr val="8CF4EA"/>
              </a:fgClr>
              <a:bgClr>
                <a:schemeClr val="tx1"/>
              </a:bgClr>
            </a:pattFill>
            <a:ln w="12700">
              <a:solidFill>
                <a:srgbClr val="8CF4EA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 dirty="0"/>
            </a:p>
          </p:txBody>
        </p:sp>
        <p:sp>
          <p:nvSpPr>
            <p:cNvPr id="8213" name="Rectangle 30" descr="Wide downward diagonal"/>
            <p:cNvSpPr>
              <a:spLocks noChangeArrowheads="1"/>
            </p:cNvSpPr>
            <p:nvPr/>
          </p:nvSpPr>
          <p:spPr bwMode="auto">
            <a:xfrm>
              <a:off x="2064" y="2028"/>
              <a:ext cx="58" cy="29"/>
            </a:xfrm>
            <a:prstGeom prst="rect">
              <a:avLst/>
            </a:prstGeom>
            <a:pattFill prst="wdDnDiag">
              <a:fgClr>
                <a:srgbClr val="8CF4EA"/>
              </a:fgClr>
              <a:bgClr>
                <a:schemeClr val="tx1"/>
              </a:bgClr>
            </a:pattFill>
            <a:ln w="12700">
              <a:solidFill>
                <a:srgbClr val="8CF4EA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 dirty="0"/>
            </a:p>
          </p:txBody>
        </p:sp>
        <p:sp>
          <p:nvSpPr>
            <p:cNvPr id="8214" name="Arc 31" descr="Narrow vertical"/>
            <p:cNvSpPr>
              <a:spLocks/>
            </p:cNvSpPr>
            <p:nvPr/>
          </p:nvSpPr>
          <p:spPr bwMode="auto">
            <a:xfrm>
              <a:off x="2141" y="2060"/>
              <a:ext cx="33" cy="22"/>
            </a:xfrm>
            <a:custGeom>
              <a:avLst/>
              <a:gdLst>
                <a:gd name="T0" fmla="*/ 33 w 21600"/>
                <a:gd name="T1" fmla="*/ 22 h 21600"/>
                <a:gd name="T2" fmla="*/ 0 w 21600"/>
                <a:gd name="T3" fmla="*/ 0 h 21600"/>
                <a:gd name="T4" fmla="*/ 33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</a:path>
                <a:path w="21600" h="21600" stroke="0" extrusionOk="0">
                  <a:moveTo>
                    <a:pt x="21600" y="21600"/>
                  </a:moveTo>
                  <a:cubicBezTo>
                    <a:pt x="9670" y="21600"/>
                    <a:pt x="0" y="11929"/>
                    <a:pt x="0" y="0"/>
                  </a:cubicBez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pattFill prst="narVert">
              <a:fgClr>
                <a:srgbClr val="000000"/>
              </a:fgClr>
              <a:bgClr>
                <a:srgbClr val="FFFFFF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rnd">
                  <a:solidFill>
                    <a:schemeClr val="folHlink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8215" name="Freeform 32"/>
            <p:cNvSpPr>
              <a:spLocks/>
            </p:cNvSpPr>
            <p:nvPr/>
          </p:nvSpPr>
          <p:spPr bwMode="auto">
            <a:xfrm>
              <a:off x="2147" y="2060"/>
              <a:ext cx="16" cy="23"/>
            </a:xfrm>
            <a:custGeom>
              <a:avLst/>
              <a:gdLst>
                <a:gd name="T0" fmla="*/ 15 w 16"/>
                <a:gd name="T1" fmla="*/ 0 h 23"/>
                <a:gd name="T2" fmla="*/ 15 w 16"/>
                <a:gd name="T3" fmla="*/ 6 h 23"/>
                <a:gd name="T4" fmla="*/ 15 w 16"/>
                <a:gd name="T5" fmla="*/ 11 h 23"/>
                <a:gd name="T6" fmla="*/ 10 w 16"/>
                <a:gd name="T7" fmla="*/ 17 h 23"/>
                <a:gd name="T8" fmla="*/ 5 w 16"/>
                <a:gd name="T9" fmla="*/ 22 h 23"/>
                <a:gd name="T10" fmla="*/ 0 w 16"/>
                <a:gd name="T11" fmla="*/ 22 h 23"/>
                <a:gd name="T12" fmla="*/ 0 w 16"/>
                <a:gd name="T13" fmla="*/ 0 h 23"/>
                <a:gd name="T14" fmla="*/ 15 w 16"/>
                <a:gd name="T15" fmla="*/ 0 h 2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6" h="23">
                  <a:moveTo>
                    <a:pt x="15" y="0"/>
                  </a:moveTo>
                  <a:lnTo>
                    <a:pt x="15" y="6"/>
                  </a:lnTo>
                  <a:lnTo>
                    <a:pt x="15" y="11"/>
                  </a:lnTo>
                  <a:lnTo>
                    <a:pt x="10" y="17"/>
                  </a:lnTo>
                  <a:lnTo>
                    <a:pt x="5" y="22"/>
                  </a:lnTo>
                  <a:lnTo>
                    <a:pt x="0" y="22"/>
                  </a:lnTo>
                  <a:lnTo>
                    <a:pt x="0" y="0"/>
                  </a:lnTo>
                  <a:lnTo>
                    <a:pt x="15" y="0"/>
                  </a:lnTo>
                </a:path>
              </a:pathLst>
            </a:custGeom>
            <a:solidFill>
              <a:srgbClr val="00AE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rnd" cmpd="sng">
                  <a:solidFill>
                    <a:schemeClr val="folHlink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216" name="Freeform 33"/>
            <p:cNvSpPr>
              <a:spLocks/>
            </p:cNvSpPr>
            <p:nvPr/>
          </p:nvSpPr>
          <p:spPr bwMode="auto">
            <a:xfrm>
              <a:off x="2147" y="2060"/>
              <a:ext cx="22" cy="29"/>
            </a:xfrm>
            <a:custGeom>
              <a:avLst/>
              <a:gdLst>
                <a:gd name="T0" fmla="*/ 21 w 22"/>
                <a:gd name="T1" fmla="*/ 0 h 29"/>
                <a:gd name="T2" fmla="*/ 21 w 22"/>
                <a:gd name="T3" fmla="*/ 7 h 29"/>
                <a:gd name="T4" fmla="*/ 21 w 22"/>
                <a:gd name="T5" fmla="*/ 14 h 29"/>
                <a:gd name="T6" fmla="*/ 14 w 22"/>
                <a:gd name="T7" fmla="*/ 21 h 29"/>
                <a:gd name="T8" fmla="*/ 7 w 22"/>
                <a:gd name="T9" fmla="*/ 28 h 29"/>
                <a:gd name="T10" fmla="*/ 0 w 22"/>
                <a:gd name="T11" fmla="*/ 28 h 2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2" h="29">
                  <a:moveTo>
                    <a:pt x="21" y="0"/>
                  </a:moveTo>
                  <a:lnTo>
                    <a:pt x="21" y="7"/>
                  </a:lnTo>
                  <a:lnTo>
                    <a:pt x="21" y="14"/>
                  </a:lnTo>
                  <a:lnTo>
                    <a:pt x="14" y="21"/>
                  </a:lnTo>
                  <a:lnTo>
                    <a:pt x="7" y="28"/>
                  </a:lnTo>
                  <a:lnTo>
                    <a:pt x="0" y="28"/>
                  </a:lnTo>
                </a:path>
              </a:pathLst>
            </a:custGeom>
            <a:solidFill>
              <a:srgbClr val="00AE00"/>
            </a:solidFill>
            <a:ln w="12700" cap="rnd" cmpd="sng">
              <a:solidFill>
                <a:srgbClr val="00AE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217" name="Arc 34"/>
            <p:cNvSpPr>
              <a:spLocks/>
            </p:cNvSpPr>
            <p:nvPr/>
          </p:nvSpPr>
          <p:spPr bwMode="auto">
            <a:xfrm>
              <a:off x="2123" y="2065"/>
              <a:ext cx="29" cy="18"/>
            </a:xfrm>
            <a:custGeom>
              <a:avLst/>
              <a:gdLst>
                <a:gd name="T0" fmla="*/ 0 w 21600"/>
                <a:gd name="T1" fmla="*/ 18 h 21587"/>
                <a:gd name="T2" fmla="*/ 28 w 21600"/>
                <a:gd name="T3" fmla="*/ 0 h 21587"/>
                <a:gd name="T4" fmla="*/ 29 w 21600"/>
                <a:gd name="T5" fmla="*/ 18 h 2158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587" fill="none" extrusionOk="0">
                  <a:moveTo>
                    <a:pt x="0" y="21587"/>
                  </a:moveTo>
                  <a:cubicBezTo>
                    <a:pt x="0" y="9947"/>
                    <a:pt x="9223" y="400"/>
                    <a:pt x="20855" y="-1"/>
                  </a:cubicBezTo>
                </a:path>
                <a:path w="21600" h="21587" stroke="0" extrusionOk="0">
                  <a:moveTo>
                    <a:pt x="0" y="21587"/>
                  </a:moveTo>
                  <a:cubicBezTo>
                    <a:pt x="0" y="9947"/>
                    <a:pt x="9223" y="400"/>
                    <a:pt x="20855" y="-1"/>
                  </a:cubicBezTo>
                  <a:lnTo>
                    <a:pt x="21600" y="21587"/>
                  </a:lnTo>
                  <a:lnTo>
                    <a:pt x="0" y="21587"/>
                  </a:lnTo>
                  <a:close/>
                </a:path>
              </a:pathLst>
            </a:custGeom>
            <a:solidFill>
              <a:srgbClr val="00AE00"/>
            </a:solidFill>
            <a:ln w="12700" cap="rnd">
              <a:solidFill>
                <a:srgbClr val="00AE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8218" name="Freeform 35"/>
            <p:cNvSpPr>
              <a:spLocks/>
            </p:cNvSpPr>
            <p:nvPr/>
          </p:nvSpPr>
          <p:spPr bwMode="auto">
            <a:xfrm>
              <a:off x="2125" y="2060"/>
              <a:ext cx="17" cy="23"/>
            </a:xfrm>
            <a:custGeom>
              <a:avLst/>
              <a:gdLst>
                <a:gd name="T0" fmla="*/ 16 w 17"/>
                <a:gd name="T1" fmla="*/ 22 h 23"/>
                <a:gd name="T2" fmla="*/ 16 w 17"/>
                <a:gd name="T3" fmla="*/ 22 h 23"/>
                <a:gd name="T4" fmla="*/ 11 w 17"/>
                <a:gd name="T5" fmla="*/ 22 h 23"/>
                <a:gd name="T6" fmla="*/ 5 w 17"/>
                <a:gd name="T7" fmla="*/ 17 h 23"/>
                <a:gd name="T8" fmla="*/ 5 w 17"/>
                <a:gd name="T9" fmla="*/ 11 h 23"/>
                <a:gd name="T10" fmla="*/ 0 w 17"/>
                <a:gd name="T11" fmla="*/ 6 h 23"/>
                <a:gd name="T12" fmla="*/ 0 w 17"/>
                <a:gd name="T13" fmla="*/ 0 h 23"/>
                <a:gd name="T14" fmla="*/ 16 w 17"/>
                <a:gd name="T15" fmla="*/ 0 h 23"/>
                <a:gd name="T16" fmla="*/ 16 w 17"/>
                <a:gd name="T17" fmla="*/ 22 h 2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7" h="23">
                  <a:moveTo>
                    <a:pt x="16" y="22"/>
                  </a:moveTo>
                  <a:lnTo>
                    <a:pt x="16" y="22"/>
                  </a:lnTo>
                  <a:lnTo>
                    <a:pt x="11" y="22"/>
                  </a:lnTo>
                  <a:lnTo>
                    <a:pt x="5" y="17"/>
                  </a:lnTo>
                  <a:lnTo>
                    <a:pt x="5" y="11"/>
                  </a:lnTo>
                  <a:lnTo>
                    <a:pt x="0" y="6"/>
                  </a:lnTo>
                  <a:lnTo>
                    <a:pt x="0" y="0"/>
                  </a:lnTo>
                  <a:lnTo>
                    <a:pt x="16" y="0"/>
                  </a:lnTo>
                  <a:lnTo>
                    <a:pt x="16" y="22"/>
                  </a:lnTo>
                </a:path>
              </a:pathLst>
            </a:custGeom>
            <a:solidFill>
              <a:srgbClr val="00AE00"/>
            </a:solidFill>
            <a:ln w="12700" cap="rnd" cmpd="sng">
              <a:solidFill>
                <a:srgbClr val="00AE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219" name="Freeform 36"/>
            <p:cNvSpPr>
              <a:spLocks/>
            </p:cNvSpPr>
            <p:nvPr/>
          </p:nvSpPr>
          <p:spPr bwMode="auto">
            <a:xfrm>
              <a:off x="2125" y="2060"/>
              <a:ext cx="23" cy="29"/>
            </a:xfrm>
            <a:custGeom>
              <a:avLst/>
              <a:gdLst>
                <a:gd name="T0" fmla="*/ 22 w 23"/>
                <a:gd name="T1" fmla="*/ 28 h 29"/>
                <a:gd name="T2" fmla="*/ 22 w 23"/>
                <a:gd name="T3" fmla="*/ 28 h 29"/>
                <a:gd name="T4" fmla="*/ 15 w 23"/>
                <a:gd name="T5" fmla="*/ 28 h 29"/>
                <a:gd name="T6" fmla="*/ 7 w 23"/>
                <a:gd name="T7" fmla="*/ 21 h 29"/>
                <a:gd name="T8" fmla="*/ 7 w 23"/>
                <a:gd name="T9" fmla="*/ 14 h 29"/>
                <a:gd name="T10" fmla="*/ 0 w 23"/>
                <a:gd name="T11" fmla="*/ 7 h 29"/>
                <a:gd name="T12" fmla="*/ 0 w 23"/>
                <a:gd name="T13" fmla="*/ 0 h 2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" h="29">
                  <a:moveTo>
                    <a:pt x="22" y="28"/>
                  </a:moveTo>
                  <a:lnTo>
                    <a:pt x="22" y="28"/>
                  </a:lnTo>
                  <a:lnTo>
                    <a:pt x="15" y="28"/>
                  </a:lnTo>
                  <a:lnTo>
                    <a:pt x="7" y="21"/>
                  </a:lnTo>
                  <a:lnTo>
                    <a:pt x="7" y="14"/>
                  </a:lnTo>
                  <a:lnTo>
                    <a:pt x="0" y="7"/>
                  </a:lnTo>
                  <a:lnTo>
                    <a:pt x="0" y="0"/>
                  </a:lnTo>
                </a:path>
              </a:pathLst>
            </a:custGeom>
            <a:solidFill>
              <a:srgbClr val="00AE00"/>
            </a:solidFill>
            <a:ln w="12700" cap="rnd" cmpd="sng">
              <a:solidFill>
                <a:srgbClr val="00AE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220" name="Line 37"/>
            <p:cNvSpPr>
              <a:spLocks noChangeShapeType="1"/>
            </p:cNvSpPr>
            <p:nvPr/>
          </p:nvSpPr>
          <p:spPr bwMode="auto">
            <a:xfrm flipH="1">
              <a:off x="2121" y="2060"/>
              <a:ext cx="51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8221" name="Freeform 38"/>
            <p:cNvSpPr>
              <a:spLocks/>
            </p:cNvSpPr>
            <p:nvPr/>
          </p:nvSpPr>
          <p:spPr bwMode="auto">
            <a:xfrm>
              <a:off x="1750" y="1966"/>
              <a:ext cx="419" cy="95"/>
            </a:xfrm>
            <a:custGeom>
              <a:avLst/>
              <a:gdLst>
                <a:gd name="T0" fmla="*/ 418 w 419"/>
                <a:gd name="T1" fmla="*/ 94 h 95"/>
                <a:gd name="T2" fmla="*/ 375 w 419"/>
                <a:gd name="T3" fmla="*/ 94 h 95"/>
                <a:gd name="T4" fmla="*/ 375 w 419"/>
                <a:gd name="T5" fmla="*/ 58 h 95"/>
                <a:gd name="T6" fmla="*/ 375 w 419"/>
                <a:gd name="T7" fmla="*/ 29 h 95"/>
                <a:gd name="T8" fmla="*/ 224 w 419"/>
                <a:gd name="T9" fmla="*/ 29 h 95"/>
                <a:gd name="T10" fmla="*/ 224 w 419"/>
                <a:gd name="T11" fmla="*/ 94 h 95"/>
                <a:gd name="T12" fmla="*/ 0 w 419"/>
                <a:gd name="T13" fmla="*/ 94 h 95"/>
                <a:gd name="T14" fmla="*/ 0 w 419"/>
                <a:gd name="T15" fmla="*/ 58 h 95"/>
                <a:gd name="T16" fmla="*/ 202 w 419"/>
                <a:gd name="T17" fmla="*/ 58 h 95"/>
                <a:gd name="T18" fmla="*/ 202 w 419"/>
                <a:gd name="T19" fmla="*/ 0 h 95"/>
                <a:gd name="T20" fmla="*/ 397 w 419"/>
                <a:gd name="T21" fmla="*/ 0 h 95"/>
                <a:gd name="T22" fmla="*/ 397 w 419"/>
                <a:gd name="T23" fmla="*/ 58 h 95"/>
                <a:gd name="T24" fmla="*/ 418 w 419"/>
                <a:gd name="T25" fmla="*/ 58 h 95"/>
                <a:gd name="T26" fmla="*/ 418 w 419"/>
                <a:gd name="T27" fmla="*/ 94 h 95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419" h="95">
                  <a:moveTo>
                    <a:pt x="418" y="94"/>
                  </a:moveTo>
                  <a:lnTo>
                    <a:pt x="375" y="94"/>
                  </a:lnTo>
                  <a:lnTo>
                    <a:pt x="375" y="58"/>
                  </a:lnTo>
                  <a:lnTo>
                    <a:pt x="375" y="29"/>
                  </a:lnTo>
                  <a:lnTo>
                    <a:pt x="224" y="29"/>
                  </a:lnTo>
                  <a:lnTo>
                    <a:pt x="224" y="94"/>
                  </a:lnTo>
                  <a:lnTo>
                    <a:pt x="0" y="94"/>
                  </a:lnTo>
                  <a:lnTo>
                    <a:pt x="0" y="58"/>
                  </a:lnTo>
                  <a:lnTo>
                    <a:pt x="202" y="58"/>
                  </a:lnTo>
                  <a:lnTo>
                    <a:pt x="202" y="0"/>
                  </a:lnTo>
                  <a:lnTo>
                    <a:pt x="397" y="0"/>
                  </a:lnTo>
                  <a:lnTo>
                    <a:pt x="397" y="58"/>
                  </a:lnTo>
                  <a:lnTo>
                    <a:pt x="418" y="58"/>
                  </a:lnTo>
                  <a:lnTo>
                    <a:pt x="418" y="94"/>
                  </a:lnTo>
                </a:path>
              </a:pathLst>
            </a:custGeom>
            <a:solidFill>
              <a:srgbClr val="FAFD00"/>
            </a:solidFill>
            <a:ln w="12700" cap="rnd" cmpd="sng">
              <a:solidFill>
                <a:srgbClr val="FAFD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222" name="Rectangle 39"/>
            <p:cNvSpPr>
              <a:spLocks noChangeArrowheads="1"/>
            </p:cNvSpPr>
            <p:nvPr/>
          </p:nvSpPr>
          <p:spPr bwMode="auto">
            <a:xfrm>
              <a:off x="2237" y="2028"/>
              <a:ext cx="520" cy="29"/>
            </a:xfrm>
            <a:prstGeom prst="rect">
              <a:avLst/>
            </a:prstGeom>
            <a:solidFill>
              <a:srgbClr val="FAFD00"/>
            </a:solidFill>
            <a:ln w="12700">
              <a:solidFill>
                <a:srgbClr val="FAFD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 dirty="0"/>
            </a:p>
          </p:txBody>
        </p:sp>
        <p:sp>
          <p:nvSpPr>
            <p:cNvPr id="8223" name="Line 40"/>
            <p:cNvSpPr>
              <a:spLocks noChangeShapeType="1"/>
            </p:cNvSpPr>
            <p:nvPr/>
          </p:nvSpPr>
          <p:spPr bwMode="auto">
            <a:xfrm>
              <a:off x="2417" y="2064"/>
              <a:ext cx="165" cy="48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8224" name="Line 41"/>
            <p:cNvSpPr>
              <a:spLocks noChangeShapeType="1"/>
            </p:cNvSpPr>
            <p:nvPr/>
          </p:nvSpPr>
          <p:spPr bwMode="auto">
            <a:xfrm>
              <a:off x="2417" y="2060"/>
              <a:ext cx="627" cy="0"/>
            </a:xfrm>
            <a:prstGeom prst="line">
              <a:avLst/>
            </a:prstGeom>
            <a:noFill/>
            <a:ln w="12700">
              <a:solidFill>
                <a:srgbClr val="FAFD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8225" name="Line 42"/>
            <p:cNvSpPr>
              <a:spLocks noChangeShapeType="1"/>
            </p:cNvSpPr>
            <p:nvPr/>
          </p:nvSpPr>
          <p:spPr bwMode="auto">
            <a:xfrm flipH="1">
              <a:off x="1883" y="2064"/>
              <a:ext cx="181" cy="48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8226" name="Line 43"/>
            <p:cNvSpPr>
              <a:spLocks noChangeShapeType="1"/>
            </p:cNvSpPr>
            <p:nvPr/>
          </p:nvSpPr>
          <p:spPr bwMode="auto">
            <a:xfrm flipH="1">
              <a:off x="1703" y="2060"/>
              <a:ext cx="361" cy="0"/>
            </a:xfrm>
            <a:prstGeom prst="line">
              <a:avLst/>
            </a:prstGeom>
            <a:noFill/>
            <a:ln w="127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8227" name="Rectangle 44" descr="Small grid"/>
            <p:cNvSpPr>
              <a:spLocks noChangeArrowheads="1"/>
            </p:cNvSpPr>
            <p:nvPr/>
          </p:nvSpPr>
          <p:spPr bwMode="auto">
            <a:xfrm>
              <a:off x="911" y="2064"/>
              <a:ext cx="498" cy="144"/>
            </a:xfrm>
            <a:prstGeom prst="rect">
              <a:avLst/>
            </a:prstGeom>
            <a:pattFill prst="smGrid">
              <a:fgClr>
                <a:srgbClr val="414141"/>
              </a:fgClr>
              <a:bgClr>
                <a:schemeClr val="tx1"/>
              </a:bgClr>
            </a:patt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 dirty="0"/>
            </a:p>
          </p:txBody>
        </p:sp>
        <p:sp>
          <p:nvSpPr>
            <p:cNvPr id="8228" name="Rectangle 45" descr="Dark upward diagonal"/>
            <p:cNvSpPr>
              <a:spLocks noChangeArrowheads="1"/>
            </p:cNvSpPr>
            <p:nvPr/>
          </p:nvSpPr>
          <p:spPr bwMode="auto">
            <a:xfrm>
              <a:off x="803" y="2150"/>
              <a:ext cx="721" cy="397"/>
            </a:xfrm>
            <a:prstGeom prst="rect">
              <a:avLst/>
            </a:prstGeom>
            <a:pattFill prst="dkUpDiag">
              <a:fgClr>
                <a:srgbClr val="DC0081"/>
              </a:fgClr>
              <a:bgClr>
                <a:schemeClr val="tx1"/>
              </a:bgClr>
            </a:patt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 dirty="0"/>
            </a:p>
          </p:txBody>
        </p:sp>
        <p:sp>
          <p:nvSpPr>
            <p:cNvPr id="8229" name="Rectangle 46"/>
            <p:cNvSpPr>
              <a:spLocks noChangeArrowheads="1"/>
            </p:cNvSpPr>
            <p:nvPr/>
          </p:nvSpPr>
          <p:spPr bwMode="auto">
            <a:xfrm>
              <a:off x="774" y="2554"/>
              <a:ext cx="173" cy="29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 dirty="0"/>
            </a:p>
          </p:txBody>
        </p:sp>
        <p:sp>
          <p:nvSpPr>
            <p:cNvPr id="8230" name="Rectangle 47"/>
            <p:cNvSpPr>
              <a:spLocks noChangeArrowheads="1"/>
            </p:cNvSpPr>
            <p:nvPr/>
          </p:nvSpPr>
          <p:spPr bwMode="auto">
            <a:xfrm>
              <a:off x="1480" y="2028"/>
              <a:ext cx="267" cy="29"/>
            </a:xfrm>
            <a:prstGeom prst="rect">
              <a:avLst/>
            </a:prstGeom>
            <a:solidFill>
              <a:srgbClr val="FAFD00"/>
            </a:solidFill>
            <a:ln w="12700">
              <a:solidFill>
                <a:srgbClr val="FAFD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 dirty="0"/>
            </a:p>
          </p:txBody>
        </p:sp>
        <p:sp>
          <p:nvSpPr>
            <p:cNvPr id="8231" name="Line 48"/>
            <p:cNvSpPr>
              <a:spLocks noChangeShapeType="1"/>
            </p:cNvSpPr>
            <p:nvPr/>
          </p:nvSpPr>
          <p:spPr bwMode="auto">
            <a:xfrm>
              <a:off x="1397" y="2024"/>
              <a:ext cx="0" cy="21"/>
            </a:xfrm>
            <a:prstGeom prst="line">
              <a:avLst/>
            </a:prstGeom>
            <a:noFill/>
            <a:ln w="76200">
              <a:solidFill>
                <a:srgbClr val="FAFD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8232" name="Line 49"/>
            <p:cNvSpPr>
              <a:spLocks noChangeShapeType="1"/>
            </p:cNvSpPr>
            <p:nvPr/>
          </p:nvSpPr>
          <p:spPr bwMode="auto">
            <a:xfrm flipV="1">
              <a:off x="1318" y="1985"/>
              <a:ext cx="0" cy="120"/>
            </a:xfrm>
            <a:prstGeom prst="line">
              <a:avLst/>
            </a:prstGeom>
            <a:noFill/>
            <a:ln w="76200">
              <a:solidFill>
                <a:srgbClr val="FAFD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8233" name="Rectangle 50"/>
            <p:cNvSpPr>
              <a:spLocks noChangeArrowheads="1"/>
            </p:cNvSpPr>
            <p:nvPr/>
          </p:nvSpPr>
          <p:spPr bwMode="auto">
            <a:xfrm>
              <a:off x="1098" y="2028"/>
              <a:ext cx="145" cy="29"/>
            </a:xfrm>
            <a:prstGeom prst="rect">
              <a:avLst/>
            </a:prstGeom>
            <a:solidFill>
              <a:srgbClr val="FAFD00"/>
            </a:solidFill>
            <a:ln w="12700">
              <a:solidFill>
                <a:srgbClr val="FAFD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 dirty="0"/>
            </a:p>
          </p:txBody>
        </p:sp>
        <p:sp>
          <p:nvSpPr>
            <p:cNvPr id="8234" name="Line 51"/>
            <p:cNvSpPr>
              <a:spLocks noChangeShapeType="1"/>
            </p:cNvSpPr>
            <p:nvPr/>
          </p:nvSpPr>
          <p:spPr bwMode="auto">
            <a:xfrm flipV="1">
              <a:off x="1029" y="1985"/>
              <a:ext cx="0" cy="120"/>
            </a:xfrm>
            <a:prstGeom prst="line">
              <a:avLst/>
            </a:prstGeom>
            <a:noFill/>
            <a:ln w="76200">
              <a:solidFill>
                <a:srgbClr val="FAFD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8235" name="Line 52"/>
            <p:cNvSpPr>
              <a:spLocks noChangeShapeType="1"/>
            </p:cNvSpPr>
            <p:nvPr/>
          </p:nvSpPr>
          <p:spPr bwMode="auto">
            <a:xfrm flipV="1">
              <a:off x="856" y="1985"/>
              <a:ext cx="0" cy="120"/>
            </a:xfrm>
            <a:prstGeom prst="line">
              <a:avLst/>
            </a:prstGeom>
            <a:noFill/>
            <a:ln w="76200">
              <a:solidFill>
                <a:srgbClr val="FAFD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8236" name="Line 53"/>
            <p:cNvSpPr>
              <a:spLocks noChangeShapeType="1"/>
            </p:cNvSpPr>
            <p:nvPr/>
          </p:nvSpPr>
          <p:spPr bwMode="auto">
            <a:xfrm flipV="1">
              <a:off x="943" y="1985"/>
              <a:ext cx="0" cy="120"/>
            </a:xfrm>
            <a:prstGeom prst="line">
              <a:avLst/>
            </a:prstGeom>
            <a:noFill/>
            <a:ln w="76200">
              <a:solidFill>
                <a:srgbClr val="FAFD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8237" name="Freeform 54" descr="20%"/>
            <p:cNvSpPr>
              <a:spLocks/>
            </p:cNvSpPr>
            <p:nvPr/>
          </p:nvSpPr>
          <p:spPr bwMode="auto">
            <a:xfrm>
              <a:off x="1224" y="2060"/>
              <a:ext cx="478" cy="485"/>
            </a:xfrm>
            <a:custGeom>
              <a:avLst/>
              <a:gdLst>
                <a:gd name="T0" fmla="*/ 477 w 478"/>
                <a:gd name="T1" fmla="*/ 0 h 485"/>
                <a:gd name="T2" fmla="*/ 0 w 478"/>
                <a:gd name="T3" fmla="*/ 0 h 485"/>
                <a:gd name="T4" fmla="*/ 142 w 478"/>
                <a:gd name="T5" fmla="*/ 484 h 485"/>
                <a:gd name="T6" fmla="*/ 477 w 478"/>
                <a:gd name="T7" fmla="*/ 484 h 485"/>
                <a:gd name="T8" fmla="*/ 477 w 478"/>
                <a:gd name="T9" fmla="*/ 0 h 48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78" h="485">
                  <a:moveTo>
                    <a:pt x="477" y="0"/>
                  </a:moveTo>
                  <a:lnTo>
                    <a:pt x="0" y="0"/>
                  </a:lnTo>
                  <a:lnTo>
                    <a:pt x="142" y="484"/>
                  </a:lnTo>
                  <a:lnTo>
                    <a:pt x="477" y="484"/>
                  </a:lnTo>
                  <a:lnTo>
                    <a:pt x="477" y="0"/>
                  </a:lnTo>
                </a:path>
              </a:pathLst>
            </a:custGeom>
            <a:pattFill prst="pct20">
              <a:fgClr>
                <a:schemeClr val="accent1"/>
              </a:fgClr>
              <a:bgClr>
                <a:schemeClr val="tx1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rnd" cmpd="sng">
                  <a:solidFill>
                    <a:schemeClr val="folHlink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238" name="Freeform 55" descr="20%"/>
            <p:cNvSpPr>
              <a:spLocks/>
            </p:cNvSpPr>
            <p:nvPr/>
          </p:nvSpPr>
          <p:spPr bwMode="auto">
            <a:xfrm>
              <a:off x="770" y="2060"/>
              <a:ext cx="347" cy="491"/>
            </a:xfrm>
            <a:custGeom>
              <a:avLst/>
              <a:gdLst>
                <a:gd name="T0" fmla="*/ 0 w 347"/>
                <a:gd name="T1" fmla="*/ 0 h 491"/>
                <a:gd name="T2" fmla="*/ 346 w 347"/>
                <a:gd name="T3" fmla="*/ 0 h 491"/>
                <a:gd name="T4" fmla="*/ 194 w 347"/>
                <a:gd name="T5" fmla="*/ 490 h 491"/>
                <a:gd name="T6" fmla="*/ 0 w 347"/>
                <a:gd name="T7" fmla="*/ 490 h 491"/>
                <a:gd name="T8" fmla="*/ 0 w 347"/>
                <a:gd name="T9" fmla="*/ 0 h 49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7" h="491">
                  <a:moveTo>
                    <a:pt x="0" y="0"/>
                  </a:moveTo>
                  <a:lnTo>
                    <a:pt x="346" y="0"/>
                  </a:lnTo>
                  <a:lnTo>
                    <a:pt x="194" y="490"/>
                  </a:lnTo>
                  <a:lnTo>
                    <a:pt x="0" y="490"/>
                  </a:lnTo>
                  <a:lnTo>
                    <a:pt x="0" y="0"/>
                  </a:lnTo>
                </a:path>
              </a:pathLst>
            </a:custGeom>
            <a:pattFill prst="pct20">
              <a:fgClr>
                <a:schemeClr val="accent1"/>
              </a:fgClr>
              <a:bgClr>
                <a:schemeClr val="tx1"/>
              </a:bgClr>
            </a:pattFill>
            <a:ln w="12700" cap="rnd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239" name="Line 56"/>
            <p:cNvSpPr>
              <a:spLocks noChangeShapeType="1"/>
            </p:cNvSpPr>
            <p:nvPr/>
          </p:nvSpPr>
          <p:spPr bwMode="auto">
            <a:xfrm>
              <a:off x="1206" y="2060"/>
              <a:ext cx="519" cy="0"/>
            </a:xfrm>
            <a:prstGeom prst="line">
              <a:avLst/>
            </a:prstGeom>
            <a:noFill/>
            <a:ln w="127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8240" name="Freeform 57"/>
            <p:cNvSpPr>
              <a:spLocks/>
            </p:cNvSpPr>
            <p:nvPr/>
          </p:nvSpPr>
          <p:spPr bwMode="auto">
            <a:xfrm>
              <a:off x="1224" y="2060"/>
              <a:ext cx="160" cy="491"/>
            </a:xfrm>
            <a:custGeom>
              <a:avLst/>
              <a:gdLst>
                <a:gd name="T0" fmla="*/ 0 w 160"/>
                <a:gd name="T1" fmla="*/ 0 h 491"/>
                <a:gd name="T2" fmla="*/ 22 w 160"/>
                <a:gd name="T3" fmla="*/ 0 h 491"/>
                <a:gd name="T4" fmla="*/ 159 w 160"/>
                <a:gd name="T5" fmla="*/ 490 h 491"/>
                <a:gd name="T6" fmla="*/ 137 w 160"/>
                <a:gd name="T7" fmla="*/ 490 h 491"/>
                <a:gd name="T8" fmla="*/ 0 w 160"/>
                <a:gd name="T9" fmla="*/ 0 h 49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0" h="491">
                  <a:moveTo>
                    <a:pt x="0" y="0"/>
                  </a:moveTo>
                  <a:lnTo>
                    <a:pt x="22" y="0"/>
                  </a:lnTo>
                  <a:lnTo>
                    <a:pt x="159" y="490"/>
                  </a:lnTo>
                  <a:lnTo>
                    <a:pt x="137" y="490"/>
                  </a:lnTo>
                  <a:lnTo>
                    <a:pt x="0" y="0"/>
                  </a:lnTo>
                </a:path>
              </a:pathLst>
            </a:custGeom>
            <a:solidFill>
              <a:srgbClr val="FC0128"/>
            </a:solidFill>
            <a:ln w="12700" cap="rnd" cmpd="sng">
              <a:solidFill>
                <a:srgbClr val="FC0128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241" name="Rectangle 58" descr="Small grid"/>
            <p:cNvSpPr>
              <a:spLocks noChangeArrowheads="1"/>
            </p:cNvSpPr>
            <p:nvPr/>
          </p:nvSpPr>
          <p:spPr bwMode="auto">
            <a:xfrm>
              <a:off x="4047" y="2064"/>
              <a:ext cx="663" cy="144"/>
            </a:xfrm>
            <a:prstGeom prst="rect">
              <a:avLst/>
            </a:prstGeom>
            <a:pattFill prst="smGrid">
              <a:fgClr>
                <a:srgbClr val="414141"/>
              </a:fgClr>
              <a:bgClr>
                <a:schemeClr val="tx1"/>
              </a:bgClr>
            </a:patt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 dirty="0"/>
            </a:p>
          </p:txBody>
        </p:sp>
        <p:sp>
          <p:nvSpPr>
            <p:cNvPr id="8242" name="Rectangle 59" descr="Dark upward diagonal"/>
            <p:cNvSpPr>
              <a:spLocks noChangeArrowheads="1"/>
            </p:cNvSpPr>
            <p:nvPr/>
          </p:nvSpPr>
          <p:spPr bwMode="auto">
            <a:xfrm>
              <a:off x="3939" y="2150"/>
              <a:ext cx="836" cy="397"/>
            </a:xfrm>
            <a:prstGeom prst="rect">
              <a:avLst/>
            </a:prstGeom>
            <a:pattFill prst="dkUpDiag">
              <a:fgClr>
                <a:srgbClr val="DC0081"/>
              </a:fgClr>
              <a:bgClr>
                <a:schemeClr val="tx1"/>
              </a:bgClr>
            </a:patt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 dirty="0"/>
            </a:p>
          </p:txBody>
        </p:sp>
        <p:sp>
          <p:nvSpPr>
            <p:cNvPr id="8243" name="Rectangle 60"/>
            <p:cNvSpPr>
              <a:spLocks noChangeArrowheads="1"/>
            </p:cNvSpPr>
            <p:nvPr/>
          </p:nvSpPr>
          <p:spPr bwMode="auto">
            <a:xfrm>
              <a:off x="3823" y="2554"/>
              <a:ext cx="1284" cy="29"/>
            </a:xfrm>
            <a:prstGeom prst="rect">
              <a:avLst/>
            </a:prstGeom>
            <a:solidFill>
              <a:srgbClr val="FAFD00"/>
            </a:solidFill>
            <a:ln w="12700">
              <a:solidFill>
                <a:srgbClr val="FAFD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 dirty="0"/>
            </a:p>
          </p:txBody>
        </p:sp>
        <p:sp>
          <p:nvSpPr>
            <p:cNvPr id="8244" name="Freeform 61" descr="20%"/>
            <p:cNvSpPr>
              <a:spLocks/>
            </p:cNvSpPr>
            <p:nvPr/>
          </p:nvSpPr>
          <p:spPr bwMode="auto">
            <a:xfrm>
              <a:off x="4627" y="2060"/>
              <a:ext cx="484" cy="491"/>
            </a:xfrm>
            <a:custGeom>
              <a:avLst/>
              <a:gdLst>
                <a:gd name="T0" fmla="*/ 483 w 484"/>
                <a:gd name="T1" fmla="*/ 0 h 491"/>
                <a:gd name="T2" fmla="*/ 0 w 484"/>
                <a:gd name="T3" fmla="*/ 0 h 491"/>
                <a:gd name="T4" fmla="*/ 137 w 484"/>
                <a:gd name="T5" fmla="*/ 490 h 491"/>
                <a:gd name="T6" fmla="*/ 483 w 484"/>
                <a:gd name="T7" fmla="*/ 490 h 491"/>
                <a:gd name="T8" fmla="*/ 483 w 484"/>
                <a:gd name="T9" fmla="*/ 0 h 49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84" h="491">
                  <a:moveTo>
                    <a:pt x="483" y="0"/>
                  </a:moveTo>
                  <a:lnTo>
                    <a:pt x="0" y="0"/>
                  </a:lnTo>
                  <a:lnTo>
                    <a:pt x="137" y="490"/>
                  </a:lnTo>
                  <a:lnTo>
                    <a:pt x="483" y="490"/>
                  </a:lnTo>
                  <a:lnTo>
                    <a:pt x="483" y="0"/>
                  </a:lnTo>
                </a:path>
              </a:pathLst>
            </a:custGeom>
            <a:pattFill prst="pct20">
              <a:fgClr>
                <a:schemeClr val="accent1"/>
              </a:fgClr>
              <a:bgClr>
                <a:schemeClr val="tx1"/>
              </a:bgClr>
            </a:pattFill>
            <a:ln w="12700" cap="rnd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245" name="Freeform 62" descr="20%"/>
            <p:cNvSpPr>
              <a:spLocks/>
            </p:cNvSpPr>
            <p:nvPr/>
          </p:nvSpPr>
          <p:spPr bwMode="auto">
            <a:xfrm>
              <a:off x="3790" y="2060"/>
              <a:ext cx="262" cy="485"/>
            </a:xfrm>
            <a:custGeom>
              <a:avLst/>
              <a:gdLst>
                <a:gd name="T0" fmla="*/ 0 w 262"/>
                <a:gd name="T1" fmla="*/ 0 h 485"/>
                <a:gd name="T2" fmla="*/ 261 w 262"/>
                <a:gd name="T3" fmla="*/ 0 h 485"/>
                <a:gd name="T4" fmla="*/ 134 w 262"/>
                <a:gd name="T5" fmla="*/ 484 h 485"/>
                <a:gd name="T6" fmla="*/ 0 w 262"/>
                <a:gd name="T7" fmla="*/ 484 h 485"/>
                <a:gd name="T8" fmla="*/ 0 w 262"/>
                <a:gd name="T9" fmla="*/ 0 h 48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2" h="485">
                  <a:moveTo>
                    <a:pt x="0" y="0"/>
                  </a:moveTo>
                  <a:lnTo>
                    <a:pt x="261" y="0"/>
                  </a:lnTo>
                  <a:lnTo>
                    <a:pt x="134" y="484"/>
                  </a:lnTo>
                  <a:lnTo>
                    <a:pt x="0" y="484"/>
                  </a:lnTo>
                  <a:lnTo>
                    <a:pt x="0" y="0"/>
                  </a:lnTo>
                </a:path>
              </a:pathLst>
            </a:custGeom>
            <a:pattFill prst="pct20">
              <a:fgClr>
                <a:schemeClr val="accent1"/>
              </a:fgClr>
              <a:bgClr>
                <a:schemeClr val="tx1"/>
              </a:bgClr>
            </a:pattFill>
            <a:ln w="12700" cap="rnd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246" name="Line 63"/>
            <p:cNvSpPr>
              <a:spLocks noChangeShapeType="1"/>
            </p:cNvSpPr>
            <p:nvPr/>
          </p:nvSpPr>
          <p:spPr bwMode="auto">
            <a:xfrm>
              <a:off x="4234" y="2060"/>
              <a:ext cx="742" cy="0"/>
            </a:xfrm>
            <a:prstGeom prst="line">
              <a:avLst/>
            </a:prstGeom>
            <a:noFill/>
            <a:ln w="127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8247" name="Rectangle 64" descr="Large confetti"/>
            <p:cNvSpPr>
              <a:spLocks noChangeArrowheads="1"/>
            </p:cNvSpPr>
            <p:nvPr/>
          </p:nvSpPr>
          <p:spPr bwMode="auto">
            <a:xfrm>
              <a:off x="4083" y="2028"/>
              <a:ext cx="519" cy="29"/>
            </a:xfrm>
            <a:prstGeom prst="rect">
              <a:avLst/>
            </a:prstGeom>
            <a:pattFill prst="lgConfetti">
              <a:fgClr>
                <a:srgbClr val="EF9100"/>
              </a:fgClr>
              <a:bgClr>
                <a:schemeClr val="tx1"/>
              </a:bgClr>
            </a:pattFill>
            <a:ln w="12700">
              <a:solidFill>
                <a:srgbClr val="EF91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 dirty="0"/>
            </a:p>
          </p:txBody>
        </p:sp>
        <p:sp>
          <p:nvSpPr>
            <p:cNvPr id="8248" name="Freeform 65"/>
            <p:cNvSpPr>
              <a:spLocks/>
            </p:cNvSpPr>
            <p:nvPr/>
          </p:nvSpPr>
          <p:spPr bwMode="auto">
            <a:xfrm>
              <a:off x="3790" y="1901"/>
              <a:ext cx="355" cy="160"/>
            </a:xfrm>
            <a:custGeom>
              <a:avLst/>
              <a:gdLst>
                <a:gd name="T0" fmla="*/ 354 w 355"/>
                <a:gd name="T1" fmla="*/ 123 h 160"/>
                <a:gd name="T2" fmla="*/ 354 w 355"/>
                <a:gd name="T3" fmla="*/ 123 h 160"/>
                <a:gd name="T4" fmla="*/ 310 w 355"/>
                <a:gd name="T5" fmla="*/ 123 h 160"/>
                <a:gd name="T6" fmla="*/ 310 w 355"/>
                <a:gd name="T7" fmla="*/ 29 h 160"/>
                <a:gd name="T8" fmla="*/ 181 w 355"/>
                <a:gd name="T9" fmla="*/ 29 h 160"/>
                <a:gd name="T10" fmla="*/ 181 w 355"/>
                <a:gd name="T11" fmla="*/ 159 h 160"/>
                <a:gd name="T12" fmla="*/ 0 w 355"/>
                <a:gd name="T13" fmla="*/ 159 h 160"/>
                <a:gd name="T14" fmla="*/ 0 w 355"/>
                <a:gd name="T15" fmla="*/ 123 h 160"/>
                <a:gd name="T16" fmla="*/ 159 w 355"/>
                <a:gd name="T17" fmla="*/ 123 h 160"/>
                <a:gd name="T18" fmla="*/ 159 w 355"/>
                <a:gd name="T19" fmla="*/ 0 h 160"/>
                <a:gd name="T20" fmla="*/ 332 w 355"/>
                <a:gd name="T21" fmla="*/ 0 h 160"/>
                <a:gd name="T22" fmla="*/ 332 w 355"/>
                <a:gd name="T23" fmla="*/ 65 h 160"/>
                <a:gd name="T24" fmla="*/ 354 w 355"/>
                <a:gd name="T25" fmla="*/ 65 h 160"/>
                <a:gd name="T26" fmla="*/ 354 w 355"/>
                <a:gd name="T27" fmla="*/ 123 h 16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355" h="160">
                  <a:moveTo>
                    <a:pt x="354" y="123"/>
                  </a:moveTo>
                  <a:lnTo>
                    <a:pt x="354" y="123"/>
                  </a:lnTo>
                  <a:lnTo>
                    <a:pt x="310" y="123"/>
                  </a:lnTo>
                  <a:lnTo>
                    <a:pt x="310" y="29"/>
                  </a:lnTo>
                  <a:lnTo>
                    <a:pt x="181" y="29"/>
                  </a:lnTo>
                  <a:lnTo>
                    <a:pt x="181" y="159"/>
                  </a:lnTo>
                  <a:lnTo>
                    <a:pt x="0" y="159"/>
                  </a:lnTo>
                  <a:lnTo>
                    <a:pt x="0" y="123"/>
                  </a:lnTo>
                  <a:lnTo>
                    <a:pt x="159" y="123"/>
                  </a:lnTo>
                  <a:lnTo>
                    <a:pt x="159" y="0"/>
                  </a:lnTo>
                  <a:lnTo>
                    <a:pt x="332" y="0"/>
                  </a:lnTo>
                  <a:lnTo>
                    <a:pt x="332" y="65"/>
                  </a:lnTo>
                  <a:lnTo>
                    <a:pt x="354" y="65"/>
                  </a:lnTo>
                  <a:lnTo>
                    <a:pt x="354" y="123"/>
                  </a:lnTo>
                </a:path>
              </a:pathLst>
            </a:custGeom>
            <a:solidFill>
              <a:srgbClr val="FAFD00"/>
            </a:solidFill>
            <a:ln w="12700" cap="rnd" cmpd="sng">
              <a:solidFill>
                <a:srgbClr val="FAFD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249" name="Rectangle 66" descr="70%"/>
            <p:cNvSpPr>
              <a:spLocks noChangeArrowheads="1"/>
            </p:cNvSpPr>
            <p:nvPr/>
          </p:nvSpPr>
          <p:spPr bwMode="auto">
            <a:xfrm>
              <a:off x="4144" y="1995"/>
              <a:ext cx="152" cy="30"/>
            </a:xfrm>
            <a:prstGeom prst="rect">
              <a:avLst/>
            </a:prstGeom>
            <a:pattFill prst="pct70">
              <a:fgClr>
                <a:srgbClr val="919191"/>
              </a:fgClr>
              <a:bgClr>
                <a:schemeClr val="tx1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 dirty="0"/>
            </a:p>
          </p:txBody>
        </p:sp>
        <p:sp>
          <p:nvSpPr>
            <p:cNvPr id="8250" name="Freeform 67"/>
            <p:cNvSpPr>
              <a:spLocks/>
            </p:cNvSpPr>
            <p:nvPr/>
          </p:nvSpPr>
          <p:spPr bwMode="auto">
            <a:xfrm>
              <a:off x="4274" y="1966"/>
              <a:ext cx="116" cy="59"/>
            </a:xfrm>
            <a:custGeom>
              <a:avLst/>
              <a:gdLst>
                <a:gd name="T0" fmla="*/ 0 w 116"/>
                <a:gd name="T1" fmla="*/ 29 h 59"/>
                <a:gd name="T2" fmla="*/ 21 w 116"/>
                <a:gd name="T3" fmla="*/ 29 h 59"/>
                <a:gd name="T4" fmla="*/ 21 w 116"/>
                <a:gd name="T5" fmla="*/ 58 h 59"/>
                <a:gd name="T6" fmla="*/ 115 w 116"/>
                <a:gd name="T7" fmla="*/ 58 h 59"/>
                <a:gd name="T8" fmla="*/ 115 w 116"/>
                <a:gd name="T9" fmla="*/ 29 h 59"/>
                <a:gd name="T10" fmla="*/ 43 w 116"/>
                <a:gd name="T11" fmla="*/ 29 h 59"/>
                <a:gd name="T12" fmla="*/ 43 w 116"/>
                <a:gd name="T13" fmla="*/ 0 h 59"/>
                <a:gd name="T14" fmla="*/ 0 w 116"/>
                <a:gd name="T15" fmla="*/ 0 h 59"/>
                <a:gd name="T16" fmla="*/ 0 w 116"/>
                <a:gd name="T17" fmla="*/ 29 h 5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16" h="59">
                  <a:moveTo>
                    <a:pt x="0" y="29"/>
                  </a:moveTo>
                  <a:lnTo>
                    <a:pt x="21" y="29"/>
                  </a:lnTo>
                  <a:lnTo>
                    <a:pt x="21" y="58"/>
                  </a:lnTo>
                  <a:lnTo>
                    <a:pt x="115" y="58"/>
                  </a:lnTo>
                  <a:lnTo>
                    <a:pt x="115" y="29"/>
                  </a:lnTo>
                  <a:lnTo>
                    <a:pt x="43" y="29"/>
                  </a:lnTo>
                  <a:lnTo>
                    <a:pt x="43" y="0"/>
                  </a:lnTo>
                  <a:lnTo>
                    <a:pt x="0" y="0"/>
                  </a:lnTo>
                  <a:lnTo>
                    <a:pt x="0" y="29"/>
                  </a:lnTo>
                </a:path>
              </a:pathLst>
            </a:custGeom>
            <a:solidFill>
              <a:srgbClr val="FAFD00"/>
            </a:solidFill>
            <a:ln w="12700" cap="rnd" cmpd="sng">
              <a:solidFill>
                <a:srgbClr val="FAFD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251" name="Rectangle 68"/>
            <p:cNvSpPr>
              <a:spLocks noChangeArrowheads="1"/>
            </p:cNvSpPr>
            <p:nvPr/>
          </p:nvSpPr>
          <p:spPr bwMode="auto">
            <a:xfrm>
              <a:off x="4148" y="1970"/>
              <a:ext cx="15" cy="22"/>
            </a:xfrm>
            <a:prstGeom prst="rect">
              <a:avLst/>
            </a:prstGeom>
            <a:solidFill>
              <a:srgbClr val="FAFD00"/>
            </a:solidFill>
            <a:ln w="12700">
              <a:solidFill>
                <a:srgbClr val="FAFD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 dirty="0"/>
            </a:p>
          </p:txBody>
        </p:sp>
        <p:sp>
          <p:nvSpPr>
            <p:cNvPr id="8252" name="Rectangle 69"/>
            <p:cNvSpPr>
              <a:spLocks noChangeArrowheads="1"/>
            </p:cNvSpPr>
            <p:nvPr/>
          </p:nvSpPr>
          <p:spPr bwMode="auto">
            <a:xfrm>
              <a:off x="4393" y="2024"/>
              <a:ext cx="166" cy="1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 dirty="0"/>
            </a:p>
          </p:txBody>
        </p:sp>
        <p:sp>
          <p:nvSpPr>
            <p:cNvPr id="8253" name="Rectangle 70" descr="Large confetti"/>
            <p:cNvSpPr>
              <a:spLocks noChangeArrowheads="1"/>
            </p:cNvSpPr>
            <p:nvPr/>
          </p:nvSpPr>
          <p:spPr bwMode="auto">
            <a:xfrm>
              <a:off x="4393" y="1970"/>
              <a:ext cx="144" cy="22"/>
            </a:xfrm>
            <a:prstGeom prst="rect">
              <a:avLst/>
            </a:prstGeom>
            <a:pattFill prst="lgConfetti">
              <a:fgClr>
                <a:srgbClr val="EF9100"/>
              </a:fgClr>
              <a:bgClr>
                <a:schemeClr val="tx1"/>
              </a:bgClr>
            </a:pattFill>
            <a:ln w="12700">
              <a:solidFill>
                <a:srgbClr val="EF91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 dirty="0"/>
            </a:p>
          </p:txBody>
        </p:sp>
        <p:sp>
          <p:nvSpPr>
            <p:cNvPr id="8254" name="Freeform 71"/>
            <p:cNvSpPr>
              <a:spLocks/>
            </p:cNvSpPr>
            <p:nvPr/>
          </p:nvSpPr>
          <p:spPr bwMode="auto">
            <a:xfrm>
              <a:off x="4410" y="1901"/>
              <a:ext cx="528" cy="160"/>
            </a:xfrm>
            <a:custGeom>
              <a:avLst/>
              <a:gdLst>
                <a:gd name="T0" fmla="*/ 0 w 528"/>
                <a:gd name="T1" fmla="*/ 65 h 160"/>
                <a:gd name="T2" fmla="*/ 109 w 528"/>
                <a:gd name="T3" fmla="*/ 65 h 160"/>
                <a:gd name="T4" fmla="*/ 109 w 528"/>
                <a:gd name="T5" fmla="*/ 29 h 160"/>
                <a:gd name="T6" fmla="*/ 282 w 528"/>
                <a:gd name="T7" fmla="*/ 29 h 160"/>
                <a:gd name="T8" fmla="*/ 282 w 528"/>
                <a:gd name="T9" fmla="*/ 159 h 160"/>
                <a:gd name="T10" fmla="*/ 527 w 528"/>
                <a:gd name="T11" fmla="*/ 159 h 160"/>
                <a:gd name="T12" fmla="*/ 527 w 528"/>
                <a:gd name="T13" fmla="*/ 123 h 160"/>
                <a:gd name="T14" fmla="*/ 303 w 528"/>
                <a:gd name="T15" fmla="*/ 123 h 160"/>
                <a:gd name="T16" fmla="*/ 303 w 528"/>
                <a:gd name="T17" fmla="*/ 0 h 160"/>
                <a:gd name="T18" fmla="*/ 87 w 528"/>
                <a:gd name="T19" fmla="*/ 0 h 160"/>
                <a:gd name="T20" fmla="*/ 87 w 528"/>
                <a:gd name="T21" fmla="*/ 29 h 160"/>
                <a:gd name="T22" fmla="*/ 0 w 528"/>
                <a:gd name="T23" fmla="*/ 29 h 160"/>
                <a:gd name="T24" fmla="*/ 0 w 528"/>
                <a:gd name="T25" fmla="*/ 65 h 16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528" h="160">
                  <a:moveTo>
                    <a:pt x="0" y="65"/>
                  </a:moveTo>
                  <a:lnTo>
                    <a:pt x="109" y="65"/>
                  </a:lnTo>
                  <a:lnTo>
                    <a:pt x="109" y="29"/>
                  </a:lnTo>
                  <a:lnTo>
                    <a:pt x="282" y="29"/>
                  </a:lnTo>
                  <a:lnTo>
                    <a:pt x="282" y="159"/>
                  </a:lnTo>
                  <a:lnTo>
                    <a:pt x="527" y="159"/>
                  </a:lnTo>
                  <a:lnTo>
                    <a:pt x="527" y="123"/>
                  </a:lnTo>
                  <a:lnTo>
                    <a:pt x="303" y="123"/>
                  </a:lnTo>
                  <a:lnTo>
                    <a:pt x="303" y="0"/>
                  </a:lnTo>
                  <a:lnTo>
                    <a:pt x="87" y="0"/>
                  </a:lnTo>
                  <a:lnTo>
                    <a:pt x="87" y="29"/>
                  </a:lnTo>
                  <a:lnTo>
                    <a:pt x="0" y="29"/>
                  </a:lnTo>
                  <a:lnTo>
                    <a:pt x="0" y="65"/>
                  </a:lnTo>
                </a:path>
              </a:pathLst>
            </a:custGeom>
            <a:solidFill>
              <a:srgbClr val="FAFD00"/>
            </a:solidFill>
            <a:ln w="12700" cap="rnd" cmpd="sng">
              <a:solidFill>
                <a:srgbClr val="FAFD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255" name="Rectangle 72"/>
            <p:cNvSpPr>
              <a:spLocks noChangeArrowheads="1"/>
            </p:cNvSpPr>
            <p:nvPr/>
          </p:nvSpPr>
          <p:spPr bwMode="auto">
            <a:xfrm>
              <a:off x="3794" y="2554"/>
              <a:ext cx="181" cy="29"/>
            </a:xfrm>
            <a:prstGeom prst="rect">
              <a:avLst/>
            </a:prstGeom>
            <a:solidFill>
              <a:srgbClr val="FAFD00"/>
            </a:solidFill>
            <a:ln w="12700">
              <a:solidFill>
                <a:srgbClr val="FAFD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 dirty="0"/>
            </a:p>
          </p:txBody>
        </p:sp>
        <p:sp>
          <p:nvSpPr>
            <p:cNvPr id="8256" name="Rectangle 73"/>
            <p:cNvSpPr>
              <a:spLocks noChangeArrowheads="1"/>
            </p:cNvSpPr>
            <p:nvPr/>
          </p:nvSpPr>
          <p:spPr bwMode="auto">
            <a:xfrm>
              <a:off x="2742" y="2590"/>
              <a:ext cx="1096" cy="22"/>
            </a:xfrm>
            <a:prstGeom prst="rect">
              <a:avLst/>
            </a:prstGeom>
            <a:solidFill>
              <a:srgbClr val="FAFD00"/>
            </a:solidFill>
            <a:ln w="12700">
              <a:solidFill>
                <a:srgbClr val="FAFD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 dirty="0"/>
            </a:p>
          </p:txBody>
        </p:sp>
        <p:sp>
          <p:nvSpPr>
            <p:cNvPr id="8257" name="Freeform 74" descr="20%"/>
            <p:cNvSpPr>
              <a:spLocks/>
            </p:cNvSpPr>
            <p:nvPr/>
          </p:nvSpPr>
          <p:spPr bwMode="auto">
            <a:xfrm>
              <a:off x="3466" y="2060"/>
              <a:ext cx="341" cy="485"/>
            </a:xfrm>
            <a:custGeom>
              <a:avLst/>
              <a:gdLst>
                <a:gd name="T0" fmla="*/ 340 w 341"/>
                <a:gd name="T1" fmla="*/ 0 h 485"/>
                <a:gd name="T2" fmla="*/ 0 w 341"/>
                <a:gd name="T3" fmla="*/ 0 h 485"/>
                <a:gd name="T4" fmla="*/ 128 w 341"/>
                <a:gd name="T5" fmla="*/ 484 h 485"/>
                <a:gd name="T6" fmla="*/ 340 w 341"/>
                <a:gd name="T7" fmla="*/ 484 h 485"/>
                <a:gd name="T8" fmla="*/ 340 w 341"/>
                <a:gd name="T9" fmla="*/ 0 h 48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1" h="485">
                  <a:moveTo>
                    <a:pt x="340" y="0"/>
                  </a:moveTo>
                  <a:lnTo>
                    <a:pt x="0" y="0"/>
                  </a:lnTo>
                  <a:lnTo>
                    <a:pt x="128" y="484"/>
                  </a:lnTo>
                  <a:lnTo>
                    <a:pt x="340" y="484"/>
                  </a:lnTo>
                  <a:lnTo>
                    <a:pt x="340" y="0"/>
                  </a:lnTo>
                </a:path>
              </a:pathLst>
            </a:custGeom>
            <a:pattFill prst="pct20">
              <a:fgClr>
                <a:schemeClr val="accent1"/>
              </a:fgClr>
              <a:bgClr>
                <a:schemeClr val="tx1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rnd" cmpd="sng">
                  <a:solidFill>
                    <a:schemeClr val="folHlink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258" name="Freeform 75"/>
            <p:cNvSpPr>
              <a:spLocks/>
            </p:cNvSpPr>
            <p:nvPr/>
          </p:nvSpPr>
          <p:spPr bwMode="auto">
            <a:xfrm>
              <a:off x="4612" y="2060"/>
              <a:ext cx="153" cy="491"/>
            </a:xfrm>
            <a:custGeom>
              <a:avLst/>
              <a:gdLst>
                <a:gd name="T0" fmla="*/ 0 w 153"/>
                <a:gd name="T1" fmla="*/ 0 h 491"/>
                <a:gd name="T2" fmla="*/ 22 w 153"/>
                <a:gd name="T3" fmla="*/ 0 h 491"/>
                <a:gd name="T4" fmla="*/ 152 w 153"/>
                <a:gd name="T5" fmla="*/ 490 h 491"/>
                <a:gd name="T6" fmla="*/ 130 w 153"/>
                <a:gd name="T7" fmla="*/ 490 h 491"/>
                <a:gd name="T8" fmla="*/ 0 w 153"/>
                <a:gd name="T9" fmla="*/ 0 h 49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3" h="491">
                  <a:moveTo>
                    <a:pt x="0" y="0"/>
                  </a:moveTo>
                  <a:lnTo>
                    <a:pt x="22" y="0"/>
                  </a:lnTo>
                  <a:lnTo>
                    <a:pt x="152" y="490"/>
                  </a:lnTo>
                  <a:lnTo>
                    <a:pt x="130" y="490"/>
                  </a:lnTo>
                  <a:lnTo>
                    <a:pt x="0" y="0"/>
                  </a:lnTo>
                </a:path>
              </a:pathLst>
            </a:custGeom>
            <a:solidFill>
              <a:srgbClr val="FC0128"/>
            </a:solidFill>
            <a:ln w="12700" cap="rnd" cmpd="sng">
              <a:solidFill>
                <a:srgbClr val="FC0128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259" name="Freeform 76"/>
            <p:cNvSpPr>
              <a:spLocks/>
            </p:cNvSpPr>
            <p:nvPr/>
          </p:nvSpPr>
          <p:spPr bwMode="auto">
            <a:xfrm>
              <a:off x="3913" y="2060"/>
              <a:ext cx="152" cy="491"/>
            </a:xfrm>
            <a:custGeom>
              <a:avLst/>
              <a:gdLst>
                <a:gd name="T0" fmla="*/ 151 w 152"/>
                <a:gd name="T1" fmla="*/ 0 h 491"/>
                <a:gd name="T2" fmla="*/ 130 w 152"/>
                <a:gd name="T3" fmla="*/ 0 h 491"/>
                <a:gd name="T4" fmla="*/ 0 w 152"/>
                <a:gd name="T5" fmla="*/ 490 h 491"/>
                <a:gd name="T6" fmla="*/ 22 w 152"/>
                <a:gd name="T7" fmla="*/ 490 h 491"/>
                <a:gd name="T8" fmla="*/ 151 w 152"/>
                <a:gd name="T9" fmla="*/ 0 h 49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2" h="491">
                  <a:moveTo>
                    <a:pt x="151" y="0"/>
                  </a:moveTo>
                  <a:lnTo>
                    <a:pt x="130" y="0"/>
                  </a:lnTo>
                  <a:lnTo>
                    <a:pt x="0" y="490"/>
                  </a:lnTo>
                  <a:lnTo>
                    <a:pt x="22" y="490"/>
                  </a:lnTo>
                  <a:lnTo>
                    <a:pt x="151" y="0"/>
                  </a:lnTo>
                </a:path>
              </a:pathLst>
            </a:custGeom>
            <a:solidFill>
              <a:srgbClr val="FC0128"/>
            </a:solidFill>
            <a:ln w="12700" cap="rnd" cmpd="sng">
              <a:solidFill>
                <a:srgbClr val="FC0128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260" name="Freeform 77" descr="20%"/>
            <p:cNvSpPr>
              <a:spLocks/>
            </p:cNvSpPr>
            <p:nvPr/>
          </p:nvSpPr>
          <p:spPr bwMode="auto">
            <a:xfrm>
              <a:off x="2760" y="2060"/>
              <a:ext cx="305" cy="485"/>
            </a:xfrm>
            <a:custGeom>
              <a:avLst/>
              <a:gdLst>
                <a:gd name="T0" fmla="*/ 0 w 305"/>
                <a:gd name="T1" fmla="*/ 0 h 485"/>
                <a:gd name="T2" fmla="*/ 304 w 305"/>
                <a:gd name="T3" fmla="*/ 0 h 485"/>
                <a:gd name="T4" fmla="*/ 177 w 305"/>
                <a:gd name="T5" fmla="*/ 484 h 485"/>
                <a:gd name="T6" fmla="*/ 0 w 305"/>
                <a:gd name="T7" fmla="*/ 484 h 485"/>
                <a:gd name="T8" fmla="*/ 0 w 305"/>
                <a:gd name="T9" fmla="*/ 0 h 48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5" h="485">
                  <a:moveTo>
                    <a:pt x="0" y="0"/>
                  </a:moveTo>
                  <a:lnTo>
                    <a:pt x="304" y="0"/>
                  </a:lnTo>
                  <a:lnTo>
                    <a:pt x="177" y="484"/>
                  </a:lnTo>
                  <a:lnTo>
                    <a:pt x="0" y="484"/>
                  </a:lnTo>
                  <a:lnTo>
                    <a:pt x="0" y="0"/>
                  </a:lnTo>
                </a:path>
              </a:pathLst>
            </a:custGeom>
            <a:pattFill prst="pct20">
              <a:fgClr>
                <a:schemeClr val="accent1"/>
              </a:fgClr>
              <a:bgClr>
                <a:schemeClr val="tx1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rnd" cmpd="sng">
                  <a:solidFill>
                    <a:schemeClr val="folHlink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261" name="Freeform 78"/>
            <p:cNvSpPr>
              <a:spLocks/>
            </p:cNvSpPr>
            <p:nvPr/>
          </p:nvSpPr>
          <p:spPr bwMode="auto">
            <a:xfrm>
              <a:off x="2940" y="2060"/>
              <a:ext cx="152" cy="491"/>
            </a:xfrm>
            <a:custGeom>
              <a:avLst/>
              <a:gdLst>
                <a:gd name="T0" fmla="*/ 151 w 152"/>
                <a:gd name="T1" fmla="*/ 0 h 491"/>
                <a:gd name="T2" fmla="*/ 130 w 152"/>
                <a:gd name="T3" fmla="*/ 0 h 491"/>
                <a:gd name="T4" fmla="*/ 0 w 152"/>
                <a:gd name="T5" fmla="*/ 490 h 491"/>
                <a:gd name="T6" fmla="*/ 21 w 152"/>
                <a:gd name="T7" fmla="*/ 490 h 491"/>
                <a:gd name="T8" fmla="*/ 151 w 152"/>
                <a:gd name="T9" fmla="*/ 0 h 49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2" h="491">
                  <a:moveTo>
                    <a:pt x="151" y="0"/>
                  </a:moveTo>
                  <a:lnTo>
                    <a:pt x="130" y="0"/>
                  </a:lnTo>
                  <a:lnTo>
                    <a:pt x="0" y="490"/>
                  </a:lnTo>
                  <a:lnTo>
                    <a:pt x="21" y="490"/>
                  </a:lnTo>
                  <a:lnTo>
                    <a:pt x="151" y="0"/>
                  </a:lnTo>
                </a:path>
              </a:pathLst>
            </a:custGeom>
            <a:solidFill>
              <a:srgbClr val="FC0128"/>
            </a:solidFill>
            <a:ln w="12700" cap="rnd" cmpd="sng">
              <a:solidFill>
                <a:srgbClr val="FC0128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262" name="Rectangle 79" descr="Large confetti"/>
            <p:cNvSpPr>
              <a:spLocks noChangeArrowheads="1"/>
            </p:cNvSpPr>
            <p:nvPr/>
          </p:nvSpPr>
          <p:spPr bwMode="auto">
            <a:xfrm>
              <a:off x="2764" y="2554"/>
              <a:ext cx="1045" cy="29"/>
            </a:xfrm>
            <a:prstGeom prst="rect">
              <a:avLst/>
            </a:prstGeom>
            <a:pattFill prst="lgConfetti">
              <a:fgClr>
                <a:srgbClr val="EF9100"/>
              </a:fgClr>
              <a:bgClr>
                <a:schemeClr val="tx1"/>
              </a:bgClr>
            </a:pattFill>
            <a:ln w="12700">
              <a:solidFill>
                <a:srgbClr val="EF91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 dirty="0"/>
            </a:p>
          </p:txBody>
        </p:sp>
        <p:grpSp>
          <p:nvGrpSpPr>
            <p:cNvPr id="8263" name="Group 80"/>
            <p:cNvGrpSpPr>
              <a:grpSpLocks/>
            </p:cNvGrpSpPr>
            <p:nvPr/>
          </p:nvGrpSpPr>
          <p:grpSpPr bwMode="auto">
            <a:xfrm>
              <a:off x="780" y="1516"/>
              <a:ext cx="816" cy="1168"/>
              <a:chOff x="780" y="1516"/>
              <a:chExt cx="816" cy="1168"/>
            </a:xfrm>
          </p:grpSpPr>
          <p:sp>
            <p:nvSpPr>
              <p:cNvPr id="8320" name="Oval 81"/>
              <p:cNvSpPr>
                <a:spLocks noChangeArrowheads="1"/>
              </p:cNvSpPr>
              <p:nvPr/>
            </p:nvSpPr>
            <p:spPr bwMode="auto">
              <a:xfrm>
                <a:off x="795" y="1854"/>
                <a:ext cx="801" cy="830"/>
              </a:xfrm>
              <a:prstGeom prst="ellips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 b="1">
                    <a:solidFill>
                      <a:srgbClr val="000066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 b="1">
                    <a:solidFill>
                      <a:srgbClr val="000066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 b="1">
                    <a:solidFill>
                      <a:srgbClr val="000066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 b="1">
                    <a:solidFill>
                      <a:srgbClr val="000066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 b="1">
                    <a:solidFill>
                      <a:srgbClr val="000066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66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66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66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66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en-US" altLang="en-US" dirty="0"/>
              </a:p>
            </p:txBody>
          </p:sp>
          <p:grpSp>
            <p:nvGrpSpPr>
              <p:cNvPr id="8321" name="Group 82"/>
              <p:cNvGrpSpPr>
                <a:grpSpLocks/>
              </p:cNvGrpSpPr>
              <p:nvPr/>
            </p:nvGrpSpPr>
            <p:grpSpPr bwMode="auto">
              <a:xfrm>
                <a:off x="780" y="1516"/>
                <a:ext cx="280" cy="351"/>
                <a:chOff x="780" y="1516"/>
                <a:chExt cx="280" cy="351"/>
              </a:xfrm>
            </p:grpSpPr>
            <p:sp>
              <p:nvSpPr>
                <p:cNvPr id="8322" name="Freeform 83"/>
                <p:cNvSpPr>
                  <a:spLocks/>
                </p:cNvSpPr>
                <p:nvPr/>
              </p:nvSpPr>
              <p:spPr bwMode="auto">
                <a:xfrm>
                  <a:off x="979" y="1778"/>
                  <a:ext cx="81" cy="89"/>
                </a:xfrm>
                <a:custGeom>
                  <a:avLst/>
                  <a:gdLst>
                    <a:gd name="T0" fmla="*/ 80 w 81"/>
                    <a:gd name="T1" fmla="*/ 88 h 89"/>
                    <a:gd name="T2" fmla="*/ 0 w 81"/>
                    <a:gd name="T3" fmla="*/ 27 h 89"/>
                    <a:gd name="T4" fmla="*/ 20 w 81"/>
                    <a:gd name="T5" fmla="*/ 14 h 89"/>
                    <a:gd name="T6" fmla="*/ 40 w 81"/>
                    <a:gd name="T7" fmla="*/ 0 h 89"/>
                    <a:gd name="T8" fmla="*/ 80 w 81"/>
                    <a:gd name="T9" fmla="*/ 88 h 8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81" h="89">
                      <a:moveTo>
                        <a:pt x="80" y="88"/>
                      </a:moveTo>
                      <a:lnTo>
                        <a:pt x="0" y="27"/>
                      </a:lnTo>
                      <a:lnTo>
                        <a:pt x="20" y="14"/>
                      </a:lnTo>
                      <a:lnTo>
                        <a:pt x="40" y="0"/>
                      </a:lnTo>
                      <a:lnTo>
                        <a:pt x="80" y="88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 cap="rnd" cmpd="sng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8323" name="Line 84"/>
                <p:cNvSpPr>
                  <a:spLocks noChangeShapeType="1"/>
                </p:cNvSpPr>
                <p:nvPr/>
              </p:nvSpPr>
              <p:spPr bwMode="auto">
                <a:xfrm flipH="1" flipV="1">
                  <a:off x="780" y="1516"/>
                  <a:ext cx="224" cy="281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</p:grpSp>
        <p:grpSp>
          <p:nvGrpSpPr>
            <p:cNvPr id="8264" name="Group 85"/>
            <p:cNvGrpSpPr>
              <a:grpSpLocks/>
            </p:cNvGrpSpPr>
            <p:nvPr/>
          </p:nvGrpSpPr>
          <p:grpSpPr bwMode="auto">
            <a:xfrm>
              <a:off x="3816" y="1515"/>
              <a:ext cx="1024" cy="1169"/>
              <a:chOff x="3816" y="1515"/>
              <a:chExt cx="1024" cy="1169"/>
            </a:xfrm>
          </p:grpSpPr>
          <p:sp>
            <p:nvSpPr>
              <p:cNvPr id="8316" name="Oval 86"/>
              <p:cNvSpPr>
                <a:spLocks noChangeArrowheads="1"/>
              </p:cNvSpPr>
              <p:nvPr/>
            </p:nvSpPr>
            <p:spPr bwMode="auto">
              <a:xfrm>
                <a:off x="3831" y="1854"/>
                <a:ext cx="1009" cy="830"/>
              </a:xfrm>
              <a:prstGeom prst="ellips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 b="1">
                    <a:solidFill>
                      <a:srgbClr val="000066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 b="1">
                    <a:solidFill>
                      <a:srgbClr val="000066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 b="1">
                    <a:solidFill>
                      <a:srgbClr val="000066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 b="1">
                    <a:solidFill>
                      <a:srgbClr val="000066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 b="1">
                    <a:solidFill>
                      <a:srgbClr val="000066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66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66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66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66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en-US" altLang="en-US" dirty="0"/>
              </a:p>
            </p:txBody>
          </p:sp>
          <p:grpSp>
            <p:nvGrpSpPr>
              <p:cNvPr id="8317" name="Group 87"/>
              <p:cNvGrpSpPr>
                <a:grpSpLocks/>
              </p:cNvGrpSpPr>
              <p:nvPr/>
            </p:nvGrpSpPr>
            <p:grpSpPr bwMode="auto">
              <a:xfrm>
                <a:off x="3816" y="1515"/>
                <a:ext cx="352" cy="352"/>
                <a:chOff x="3816" y="1515"/>
                <a:chExt cx="352" cy="352"/>
              </a:xfrm>
            </p:grpSpPr>
            <p:sp>
              <p:nvSpPr>
                <p:cNvPr id="8318" name="Freeform 88"/>
                <p:cNvSpPr>
                  <a:spLocks/>
                </p:cNvSpPr>
                <p:nvPr/>
              </p:nvSpPr>
              <p:spPr bwMode="auto">
                <a:xfrm>
                  <a:off x="4086" y="1786"/>
                  <a:ext cx="82" cy="81"/>
                </a:xfrm>
                <a:custGeom>
                  <a:avLst/>
                  <a:gdLst>
                    <a:gd name="T0" fmla="*/ 81 w 82"/>
                    <a:gd name="T1" fmla="*/ 80 h 81"/>
                    <a:gd name="T2" fmla="*/ 0 w 82"/>
                    <a:gd name="T3" fmla="*/ 33 h 81"/>
                    <a:gd name="T4" fmla="*/ 13 w 82"/>
                    <a:gd name="T5" fmla="*/ 13 h 81"/>
                    <a:gd name="T6" fmla="*/ 34 w 82"/>
                    <a:gd name="T7" fmla="*/ 0 h 81"/>
                    <a:gd name="T8" fmla="*/ 81 w 82"/>
                    <a:gd name="T9" fmla="*/ 80 h 8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82" h="81">
                      <a:moveTo>
                        <a:pt x="81" y="80"/>
                      </a:moveTo>
                      <a:lnTo>
                        <a:pt x="0" y="33"/>
                      </a:lnTo>
                      <a:lnTo>
                        <a:pt x="13" y="13"/>
                      </a:lnTo>
                      <a:lnTo>
                        <a:pt x="34" y="0"/>
                      </a:lnTo>
                      <a:lnTo>
                        <a:pt x="81" y="8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 cap="rnd" cmpd="sng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8319" name="Line 89"/>
                <p:cNvSpPr>
                  <a:spLocks noChangeShapeType="1"/>
                </p:cNvSpPr>
                <p:nvPr/>
              </p:nvSpPr>
              <p:spPr bwMode="auto">
                <a:xfrm flipH="1" flipV="1">
                  <a:off x="3816" y="1515"/>
                  <a:ext cx="288" cy="288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</p:grpSp>
        <p:sp>
          <p:nvSpPr>
            <p:cNvPr id="8265" name="Rectangle 90"/>
            <p:cNvSpPr>
              <a:spLocks noChangeArrowheads="1"/>
            </p:cNvSpPr>
            <p:nvPr/>
          </p:nvSpPr>
          <p:spPr bwMode="auto">
            <a:xfrm>
              <a:off x="799" y="1202"/>
              <a:ext cx="558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1300" b="0" dirty="0">
                  <a:solidFill>
                    <a:srgbClr val="000000"/>
                  </a:solidFill>
                </a:rPr>
                <a:t>SPIRAL +</a:t>
              </a:r>
            </a:p>
          </p:txBody>
        </p:sp>
        <p:sp>
          <p:nvSpPr>
            <p:cNvPr id="8266" name="Rectangle 91"/>
            <p:cNvSpPr>
              <a:spLocks noChangeArrowheads="1"/>
            </p:cNvSpPr>
            <p:nvPr/>
          </p:nvSpPr>
          <p:spPr bwMode="auto">
            <a:xfrm>
              <a:off x="619" y="1310"/>
              <a:ext cx="934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1300" b="0" dirty="0">
                  <a:solidFill>
                    <a:srgbClr val="000000"/>
                  </a:solidFill>
                </a:rPr>
                <a:t>VIA TO GROUND</a:t>
              </a:r>
            </a:p>
          </p:txBody>
        </p:sp>
        <p:sp>
          <p:nvSpPr>
            <p:cNvPr id="8267" name="Rectangle 92"/>
            <p:cNvSpPr>
              <a:spLocks noChangeArrowheads="1"/>
            </p:cNvSpPr>
            <p:nvPr/>
          </p:nvSpPr>
          <p:spPr bwMode="auto">
            <a:xfrm>
              <a:off x="1592" y="1209"/>
              <a:ext cx="656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1300" b="0" dirty="0">
                  <a:solidFill>
                    <a:srgbClr val="000000"/>
                  </a:solidFill>
                </a:rPr>
                <a:t>SERIES PIN</a:t>
              </a:r>
            </a:p>
          </p:txBody>
        </p:sp>
        <p:sp>
          <p:nvSpPr>
            <p:cNvPr id="8268" name="Rectangle 93"/>
            <p:cNvSpPr>
              <a:spLocks noChangeArrowheads="1"/>
            </p:cNvSpPr>
            <p:nvPr/>
          </p:nvSpPr>
          <p:spPr bwMode="auto">
            <a:xfrm>
              <a:off x="1693" y="1317"/>
              <a:ext cx="438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1300" b="0" dirty="0">
                  <a:solidFill>
                    <a:srgbClr val="000000"/>
                  </a:solidFill>
                </a:rPr>
                <a:t>DIODE</a:t>
              </a:r>
            </a:p>
          </p:txBody>
        </p:sp>
        <p:sp>
          <p:nvSpPr>
            <p:cNvPr id="8269" name="Rectangle 94"/>
            <p:cNvSpPr>
              <a:spLocks noChangeArrowheads="1"/>
            </p:cNvSpPr>
            <p:nvPr/>
          </p:nvSpPr>
          <p:spPr bwMode="auto">
            <a:xfrm>
              <a:off x="2421" y="1216"/>
              <a:ext cx="1005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1300" b="0" dirty="0">
                  <a:solidFill>
                    <a:srgbClr val="000000"/>
                  </a:solidFill>
                </a:rPr>
                <a:t>SHUNT PIN DIODE</a:t>
              </a:r>
            </a:p>
          </p:txBody>
        </p:sp>
        <p:sp>
          <p:nvSpPr>
            <p:cNvPr id="8270" name="Rectangle 95"/>
            <p:cNvSpPr>
              <a:spLocks noChangeArrowheads="1"/>
            </p:cNvSpPr>
            <p:nvPr/>
          </p:nvSpPr>
          <p:spPr bwMode="auto">
            <a:xfrm>
              <a:off x="2349" y="1325"/>
              <a:ext cx="1172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1300" b="0" dirty="0">
                  <a:solidFill>
                    <a:srgbClr val="000000"/>
                  </a:solidFill>
                </a:rPr>
                <a:t>WITH CATHODE BIAS</a:t>
              </a:r>
            </a:p>
          </p:txBody>
        </p:sp>
        <p:sp>
          <p:nvSpPr>
            <p:cNvPr id="8271" name="Rectangle 96"/>
            <p:cNvSpPr>
              <a:spLocks noChangeArrowheads="1"/>
            </p:cNvSpPr>
            <p:nvPr/>
          </p:nvSpPr>
          <p:spPr bwMode="auto">
            <a:xfrm>
              <a:off x="3568" y="1216"/>
              <a:ext cx="1126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1300" b="0" dirty="0">
                  <a:solidFill>
                    <a:srgbClr val="000000"/>
                  </a:solidFill>
                </a:rPr>
                <a:t>THERMAL VIA WITH</a:t>
              </a:r>
            </a:p>
          </p:txBody>
        </p:sp>
        <p:sp>
          <p:nvSpPr>
            <p:cNvPr id="8272" name="Rectangle 97"/>
            <p:cNvSpPr>
              <a:spLocks noChangeArrowheads="1"/>
            </p:cNvSpPr>
            <p:nvPr/>
          </p:nvSpPr>
          <p:spPr bwMode="auto">
            <a:xfrm>
              <a:off x="3560" y="1325"/>
              <a:ext cx="1134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1300" b="0" dirty="0">
                  <a:solidFill>
                    <a:srgbClr val="000000"/>
                  </a:solidFill>
                </a:rPr>
                <a:t> PASSIVE ELEMENTS</a:t>
              </a:r>
            </a:p>
          </p:txBody>
        </p:sp>
        <p:sp>
          <p:nvSpPr>
            <p:cNvPr id="8273" name="Rectangle 98"/>
            <p:cNvSpPr>
              <a:spLocks noChangeArrowheads="1"/>
            </p:cNvSpPr>
            <p:nvPr/>
          </p:nvSpPr>
          <p:spPr bwMode="auto">
            <a:xfrm>
              <a:off x="3054" y="3037"/>
              <a:ext cx="253" cy="123"/>
            </a:xfrm>
            <a:prstGeom prst="rect">
              <a:avLst/>
            </a:prstGeom>
            <a:solidFill>
              <a:srgbClr val="00AE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 dirty="0"/>
            </a:p>
          </p:txBody>
        </p:sp>
        <p:sp>
          <p:nvSpPr>
            <p:cNvPr id="8274" name="Rectangle 99" descr="20%"/>
            <p:cNvSpPr>
              <a:spLocks noChangeArrowheads="1"/>
            </p:cNvSpPr>
            <p:nvPr/>
          </p:nvSpPr>
          <p:spPr bwMode="auto">
            <a:xfrm>
              <a:off x="3054" y="3297"/>
              <a:ext cx="253" cy="123"/>
            </a:xfrm>
            <a:prstGeom prst="rect">
              <a:avLst/>
            </a:prstGeom>
            <a:pattFill prst="pct20">
              <a:fgClr>
                <a:schemeClr val="accent1"/>
              </a:fgClr>
              <a:bgClr>
                <a:schemeClr val="tx1"/>
              </a:bgClr>
            </a:pattFill>
            <a:ln w="12700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 dirty="0"/>
            </a:p>
          </p:txBody>
        </p:sp>
        <p:sp>
          <p:nvSpPr>
            <p:cNvPr id="8275" name="Rectangle 100"/>
            <p:cNvSpPr>
              <a:spLocks noChangeArrowheads="1"/>
            </p:cNvSpPr>
            <p:nvPr/>
          </p:nvSpPr>
          <p:spPr bwMode="auto">
            <a:xfrm>
              <a:off x="3380" y="3027"/>
              <a:ext cx="37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1300" b="0" dirty="0">
                  <a:solidFill>
                    <a:srgbClr val="000000"/>
                  </a:solidFill>
                </a:rPr>
                <a:t>P+  Si</a:t>
              </a:r>
            </a:p>
          </p:txBody>
        </p:sp>
        <p:sp>
          <p:nvSpPr>
            <p:cNvPr id="8276" name="Rectangle 101"/>
            <p:cNvSpPr>
              <a:spLocks noChangeArrowheads="1"/>
            </p:cNvSpPr>
            <p:nvPr/>
          </p:nvSpPr>
          <p:spPr bwMode="auto">
            <a:xfrm>
              <a:off x="3395" y="3286"/>
              <a:ext cx="344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1300" b="0" dirty="0">
                  <a:solidFill>
                    <a:srgbClr val="000000"/>
                  </a:solidFill>
                </a:rPr>
                <a:t>Glass</a:t>
              </a:r>
            </a:p>
          </p:txBody>
        </p:sp>
        <p:sp>
          <p:nvSpPr>
            <p:cNvPr id="8277" name="Rectangle 102" descr="Large confetti"/>
            <p:cNvSpPr>
              <a:spLocks noChangeArrowheads="1"/>
            </p:cNvSpPr>
            <p:nvPr/>
          </p:nvSpPr>
          <p:spPr bwMode="auto">
            <a:xfrm>
              <a:off x="3833" y="3037"/>
              <a:ext cx="253" cy="123"/>
            </a:xfrm>
            <a:prstGeom prst="rect">
              <a:avLst/>
            </a:prstGeom>
            <a:pattFill prst="lgConfetti">
              <a:fgClr>
                <a:srgbClr val="EF9100"/>
              </a:fgClr>
              <a:bgClr>
                <a:schemeClr val="tx1"/>
              </a:bgClr>
            </a:patt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 dirty="0"/>
            </a:p>
          </p:txBody>
        </p:sp>
        <p:sp>
          <p:nvSpPr>
            <p:cNvPr id="8278" name="Rectangle 103"/>
            <p:cNvSpPr>
              <a:spLocks noChangeArrowheads="1"/>
            </p:cNvSpPr>
            <p:nvPr/>
          </p:nvSpPr>
          <p:spPr bwMode="auto">
            <a:xfrm>
              <a:off x="4111" y="3024"/>
              <a:ext cx="380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1300" b="0" dirty="0">
                  <a:solidFill>
                    <a:srgbClr val="000000"/>
                  </a:solidFill>
                </a:rPr>
                <a:t>Si3N4</a:t>
              </a:r>
            </a:p>
          </p:txBody>
        </p:sp>
        <p:sp>
          <p:nvSpPr>
            <p:cNvPr id="8279" name="Rectangle 104"/>
            <p:cNvSpPr>
              <a:spLocks noChangeArrowheads="1"/>
            </p:cNvSpPr>
            <p:nvPr/>
          </p:nvSpPr>
          <p:spPr bwMode="auto">
            <a:xfrm>
              <a:off x="2211" y="3297"/>
              <a:ext cx="253" cy="123"/>
            </a:xfrm>
            <a:prstGeom prst="rect">
              <a:avLst/>
            </a:prstGeom>
            <a:solidFill>
              <a:srgbClr val="FAFD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 dirty="0"/>
            </a:p>
          </p:txBody>
        </p:sp>
        <p:sp>
          <p:nvSpPr>
            <p:cNvPr id="8280" name="Rectangle 105"/>
            <p:cNvSpPr>
              <a:spLocks noChangeArrowheads="1"/>
            </p:cNvSpPr>
            <p:nvPr/>
          </p:nvSpPr>
          <p:spPr bwMode="auto">
            <a:xfrm>
              <a:off x="2537" y="3286"/>
              <a:ext cx="356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1300" b="0" dirty="0">
                  <a:solidFill>
                    <a:srgbClr val="000000"/>
                  </a:solidFill>
                </a:rPr>
                <a:t>Metal</a:t>
              </a:r>
            </a:p>
          </p:txBody>
        </p:sp>
        <p:sp>
          <p:nvSpPr>
            <p:cNvPr id="8281" name="Rectangle 106" descr="Dark upward diagonal"/>
            <p:cNvSpPr>
              <a:spLocks noChangeArrowheads="1"/>
            </p:cNvSpPr>
            <p:nvPr/>
          </p:nvSpPr>
          <p:spPr bwMode="auto">
            <a:xfrm>
              <a:off x="1384" y="3037"/>
              <a:ext cx="253" cy="123"/>
            </a:xfrm>
            <a:prstGeom prst="rect">
              <a:avLst/>
            </a:prstGeom>
            <a:pattFill prst="dkUpDiag">
              <a:fgClr>
                <a:srgbClr val="DC0081"/>
              </a:fgClr>
              <a:bgClr>
                <a:schemeClr val="tx1"/>
              </a:bgClr>
            </a:patt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 dirty="0"/>
            </a:p>
          </p:txBody>
        </p:sp>
        <p:sp>
          <p:nvSpPr>
            <p:cNvPr id="8282" name="Rectangle 107" descr="Small grid"/>
            <p:cNvSpPr>
              <a:spLocks noChangeArrowheads="1"/>
            </p:cNvSpPr>
            <p:nvPr/>
          </p:nvSpPr>
          <p:spPr bwMode="auto">
            <a:xfrm>
              <a:off x="767" y="3037"/>
              <a:ext cx="252" cy="123"/>
            </a:xfrm>
            <a:prstGeom prst="rect">
              <a:avLst/>
            </a:prstGeom>
            <a:pattFill prst="smGrid">
              <a:fgClr>
                <a:srgbClr val="414141"/>
              </a:fgClr>
              <a:bgClr>
                <a:schemeClr val="tx1"/>
              </a:bgClr>
            </a:patt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 dirty="0"/>
            </a:p>
          </p:txBody>
        </p:sp>
        <p:sp>
          <p:nvSpPr>
            <p:cNvPr id="8283" name="Rectangle 108"/>
            <p:cNvSpPr>
              <a:spLocks noChangeArrowheads="1"/>
            </p:cNvSpPr>
            <p:nvPr/>
          </p:nvSpPr>
          <p:spPr bwMode="auto">
            <a:xfrm>
              <a:off x="1677" y="3027"/>
              <a:ext cx="361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1300" b="0" dirty="0">
                  <a:solidFill>
                    <a:srgbClr val="000000"/>
                  </a:solidFill>
                </a:rPr>
                <a:t>N+ Si</a:t>
              </a:r>
            </a:p>
          </p:txBody>
        </p:sp>
        <p:sp>
          <p:nvSpPr>
            <p:cNvPr id="8284" name="Rectangle 109"/>
            <p:cNvSpPr>
              <a:spLocks noChangeArrowheads="1"/>
            </p:cNvSpPr>
            <p:nvPr/>
          </p:nvSpPr>
          <p:spPr bwMode="auto">
            <a:xfrm>
              <a:off x="1023" y="3027"/>
              <a:ext cx="288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1300" b="0" dirty="0">
                  <a:solidFill>
                    <a:srgbClr val="000000"/>
                  </a:solidFill>
                </a:rPr>
                <a:t>I  Si</a:t>
              </a:r>
            </a:p>
          </p:txBody>
        </p:sp>
        <p:sp>
          <p:nvSpPr>
            <p:cNvPr id="8285" name="Rectangle 110"/>
            <p:cNvSpPr>
              <a:spLocks noChangeArrowheads="1"/>
            </p:cNvSpPr>
            <p:nvPr/>
          </p:nvSpPr>
          <p:spPr bwMode="auto">
            <a:xfrm>
              <a:off x="2211" y="3037"/>
              <a:ext cx="253" cy="123"/>
            </a:xfrm>
            <a:prstGeom prst="rect">
              <a:avLst/>
            </a:prstGeom>
            <a:solidFill>
              <a:srgbClr val="FC0128"/>
            </a:solidFill>
            <a:ln w="12700">
              <a:solidFill>
                <a:srgbClr val="41414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 dirty="0"/>
            </a:p>
          </p:txBody>
        </p:sp>
        <p:sp>
          <p:nvSpPr>
            <p:cNvPr id="8286" name="Rectangle 111"/>
            <p:cNvSpPr>
              <a:spLocks noChangeArrowheads="1"/>
            </p:cNvSpPr>
            <p:nvPr/>
          </p:nvSpPr>
          <p:spPr bwMode="auto">
            <a:xfrm>
              <a:off x="2503" y="3027"/>
              <a:ext cx="476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1300" b="0" dirty="0">
                  <a:solidFill>
                    <a:srgbClr val="000000"/>
                  </a:solidFill>
                </a:rPr>
                <a:t>N+ Phos</a:t>
              </a:r>
            </a:p>
          </p:txBody>
        </p:sp>
        <p:sp>
          <p:nvSpPr>
            <p:cNvPr id="8287" name="Freeform 112"/>
            <p:cNvSpPr>
              <a:spLocks/>
            </p:cNvSpPr>
            <p:nvPr/>
          </p:nvSpPr>
          <p:spPr bwMode="auto">
            <a:xfrm>
              <a:off x="972" y="2060"/>
              <a:ext cx="152" cy="498"/>
            </a:xfrm>
            <a:custGeom>
              <a:avLst/>
              <a:gdLst>
                <a:gd name="T0" fmla="*/ 151 w 152"/>
                <a:gd name="T1" fmla="*/ 0 h 498"/>
                <a:gd name="T2" fmla="*/ 129 w 152"/>
                <a:gd name="T3" fmla="*/ 0 h 498"/>
                <a:gd name="T4" fmla="*/ 0 w 152"/>
                <a:gd name="T5" fmla="*/ 497 h 498"/>
                <a:gd name="T6" fmla="*/ 21 w 152"/>
                <a:gd name="T7" fmla="*/ 497 h 498"/>
                <a:gd name="T8" fmla="*/ 151 w 152"/>
                <a:gd name="T9" fmla="*/ 0 h 49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2" h="498">
                  <a:moveTo>
                    <a:pt x="151" y="0"/>
                  </a:moveTo>
                  <a:lnTo>
                    <a:pt x="129" y="0"/>
                  </a:lnTo>
                  <a:lnTo>
                    <a:pt x="0" y="497"/>
                  </a:lnTo>
                  <a:lnTo>
                    <a:pt x="21" y="497"/>
                  </a:lnTo>
                  <a:lnTo>
                    <a:pt x="151" y="0"/>
                  </a:lnTo>
                </a:path>
              </a:pathLst>
            </a:custGeom>
            <a:solidFill>
              <a:srgbClr val="FC0128"/>
            </a:solidFill>
            <a:ln w="12700" cap="rnd" cmpd="sng">
              <a:solidFill>
                <a:srgbClr val="FC0128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288" name="Rectangle 113" descr="Wide downward diagonal"/>
            <p:cNvSpPr>
              <a:spLocks noChangeArrowheads="1"/>
            </p:cNvSpPr>
            <p:nvPr/>
          </p:nvSpPr>
          <p:spPr bwMode="auto">
            <a:xfrm>
              <a:off x="3833" y="3297"/>
              <a:ext cx="253" cy="123"/>
            </a:xfrm>
            <a:prstGeom prst="rect">
              <a:avLst/>
            </a:prstGeom>
            <a:pattFill prst="wdDnDiag">
              <a:fgClr>
                <a:srgbClr val="8CF4EA"/>
              </a:fgClr>
              <a:bgClr>
                <a:schemeClr val="tx1"/>
              </a:bgClr>
            </a:patt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 dirty="0"/>
            </a:p>
          </p:txBody>
        </p:sp>
        <p:sp>
          <p:nvSpPr>
            <p:cNvPr id="8289" name="Rectangle 114"/>
            <p:cNvSpPr>
              <a:spLocks noChangeArrowheads="1"/>
            </p:cNvSpPr>
            <p:nvPr/>
          </p:nvSpPr>
          <p:spPr bwMode="auto">
            <a:xfrm>
              <a:off x="4125" y="3291"/>
              <a:ext cx="328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1300" b="0" dirty="0">
                  <a:solidFill>
                    <a:srgbClr val="000000"/>
                  </a:solidFill>
                </a:rPr>
                <a:t>SiO2</a:t>
              </a:r>
            </a:p>
          </p:txBody>
        </p:sp>
        <p:sp>
          <p:nvSpPr>
            <p:cNvPr id="8290" name="Freeform 115"/>
            <p:cNvSpPr>
              <a:spLocks/>
            </p:cNvSpPr>
            <p:nvPr/>
          </p:nvSpPr>
          <p:spPr bwMode="auto">
            <a:xfrm>
              <a:off x="2392" y="2060"/>
              <a:ext cx="103" cy="240"/>
            </a:xfrm>
            <a:custGeom>
              <a:avLst/>
              <a:gdLst>
                <a:gd name="T0" fmla="*/ 20 w 103"/>
                <a:gd name="T1" fmla="*/ 0 h 240"/>
                <a:gd name="T2" fmla="*/ 102 w 103"/>
                <a:gd name="T3" fmla="*/ 239 h 240"/>
                <a:gd name="T4" fmla="*/ 81 w 103"/>
                <a:gd name="T5" fmla="*/ 239 h 240"/>
                <a:gd name="T6" fmla="*/ 0 w 103"/>
                <a:gd name="T7" fmla="*/ 0 h 240"/>
                <a:gd name="T8" fmla="*/ 20 w 103"/>
                <a:gd name="T9" fmla="*/ 0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3" h="240">
                  <a:moveTo>
                    <a:pt x="20" y="0"/>
                  </a:moveTo>
                  <a:lnTo>
                    <a:pt x="102" y="239"/>
                  </a:lnTo>
                  <a:lnTo>
                    <a:pt x="81" y="239"/>
                  </a:lnTo>
                  <a:lnTo>
                    <a:pt x="0" y="0"/>
                  </a:lnTo>
                  <a:lnTo>
                    <a:pt x="20" y="0"/>
                  </a:lnTo>
                </a:path>
              </a:pathLst>
            </a:custGeom>
            <a:solidFill>
              <a:srgbClr val="FC0128"/>
            </a:solidFill>
            <a:ln w="12700" cap="rnd" cmpd="sng">
              <a:solidFill>
                <a:srgbClr val="FC0128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291" name="Rectangle 116"/>
            <p:cNvSpPr>
              <a:spLocks noChangeArrowheads="1"/>
            </p:cNvSpPr>
            <p:nvPr/>
          </p:nvSpPr>
          <p:spPr bwMode="auto">
            <a:xfrm>
              <a:off x="3211" y="2064"/>
              <a:ext cx="252" cy="22"/>
            </a:xfrm>
            <a:prstGeom prst="rect">
              <a:avLst/>
            </a:prstGeom>
            <a:solidFill>
              <a:srgbClr val="FC0128"/>
            </a:solidFill>
            <a:ln w="12700">
              <a:solidFill>
                <a:srgbClr val="FC012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 dirty="0"/>
            </a:p>
          </p:txBody>
        </p:sp>
        <p:sp>
          <p:nvSpPr>
            <p:cNvPr id="8292" name="Freeform 117"/>
            <p:cNvSpPr>
              <a:spLocks/>
            </p:cNvSpPr>
            <p:nvPr/>
          </p:nvSpPr>
          <p:spPr bwMode="auto">
            <a:xfrm>
              <a:off x="3444" y="2060"/>
              <a:ext cx="153" cy="491"/>
            </a:xfrm>
            <a:custGeom>
              <a:avLst/>
              <a:gdLst>
                <a:gd name="T0" fmla="*/ 0 w 153"/>
                <a:gd name="T1" fmla="*/ 0 h 491"/>
                <a:gd name="T2" fmla="*/ 22 w 153"/>
                <a:gd name="T3" fmla="*/ 0 h 491"/>
                <a:gd name="T4" fmla="*/ 152 w 153"/>
                <a:gd name="T5" fmla="*/ 490 h 491"/>
                <a:gd name="T6" fmla="*/ 130 w 153"/>
                <a:gd name="T7" fmla="*/ 490 h 491"/>
                <a:gd name="T8" fmla="*/ 0 w 153"/>
                <a:gd name="T9" fmla="*/ 0 h 49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3" h="491">
                  <a:moveTo>
                    <a:pt x="0" y="0"/>
                  </a:moveTo>
                  <a:lnTo>
                    <a:pt x="22" y="0"/>
                  </a:lnTo>
                  <a:lnTo>
                    <a:pt x="152" y="490"/>
                  </a:lnTo>
                  <a:lnTo>
                    <a:pt x="130" y="490"/>
                  </a:lnTo>
                  <a:lnTo>
                    <a:pt x="0" y="0"/>
                  </a:lnTo>
                </a:path>
              </a:pathLst>
            </a:custGeom>
            <a:solidFill>
              <a:srgbClr val="FC0128"/>
            </a:solidFill>
            <a:ln w="12700" cap="rnd" cmpd="sng">
              <a:solidFill>
                <a:srgbClr val="FC0128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8293" name="Group 118"/>
            <p:cNvGrpSpPr>
              <a:grpSpLocks/>
            </p:cNvGrpSpPr>
            <p:nvPr/>
          </p:nvGrpSpPr>
          <p:grpSpPr bwMode="auto">
            <a:xfrm>
              <a:off x="2799" y="1515"/>
              <a:ext cx="816" cy="1169"/>
              <a:chOff x="2799" y="1515"/>
              <a:chExt cx="816" cy="1169"/>
            </a:xfrm>
          </p:grpSpPr>
          <p:sp>
            <p:nvSpPr>
              <p:cNvPr id="8312" name="Oval 119"/>
              <p:cNvSpPr>
                <a:spLocks noChangeArrowheads="1"/>
              </p:cNvSpPr>
              <p:nvPr/>
            </p:nvSpPr>
            <p:spPr bwMode="auto">
              <a:xfrm>
                <a:off x="2814" y="1854"/>
                <a:ext cx="801" cy="830"/>
              </a:xfrm>
              <a:prstGeom prst="ellips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 b="1">
                    <a:solidFill>
                      <a:srgbClr val="000066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 b="1">
                    <a:solidFill>
                      <a:srgbClr val="000066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 b="1">
                    <a:solidFill>
                      <a:srgbClr val="000066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 b="1">
                    <a:solidFill>
                      <a:srgbClr val="000066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 b="1">
                    <a:solidFill>
                      <a:srgbClr val="000066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66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66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66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66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en-US" altLang="en-US" dirty="0"/>
              </a:p>
            </p:txBody>
          </p:sp>
          <p:grpSp>
            <p:nvGrpSpPr>
              <p:cNvPr id="8313" name="Group 120"/>
              <p:cNvGrpSpPr>
                <a:grpSpLocks/>
              </p:cNvGrpSpPr>
              <p:nvPr/>
            </p:nvGrpSpPr>
            <p:grpSpPr bwMode="auto">
              <a:xfrm>
                <a:off x="2799" y="1515"/>
                <a:ext cx="280" cy="352"/>
                <a:chOff x="2799" y="1515"/>
                <a:chExt cx="280" cy="352"/>
              </a:xfrm>
            </p:grpSpPr>
            <p:sp>
              <p:nvSpPr>
                <p:cNvPr id="8314" name="Freeform 121"/>
                <p:cNvSpPr>
                  <a:spLocks/>
                </p:cNvSpPr>
                <p:nvPr/>
              </p:nvSpPr>
              <p:spPr bwMode="auto">
                <a:xfrm>
                  <a:off x="2997" y="1778"/>
                  <a:ext cx="82" cy="89"/>
                </a:xfrm>
                <a:custGeom>
                  <a:avLst/>
                  <a:gdLst>
                    <a:gd name="T0" fmla="*/ 81 w 82"/>
                    <a:gd name="T1" fmla="*/ 88 h 89"/>
                    <a:gd name="T2" fmla="*/ 0 w 82"/>
                    <a:gd name="T3" fmla="*/ 27 h 89"/>
                    <a:gd name="T4" fmla="*/ 20 w 82"/>
                    <a:gd name="T5" fmla="*/ 14 h 89"/>
                    <a:gd name="T6" fmla="*/ 41 w 82"/>
                    <a:gd name="T7" fmla="*/ 0 h 89"/>
                    <a:gd name="T8" fmla="*/ 81 w 82"/>
                    <a:gd name="T9" fmla="*/ 88 h 8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82" h="89">
                      <a:moveTo>
                        <a:pt x="81" y="88"/>
                      </a:moveTo>
                      <a:lnTo>
                        <a:pt x="0" y="27"/>
                      </a:lnTo>
                      <a:lnTo>
                        <a:pt x="20" y="14"/>
                      </a:lnTo>
                      <a:lnTo>
                        <a:pt x="41" y="0"/>
                      </a:lnTo>
                      <a:lnTo>
                        <a:pt x="81" y="88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 cap="rnd" cmpd="sng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8315" name="Line 122"/>
                <p:cNvSpPr>
                  <a:spLocks noChangeShapeType="1"/>
                </p:cNvSpPr>
                <p:nvPr/>
              </p:nvSpPr>
              <p:spPr bwMode="auto">
                <a:xfrm flipH="1" flipV="1">
                  <a:off x="2799" y="1515"/>
                  <a:ext cx="224" cy="282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</p:grpSp>
        <p:sp>
          <p:nvSpPr>
            <p:cNvPr id="8294" name="Freeform 123" descr="20%"/>
            <p:cNvSpPr>
              <a:spLocks/>
            </p:cNvSpPr>
            <p:nvPr/>
          </p:nvSpPr>
          <p:spPr bwMode="auto">
            <a:xfrm>
              <a:off x="2413" y="2060"/>
              <a:ext cx="342" cy="485"/>
            </a:xfrm>
            <a:custGeom>
              <a:avLst/>
              <a:gdLst>
                <a:gd name="T0" fmla="*/ 341 w 342"/>
                <a:gd name="T1" fmla="*/ 0 h 485"/>
                <a:gd name="T2" fmla="*/ 0 w 342"/>
                <a:gd name="T3" fmla="*/ 0 h 485"/>
                <a:gd name="T4" fmla="*/ 171 w 342"/>
                <a:gd name="T5" fmla="*/ 484 h 485"/>
                <a:gd name="T6" fmla="*/ 341 w 342"/>
                <a:gd name="T7" fmla="*/ 484 h 485"/>
                <a:gd name="T8" fmla="*/ 341 w 342"/>
                <a:gd name="T9" fmla="*/ 0 h 48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2" h="485">
                  <a:moveTo>
                    <a:pt x="341" y="0"/>
                  </a:moveTo>
                  <a:lnTo>
                    <a:pt x="0" y="0"/>
                  </a:lnTo>
                  <a:lnTo>
                    <a:pt x="171" y="484"/>
                  </a:lnTo>
                  <a:lnTo>
                    <a:pt x="341" y="484"/>
                  </a:lnTo>
                  <a:lnTo>
                    <a:pt x="341" y="0"/>
                  </a:lnTo>
                </a:path>
              </a:pathLst>
            </a:custGeom>
            <a:pattFill prst="pct20">
              <a:fgClr>
                <a:schemeClr val="accent1"/>
              </a:fgClr>
              <a:bgClr>
                <a:schemeClr val="tx1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rnd" cmpd="sng">
                  <a:solidFill>
                    <a:schemeClr val="folHlink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8295" name="Group 124"/>
            <p:cNvGrpSpPr>
              <a:grpSpLocks/>
            </p:cNvGrpSpPr>
            <p:nvPr/>
          </p:nvGrpSpPr>
          <p:grpSpPr bwMode="auto">
            <a:xfrm>
              <a:off x="1789" y="1515"/>
              <a:ext cx="816" cy="1169"/>
              <a:chOff x="1789" y="1515"/>
              <a:chExt cx="816" cy="1169"/>
            </a:xfrm>
          </p:grpSpPr>
          <p:sp>
            <p:nvSpPr>
              <p:cNvPr id="8308" name="Oval 125"/>
              <p:cNvSpPr>
                <a:spLocks noChangeArrowheads="1"/>
              </p:cNvSpPr>
              <p:nvPr/>
            </p:nvSpPr>
            <p:spPr bwMode="auto">
              <a:xfrm>
                <a:off x="1805" y="1854"/>
                <a:ext cx="800" cy="830"/>
              </a:xfrm>
              <a:prstGeom prst="ellips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 b="1">
                    <a:solidFill>
                      <a:srgbClr val="000066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 b="1">
                    <a:solidFill>
                      <a:srgbClr val="000066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 b="1">
                    <a:solidFill>
                      <a:srgbClr val="000066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 b="1">
                    <a:solidFill>
                      <a:srgbClr val="000066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 b="1">
                    <a:solidFill>
                      <a:srgbClr val="000066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66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66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66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66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en-US" altLang="en-US" dirty="0"/>
              </a:p>
            </p:txBody>
          </p:sp>
          <p:grpSp>
            <p:nvGrpSpPr>
              <p:cNvPr id="8309" name="Group 126"/>
              <p:cNvGrpSpPr>
                <a:grpSpLocks/>
              </p:cNvGrpSpPr>
              <p:nvPr/>
            </p:nvGrpSpPr>
            <p:grpSpPr bwMode="auto">
              <a:xfrm>
                <a:off x="1789" y="1515"/>
                <a:ext cx="281" cy="352"/>
                <a:chOff x="1789" y="1515"/>
                <a:chExt cx="281" cy="352"/>
              </a:xfrm>
            </p:grpSpPr>
            <p:sp>
              <p:nvSpPr>
                <p:cNvPr id="8310" name="Freeform 127"/>
                <p:cNvSpPr>
                  <a:spLocks/>
                </p:cNvSpPr>
                <p:nvPr/>
              </p:nvSpPr>
              <p:spPr bwMode="auto">
                <a:xfrm>
                  <a:off x="1988" y="1778"/>
                  <a:ext cx="82" cy="89"/>
                </a:xfrm>
                <a:custGeom>
                  <a:avLst/>
                  <a:gdLst>
                    <a:gd name="T0" fmla="*/ 81 w 82"/>
                    <a:gd name="T1" fmla="*/ 88 h 89"/>
                    <a:gd name="T2" fmla="*/ 0 w 82"/>
                    <a:gd name="T3" fmla="*/ 27 h 89"/>
                    <a:gd name="T4" fmla="*/ 20 w 82"/>
                    <a:gd name="T5" fmla="*/ 14 h 89"/>
                    <a:gd name="T6" fmla="*/ 40 w 82"/>
                    <a:gd name="T7" fmla="*/ 0 h 89"/>
                    <a:gd name="T8" fmla="*/ 81 w 82"/>
                    <a:gd name="T9" fmla="*/ 88 h 8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82" h="89">
                      <a:moveTo>
                        <a:pt x="81" y="88"/>
                      </a:moveTo>
                      <a:lnTo>
                        <a:pt x="0" y="27"/>
                      </a:lnTo>
                      <a:lnTo>
                        <a:pt x="20" y="14"/>
                      </a:lnTo>
                      <a:lnTo>
                        <a:pt x="40" y="0"/>
                      </a:lnTo>
                      <a:lnTo>
                        <a:pt x="81" y="88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 cap="rnd" cmpd="sng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8311" name="Line 128"/>
                <p:cNvSpPr>
                  <a:spLocks noChangeShapeType="1"/>
                </p:cNvSpPr>
                <p:nvPr/>
              </p:nvSpPr>
              <p:spPr bwMode="auto">
                <a:xfrm flipH="1" flipV="1">
                  <a:off x="1789" y="1515"/>
                  <a:ext cx="225" cy="282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</p:grpSp>
        </p:grpSp>
        <p:sp>
          <p:nvSpPr>
            <p:cNvPr id="8296" name="Rectangle 129" descr="Zig zag"/>
            <p:cNvSpPr>
              <a:spLocks noChangeArrowheads="1"/>
            </p:cNvSpPr>
            <p:nvPr/>
          </p:nvSpPr>
          <p:spPr bwMode="auto">
            <a:xfrm>
              <a:off x="767" y="3326"/>
              <a:ext cx="252" cy="123"/>
            </a:xfrm>
            <a:prstGeom prst="rect">
              <a:avLst/>
            </a:prstGeom>
            <a:pattFill prst="zigZag">
              <a:fgClr>
                <a:srgbClr val="8901F3"/>
              </a:fgClr>
              <a:bgClr>
                <a:srgbClr val="FFFFFF"/>
              </a:bgClr>
            </a:patt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 dirty="0"/>
            </a:p>
          </p:txBody>
        </p:sp>
        <p:sp>
          <p:nvSpPr>
            <p:cNvPr id="8297" name="Rectangle 130"/>
            <p:cNvSpPr>
              <a:spLocks noChangeArrowheads="1"/>
            </p:cNvSpPr>
            <p:nvPr/>
          </p:nvSpPr>
          <p:spPr bwMode="auto">
            <a:xfrm>
              <a:off x="1052" y="3301"/>
              <a:ext cx="898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1300" b="0" dirty="0">
                  <a:solidFill>
                    <a:srgbClr val="000000"/>
                  </a:solidFill>
                </a:rPr>
                <a:t>polyimide/ poly-Si</a:t>
              </a:r>
            </a:p>
          </p:txBody>
        </p:sp>
        <p:sp>
          <p:nvSpPr>
            <p:cNvPr id="8298" name="Freeform 131"/>
            <p:cNvSpPr>
              <a:spLocks/>
            </p:cNvSpPr>
            <p:nvPr/>
          </p:nvSpPr>
          <p:spPr bwMode="auto">
            <a:xfrm>
              <a:off x="1974" y="2060"/>
              <a:ext cx="103" cy="240"/>
            </a:xfrm>
            <a:custGeom>
              <a:avLst/>
              <a:gdLst>
                <a:gd name="T0" fmla="*/ 81 w 103"/>
                <a:gd name="T1" fmla="*/ 0 h 240"/>
                <a:gd name="T2" fmla="*/ 0 w 103"/>
                <a:gd name="T3" fmla="*/ 239 h 240"/>
                <a:gd name="T4" fmla="*/ 20 w 103"/>
                <a:gd name="T5" fmla="*/ 239 h 240"/>
                <a:gd name="T6" fmla="*/ 102 w 103"/>
                <a:gd name="T7" fmla="*/ 0 h 240"/>
                <a:gd name="T8" fmla="*/ 81 w 103"/>
                <a:gd name="T9" fmla="*/ 0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3" h="240">
                  <a:moveTo>
                    <a:pt x="81" y="0"/>
                  </a:moveTo>
                  <a:lnTo>
                    <a:pt x="0" y="239"/>
                  </a:lnTo>
                  <a:lnTo>
                    <a:pt x="20" y="239"/>
                  </a:lnTo>
                  <a:lnTo>
                    <a:pt x="102" y="0"/>
                  </a:lnTo>
                  <a:lnTo>
                    <a:pt x="81" y="0"/>
                  </a:lnTo>
                </a:path>
              </a:pathLst>
            </a:custGeom>
            <a:solidFill>
              <a:srgbClr val="FC0128"/>
            </a:solidFill>
            <a:ln w="12700" cap="rnd" cmpd="sng">
              <a:solidFill>
                <a:srgbClr val="FC0128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299" name="Rectangle 132"/>
            <p:cNvSpPr>
              <a:spLocks noChangeArrowheads="1"/>
            </p:cNvSpPr>
            <p:nvPr/>
          </p:nvSpPr>
          <p:spPr bwMode="auto">
            <a:xfrm>
              <a:off x="1113" y="2071"/>
              <a:ext cx="137" cy="15"/>
            </a:xfrm>
            <a:prstGeom prst="rect">
              <a:avLst/>
            </a:prstGeom>
            <a:solidFill>
              <a:srgbClr val="FC0128"/>
            </a:solidFill>
            <a:ln w="12700">
              <a:solidFill>
                <a:srgbClr val="FC0128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 dirty="0"/>
            </a:p>
          </p:txBody>
        </p:sp>
        <p:sp>
          <p:nvSpPr>
            <p:cNvPr id="8300" name="Rectangle 133"/>
            <p:cNvSpPr>
              <a:spLocks noChangeArrowheads="1"/>
            </p:cNvSpPr>
            <p:nvPr/>
          </p:nvSpPr>
          <p:spPr bwMode="auto">
            <a:xfrm>
              <a:off x="772" y="2554"/>
              <a:ext cx="932" cy="29"/>
            </a:xfrm>
            <a:prstGeom prst="rect">
              <a:avLst/>
            </a:prstGeom>
            <a:solidFill>
              <a:srgbClr val="FAFD00"/>
            </a:solidFill>
            <a:ln w="12700">
              <a:solidFill>
                <a:srgbClr val="FAFD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 dirty="0"/>
            </a:p>
          </p:txBody>
        </p:sp>
        <p:sp>
          <p:nvSpPr>
            <p:cNvPr id="8301" name="Rectangle 134"/>
            <p:cNvSpPr>
              <a:spLocks noChangeArrowheads="1"/>
            </p:cNvSpPr>
            <p:nvPr/>
          </p:nvSpPr>
          <p:spPr bwMode="auto">
            <a:xfrm>
              <a:off x="4393" y="1999"/>
              <a:ext cx="166" cy="22"/>
            </a:xfrm>
            <a:prstGeom prst="rect">
              <a:avLst/>
            </a:prstGeom>
            <a:solidFill>
              <a:srgbClr val="FAFD00"/>
            </a:solidFill>
            <a:ln w="12700">
              <a:solidFill>
                <a:srgbClr val="FAFD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 dirty="0"/>
            </a:p>
          </p:txBody>
        </p:sp>
        <p:grpSp>
          <p:nvGrpSpPr>
            <p:cNvPr id="8302" name="Group 135"/>
            <p:cNvGrpSpPr>
              <a:grpSpLocks/>
            </p:cNvGrpSpPr>
            <p:nvPr/>
          </p:nvGrpSpPr>
          <p:grpSpPr bwMode="auto">
            <a:xfrm>
              <a:off x="3074" y="2042"/>
              <a:ext cx="123" cy="22"/>
              <a:chOff x="3074" y="2042"/>
              <a:chExt cx="123" cy="22"/>
            </a:xfrm>
          </p:grpSpPr>
          <p:sp>
            <p:nvSpPr>
              <p:cNvPr id="8306" name="Rectangle 136" descr="Wide downward diagonal"/>
              <p:cNvSpPr>
                <a:spLocks noChangeArrowheads="1"/>
              </p:cNvSpPr>
              <p:nvPr/>
            </p:nvSpPr>
            <p:spPr bwMode="auto">
              <a:xfrm>
                <a:off x="3074" y="2042"/>
                <a:ext cx="36" cy="22"/>
              </a:xfrm>
              <a:prstGeom prst="rect">
                <a:avLst/>
              </a:prstGeom>
              <a:pattFill prst="wdDnDiag">
                <a:fgClr>
                  <a:srgbClr val="8CF4EA"/>
                </a:fgClr>
                <a:bgClr>
                  <a:schemeClr val="tx1"/>
                </a:bgClr>
              </a:pattFill>
              <a:ln w="12700">
                <a:solidFill>
                  <a:srgbClr val="8CF4E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 b="1">
                    <a:solidFill>
                      <a:srgbClr val="000066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 b="1">
                    <a:solidFill>
                      <a:srgbClr val="000066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 b="1">
                    <a:solidFill>
                      <a:srgbClr val="000066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 b="1">
                    <a:solidFill>
                      <a:srgbClr val="000066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 b="1">
                    <a:solidFill>
                      <a:srgbClr val="000066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66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66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66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66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en-US" altLang="en-US" dirty="0"/>
              </a:p>
            </p:txBody>
          </p:sp>
          <p:sp>
            <p:nvSpPr>
              <p:cNvPr id="8307" name="Rectangle 137" descr="Wide downward diagonal"/>
              <p:cNvSpPr>
                <a:spLocks noChangeArrowheads="1"/>
              </p:cNvSpPr>
              <p:nvPr/>
            </p:nvSpPr>
            <p:spPr bwMode="auto">
              <a:xfrm>
                <a:off x="3160" y="2042"/>
                <a:ext cx="37" cy="22"/>
              </a:xfrm>
              <a:prstGeom prst="rect">
                <a:avLst/>
              </a:prstGeom>
              <a:pattFill prst="wdDnDiag">
                <a:fgClr>
                  <a:srgbClr val="8CF4EA"/>
                </a:fgClr>
                <a:bgClr>
                  <a:schemeClr val="tx1"/>
                </a:bgClr>
              </a:pattFill>
              <a:ln w="12700">
                <a:solidFill>
                  <a:srgbClr val="8CF4EA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 b="1">
                    <a:solidFill>
                      <a:srgbClr val="000066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 b="1">
                    <a:solidFill>
                      <a:srgbClr val="000066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 b="1">
                    <a:solidFill>
                      <a:srgbClr val="000066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 b="1">
                    <a:solidFill>
                      <a:srgbClr val="000066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 b="1">
                    <a:solidFill>
                      <a:srgbClr val="000066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66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66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66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000066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en-US" altLang="en-US" dirty="0"/>
              </a:p>
            </p:txBody>
          </p:sp>
        </p:grpSp>
        <p:sp>
          <p:nvSpPr>
            <p:cNvPr id="8303" name="Freeform 138"/>
            <p:cNvSpPr>
              <a:spLocks/>
            </p:cNvSpPr>
            <p:nvPr/>
          </p:nvSpPr>
          <p:spPr bwMode="auto">
            <a:xfrm>
              <a:off x="2738" y="1966"/>
              <a:ext cx="419" cy="95"/>
            </a:xfrm>
            <a:custGeom>
              <a:avLst/>
              <a:gdLst>
                <a:gd name="T0" fmla="*/ 418 w 419"/>
                <a:gd name="T1" fmla="*/ 94 h 95"/>
                <a:gd name="T2" fmla="*/ 375 w 419"/>
                <a:gd name="T3" fmla="*/ 94 h 95"/>
                <a:gd name="T4" fmla="*/ 375 w 419"/>
                <a:gd name="T5" fmla="*/ 58 h 95"/>
                <a:gd name="T6" fmla="*/ 375 w 419"/>
                <a:gd name="T7" fmla="*/ 29 h 95"/>
                <a:gd name="T8" fmla="*/ 223 w 419"/>
                <a:gd name="T9" fmla="*/ 29 h 95"/>
                <a:gd name="T10" fmla="*/ 223 w 419"/>
                <a:gd name="T11" fmla="*/ 94 h 95"/>
                <a:gd name="T12" fmla="*/ 0 w 419"/>
                <a:gd name="T13" fmla="*/ 94 h 95"/>
                <a:gd name="T14" fmla="*/ 0 w 419"/>
                <a:gd name="T15" fmla="*/ 58 h 95"/>
                <a:gd name="T16" fmla="*/ 202 w 419"/>
                <a:gd name="T17" fmla="*/ 58 h 95"/>
                <a:gd name="T18" fmla="*/ 202 w 419"/>
                <a:gd name="T19" fmla="*/ 0 h 95"/>
                <a:gd name="T20" fmla="*/ 396 w 419"/>
                <a:gd name="T21" fmla="*/ 0 h 95"/>
                <a:gd name="T22" fmla="*/ 396 w 419"/>
                <a:gd name="T23" fmla="*/ 58 h 95"/>
                <a:gd name="T24" fmla="*/ 418 w 419"/>
                <a:gd name="T25" fmla="*/ 58 h 95"/>
                <a:gd name="T26" fmla="*/ 418 w 419"/>
                <a:gd name="T27" fmla="*/ 94 h 95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419" h="95">
                  <a:moveTo>
                    <a:pt x="418" y="94"/>
                  </a:moveTo>
                  <a:lnTo>
                    <a:pt x="375" y="94"/>
                  </a:lnTo>
                  <a:lnTo>
                    <a:pt x="375" y="58"/>
                  </a:lnTo>
                  <a:lnTo>
                    <a:pt x="375" y="29"/>
                  </a:lnTo>
                  <a:lnTo>
                    <a:pt x="223" y="29"/>
                  </a:lnTo>
                  <a:lnTo>
                    <a:pt x="223" y="94"/>
                  </a:lnTo>
                  <a:lnTo>
                    <a:pt x="0" y="94"/>
                  </a:lnTo>
                  <a:lnTo>
                    <a:pt x="0" y="58"/>
                  </a:lnTo>
                  <a:lnTo>
                    <a:pt x="202" y="58"/>
                  </a:lnTo>
                  <a:lnTo>
                    <a:pt x="202" y="0"/>
                  </a:lnTo>
                  <a:lnTo>
                    <a:pt x="396" y="0"/>
                  </a:lnTo>
                  <a:lnTo>
                    <a:pt x="396" y="58"/>
                  </a:lnTo>
                  <a:lnTo>
                    <a:pt x="418" y="58"/>
                  </a:lnTo>
                  <a:lnTo>
                    <a:pt x="418" y="94"/>
                  </a:lnTo>
                </a:path>
              </a:pathLst>
            </a:custGeom>
            <a:solidFill>
              <a:srgbClr val="FAFD00"/>
            </a:solidFill>
            <a:ln w="12700" cap="rnd" cmpd="sng">
              <a:solidFill>
                <a:srgbClr val="FAFD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304" name="Rectangle 139" descr="70%"/>
            <p:cNvSpPr>
              <a:spLocks noChangeArrowheads="1"/>
            </p:cNvSpPr>
            <p:nvPr/>
          </p:nvSpPr>
          <p:spPr bwMode="auto">
            <a:xfrm>
              <a:off x="4553" y="3037"/>
              <a:ext cx="253" cy="123"/>
            </a:xfrm>
            <a:prstGeom prst="rect">
              <a:avLst/>
            </a:prstGeom>
            <a:pattFill prst="pct70">
              <a:fgClr>
                <a:srgbClr val="919191"/>
              </a:fgClr>
              <a:bgClr>
                <a:schemeClr val="tx1"/>
              </a:bgClr>
            </a:patt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 dirty="0"/>
            </a:p>
          </p:txBody>
        </p:sp>
        <p:sp>
          <p:nvSpPr>
            <p:cNvPr id="8305" name="Rectangle 140"/>
            <p:cNvSpPr>
              <a:spLocks noChangeArrowheads="1"/>
            </p:cNvSpPr>
            <p:nvPr/>
          </p:nvSpPr>
          <p:spPr bwMode="auto">
            <a:xfrm>
              <a:off x="4879" y="3024"/>
              <a:ext cx="322" cy="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1300" b="0" dirty="0">
                  <a:solidFill>
                    <a:srgbClr val="000000"/>
                  </a:solidFill>
                </a:rPr>
                <a:t>NiCr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93776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ChangeArrowheads="1"/>
          </p:cNvSpPr>
          <p:nvPr/>
        </p:nvSpPr>
        <p:spPr bwMode="auto">
          <a:xfrm>
            <a:off x="596900" y="1447800"/>
            <a:ext cx="4191000" cy="4191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 dirty="0"/>
          </a:p>
        </p:txBody>
      </p: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6446" y="1727405"/>
            <a:ext cx="2559050" cy="1071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220" name="Rectangle 4"/>
          <p:cNvSpPr>
            <a:spLocks noGrp="1" noChangeArrowheads="1"/>
          </p:cNvSpPr>
          <p:nvPr>
            <p:ph type="title"/>
          </p:nvPr>
        </p:nvSpPr>
        <p:spPr>
          <a:xfrm>
            <a:off x="300038" y="246062"/>
            <a:ext cx="6461125" cy="496887"/>
          </a:xfrm>
        </p:spPr>
        <p:txBody>
          <a:bodyPr/>
          <a:lstStyle/>
          <a:p>
            <a:r>
              <a:rPr lang="en-US" altLang="en-US" dirty="0" smtClean="0"/>
              <a:t>High Frequency Capacitors</a:t>
            </a:r>
          </a:p>
        </p:txBody>
      </p:sp>
      <p:sp>
        <p:nvSpPr>
          <p:cNvPr id="9221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48296" y="1346405"/>
            <a:ext cx="4089400" cy="4114800"/>
          </a:xfrm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>
              <a:spcBef>
                <a:spcPct val="10000"/>
              </a:spcBef>
            </a:pPr>
            <a:r>
              <a:rPr lang="en-US" altLang="en-US" sz="2400" dirty="0" smtClean="0"/>
              <a:t>Purpose</a:t>
            </a:r>
            <a:endParaRPr lang="en-US" altLang="en-US" sz="2400" i="1" u="sng" dirty="0" smtClean="0"/>
          </a:p>
          <a:p>
            <a:pPr lvl="1">
              <a:spcBef>
                <a:spcPct val="10000"/>
              </a:spcBef>
            </a:pPr>
            <a:r>
              <a:rPr lang="en-US" altLang="en-US" sz="1800" dirty="0" smtClean="0"/>
              <a:t>Tuning elements</a:t>
            </a:r>
          </a:p>
          <a:p>
            <a:pPr lvl="1">
              <a:spcBef>
                <a:spcPct val="10000"/>
              </a:spcBef>
            </a:pPr>
            <a:r>
              <a:rPr lang="en-US" altLang="en-US" sz="1800" dirty="0" smtClean="0"/>
              <a:t>Block DC voltages</a:t>
            </a:r>
            <a:endParaRPr lang="en-US" altLang="en-US" sz="1800" i="1" u="sng" dirty="0" smtClean="0"/>
          </a:p>
          <a:p>
            <a:pPr>
              <a:spcBef>
                <a:spcPct val="10000"/>
              </a:spcBef>
            </a:pPr>
            <a:r>
              <a:rPr lang="en-US" altLang="en-US" sz="2400" i="1" u="sng" dirty="0" smtClean="0"/>
              <a:t>M</a:t>
            </a:r>
            <a:r>
              <a:rPr lang="en-US" altLang="en-US" sz="2400" dirty="0" smtClean="0"/>
              <a:t>etal-</a:t>
            </a:r>
            <a:r>
              <a:rPr lang="en-US" altLang="en-US" sz="2400" i="1" u="sng" dirty="0" smtClean="0"/>
              <a:t>N</a:t>
            </a:r>
            <a:r>
              <a:rPr lang="en-US" altLang="en-US" sz="2400" dirty="0" smtClean="0"/>
              <a:t>itride-</a:t>
            </a:r>
            <a:r>
              <a:rPr lang="en-US" altLang="en-US" sz="2400" i="1" u="sng" dirty="0" smtClean="0"/>
              <a:t>M</a:t>
            </a:r>
            <a:r>
              <a:rPr lang="en-US" altLang="en-US" sz="2400" dirty="0" smtClean="0"/>
              <a:t>etal</a:t>
            </a:r>
          </a:p>
          <a:p>
            <a:pPr lvl="1">
              <a:spcBef>
                <a:spcPct val="10000"/>
              </a:spcBef>
            </a:pPr>
            <a:r>
              <a:rPr lang="en-US" altLang="en-US" sz="1800" dirty="0" smtClean="0"/>
              <a:t>Two layers of metal</a:t>
            </a:r>
          </a:p>
          <a:p>
            <a:pPr lvl="1">
              <a:spcBef>
                <a:spcPct val="10000"/>
              </a:spcBef>
            </a:pPr>
            <a:r>
              <a:rPr lang="en-US" altLang="en-US" sz="1800" dirty="0" smtClean="0"/>
              <a:t>Air bridge over dielectric edge</a:t>
            </a:r>
          </a:p>
          <a:p>
            <a:pPr lvl="1">
              <a:spcBef>
                <a:spcPct val="10000"/>
              </a:spcBef>
            </a:pPr>
            <a:r>
              <a:rPr lang="en-US" altLang="en-US" sz="1800" dirty="0" smtClean="0"/>
              <a:t>Q </a:t>
            </a:r>
            <a:r>
              <a:rPr lang="en-US" altLang="en-US" sz="1800" dirty="0" smtClean="0">
                <a:latin typeface="Symbol" panose="05050102010706020507" pitchFamily="18" charset="2"/>
              </a:rPr>
              <a:t>&gt;&gt; </a:t>
            </a:r>
            <a:r>
              <a:rPr lang="en-US" altLang="en-US" sz="1800" dirty="0" smtClean="0"/>
              <a:t>100 @ 2.0 GHz</a:t>
            </a:r>
          </a:p>
          <a:p>
            <a:pPr>
              <a:spcBef>
                <a:spcPct val="10000"/>
              </a:spcBef>
            </a:pPr>
            <a:r>
              <a:rPr lang="en-US" altLang="en-US" sz="2400" dirty="0" smtClean="0"/>
              <a:t>Interdigitated</a:t>
            </a:r>
          </a:p>
          <a:p>
            <a:pPr lvl="1">
              <a:spcBef>
                <a:spcPct val="10000"/>
              </a:spcBef>
            </a:pPr>
            <a:r>
              <a:rPr lang="en-US" altLang="en-US" sz="1800" dirty="0" smtClean="0"/>
              <a:t>Air dielectric</a:t>
            </a:r>
          </a:p>
          <a:p>
            <a:pPr lvl="1">
              <a:spcBef>
                <a:spcPct val="10000"/>
              </a:spcBef>
            </a:pPr>
            <a:r>
              <a:rPr lang="en-US" altLang="en-US" sz="1800" dirty="0" smtClean="0"/>
              <a:t>Low breakdown voltages</a:t>
            </a:r>
          </a:p>
          <a:p>
            <a:pPr lvl="1">
              <a:spcBef>
                <a:spcPct val="10000"/>
              </a:spcBef>
            </a:pPr>
            <a:r>
              <a:rPr lang="en-US" altLang="en-US" sz="1800" dirty="0" smtClean="0"/>
              <a:t>Small capacitance values</a:t>
            </a:r>
          </a:p>
          <a:p>
            <a:pPr lvl="1">
              <a:spcBef>
                <a:spcPct val="10000"/>
              </a:spcBef>
            </a:pPr>
            <a:r>
              <a:rPr lang="en-US" altLang="en-US" sz="1800" dirty="0" smtClean="0"/>
              <a:t>Single layer of metal</a:t>
            </a:r>
          </a:p>
          <a:p>
            <a:pPr>
              <a:spcBef>
                <a:spcPct val="10000"/>
              </a:spcBef>
            </a:pPr>
            <a:r>
              <a:rPr lang="en-US" altLang="en-US" sz="2400" dirty="0" smtClean="0"/>
              <a:t>Microstrip Line Stub</a:t>
            </a:r>
          </a:p>
          <a:p>
            <a:pPr lvl="1">
              <a:spcBef>
                <a:spcPct val="10000"/>
              </a:spcBef>
            </a:pPr>
            <a:r>
              <a:rPr lang="en-US" altLang="en-US" sz="1800" dirty="0" smtClean="0"/>
              <a:t>Unterminated (Open)</a:t>
            </a:r>
          </a:p>
          <a:p>
            <a:pPr lvl="1">
              <a:spcBef>
                <a:spcPct val="10000"/>
              </a:spcBef>
            </a:pPr>
            <a:r>
              <a:rPr lang="en-US" altLang="en-US" sz="1800" dirty="0" smtClean="0"/>
              <a:t>&lt;1/4 </a:t>
            </a:r>
            <a:r>
              <a:rPr lang="en-US" altLang="en-US" sz="1800" dirty="0" smtClean="0">
                <a:latin typeface="Symbol" panose="05050102010706020507" pitchFamily="18" charset="2"/>
              </a:rPr>
              <a:t>l</a:t>
            </a:r>
            <a:r>
              <a:rPr lang="en-US" altLang="en-US" sz="1800" dirty="0" smtClean="0"/>
              <a:t> at frequency</a:t>
            </a:r>
          </a:p>
          <a:p>
            <a:pPr lvl="1">
              <a:spcBef>
                <a:spcPct val="10000"/>
              </a:spcBef>
            </a:pPr>
            <a:r>
              <a:rPr lang="en-US" altLang="en-US" sz="1800" dirty="0" smtClean="0"/>
              <a:t>Very large at low frequencies </a:t>
            </a:r>
          </a:p>
          <a:p>
            <a:pPr lvl="1">
              <a:spcBef>
                <a:spcPct val="0"/>
              </a:spcBef>
            </a:pPr>
            <a:endParaRPr lang="en-US" altLang="en-US" sz="1800" dirty="0" smtClean="0"/>
          </a:p>
          <a:p>
            <a:pPr>
              <a:spcBef>
                <a:spcPct val="180000"/>
              </a:spcBef>
            </a:pPr>
            <a:endParaRPr lang="en-US" altLang="en-US" sz="2400" dirty="0" smtClean="0"/>
          </a:p>
        </p:txBody>
      </p:sp>
      <p:pic>
        <p:nvPicPr>
          <p:cNvPr id="9222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8046" y="3546680"/>
            <a:ext cx="2101850" cy="1271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9223" name="Group 7"/>
          <p:cNvGrpSpPr>
            <a:grpSpLocks/>
          </p:cNvGrpSpPr>
          <p:nvPr/>
        </p:nvGrpSpPr>
        <p:grpSpPr bwMode="auto">
          <a:xfrm>
            <a:off x="6031533" y="5370717"/>
            <a:ext cx="2141538" cy="800100"/>
            <a:chOff x="3582" y="2916"/>
            <a:chExt cx="1349" cy="504"/>
          </a:xfrm>
        </p:grpSpPr>
        <p:sp>
          <p:nvSpPr>
            <p:cNvPr id="9244" name="Rectangle 8"/>
            <p:cNvSpPr>
              <a:spLocks noChangeArrowheads="1"/>
            </p:cNvSpPr>
            <p:nvPr/>
          </p:nvSpPr>
          <p:spPr bwMode="auto">
            <a:xfrm>
              <a:off x="3582" y="3240"/>
              <a:ext cx="1349" cy="180"/>
            </a:xfrm>
            <a:prstGeom prst="rect">
              <a:avLst/>
            </a:prstGeom>
            <a:solidFill>
              <a:srgbClr val="FF6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 dirty="0">
                <a:latin typeface="+mn-lt"/>
              </a:endParaRPr>
            </a:p>
          </p:txBody>
        </p:sp>
        <p:sp>
          <p:nvSpPr>
            <p:cNvPr id="9245" name="Rectangle 9"/>
            <p:cNvSpPr>
              <a:spLocks noChangeArrowheads="1"/>
            </p:cNvSpPr>
            <p:nvPr/>
          </p:nvSpPr>
          <p:spPr bwMode="auto">
            <a:xfrm>
              <a:off x="4283" y="2916"/>
              <a:ext cx="277" cy="324"/>
            </a:xfrm>
            <a:prstGeom prst="rect">
              <a:avLst/>
            </a:prstGeom>
            <a:solidFill>
              <a:srgbClr val="FF6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 dirty="0">
                <a:latin typeface="+mn-lt"/>
              </a:endParaRPr>
            </a:p>
          </p:txBody>
        </p:sp>
      </p:grpSp>
      <p:sp>
        <p:nvSpPr>
          <p:cNvPr id="9224" name="Text Box 10"/>
          <p:cNvSpPr txBox="1">
            <a:spLocks noChangeArrowheads="1"/>
          </p:cNvSpPr>
          <p:nvPr/>
        </p:nvSpPr>
        <p:spPr bwMode="auto">
          <a:xfrm>
            <a:off x="4958079" y="1743280"/>
            <a:ext cx="1067408" cy="2862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dirty="0">
                <a:solidFill>
                  <a:schemeClr val="tx1"/>
                </a:solidFill>
                <a:latin typeface="+mn-lt"/>
              </a:rPr>
              <a:t>Terminal 2</a:t>
            </a:r>
          </a:p>
        </p:txBody>
      </p:sp>
      <p:sp>
        <p:nvSpPr>
          <p:cNvPr id="9225" name="Text Box 11"/>
          <p:cNvSpPr txBox="1">
            <a:spLocks noChangeArrowheads="1"/>
          </p:cNvSpPr>
          <p:nvPr/>
        </p:nvSpPr>
        <p:spPr bwMode="auto">
          <a:xfrm>
            <a:off x="5889143" y="2886280"/>
            <a:ext cx="1180131" cy="5878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dirty="0">
                <a:solidFill>
                  <a:schemeClr val="tx1"/>
                </a:solidFill>
                <a:latin typeface="+mn-lt"/>
              </a:rPr>
              <a:t>HMIC Glass</a:t>
            </a:r>
          </a:p>
          <a:p>
            <a:r>
              <a:rPr lang="en-US" altLang="en-US" sz="1400" dirty="0">
                <a:solidFill>
                  <a:schemeClr val="tx1"/>
                </a:solidFill>
                <a:latin typeface="+mn-lt"/>
              </a:rPr>
              <a:t> Substrate</a:t>
            </a:r>
          </a:p>
        </p:txBody>
      </p:sp>
      <p:sp>
        <p:nvSpPr>
          <p:cNvPr id="9226" name="Text Box 12"/>
          <p:cNvSpPr txBox="1">
            <a:spLocks noChangeArrowheads="1"/>
          </p:cNvSpPr>
          <p:nvPr/>
        </p:nvSpPr>
        <p:spPr bwMode="auto">
          <a:xfrm>
            <a:off x="7498079" y="3038680"/>
            <a:ext cx="1067408" cy="2862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dirty="0">
                <a:solidFill>
                  <a:schemeClr val="tx1"/>
                </a:solidFill>
                <a:latin typeface="+mn-lt"/>
              </a:rPr>
              <a:t>Terminal 1</a:t>
            </a:r>
          </a:p>
        </p:txBody>
      </p:sp>
      <p:sp>
        <p:nvSpPr>
          <p:cNvPr id="9227" name="Text Box 13"/>
          <p:cNvSpPr txBox="1">
            <a:spLocks noChangeArrowheads="1"/>
          </p:cNvSpPr>
          <p:nvPr/>
        </p:nvSpPr>
        <p:spPr bwMode="auto">
          <a:xfrm>
            <a:off x="4865326" y="2352880"/>
            <a:ext cx="990977" cy="8894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1400" dirty="0">
                <a:solidFill>
                  <a:schemeClr val="tx1"/>
                </a:solidFill>
                <a:latin typeface="+mn-lt"/>
              </a:rPr>
              <a:t>PECVD </a:t>
            </a:r>
          </a:p>
          <a:p>
            <a:pPr algn="ctr"/>
            <a:r>
              <a:rPr lang="en-US" altLang="en-US" sz="1400" dirty="0">
                <a:solidFill>
                  <a:schemeClr val="tx1"/>
                </a:solidFill>
                <a:latin typeface="+mn-lt"/>
              </a:rPr>
              <a:t>Nitride </a:t>
            </a:r>
          </a:p>
          <a:p>
            <a:pPr algn="ctr"/>
            <a:r>
              <a:rPr lang="en-US" altLang="en-US" sz="1400" dirty="0">
                <a:solidFill>
                  <a:schemeClr val="tx1"/>
                </a:solidFill>
                <a:latin typeface="+mn-lt"/>
              </a:rPr>
              <a:t>Dielectric</a:t>
            </a:r>
          </a:p>
        </p:txBody>
      </p:sp>
      <p:sp>
        <p:nvSpPr>
          <p:cNvPr id="9228" name="Text Box 14"/>
          <p:cNvSpPr txBox="1">
            <a:spLocks noChangeArrowheads="1"/>
          </p:cNvSpPr>
          <p:nvPr/>
        </p:nvSpPr>
        <p:spPr bwMode="auto">
          <a:xfrm>
            <a:off x="5212079" y="3445080"/>
            <a:ext cx="1067408" cy="2862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dirty="0">
                <a:solidFill>
                  <a:schemeClr val="tx1"/>
                </a:solidFill>
                <a:latin typeface="+mn-lt"/>
              </a:rPr>
              <a:t>Terminal 2</a:t>
            </a:r>
          </a:p>
        </p:txBody>
      </p:sp>
      <p:sp>
        <p:nvSpPr>
          <p:cNvPr id="9229" name="Text Box 15"/>
          <p:cNvSpPr txBox="1">
            <a:spLocks noChangeArrowheads="1"/>
          </p:cNvSpPr>
          <p:nvPr/>
        </p:nvSpPr>
        <p:spPr bwMode="auto">
          <a:xfrm>
            <a:off x="5815090" y="5121480"/>
            <a:ext cx="736099" cy="5878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1400" dirty="0">
                <a:solidFill>
                  <a:schemeClr val="tx1"/>
                </a:solidFill>
                <a:latin typeface="+mn-lt"/>
              </a:rPr>
              <a:t>Stub</a:t>
            </a:r>
          </a:p>
          <a:p>
            <a:pPr algn="ctr"/>
            <a:r>
              <a:rPr lang="en-US" altLang="en-US" sz="1400" dirty="0">
                <a:solidFill>
                  <a:schemeClr val="tx1"/>
                </a:solidFill>
                <a:latin typeface="+mn-lt"/>
              </a:rPr>
              <a:t>&lt; 1/4 </a:t>
            </a:r>
            <a:r>
              <a:rPr lang="en-US" altLang="en-US" sz="1400" dirty="0" smtClean="0">
                <a:solidFill>
                  <a:schemeClr val="tx1"/>
                </a:solidFill>
                <a:latin typeface="+mn-lt"/>
                <a:sym typeface="Symbol" panose="05050102010706020507" pitchFamily="18" charset="2"/>
              </a:rPr>
              <a:t></a:t>
            </a:r>
            <a:endParaRPr lang="en-US" altLang="en-US" sz="14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9230" name="Text Box 16"/>
          <p:cNvSpPr txBox="1">
            <a:spLocks noChangeArrowheads="1"/>
          </p:cNvSpPr>
          <p:nvPr/>
        </p:nvSpPr>
        <p:spPr bwMode="auto">
          <a:xfrm>
            <a:off x="5094006" y="6302580"/>
            <a:ext cx="1467068" cy="2862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dirty="0">
                <a:solidFill>
                  <a:schemeClr val="tx1"/>
                </a:solidFill>
                <a:latin typeface="+mn-lt"/>
              </a:rPr>
              <a:t>Microstrip Line</a:t>
            </a:r>
          </a:p>
        </p:txBody>
      </p:sp>
      <p:sp>
        <p:nvSpPr>
          <p:cNvPr id="9231" name="Text Box 17"/>
          <p:cNvSpPr txBox="1">
            <a:spLocks noChangeArrowheads="1"/>
          </p:cNvSpPr>
          <p:nvPr/>
        </p:nvSpPr>
        <p:spPr bwMode="auto">
          <a:xfrm>
            <a:off x="5079639" y="4003880"/>
            <a:ext cx="990977" cy="5878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1400" dirty="0">
                <a:solidFill>
                  <a:schemeClr val="tx1"/>
                </a:solidFill>
                <a:latin typeface="+mn-lt"/>
              </a:rPr>
              <a:t>Air </a:t>
            </a:r>
          </a:p>
          <a:p>
            <a:pPr algn="ctr"/>
            <a:r>
              <a:rPr lang="en-US" altLang="en-US" sz="1400" dirty="0">
                <a:solidFill>
                  <a:schemeClr val="tx1"/>
                </a:solidFill>
                <a:latin typeface="+mn-lt"/>
              </a:rPr>
              <a:t>Dielectric</a:t>
            </a:r>
          </a:p>
        </p:txBody>
      </p:sp>
      <p:sp>
        <p:nvSpPr>
          <p:cNvPr id="9232" name="Text Box 18"/>
          <p:cNvSpPr txBox="1">
            <a:spLocks noChangeArrowheads="1"/>
          </p:cNvSpPr>
          <p:nvPr/>
        </p:nvSpPr>
        <p:spPr bwMode="auto">
          <a:xfrm>
            <a:off x="7701279" y="4689680"/>
            <a:ext cx="1067408" cy="2862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dirty="0">
                <a:solidFill>
                  <a:schemeClr val="tx1"/>
                </a:solidFill>
                <a:latin typeface="+mn-lt"/>
              </a:rPr>
              <a:t>Terminal 1</a:t>
            </a:r>
          </a:p>
        </p:txBody>
      </p:sp>
      <p:sp>
        <p:nvSpPr>
          <p:cNvPr id="9233" name="Line 19"/>
          <p:cNvSpPr>
            <a:spLocks noChangeShapeType="1"/>
          </p:cNvSpPr>
          <p:nvPr/>
        </p:nvSpPr>
        <p:spPr bwMode="auto">
          <a:xfrm>
            <a:off x="5996608" y="1897267"/>
            <a:ext cx="965200" cy="63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>
              <a:latin typeface="+mn-lt"/>
            </a:endParaRPr>
          </a:p>
        </p:txBody>
      </p:sp>
      <p:sp>
        <p:nvSpPr>
          <p:cNvPr id="9234" name="Line 20"/>
          <p:cNvSpPr>
            <a:spLocks noChangeShapeType="1"/>
          </p:cNvSpPr>
          <p:nvPr/>
        </p:nvSpPr>
        <p:spPr bwMode="auto">
          <a:xfrm flipH="1" flipV="1">
            <a:off x="7241208" y="2240167"/>
            <a:ext cx="863600" cy="7493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>
              <a:latin typeface="+mn-lt"/>
            </a:endParaRPr>
          </a:p>
        </p:txBody>
      </p:sp>
      <p:sp>
        <p:nvSpPr>
          <p:cNvPr id="9235" name="Line 21"/>
          <p:cNvSpPr>
            <a:spLocks noChangeShapeType="1"/>
          </p:cNvSpPr>
          <p:nvPr/>
        </p:nvSpPr>
        <p:spPr bwMode="auto">
          <a:xfrm flipV="1">
            <a:off x="5729908" y="2097292"/>
            <a:ext cx="1331913" cy="5238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>
              <a:latin typeface="+mn-lt"/>
            </a:endParaRPr>
          </a:p>
        </p:txBody>
      </p:sp>
      <p:sp>
        <p:nvSpPr>
          <p:cNvPr id="9236" name="Line 22"/>
          <p:cNvSpPr>
            <a:spLocks noChangeShapeType="1"/>
          </p:cNvSpPr>
          <p:nvPr/>
        </p:nvSpPr>
        <p:spPr bwMode="auto">
          <a:xfrm flipV="1">
            <a:off x="6390308" y="2684667"/>
            <a:ext cx="24130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>
              <a:latin typeface="+mn-lt"/>
            </a:endParaRPr>
          </a:p>
        </p:txBody>
      </p:sp>
      <p:sp>
        <p:nvSpPr>
          <p:cNvPr id="9237" name="Line 23"/>
          <p:cNvSpPr>
            <a:spLocks noChangeShapeType="1"/>
          </p:cNvSpPr>
          <p:nvPr/>
        </p:nvSpPr>
        <p:spPr bwMode="auto">
          <a:xfrm>
            <a:off x="6225208" y="3649867"/>
            <a:ext cx="508000" cy="101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>
              <a:latin typeface="+mn-lt"/>
            </a:endParaRPr>
          </a:p>
        </p:txBody>
      </p:sp>
      <p:sp>
        <p:nvSpPr>
          <p:cNvPr id="9238" name="Line 24"/>
          <p:cNvSpPr>
            <a:spLocks noChangeShapeType="1"/>
          </p:cNvSpPr>
          <p:nvPr/>
        </p:nvSpPr>
        <p:spPr bwMode="auto">
          <a:xfrm flipH="1" flipV="1">
            <a:off x="7444408" y="4246767"/>
            <a:ext cx="317500" cy="546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>
              <a:latin typeface="+mn-lt"/>
            </a:endParaRPr>
          </a:p>
        </p:txBody>
      </p:sp>
      <p:sp>
        <p:nvSpPr>
          <p:cNvPr id="9239" name="Line 25"/>
          <p:cNvSpPr>
            <a:spLocks noChangeShapeType="1"/>
          </p:cNvSpPr>
          <p:nvPr/>
        </p:nvSpPr>
        <p:spPr bwMode="auto">
          <a:xfrm flipV="1">
            <a:off x="5831508" y="4119767"/>
            <a:ext cx="105410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>
              <a:latin typeface="+mn-lt"/>
            </a:endParaRPr>
          </a:p>
        </p:txBody>
      </p:sp>
      <p:sp>
        <p:nvSpPr>
          <p:cNvPr id="9240" name="Line 26"/>
          <p:cNvSpPr>
            <a:spLocks noChangeShapeType="1"/>
          </p:cNvSpPr>
          <p:nvPr/>
        </p:nvSpPr>
        <p:spPr bwMode="auto">
          <a:xfrm>
            <a:off x="6530008" y="5402467"/>
            <a:ext cx="787400" cy="190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>
              <a:latin typeface="+mn-lt"/>
            </a:endParaRPr>
          </a:p>
        </p:txBody>
      </p:sp>
      <p:sp>
        <p:nvSpPr>
          <p:cNvPr id="9241" name="Line 27"/>
          <p:cNvSpPr>
            <a:spLocks noChangeShapeType="1"/>
          </p:cNvSpPr>
          <p:nvPr/>
        </p:nvSpPr>
        <p:spPr bwMode="auto">
          <a:xfrm flipV="1">
            <a:off x="5844208" y="6062867"/>
            <a:ext cx="520700" cy="254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>
              <a:latin typeface="+mn-lt"/>
            </a:endParaRPr>
          </a:p>
        </p:txBody>
      </p:sp>
      <p:sp>
        <p:nvSpPr>
          <p:cNvPr id="9242" name="Text Box 28"/>
          <p:cNvSpPr txBox="1">
            <a:spLocks noChangeArrowheads="1"/>
          </p:cNvSpPr>
          <p:nvPr/>
        </p:nvSpPr>
        <p:spPr bwMode="auto">
          <a:xfrm>
            <a:off x="7555050" y="1238041"/>
            <a:ext cx="1051891" cy="2862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dirty="0">
                <a:solidFill>
                  <a:schemeClr val="tx1"/>
                </a:solidFill>
                <a:latin typeface="+mn-lt"/>
              </a:rPr>
              <a:t>Air Bridge</a:t>
            </a:r>
          </a:p>
        </p:txBody>
      </p:sp>
      <p:sp>
        <p:nvSpPr>
          <p:cNvPr id="9243" name="Line 29"/>
          <p:cNvSpPr>
            <a:spLocks noChangeShapeType="1"/>
          </p:cNvSpPr>
          <p:nvPr/>
        </p:nvSpPr>
        <p:spPr bwMode="auto">
          <a:xfrm flipH="1">
            <a:off x="7787308" y="1554367"/>
            <a:ext cx="292100" cy="279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63810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ChangeArrowheads="1"/>
          </p:cNvSpPr>
          <p:nvPr/>
        </p:nvSpPr>
        <p:spPr bwMode="auto">
          <a:xfrm>
            <a:off x="457200" y="1447800"/>
            <a:ext cx="3632200" cy="426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 dirty="0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8457" y="1275522"/>
            <a:ext cx="3556000" cy="4114800"/>
          </a:xfrm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>
              <a:spcBef>
                <a:spcPct val="150000"/>
              </a:spcBef>
            </a:pPr>
            <a:r>
              <a:rPr lang="en-US" altLang="en-US" sz="2400" dirty="0" smtClean="0"/>
              <a:t>Metal Lines</a:t>
            </a:r>
          </a:p>
          <a:p>
            <a:pPr lvl="1">
              <a:spcBef>
                <a:spcPct val="0"/>
              </a:spcBef>
            </a:pPr>
            <a:r>
              <a:rPr lang="en-US" altLang="en-US" sz="1800" dirty="0" smtClean="0"/>
              <a:t>Enhanced mutual inductance between segments</a:t>
            </a:r>
          </a:p>
          <a:p>
            <a:pPr lvl="1">
              <a:spcBef>
                <a:spcPct val="0"/>
              </a:spcBef>
            </a:pPr>
            <a:r>
              <a:rPr lang="en-US" altLang="en-US" sz="1800" dirty="0" smtClean="0"/>
              <a:t>Parasitic capacitance to ground</a:t>
            </a:r>
          </a:p>
          <a:p>
            <a:pPr>
              <a:spcBef>
                <a:spcPct val="50000"/>
              </a:spcBef>
            </a:pPr>
            <a:r>
              <a:rPr lang="en-US" altLang="en-US" sz="2400" dirty="0" smtClean="0"/>
              <a:t>Spiral</a:t>
            </a:r>
          </a:p>
          <a:p>
            <a:pPr lvl="1">
              <a:spcBef>
                <a:spcPct val="0"/>
              </a:spcBef>
            </a:pPr>
            <a:r>
              <a:rPr lang="en-US" altLang="en-US" sz="1800" dirty="0" smtClean="0"/>
              <a:t>Round - higher Q</a:t>
            </a:r>
          </a:p>
          <a:p>
            <a:pPr lvl="1">
              <a:spcBef>
                <a:spcPct val="0"/>
              </a:spcBef>
            </a:pPr>
            <a:r>
              <a:rPr lang="en-US" altLang="en-US" sz="1800" dirty="0" smtClean="0"/>
              <a:t>Square - max inductance</a:t>
            </a:r>
          </a:p>
          <a:p>
            <a:pPr lvl="1">
              <a:spcBef>
                <a:spcPct val="0"/>
              </a:spcBef>
            </a:pPr>
            <a:r>
              <a:rPr lang="en-US" altLang="en-US" sz="1800" dirty="0" smtClean="0"/>
              <a:t>Two layer, air bridge metal</a:t>
            </a:r>
          </a:p>
          <a:p>
            <a:pPr lvl="1">
              <a:spcBef>
                <a:spcPct val="0"/>
              </a:spcBef>
            </a:pPr>
            <a:r>
              <a:rPr lang="en-US" altLang="en-US" sz="1800" dirty="0" smtClean="0"/>
              <a:t>Q </a:t>
            </a:r>
            <a:r>
              <a:rPr lang="en-US" altLang="en-US" sz="1800" dirty="0" smtClean="0">
                <a:latin typeface="Symbol" panose="05050102010706020507" pitchFamily="18" charset="2"/>
              </a:rPr>
              <a:t>» </a:t>
            </a:r>
            <a:r>
              <a:rPr lang="en-US" altLang="en-US" sz="1800" dirty="0" smtClean="0"/>
              <a:t>42 @ 2.0 GHz</a:t>
            </a:r>
          </a:p>
          <a:p>
            <a:pPr>
              <a:spcBef>
                <a:spcPct val="50000"/>
              </a:spcBef>
            </a:pPr>
            <a:r>
              <a:rPr lang="en-US" altLang="en-US" sz="2400" dirty="0" smtClean="0"/>
              <a:t>Serpentine</a:t>
            </a:r>
          </a:p>
          <a:p>
            <a:pPr lvl="1">
              <a:spcBef>
                <a:spcPct val="0"/>
              </a:spcBef>
            </a:pPr>
            <a:r>
              <a:rPr lang="en-US" altLang="en-US" sz="1800" dirty="0" smtClean="0"/>
              <a:t>Single level metal</a:t>
            </a:r>
          </a:p>
          <a:p>
            <a:pPr lvl="1">
              <a:spcBef>
                <a:spcPct val="0"/>
              </a:spcBef>
            </a:pPr>
            <a:r>
              <a:rPr lang="en-US" altLang="en-US" sz="1800" dirty="0" smtClean="0"/>
              <a:t>Low inductive values</a:t>
            </a:r>
          </a:p>
          <a:p>
            <a:pPr lvl="1">
              <a:spcBef>
                <a:spcPct val="0"/>
              </a:spcBef>
            </a:pPr>
            <a:r>
              <a:rPr lang="en-US" altLang="en-US" sz="1800" dirty="0" smtClean="0"/>
              <a:t>Higher frequency applications</a:t>
            </a:r>
          </a:p>
          <a:p>
            <a:pPr lvl="1">
              <a:spcBef>
                <a:spcPct val="0"/>
              </a:spcBef>
            </a:pPr>
            <a:endParaRPr lang="en-US" altLang="en-US" sz="1800" dirty="0" smtClean="0"/>
          </a:p>
          <a:p>
            <a:pPr>
              <a:spcBef>
                <a:spcPct val="180000"/>
              </a:spcBef>
            </a:pPr>
            <a:endParaRPr lang="en-US" altLang="en-US" sz="2000" dirty="0" smtClean="0"/>
          </a:p>
        </p:txBody>
      </p:sp>
      <p:sp>
        <p:nvSpPr>
          <p:cNvPr id="10244" name="Rectangle 4"/>
          <p:cNvSpPr>
            <a:spLocks noGrp="1" noChangeArrowheads="1"/>
          </p:cNvSpPr>
          <p:nvPr>
            <p:ph type="title"/>
          </p:nvPr>
        </p:nvSpPr>
        <p:spPr>
          <a:xfrm>
            <a:off x="168275" y="150053"/>
            <a:ext cx="6461125" cy="566703"/>
          </a:xfrm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ctr" anchorCtr="0"/>
          <a:lstStyle/>
          <a:p>
            <a:r>
              <a:rPr lang="en-US" altLang="en-US" dirty="0" smtClean="0"/>
              <a:t>High Frequency Inductors</a:t>
            </a:r>
            <a:endParaRPr lang="en-US" altLang="en-US" sz="2800" dirty="0" smtClean="0"/>
          </a:p>
        </p:txBody>
      </p:sp>
      <p:grpSp>
        <p:nvGrpSpPr>
          <p:cNvPr id="10245" name="Group 5"/>
          <p:cNvGrpSpPr>
            <a:grpSpLocks/>
          </p:cNvGrpSpPr>
          <p:nvPr/>
        </p:nvGrpSpPr>
        <p:grpSpPr bwMode="auto">
          <a:xfrm>
            <a:off x="4659313" y="1706492"/>
            <a:ext cx="1638300" cy="1349375"/>
            <a:chOff x="3719" y="900"/>
            <a:chExt cx="1032" cy="850"/>
          </a:xfrm>
        </p:grpSpPr>
        <p:sp>
          <p:nvSpPr>
            <p:cNvPr id="10276" name="Freeform 6" descr="Dark upward diagonal"/>
            <p:cNvSpPr>
              <a:spLocks/>
            </p:cNvSpPr>
            <p:nvPr/>
          </p:nvSpPr>
          <p:spPr bwMode="auto">
            <a:xfrm>
              <a:off x="4112" y="1301"/>
              <a:ext cx="639" cy="58"/>
            </a:xfrm>
            <a:custGeom>
              <a:avLst/>
              <a:gdLst>
                <a:gd name="T0" fmla="*/ 639 w 1278"/>
                <a:gd name="T1" fmla="*/ 58 h 115"/>
                <a:gd name="T2" fmla="*/ 639 w 1278"/>
                <a:gd name="T3" fmla="*/ 0 h 115"/>
                <a:gd name="T4" fmla="*/ 638 w 1278"/>
                <a:gd name="T5" fmla="*/ 0 h 115"/>
                <a:gd name="T6" fmla="*/ 638 w 1278"/>
                <a:gd name="T7" fmla="*/ 0 h 115"/>
                <a:gd name="T8" fmla="*/ 637 w 1278"/>
                <a:gd name="T9" fmla="*/ 0 h 115"/>
                <a:gd name="T10" fmla="*/ 634 w 1278"/>
                <a:gd name="T11" fmla="*/ 0 h 115"/>
                <a:gd name="T12" fmla="*/ 631 w 1278"/>
                <a:gd name="T13" fmla="*/ 0 h 115"/>
                <a:gd name="T14" fmla="*/ 627 w 1278"/>
                <a:gd name="T15" fmla="*/ 0 h 115"/>
                <a:gd name="T16" fmla="*/ 621 w 1278"/>
                <a:gd name="T17" fmla="*/ 0 h 115"/>
                <a:gd name="T18" fmla="*/ 615 w 1278"/>
                <a:gd name="T19" fmla="*/ 0 h 115"/>
                <a:gd name="T20" fmla="*/ 608 w 1278"/>
                <a:gd name="T21" fmla="*/ 0 h 115"/>
                <a:gd name="T22" fmla="*/ 599 w 1278"/>
                <a:gd name="T23" fmla="*/ 0 h 115"/>
                <a:gd name="T24" fmla="*/ 588 w 1278"/>
                <a:gd name="T25" fmla="*/ 0 h 115"/>
                <a:gd name="T26" fmla="*/ 576 w 1278"/>
                <a:gd name="T27" fmla="*/ 0 h 115"/>
                <a:gd name="T28" fmla="*/ 562 w 1278"/>
                <a:gd name="T29" fmla="*/ 0 h 115"/>
                <a:gd name="T30" fmla="*/ 546 w 1278"/>
                <a:gd name="T31" fmla="*/ 0 h 115"/>
                <a:gd name="T32" fmla="*/ 529 w 1278"/>
                <a:gd name="T33" fmla="*/ 0 h 115"/>
                <a:gd name="T34" fmla="*/ 508 w 1278"/>
                <a:gd name="T35" fmla="*/ 0 h 115"/>
                <a:gd name="T36" fmla="*/ 486 w 1278"/>
                <a:gd name="T37" fmla="*/ 0 h 115"/>
                <a:gd name="T38" fmla="*/ 461 w 1278"/>
                <a:gd name="T39" fmla="*/ 0 h 115"/>
                <a:gd name="T40" fmla="*/ 434 w 1278"/>
                <a:gd name="T41" fmla="*/ 0 h 115"/>
                <a:gd name="T42" fmla="*/ 405 w 1278"/>
                <a:gd name="T43" fmla="*/ 0 h 115"/>
                <a:gd name="T44" fmla="*/ 372 w 1278"/>
                <a:gd name="T45" fmla="*/ 0 h 115"/>
                <a:gd name="T46" fmla="*/ 337 w 1278"/>
                <a:gd name="T47" fmla="*/ 0 h 115"/>
                <a:gd name="T48" fmla="*/ 299 w 1278"/>
                <a:gd name="T49" fmla="*/ 0 h 115"/>
                <a:gd name="T50" fmla="*/ 258 w 1278"/>
                <a:gd name="T51" fmla="*/ 0 h 115"/>
                <a:gd name="T52" fmla="*/ 213 w 1278"/>
                <a:gd name="T53" fmla="*/ 0 h 115"/>
                <a:gd name="T54" fmla="*/ 165 w 1278"/>
                <a:gd name="T55" fmla="*/ 0 h 115"/>
                <a:gd name="T56" fmla="*/ 114 w 1278"/>
                <a:gd name="T57" fmla="*/ 0 h 115"/>
                <a:gd name="T58" fmla="*/ 59 w 1278"/>
                <a:gd name="T59" fmla="*/ 0 h 115"/>
                <a:gd name="T60" fmla="*/ 0 w 1278"/>
                <a:gd name="T61" fmla="*/ 0 h 115"/>
                <a:gd name="T62" fmla="*/ 0 w 1278"/>
                <a:gd name="T63" fmla="*/ 58 h 115"/>
                <a:gd name="T64" fmla="*/ 59 w 1278"/>
                <a:gd name="T65" fmla="*/ 58 h 115"/>
                <a:gd name="T66" fmla="*/ 114 w 1278"/>
                <a:gd name="T67" fmla="*/ 58 h 115"/>
                <a:gd name="T68" fmla="*/ 165 w 1278"/>
                <a:gd name="T69" fmla="*/ 58 h 115"/>
                <a:gd name="T70" fmla="*/ 213 w 1278"/>
                <a:gd name="T71" fmla="*/ 58 h 115"/>
                <a:gd name="T72" fmla="*/ 258 w 1278"/>
                <a:gd name="T73" fmla="*/ 58 h 115"/>
                <a:gd name="T74" fmla="*/ 299 w 1278"/>
                <a:gd name="T75" fmla="*/ 58 h 115"/>
                <a:gd name="T76" fmla="*/ 337 w 1278"/>
                <a:gd name="T77" fmla="*/ 58 h 115"/>
                <a:gd name="T78" fmla="*/ 372 w 1278"/>
                <a:gd name="T79" fmla="*/ 58 h 115"/>
                <a:gd name="T80" fmla="*/ 405 w 1278"/>
                <a:gd name="T81" fmla="*/ 58 h 115"/>
                <a:gd name="T82" fmla="*/ 434 w 1278"/>
                <a:gd name="T83" fmla="*/ 58 h 115"/>
                <a:gd name="T84" fmla="*/ 461 w 1278"/>
                <a:gd name="T85" fmla="*/ 58 h 115"/>
                <a:gd name="T86" fmla="*/ 486 w 1278"/>
                <a:gd name="T87" fmla="*/ 58 h 115"/>
                <a:gd name="T88" fmla="*/ 508 w 1278"/>
                <a:gd name="T89" fmla="*/ 58 h 115"/>
                <a:gd name="T90" fmla="*/ 529 w 1278"/>
                <a:gd name="T91" fmla="*/ 58 h 115"/>
                <a:gd name="T92" fmla="*/ 546 w 1278"/>
                <a:gd name="T93" fmla="*/ 58 h 115"/>
                <a:gd name="T94" fmla="*/ 562 w 1278"/>
                <a:gd name="T95" fmla="*/ 58 h 115"/>
                <a:gd name="T96" fmla="*/ 576 w 1278"/>
                <a:gd name="T97" fmla="*/ 58 h 115"/>
                <a:gd name="T98" fmla="*/ 588 w 1278"/>
                <a:gd name="T99" fmla="*/ 58 h 115"/>
                <a:gd name="T100" fmla="*/ 599 w 1278"/>
                <a:gd name="T101" fmla="*/ 58 h 115"/>
                <a:gd name="T102" fmla="*/ 608 w 1278"/>
                <a:gd name="T103" fmla="*/ 58 h 115"/>
                <a:gd name="T104" fmla="*/ 615 w 1278"/>
                <a:gd name="T105" fmla="*/ 58 h 115"/>
                <a:gd name="T106" fmla="*/ 621 w 1278"/>
                <a:gd name="T107" fmla="*/ 58 h 115"/>
                <a:gd name="T108" fmla="*/ 627 w 1278"/>
                <a:gd name="T109" fmla="*/ 58 h 115"/>
                <a:gd name="T110" fmla="*/ 631 w 1278"/>
                <a:gd name="T111" fmla="*/ 58 h 115"/>
                <a:gd name="T112" fmla="*/ 634 w 1278"/>
                <a:gd name="T113" fmla="*/ 58 h 115"/>
                <a:gd name="T114" fmla="*/ 637 w 1278"/>
                <a:gd name="T115" fmla="*/ 58 h 115"/>
                <a:gd name="T116" fmla="*/ 638 w 1278"/>
                <a:gd name="T117" fmla="*/ 58 h 115"/>
                <a:gd name="T118" fmla="*/ 638 w 1278"/>
                <a:gd name="T119" fmla="*/ 58 h 115"/>
                <a:gd name="T120" fmla="*/ 639 w 1278"/>
                <a:gd name="T121" fmla="*/ 58 h 115"/>
                <a:gd name="T122" fmla="*/ 639 w 1278"/>
                <a:gd name="T123" fmla="*/ 0 h 115"/>
                <a:gd name="T124" fmla="*/ 639 w 1278"/>
                <a:gd name="T125" fmla="*/ 58 h 115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278" h="115">
                  <a:moveTo>
                    <a:pt x="1278" y="115"/>
                  </a:moveTo>
                  <a:lnTo>
                    <a:pt x="1278" y="0"/>
                  </a:lnTo>
                  <a:lnTo>
                    <a:pt x="1276" y="0"/>
                  </a:lnTo>
                  <a:lnTo>
                    <a:pt x="1275" y="0"/>
                  </a:lnTo>
                  <a:lnTo>
                    <a:pt x="1273" y="0"/>
                  </a:lnTo>
                  <a:lnTo>
                    <a:pt x="1267" y="0"/>
                  </a:lnTo>
                  <a:lnTo>
                    <a:pt x="1261" y="0"/>
                  </a:lnTo>
                  <a:lnTo>
                    <a:pt x="1253" y="0"/>
                  </a:lnTo>
                  <a:lnTo>
                    <a:pt x="1242" y="0"/>
                  </a:lnTo>
                  <a:lnTo>
                    <a:pt x="1230" y="0"/>
                  </a:lnTo>
                  <a:lnTo>
                    <a:pt x="1215" y="0"/>
                  </a:lnTo>
                  <a:lnTo>
                    <a:pt x="1197" y="0"/>
                  </a:lnTo>
                  <a:lnTo>
                    <a:pt x="1176" y="0"/>
                  </a:lnTo>
                  <a:lnTo>
                    <a:pt x="1151" y="0"/>
                  </a:lnTo>
                  <a:lnTo>
                    <a:pt x="1124" y="0"/>
                  </a:lnTo>
                  <a:lnTo>
                    <a:pt x="1091" y="0"/>
                  </a:lnTo>
                  <a:lnTo>
                    <a:pt x="1057" y="0"/>
                  </a:lnTo>
                  <a:lnTo>
                    <a:pt x="1016" y="0"/>
                  </a:lnTo>
                  <a:lnTo>
                    <a:pt x="972" y="0"/>
                  </a:lnTo>
                  <a:lnTo>
                    <a:pt x="922" y="0"/>
                  </a:lnTo>
                  <a:lnTo>
                    <a:pt x="868" y="0"/>
                  </a:lnTo>
                  <a:lnTo>
                    <a:pt x="810" y="0"/>
                  </a:lnTo>
                  <a:lnTo>
                    <a:pt x="744" y="0"/>
                  </a:lnTo>
                  <a:lnTo>
                    <a:pt x="673" y="0"/>
                  </a:lnTo>
                  <a:lnTo>
                    <a:pt x="598" y="0"/>
                  </a:lnTo>
                  <a:lnTo>
                    <a:pt x="515" y="0"/>
                  </a:lnTo>
                  <a:lnTo>
                    <a:pt x="426" y="0"/>
                  </a:lnTo>
                  <a:lnTo>
                    <a:pt x="330" y="0"/>
                  </a:lnTo>
                  <a:lnTo>
                    <a:pt x="228" y="0"/>
                  </a:lnTo>
                  <a:lnTo>
                    <a:pt x="118" y="0"/>
                  </a:lnTo>
                  <a:lnTo>
                    <a:pt x="0" y="0"/>
                  </a:lnTo>
                  <a:lnTo>
                    <a:pt x="0" y="115"/>
                  </a:lnTo>
                  <a:lnTo>
                    <a:pt x="118" y="115"/>
                  </a:lnTo>
                  <a:lnTo>
                    <a:pt x="228" y="115"/>
                  </a:lnTo>
                  <a:lnTo>
                    <a:pt x="330" y="115"/>
                  </a:lnTo>
                  <a:lnTo>
                    <a:pt x="426" y="115"/>
                  </a:lnTo>
                  <a:lnTo>
                    <a:pt x="515" y="115"/>
                  </a:lnTo>
                  <a:lnTo>
                    <a:pt x="598" y="115"/>
                  </a:lnTo>
                  <a:lnTo>
                    <a:pt x="673" y="115"/>
                  </a:lnTo>
                  <a:lnTo>
                    <a:pt x="744" y="115"/>
                  </a:lnTo>
                  <a:lnTo>
                    <a:pt x="810" y="115"/>
                  </a:lnTo>
                  <a:lnTo>
                    <a:pt x="868" y="115"/>
                  </a:lnTo>
                  <a:lnTo>
                    <a:pt x="922" y="115"/>
                  </a:lnTo>
                  <a:lnTo>
                    <a:pt x="972" y="115"/>
                  </a:lnTo>
                  <a:lnTo>
                    <a:pt x="1016" y="115"/>
                  </a:lnTo>
                  <a:lnTo>
                    <a:pt x="1057" y="115"/>
                  </a:lnTo>
                  <a:lnTo>
                    <a:pt x="1091" y="115"/>
                  </a:lnTo>
                  <a:lnTo>
                    <a:pt x="1124" y="115"/>
                  </a:lnTo>
                  <a:lnTo>
                    <a:pt x="1151" y="115"/>
                  </a:lnTo>
                  <a:lnTo>
                    <a:pt x="1176" y="115"/>
                  </a:lnTo>
                  <a:lnTo>
                    <a:pt x="1197" y="115"/>
                  </a:lnTo>
                  <a:lnTo>
                    <a:pt x="1215" y="115"/>
                  </a:lnTo>
                  <a:lnTo>
                    <a:pt x="1230" y="115"/>
                  </a:lnTo>
                  <a:lnTo>
                    <a:pt x="1242" y="115"/>
                  </a:lnTo>
                  <a:lnTo>
                    <a:pt x="1253" y="115"/>
                  </a:lnTo>
                  <a:lnTo>
                    <a:pt x="1261" y="115"/>
                  </a:lnTo>
                  <a:lnTo>
                    <a:pt x="1267" y="115"/>
                  </a:lnTo>
                  <a:lnTo>
                    <a:pt x="1273" y="115"/>
                  </a:lnTo>
                  <a:lnTo>
                    <a:pt x="1275" y="115"/>
                  </a:lnTo>
                  <a:lnTo>
                    <a:pt x="1276" y="115"/>
                  </a:lnTo>
                  <a:lnTo>
                    <a:pt x="1278" y="115"/>
                  </a:lnTo>
                  <a:lnTo>
                    <a:pt x="1278" y="0"/>
                  </a:lnTo>
                  <a:lnTo>
                    <a:pt x="1278" y="115"/>
                  </a:lnTo>
                  <a:close/>
                </a:path>
              </a:pathLst>
            </a:custGeom>
            <a:pattFill prst="dkUpDiag">
              <a:fgClr>
                <a:srgbClr val="FF6600"/>
              </a:fgClr>
              <a:bgClr>
                <a:srgbClr val="FFFFFF"/>
              </a:bgClr>
            </a:patt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277" name="Freeform 7"/>
            <p:cNvSpPr>
              <a:spLocks/>
            </p:cNvSpPr>
            <p:nvPr/>
          </p:nvSpPr>
          <p:spPr bwMode="auto">
            <a:xfrm>
              <a:off x="4012" y="1299"/>
              <a:ext cx="98" cy="94"/>
            </a:xfrm>
            <a:custGeom>
              <a:avLst/>
              <a:gdLst>
                <a:gd name="T0" fmla="*/ 58 w 196"/>
                <a:gd name="T1" fmla="*/ 92 h 189"/>
                <a:gd name="T2" fmla="*/ 58 w 196"/>
                <a:gd name="T3" fmla="*/ 89 h 189"/>
                <a:gd name="T4" fmla="*/ 59 w 196"/>
                <a:gd name="T5" fmla="*/ 85 h 189"/>
                <a:gd name="T6" fmla="*/ 60 w 196"/>
                <a:gd name="T7" fmla="*/ 83 h 189"/>
                <a:gd name="T8" fmla="*/ 62 w 196"/>
                <a:gd name="T9" fmla="*/ 79 h 189"/>
                <a:gd name="T10" fmla="*/ 63 w 196"/>
                <a:gd name="T11" fmla="*/ 76 h 189"/>
                <a:gd name="T12" fmla="*/ 66 w 196"/>
                <a:gd name="T13" fmla="*/ 73 h 189"/>
                <a:gd name="T14" fmla="*/ 68 w 196"/>
                <a:gd name="T15" fmla="*/ 70 h 189"/>
                <a:gd name="T16" fmla="*/ 70 w 196"/>
                <a:gd name="T17" fmla="*/ 67 h 189"/>
                <a:gd name="T18" fmla="*/ 73 w 196"/>
                <a:gd name="T19" fmla="*/ 65 h 189"/>
                <a:gd name="T20" fmla="*/ 77 w 196"/>
                <a:gd name="T21" fmla="*/ 63 h 189"/>
                <a:gd name="T22" fmla="*/ 80 w 196"/>
                <a:gd name="T23" fmla="*/ 61 h 189"/>
                <a:gd name="T24" fmla="*/ 84 w 196"/>
                <a:gd name="T25" fmla="*/ 59 h 189"/>
                <a:gd name="T26" fmla="*/ 88 w 196"/>
                <a:gd name="T27" fmla="*/ 59 h 189"/>
                <a:gd name="T28" fmla="*/ 93 w 196"/>
                <a:gd name="T29" fmla="*/ 58 h 189"/>
                <a:gd name="T30" fmla="*/ 96 w 196"/>
                <a:gd name="T31" fmla="*/ 58 h 189"/>
                <a:gd name="T32" fmla="*/ 98 w 196"/>
                <a:gd name="T33" fmla="*/ 0 h 189"/>
                <a:gd name="T34" fmla="*/ 89 w 196"/>
                <a:gd name="T35" fmla="*/ 1 h 189"/>
                <a:gd name="T36" fmla="*/ 79 w 196"/>
                <a:gd name="T37" fmla="*/ 2 h 189"/>
                <a:gd name="T38" fmla="*/ 70 w 196"/>
                <a:gd name="T39" fmla="*/ 4 h 189"/>
                <a:gd name="T40" fmla="*/ 61 w 196"/>
                <a:gd name="T41" fmla="*/ 7 h 189"/>
                <a:gd name="T42" fmla="*/ 52 w 196"/>
                <a:gd name="T43" fmla="*/ 10 h 189"/>
                <a:gd name="T44" fmla="*/ 44 w 196"/>
                <a:gd name="T45" fmla="*/ 15 h 189"/>
                <a:gd name="T46" fmla="*/ 37 w 196"/>
                <a:gd name="T47" fmla="*/ 21 h 189"/>
                <a:gd name="T48" fmla="*/ 30 w 196"/>
                <a:gd name="T49" fmla="*/ 27 h 189"/>
                <a:gd name="T50" fmla="*/ 23 w 196"/>
                <a:gd name="T51" fmla="*/ 33 h 189"/>
                <a:gd name="T52" fmla="*/ 17 w 196"/>
                <a:gd name="T53" fmla="*/ 41 h 189"/>
                <a:gd name="T54" fmla="*/ 13 w 196"/>
                <a:gd name="T55" fmla="*/ 49 h 189"/>
                <a:gd name="T56" fmla="*/ 8 w 196"/>
                <a:gd name="T57" fmla="*/ 57 h 189"/>
                <a:gd name="T58" fmla="*/ 5 w 196"/>
                <a:gd name="T59" fmla="*/ 66 h 189"/>
                <a:gd name="T60" fmla="*/ 2 w 196"/>
                <a:gd name="T61" fmla="*/ 75 h 189"/>
                <a:gd name="T62" fmla="*/ 0 w 196"/>
                <a:gd name="T63" fmla="*/ 85 h 189"/>
                <a:gd name="T64" fmla="*/ 0 w 196"/>
                <a:gd name="T65" fmla="*/ 94 h 189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196" h="189">
                  <a:moveTo>
                    <a:pt x="115" y="189"/>
                  </a:moveTo>
                  <a:lnTo>
                    <a:pt x="115" y="185"/>
                  </a:lnTo>
                  <a:lnTo>
                    <a:pt x="115" y="181"/>
                  </a:lnTo>
                  <a:lnTo>
                    <a:pt x="115" y="179"/>
                  </a:lnTo>
                  <a:lnTo>
                    <a:pt x="117" y="175"/>
                  </a:lnTo>
                  <a:lnTo>
                    <a:pt x="117" y="171"/>
                  </a:lnTo>
                  <a:lnTo>
                    <a:pt x="119" y="168"/>
                  </a:lnTo>
                  <a:lnTo>
                    <a:pt x="119" y="166"/>
                  </a:lnTo>
                  <a:lnTo>
                    <a:pt x="121" y="162"/>
                  </a:lnTo>
                  <a:lnTo>
                    <a:pt x="123" y="158"/>
                  </a:lnTo>
                  <a:lnTo>
                    <a:pt x="123" y="156"/>
                  </a:lnTo>
                  <a:lnTo>
                    <a:pt x="125" y="152"/>
                  </a:lnTo>
                  <a:lnTo>
                    <a:pt x="127" y="150"/>
                  </a:lnTo>
                  <a:lnTo>
                    <a:pt x="131" y="146"/>
                  </a:lnTo>
                  <a:lnTo>
                    <a:pt x="133" y="144"/>
                  </a:lnTo>
                  <a:lnTo>
                    <a:pt x="135" y="141"/>
                  </a:lnTo>
                  <a:lnTo>
                    <a:pt x="139" y="139"/>
                  </a:lnTo>
                  <a:lnTo>
                    <a:pt x="140" y="135"/>
                  </a:lnTo>
                  <a:lnTo>
                    <a:pt x="144" y="133"/>
                  </a:lnTo>
                  <a:lnTo>
                    <a:pt x="146" y="131"/>
                  </a:lnTo>
                  <a:lnTo>
                    <a:pt x="150" y="129"/>
                  </a:lnTo>
                  <a:lnTo>
                    <a:pt x="154" y="127"/>
                  </a:lnTo>
                  <a:lnTo>
                    <a:pt x="156" y="125"/>
                  </a:lnTo>
                  <a:lnTo>
                    <a:pt x="160" y="123"/>
                  </a:lnTo>
                  <a:lnTo>
                    <a:pt x="164" y="121"/>
                  </a:lnTo>
                  <a:lnTo>
                    <a:pt x="167" y="119"/>
                  </a:lnTo>
                  <a:lnTo>
                    <a:pt x="171" y="119"/>
                  </a:lnTo>
                  <a:lnTo>
                    <a:pt x="175" y="118"/>
                  </a:lnTo>
                  <a:lnTo>
                    <a:pt x="179" y="118"/>
                  </a:lnTo>
                  <a:lnTo>
                    <a:pt x="185" y="116"/>
                  </a:lnTo>
                  <a:lnTo>
                    <a:pt x="189" y="116"/>
                  </a:lnTo>
                  <a:lnTo>
                    <a:pt x="192" y="116"/>
                  </a:lnTo>
                  <a:lnTo>
                    <a:pt x="196" y="116"/>
                  </a:lnTo>
                  <a:lnTo>
                    <a:pt x="196" y="0"/>
                  </a:lnTo>
                  <a:lnTo>
                    <a:pt x="187" y="0"/>
                  </a:lnTo>
                  <a:lnTo>
                    <a:pt x="177" y="2"/>
                  </a:lnTo>
                  <a:lnTo>
                    <a:pt x="167" y="2"/>
                  </a:lnTo>
                  <a:lnTo>
                    <a:pt x="158" y="4"/>
                  </a:lnTo>
                  <a:lnTo>
                    <a:pt x="148" y="6"/>
                  </a:lnTo>
                  <a:lnTo>
                    <a:pt x="140" y="8"/>
                  </a:lnTo>
                  <a:lnTo>
                    <a:pt x="131" y="12"/>
                  </a:lnTo>
                  <a:lnTo>
                    <a:pt x="121" y="15"/>
                  </a:lnTo>
                  <a:lnTo>
                    <a:pt x="113" y="17"/>
                  </a:lnTo>
                  <a:lnTo>
                    <a:pt x="104" y="21"/>
                  </a:lnTo>
                  <a:lnTo>
                    <a:pt x="96" y="27"/>
                  </a:lnTo>
                  <a:lnTo>
                    <a:pt x="88" y="31"/>
                  </a:lnTo>
                  <a:lnTo>
                    <a:pt x="81" y="37"/>
                  </a:lnTo>
                  <a:lnTo>
                    <a:pt x="73" y="42"/>
                  </a:lnTo>
                  <a:lnTo>
                    <a:pt x="65" y="48"/>
                  </a:lnTo>
                  <a:lnTo>
                    <a:pt x="59" y="54"/>
                  </a:lnTo>
                  <a:lnTo>
                    <a:pt x="52" y="60"/>
                  </a:lnTo>
                  <a:lnTo>
                    <a:pt x="46" y="67"/>
                  </a:lnTo>
                  <a:lnTo>
                    <a:pt x="40" y="75"/>
                  </a:lnTo>
                  <a:lnTo>
                    <a:pt x="34" y="83"/>
                  </a:lnTo>
                  <a:lnTo>
                    <a:pt x="29" y="91"/>
                  </a:lnTo>
                  <a:lnTo>
                    <a:pt x="25" y="98"/>
                  </a:lnTo>
                  <a:lnTo>
                    <a:pt x="19" y="106"/>
                  </a:lnTo>
                  <a:lnTo>
                    <a:pt x="15" y="114"/>
                  </a:lnTo>
                  <a:lnTo>
                    <a:pt x="11" y="123"/>
                  </a:lnTo>
                  <a:lnTo>
                    <a:pt x="9" y="133"/>
                  </a:lnTo>
                  <a:lnTo>
                    <a:pt x="5" y="141"/>
                  </a:lnTo>
                  <a:lnTo>
                    <a:pt x="4" y="150"/>
                  </a:lnTo>
                  <a:lnTo>
                    <a:pt x="2" y="160"/>
                  </a:lnTo>
                  <a:lnTo>
                    <a:pt x="0" y="170"/>
                  </a:lnTo>
                  <a:lnTo>
                    <a:pt x="0" y="179"/>
                  </a:lnTo>
                  <a:lnTo>
                    <a:pt x="0" y="189"/>
                  </a:lnTo>
                  <a:lnTo>
                    <a:pt x="115" y="189"/>
                  </a:lnTo>
                  <a:close/>
                </a:path>
              </a:pathLst>
            </a:custGeom>
            <a:solidFill>
              <a:srgbClr val="FF6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278" name="Freeform 8"/>
            <p:cNvSpPr>
              <a:spLocks/>
            </p:cNvSpPr>
            <p:nvPr/>
          </p:nvSpPr>
          <p:spPr bwMode="auto">
            <a:xfrm>
              <a:off x="4012" y="1393"/>
              <a:ext cx="98" cy="94"/>
            </a:xfrm>
            <a:custGeom>
              <a:avLst/>
              <a:gdLst>
                <a:gd name="T0" fmla="*/ 96 w 196"/>
                <a:gd name="T1" fmla="*/ 36 h 189"/>
                <a:gd name="T2" fmla="*/ 93 w 196"/>
                <a:gd name="T3" fmla="*/ 36 h 189"/>
                <a:gd name="T4" fmla="*/ 88 w 196"/>
                <a:gd name="T5" fmla="*/ 35 h 189"/>
                <a:gd name="T6" fmla="*/ 84 w 196"/>
                <a:gd name="T7" fmla="*/ 34 h 189"/>
                <a:gd name="T8" fmla="*/ 80 w 196"/>
                <a:gd name="T9" fmla="*/ 32 h 189"/>
                <a:gd name="T10" fmla="*/ 77 w 196"/>
                <a:gd name="T11" fmla="*/ 31 h 189"/>
                <a:gd name="T12" fmla="*/ 73 w 196"/>
                <a:gd name="T13" fmla="*/ 29 h 189"/>
                <a:gd name="T14" fmla="*/ 70 w 196"/>
                <a:gd name="T15" fmla="*/ 27 h 189"/>
                <a:gd name="T16" fmla="*/ 68 w 196"/>
                <a:gd name="T17" fmla="*/ 24 h 189"/>
                <a:gd name="T18" fmla="*/ 66 w 196"/>
                <a:gd name="T19" fmla="*/ 21 h 189"/>
                <a:gd name="T20" fmla="*/ 63 w 196"/>
                <a:gd name="T21" fmla="*/ 18 h 189"/>
                <a:gd name="T22" fmla="*/ 62 w 196"/>
                <a:gd name="T23" fmla="*/ 15 h 189"/>
                <a:gd name="T24" fmla="*/ 60 w 196"/>
                <a:gd name="T25" fmla="*/ 12 h 189"/>
                <a:gd name="T26" fmla="*/ 59 w 196"/>
                <a:gd name="T27" fmla="*/ 8 h 189"/>
                <a:gd name="T28" fmla="*/ 58 w 196"/>
                <a:gd name="T29" fmla="*/ 5 h 189"/>
                <a:gd name="T30" fmla="*/ 58 w 196"/>
                <a:gd name="T31" fmla="*/ 2 h 189"/>
                <a:gd name="T32" fmla="*/ 0 w 196"/>
                <a:gd name="T33" fmla="*/ 0 h 189"/>
                <a:gd name="T34" fmla="*/ 0 w 196"/>
                <a:gd name="T35" fmla="*/ 9 h 189"/>
                <a:gd name="T36" fmla="*/ 2 w 196"/>
                <a:gd name="T37" fmla="*/ 19 h 189"/>
                <a:gd name="T38" fmla="*/ 5 w 196"/>
                <a:gd name="T39" fmla="*/ 29 h 189"/>
                <a:gd name="T40" fmla="*/ 8 w 196"/>
                <a:gd name="T41" fmla="*/ 37 h 189"/>
                <a:gd name="T42" fmla="*/ 13 w 196"/>
                <a:gd name="T43" fmla="*/ 46 h 189"/>
                <a:gd name="T44" fmla="*/ 17 w 196"/>
                <a:gd name="T45" fmla="*/ 54 h 189"/>
                <a:gd name="T46" fmla="*/ 23 w 196"/>
                <a:gd name="T47" fmla="*/ 60 h 189"/>
                <a:gd name="T48" fmla="*/ 30 w 196"/>
                <a:gd name="T49" fmla="*/ 67 h 189"/>
                <a:gd name="T50" fmla="*/ 37 w 196"/>
                <a:gd name="T51" fmla="*/ 74 h 189"/>
                <a:gd name="T52" fmla="*/ 44 w 196"/>
                <a:gd name="T53" fmla="*/ 79 h 189"/>
                <a:gd name="T54" fmla="*/ 52 w 196"/>
                <a:gd name="T55" fmla="*/ 83 h 189"/>
                <a:gd name="T56" fmla="*/ 61 w 196"/>
                <a:gd name="T57" fmla="*/ 87 h 189"/>
                <a:gd name="T58" fmla="*/ 70 w 196"/>
                <a:gd name="T59" fmla="*/ 90 h 189"/>
                <a:gd name="T60" fmla="*/ 79 w 196"/>
                <a:gd name="T61" fmla="*/ 93 h 189"/>
                <a:gd name="T62" fmla="*/ 89 w 196"/>
                <a:gd name="T63" fmla="*/ 94 h 189"/>
                <a:gd name="T64" fmla="*/ 98 w 196"/>
                <a:gd name="T65" fmla="*/ 94 h 189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196" h="189">
                  <a:moveTo>
                    <a:pt x="196" y="73"/>
                  </a:moveTo>
                  <a:lnTo>
                    <a:pt x="192" y="73"/>
                  </a:lnTo>
                  <a:lnTo>
                    <a:pt x="189" y="73"/>
                  </a:lnTo>
                  <a:lnTo>
                    <a:pt x="185" y="73"/>
                  </a:lnTo>
                  <a:lnTo>
                    <a:pt x="179" y="73"/>
                  </a:lnTo>
                  <a:lnTo>
                    <a:pt x="175" y="71"/>
                  </a:lnTo>
                  <a:lnTo>
                    <a:pt x="171" y="71"/>
                  </a:lnTo>
                  <a:lnTo>
                    <a:pt x="167" y="69"/>
                  </a:lnTo>
                  <a:lnTo>
                    <a:pt x="164" y="67"/>
                  </a:lnTo>
                  <a:lnTo>
                    <a:pt x="160" y="65"/>
                  </a:lnTo>
                  <a:lnTo>
                    <a:pt x="156" y="63"/>
                  </a:lnTo>
                  <a:lnTo>
                    <a:pt x="154" y="63"/>
                  </a:lnTo>
                  <a:lnTo>
                    <a:pt x="150" y="59"/>
                  </a:lnTo>
                  <a:lnTo>
                    <a:pt x="146" y="58"/>
                  </a:lnTo>
                  <a:lnTo>
                    <a:pt x="144" y="56"/>
                  </a:lnTo>
                  <a:lnTo>
                    <a:pt x="140" y="54"/>
                  </a:lnTo>
                  <a:lnTo>
                    <a:pt x="139" y="52"/>
                  </a:lnTo>
                  <a:lnTo>
                    <a:pt x="135" y="48"/>
                  </a:lnTo>
                  <a:lnTo>
                    <a:pt x="133" y="46"/>
                  </a:lnTo>
                  <a:lnTo>
                    <a:pt x="131" y="42"/>
                  </a:lnTo>
                  <a:lnTo>
                    <a:pt x="127" y="40"/>
                  </a:lnTo>
                  <a:lnTo>
                    <a:pt x="125" y="36"/>
                  </a:lnTo>
                  <a:lnTo>
                    <a:pt x="123" y="34"/>
                  </a:lnTo>
                  <a:lnTo>
                    <a:pt x="123" y="31"/>
                  </a:lnTo>
                  <a:lnTo>
                    <a:pt x="121" y="27"/>
                  </a:lnTo>
                  <a:lnTo>
                    <a:pt x="119" y="25"/>
                  </a:lnTo>
                  <a:lnTo>
                    <a:pt x="119" y="21"/>
                  </a:lnTo>
                  <a:lnTo>
                    <a:pt x="117" y="17"/>
                  </a:lnTo>
                  <a:lnTo>
                    <a:pt x="117" y="15"/>
                  </a:lnTo>
                  <a:lnTo>
                    <a:pt x="115" y="11"/>
                  </a:lnTo>
                  <a:lnTo>
                    <a:pt x="115" y="7"/>
                  </a:lnTo>
                  <a:lnTo>
                    <a:pt x="115" y="4"/>
                  </a:lnTo>
                  <a:lnTo>
                    <a:pt x="115" y="0"/>
                  </a:lnTo>
                  <a:lnTo>
                    <a:pt x="0" y="0"/>
                  </a:lnTo>
                  <a:lnTo>
                    <a:pt x="0" y="9"/>
                  </a:lnTo>
                  <a:lnTo>
                    <a:pt x="0" y="19"/>
                  </a:lnTo>
                  <a:lnTo>
                    <a:pt x="2" y="29"/>
                  </a:lnTo>
                  <a:lnTo>
                    <a:pt x="4" y="38"/>
                  </a:lnTo>
                  <a:lnTo>
                    <a:pt x="5" y="48"/>
                  </a:lnTo>
                  <a:lnTo>
                    <a:pt x="9" y="58"/>
                  </a:lnTo>
                  <a:lnTo>
                    <a:pt x="11" y="67"/>
                  </a:lnTo>
                  <a:lnTo>
                    <a:pt x="15" y="75"/>
                  </a:lnTo>
                  <a:lnTo>
                    <a:pt x="19" y="83"/>
                  </a:lnTo>
                  <a:lnTo>
                    <a:pt x="25" y="92"/>
                  </a:lnTo>
                  <a:lnTo>
                    <a:pt x="29" y="100"/>
                  </a:lnTo>
                  <a:lnTo>
                    <a:pt x="34" y="108"/>
                  </a:lnTo>
                  <a:lnTo>
                    <a:pt x="40" y="115"/>
                  </a:lnTo>
                  <a:lnTo>
                    <a:pt x="46" y="121"/>
                  </a:lnTo>
                  <a:lnTo>
                    <a:pt x="52" y="129"/>
                  </a:lnTo>
                  <a:lnTo>
                    <a:pt x="59" y="135"/>
                  </a:lnTo>
                  <a:lnTo>
                    <a:pt x="65" y="140"/>
                  </a:lnTo>
                  <a:lnTo>
                    <a:pt x="73" y="148"/>
                  </a:lnTo>
                  <a:lnTo>
                    <a:pt x="81" y="152"/>
                  </a:lnTo>
                  <a:lnTo>
                    <a:pt x="88" y="158"/>
                  </a:lnTo>
                  <a:lnTo>
                    <a:pt x="96" y="164"/>
                  </a:lnTo>
                  <a:lnTo>
                    <a:pt x="104" y="167"/>
                  </a:lnTo>
                  <a:lnTo>
                    <a:pt x="113" y="171"/>
                  </a:lnTo>
                  <a:lnTo>
                    <a:pt x="121" y="175"/>
                  </a:lnTo>
                  <a:lnTo>
                    <a:pt x="131" y="179"/>
                  </a:lnTo>
                  <a:lnTo>
                    <a:pt x="140" y="181"/>
                  </a:lnTo>
                  <a:lnTo>
                    <a:pt x="148" y="183"/>
                  </a:lnTo>
                  <a:lnTo>
                    <a:pt x="158" y="187"/>
                  </a:lnTo>
                  <a:lnTo>
                    <a:pt x="167" y="187"/>
                  </a:lnTo>
                  <a:lnTo>
                    <a:pt x="177" y="189"/>
                  </a:lnTo>
                  <a:lnTo>
                    <a:pt x="187" y="189"/>
                  </a:lnTo>
                  <a:lnTo>
                    <a:pt x="196" y="189"/>
                  </a:lnTo>
                  <a:lnTo>
                    <a:pt x="196" y="73"/>
                  </a:lnTo>
                  <a:close/>
                </a:path>
              </a:pathLst>
            </a:custGeom>
            <a:solidFill>
              <a:srgbClr val="FF6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279" name="Freeform 9"/>
            <p:cNvSpPr>
              <a:spLocks/>
            </p:cNvSpPr>
            <p:nvPr/>
          </p:nvSpPr>
          <p:spPr bwMode="auto">
            <a:xfrm>
              <a:off x="4110" y="1327"/>
              <a:ext cx="170" cy="160"/>
            </a:xfrm>
            <a:custGeom>
              <a:avLst/>
              <a:gdLst>
                <a:gd name="T0" fmla="*/ 112 w 340"/>
                <a:gd name="T1" fmla="*/ 5 h 320"/>
                <a:gd name="T2" fmla="*/ 111 w 340"/>
                <a:gd name="T3" fmla="*/ 16 h 320"/>
                <a:gd name="T4" fmla="*/ 108 w 340"/>
                <a:gd name="T5" fmla="*/ 25 h 320"/>
                <a:gd name="T6" fmla="*/ 105 w 340"/>
                <a:gd name="T7" fmla="*/ 35 h 320"/>
                <a:gd name="T8" fmla="*/ 102 w 340"/>
                <a:gd name="T9" fmla="*/ 44 h 320"/>
                <a:gd name="T10" fmla="*/ 97 w 340"/>
                <a:gd name="T11" fmla="*/ 52 h 320"/>
                <a:gd name="T12" fmla="*/ 91 w 340"/>
                <a:gd name="T13" fmla="*/ 61 h 320"/>
                <a:gd name="T14" fmla="*/ 84 w 340"/>
                <a:gd name="T15" fmla="*/ 69 h 320"/>
                <a:gd name="T16" fmla="*/ 77 w 340"/>
                <a:gd name="T17" fmla="*/ 75 h 320"/>
                <a:gd name="T18" fmla="*/ 68 w 340"/>
                <a:gd name="T19" fmla="*/ 82 h 320"/>
                <a:gd name="T20" fmla="*/ 59 w 340"/>
                <a:gd name="T21" fmla="*/ 88 h 320"/>
                <a:gd name="T22" fmla="*/ 50 w 340"/>
                <a:gd name="T23" fmla="*/ 93 h 320"/>
                <a:gd name="T24" fmla="*/ 40 w 340"/>
                <a:gd name="T25" fmla="*/ 96 h 320"/>
                <a:gd name="T26" fmla="*/ 29 w 340"/>
                <a:gd name="T27" fmla="*/ 99 h 320"/>
                <a:gd name="T28" fmla="*/ 18 w 340"/>
                <a:gd name="T29" fmla="*/ 101 h 320"/>
                <a:gd name="T30" fmla="*/ 7 w 340"/>
                <a:gd name="T31" fmla="*/ 102 h 320"/>
                <a:gd name="T32" fmla="*/ 0 w 340"/>
                <a:gd name="T33" fmla="*/ 160 h 320"/>
                <a:gd name="T34" fmla="*/ 18 w 340"/>
                <a:gd name="T35" fmla="*/ 160 h 320"/>
                <a:gd name="T36" fmla="*/ 34 w 340"/>
                <a:gd name="T37" fmla="*/ 157 h 320"/>
                <a:gd name="T38" fmla="*/ 51 w 340"/>
                <a:gd name="T39" fmla="*/ 153 h 320"/>
                <a:gd name="T40" fmla="*/ 66 w 340"/>
                <a:gd name="T41" fmla="*/ 148 h 320"/>
                <a:gd name="T42" fmla="*/ 80 w 340"/>
                <a:gd name="T43" fmla="*/ 142 h 320"/>
                <a:gd name="T44" fmla="*/ 95 w 340"/>
                <a:gd name="T45" fmla="*/ 133 h 320"/>
                <a:gd name="T46" fmla="*/ 107 w 340"/>
                <a:gd name="T47" fmla="*/ 124 h 320"/>
                <a:gd name="T48" fmla="*/ 120 w 340"/>
                <a:gd name="T49" fmla="*/ 114 h 320"/>
                <a:gd name="T50" fmla="*/ 131 w 340"/>
                <a:gd name="T51" fmla="*/ 103 h 320"/>
                <a:gd name="T52" fmla="*/ 140 w 340"/>
                <a:gd name="T53" fmla="*/ 91 h 320"/>
                <a:gd name="T54" fmla="*/ 149 w 340"/>
                <a:gd name="T55" fmla="*/ 77 h 320"/>
                <a:gd name="T56" fmla="*/ 157 w 340"/>
                <a:gd name="T57" fmla="*/ 63 h 320"/>
                <a:gd name="T58" fmla="*/ 162 w 340"/>
                <a:gd name="T59" fmla="*/ 48 h 320"/>
                <a:gd name="T60" fmla="*/ 166 w 340"/>
                <a:gd name="T61" fmla="*/ 33 h 320"/>
                <a:gd name="T62" fmla="*/ 169 w 340"/>
                <a:gd name="T63" fmla="*/ 17 h 320"/>
                <a:gd name="T64" fmla="*/ 170 w 340"/>
                <a:gd name="T65" fmla="*/ 0 h 320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340" h="320">
                  <a:moveTo>
                    <a:pt x="224" y="0"/>
                  </a:moveTo>
                  <a:lnTo>
                    <a:pt x="224" y="9"/>
                  </a:lnTo>
                  <a:lnTo>
                    <a:pt x="222" y="21"/>
                  </a:lnTo>
                  <a:lnTo>
                    <a:pt x="222" y="31"/>
                  </a:lnTo>
                  <a:lnTo>
                    <a:pt x="220" y="40"/>
                  </a:lnTo>
                  <a:lnTo>
                    <a:pt x="216" y="50"/>
                  </a:lnTo>
                  <a:lnTo>
                    <a:pt x="214" y="60"/>
                  </a:lnTo>
                  <a:lnTo>
                    <a:pt x="210" y="69"/>
                  </a:lnTo>
                  <a:lnTo>
                    <a:pt x="207" y="79"/>
                  </a:lnTo>
                  <a:lnTo>
                    <a:pt x="203" y="88"/>
                  </a:lnTo>
                  <a:lnTo>
                    <a:pt x="197" y="96"/>
                  </a:lnTo>
                  <a:lnTo>
                    <a:pt x="193" y="104"/>
                  </a:lnTo>
                  <a:lnTo>
                    <a:pt x="187" y="113"/>
                  </a:lnTo>
                  <a:lnTo>
                    <a:pt x="182" y="121"/>
                  </a:lnTo>
                  <a:lnTo>
                    <a:pt x="174" y="129"/>
                  </a:lnTo>
                  <a:lnTo>
                    <a:pt x="168" y="137"/>
                  </a:lnTo>
                  <a:lnTo>
                    <a:pt x="160" y="144"/>
                  </a:lnTo>
                  <a:lnTo>
                    <a:pt x="153" y="150"/>
                  </a:lnTo>
                  <a:lnTo>
                    <a:pt x="145" y="158"/>
                  </a:lnTo>
                  <a:lnTo>
                    <a:pt x="135" y="164"/>
                  </a:lnTo>
                  <a:lnTo>
                    <a:pt x="128" y="169"/>
                  </a:lnTo>
                  <a:lnTo>
                    <a:pt x="118" y="175"/>
                  </a:lnTo>
                  <a:lnTo>
                    <a:pt x="108" y="179"/>
                  </a:lnTo>
                  <a:lnTo>
                    <a:pt x="99" y="185"/>
                  </a:lnTo>
                  <a:lnTo>
                    <a:pt x="89" y="189"/>
                  </a:lnTo>
                  <a:lnTo>
                    <a:pt x="79" y="192"/>
                  </a:lnTo>
                  <a:lnTo>
                    <a:pt x="68" y="196"/>
                  </a:lnTo>
                  <a:lnTo>
                    <a:pt x="58" y="198"/>
                  </a:lnTo>
                  <a:lnTo>
                    <a:pt x="47" y="200"/>
                  </a:lnTo>
                  <a:lnTo>
                    <a:pt x="35" y="202"/>
                  </a:lnTo>
                  <a:lnTo>
                    <a:pt x="25" y="204"/>
                  </a:lnTo>
                  <a:lnTo>
                    <a:pt x="14" y="204"/>
                  </a:lnTo>
                  <a:lnTo>
                    <a:pt x="0" y="204"/>
                  </a:lnTo>
                  <a:lnTo>
                    <a:pt x="0" y="320"/>
                  </a:lnTo>
                  <a:lnTo>
                    <a:pt x="18" y="320"/>
                  </a:lnTo>
                  <a:lnTo>
                    <a:pt x="35" y="320"/>
                  </a:lnTo>
                  <a:lnTo>
                    <a:pt x="52" y="318"/>
                  </a:lnTo>
                  <a:lnTo>
                    <a:pt x="68" y="314"/>
                  </a:lnTo>
                  <a:lnTo>
                    <a:pt x="85" y="310"/>
                  </a:lnTo>
                  <a:lnTo>
                    <a:pt x="101" y="306"/>
                  </a:lnTo>
                  <a:lnTo>
                    <a:pt x="116" y="302"/>
                  </a:lnTo>
                  <a:lnTo>
                    <a:pt x="131" y="296"/>
                  </a:lnTo>
                  <a:lnTo>
                    <a:pt x="147" y="289"/>
                  </a:lnTo>
                  <a:lnTo>
                    <a:pt x="160" y="283"/>
                  </a:lnTo>
                  <a:lnTo>
                    <a:pt x="176" y="275"/>
                  </a:lnTo>
                  <a:lnTo>
                    <a:pt x="189" y="266"/>
                  </a:lnTo>
                  <a:lnTo>
                    <a:pt x="203" y="258"/>
                  </a:lnTo>
                  <a:lnTo>
                    <a:pt x="214" y="248"/>
                  </a:lnTo>
                  <a:lnTo>
                    <a:pt x="228" y="239"/>
                  </a:lnTo>
                  <a:lnTo>
                    <a:pt x="239" y="227"/>
                  </a:lnTo>
                  <a:lnTo>
                    <a:pt x="251" y="217"/>
                  </a:lnTo>
                  <a:lnTo>
                    <a:pt x="261" y="206"/>
                  </a:lnTo>
                  <a:lnTo>
                    <a:pt x="270" y="192"/>
                  </a:lnTo>
                  <a:lnTo>
                    <a:pt x="280" y="181"/>
                  </a:lnTo>
                  <a:lnTo>
                    <a:pt x="290" y="167"/>
                  </a:lnTo>
                  <a:lnTo>
                    <a:pt x="297" y="154"/>
                  </a:lnTo>
                  <a:lnTo>
                    <a:pt x="305" y="140"/>
                  </a:lnTo>
                  <a:lnTo>
                    <a:pt x="313" y="125"/>
                  </a:lnTo>
                  <a:lnTo>
                    <a:pt x="318" y="112"/>
                  </a:lnTo>
                  <a:lnTo>
                    <a:pt x="324" y="96"/>
                  </a:lnTo>
                  <a:lnTo>
                    <a:pt x="328" y="81"/>
                  </a:lnTo>
                  <a:lnTo>
                    <a:pt x="332" y="65"/>
                  </a:lnTo>
                  <a:lnTo>
                    <a:pt x="336" y="50"/>
                  </a:lnTo>
                  <a:lnTo>
                    <a:pt x="338" y="33"/>
                  </a:lnTo>
                  <a:lnTo>
                    <a:pt x="340" y="15"/>
                  </a:lnTo>
                  <a:lnTo>
                    <a:pt x="340" y="0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FF6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280" name="Freeform 10"/>
            <p:cNvSpPr>
              <a:spLocks/>
            </p:cNvSpPr>
            <p:nvPr/>
          </p:nvSpPr>
          <p:spPr bwMode="auto">
            <a:xfrm>
              <a:off x="4110" y="1167"/>
              <a:ext cx="170" cy="160"/>
            </a:xfrm>
            <a:custGeom>
              <a:avLst/>
              <a:gdLst>
                <a:gd name="T0" fmla="*/ 7 w 340"/>
                <a:gd name="T1" fmla="*/ 59 h 322"/>
                <a:gd name="T2" fmla="*/ 18 w 340"/>
                <a:gd name="T3" fmla="*/ 60 h 322"/>
                <a:gd name="T4" fmla="*/ 29 w 340"/>
                <a:gd name="T5" fmla="*/ 61 h 322"/>
                <a:gd name="T6" fmla="*/ 40 w 340"/>
                <a:gd name="T7" fmla="*/ 64 h 322"/>
                <a:gd name="T8" fmla="*/ 50 w 340"/>
                <a:gd name="T9" fmla="*/ 68 h 322"/>
                <a:gd name="T10" fmla="*/ 59 w 340"/>
                <a:gd name="T11" fmla="*/ 73 h 322"/>
                <a:gd name="T12" fmla="*/ 68 w 340"/>
                <a:gd name="T13" fmla="*/ 79 h 322"/>
                <a:gd name="T14" fmla="*/ 77 w 340"/>
                <a:gd name="T15" fmla="*/ 85 h 322"/>
                <a:gd name="T16" fmla="*/ 84 w 340"/>
                <a:gd name="T17" fmla="*/ 92 h 322"/>
                <a:gd name="T18" fmla="*/ 91 w 340"/>
                <a:gd name="T19" fmla="*/ 99 h 322"/>
                <a:gd name="T20" fmla="*/ 97 w 340"/>
                <a:gd name="T21" fmla="*/ 107 h 322"/>
                <a:gd name="T22" fmla="*/ 102 w 340"/>
                <a:gd name="T23" fmla="*/ 116 h 322"/>
                <a:gd name="T24" fmla="*/ 105 w 340"/>
                <a:gd name="T25" fmla="*/ 125 h 322"/>
                <a:gd name="T26" fmla="*/ 108 w 340"/>
                <a:gd name="T27" fmla="*/ 135 h 322"/>
                <a:gd name="T28" fmla="*/ 111 w 340"/>
                <a:gd name="T29" fmla="*/ 145 h 322"/>
                <a:gd name="T30" fmla="*/ 112 w 340"/>
                <a:gd name="T31" fmla="*/ 154 h 322"/>
                <a:gd name="T32" fmla="*/ 170 w 340"/>
                <a:gd name="T33" fmla="*/ 160 h 322"/>
                <a:gd name="T34" fmla="*/ 169 w 340"/>
                <a:gd name="T35" fmla="*/ 144 h 322"/>
                <a:gd name="T36" fmla="*/ 166 w 340"/>
                <a:gd name="T37" fmla="*/ 127 h 322"/>
                <a:gd name="T38" fmla="*/ 162 w 340"/>
                <a:gd name="T39" fmla="*/ 112 h 322"/>
                <a:gd name="T40" fmla="*/ 157 w 340"/>
                <a:gd name="T41" fmla="*/ 97 h 322"/>
                <a:gd name="T42" fmla="*/ 149 w 340"/>
                <a:gd name="T43" fmla="*/ 83 h 322"/>
                <a:gd name="T44" fmla="*/ 140 w 340"/>
                <a:gd name="T45" fmla="*/ 70 h 322"/>
                <a:gd name="T46" fmla="*/ 131 w 340"/>
                <a:gd name="T47" fmla="*/ 58 h 322"/>
                <a:gd name="T48" fmla="*/ 120 w 340"/>
                <a:gd name="T49" fmla="*/ 47 h 322"/>
                <a:gd name="T50" fmla="*/ 107 w 340"/>
                <a:gd name="T51" fmla="*/ 36 h 322"/>
                <a:gd name="T52" fmla="*/ 95 w 340"/>
                <a:gd name="T53" fmla="*/ 27 h 322"/>
                <a:gd name="T54" fmla="*/ 80 w 340"/>
                <a:gd name="T55" fmla="*/ 19 h 322"/>
                <a:gd name="T56" fmla="*/ 66 w 340"/>
                <a:gd name="T57" fmla="*/ 12 h 322"/>
                <a:gd name="T58" fmla="*/ 51 w 340"/>
                <a:gd name="T59" fmla="*/ 8 h 322"/>
                <a:gd name="T60" fmla="*/ 34 w 340"/>
                <a:gd name="T61" fmla="*/ 4 h 322"/>
                <a:gd name="T62" fmla="*/ 18 w 340"/>
                <a:gd name="T63" fmla="*/ 1 h 322"/>
                <a:gd name="T64" fmla="*/ 0 w 340"/>
                <a:gd name="T65" fmla="*/ 0 h 322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340" h="322">
                  <a:moveTo>
                    <a:pt x="0" y="116"/>
                  </a:moveTo>
                  <a:lnTo>
                    <a:pt x="14" y="118"/>
                  </a:lnTo>
                  <a:lnTo>
                    <a:pt x="25" y="118"/>
                  </a:lnTo>
                  <a:lnTo>
                    <a:pt x="35" y="120"/>
                  </a:lnTo>
                  <a:lnTo>
                    <a:pt x="47" y="122"/>
                  </a:lnTo>
                  <a:lnTo>
                    <a:pt x="58" y="123"/>
                  </a:lnTo>
                  <a:lnTo>
                    <a:pt x="68" y="125"/>
                  </a:lnTo>
                  <a:lnTo>
                    <a:pt x="79" y="129"/>
                  </a:lnTo>
                  <a:lnTo>
                    <a:pt x="89" y="133"/>
                  </a:lnTo>
                  <a:lnTo>
                    <a:pt x="99" y="137"/>
                  </a:lnTo>
                  <a:lnTo>
                    <a:pt x="108" y="143"/>
                  </a:lnTo>
                  <a:lnTo>
                    <a:pt x="118" y="147"/>
                  </a:lnTo>
                  <a:lnTo>
                    <a:pt x="128" y="152"/>
                  </a:lnTo>
                  <a:lnTo>
                    <a:pt x="135" y="158"/>
                  </a:lnTo>
                  <a:lnTo>
                    <a:pt x="145" y="164"/>
                  </a:lnTo>
                  <a:lnTo>
                    <a:pt x="153" y="172"/>
                  </a:lnTo>
                  <a:lnTo>
                    <a:pt x="160" y="177"/>
                  </a:lnTo>
                  <a:lnTo>
                    <a:pt x="168" y="185"/>
                  </a:lnTo>
                  <a:lnTo>
                    <a:pt x="174" y="193"/>
                  </a:lnTo>
                  <a:lnTo>
                    <a:pt x="182" y="200"/>
                  </a:lnTo>
                  <a:lnTo>
                    <a:pt x="187" y="208"/>
                  </a:lnTo>
                  <a:lnTo>
                    <a:pt x="193" y="216"/>
                  </a:lnTo>
                  <a:lnTo>
                    <a:pt x="197" y="226"/>
                  </a:lnTo>
                  <a:lnTo>
                    <a:pt x="203" y="233"/>
                  </a:lnTo>
                  <a:lnTo>
                    <a:pt x="207" y="243"/>
                  </a:lnTo>
                  <a:lnTo>
                    <a:pt x="210" y="252"/>
                  </a:lnTo>
                  <a:lnTo>
                    <a:pt x="214" y="262"/>
                  </a:lnTo>
                  <a:lnTo>
                    <a:pt x="216" y="272"/>
                  </a:lnTo>
                  <a:lnTo>
                    <a:pt x="220" y="281"/>
                  </a:lnTo>
                  <a:lnTo>
                    <a:pt x="222" y="291"/>
                  </a:lnTo>
                  <a:lnTo>
                    <a:pt x="222" y="301"/>
                  </a:lnTo>
                  <a:lnTo>
                    <a:pt x="224" y="310"/>
                  </a:lnTo>
                  <a:lnTo>
                    <a:pt x="224" y="322"/>
                  </a:lnTo>
                  <a:lnTo>
                    <a:pt x="340" y="322"/>
                  </a:lnTo>
                  <a:lnTo>
                    <a:pt x="340" y="304"/>
                  </a:lnTo>
                  <a:lnTo>
                    <a:pt x="338" y="289"/>
                  </a:lnTo>
                  <a:lnTo>
                    <a:pt x="336" y="272"/>
                  </a:lnTo>
                  <a:lnTo>
                    <a:pt x="332" y="256"/>
                  </a:lnTo>
                  <a:lnTo>
                    <a:pt x="328" y="241"/>
                  </a:lnTo>
                  <a:lnTo>
                    <a:pt x="324" y="226"/>
                  </a:lnTo>
                  <a:lnTo>
                    <a:pt x="318" y="210"/>
                  </a:lnTo>
                  <a:lnTo>
                    <a:pt x="313" y="195"/>
                  </a:lnTo>
                  <a:lnTo>
                    <a:pt x="305" y="181"/>
                  </a:lnTo>
                  <a:lnTo>
                    <a:pt x="297" y="168"/>
                  </a:lnTo>
                  <a:lnTo>
                    <a:pt x="290" y="154"/>
                  </a:lnTo>
                  <a:lnTo>
                    <a:pt x="280" y="141"/>
                  </a:lnTo>
                  <a:lnTo>
                    <a:pt x="270" y="129"/>
                  </a:lnTo>
                  <a:lnTo>
                    <a:pt x="261" y="116"/>
                  </a:lnTo>
                  <a:lnTo>
                    <a:pt x="251" y="104"/>
                  </a:lnTo>
                  <a:lnTo>
                    <a:pt x="239" y="95"/>
                  </a:lnTo>
                  <a:lnTo>
                    <a:pt x="228" y="83"/>
                  </a:lnTo>
                  <a:lnTo>
                    <a:pt x="214" y="73"/>
                  </a:lnTo>
                  <a:lnTo>
                    <a:pt x="203" y="64"/>
                  </a:lnTo>
                  <a:lnTo>
                    <a:pt x="189" y="54"/>
                  </a:lnTo>
                  <a:lnTo>
                    <a:pt x="176" y="46"/>
                  </a:lnTo>
                  <a:lnTo>
                    <a:pt x="160" y="39"/>
                  </a:lnTo>
                  <a:lnTo>
                    <a:pt x="147" y="33"/>
                  </a:lnTo>
                  <a:lnTo>
                    <a:pt x="131" y="25"/>
                  </a:lnTo>
                  <a:lnTo>
                    <a:pt x="116" y="19"/>
                  </a:lnTo>
                  <a:lnTo>
                    <a:pt x="101" y="16"/>
                  </a:lnTo>
                  <a:lnTo>
                    <a:pt x="85" y="12"/>
                  </a:lnTo>
                  <a:lnTo>
                    <a:pt x="68" y="8"/>
                  </a:lnTo>
                  <a:lnTo>
                    <a:pt x="52" y="4"/>
                  </a:lnTo>
                  <a:lnTo>
                    <a:pt x="35" y="2"/>
                  </a:lnTo>
                  <a:lnTo>
                    <a:pt x="18" y="2"/>
                  </a:lnTo>
                  <a:lnTo>
                    <a:pt x="0" y="0"/>
                  </a:lnTo>
                  <a:lnTo>
                    <a:pt x="0" y="116"/>
                  </a:lnTo>
                  <a:close/>
                </a:path>
              </a:pathLst>
            </a:custGeom>
            <a:solidFill>
              <a:srgbClr val="FF6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281" name="Freeform 11"/>
            <p:cNvSpPr>
              <a:spLocks/>
            </p:cNvSpPr>
            <p:nvPr/>
          </p:nvSpPr>
          <p:spPr bwMode="auto">
            <a:xfrm>
              <a:off x="3871" y="1167"/>
              <a:ext cx="239" cy="226"/>
            </a:xfrm>
            <a:custGeom>
              <a:avLst/>
              <a:gdLst>
                <a:gd name="T0" fmla="*/ 59 w 478"/>
                <a:gd name="T1" fmla="*/ 217 h 453"/>
                <a:gd name="T2" fmla="*/ 61 w 478"/>
                <a:gd name="T3" fmla="*/ 201 h 453"/>
                <a:gd name="T4" fmla="*/ 64 w 478"/>
                <a:gd name="T5" fmla="*/ 185 h 453"/>
                <a:gd name="T6" fmla="*/ 70 w 478"/>
                <a:gd name="T7" fmla="*/ 169 h 453"/>
                <a:gd name="T8" fmla="*/ 77 w 478"/>
                <a:gd name="T9" fmla="*/ 154 h 453"/>
                <a:gd name="T10" fmla="*/ 84 w 478"/>
                <a:gd name="T11" fmla="*/ 139 h 453"/>
                <a:gd name="T12" fmla="*/ 94 w 478"/>
                <a:gd name="T13" fmla="*/ 126 h 453"/>
                <a:gd name="T14" fmla="*/ 105 w 478"/>
                <a:gd name="T15" fmla="*/ 113 h 453"/>
                <a:gd name="T16" fmla="*/ 117 w 478"/>
                <a:gd name="T17" fmla="*/ 102 h 453"/>
                <a:gd name="T18" fmla="*/ 130 w 478"/>
                <a:gd name="T19" fmla="*/ 92 h 453"/>
                <a:gd name="T20" fmla="*/ 145 w 478"/>
                <a:gd name="T21" fmla="*/ 83 h 453"/>
                <a:gd name="T22" fmla="*/ 160 w 478"/>
                <a:gd name="T23" fmla="*/ 75 h 453"/>
                <a:gd name="T24" fmla="*/ 177 w 478"/>
                <a:gd name="T25" fmla="*/ 68 h 453"/>
                <a:gd name="T26" fmla="*/ 194 w 478"/>
                <a:gd name="T27" fmla="*/ 63 h 453"/>
                <a:gd name="T28" fmla="*/ 211 w 478"/>
                <a:gd name="T29" fmla="*/ 60 h 453"/>
                <a:gd name="T30" fmla="*/ 231 w 478"/>
                <a:gd name="T31" fmla="*/ 59 h 453"/>
                <a:gd name="T32" fmla="*/ 239 w 478"/>
                <a:gd name="T33" fmla="*/ 0 h 453"/>
                <a:gd name="T34" fmla="*/ 215 w 478"/>
                <a:gd name="T35" fmla="*/ 2 h 453"/>
                <a:gd name="T36" fmla="*/ 192 w 478"/>
                <a:gd name="T37" fmla="*/ 5 h 453"/>
                <a:gd name="T38" fmla="*/ 169 w 478"/>
                <a:gd name="T39" fmla="*/ 10 h 453"/>
                <a:gd name="T40" fmla="*/ 148 w 478"/>
                <a:gd name="T41" fmla="*/ 18 h 453"/>
                <a:gd name="T42" fmla="*/ 127 w 478"/>
                <a:gd name="T43" fmla="*/ 27 h 453"/>
                <a:gd name="T44" fmla="*/ 107 w 478"/>
                <a:gd name="T45" fmla="*/ 38 h 453"/>
                <a:gd name="T46" fmla="*/ 89 w 478"/>
                <a:gd name="T47" fmla="*/ 52 h 453"/>
                <a:gd name="T48" fmla="*/ 72 w 478"/>
                <a:gd name="T49" fmla="*/ 66 h 453"/>
                <a:gd name="T50" fmla="*/ 56 w 478"/>
                <a:gd name="T51" fmla="*/ 82 h 453"/>
                <a:gd name="T52" fmla="*/ 42 w 478"/>
                <a:gd name="T53" fmla="*/ 99 h 453"/>
                <a:gd name="T54" fmla="*/ 30 w 478"/>
                <a:gd name="T55" fmla="*/ 118 h 453"/>
                <a:gd name="T56" fmla="*/ 20 w 478"/>
                <a:gd name="T57" fmla="*/ 138 h 453"/>
                <a:gd name="T58" fmla="*/ 12 w 478"/>
                <a:gd name="T59" fmla="*/ 159 h 453"/>
                <a:gd name="T60" fmla="*/ 6 w 478"/>
                <a:gd name="T61" fmla="*/ 181 h 453"/>
                <a:gd name="T62" fmla="*/ 2 w 478"/>
                <a:gd name="T63" fmla="*/ 203 h 453"/>
                <a:gd name="T64" fmla="*/ 0 w 478"/>
                <a:gd name="T65" fmla="*/ 226 h 453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478" h="453">
                  <a:moveTo>
                    <a:pt x="116" y="453"/>
                  </a:moveTo>
                  <a:lnTo>
                    <a:pt x="118" y="435"/>
                  </a:lnTo>
                  <a:lnTo>
                    <a:pt x="118" y="418"/>
                  </a:lnTo>
                  <a:lnTo>
                    <a:pt x="122" y="403"/>
                  </a:lnTo>
                  <a:lnTo>
                    <a:pt x="124" y="385"/>
                  </a:lnTo>
                  <a:lnTo>
                    <a:pt x="127" y="370"/>
                  </a:lnTo>
                  <a:lnTo>
                    <a:pt x="133" y="355"/>
                  </a:lnTo>
                  <a:lnTo>
                    <a:pt x="139" y="339"/>
                  </a:lnTo>
                  <a:lnTo>
                    <a:pt x="145" y="324"/>
                  </a:lnTo>
                  <a:lnTo>
                    <a:pt x="153" y="308"/>
                  </a:lnTo>
                  <a:lnTo>
                    <a:pt x="160" y="295"/>
                  </a:lnTo>
                  <a:lnTo>
                    <a:pt x="168" y="279"/>
                  </a:lnTo>
                  <a:lnTo>
                    <a:pt x="178" y="266"/>
                  </a:lnTo>
                  <a:lnTo>
                    <a:pt x="187" y="252"/>
                  </a:lnTo>
                  <a:lnTo>
                    <a:pt x="199" y="241"/>
                  </a:lnTo>
                  <a:lnTo>
                    <a:pt x="210" y="227"/>
                  </a:lnTo>
                  <a:lnTo>
                    <a:pt x="222" y="216"/>
                  </a:lnTo>
                  <a:lnTo>
                    <a:pt x="234" y="204"/>
                  </a:lnTo>
                  <a:lnTo>
                    <a:pt x="247" y="195"/>
                  </a:lnTo>
                  <a:lnTo>
                    <a:pt x="260" y="185"/>
                  </a:lnTo>
                  <a:lnTo>
                    <a:pt x="276" y="175"/>
                  </a:lnTo>
                  <a:lnTo>
                    <a:pt x="289" y="166"/>
                  </a:lnTo>
                  <a:lnTo>
                    <a:pt x="305" y="158"/>
                  </a:lnTo>
                  <a:lnTo>
                    <a:pt x="320" y="150"/>
                  </a:lnTo>
                  <a:lnTo>
                    <a:pt x="338" y="143"/>
                  </a:lnTo>
                  <a:lnTo>
                    <a:pt x="353" y="137"/>
                  </a:lnTo>
                  <a:lnTo>
                    <a:pt x="370" y="131"/>
                  </a:lnTo>
                  <a:lnTo>
                    <a:pt x="388" y="127"/>
                  </a:lnTo>
                  <a:lnTo>
                    <a:pt x="405" y="123"/>
                  </a:lnTo>
                  <a:lnTo>
                    <a:pt x="422" y="120"/>
                  </a:lnTo>
                  <a:lnTo>
                    <a:pt x="442" y="118"/>
                  </a:lnTo>
                  <a:lnTo>
                    <a:pt x="461" y="118"/>
                  </a:lnTo>
                  <a:lnTo>
                    <a:pt x="478" y="116"/>
                  </a:lnTo>
                  <a:lnTo>
                    <a:pt x="478" y="0"/>
                  </a:lnTo>
                  <a:lnTo>
                    <a:pt x="455" y="2"/>
                  </a:lnTo>
                  <a:lnTo>
                    <a:pt x="430" y="4"/>
                  </a:lnTo>
                  <a:lnTo>
                    <a:pt x="407" y="6"/>
                  </a:lnTo>
                  <a:lnTo>
                    <a:pt x="384" y="10"/>
                  </a:lnTo>
                  <a:lnTo>
                    <a:pt x="361" y="16"/>
                  </a:lnTo>
                  <a:lnTo>
                    <a:pt x="338" y="21"/>
                  </a:lnTo>
                  <a:lnTo>
                    <a:pt x="316" y="27"/>
                  </a:lnTo>
                  <a:lnTo>
                    <a:pt x="295" y="37"/>
                  </a:lnTo>
                  <a:lnTo>
                    <a:pt x="274" y="44"/>
                  </a:lnTo>
                  <a:lnTo>
                    <a:pt x="253" y="54"/>
                  </a:lnTo>
                  <a:lnTo>
                    <a:pt x="234" y="66"/>
                  </a:lnTo>
                  <a:lnTo>
                    <a:pt x="214" y="77"/>
                  </a:lnTo>
                  <a:lnTo>
                    <a:pt x="195" y="91"/>
                  </a:lnTo>
                  <a:lnTo>
                    <a:pt x="178" y="104"/>
                  </a:lnTo>
                  <a:lnTo>
                    <a:pt x="158" y="118"/>
                  </a:lnTo>
                  <a:lnTo>
                    <a:pt x="143" y="133"/>
                  </a:lnTo>
                  <a:lnTo>
                    <a:pt x="127" y="148"/>
                  </a:lnTo>
                  <a:lnTo>
                    <a:pt x="112" y="164"/>
                  </a:lnTo>
                  <a:lnTo>
                    <a:pt x="97" y="181"/>
                  </a:lnTo>
                  <a:lnTo>
                    <a:pt x="83" y="199"/>
                  </a:lnTo>
                  <a:lnTo>
                    <a:pt x="72" y="218"/>
                  </a:lnTo>
                  <a:lnTo>
                    <a:pt x="60" y="237"/>
                  </a:lnTo>
                  <a:lnTo>
                    <a:pt x="48" y="256"/>
                  </a:lnTo>
                  <a:lnTo>
                    <a:pt x="39" y="276"/>
                  </a:lnTo>
                  <a:lnTo>
                    <a:pt x="31" y="297"/>
                  </a:lnTo>
                  <a:lnTo>
                    <a:pt x="23" y="318"/>
                  </a:lnTo>
                  <a:lnTo>
                    <a:pt x="16" y="339"/>
                  </a:lnTo>
                  <a:lnTo>
                    <a:pt x="12" y="362"/>
                  </a:lnTo>
                  <a:lnTo>
                    <a:pt x="6" y="383"/>
                  </a:lnTo>
                  <a:lnTo>
                    <a:pt x="4" y="407"/>
                  </a:lnTo>
                  <a:lnTo>
                    <a:pt x="2" y="430"/>
                  </a:lnTo>
                  <a:lnTo>
                    <a:pt x="0" y="453"/>
                  </a:lnTo>
                  <a:lnTo>
                    <a:pt x="116" y="453"/>
                  </a:lnTo>
                  <a:close/>
                </a:path>
              </a:pathLst>
            </a:custGeom>
            <a:solidFill>
              <a:srgbClr val="FF6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282" name="Freeform 12"/>
            <p:cNvSpPr>
              <a:spLocks/>
            </p:cNvSpPr>
            <p:nvPr/>
          </p:nvSpPr>
          <p:spPr bwMode="auto">
            <a:xfrm>
              <a:off x="3871" y="1393"/>
              <a:ext cx="239" cy="226"/>
            </a:xfrm>
            <a:custGeom>
              <a:avLst/>
              <a:gdLst>
                <a:gd name="T0" fmla="*/ 231 w 478"/>
                <a:gd name="T1" fmla="*/ 169 h 452"/>
                <a:gd name="T2" fmla="*/ 211 w 478"/>
                <a:gd name="T3" fmla="*/ 167 h 452"/>
                <a:gd name="T4" fmla="*/ 194 w 478"/>
                <a:gd name="T5" fmla="*/ 163 h 452"/>
                <a:gd name="T6" fmla="*/ 177 w 478"/>
                <a:gd name="T7" fmla="*/ 158 h 452"/>
                <a:gd name="T8" fmla="*/ 160 w 478"/>
                <a:gd name="T9" fmla="*/ 151 h 452"/>
                <a:gd name="T10" fmla="*/ 145 w 478"/>
                <a:gd name="T11" fmla="*/ 144 h 452"/>
                <a:gd name="T12" fmla="*/ 130 w 478"/>
                <a:gd name="T13" fmla="*/ 135 h 452"/>
                <a:gd name="T14" fmla="*/ 117 w 478"/>
                <a:gd name="T15" fmla="*/ 124 h 452"/>
                <a:gd name="T16" fmla="*/ 105 w 478"/>
                <a:gd name="T17" fmla="*/ 113 h 452"/>
                <a:gd name="T18" fmla="*/ 94 w 478"/>
                <a:gd name="T19" fmla="*/ 100 h 452"/>
                <a:gd name="T20" fmla="*/ 84 w 478"/>
                <a:gd name="T21" fmla="*/ 87 h 452"/>
                <a:gd name="T22" fmla="*/ 77 w 478"/>
                <a:gd name="T23" fmla="*/ 72 h 452"/>
                <a:gd name="T24" fmla="*/ 70 w 478"/>
                <a:gd name="T25" fmla="*/ 58 h 452"/>
                <a:gd name="T26" fmla="*/ 64 w 478"/>
                <a:gd name="T27" fmla="*/ 43 h 452"/>
                <a:gd name="T28" fmla="*/ 61 w 478"/>
                <a:gd name="T29" fmla="*/ 26 h 452"/>
                <a:gd name="T30" fmla="*/ 59 w 478"/>
                <a:gd name="T31" fmla="*/ 9 h 452"/>
                <a:gd name="T32" fmla="*/ 0 w 478"/>
                <a:gd name="T33" fmla="*/ 0 h 452"/>
                <a:gd name="T34" fmla="*/ 2 w 478"/>
                <a:gd name="T35" fmla="*/ 23 h 452"/>
                <a:gd name="T36" fmla="*/ 6 w 478"/>
                <a:gd name="T37" fmla="*/ 46 h 452"/>
                <a:gd name="T38" fmla="*/ 12 w 478"/>
                <a:gd name="T39" fmla="*/ 68 h 452"/>
                <a:gd name="T40" fmla="*/ 20 w 478"/>
                <a:gd name="T41" fmla="*/ 89 h 452"/>
                <a:gd name="T42" fmla="*/ 30 w 478"/>
                <a:gd name="T43" fmla="*/ 109 h 452"/>
                <a:gd name="T44" fmla="*/ 42 w 478"/>
                <a:gd name="T45" fmla="*/ 127 h 452"/>
                <a:gd name="T46" fmla="*/ 56 w 478"/>
                <a:gd name="T47" fmla="*/ 145 h 452"/>
                <a:gd name="T48" fmla="*/ 72 w 478"/>
                <a:gd name="T49" fmla="*/ 161 h 452"/>
                <a:gd name="T50" fmla="*/ 89 w 478"/>
                <a:gd name="T51" fmla="*/ 175 h 452"/>
                <a:gd name="T52" fmla="*/ 107 w 478"/>
                <a:gd name="T53" fmla="*/ 188 h 452"/>
                <a:gd name="T54" fmla="*/ 127 w 478"/>
                <a:gd name="T55" fmla="*/ 199 h 452"/>
                <a:gd name="T56" fmla="*/ 148 w 478"/>
                <a:gd name="T57" fmla="*/ 209 h 452"/>
                <a:gd name="T58" fmla="*/ 169 w 478"/>
                <a:gd name="T59" fmla="*/ 216 h 452"/>
                <a:gd name="T60" fmla="*/ 192 w 478"/>
                <a:gd name="T61" fmla="*/ 222 h 452"/>
                <a:gd name="T62" fmla="*/ 215 w 478"/>
                <a:gd name="T63" fmla="*/ 225 h 452"/>
                <a:gd name="T64" fmla="*/ 239 w 478"/>
                <a:gd name="T65" fmla="*/ 226 h 452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478" h="452">
                  <a:moveTo>
                    <a:pt x="478" y="337"/>
                  </a:moveTo>
                  <a:lnTo>
                    <a:pt x="461" y="337"/>
                  </a:lnTo>
                  <a:lnTo>
                    <a:pt x="442" y="335"/>
                  </a:lnTo>
                  <a:lnTo>
                    <a:pt x="422" y="333"/>
                  </a:lnTo>
                  <a:lnTo>
                    <a:pt x="405" y="329"/>
                  </a:lnTo>
                  <a:lnTo>
                    <a:pt x="388" y="325"/>
                  </a:lnTo>
                  <a:lnTo>
                    <a:pt x="370" y="321"/>
                  </a:lnTo>
                  <a:lnTo>
                    <a:pt x="353" y="316"/>
                  </a:lnTo>
                  <a:lnTo>
                    <a:pt x="338" y="310"/>
                  </a:lnTo>
                  <a:lnTo>
                    <a:pt x="320" y="302"/>
                  </a:lnTo>
                  <a:lnTo>
                    <a:pt x="305" y="296"/>
                  </a:lnTo>
                  <a:lnTo>
                    <a:pt x="289" y="287"/>
                  </a:lnTo>
                  <a:lnTo>
                    <a:pt x="276" y="279"/>
                  </a:lnTo>
                  <a:lnTo>
                    <a:pt x="260" y="269"/>
                  </a:lnTo>
                  <a:lnTo>
                    <a:pt x="247" y="260"/>
                  </a:lnTo>
                  <a:lnTo>
                    <a:pt x="234" y="248"/>
                  </a:lnTo>
                  <a:lnTo>
                    <a:pt x="222" y="237"/>
                  </a:lnTo>
                  <a:lnTo>
                    <a:pt x="210" y="225"/>
                  </a:lnTo>
                  <a:lnTo>
                    <a:pt x="199" y="214"/>
                  </a:lnTo>
                  <a:lnTo>
                    <a:pt x="187" y="200"/>
                  </a:lnTo>
                  <a:lnTo>
                    <a:pt x="178" y="187"/>
                  </a:lnTo>
                  <a:lnTo>
                    <a:pt x="168" y="173"/>
                  </a:lnTo>
                  <a:lnTo>
                    <a:pt x="160" y="160"/>
                  </a:lnTo>
                  <a:lnTo>
                    <a:pt x="153" y="144"/>
                  </a:lnTo>
                  <a:lnTo>
                    <a:pt x="145" y="131"/>
                  </a:lnTo>
                  <a:lnTo>
                    <a:pt x="139" y="115"/>
                  </a:lnTo>
                  <a:lnTo>
                    <a:pt x="133" y="100"/>
                  </a:lnTo>
                  <a:lnTo>
                    <a:pt x="127" y="85"/>
                  </a:lnTo>
                  <a:lnTo>
                    <a:pt x="124" y="67"/>
                  </a:lnTo>
                  <a:lnTo>
                    <a:pt x="122" y="52"/>
                  </a:lnTo>
                  <a:lnTo>
                    <a:pt x="118" y="34"/>
                  </a:lnTo>
                  <a:lnTo>
                    <a:pt x="118" y="17"/>
                  </a:lnTo>
                  <a:lnTo>
                    <a:pt x="116" y="0"/>
                  </a:lnTo>
                  <a:lnTo>
                    <a:pt x="0" y="0"/>
                  </a:lnTo>
                  <a:lnTo>
                    <a:pt x="2" y="23"/>
                  </a:lnTo>
                  <a:lnTo>
                    <a:pt x="4" y="46"/>
                  </a:lnTo>
                  <a:lnTo>
                    <a:pt x="6" y="69"/>
                  </a:lnTo>
                  <a:lnTo>
                    <a:pt x="12" y="92"/>
                  </a:lnTo>
                  <a:lnTo>
                    <a:pt x="16" y="113"/>
                  </a:lnTo>
                  <a:lnTo>
                    <a:pt x="23" y="135"/>
                  </a:lnTo>
                  <a:lnTo>
                    <a:pt x="31" y="156"/>
                  </a:lnTo>
                  <a:lnTo>
                    <a:pt x="39" y="177"/>
                  </a:lnTo>
                  <a:lnTo>
                    <a:pt x="48" y="198"/>
                  </a:lnTo>
                  <a:lnTo>
                    <a:pt x="60" y="217"/>
                  </a:lnTo>
                  <a:lnTo>
                    <a:pt x="72" y="237"/>
                  </a:lnTo>
                  <a:lnTo>
                    <a:pt x="83" y="254"/>
                  </a:lnTo>
                  <a:lnTo>
                    <a:pt x="97" y="271"/>
                  </a:lnTo>
                  <a:lnTo>
                    <a:pt x="112" y="289"/>
                  </a:lnTo>
                  <a:lnTo>
                    <a:pt x="127" y="306"/>
                  </a:lnTo>
                  <a:lnTo>
                    <a:pt x="143" y="321"/>
                  </a:lnTo>
                  <a:lnTo>
                    <a:pt x="158" y="337"/>
                  </a:lnTo>
                  <a:lnTo>
                    <a:pt x="178" y="350"/>
                  </a:lnTo>
                  <a:lnTo>
                    <a:pt x="195" y="364"/>
                  </a:lnTo>
                  <a:lnTo>
                    <a:pt x="214" y="375"/>
                  </a:lnTo>
                  <a:lnTo>
                    <a:pt x="234" y="387"/>
                  </a:lnTo>
                  <a:lnTo>
                    <a:pt x="253" y="398"/>
                  </a:lnTo>
                  <a:lnTo>
                    <a:pt x="274" y="408"/>
                  </a:lnTo>
                  <a:lnTo>
                    <a:pt x="295" y="418"/>
                  </a:lnTo>
                  <a:lnTo>
                    <a:pt x="316" y="425"/>
                  </a:lnTo>
                  <a:lnTo>
                    <a:pt x="338" y="431"/>
                  </a:lnTo>
                  <a:lnTo>
                    <a:pt x="361" y="439"/>
                  </a:lnTo>
                  <a:lnTo>
                    <a:pt x="384" y="443"/>
                  </a:lnTo>
                  <a:lnTo>
                    <a:pt x="407" y="447"/>
                  </a:lnTo>
                  <a:lnTo>
                    <a:pt x="430" y="450"/>
                  </a:lnTo>
                  <a:lnTo>
                    <a:pt x="455" y="452"/>
                  </a:lnTo>
                  <a:lnTo>
                    <a:pt x="478" y="452"/>
                  </a:lnTo>
                  <a:lnTo>
                    <a:pt x="478" y="337"/>
                  </a:lnTo>
                  <a:close/>
                </a:path>
              </a:pathLst>
            </a:custGeom>
            <a:solidFill>
              <a:srgbClr val="FF6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283" name="Freeform 13"/>
            <p:cNvSpPr>
              <a:spLocks/>
            </p:cNvSpPr>
            <p:nvPr/>
          </p:nvSpPr>
          <p:spPr bwMode="auto">
            <a:xfrm>
              <a:off x="4110" y="1327"/>
              <a:ext cx="310" cy="292"/>
            </a:xfrm>
            <a:custGeom>
              <a:avLst/>
              <a:gdLst>
                <a:gd name="T0" fmla="*/ 252 w 619"/>
                <a:gd name="T1" fmla="*/ 12 h 583"/>
                <a:gd name="T2" fmla="*/ 249 w 619"/>
                <a:gd name="T3" fmla="*/ 36 h 583"/>
                <a:gd name="T4" fmla="*/ 244 w 619"/>
                <a:gd name="T5" fmla="*/ 58 h 583"/>
                <a:gd name="T6" fmla="*/ 238 w 619"/>
                <a:gd name="T7" fmla="*/ 80 h 583"/>
                <a:gd name="T8" fmla="*/ 228 w 619"/>
                <a:gd name="T9" fmla="*/ 101 h 583"/>
                <a:gd name="T10" fmla="*/ 216 w 619"/>
                <a:gd name="T11" fmla="*/ 121 h 583"/>
                <a:gd name="T12" fmla="*/ 203 w 619"/>
                <a:gd name="T13" fmla="*/ 140 h 583"/>
                <a:gd name="T14" fmla="*/ 187 w 619"/>
                <a:gd name="T15" fmla="*/ 157 h 583"/>
                <a:gd name="T16" fmla="*/ 170 w 619"/>
                <a:gd name="T17" fmla="*/ 173 h 583"/>
                <a:gd name="T18" fmla="*/ 152 w 619"/>
                <a:gd name="T19" fmla="*/ 187 h 583"/>
                <a:gd name="T20" fmla="*/ 132 w 619"/>
                <a:gd name="T21" fmla="*/ 200 h 583"/>
                <a:gd name="T22" fmla="*/ 110 w 619"/>
                <a:gd name="T23" fmla="*/ 211 h 583"/>
                <a:gd name="T24" fmla="*/ 88 w 619"/>
                <a:gd name="T25" fmla="*/ 220 h 583"/>
                <a:gd name="T26" fmla="*/ 64 w 619"/>
                <a:gd name="T27" fmla="*/ 226 h 583"/>
                <a:gd name="T28" fmla="*/ 40 w 619"/>
                <a:gd name="T29" fmla="*/ 231 h 583"/>
                <a:gd name="T30" fmla="*/ 14 w 619"/>
                <a:gd name="T31" fmla="*/ 234 h 583"/>
                <a:gd name="T32" fmla="*/ 0 w 619"/>
                <a:gd name="T33" fmla="*/ 292 h 583"/>
                <a:gd name="T34" fmla="*/ 32 w 619"/>
                <a:gd name="T35" fmla="*/ 290 h 583"/>
                <a:gd name="T36" fmla="*/ 63 w 619"/>
                <a:gd name="T37" fmla="*/ 286 h 583"/>
                <a:gd name="T38" fmla="*/ 92 w 619"/>
                <a:gd name="T39" fmla="*/ 278 h 583"/>
                <a:gd name="T40" fmla="*/ 121 w 619"/>
                <a:gd name="T41" fmla="*/ 269 h 583"/>
                <a:gd name="T42" fmla="*/ 148 w 619"/>
                <a:gd name="T43" fmla="*/ 257 h 583"/>
                <a:gd name="T44" fmla="*/ 173 w 619"/>
                <a:gd name="T45" fmla="*/ 243 h 583"/>
                <a:gd name="T46" fmla="*/ 197 w 619"/>
                <a:gd name="T47" fmla="*/ 226 h 583"/>
                <a:gd name="T48" fmla="*/ 219 w 619"/>
                <a:gd name="T49" fmla="*/ 207 h 583"/>
                <a:gd name="T50" fmla="*/ 239 w 619"/>
                <a:gd name="T51" fmla="*/ 186 h 583"/>
                <a:gd name="T52" fmla="*/ 257 w 619"/>
                <a:gd name="T53" fmla="*/ 164 h 583"/>
                <a:gd name="T54" fmla="*/ 272 w 619"/>
                <a:gd name="T55" fmla="*/ 140 h 583"/>
                <a:gd name="T56" fmla="*/ 286 w 619"/>
                <a:gd name="T57" fmla="*/ 115 h 583"/>
                <a:gd name="T58" fmla="*/ 296 w 619"/>
                <a:gd name="T59" fmla="*/ 88 h 583"/>
                <a:gd name="T60" fmla="*/ 304 w 619"/>
                <a:gd name="T61" fmla="*/ 59 h 583"/>
                <a:gd name="T62" fmla="*/ 308 w 619"/>
                <a:gd name="T63" fmla="*/ 30 h 583"/>
                <a:gd name="T64" fmla="*/ 310 w 619"/>
                <a:gd name="T65" fmla="*/ 0 h 583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619" h="583">
                  <a:moveTo>
                    <a:pt x="504" y="0"/>
                  </a:moveTo>
                  <a:lnTo>
                    <a:pt x="504" y="23"/>
                  </a:lnTo>
                  <a:lnTo>
                    <a:pt x="502" y="48"/>
                  </a:lnTo>
                  <a:lnTo>
                    <a:pt x="498" y="71"/>
                  </a:lnTo>
                  <a:lnTo>
                    <a:pt x="494" y="94"/>
                  </a:lnTo>
                  <a:lnTo>
                    <a:pt x="488" y="115"/>
                  </a:lnTo>
                  <a:lnTo>
                    <a:pt x="482" y="138"/>
                  </a:lnTo>
                  <a:lnTo>
                    <a:pt x="475" y="160"/>
                  </a:lnTo>
                  <a:lnTo>
                    <a:pt x="465" y="181"/>
                  </a:lnTo>
                  <a:lnTo>
                    <a:pt x="455" y="202"/>
                  </a:lnTo>
                  <a:lnTo>
                    <a:pt x="444" y="221"/>
                  </a:lnTo>
                  <a:lnTo>
                    <a:pt x="432" y="241"/>
                  </a:lnTo>
                  <a:lnTo>
                    <a:pt x="419" y="260"/>
                  </a:lnTo>
                  <a:lnTo>
                    <a:pt x="405" y="279"/>
                  </a:lnTo>
                  <a:lnTo>
                    <a:pt x="390" y="296"/>
                  </a:lnTo>
                  <a:lnTo>
                    <a:pt x="374" y="314"/>
                  </a:lnTo>
                  <a:lnTo>
                    <a:pt x="359" y="329"/>
                  </a:lnTo>
                  <a:lnTo>
                    <a:pt x="340" y="345"/>
                  </a:lnTo>
                  <a:lnTo>
                    <a:pt x="322" y="360"/>
                  </a:lnTo>
                  <a:lnTo>
                    <a:pt x="303" y="373"/>
                  </a:lnTo>
                  <a:lnTo>
                    <a:pt x="284" y="387"/>
                  </a:lnTo>
                  <a:lnTo>
                    <a:pt x="263" y="399"/>
                  </a:lnTo>
                  <a:lnTo>
                    <a:pt x="241" y="410"/>
                  </a:lnTo>
                  <a:lnTo>
                    <a:pt x="220" y="422"/>
                  </a:lnTo>
                  <a:lnTo>
                    <a:pt x="199" y="431"/>
                  </a:lnTo>
                  <a:lnTo>
                    <a:pt x="176" y="439"/>
                  </a:lnTo>
                  <a:lnTo>
                    <a:pt x="153" y="447"/>
                  </a:lnTo>
                  <a:lnTo>
                    <a:pt x="128" y="452"/>
                  </a:lnTo>
                  <a:lnTo>
                    <a:pt x="103" y="458"/>
                  </a:lnTo>
                  <a:lnTo>
                    <a:pt x="79" y="462"/>
                  </a:lnTo>
                  <a:lnTo>
                    <a:pt x="52" y="466"/>
                  </a:lnTo>
                  <a:lnTo>
                    <a:pt x="27" y="468"/>
                  </a:lnTo>
                  <a:lnTo>
                    <a:pt x="0" y="468"/>
                  </a:lnTo>
                  <a:lnTo>
                    <a:pt x="0" y="583"/>
                  </a:lnTo>
                  <a:lnTo>
                    <a:pt x="33" y="583"/>
                  </a:lnTo>
                  <a:lnTo>
                    <a:pt x="64" y="580"/>
                  </a:lnTo>
                  <a:lnTo>
                    <a:pt x="95" y="576"/>
                  </a:lnTo>
                  <a:lnTo>
                    <a:pt x="126" y="572"/>
                  </a:lnTo>
                  <a:lnTo>
                    <a:pt x="155" y="564"/>
                  </a:lnTo>
                  <a:lnTo>
                    <a:pt x="183" y="556"/>
                  </a:lnTo>
                  <a:lnTo>
                    <a:pt x="212" y="549"/>
                  </a:lnTo>
                  <a:lnTo>
                    <a:pt x="241" y="537"/>
                  </a:lnTo>
                  <a:lnTo>
                    <a:pt x="268" y="526"/>
                  </a:lnTo>
                  <a:lnTo>
                    <a:pt x="295" y="514"/>
                  </a:lnTo>
                  <a:lnTo>
                    <a:pt x="320" y="499"/>
                  </a:lnTo>
                  <a:lnTo>
                    <a:pt x="345" y="485"/>
                  </a:lnTo>
                  <a:lnTo>
                    <a:pt x="370" y="468"/>
                  </a:lnTo>
                  <a:lnTo>
                    <a:pt x="394" y="451"/>
                  </a:lnTo>
                  <a:lnTo>
                    <a:pt x="415" y="433"/>
                  </a:lnTo>
                  <a:lnTo>
                    <a:pt x="438" y="414"/>
                  </a:lnTo>
                  <a:lnTo>
                    <a:pt x="457" y="393"/>
                  </a:lnTo>
                  <a:lnTo>
                    <a:pt x="477" y="372"/>
                  </a:lnTo>
                  <a:lnTo>
                    <a:pt x="496" y="350"/>
                  </a:lnTo>
                  <a:lnTo>
                    <a:pt x="513" y="327"/>
                  </a:lnTo>
                  <a:lnTo>
                    <a:pt x="529" y="304"/>
                  </a:lnTo>
                  <a:lnTo>
                    <a:pt x="544" y="279"/>
                  </a:lnTo>
                  <a:lnTo>
                    <a:pt x="557" y="254"/>
                  </a:lnTo>
                  <a:lnTo>
                    <a:pt x="571" y="229"/>
                  </a:lnTo>
                  <a:lnTo>
                    <a:pt x="581" y="202"/>
                  </a:lnTo>
                  <a:lnTo>
                    <a:pt x="592" y="175"/>
                  </a:lnTo>
                  <a:lnTo>
                    <a:pt x="600" y="146"/>
                  </a:lnTo>
                  <a:lnTo>
                    <a:pt x="608" y="117"/>
                  </a:lnTo>
                  <a:lnTo>
                    <a:pt x="611" y="88"/>
                  </a:lnTo>
                  <a:lnTo>
                    <a:pt x="615" y="60"/>
                  </a:lnTo>
                  <a:lnTo>
                    <a:pt x="619" y="31"/>
                  </a:lnTo>
                  <a:lnTo>
                    <a:pt x="619" y="0"/>
                  </a:lnTo>
                  <a:lnTo>
                    <a:pt x="504" y="0"/>
                  </a:lnTo>
                  <a:close/>
                </a:path>
              </a:pathLst>
            </a:custGeom>
            <a:solidFill>
              <a:srgbClr val="FF6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284" name="Freeform 14"/>
            <p:cNvSpPr>
              <a:spLocks/>
            </p:cNvSpPr>
            <p:nvPr/>
          </p:nvSpPr>
          <p:spPr bwMode="auto">
            <a:xfrm>
              <a:off x="4110" y="1036"/>
              <a:ext cx="310" cy="291"/>
            </a:xfrm>
            <a:custGeom>
              <a:avLst/>
              <a:gdLst>
                <a:gd name="T0" fmla="*/ 14 w 619"/>
                <a:gd name="T1" fmla="*/ 58 h 584"/>
                <a:gd name="T2" fmla="*/ 40 w 619"/>
                <a:gd name="T3" fmla="*/ 61 h 584"/>
                <a:gd name="T4" fmla="*/ 64 w 619"/>
                <a:gd name="T5" fmla="*/ 65 h 584"/>
                <a:gd name="T6" fmla="*/ 88 w 619"/>
                <a:gd name="T7" fmla="*/ 72 h 584"/>
                <a:gd name="T8" fmla="*/ 110 w 619"/>
                <a:gd name="T9" fmla="*/ 81 h 584"/>
                <a:gd name="T10" fmla="*/ 132 w 619"/>
                <a:gd name="T11" fmla="*/ 91 h 584"/>
                <a:gd name="T12" fmla="*/ 152 w 619"/>
                <a:gd name="T13" fmla="*/ 105 h 584"/>
                <a:gd name="T14" fmla="*/ 170 w 619"/>
                <a:gd name="T15" fmla="*/ 119 h 584"/>
                <a:gd name="T16" fmla="*/ 187 w 619"/>
                <a:gd name="T17" fmla="*/ 135 h 584"/>
                <a:gd name="T18" fmla="*/ 203 w 619"/>
                <a:gd name="T19" fmla="*/ 152 h 584"/>
                <a:gd name="T20" fmla="*/ 216 w 619"/>
                <a:gd name="T21" fmla="*/ 171 h 584"/>
                <a:gd name="T22" fmla="*/ 228 w 619"/>
                <a:gd name="T23" fmla="*/ 190 h 584"/>
                <a:gd name="T24" fmla="*/ 238 w 619"/>
                <a:gd name="T25" fmla="*/ 211 h 584"/>
                <a:gd name="T26" fmla="*/ 244 w 619"/>
                <a:gd name="T27" fmla="*/ 233 h 584"/>
                <a:gd name="T28" fmla="*/ 249 w 619"/>
                <a:gd name="T29" fmla="*/ 256 h 584"/>
                <a:gd name="T30" fmla="*/ 252 w 619"/>
                <a:gd name="T31" fmla="*/ 279 h 584"/>
                <a:gd name="T32" fmla="*/ 310 w 619"/>
                <a:gd name="T33" fmla="*/ 291 h 584"/>
                <a:gd name="T34" fmla="*/ 308 w 619"/>
                <a:gd name="T35" fmla="*/ 261 h 584"/>
                <a:gd name="T36" fmla="*/ 304 w 619"/>
                <a:gd name="T37" fmla="*/ 232 h 584"/>
                <a:gd name="T38" fmla="*/ 296 w 619"/>
                <a:gd name="T39" fmla="*/ 204 h 584"/>
                <a:gd name="T40" fmla="*/ 286 w 619"/>
                <a:gd name="T41" fmla="*/ 177 h 584"/>
                <a:gd name="T42" fmla="*/ 272 w 619"/>
                <a:gd name="T43" fmla="*/ 152 h 584"/>
                <a:gd name="T44" fmla="*/ 257 w 619"/>
                <a:gd name="T45" fmla="*/ 128 h 584"/>
                <a:gd name="T46" fmla="*/ 239 w 619"/>
                <a:gd name="T47" fmla="*/ 105 h 584"/>
                <a:gd name="T48" fmla="*/ 219 w 619"/>
                <a:gd name="T49" fmla="*/ 85 h 584"/>
                <a:gd name="T50" fmla="*/ 197 w 619"/>
                <a:gd name="T51" fmla="*/ 66 h 584"/>
                <a:gd name="T52" fmla="*/ 173 w 619"/>
                <a:gd name="T53" fmla="*/ 49 h 584"/>
                <a:gd name="T54" fmla="*/ 148 w 619"/>
                <a:gd name="T55" fmla="*/ 35 h 584"/>
                <a:gd name="T56" fmla="*/ 121 w 619"/>
                <a:gd name="T57" fmla="*/ 23 h 584"/>
                <a:gd name="T58" fmla="*/ 92 w 619"/>
                <a:gd name="T59" fmla="*/ 12 h 584"/>
                <a:gd name="T60" fmla="*/ 63 w 619"/>
                <a:gd name="T61" fmla="*/ 6 h 584"/>
                <a:gd name="T62" fmla="*/ 32 w 619"/>
                <a:gd name="T63" fmla="*/ 2 h 584"/>
                <a:gd name="T64" fmla="*/ 0 w 619"/>
                <a:gd name="T65" fmla="*/ 0 h 584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619" h="584">
                  <a:moveTo>
                    <a:pt x="0" y="116"/>
                  </a:moveTo>
                  <a:lnTo>
                    <a:pt x="27" y="116"/>
                  </a:lnTo>
                  <a:lnTo>
                    <a:pt x="52" y="118"/>
                  </a:lnTo>
                  <a:lnTo>
                    <a:pt x="79" y="122"/>
                  </a:lnTo>
                  <a:lnTo>
                    <a:pt x="103" y="125"/>
                  </a:lnTo>
                  <a:lnTo>
                    <a:pt x="128" y="131"/>
                  </a:lnTo>
                  <a:lnTo>
                    <a:pt x="153" y="137"/>
                  </a:lnTo>
                  <a:lnTo>
                    <a:pt x="176" y="145"/>
                  </a:lnTo>
                  <a:lnTo>
                    <a:pt x="199" y="152"/>
                  </a:lnTo>
                  <a:lnTo>
                    <a:pt x="220" y="162"/>
                  </a:lnTo>
                  <a:lnTo>
                    <a:pt x="241" y="174"/>
                  </a:lnTo>
                  <a:lnTo>
                    <a:pt x="263" y="183"/>
                  </a:lnTo>
                  <a:lnTo>
                    <a:pt x="284" y="197"/>
                  </a:lnTo>
                  <a:lnTo>
                    <a:pt x="303" y="210"/>
                  </a:lnTo>
                  <a:lnTo>
                    <a:pt x="322" y="224"/>
                  </a:lnTo>
                  <a:lnTo>
                    <a:pt x="340" y="239"/>
                  </a:lnTo>
                  <a:lnTo>
                    <a:pt x="359" y="254"/>
                  </a:lnTo>
                  <a:lnTo>
                    <a:pt x="374" y="270"/>
                  </a:lnTo>
                  <a:lnTo>
                    <a:pt x="390" y="287"/>
                  </a:lnTo>
                  <a:lnTo>
                    <a:pt x="405" y="305"/>
                  </a:lnTo>
                  <a:lnTo>
                    <a:pt x="419" y="324"/>
                  </a:lnTo>
                  <a:lnTo>
                    <a:pt x="432" y="343"/>
                  </a:lnTo>
                  <a:lnTo>
                    <a:pt x="444" y="362"/>
                  </a:lnTo>
                  <a:lnTo>
                    <a:pt x="455" y="382"/>
                  </a:lnTo>
                  <a:lnTo>
                    <a:pt x="465" y="403"/>
                  </a:lnTo>
                  <a:lnTo>
                    <a:pt x="475" y="424"/>
                  </a:lnTo>
                  <a:lnTo>
                    <a:pt x="482" y="445"/>
                  </a:lnTo>
                  <a:lnTo>
                    <a:pt x="488" y="468"/>
                  </a:lnTo>
                  <a:lnTo>
                    <a:pt x="494" y="489"/>
                  </a:lnTo>
                  <a:lnTo>
                    <a:pt x="498" y="513"/>
                  </a:lnTo>
                  <a:lnTo>
                    <a:pt x="502" y="536"/>
                  </a:lnTo>
                  <a:lnTo>
                    <a:pt x="504" y="559"/>
                  </a:lnTo>
                  <a:lnTo>
                    <a:pt x="504" y="584"/>
                  </a:lnTo>
                  <a:lnTo>
                    <a:pt x="619" y="584"/>
                  </a:lnTo>
                  <a:lnTo>
                    <a:pt x="619" y="553"/>
                  </a:lnTo>
                  <a:lnTo>
                    <a:pt x="615" y="524"/>
                  </a:lnTo>
                  <a:lnTo>
                    <a:pt x="611" y="495"/>
                  </a:lnTo>
                  <a:lnTo>
                    <a:pt x="608" y="466"/>
                  </a:lnTo>
                  <a:lnTo>
                    <a:pt x="600" y="437"/>
                  </a:lnTo>
                  <a:lnTo>
                    <a:pt x="592" y="409"/>
                  </a:lnTo>
                  <a:lnTo>
                    <a:pt x="581" y="382"/>
                  </a:lnTo>
                  <a:lnTo>
                    <a:pt x="571" y="355"/>
                  </a:lnTo>
                  <a:lnTo>
                    <a:pt x="557" y="330"/>
                  </a:lnTo>
                  <a:lnTo>
                    <a:pt x="544" y="305"/>
                  </a:lnTo>
                  <a:lnTo>
                    <a:pt x="529" y="279"/>
                  </a:lnTo>
                  <a:lnTo>
                    <a:pt x="513" y="256"/>
                  </a:lnTo>
                  <a:lnTo>
                    <a:pt x="496" y="233"/>
                  </a:lnTo>
                  <a:lnTo>
                    <a:pt x="477" y="210"/>
                  </a:lnTo>
                  <a:lnTo>
                    <a:pt x="457" y="191"/>
                  </a:lnTo>
                  <a:lnTo>
                    <a:pt x="438" y="170"/>
                  </a:lnTo>
                  <a:lnTo>
                    <a:pt x="415" y="150"/>
                  </a:lnTo>
                  <a:lnTo>
                    <a:pt x="394" y="133"/>
                  </a:lnTo>
                  <a:lnTo>
                    <a:pt x="370" y="116"/>
                  </a:lnTo>
                  <a:lnTo>
                    <a:pt x="345" y="98"/>
                  </a:lnTo>
                  <a:lnTo>
                    <a:pt x="320" y="83"/>
                  </a:lnTo>
                  <a:lnTo>
                    <a:pt x="295" y="70"/>
                  </a:lnTo>
                  <a:lnTo>
                    <a:pt x="268" y="58"/>
                  </a:lnTo>
                  <a:lnTo>
                    <a:pt x="241" y="46"/>
                  </a:lnTo>
                  <a:lnTo>
                    <a:pt x="212" y="35"/>
                  </a:lnTo>
                  <a:lnTo>
                    <a:pt x="183" y="25"/>
                  </a:lnTo>
                  <a:lnTo>
                    <a:pt x="155" y="18"/>
                  </a:lnTo>
                  <a:lnTo>
                    <a:pt x="126" y="12"/>
                  </a:lnTo>
                  <a:lnTo>
                    <a:pt x="95" y="6"/>
                  </a:lnTo>
                  <a:lnTo>
                    <a:pt x="64" y="4"/>
                  </a:lnTo>
                  <a:lnTo>
                    <a:pt x="33" y="0"/>
                  </a:lnTo>
                  <a:lnTo>
                    <a:pt x="0" y="0"/>
                  </a:lnTo>
                  <a:lnTo>
                    <a:pt x="0" y="116"/>
                  </a:lnTo>
                  <a:close/>
                </a:path>
              </a:pathLst>
            </a:custGeom>
            <a:solidFill>
              <a:srgbClr val="FF6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285" name="Freeform 15"/>
            <p:cNvSpPr>
              <a:spLocks/>
            </p:cNvSpPr>
            <p:nvPr/>
          </p:nvSpPr>
          <p:spPr bwMode="auto">
            <a:xfrm>
              <a:off x="3731" y="1036"/>
              <a:ext cx="379" cy="357"/>
            </a:xfrm>
            <a:custGeom>
              <a:avLst/>
              <a:gdLst>
                <a:gd name="T0" fmla="*/ 58 w 757"/>
                <a:gd name="T1" fmla="*/ 342 h 715"/>
                <a:gd name="T2" fmla="*/ 62 w 757"/>
                <a:gd name="T3" fmla="*/ 312 h 715"/>
                <a:gd name="T4" fmla="*/ 68 w 757"/>
                <a:gd name="T5" fmla="*/ 283 h 715"/>
                <a:gd name="T6" fmla="*/ 77 w 757"/>
                <a:gd name="T7" fmla="*/ 255 h 715"/>
                <a:gd name="T8" fmla="*/ 90 w 757"/>
                <a:gd name="T9" fmla="*/ 228 h 715"/>
                <a:gd name="T10" fmla="*/ 104 w 757"/>
                <a:gd name="T11" fmla="*/ 203 h 715"/>
                <a:gd name="T12" fmla="*/ 122 w 757"/>
                <a:gd name="T13" fmla="*/ 179 h 715"/>
                <a:gd name="T14" fmla="*/ 141 w 757"/>
                <a:gd name="T15" fmla="*/ 157 h 715"/>
                <a:gd name="T16" fmla="*/ 163 w 757"/>
                <a:gd name="T17" fmla="*/ 136 h 715"/>
                <a:gd name="T18" fmla="*/ 186 w 757"/>
                <a:gd name="T19" fmla="*/ 117 h 715"/>
                <a:gd name="T20" fmla="*/ 212 w 757"/>
                <a:gd name="T21" fmla="*/ 101 h 715"/>
                <a:gd name="T22" fmla="*/ 239 w 757"/>
                <a:gd name="T23" fmla="*/ 87 h 715"/>
                <a:gd name="T24" fmla="*/ 268 w 757"/>
                <a:gd name="T25" fmla="*/ 76 h 715"/>
                <a:gd name="T26" fmla="*/ 299 w 757"/>
                <a:gd name="T27" fmla="*/ 67 h 715"/>
                <a:gd name="T28" fmla="*/ 330 w 757"/>
                <a:gd name="T29" fmla="*/ 61 h 715"/>
                <a:gd name="T30" fmla="*/ 363 w 757"/>
                <a:gd name="T31" fmla="*/ 58 h 715"/>
                <a:gd name="T32" fmla="*/ 379 w 757"/>
                <a:gd name="T33" fmla="*/ 0 h 715"/>
                <a:gd name="T34" fmla="*/ 341 w 757"/>
                <a:gd name="T35" fmla="*/ 2 h 715"/>
                <a:gd name="T36" fmla="*/ 304 w 757"/>
                <a:gd name="T37" fmla="*/ 7 h 715"/>
                <a:gd name="T38" fmla="*/ 267 w 757"/>
                <a:gd name="T39" fmla="*/ 16 h 715"/>
                <a:gd name="T40" fmla="*/ 232 w 757"/>
                <a:gd name="T41" fmla="*/ 28 h 715"/>
                <a:gd name="T42" fmla="*/ 200 w 757"/>
                <a:gd name="T43" fmla="*/ 42 h 715"/>
                <a:gd name="T44" fmla="*/ 168 w 757"/>
                <a:gd name="T45" fmla="*/ 61 h 715"/>
                <a:gd name="T46" fmla="*/ 139 w 757"/>
                <a:gd name="T47" fmla="*/ 81 h 715"/>
                <a:gd name="T48" fmla="*/ 112 w 757"/>
                <a:gd name="T49" fmla="*/ 104 h 715"/>
                <a:gd name="T50" fmla="*/ 88 w 757"/>
                <a:gd name="T51" fmla="*/ 129 h 715"/>
                <a:gd name="T52" fmla="*/ 66 w 757"/>
                <a:gd name="T53" fmla="*/ 157 h 715"/>
                <a:gd name="T54" fmla="*/ 46 w 757"/>
                <a:gd name="T55" fmla="*/ 187 h 715"/>
                <a:gd name="T56" fmla="*/ 30 w 757"/>
                <a:gd name="T57" fmla="*/ 218 h 715"/>
                <a:gd name="T58" fmla="*/ 17 w 757"/>
                <a:gd name="T59" fmla="*/ 250 h 715"/>
                <a:gd name="T60" fmla="*/ 8 w 757"/>
                <a:gd name="T61" fmla="*/ 285 h 715"/>
                <a:gd name="T62" fmla="*/ 2 w 757"/>
                <a:gd name="T63" fmla="*/ 321 h 715"/>
                <a:gd name="T64" fmla="*/ 0 w 757"/>
                <a:gd name="T65" fmla="*/ 357 h 715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757" h="715">
                  <a:moveTo>
                    <a:pt x="115" y="715"/>
                  </a:moveTo>
                  <a:lnTo>
                    <a:pt x="115" y="684"/>
                  </a:lnTo>
                  <a:lnTo>
                    <a:pt x="119" y="653"/>
                  </a:lnTo>
                  <a:lnTo>
                    <a:pt x="123" y="624"/>
                  </a:lnTo>
                  <a:lnTo>
                    <a:pt x="129" y="595"/>
                  </a:lnTo>
                  <a:lnTo>
                    <a:pt x="135" y="566"/>
                  </a:lnTo>
                  <a:lnTo>
                    <a:pt x="144" y="538"/>
                  </a:lnTo>
                  <a:lnTo>
                    <a:pt x="154" y="511"/>
                  </a:lnTo>
                  <a:lnTo>
                    <a:pt x="165" y="484"/>
                  </a:lnTo>
                  <a:lnTo>
                    <a:pt x="179" y="457"/>
                  </a:lnTo>
                  <a:lnTo>
                    <a:pt x="192" y="432"/>
                  </a:lnTo>
                  <a:lnTo>
                    <a:pt x="208" y="407"/>
                  </a:lnTo>
                  <a:lnTo>
                    <a:pt x="223" y="382"/>
                  </a:lnTo>
                  <a:lnTo>
                    <a:pt x="243" y="358"/>
                  </a:lnTo>
                  <a:lnTo>
                    <a:pt x="262" y="335"/>
                  </a:lnTo>
                  <a:lnTo>
                    <a:pt x="281" y="314"/>
                  </a:lnTo>
                  <a:lnTo>
                    <a:pt x="302" y="293"/>
                  </a:lnTo>
                  <a:lnTo>
                    <a:pt x="326" y="272"/>
                  </a:lnTo>
                  <a:lnTo>
                    <a:pt x="349" y="254"/>
                  </a:lnTo>
                  <a:lnTo>
                    <a:pt x="372" y="235"/>
                  </a:lnTo>
                  <a:lnTo>
                    <a:pt x="397" y="220"/>
                  </a:lnTo>
                  <a:lnTo>
                    <a:pt x="424" y="202"/>
                  </a:lnTo>
                  <a:lnTo>
                    <a:pt x="451" y="189"/>
                  </a:lnTo>
                  <a:lnTo>
                    <a:pt x="478" y="175"/>
                  </a:lnTo>
                  <a:lnTo>
                    <a:pt x="507" y="164"/>
                  </a:lnTo>
                  <a:lnTo>
                    <a:pt x="536" y="152"/>
                  </a:lnTo>
                  <a:lnTo>
                    <a:pt x="566" y="143"/>
                  </a:lnTo>
                  <a:lnTo>
                    <a:pt x="597" y="135"/>
                  </a:lnTo>
                  <a:lnTo>
                    <a:pt x="628" y="127"/>
                  </a:lnTo>
                  <a:lnTo>
                    <a:pt x="659" y="123"/>
                  </a:lnTo>
                  <a:lnTo>
                    <a:pt x="692" y="118"/>
                  </a:lnTo>
                  <a:lnTo>
                    <a:pt x="725" y="116"/>
                  </a:lnTo>
                  <a:lnTo>
                    <a:pt x="757" y="116"/>
                  </a:lnTo>
                  <a:lnTo>
                    <a:pt x="757" y="0"/>
                  </a:lnTo>
                  <a:lnTo>
                    <a:pt x="719" y="0"/>
                  </a:lnTo>
                  <a:lnTo>
                    <a:pt x="682" y="4"/>
                  </a:lnTo>
                  <a:lnTo>
                    <a:pt x="644" y="8"/>
                  </a:lnTo>
                  <a:lnTo>
                    <a:pt x="607" y="14"/>
                  </a:lnTo>
                  <a:lnTo>
                    <a:pt x="570" y="23"/>
                  </a:lnTo>
                  <a:lnTo>
                    <a:pt x="534" y="33"/>
                  </a:lnTo>
                  <a:lnTo>
                    <a:pt x="499" y="43"/>
                  </a:lnTo>
                  <a:lnTo>
                    <a:pt x="464" y="56"/>
                  </a:lnTo>
                  <a:lnTo>
                    <a:pt x="432" y="70"/>
                  </a:lnTo>
                  <a:lnTo>
                    <a:pt x="399" y="85"/>
                  </a:lnTo>
                  <a:lnTo>
                    <a:pt x="366" y="102"/>
                  </a:lnTo>
                  <a:lnTo>
                    <a:pt x="335" y="122"/>
                  </a:lnTo>
                  <a:lnTo>
                    <a:pt x="306" y="141"/>
                  </a:lnTo>
                  <a:lnTo>
                    <a:pt x="277" y="162"/>
                  </a:lnTo>
                  <a:lnTo>
                    <a:pt x="250" y="185"/>
                  </a:lnTo>
                  <a:lnTo>
                    <a:pt x="223" y="208"/>
                  </a:lnTo>
                  <a:lnTo>
                    <a:pt x="198" y="233"/>
                  </a:lnTo>
                  <a:lnTo>
                    <a:pt x="175" y="258"/>
                  </a:lnTo>
                  <a:lnTo>
                    <a:pt x="152" y="285"/>
                  </a:lnTo>
                  <a:lnTo>
                    <a:pt x="131" y="314"/>
                  </a:lnTo>
                  <a:lnTo>
                    <a:pt x="112" y="343"/>
                  </a:lnTo>
                  <a:lnTo>
                    <a:pt x="92" y="374"/>
                  </a:lnTo>
                  <a:lnTo>
                    <a:pt x="75" y="405"/>
                  </a:lnTo>
                  <a:lnTo>
                    <a:pt x="59" y="436"/>
                  </a:lnTo>
                  <a:lnTo>
                    <a:pt x="46" y="468"/>
                  </a:lnTo>
                  <a:lnTo>
                    <a:pt x="34" y="501"/>
                  </a:lnTo>
                  <a:lnTo>
                    <a:pt x="25" y="536"/>
                  </a:lnTo>
                  <a:lnTo>
                    <a:pt x="15" y="570"/>
                  </a:lnTo>
                  <a:lnTo>
                    <a:pt x="9" y="605"/>
                  </a:lnTo>
                  <a:lnTo>
                    <a:pt x="4" y="642"/>
                  </a:lnTo>
                  <a:lnTo>
                    <a:pt x="2" y="678"/>
                  </a:lnTo>
                  <a:lnTo>
                    <a:pt x="0" y="715"/>
                  </a:lnTo>
                  <a:lnTo>
                    <a:pt x="115" y="715"/>
                  </a:lnTo>
                  <a:close/>
                </a:path>
              </a:pathLst>
            </a:custGeom>
            <a:solidFill>
              <a:srgbClr val="FF6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286" name="Freeform 16"/>
            <p:cNvSpPr>
              <a:spLocks/>
            </p:cNvSpPr>
            <p:nvPr/>
          </p:nvSpPr>
          <p:spPr bwMode="auto">
            <a:xfrm>
              <a:off x="3731" y="1393"/>
              <a:ext cx="379" cy="357"/>
            </a:xfrm>
            <a:custGeom>
              <a:avLst/>
              <a:gdLst>
                <a:gd name="T0" fmla="*/ 363 w 757"/>
                <a:gd name="T1" fmla="*/ 300 h 714"/>
                <a:gd name="T2" fmla="*/ 330 w 757"/>
                <a:gd name="T3" fmla="*/ 297 h 714"/>
                <a:gd name="T4" fmla="*/ 299 w 757"/>
                <a:gd name="T5" fmla="*/ 291 h 714"/>
                <a:gd name="T6" fmla="*/ 268 w 757"/>
                <a:gd name="T7" fmla="*/ 281 h 714"/>
                <a:gd name="T8" fmla="*/ 239 w 757"/>
                <a:gd name="T9" fmla="*/ 271 h 714"/>
                <a:gd name="T10" fmla="*/ 212 w 757"/>
                <a:gd name="T11" fmla="*/ 256 h 714"/>
                <a:gd name="T12" fmla="*/ 186 w 757"/>
                <a:gd name="T13" fmla="*/ 240 h 714"/>
                <a:gd name="T14" fmla="*/ 163 w 757"/>
                <a:gd name="T15" fmla="*/ 222 h 714"/>
                <a:gd name="T16" fmla="*/ 141 w 757"/>
                <a:gd name="T17" fmla="*/ 201 h 714"/>
                <a:gd name="T18" fmla="*/ 122 w 757"/>
                <a:gd name="T19" fmla="*/ 179 h 714"/>
                <a:gd name="T20" fmla="*/ 104 w 757"/>
                <a:gd name="T21" fmla="*/ 155 h 714"/>
                <a:gd name="T22" fmla="*/ 90 w 757"/>
                <a:gd name="T23" fmla="*/ 130 h 714"/>
                <a:gd name="T24" fmla="*/ 77 w 757"/>
                <a:gd name="T25" fmla="*/ 103 h 714"/>
                <a:gd name="T26" fmla="*/ 68 w 757"/>
                <a:gd name="T27" fmla="*/ 75 h 714"/>
                <a:gd name="T28" fmla="*/ 62 w 757"/>
                <a:gd name="T29" fmla="*/ 45 h 714"/>
                <a:gd name="T30" fmla="*/ 58 w 757"/>
                <a:gd name="T31" fmla="*/ 16 h 714"/>
                <a:gd name="T32" fmla="*/ 0 w 757"/>
                <a:gd name="T33" fmla="*/ 0 h 714"/>
                <a:gd name="T34" fmla="*/ 2 w 757"/>
                <a:gd name="T35" fmla="*/ 37 h 714"/>
                <a:gd name="T36" fmla="*/ 8 w 757"/>
                <a:gd name="T37" fmla="*/ 72 h 714"/>
                <a:gd name="T38" fmla="*/ 17 w 757"/>
                <a:gd name="T39" fmla="*/ 107 h 714"/>
                <a:gd name="T40" fmla="*/ 30 w 757"/>
                <a:gd name="T41" fmla="*/ 140 h 714"/>
                <a:gd name="T42" fmla="*/ 46 w 757"/>
                <a:gd name="T43" fmla="*/ 172 h 714"/>
                <a:gd name="T44" fmla="*/ 66 w 757"/>
                <a:gd name="T45" fmla="*/ 200 h 714"/>
                <a:gd name="T46" fmla="*/ 88 w 757"/>
                <a:gd name="T47" fmla="*/ 228 h 714"/>
                <a:gd name="T48" fmla="*/ 112 w 757"/>
                <a:gd name="T49" fmla="*/ 253 h 714"/>
                <a:gd name="T50" fmla="*/ 139 w 757"/>
                <a:gd name="T51" fmla="*/ 277 h 714"/>
                <a:gd name="T52" fmla="*/ 168 w 757"/>
                <a:gd name="T53" fmla="*/ 298 h 714"/>
                <a:gd name="T54" fmla="*/ 200 w 757"/>
                <a:gd name="T55" fmla="*/ 315 h 714"/>
                <a:gd name="T56" fmla="*/ 232 w 757"/>
                <a:gd name="T57" fmla="*/ 330 h 714"/>
                <a:gd name="T58" fmla="*/ 267 w 757"/>
                <a:gd name="T59" fmla="*/ 342 h 714"/>
                <a:gd name="T60" fmla="*/ 304 w 757"/>
                <a:gd name="T61" fmla="*/ 351 h 714"/>
                <a:gd name="T62" fmla="*/ 341 w 757"/>
                <a:gd name="T63" fmla="*/ 356 h 714"/>
                <a:gd name="T64" fmla="*/ 379 w 757"/>
                <a:gd name="T65" fmla="*/ 357 h 714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757" h="714">
                  <a:moveTo>
                    <a:pt x="757" y="599"/>
                  </a:moveTo>
                  <a:lnTo>
                    <a:pt x="725" y="599"/>
                  </a:lnTo>
                  <a:lnTo>
                    <a:pt x="692" y="597"/>
                  </a:lnTo>
                  <a:lnTo>
                    <a:pt x="659" y="593"/>
                  </a:lnTo>
                  <a:lnTo>
                    <a:pt x="628" y="587"/>
                  </a:lnTo>
                  <a:lnTo>
                    <a:pt x="597" y="581"/>
                  </a:lnTo>
                  <a:lnTo>
                    <a:pt x="566" y="572"/>
                  </a:lnTo>
                  <a:lnTo>
                    <a:pt x="536" y="562"/>
                  </a:lnTo>
                  <a:lnTo>
                    <a:pt x="507" y="553"/>
                  </a:lnTo>
                  <a:lnTo>
                    <a:pt x="478" y="541"/>
                  </a:lnTo>
                  <a:lnTo>
                    <a:pt x="451" y="528"/>
                  </a:lnTo>
                  <a:lnTo>
                    <a:pt x="424" y="512"/>
                  </a:lnTo>
                  <a:lnTo>
                    <a:pt x="397" y="497"/>
                  </a:lnTo>
                  <a:lnTo>
                    <a:pt x="372" y="479"/>
                  </a:lnTo>
                  <a:lnTo>
                    <a:pt x="349" y="462"/>
                  </a:lnTo>
                  <a:lnTo>
                    <a:pt x="326" y="443"/>
                  </a:lnTo>
                  <a:lnTo>
                    <a:pt x="302" y="424"/>
                  </a:lnTo>
                  <a:lnTo>
                    <a:pt x="281" y="402"/>
                  </a:lnTo>
                  <a:lnTo>
                    <a:pt x="262" y="379"/>
                  </a:lnTo>
                  <a:lnTo>
                    <a:pt x="243" y="358"/>
                  </a:lnTo>
                  <a:lnTo>
                    <a:pt x="223" y="335"/>
                  </a:lnTo>
                  <a:lnTo>
                    <a:pt x="208" y="310"/>
                  </a:lnTo>
                  <a:lnTo>
                    <a:pt x="192" y="285"/>
                  </a:lnTo>
                  <a:lnTo>
                    <a:pt x="179" y="260"/>
                  </a:lnTo>
                  <a:lnTo>
                    <a:pt x="165" y="233"/>
                  </a:lnTo>
                  <a:lnTo>
                    <a:pt x="154" y="206"/>
                  </a:lnTo>
                  <a:lnTo>
                    <a:pt x="144" y="177"/>
                  </a:lnTo>
                  <a:lnTo>
                    <a:pt x="135" y="150"/>
                  </a:lnTo>
                  <a:lnTo>
                    <a:pt x="129" y="121"/>
                  </a:lnTo>
                  <a:lnTo>
                    <a:pt x="123" y="90"/>
                  </a:lnTo>
                  <a:lnTo>
                    <a:pt x="119" y="61"/>
                  </a:lnTo>
                  <a:lnTo>
                    <a:pt x="115" y="31"/>
                  </a:lnTo>
                  <a:lnTo>
                    <a:pt x="115" y="0"/>
                  </a:lnTo>
                  <a:lnTo>
                    <a:pt x="0" y="0"/>
                  </a:lnTo>
                  <a:lnTo>
                    <a:pt x="2" y="36"/>
                  </a:lnTo>
                  <a:lnTo>
                    <a:pt x="4" y="73"/>
                  </a:lnTo>
                  <a:lnTo>
                    <a:pt x="9" y="110"/>
                  </a:lnTo>
                  <a:lnTo>
                    <a:pt x="15" y="144"/>
                  </a:lnTo>
                  <a:lnTo>
                    <a:pt x="25" y="179"/>
                  </a:lnTo>
                  <a:lnTo>
                    <a:pt x="34" y="214"/>
                  </a:lnTo>
                  <a:lnTo>
                    <a:pt x="46" y="246"/>
                  </a:lnTo>
                  <a:lnTo>
                    <a:pt x="59" y="279"/>
                  </a:lnTo>
                  <a:lnTo>
                    <a:pt x="75" y="312"/>
                  </a:lnTo>
                  <a:lnTo>
                    <a:pt x="92" y="343"/>
                  </a:lnTo>
                  <a:lnTo>
                    <a:pt x="112" y="372"/>
                  </a:lnTo>
                  <a:lnTo>
                    <a:pt x="131" y="400"/>
                  </a:lnTo>
                  <a:lnTo>
                    <a:pt x="152" y="429"/>
                  </a:lnTo>
                  <a:lnTo>
                    <a:pt x="175" y="456"/>
                  </a:lnTo>
                  <a:lnTo>
                    <a:pt x="198" y="483"/>
                  </a:lnTo>
                  <a:lnTo>
                    <a:pt x="223" y="506"/>
                  </a:lnTo>
                  <a:lnTo>
                    <a:pt x="250" y="531"/>
                  </a:lnTo>
                  <a:lnTo>
                    <a:pt x="277" y="553"/>
                  </a:lnTo>
                  <a:lnTo>
                    <a:pt x="306" y="574"/>
                  </a:lnTo>
                  <a:lnTo>
                    <a:pt x="335" y="595"/>
                  </a:lnTo>
                  <a:lnTo>
                    <a:pt x="366" y="612"/>
                  </a:lnTo>
                  <a:lnTo>
                    <a:pt x="399" y="630"/>
                  </a:lnTo>
                  <a:lnTo>
                    <a:pt x="432" y="645"/>
                  </a:lnTo>
                  <a:lnTo>
                    <a:pt x="464" y="659"/>
                  </a:lnTo>
                  <a:lnTo>
                    <a:pt x="499" y="672"/>
                  </a:lnTo>
                  <a:lnTo>
                    <a:pt x="534" y="684"/>
                  </a:lnTo>
                  <a:lnTo>
                    <a:pt x="570" y="693"/>
                  </a:lnTo>
                  <a:lnTo>
                    <a:pt x="607" y="701"/>
                  </a:lnTo>
                  <a:lnTo>
                    <a:pt x="644" y="707"/>
                  </a:lnTo>
                  <a:lnTo>
                    <a:pt x="682" y="712"/>
                  </a:lnTo>
                  <a:lnTo>
                    <a:pt x="719" y="714"/>
                  </a:lnTo>
                  <a:lnTo>
                    <a:pt x="757" y="714"/>
                  </a:lnTo>
                  <a:lnTo>
                    <a:pt x="757" y="599"/>
                  </a:lnTo>
                  <a:close/>
                </a:path>
              </a:pathLst>
            </a:custGeom>
            <a:solidFill>
              <a:srgbClr val="FF6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287" name="Freeform 17"/>
            <p:cNvSpPr>
              <a:spLocks/>
            </p:cNvSpPr>
            <p:nvPr/>
          </p:nvSpPr>
          <p:spPr bwMode="auto">
            <a:xfrm>
              <a:off x="4110" y="1327"/>
              <a:ext cx="450" cy="423"/>
            </a:xfrm>
            <a:custGeom>
              <a:avLst/>
              <a:gdLst>
                <a:gd name="T0" fmla="*/ 391 w 901"/>
                <a:gd name="T1" fmla="*/ 18 h 845"/>
                <a:gd name="T2" fmla="*/ 387 w 901"/>
                <a:gd name="T3" fmla="*/ 56 h 845"/>
                <a:gd name="T4" fmla="*/ 380 w 901"/>
                <a:gd name="T5" fmla="*/ 91 h 845"/>
                <a:gd name="T6" fmla="*/ 368 w 901"/>
                <a:gd name="T7" fmla="*/ 125 h 845"/>
                <a:gd name="T8" fmla="*/ 354 w 901"/>
                <a:gd name="T9" fmla="*/ 158 h 845"/>
                <a:gd name="T10" fmla="*/ 335 w 901"/>
                <a:gd name="T11" fmla="*/ 189 h 845"/>
                <a:gd name="T12" fmla="*/ 314 w 901"/>
                <a:gd name="T13" fmla="*/ 218 h 845"/>
                <a:gd name="T14" fmla="*/ 291 w 901"/>
                <a:gd name="T15" fmla="*/ 245 h 845"/>
                <a:gd name="T16" fmla="*/ 264 w 901"/>
                <a:gd name="T17" fmla="*/ 270 h 845"/>
                <a:gd name="T18" fmla="*/ 235 w 901"/>
                <a:gd name="T19" fmla="*/ 293 h 845"/>
                <a:gd name="T20" fmla="*/ 204 w 901"/>
                <a:gd name="T21" fmla="*/ 312 h 845"/>
                <a:gd name="T22" fmla="*/ 171 w 901"/>
                <a:gd name="T23" fmla="*/ 330 h 845"/>
                <a:gd name="T24" fmla="*/ 136 w 901"/>
                <a:gd name="T25" fmla="*/ 343 h 845"/>
                <a:gd name="T26" fmla="*/ 98 w 901"/>
                <a:gd name="T27" fmla="*/ 355 h 845"/>
                <a:gd name="T28" fmla="*/ 61 w 901"/>
                <a:gd name="T29" fmla="*/ 361 h 845"/>
                <a:gd name="T30" fmla="*/ 21 w 901"/>
                <a:gd name="T31" fmla="*/ 365 h 845"/>
                <a:gd name="T32" fmla="*/ 0 w 901"/>
                <a:gd name="T33" fmla="*/ 423 h 845"/>
                <a:gd name="T34" fmla="*/ 46 w 901"/>
                <a:gd name="T35" fmla="*/ 421 h 845"/>
                <a:gd name="T36" fmla="*/ 91 w 901"/>
                <a:gd name="T37" fmla="*/ 415 h 845"/>
                <a:gd name="T38" fmla="*/ 133 w 901"/>
                <a:gd name="T39" fmla="*/ 405 h 845"/>
                <a:gd name="T40" fmla="*/ 174 w 901"/>
                <a:gd name="T41" fmla="*/ 390 h 845"/>
                <a:gd name="T42" fmla="*/ 214 w 901"/>
                <a:gd name="T43" fmla="*/ 373 h 845"/>
                <a:gd name="T44" fmla="*/ 251 w 901"/>
                <a:gd name="T45" fmla="*/ 352 h 845"/>
                <a:gd name="T46" fmla="*/ 285 w 901"/>
                <a:gd name="T47" fmla="*/ 328 h 845"/>
                <a:gd name="T48" fmla="*/ 317 w 901"/>
                <a:gd name="T49" fmla="*/ 300 h 845"/>
                <a:gd name="T50" fmla="*/ 346 w 901"/>
                <a:gd name="T51" fmla="*/ 270 h 845"/>
                <a:gd name="T52" fmla="*/ 372 w 901"/>
                <a:gd name="T53" fmla="*/ 237 h 845"/>
                <a:gd name="T54" fmla="*/ 395 w 901"/>
                <a:gd name="T55" fmla="*/ 202 h 845"/>
                <a:gd name="T56" fmla="*/ 414 w 901"/>
                <a:gd name="T57" fmla="*/ 166 h 845"/>
                <a:gd name="T58" fmla="*/ 429 w 901"/>
                <a:gd name="T59" fmla="*/ 126 h 845"/>
                <a:gd name="T60" fmla="*/ 440 w 901"/>
                <a:gd name="T61" fmla="*/ 86 h 845"/>
                <a:gd name="T62" fmla="*/ 447 w 901"/>
                <a:gd name="T63" fmla="*/ 43 h 845"/>
                <a:gd name="T64" fmla="*/ 450 w 901"/>
                <a:gd name="T65" fmla="*/ 0 h 845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901" h="845">
                  <a:moveTo>
                    <a:pt x="785" y="0"/>
                  </a:moveTo>
                  <a:lnTo>
                    <a:pt x="783" y="36"/>
                  </a:lnTo>
                  <a:lnTo>
                    <a:pt x="781" y="75"/>
                  </a:lnTo>
                  <a:lnTo>
                    <a:pt x="775" y="112"/>
                  </a:lnTo>
                  <a:lnTo>
                    <a:pt x="768" y="146"/>
                  </a:lnTo>
                  <a:lnTo>
                    <a:pt x="760" y="181"/>
                  </a:lnTo>
                  <a:lnTo>
                    <a:pt x="748" y="216"/>
                  </a:lnTo>
                  <a:lnTo>
                    <a:pt x="737" y="250"/>
                  </a:lnTo>
                  <a:lnTo>
                    <a:pt x="723" y="283"/>
                  </a:lnTo>
                  <a:lnTo>
                    <a:pt x="708" y="316"/>
                  </a:lnTo>
                  <a:lnTo>
                    <a:pt x="691" y="347"/>
                  </a:lnTo>
                  <a:lnTo>
                    <a:pt x="671" y="377"/>
                  </a:lnTo>
                  <a:lnTo>
                    <a:pt x="652" y="406"/>
                  </a:lnTo>
                  <a:lnTo>
                    <a:pt x="629" y="435"/>
                  </a:lnTo>
                  <a:lnTo>
                    <a:pt x="606" y="464"/>
                  </a:lnTo>
                  <a:lnTo>
                    <a:pt x="583" y="489"/>
                  </a:lnTo>
                  <a:lnTo>
                    <a:pt x="556" y="516"/>
                  </a:lnTo>
                  <a:lnTo>
                    <a:pt x="529" y="539"/>
                  </a:lnTo>
                  <a:lnTo>
                    <a:pt x="502" y="562"/>
                  </a:lnTo>
                  <a:lnTo>
                    <a:pt x="471" y="585"/>
                  </a:lnTo>
                  <a:lnTo>
                    <a:pt x="440" y="605"/>
                  </a:lnTo>
                  <a:lnTo>
                    <a:pt x="409" y="624"/>
                  </a:lnTo>
                  <a:lnTo>
                    <a:pt x="376" y="641"/>
                  </a:lnTo>
                  <a:lnTo>
                    <a:pt x="342" y="659"/>
                  </a:lnTo>
                  <a:lnTo>
                    <a:pt x="307" y="674"/>
                  </a:lnTo>
                  <a:lnTo>
                    <a:pt x="272" y="686"/>
                  </a:lnTo>
                  <a:lnTo>
                    <a:pt x="236" y="697"/>
                  </a:lnTo>
                  <a:lnTo>
                    <a:pt x="197" y="709"/>
                  </a:lnTo>
                  <a:lnTo>
                    <a:pt x="160" y="716"/>
                  </a:lnTo>
                  <a:lnTo>
                    <a:pt x="122" y="722"/>
                  </a:lnTo>
                  <a:lnTo>
                    <a:pt x="81" y="728"/>
                  </a:lnTo>
                  <a:lnTo>
                    <a:pt x="43" y="730"/>
                  </a:lnTo>
                  <a:lnTo>
                    <a:pt x="0" y="730"/>
                  </a:lnTo>
                  <a:lnTo>
                    <a:pt x="0" y="845"/>
                  </a:lnTo>
                  <a:lnTo>
                    <a:pt x="47" y="845"/>
                  </a:lnTo>
                  <a:lnTo>
                    <a:pt x="93" y="842"/>
                  </a:lnTo>
                  <a:lnTo>
                    <a:pt x="137" y="836"/>
                  </a:lnTo>
                  <a:lnTo>
                    <a:pt x="182" y="830"/>
                  </a:lnTo>
                  <a:lnTo>
                    <a:pt x="224" y="820"/>
                  </a:lnTo>
                  <a:lnTo>
                    <a:pt x="266" y="809"/>
                  </a:lnTo>
                  <a:lnTo>
                    <a:pt x="309" y="795"/>
                  </a:lnTo>
                  <a:lnTo>
                    <a:pt x="349" y="780"/>
                  </a:lnTo>
                  <a:lnTo>
                    <a:pt x="390" y="763"/>
                  </a:lnTo>
                  <a:lnTo>
                    <a:pt x="428" y="745"/>
                  </a:lnTo>
                  <a:lnTo>
                    <a:pt x="465" y="724"/>
                  </a:lnTo>
                  <a:lnTo>
                    <a:pt x="502" y="703"/>
                  </a:lnTo>
                  <a:lnTo>
                    <a:pt x="538" y="680"/>
                  </a:lnTo>
                  <a:lnTo>
                    <a:pt x="571" y="655"/>
                  </a:lnTo>
                  <a:lnTo>
                    <a:pt x="604" y="628"/>
                  </a:lnTo>
                  <a:lnTo>
                    <a:pt x="635" y="599"/>
                  </a:lnTo>
                  <a:lnTo>
                    <a:pt x="665" y="570"/>
                  </a:lnTo>
                  <a:lnTo>
                    <a:pt x="692" y="539"/>
                  </a:lnTo>
                  <a:lnTo>
                    <a:pt x="719" y="508"/>
                  </a:lnTo>
                  <a:lnTo>
                    <a:pt x="744" y="474"/>
                  </a:lnTo>
                  <a:lnTo>
                    <a:pt x="768" y="441"/>
                  </a:lnTo>
                  <a:lnTo>
                    <a:pt x="791" y="404"/>
                  </a:lnTo>
                  <a:lnTo>
                    <a:pt x="810" y="368"/>
                  </a:lnTo>
                  <a:lnTo>
                    <a:pt x="829" y="331"/>
                  </a:lnTo>
                  <a:lnTo>
                    <a:pt x="845" y="293"/>
                  </a:lnTo>
                  <a:lnTo>
                    <a:pt x="858" y="252"/>
                  </a:lnTo>
                  <a:lnTo>
                    <a:pt x="872" y="212"/>
                  </a:lnTo>
                  <a:lnTo>
                    <a:pt x="881" y="171"/>
                  </a:lnTo>
                  <a:lnTo>
                    <a:pt x="889" y="129"/>
                  </a:lnTo>
                  <a:lnTo>
                    <a:pt x="895" y="86"/>
                  </a:lnTo>
                  <a:lnTo>
                    <a:pt x="899" y="44"/>
                  </a:lnTo>
                  <a:lnTo>
                    <a:pt x="901" y="0"/>
                  </a:lnTo>
                  <a:lnTo>
                    <a:pt x="785" y="0"/>
                  </a:lnTo>
                  <a:close/>
                </a:path>
              </a:pathLst>
            </a:custGeom>
            <a:solidFill>
              <a:srgbClr val="FF6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288" name="Freeform 18"/>
            <p:cNvSpPr>
              <a:spLocks/>
            </p:cNvSpPr>
            <p:nvPr/>
          </p:nvSpPr>
          <p:spPr bwMode="auto">
            <a:xfrm>
              <a:off x="4110" y="904"/>
              <a:ext cx="450" cy="423"/>
            </a:xfrm>
            <a:custGeom>
              <a:avLst/>
              <a:gdLst>
                <a:gd name="T0" fmla="*/ 21 w 901"/>
                <a:gd name="T1" fmla="*/ 59 h 848"/>
                <a:gd name="T2" fmla="*/ 61 w 901"/>
                <a:gd name="T3" fmla="*/ 63 h 848"/>
                <a:gd name="T4" fmla="*/ 98 w 901"/>
                <a:gd name="T5" fmla="*/ 69 h 848"/>
                <a:gd name="T6" fmla="*/ 136 w 901"/>
                <a:gd name="T7" fmla="*/ 81 h 848"/>
                <a:gd name="T8" fmla="*/ 171 w 901"/>
                <a:gd name="T9" fmla="*/ 94 h 848"/>
                <a:gd name="T10" fmla="*/ 204 w 901"/>
                <a:gd name="T11" fmla="*/ 112 h 848"/>
                <a:gd name="T12" fmla="*/ 235 w 901"/>
                <a:gd name="T13" fmla="*/ 131 h 848"/>
                <a:gd name="T14" fmla="*/ 264 w 901"/>
                <a:gd name="T15" fmla="*/ 154 h 848"/>
                <a:gd name="T16" fmla="*/ 291 w 901"/>
                <a:gd name="T17" fmla="*/ 178 h 848"/>
                <a:gd name="T18" fmla="*/ 314 w 901"/>
                <a:gd name="T19" fmla="*/ 206 h 848"/>
                <a:gd name="T20" fmla="*/ 335 w 901"/>
                <a:gd name="T21" fmla="*/ 234 h 848"/>
                <a:gd name="T22" fmla="*/ 354 w 901"/>
                <a:gd name="T23" fmla="*/ 265 h 848"/>
                <a:gd name="T24" fmla="*/ 368 w 901"/>
                <a:gd name="T25" fmla="*/ 298 h 848"/>
                <a:gd name="T26" fmla="*/ 380 w 901"/>
                <a:gd name="T27" fmla="*/ 332 h 848"/>
                <a:gd name="T28" fmla="*/ 387 w 901"/>
                <a:gd name="T29" fmla="*/ 367 h 848"/>
                <a:gd name="T30" fmla="*/ 391 w 901"/>
                <a:gd name="T31" fmla="*/ 404 h 848"/>
                <a:gd name="T32" fmla="*/ 450 w 901"/>
                <a:gd name="T33" fmla="*/ 423 h 848"/>
                <a:gd name="T34" fmla="*/ 447 w 901"/>
                <a:gd name="T35" fmla="*/ 380 h 848"/>
                <a:gd name="T36" fmla="*/ 440 w 901"/>
                <a:gd name="T37" fmla="*/ 337 h 848"/>
                <a:gd name="T38" fmla="*/ 429 w 901"/>
                <a:gd name="T39" fmla="*/ 297 h 848"/>
                <a:gd name="T40" fmla="*/ 414 w 901"/>
                <a:gd name="T41" fmla="*/ 258 h 848"/>
                <a:gd name="T42" fmla="*/ 395 w 901"/>
                <a:gd name="T43" fmla="*/ 221 h 848"/>
                <a:gd name="T44" fmla="*/ 372 w 901"/>
                <a:gd name="T45" fmla="*/ 187 h 848"/>
                <a:gd name="T46" fmla="*/ 346 w 901"/>
                <a:gd name="T47" fmla="*/ 154 h 848"/>
                <a:gd name="T48" fmla="*/ 317 w 901"/>
                <a:gd name="T49" fmla="*/ 124 h 848"/>
                <a:gd name="T50" fmla="*/ 285 w 901"/>
                <a:gd name="T51" fmla="*/ 96 h 848"/>
                <a:gd name="T52" fmla="*/ 251 w 901"/>
                <a:gd name="T53" fmla="*/ 72 h 848"/>
                <a:gd name="T54" fmla="*/ 214 w 901"/>
                <a:gd name="T55" fmla="*/ 51 h 848"/>
                <a:gd name="T56" fmla="*/ 174 w 901"/>
                <a:gd name="T57" fmla="*/ 34 h 848"/>
                <a:gd name="T58" fmla="*/ 133 w 901"/>
                <a:gd name="T59" fmla="*/ 19 h 848"/>
                <a:gd name="T60" fmla="*/ 91 w 901"/>
                <a:gd name="T61" fmla="*/ 9 h 848"/>
                <a:gd name="T62" fmla="*/ 46 w 901"/>
                <a:gd name="T63" fmla="*/ 3 h 848"/>
                <a:gd name="T64" fmla="*/ 0 w 901"/>
                <a:gd name="T65" fmla="*/ 0 h 848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901" h="848">
                  <a:moveTo>
                    <a:pt x="0" y="116"/>
                  </a:moveTo>
                  <a:lnTo>
                    <a:pt x="43" y="118"/>
                  </a:lnTo>
                  <a:lnTo>
                    <a:pt x="81" y="120"/>
                  </a:lnTo>
                  <a:lnTo>
                    <a:pt x="122" y="126"/>
                  </a:lnTo>
                  <a:lnTo>
                    <a:pt x="160" y="131"/>
                  </a:lnTo>
                  <a:lnTo>
                    <a:pt x="197" y="139"/>
                  </a:lnTo>
                  <a:lnTo>
                    <a:pt x="236" y="151"/>
                  </a:lnTo>
                  <a:lnTo>
                    <a:pt x="272" y="162"/>
                  </a:lnTo>
                  <a:lnTo>
                    <a:pt x="307" y="174"/>
                  </a:lnTo>
                  <a:lnTo>
                    <a:pt x="342" y="189"/>
                  </a:lnTo>
                  <a:lnTo>
                    <a:pt x="376" y="206"/>
                  </a:lnTo>
                  <a:lnTo>
                    <a:pt x="409" y="224"/>
                  </a:lnTo>
                  <a:lnTo>
                    <a:pt x="440" y="243"/>
                  </a:lnTo>
                  <a:lnTo>
                    <a:pt x="471" y="262"/>
                  </a:lnTo>
                  <a:lnTo>
                    <a:pt x="502" y="285"/>
                  </a:lnTo>
                  <a:lnTo>
                    <a:pt x="529" y="309"/>
                  </a:lnTo>
                  <a:lnTo>
                    <a:pt x="556" y="332"/>
                  </a:lnTo>
                  <a:lnTo>
                    <a:pt x="583" y="357"/>
                  </a:lnTo>
                  <a:lnTo>
                    <a:pt x="606" y="384"/>
                  </a:lnTo>
                  <a:lnTo>
                    <a:pt x="629" y="413"/>
                  </a:lnTo>
                  <a:lnTo>
                    <a:pt x="652" y="439"/>
                  </a:lnTo>
                  <a:lnTo>
                    <a:pt x="671" y="470"/>
                  </a:lnTo>
                  <a:lnTo>
                    <a:pt x="691" y="501"/>
                  </a:lnTo>
                  <a:lnTo>
                    <a:pt x="708" y="532"/>
                  </a:lnTo>
                  <a:lnTo>
                    <a:pt x="723" y="565"/>
                  </a:lnTo>
                  <a:lnTo>
                    <a:pt x="737" y="597"/>
                  </a:lnTo>
                  <a:lnTo>
                    <a:pt x="748" y="632"/>
                  </a:lnTo>
                  <a:lnTo>
                    <a:pt x="760" y="665"/>
                  </a:lnTo>
                  <a:lnTo>
                    <a:pt x="768" y="701"/>
                  </a:lnTo>
                  <a:lnTo>
                    <a:pt x="775" y="736"/>
                  </a:lnTo>
                  <a:lnTo>
                    <a:pt x="781" y="773"/>
                  </a:lnTo>
                  <a:lnTo>
                    <a:pt x="783" y="809"/>
                  </a:lnTo>
                  <a:lnTo>
                    <a:pt x="785" y="848"/>
                  </a:lnTo>
                  <a:lnTo>
                    <a:pt x="901" y="848"/>
                  </a:lnTo>
                  <a:lnTo>
                    <a:pt x="899" y="804"/>
                  </a:lnTo>
                  <a:lnTo>
                    <a:pt x="895" y="761"/>
                  </a:lnTo>
                  <a:lnTo>
                    <a:pt x="889" y="719"/>
                  </a:lnTo>
                  <a:lnTo>
                    <a:pt x="881" y="676"/>
                  </a:lnTo>
                  <a:lnTo>
                    <a:pt x="872" y="636"/>
                  </a:lnTo>
                  <a:lnTo>
                    <a:pt x="858" y="595"/>
                  </a:lnTo>
                  <a:lnTo>
                    <a:pt x="845" y="555"/>
                  </a:lnTo>
                  <a:lnTo>
                    <a:pt x="829" y="517"/>
                  </a:lnTo>
                  <a:lnTo>
                    <a:pt x="810" y="480"/>
                  </a:lnTo>
                  <a:lnTo>
                    <a:pt x="791" y="443"/>
                  </a:lnTo>
                  <a:lnTo>
                    <a:pt x="768" y="407"/>
                  </a:lnTo>
                  <a:lnTo>
                    <a:pt x="744" y="374"/>
                  </a:lnTo>
                  <a:lnTo>
                    <a:pt x="719" y="339"/>
                  </a:lnTo>
                  <a:lnTo>
                    <a:pt x="692" y="309"/>
                  </a:lnTo>
                  <a:lnTo>
                    <a:pt x="665" y="278"/>
                  </a:lnTo>
                  <a:lnTo>
                    <a:pt x="635" y="249"/>
                  </a:lnTo>
                  <a:lnTo>
                    <a:pt x="604" y="220"/>
                  </a:lnTo>
                  <a:lnTo>
                    <a:pt x="571" y="193"/>
                  </a:lnTo>
                  <a:lnTo>
                    <a:pt x="538" y="168"/>
                  </a:lnTo>
                  <a:lnTo>
                    <a:pt x="502" y="145"/>
                  </a:lnTo>
                  <a:lnTo>
                    <a:pt x="465" y="124"/>
                  </a:lnTo>
                  <a:lnTo>
                    <a:pt x="428" y="102"/>
                  </a:lnTo>
                  <a:lnTo>
                    <a:pt x="390" y="83"/>
                  </a:lnTo>
                  <a:lnTo>
                    <a:pt x="349" y="68"/>
                  </a:lnTo>
                  <a:lnTo>
                    <a:pt x="309" y="52"/>
                  </a:lnTo>
                  <a:lnTo>
                    <a:pt x="266" y="39"/>
                  </a:lnTo>
                  <a:lnTo>
                    <a:pt x="224" y="27"/>
                  </a:lnTo>
                  <a:lnTo>
                    <a:pt x="182" y="18"/>
                  </a:lnTo>
                  <a:lnTo>
                    <a:pt x="137" y="10"/>
                  </a:lnTo>
                  <a:lnTo>
                    <a:pt x="93" y="6"/>
                  </a:lnTo>
                  <a:lnTo>
                    <a:pt x="47" y="2"/>
                  </a:lnTo>
                  <a:lnTo>
                    <a:pt x="0" y="0"/>
                  </a:lnTo>
                  <a:lnTo>
                    <a:pt x="0" y="116"/>
                  </a:lnTo>
                  <a:close/>
                </a:path>
              </a:pathLst>
            </a:custGeom>
            <a:solidFill>
              <a:srgbClr val="FF6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289" name="Freeform 19"/>
            <p:cNvSpPr>
              <a:spLocks/>
            </p:cNvSpPr>
            <p:nvPr/>
          </p:nvSpPr>
          <p:spPr bwMode="auto">
            <a:xfrm>
              <a:off x="3719" y="900"/>
              <a:ext cx="434" cy="58"/>
            </a:xfrm>
            <a:custGeom>
              <a:avLst/>
              <a:gdLst>
                <a:gd name="T0" fmla="*/ 0 w 867"/>
                <a:gd name="T1" fmla="*/ 29 h 115"/>
                <a:gd name="T2" fmla="*/ 0 w 867"/>
                <a:gd name="T3" fmla="*/ 58 h 115"/>
                <a:gd name="T4" fmla="*/ 1 w 867"/>
                <a:gd name="T5" fmla="*/ 58 h 115"/>
                <a:gd name="T6" fmla="*/ 2 w 867"/>
                <a:gd name="T7" fmla="*/ 58 h 115"/>
                <a:gd name="T8" fmla="*/ 4 w 867"/>
                <a:gd name="T9" fmla="*/ 58 h 115"/>
                <a:gd name="T10" fmla="*/ 7 w 867"/>
                <a:gd name="T11" fmla="*/ 58 h 115"/>
                <a:gd name="T12" fmla="*/ 10 w 867"/>
                <a:gd name="T13" fmla="*/ 58 h 115"/>
                <a:gd name="T14" fmla="*/ 13 w 867"/>
                <a:gd name="T15" fmla="*/ 58 h 115"/>
                <a:gd name="T16" fmla="*/ 17 w 867"/>
                <a:gd name="T17" fmla="*/ 58 h 115"/>
                <a:gd name="T18" fmla="*/ 22 w 867"/>
                <a:gd name="T19" fmla="*/ 58 h 115"/>
                <a:gd name="T20" fmla="*/ 29 w 867"/>
                <a:gd name="T21" fmla="*/ 58 h 115"/>
                <a:gd name="T22" fmla="*/ 36 w 867"/>
                <a:gd name="T23" fmla="*/ 58 h 115"/>
                <a:gd name="T24" fmla="*/ 44 w 867"/>
                <a:gd name="T25" fmla="*/ 58 h 115"/>
                <a:gd name="T26" fmla="*/ 54 w 867"/>
                <a:gd name="T27" fmla="*/ 58 h 115"/>
                <a:gd name="T28" fmla="*/ 65 w 867"/>
                <a:gd name="T29" fmla="*/ 58 h 115"/>
                <a:gd name="T30" fmla="*/ 77 w 867"/>
                <a:gd name="T31" fmla="*/ 58 h 115"/>
                <a:gd name="T32" fmla="*/ 91 w 867"/>
                <a:gd name="T33" fmla="*/ 58 h 115"/>
                <a:gd name="T34" fmla="*/ 105 w 867"/>
                <a:gd name="T35" fmla="*/ 58 h 115"/>
                <a:gd name="T36" fmla="*/ 122 w 867"/>
                <a:gd name="T37" fmla="*/ 58 h 115"/>
                <a:gd name="T38" fmla="*/ 141 w 867"/>
                <a:gd name="T39" fmla="*/ 58 h 115"/>
                <a:gd name="T40" fmla="*/ 161 w 867"/>
                <a:gd name="T41" fmla="*/ 58 h 115"/>
                <a:gd name="T42" fmla="*/ 182 w 867"/>
                <a:gd name="T43" fmla="*/ 58 h 115"/>
                <a:gd name="T44" fmla="*/ 206 w 867"/>
                <a:gd name="T45" fmla="*/ 58 h 115"/>
                <a:gd name="T46" fmla="*/ 232 w 867"/>
                <a:gd name="T47" fmla="*/ 58 h 115"/>
                <a:gd name="T48" fmla="*/ 260 w 867"/>
                <a:gd name="T49" fmla="*/ 58 h 115"/>
                <a:gd name="T50" fmla="*/ 290 w 867"/>
                <a:gd name="T51" fmla="*/ 58 h 115"/>
                <a:gd name="T52" fmla="*/ 322 w 867"/>
                <a:gd name="T53" fmla="*/ 58 h 115"/>
                <a:gd name="T54" fmla="*/ 357 w 867"/>
                <a:gd name="T55" fmla="*/ 58 h 115"/>
                <a:gd name="T56" fmla="*/ 394 w 867"/>
                <a:gd name="T57" fmla="*/ 58 h 115"/>
                <a:gd name="T58" fmla="*/ 434 w 867"/>
                <a:gd name="T59" fmla="*/ 58 h 115"/>
                <a:gd name="T60" fmla="*/ 434 w 867"/>
                <a:gd name="T61" fmla="*/ 0 h 115"/>
                <a:gd name="T62" fmla="*/ 394 w 867"/>
                <a:gd name="T63" fmla="*/ 0 h 115"/>
                <a:gd name="T64" fmla="*/ 357 w 867"/>
                <a:gd name="T65" fmla="*/ 0 h 115"/>
                <a:gd name="T66" fmla="*/ 322 w 867"/>
                <a:gd name="T67" fmla="*/ 0 h 115"/>
                <a:gd name="T68" fmla="*/ 290 w 867"/>
                <a:gd name="T69" fmla="*/ 0 h 115"/>
                <a:gd name="T70" fmla="*/ 260 w 867"/>
                <a:gd name="T71" fmla="*/ 0 h 115"/>
                <a:gd name="T72" fmla="*/ 232 w 867"/>
                <a:gd name="T73" fmla="*/ 0 h 115"/>
                <a:gd name="T74" fmla="*/ 206 w 867"/>
                <a:gd name="T75" fmla="*/ 0 h 115"/>
                <a:gd name="T76" fmla="*/ 182 w 867"/>
                <a:gd name="T77" fmla="*/ 0 h 115"/>
                <a:gd name="T78" fmla="*/ 161 w 867"/>
                <a:gd name="T79" fmla="*/ 0 h 115"/>
                <a:gd name="T80" fmla="*/ 141 w 867"/>
                <a:gd name="T81" fmla="*/ 0 h 115"/>
                <a:gd name="T82" fmla="*/ 122 w 867"/>
                <a:gd name="T83" fmla="*/ 0 h 115"/>
                <a:gd name="T84" fmla="*/ 105 w 867"/>
                <a:gd name="T85" fmla="*/ 0 h 115"/>
                <a:gd name="T86" fmla="*/ 91 w 867"/>
                <a:gd name="T87" fmla="*/ 0 h 115"/>
                <a:gd name="T88" fmla="*/ 77 w 867"/>
                <a:gd name="T89" fmla="*/ 0 h 115"/>
                <a:gd name="T90" fmla="*/ 65 w 867"/>
                <a:gd name="T91" fmla="*/ 0 h 115"/>
                <a:gd name="T92" fmla="*/ 54 w 867"/>
                <a:gd name="T93" fmla="*/ 0 h 115"/>
                <a:gd name="T94" fmla="*/ 44 w 867"/>
                <a:gd name="T95" fmla="*/ 0 h 115"/>
                <a:gd name="T96" fmla="*/ 36 w 867"/>
                <a:gd name="T97" fmla="*/ 0 h 115"/>
                <a:gd name="T98" fmla="*/ 29 w 867"/>
                <a:gd name="T99" fmla="*/ 0 h 115"/>
                <a:gd name="T100" fmla="*/ 22 w 867"/>
                <a:gd name="T101" fmla="*/ 0 h 115"/>
                <a:gd name="T102" fmla="*/ 17 w 867"/>
                <a:gd name="T103" fmla="*/ 0 h 115"/>
                <a:gd name="T104" fmla="*/ 13 w 867"/>
                <a:gd name="T105" fmla="*/ 0 h 115"/>
                <a:gd name="T106" fmla="*/ 10 w 867"/>
                <a:gd name="T107" fmla="*/ 0 h 115"/>
                <a:gd name="T108" fmla="*/ 7 w 867"/>
                <a:gd name="T109" fmla="*/ 0 h 115"/>
                <a:gd name="T110" fmla="*/ 4 w 867"/>
                <a:gd name="T111" fmla="*/ 0 h 115"/>
                <a:gd name="T112" fmla="*/ 2 w 867"/>
                <a:gd name="T113" fmla="*/ 0 h 115"/>
                <a:gd name="T114" fmla="*/ 1 w 867"/>
                <a:gd name="T115" fmla="*/ 0 h 115"/>
                <a:gd name="T116" fmla="*/ 0 w 867"/>
                <a:gd name="T117" fmla="*/ 0 h 115"/>
                <a:gd name="T118" fmla="*/ 0 w 867"/>
                <a:gd name="T119" fmla="*/ 29 h 115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867" h="115">
                  <a:moveTo>
                    <a:pt x="0" y="57"/>
                  </a:moveTo>
                  <a:lnTo>
                    <a:pt x="0" y="115"/>
                  </a:lnTo>
                  <a:lnTo>
                    <a:pt x="2" y="115"/>
                  </a:lnTo>
                  <a:lnTo>
                    <a:pt x="3" y="115"/>
                  </a:lnTo>
                  <a:lnTo>
                    <a:pt x="7" y="115"/>
                  </a:lnTo>
                  <a:lnTo>
                    <a:pt x="13" y="115"/>
                  </a:lnTo>
                  <a:lnTo>
                    <a:pt x="19" y="115"/>
                  </a:lnTo>
                  <a:lnTo>
                    <a:pt x="25" y="115"/>
                  </a:lnTo>
                  <a:lnTo>
                    <a:pt x="34" y="115"/>
                  </a:lnTo>
                  <a:lnTo>
                    <a:pt x="44" y="115"/>
                  </a:lnTo>
                  <a:lnTo>
                    <a:pt x="57" y="115"/>
                  </a:lnTo>
                  <a:lnTo>
                    <a:pt x="71" y="115"/>
                  </a:lnTo>
                  <a:lnTo>
                    <a:pt x="88" y="115"/>
                  </a:lnTo>
                  <a:lnTo>
                    <a:pt x="108" y="115"/>
                  </a:lnTo>
                  <a:lnTo>
                    <a:pt x="129" y="115"/>
                  </a:lnTo>
                  <a:lnTo>
                    <a:pt x="154" y="115"/>
                  </a:lnTo>
                  <a:lnTo>
                    <a:pt x="181" y="115"/>
                  </a:lnTo>
                  <a:lnTo>
                    <a:pt x="210" y="115"/>
                  </a:lnTo>
                  <a:lnTo>
                    <a:pt x="244" y="115"/>
                  </a:lnTo>
                  <a:lnTo>
                    <a:pt x="281" y="115"/>
                  </a:lnTo>
                  <a:lnTo>
                    <a:pt x="322" y="115"/>
                  </a:lnTo>
                  <a:lnTo>
                    <a:pt x="364" y="115"/>
                  </a:lnTo>
                  <a:lnTo>
                    <a:pt x="412" y="115"/>
                  </a:lnTo>
                  <a:lnTo>
                    <a:pt x="464" y="115"/>
                  </a:lnTo>
                  <a:lnTo>
                    <a:pt x="520" y="115"/>
                  </a:lnTo>
                  <a:lnTo>
                    <a:pt x="580" y="115"/>
                  </a:lnTo>
                  <a:lnTo>
                    <a:pt x="644" y="115"/>
                  </a:lnTo>
                  <a:lnTo>
                    <a:pt x="713" y="115"/>
                  </a:lnTo>
                  <a:lnTo>
                    <a:pt x="788" y="115"/>
                  </a:lnTo>
                  <a:lnTo>
                    <a:pt x="867" y="115"/>
                  </a:lnTo>
                  <a:lnTo>
                    <a:pt x="867" y="0"/>
                  </a:lnTo>
                  <a:lnTo>
                    <a:pt x="788" y="0"/>
                  </a:lnTo>
                  <a:lnTo>
                    <a:pt x="713" y="0"/>
                  </a:lnTo>
                  <a:lnTo>
                    <a:pt x="644" y="0"/>
                  </a:lnTo>
                  <a:lnTo>
                    <a:pt x="580" y="0"/>
                  </a:lnTo>
                  <a:lnTo>
                    <a:pt x="520" y="0"/>
                  </a:lnTo>
                  <a:lnTo>
                    <a:pt x="464" y="0"/>
                  </a:lnTo>
                  <a:lnTo>
                    <a:pt x="412" y="0"/>
                  </a:lnTo>
                  <a:lnTo>
                    <a:pt x="364" y="0"/>
                  </a:lnTo>
                  <a:lnTo>
                    <a:pt x="322" y="0"/>
                  </a:lnTo>
                  <a:lnTo>
                    <a:pt x="281" y="0"/>
                  </a:lnTo>
                  <a:lnTo>
                    <a:pt x="244" y="0"/>
                  </a:lnTo>
                  <a:lnTo>
                    <a:pt x="210" y="0"/>
                  </a:lnTo>
                  <a:lnTo>
                    <a:pt x="181" y="0"/>
                  </a:lnTo>
                  <a:lnTo>
                    <a:pt x="154" y="0"/>
                  </a:lnTo>
                  <a:lnTo>
                    <a:pt x="129" y="0"/>
                  </a:lnTo>
                  <a:lnTo>
                    <a:pt x="108" y="0"/>
                  </a:lnTo>
                  <a:lnTo>
                    <a:pt x="88" y="0"/>
                  </a:lnTo>
                  <a:lnTo>
                    <a:pt x="71" y="0"/>
                  </a:lnTo>
                  <a:lnTo>
                    <a:pt x="57" y="0"/>
                  </a:lnTo>
                  <a:lnTo>
                    <a:pt x="44" y="0"/>
                  </a:lnTo>
                  <a:lnTo>
                    <a:pt x="34" y="0"/>
                  </a:lnTo>
                  <a:lnTo>
                    <a:pt x="25" y="0"/>
                  </a:lnTo>
                  <a:lnTo>
                    <a:pt x="19" y="0"/>
                  </a:lnTo>
                  <a:lnTo>
                    <a:pt x="13" y="0"/>
                  </a:lnTo>
                  <a:lnTo>
                    <a:pt x="7" y="0"/>
                  </a:lnTo>
                  <a:lnTo>
                    <a:pt x="3" y="0"/>
                  </a:lnTo>
                  <a:lnTo>
                    <a:pt x="2" y="0"/>
                  </a:lnTo>
                  <a:lnTo>
                    <a:pt x="0" y="0"/>
                  </a:lnTo>
                  <a:lnTo>
                    <a:pt x="0" y="57"/>
                  </a:lnTo>
                  <a:close/>
                </a:path>
              </a:pathLst>
            </a:custGeom>
            <a:solidFill>
              <a:srgbClr val="FF6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10246" name="Group 20"/>
          <p:cNvGrpSpPr>
            <a:grpSpLocks/>
          </p:cNvGrpSpPr>
          <p:nvPr/>
        </p:nvGrpSpPr>
        <p:grpSpPr bwMode="auto">
          <a:xfrm>
            <a:off x="6481763" y="1779517"/>
            <a:ext cx="1651000" cy="1176338"/>
            <a:chOff x="3627" y="1834"/>
            <a:chExt cx="1040" cy="741"/>
          </a:xfrm>
        </p:grpSpPr>
        <p:sp>
          <p:nvSpPr>
            <p:cNvPr id="10267" name="Freeform 21" descr="Dark upward diagonal"/>
            <p:cNvSpPr>
              <a:spLocks/>
            </p:cNvSpPr>
            <p:nvPr/>
          </p:nvSpPr>
          <p:spPr bwMode="auto">
            <a:xfrm>
              <a:off x="3627" y="2181"/>
              <a:ext cx="665" cy="47"/>
            </a:xfrm>
            <a:custGeom>
              <a:avLst/>
              <a:gdLst>
                <a:gd name="T0" fmla="*/ 0 w 1330"/>
                <a:gd name="T1" fmla="*/ 24 h 93"/>
                <a:gd name="T2" fmla="*/ 0 w 1330"/>
                <a:gd name="T3" fmla="*/ 47 h 93"/>
                <a:gd name="T4" fmla="*/ 1 w 1330"/>
                <a:gd name="T5" fmla="*/ 47 h 93"/>
                <a:gd name="T6" fmla="*/ 2 w 1330"/>
                <a:gd name="T7" fmla="*/ 47 h 93"/>
                <a:gd name="T8" fmla="*/ 4 w 1330"/>
                <a:gd name="T9" fmla="*/ 47 h 93"/>
                <a:gd name="T10" fmla="*/ 7 w 1330"/>
                <a:gd name="T11" fmla="*/ 47 h 93"/>
                <a:gd name="T12" fmla="*/ 10 w 1330"/>
                <a:gd name="T13" fmla="*/ 47 h 93"/>
                <a:gd name="T14" fmla="*/ 15 w 1330"/>
                <a:gd name="T15" fmla="*/ 47 h 93"/>
                <a:gd name="T16" fmla="*/ 20 w 1330"/>
                <a:gd name="T17" fmla="*/ 47 h 93"/>
                <a:gd name="T18" fmla="*/ 27 w 1330"/>
                <a:gd name="T19" fmla="*/ 47 h 93"/>
                <a:gd name="T20" fmla="*/ 35 w 1330"/>
                <a:gd name="T21" fmla="*/ 47 h 93"/>
                <a:gd name="T22" fmla="*/ 44 w 1330"/>
                <a:gd name="T23" fmla="*/ 47 h 93"/>
                <a:gd name="T24" fmla="*/ 56 w 1330"/>
                <a:gd name="T25" fmla="*/ 47 h 93"/>
                <a:gd name="T26" fmla="*/ 68 w 1330"/>
                <a:gd name="T27" fmla="*/ 47 h 93"/>
                <a:gd name="T28" fmla="*/ 83 w 1330"/>
                <a:gd name="T29" fmla="*/ 47 h 93"/>
                <a:gd name="T30" fmla="*/ 100 w 1330"/>
                <a:gd name="T31" fmla="*/ 47 h 93"/>
                <a:gd name="T32" fmla="*/ 118 w 1330"/>
                <a:gd name="T33" fmla="*/ 47 h 93"/>
                <a:gd name="T34" fmla="*/ 139 w 1330"/>
                <a:gd name="T35" fmla="*/ 47 h 93"/>
                <a:gd name="T36" fmla="*/ 162 w 1330"/>
                <a:gd name="T37" fmla="*/ 47 h 93"/>
                <a:gd name="T38" fmla="*/ 187 w 1330"/>
                <a:gd name="T39" fmla="*/ 47 h 93"/>
                <a:gd name="T40" fmla="*/ 216 w 1330"/>
                <a:gd name="T41" fmla="*/ 47 h 93"/>
                <a:gd name="T42" fmla="*/ 247 w 1330"/>
                <a:gd name="T43" fmla="*/ 47 h 93"/>
                <a:gd name="T44" fmla="*/ 281 w 1330"/>
                <a:gd name="T45" fmla="*/ 47 h 93"/>
                <a:gd name="T46" fmla="*/ 317 w 1330"/>
                <a:gd name="T47" fmla="*/ 47 h 93"/>
                <a:gd name="T48" fmla="*/ 356 w 1330"/>
                <a:gd name="T49" fmla="*/ 47 h 93"/>
                <a:gd name="T50" fmla="*/ 399 w 1330"/>
                <a:gd name="T51" fmla="*/ 47 h 93"/>
                <a:gd name="T52" fmla="*/ 446 w 1330"/>
                <a:gd name="T53" fmla="*/ 47 h 93"/>
                <a:gd name="T54" fmla="*/ 495 w 1330"/>
                <a:gd name="T55" fmla="*/ 47 h 93"/>
                <a:gd name="T56" fmla="*/ 548 w 1330"/>
                <a:gd name="T57" fmla="*/ 47 h 93"/>
                <a:gd name="T58" fmla="*/ 604 w 1330"/>
                <a:gd name="T59" fmla="*/ 47 h 93"/>
                <a:gd name="T60" fmla="*/ 665 w 1330"/>
                <a:gd name="T61" fmla="*/ 47 h 93"/>
                <a:gd name="T62" fmla="*/ 665 w 1330"/>
                <a:gd name="T63" fmla="*/ 0 h 93"/>
                <a:gd name="T64" fmla="*/ 604 w 1330"/>
                <a:gd name="T65" fmla="*/ 0 h 93"/>
                <a:gd name="T66" fmla="*/ 548 w 1330"/>
                <a:gd name="T67" fmla="*/ 0 h 93"/>
                <a:gd name="T68" fmla="*/ 495 w 1330"/>
                <a:gd name="T69" fmla="*/ 0 h 93"/>
                <a:gd name="T70" fmla="*/ 446 w 1330"/>
                <a:gd name="T71" fmla="*/ 0 h 93"/>
                <a:gd name="T72" fmla="*/ 399 w 1330"/>
                <a:gd name="T73" fmla="*/ 0 h 93"/>
                <a:gd name="T74" fmla="*/ 356 w 1330"/>
                <a:gd name="T75" fmla="*/ 0 h 93"/>
                <a:gd name="T76" fmla="*/ 317 w 1330"/>
                <a:gd name="T77" fmla="*/ 0 h 93"/>
                <a:gd name="T78" fmla="*/ 281 w 1330"/>
                <a:gd name="T79" fmla="*/ 0 h 93"/>
                <a:gd name="T80" fmla="*/ 247 w 1330"/>
                <a:gd name="T81" fmla="*/ 0 h 93"/>
                <a:gd name="T82" fmla="*/ 216 w 1330"/>
                <a:gd name="T83" fmla="*/ 0 h 93"/>
                <a:gd name="T84" fmla="*/ 187 w 1330"/>
                <a:gd name="T85" fmla="*/ 0 h 93"/>
                <a:gd name="T86" fmla="*/ 162 w 1330"/>
                <a:gd name="T87" fmla="*/ 0 h 93"/>
                <a:gd name="T88" fmla="*/ 139 w 1330"/>
                <a:gd name="T89" fmla="*/ 0 h 93"/>
                <a:gd name="T90" fmla="*/ 118 w 1330"/>
                <a:gd name="T91" fmla="*/ 0 h 93"/>
                <a:gd name="T92" fmla="*/ 100 w 1330"/>
                <a:gd name="T93" fmla="*/ 0 h 93"/>
                <a:gd name="T94" fmla="*/ 83 w 1330"/>
                <a:gd name="T95" fmla="*/ 0 h 93"/>
                <a:gd name="T96" fmla="*/ 68 w 1330"/>
                <a:gd name="T97" fmla="*/ 0 h 93"/>
                <a:gd name="T98" fmla="*/ 56 w 1330"/>
                <a:gd name="T99" fmla="*/ 0 h 93"/>
                <a:gd name="T100" fmla="*/ 44 w 1330"/>
                <a:gd name="T101" fmla="*/ 0 h 93"/>
                <a:gd name="T102" fmla="*/ 35 w 1330"/>
                <a:gd name="T103" fmla="*/ 0 h 93"/>
                <a:gd name="T104" fmla="*/ 27 w 1330"/>
                <a:gd name="T105" fmla="*/ 0 h 93"/>
                <a:gd name="T106" fmla="*/ 20 w 1330"/>
                <a:gd name="T107" fmla="*/ 0 h 93"/>
                <a:gd name="T108" fmla="*/ 15 w 1330"/>
                <a:gd name="T109" fmla="*/ 0 h 93"/>
                <a:gd name="T110" fmla="*/ 10 w 1330"/>
                <a:gd name="T111" fmla="*/ 0 h 93"/>
                <a:gd name="T112" fmla="*/ 7 w 1330"/>
                <a:gd name="T113" fmla="*/ 0 h 93"/>
                <a:gd name="T114" fmla="*/ 4 w 1330"/>
                <a:gd name="T115" fmla="*/ 0 h 93"/>
                <a:gd name="T116" fmla="*/ 2 w 1330"/>
                <a:gd name="T117" fmla="*/ 0 h 93"/>
                <a:gd name="T118" fmla="*/ 1 w 1330"/>
                <a:gd name="T119" fmla="*/ 0 h 93"/>
                <a:gd name="T120" fmla="*/ 0 w 1330"/>
                <a:gd name="T121" fmla="*/ 0 h 93"/>
                <a:gd name="T122" fmla="*/ 0 w 1330"/>
                <a:gd name="T123" fmla="*/ 24 h 93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1330" h="93">
                  <a:moveTo>
                    <a:pt x="0" y="47"/>
                  </a:moveTo>
                  <a:lnTo>
                    <a:pt x="0" y="93"/>
                  </a:lnTo>
                  <a:lnTo>
                    <a:pt x="1" y="93"/>
                  </a:lnTo>
                  <a:lnTo>
                    <a:pt x="4" y="93"/>
                  </a:lnTo>
                  <a:lnTo>
                    <a:pt x="7" y="93"/>
                  </a:lnTo>
                  <a:lnTo>
                    <a:pt x="14" y="93"/>
                  </a:lnTo>
                  <a:lnTo>
                    <a:pt x="20" y="93"/>
                  </a:lnTo>
                  <a:lnTo>
                    <a:pt x="29" y="93"/>
                  </a:lnTo>
                  <a:lnTo>
                    <a:pt x="40" y="93"/>
                  </a:lnTo>
                  <a:lnTo>
                    <a:pt x="54" y="93"/>
                  </a:lnTo>
                  <a:lnTo>
                    <a:pt x="69" y="93"/>
                  </a:lnTo>
                  <a:lnTo>
                    <a:pt x="88" y="93"/>
                  </a:lnTo>
                  <a:lnTo>
                    <a:pt x="111" y="93"/>
                  </a:lnTo>
                  <a:lnTo>
                    <a:pt x="135" y="93"/>
                  </a:lnTo>
                  <a:lnTo>
                    <a:pt x="165" y="93"/>
                  </a:lnTo>
                  <a:lnTo>
                    <a:pt x="199" y="93"/>
                  </a:lnTo>
                  <a:lnTo>
                    <a:pt x="236" y="93"/>
                  </a:lnTo>
                  <a:lnTo>
                    <a:pt x="277" y="93"/>
                  </a:lnTo>
                  <a:lnTo>
                    <a:pt x="323" y="93"/>
                  </a:lnTo>
                  <a:lnTo>
                    <a:pt x="374" y="93"/>
                  </a:lnTo>
                  <a:lnTo>
                    <a:pt x="431" y="93"/>
                  </a:lnTo>
                  <a:lnTo>
                    <a:pt x="493" y="93"/>
                  </a:lnTo>
                  <a:lnTo>
                    <a:pt x="561" y="93"/>
                  </a:lnTo>
                  <a:lnTo>
                    <a:pt x="633" y="93"/>
                  </a:lnTo>
                  <a:lnTo>
                    <a:pt x="712" y="93"/>
                  </a:lnTo>
                  <a:lnTo>
                    <a:pt x="798" y="93"/>
                  </a:lnTo>
                  <a:lnTo>
                    <a:pt x="891" y="93"/>
                  </a:lnTo>
                  <a:lnTo>
                    <a:pt x="989" y="93"/>
                  </a:lnTo>
                  <a:lnTo>
                    <a:pt x="1095" y="93"/>
                  </a:lnTo>
                  <a:lnTo>
                    <a:pt x="1208" y="93"/>
                  </a:lnTo>
                  <a:lnTo>
                    <a:pt x="1330" y="93"/>
                  </a:lnTo>
                  <a:lnTo>
                    <a:pt x="1330" y="0"/>
                  </a:lnTo>
                  <a:lnTo>
                    <a:pt x="1208" y="0"/>
                  </a:lnTo>
                  <a:lnTo>
                    <a:pt x="1095" y="0"/>
                  </a:lnTo>
                  <a:lnTo>
                    <a:pt x="989" y="0"/>
                  </a:lnTo>
                  <a:lnTo>
                    <a:pt x="891" y="0"/>
                  </a:lnTo>
                  <a:lnTo>
                    <a:pt x="798" y="0"/>
                  </a:lnTo>
                  <a:lnTo>
                    <a:pt x="712" y="0"/>
                  </a:lnTo>
                  <a:lnTo>
                    <a:pt x="633" y="0"/>
                  </a:lnTo>
                  <a:lnTo>
                    <a:pt x="561" y="0"/>
                  </a:lnTo>
                  <a:lnTo>
                    <a:pt x="493" y="0"/>
                  </a:lnTo>
                  <a:lnTo>
                    <a:pt x="431" y="0"/>
                  </a:lnTo>
                  <a:lnTo>
                    <a:pt x="374" y="0"/>
                  </a:lnTo>
                  <a:lnTo>
                    <a:pt x="323" y="0"/>
                  </a:lnTo>
                  <a:lnTo>
                    <a:pt x="277" y="0"/>
                  </a:lnTo>
                  <a:lnTo>
                    <a:pt x="236" y="0"/>
                  </a:lnTo>
                  <a:lnTo>
                    <a:pt x="199" y="0"/>
                  </a:lnTo>
                  <a:lnTo>
                    <a:pt x="165" y="0"/>
                  </a:lnTo>
                  <a:lnTo>
                    <a:pt x="135" y="0"/>
                  </a:lnTo>
                  <a:lnTo>
                    <a:pt x="111" y="0"/>
                  </a:lnTo>
                  <a:lnTo>
                    <a:pt x="88" y="0"/>
                  </a:lnTo>
                  <a:lnTo>
                    <a:pt x="69" y="0"/>
                  </a:lnTo>
                  <a:lnTo>
                    <a:pt x="54" y="0"/>
                  </a:lnTo>
                  <a:lnTo>
                    <a:pt x="40" y="0"/>
                  </a:lnTo>
                  <a:lnTo>
                    <a:pt x="29" y="0"/>
                  </a:lnTo>
                  <a:lnTo>
                    <a:pt x="20" y="0"/>
                  </a:lnTo>
                  <a:lnTo>
                    <a:pt x="14" y="0"/>
                  </a:lnTo>
                  <a:lnTo>
                    <a:pt x="7" y="0"/>
                  </a:lnTo>
                  <a:lnTo>
                    <a:pt x="4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47"/>
                  </a:lnTo>
                  <a:close/>
                </a:path>
              </a:pathLst>
            </a:custGeom>
            <a:pattFill prst="dkUpDiag">
              <a:fgClr>
                <a:srgbClr val="FF6600"/>
              </a:fgClr>
              <a:bgClr>
                <a:srgbClr val="FFFFFF"/>
              </a:bgClr>
            </a:patt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268" name="Freeform 22"/>
            <p:cNvSpPr>
              <a:spLocks/>
            </p:cNvSpPr>
            <p:nvPr/>
          </p:nvSpPr>
          <p:spPr bwMode="auto">
            <a:xfrm>
              <a:off x="3858" y="1834"/>
              <a:ext cx="659" cy="46"/>
            </a:xfrm>
            <a:custGeom>
              <a:avLst/>
              <a:gdLst>
                <a:gd name="T0" fmla="*/ 636 w 1318"/>
                <a:gd name="T1" fmla="*/ 23 h 92"/>
                <a:gd name="T2" fmla="*/ 635 w 1318"/>
                <a:gd name="T3" fmla="*/ 0 h 92"/>
                <a:gd name="T4" fmla="*/ 632 w 1318"/>
                <a:gd name="T5" fmla="*/ 0 h 92"/>
                <a:gd name="T6" fmla="*/ 626 w 1318"/>
                <a:gd name="T7" fmla="*/ 0 h 92"/>
                <a:gd name="T8" fmla="*/ 617 w 1318"/>
                <a:gd name="T9" fmla="*/ 0 h 92"/>
                <a:gd name="T10" fmla="*/ 603 w 1318"/>
                <a:gd name="T11" fmla="*/ 0 h 92"/>
                <a:gd name="T12" fmla="*/ 583 w 1318"/>
                <a:gd name="T13" fmla="*/ 0 h 92"/>
                <a:gd name="T14" fmla="*/ 557 w 1318"/>
                <a:gd name="T15" fmla="*/ 0 h 92"/>
                <a:gd name="T16" fmla="*/ 523 w 1318"/>
                <a:gd name="T17" fmla="*/ 0 h 92"/>
                <a:gd name="T18" fmla="*/ 481 w 1318"/>
                <a:gd name="T19" fmla="*/ 0 h 92"/>
                <a:gd name="T20" fmla="*/ 429 w 1318"/>
                <a:gd name="T21" fmla="*/ 0 h 92"/>
                <a:gd name="T22" fmla="*/ 368 w 1318"/>
                <a:gd name="T23" fmla="*/ 0 h 92"/>
                <a:gd name="T24" fmla="*/ 295 w 1318"/>
                <a:gd name="T25" fmla="*/ 0 h 92"/>
                <a:gd name="T26" fmla="*/ 210 w 1318"/>
                <a:gd name="T27" fmla="*/ 0 h 92"/>
                <a:gd name="T28" fmla="*/ 112 w 1318"/>
                <a:gd name="T29" fmla="*/ 0 h 92"/>
                <a:gd name="T30" fmla="*/ 0 w 1318"/>
                <a:gd name="T31" fmla="*/ 0 h 92"/>
                <a:gd name="T32" fmla="*/ 58 w 1318"/>
                <a:gd name="T33" fmla="*/ 46 h 92"/>
                <a:gd name="T34" fmla="*/ 163 w 1318"/>
                <a:gd name="T35" fmla="*/ 46 h 92"/>
                <a:gd name="T36" fmla="*/ 254 w 1318"/>
                <a:gd name="T37" fmla="*/ 46 h 92"/>
                <a:gd name="T38" fmla="*/ 333 w 1318"/>
                <a:gd name="T39" fmla="*/ 46 h 92"/>
                <a:gd name="T40" fmla="*/ 400 w 1318"/>
                <a:gd name="T41" fmla="*/ 46 h 92"/>
                <a:gd name="T42" fmla="*/ 456 w 1318"/>
                <a:gd name="T43" fmla="*/ 46 h 92"/>
                <a:gd name="T44" fmla="*/ 503 w 1318"/>
                <a:gd name="T45" fmla="*/ 46 h 92"/>
                <a:gd name="T46" fmla="*/ 541 w 1318"/>
                <a:gd name="T47" fmla="*/ 46 h 92"/>
                <a:gd name="T48" fmla="*/ 571 w 1318"/>
                <a:gd name="T49" fmla="*/ 46 h 92"/>
                <a:gd name="T50" fmla="*/ 594 w 1318"/>
                <a:gd name="T51" fmla="*/ 46 h 92"/>
                <a:gd name="T52" fmla="*/ 611 w 1318"/>
                <a:gd name="T53" fmla="*/ 46 h 92"/>
                <a:gd name="T54" fmla="*/ 622 w 1318"/>
                <a:gd name="T55" fmla="*/ 46 h 92"/>
                <a:gd name="T56" fmla="*/ 630 w 1318"/>
                <a:gd name="T57" fmla="*/ 46 h 92"/>
                <a:gd name="T58" fmla="*/ 634 w 1318"/>
                <a:gd name="T59" fmla="*/ 46 h 92"/>
                <a:gd name="T60" fmla="*/ 636 w 1318"/>
                <a:gd name="T61" fmla="*/ 46 h 92"/>
                <a:gd name="T62" fmla="*/ 613 w 1318"/>
                <a:gd name="T63" fmla="*/ 23 h 92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1318" h="92">
                  <a:moveTo>
                    <a:pt x="1318" y="46"/>
                  </a:moveTo>
                  <a:lnTo>
                    <a:pt x="1272" y="46"/>
                  </a:lnTo>
                  <a:lnTo>
                    <a:pt x="1272" y="0"/>
                  </a:lnTo>
                  <a:lnTo>
                    <a:pt x="1270" y="0"/>
                  </a:lnTo>
                  <a:lnTo>
                    <a:pt x="1267" y="0"/>
                  </a:lnTo>
                  <a:lnTo>
                    <a:pt x="1264" y="0"/>
                  </a:lnTo>
                  <a:lnTo>
                    <a:pt x="1259" y="0"/>
                  </a:lnTo>
                  <a:lnTo>
                    <a:pt x="1251" y="0"/>
                  </a:lnTo>
                  <a:lnTo>
                    <a:pt x="1244" y="0"/>
                  </a:lnTo>
                  <a:lnTo>
                    <a:pt x="1233" y="0"/>
                  </a:lnTo>
                  <a:lnTo>
                    <a:pt x="1221" y="0"/>
                  </a:lnTo>
                  <a:lnTo>
                    <a:pt x="1205" y="0"/>
                  </a:lnTo>
                  <a:lnTo>
                    <a:pt x="1187" y="0"/>
                  </a:lnTo>
                  <a:lnTo>
                    <a:pt x="1165" y="0"/>
                  </a:lnTo>
                  <a:lnTo>
                    <a:pt x="1141" y="0"/>
                  </a:lnTo>
                  <a:lnTo>
                    <a:pt x="1113" y="0"/>
                  </a:lnTo>
                  <a:lnTo>
                    <a:pt x="1082" y="0"/>
                  </a:lnTo>
                  <a:lnTo>
                    <a:pt x="1045" y="0"/>
                  </a:lnTo>
                  <a:lnTo>
                    <a:pt x="1006" y="0"/>
                  </a:lnTo>
                  <a:lnTo>
                    <a:pt x="962" y="0"/>
                  </a:lnTo>
                  <a:lnTo>
                    <a:pt x="912" y="0"/>
                  </a:lnTo>
                  <a:lnTo>
                    <a:pt x="858" y="0"/>
                  </a:lnTo>
                  <a:lnTo>
                    <a:pt x="800" y="0"/>
                  </a:lnTo>
                  <a:lnTo>
                    <a:pt x="735" y="0"/>
                  </a:lnTo>
                  <a:lnTo>
                    <a:pt x="666" y="0"/>
                  </a:lnTo>
                  <a:lnTo>
                    <a:pt x="589" y="0"/>
                  </a:lnTo>
                  <a:lnTo>
                    <a:pt x="507" y="0"/>
                  </a:lnTo>
                  <a:lnTo>
                    <a:pt x="419" y="0"/>
                  </a:lnTo>
                  <a:lnTo>
                    <a:pt x="325" y="0"/>
                  </a:lnTo>
                  <a:lnTo>
                    <a:pt x="224" y="0"/>
                  </a:lnTo>
                  <a:lnTo>
                    <a:pt x="116" y="0"/>
                  </a:lnTo>
                  <a:lnTo>
                    <a:pt x="0" y="0"/>
                  </a:lnTo>
                  <a:lnTo>
                    <a:pt x="0" y="92"/>
                  </a:lnTo>
                  <a:lnTo>
                    <a:pt x="116" y="92"/>
                  </a:lnTo>
                  <a:lnTo>
                    <a:pt x="224" y="92"/>
                  </a:lnTo>
                  <a:lnTo>
                    <a:pt x="325" y="92"/>
                  </a:lnTo>
                  <a:lnTo>
                    <a:pt x="419" y="92"/>
                  </a:lnTo>
                  <a:lnTo>
                    <a:pt x="507" y="92"/>
                  </a:lnTo>
                  <a:lnTo>
                    <a:pt x="589" y="92"/>
                  </a:lnTo>
                  <a:lnTo>
                    <a:pt x="666" y="92"/>
                  </a:lnTo>
                  <a:lnTo>
                    <a:pt x="735" y="92"/>
                  </a:lnTo>
                  <a:lnTo>
                    <a:pt x="800" y="92"/>
                  </a:lnTo>
                  <a:lnTo>
                    <a:pt x="858" y="92"/>
                  </a:lnTo>
                  <a:lnTo>
                    <a:pt x="912" y="92"/>
                  </a:lnTo>
                  <a:lnTo>
                    <a:pt x="962" y="92"/>
                  </a:lnTo>
                  <a:lnTo>
                    <a:pt x="1006" y="92"/>
                  </a:lnTo>
                  <a:lnTo>
                    <a:pt x="1045" y="92"/>
                  </a:lnTo>
                  <a:lnTo>
                    <a:pt x="1082" y="92"/>
                  </a:lnTo>
                  <a:lnTo>
                    <a:pt x="1113" y="92"/>
                  </a:lnTo>
                  <a:lnTo>
                    <a:pt x="1141" y="92"/>
                  </a:lnTo>
                  <a:lnTo>
                    <a:pt x="1165" y="92"/>
                  </a:lnTo>
                  <a:lnTo>
                    <a:pt x="1187" y="92"/>
                  </a:lnTo>
                  <a:lnTo>
                    <a:pt x="1205" y="92"/>
                  </a:lnTo>
                  <a:lnTo>
                    <a:pt x="1221" y="92"/>
                  </a:lnTo>
                  <a:lnTo>
                    <a:pt x="1233" y="92"/>
                  </a:lnTo>
                  <a:lnTo>
                    <a:pt x="1244" y="92"/>
                  </a:lnTo>
                  <a:lnTo>
                    <a:pt x="1251" y="92"/>
                  </a:lnTo>
                  <a:lnTo>
                    <a:pt x="1259" y="92"/>
                  </a:lnTo>
                  <a:lnTo>
                    <a:pt x="1264" y="92"/>
                  </a:lnTo>
                  <a:lnTo>
                    <a:pt x="1267" y="92"/>
                  </a:lnTo>
                  <a:lnTo>
                    <a:pt x="1270" y="92"/>
                  </a:lnTo>
                  <a:lnTo>
                    <a:pt x="1272" y="92"/>
                  </a:lnTo>
                  <a:lnTo>
                    <a:pt x="1272" y="46"/>
                  </a:lnTo>
                  <a:lnTo>
                    <a:pt x="1225" y="46"/>
                  </a:lnTo>
                  <a:lnTo>
                    <a:pt x="1318" y="46"/>
                  </a:lnTo>
                  <a:close/>
                </a:path>
              </a:pathLst>
            </a:custGeom>
            <a:solidFill>
              <a:srgbClr val="FF6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269" name="Freeform 23"/>
            <p:cNvSpPr>
              <a:spLocks/>
            </p:cNvSpPr>
            <p:nvPr/>
          </p:nvSpPr>
          <p:spPr bwMode="auto">
            <a:xfrm>
              <a:off x="4471" y="1857"/>
              <a:ext cx="46" cy="515"/>
            </a:xfrm>
            <a:custGeom>
              <a:avLst/>
              <a:gdLst>
                <a:gd name="T0" fmla="*/ 23 w 93"/>
                <a:gd name="T1" fmla="*/ 492 h 1030"/>
                <a:gd name="T2" fmla="*/ 46 w 93"/>
                <a:gd name="T3" fmla="*/ 491 h 1030"/>
                <a:gd name="T4" fmla="*/ 46 w 93"/>
                <a:gd name="T5" fmla="*/ 489 h 1030"/>
                <a:gd name="T6" fmla="*/ 46 w 93"/>
                <a:gd name="T7" fmla="*/ 484 h 1030"/>
                <a:gd name="T8" fmla="*/ 46 w 93"/>
                <a:gd name="T9" fmla="*/ 477 h 1030"/>
                <a:gd name="T10" fmla="*/ 46 w 93"/>
                <a:gd name="T11" fmla="*/ 466 h 1030"/>
                <a:gd name="T12" fmla="*/ 46 w 93"/>
                <a:gd name="T13" fmla="*/ 451 h 1030"/>
                <a:gd name="T14" fmla="*/ 46 w 93"/>
                <a:gd name="T15" fmla="*/ 430 h 1030"/>
                <a:gd name="T16" fmla="*/ 46 w 93"/>
                <a:gd name="T17" fmla="*/ 405 h 1030"/>
                <a:gd name="T18" fmla="*/ 46 w 93"/>
                <a:gd name="T19" fmla="*/ 372 h 1030"/>
                <a:gd name="T20" fmla="*/ 46 w 93"/>
                <a:gd name="T21" fmla="*/ 332 h 1030"/>
                <a:gd name="T22" fmla="*/ 46 w 93"/>
                <a:gd name="T23" fmla="*/ 284 h 1030"/>
                <a:gd name="T24" fmla="*/ 46 w 93"/>
                <a:gd name="T25" fmla="*/ 228 h 1030"/>
                <a:gd name="T26" fmla="*/ 46 w 93"/>
                <a:gd name="T27" fmla="*/ 162 h 1030"/>
                <a:gd name="T28" fmla="*/ 46 w 93"/>
                <a:gd name="T29" fmla="*/ 87 h 1030"/>
                <a:gd name="T30" fmla="*/ 46 w 93"/>
                <a:gd name="T31" fmla="*/ 0 h 1030"/>
                <a:gd name="T32" fmla="*/ 0 w 93"/>
                <a:gd name="T33" fmla="*/ 44 h 1030"/>
                <a:gd name="T34" fmla="*/ 0 w 93"/>
                <a:gd name="T35" fmla="*/ 126 h 1030"/>
                <a:gd name="T36" fmla="*/ 0 w 93"/>
                <a:gd name="T37" fmla="*/ 196 h 1030"/>
                <a:gd name="T38" fmla="*/ 0 w 93"/>
                <a:gd name="T39" fmla="*/ 257 h 1030"/>
                <a:gd name="T40" fmla="*/ 0 w 93"/>
                <a:gd name="T41" fmla="*/ 309 h 1030"/>
                <a:gd name="T42" fmla="*/ 0 w 93"/>
                <a:gd name="T43" fmla="*/ 353 h 1030"/>
                <a:gd name="T44" fmla="*/ 0 w 93"/>
                <a:gd name="T45" fmla="*/ 389 h 1030"/>
                <a:gd name="T46" fmla="*/ 0 w 93"/>
                <a:gd name="T47" fmla="*/ 418 h 1030"/>
                <a:gd name="T48" fmla="*/ 0 w 93"/>
                <a:gd name="T49" fmla="*/ 441 h 1030"/>
                <a:gd name="T50" fmla="*/ 0 w 93"/>
                <a:gd name="T51" fmla="*/ 459 h 1030"/>
                <a:gd name="T52" fmla="*/ 0 w 93"/>
                <a:gd name="T53" fmla="*/ 472 h 1030"/>
                <a:gd name="T54" fmla="*/ 0 w 93"/>
                <a:gd name="T55" fmla="*/ 481 h 1030"/>
                <a:gd name="T56" fmla="*/ 0 w 93"/>
                <a:gd name="T57" fmla="*/ 487 h 1030"/>
                <a:gd name="T58" fmla="*/ 0 w 93"/>
                <a:gd name="T59" fmla="*/ 490 h 1030"/>
                <a:gd name="T60" fmla="*/ 0 w 93"/>
                <a:gd name="T61" fmla="*/ 492 h 1030"/>
                <a:gd name="T62" fmla="*/ 23 w 93"/>
                <a:gd name="T63" fmla="*/ 469 h 1030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93" h="1030">
                  <a:moveTo>
                    <a:pt x="47" y="1030"/>
                  </a:moveTo>
                  <a:lnTo>
                    <a:pt x="47" y="983"/>
                  </a:lnTo>
                  <a:lnTo>
                    <a:pt x="93" y="983"/>
                  </a:lnTo>
                  <a:lnTo>
                    <a:pt x="93" y="982"/>
                  </a:lnTo>
                  <a:lnTo>
                    <a:pt x="93" y="980"/>
                  </a:lnTo>
                  <a:lnTo>
                    <a:pt x="93" y="977"/>
                  </a:lnTo>
                  <a:lnTo>
                    <a:pt x="93" y="973"/>
                  </a:lnTo>
                  <a:lnTo>
                    <a:pt x="93" y="968"/>
                  </a:lnTo>
                  <a:lnTo>
                    <a:pt x="93" y="962"/>
                  </a:lnTo>
                  <a:lnTo>
                    <a:pt x="93" y="954"/>
                  </a:lnTo>
                  <a:lnTo>
                    <a:pt x="93" y="943"/>
                  </a:lnTo>
                  <a:lnTo>
                    <a:pt x="93" y="931"/>
                  </a:lnTo>
                  <a:lnTo>
                    <a:pt x="93" y="917"/>
                  </a:lnTo>
                  <a:lnTo>
                    <a:pt x="93" y="902"/>
                  </a:lnTo>
                  <a:lnTo>
                    <a:pt x="93" y="882"/>
                  </a:lnTo>
                  <a:lnTo>
                    <a:pt x="93" y="860"/>
                  </a:lnTo>
                  <a:lnTo>
                    <a:pt x="93" y="835"/>
                  </a:lnTo>
                  <a:lnTo>
                    <a:pt x="93" y="809"/>
                  </a:lnTo>
                  <a:lnTo>
                    <a:pt x="93" y="778"/>
                  </a:lnTo>
                  <a:lnTo>
                    <a:pt x="93" y="743"/>
                  </a:lnTo>
                  <a:lnTo>
                    <a:pt x="93" y="706"/>
                  </a:lnTo>
                  <a:lnTo>
                    <a:pt x="93" y="664"/>
                  </a:lnTo>
                  <a:lnTo>
                    <a:pt x="93" y="618"/>
                  </a:lnTo>
                  <a:lnTo>
                    <a:pt x="93" y="568"/>
                  </a:lnTo>
                  <a:lnTo>
                    <a:pt x="93" y="514"/>
                  </a:lnTo>
                  <a:lnTo>
                    <a:pt x="93" y="455"/>
                  </a:lnTo>
                  <a:lnTo>
                    <a:pt x="93" y="392"/>
                  </a:lnTo>
                  <a:lnTo>
                    <a:pt x="93" y="324"/>
                  </a:lnTo>
                  <a:lnTo>
                    <a:pt x="93" y="252"/>
                  </a:lnTo>
                  <a:lnTo>
                    <a:pt x="93" y="173"/>
                  </a:lnTo>
                  <a:lnTo>
                    <a:pt x="93" y="88"/>
                  </a:lnTo>
                  <a:lnTo>
                    <a:pt x="93" y="0"/>
                  </a:lnTo>
                  <a:lnTo>
                    <a:pt x="0" y="0"/>
                  </a:lnTo>
                  <a:lnTo>
                    <a:pt x="0" y="88"/>
                  </a:lnTo>
                  <a:lnTo>
                    <a:pt x="0" y="173"/>
                  </a:lnTo>
                  <a:lnTo>
                    <a:pt x="0" y="252"/>
                  </a:lnTo>
                  <a:lnTo>
                    <a:pt x="0" y="324"/>
                  </a:lnTo>
                  <a:lnTo>
                    <a:pt x="0" y="392"/>
                  </a:lnTo>
                  <a:lnTo>
                    <a:pt x="0" y="455"/>
                  </a:lnTo>
                  <a:lnTo>
                    <a:pt x="0" y="514"/>
                  </a:lnTo>
                  <a:lnTo>
                    <a:pt x="0" y="568"/>
                  </a:lnTo>
                  <a:lnTo>
                    <a:pt x="0" y="618"/>
                  </a:lnTo>
                  <a:lnTo>
                    <a:pt x="0" y="664"/>
                  </a:lnTo>
                  <a:lnTo>
                    <a:pt x="0" y="706"/>
                  </a:lnTo>
                  <a:lnTo>
                    <a:pt x="0" y="743"/>
                  </a:lnTo>
                  <a:lnTo>
                    <a:pt x="0" y="778"/>
                  </a:lnTo>
                  <a:lnTo>
                    <a:pt x="0" y="809"/>
                  </a:lnTo>
                  <a:lnTo>
                    <a:pt x="0" y="835"/>
                  </a:lnTo>
                  <a:lnTo>
                    <a:pt x="0" y="860"/>
                  </a:lnTo>
                  <a:lnTo>
                    <a:pt x="0" y="882"/>
                  </a:lnTo>
                  <a:lnTo>
                    <a:pt x="0" y="902"/>
                  </a:lnTo>
                  <a:lnTo>
                    <a:pt x="0" y="917"/>
                  </a:lnTo>
                  <a:lnTo>
                    <a:pt x="0" y="931"/>
                  </a:lnTo>
                  <a:lnTo>
                    <a:pt x="0" y="943"/>
                  </a:lnTo>
                  <a:lnTo>
                    <a:pt x="0" y="954"/>
                  </a:lnTo>
                  <a:lnTo>
                    <a:pt x="0" y="962"/>
                  </a:lnTo>
                  <a:lnTo>
                    <a:pt x="0" y="968"/>
                  </a:lnTo>
                  <a:lnTo>
                    <a:pt x="0" y="973"/>
                  </a:lnTo>
                  <a:lnTo>
                    <a:pt x="0" y="977"/>
                  </a:lnTo>
                  <a:lnTo>
                    <a:pt x="0" y="980"/>
                  </a:lnTo>
                  <a:lnTo>
                    <a:pt x="0" y="982"/>
                  </a:lnTo>
                  <a:lnTo>
                    <a:pt x="0" y="983"/>
                  </a:lnTo>
                  <a:lnTo>
                    <a:pt x="47" y="983"/>
                  </a:lnTo>
                  <a:lnTo>
                    <a:pt x="47" y="937"/>
                  </a:lnTo>
                  <a:lnTo>
                    <a:pt x="47" y="1030"/>
                  </a:lnTo>
                  <a:close/>
                </a:path>
              </a:pathLst>
            </a:custGeom>
            <a:solidFill>
              <a:srgbClr val="FF6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270" name="Freeform 24"/>
            <p:cNvSpPr>
              <a:spLocks/>
            </p:cNvSpPr>
            <p:nvPr/>
          </p:nvSpPr>
          <p:spPr bwMode="auto">
            <a:xfrm>
              <a:off x="3979" y="2326"/>
              <a:ext cx="515" cy="46"/>
            </a:xfrm>
            <a:custGeom>
              <a:avLst/>
              <a:gdLst>
                <a:gd name="T0" fmla="*/ 23 w 1030"/>
                <a:gd name="T1" fmla="*/ 23 h 93"/>
                <a:gd name="T2" fmla="*/ 24 w 1030"/>
                <a:gd name="T3" fmla="*/ 46 h 93"/>
                <a:gd name="T4" fmla="*/ 26 w 1030"/>
                <a:gd name="T5" fmla="*/ 46 h 93"/>
                <a:gd name="T6" fmla="*/ 29 w 1030"/>
                <a:gd name="T7" fmla="*/ 46 h 93"/>
                <a:gd name="T8" fmla="*/ 35 w 1030"/>
                <a:gd name="T9" fmla="*/ 46 h 93"/>
                <a:gd name="T10" fmla="*/ 43 w 1030"/>
                <a:gd name="T11" fmla="*/ 46 h 93"/>
                <a:gd name="T12" fmla="*/ 57 w 1030"/>
                <a:gd name="T13" fmla="*/ 46 h 93"/>
                <a:gd name="T14" fmla="*/ 74 w 1030"/>
                <a:gd name="T15" fmla="*/ 46 h 93"/>
                <a:gd name="T16" fmla="*/ 97 w 1030"/>
                <a:gd name="T17" fmla="*/ 46 h 93"/>
                <a:gd name="T18" fmla="*/ 127 w 1030"/>
                <a:gd name="T19" fmla="*/ 46 h 93"/>
                <a:gd name="T20" fmla="*/ 163 w 1030"/>
                <a:gd name="T21" fmla="*/ 46 h 93"/>
                <a:gd name="T22" fmla="*/ 206 w 1030"/>
                <a:gd name="T23" fmla="*/ 46 h 93"/>
                <a:gd name="T24" fmla="*/ 258 w 1030"/>
                <a:gd name="T25" fmla="*/ 46 h 93"/>
                <a:gd name="T26" fmla="*/ 319 w 1030"/>
                <a:gd name="T27" fmla="*/ 46 h 93"/>
                <a:gd name="T28" fmla="*/ 389 w 1030"/>
                <a:gd name="T29" fmla="*/ 46 h 93"/>
                <a:gd name="T30" fmla="*/ 470 w 1030"/>
                <a:gd name="T31" fmla="*/ 46 h 93"/>
                <a:gd name="T32" fmla="*/ 515 w 1030"/>
                <a:gd name="T33" fmla="*/ 0 h 93"/>
                <a:gd name="T34" fmla="*/ 429 w 1030"/>
                <a:gd name="T35" fmla="*/ 0 h 93"/>
                <a:gd name="T36" fmla="*/ 353 w 1030"/>
                <a:gd name="T37" fmla="*/ 0 h 93"/>
                <a:gd name="T38" fmla="*/ 288 w 1030"/>
                <a:gd name="T39" fmla="*/ 0 h 93"/>
                <a:gd name="T40" fmla="*/ 231 w 1030"/>
                <a:gd name="T41" fmla="*/ 0 h 93"/>
                <a:gd name="T42" fmla="*/ 184 w 1030"/>
                <a:gd name="T43" fmla="*/ 0 h 93"/>
                <a:gd name="T44" fmla="*/ 144 w 1030"/>
                <a:gd name="T45" fmla="*/ 0 h 93"/>
                <a:gd name="T46" fmla="*/ 111 w 1030"/>
                <a:gd name="T47" fmla="*/ 0 h 93"/>
                <a:gd name="T48" fmla="*/ 85 w 1030"/>
                <a:gd name="T49" fmla="*/ 0 h 93"/>
                <a:gd name="T50" fmla="*/ 65 w 1030"/>
                <a:gd name="T51" fmla="*/ 0 h 93"/>
                <a:gd name="T52" fmla="*/ 50 w 1030"/>
                <a:gd name="T53" fmla="*/ 0 h 93"/>
                <a:gd name="T54" fmla="*/ 39 w 1030"/>
                <a:gd name="T55" fmla="*/ 0 h 93"/>
                <a:gd name="T56" fmla="*/ 31 w 1030"/>
                <a:gd name="T57" fmla="*/ 0 h 93"/>
                <a:gd name="T58" fmla="*/ 27 w 1030"/>
                <a:gd name="T59" fmla="*/ 0 h 93"/>
                <a:gd name="T60" fmla="*/ 25 w 1030"/>
                <a:gd name="T61" fmla="*/ 0 h 93"/>
                <a:gd name="T62" fmla="*/ 23 w 1030"/>
                <a:gd name="T63" fmla="*/ 0 h 93"/>
                <a:gd name="T64" fmla="*/ 46 w 1030"/>
                <a:gd name="T65" fmla="*/ 23 h 93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1030" h="93">
                  <a:moveTo>
                    <a:pt x="0" y="46"/>
                  </a:moveTo>
                  <a:lnTo>
                    <a:pt x="46" y="46"/>
                  </a:lnTo>
                  <a:lnTo>
                    <a:pt x="46" y="93"/>
                  </a:lnTo>
                  <a:lnTo>
                    <a:pt x="48" y="93"/>
                  </a:lnTo>
                  <a:lnTo>
                    <a:pt x="49" y="93"/>
                  </a:lnTo>
                  <a:lnTo>
                    <a:pt x="51" y="93"/>
                  </a:lnTo>
                  <a:lnTo>
                    <a:pt x="54" y="93"/>
                  </a:lnTo>
                  <a:lnTo>
                    <a:pt x="57" y="93"/>
                  </a:lnTo>
                  <a:lnTo>
                    <a:pt x="62" y="93"/>
                  </a:lnTo>
                  <a:lnTo>
                    <a:pt x="69" y="93"/>
                  </a:lnTo>
                  <a:lnTo>
                    <a:pt x="77" y="93"/>
                  </a:lnTo>
                  <a:lnTo>
                    <a:pt x="86" y="93"/>
                  </a:lnTo>
                  <a:lnTo>
                    <a:pt x="99" y="93"/>
                  </a:lnTo>
                  <a:lnTo>
                    <a:pt x="113" y="93"/>
                  </a:lnTo>
                  <a:lnTo>
                    <a:pt x="129" y="93"/>
                  </a:lnTo>
                  <a:lnTo>
                    <a:pt x="148" y="93"/>
                  </a:lnTo>
                  <a:lnTo>
                    <a:pt x="170" y="93"/>
                  </a:lnTo>
                  <a:lnTo>
                    <a:pt x="194" y="93"/>
                  </a:lnTo>
                  <a:lnTo>
                    <a:pt x="222" y="93"/>
                  </a:lnTo>
                  <a:lnTo>
                    <a:pt x="253" y="93"/>
                  </a:lnTo>
                  <a:lnTo>
                    <a:pt x="287" y="93"/>
                  </a:lnTo>
                  <a:lnTo>
                    <a:pt x="325" y="93"/>
                  </a:lnTo>
                  <a:lnTo>
                    <a:pt x="367" y="93"/>
                  </a:lnTo>
                  <a:lnTo>
                    <a:pt x="412" y="93"/>
                  </a:lnTo>
                  <a:lnTo>
                    <a:pt x="462" y="93"/>
                  </a:lnTo>
                  <a:lnTo>
                    <a:pt x="516" y="93"/>
                  </a:lnTo>
                  <a:lnTo>
                    <a:pt x="575" y="93"/>
                  </a:lnTo>
                  <a:lnTo>
                    <a:pt x="638" y="93"/>
                  </a:lnTo>
                  <a:lnTo>
                    <a:pt x="706" y="93"/>
                  </a:lnTo>
                  <a:lnTo>
                    <a:pt x="778" y="93"/>
                  </a:lnTo>
                  <a:lnTo>
                    <a:pt x="857" y="93"/>
                  </a:lnTo>
                  <a:lnTo>
                    <a:pt x="940" y="93"/>
                  </a:lnTo>
                  <a:lnTo>
                    <a:pt x="1030" y="93"/>
                  </a:lnTo>
                  <a:lnTo>
                    <a:pt x="1030" y="0"/>
                  </a:lnTo>
                  <a:lnTo>
                    <a:pt x="940" y="0"/>
                  </a:lnTo>
                  <a:lnTo>
                    <a:pt x="857" y="0"/>
                  </a:lnTo>
                  <a:lnTo>
                    <a:pt x="778" y="0"/>
                  </a:lnTo>
                  <a:lnTo>
                    <a:pt x="706" y="0"/>
                  </a:lnTo>
                  <a:lnTo>
                    <a:pt x="638" y="0"/>
                  </a:lnTo>
                  <a:lnTo>
                    <a:pt x="575" y="0"/>
                  </a:lnTo>
                  <a:lnTo>
                    <a:pt x="516" y="0"/>
                  </a:lnTo>
                  <a:lnTo>
                    <a:pt x="462" y="0"/>
                  </a:lnTo>
                  <a:lnTo>
                    <a:pt x="412" y="0"/>
                  </a:lnTo>
                  <a:lnTo>
                    <a:pt x="367" y="0"/>
                  </a:lnTo>
                  <a:lnTo>
                    <a:pt x="325" y="0"/>
                  </a:lnTo>
                  <a:lnTo>
                    <a:pt x="287" y="0"/>
                  </a:lnTo>
                  <a:lnTo>
                    <a:pt x="253" y="0"/>
                  </a:lnTo>
                  <a:lnTo>
                    <a:pt x="222" y="0"/>
                  </a:lnTo>
                  <a:lnTo>
                    <a:pt x="194" y="0"/>
                  </a:lnTo>
                  <a:lnTo>
                    <a:pt x="170" y="0"/>
                  </a:lnTo>
                  <a:lnTo>
                    <a:pt x="148" y="0"/>
                  </a:lnTo>
                  <a:lnTo>
                    <a:pt x="129" y="0"/>
                  </a:lnTo>
                  <a:lnTo>
                    <a:pt x="113" y="0"/>
                  </a:lnTo>
                  <a:lnTo>
                    <a:pt x="99" y="0"/>
                  </a:lnTo>
                  <a:lnTo>
                    <a:pt x="86" y="0"/>
                  </a:lnTo>
                  <a:lnTo>
                    <a:pt x="77" y="0"/>
                  </a:lnTo>
                  <a:lnTo>
                    <a:pt x="69" y="0"/>
                  </a:lnTo>
                  <a:lnTo>
                    <a:pt x="62" y="0"/>
                  </a:lnTo>
                  <a:lnTo>
                    <a:pt x="57" y="0"/>
                  </a:lnTo>
                  <a:lnTo>
                    <a:pt x="54" y="0"/>
                  </a:lnTo>
                  <a:lnTo>
                    <a:pt x="51" y="0"/>
                  </a:lnTo>
                  <a:lnTo>
                    <a:pt x="49" y="0"/>
                  </a:lnTo>
                  <a:lnTo>
                    <a:pt x="48" y="0"/>
                  </a:lnTo>
                  <a:lnTo>
                    <a:pt x="46" y="0"/>
                  </a:lnTo>
                  <a:lnTo>
                    <a:pt x="46" y="46"/>
                  </a:lnTo>
                  <a:lnTo>
                    <a:pt x="92" y="46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rgbClr val="FF6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271" name="Freeform 25"/>
            <p:cNvSpPr>
              <a:spLocks/>
            </p:cNvSpPr>
            <p:nvPr/>
          </p:nvSpPr>
          <p:spPr bwMode="auto">
            <a:xfrm>
              <a:off x="3979" y="2008"/>
              <a:ext cx="46" cy="341"/>
            </a:xfrm>
            <a:custGeom>
              <a:avLst/>
              <a:gdLst>
                <a:gd name="T0" fmla="*/ 23 w 92"/>
                <a:gd name="T1" fmla="*/ 0 h 682"/>
                <a:gd name="T2" fmla="*/ 23 w 92"/>
                <a:gd name="T3" fmla="*/ 23 h 682"/>
                <a:gd name="T4" fmla="*/ 0 w 92"/>
                <a:gd name="T5" fmla="*/ 23 h 682"/>
                <a:gd name="T6" fmla="*/ 0 w 92"/>
                <a:gd name="T7" fmla="*/ 24 h 682"/>
                <a:gd name="T8" fmla="*/ 0 w 92"/>
                <a:gd name="T9" fmla="*/ 25 h 682"/>
                <a:gd name="T10" fmla="*/ 0 w 92"/>
                <a:gd name="T11" fmla="*/ 27 h 682"/>
                <a:gd name="T12" fmla="*/ 0 w 92"/>
                <a:gd name="T13" fmla="*/ 28 h 682"/>
                <a:gd name="T14" fmla="*/ 0 w 92"/>
                <a:gd name="T15" fmla="*/ 30 h 682"/>
                <a:gd name="T16" fmla="*/ 0 w 92"/>
                <a:gd name="T17" fmla="*/ 33 h 682"/>
                <a:gd name="T18" fmla="*/ 0 w 92"/>
                <a:gd name="T19" fmla="*/ 36 h 682"/>
                <a:gd name="T20" fmla="*/ 0 w 92"/>
                <a:gd name="T21" fmla="*/ 40 h 682"/>
                <a:gd name="T22" fmla="*/ 0 w 92"/>
                <a:gd name="T23" fmla="*/ 44 h 682"/>
                <a:gd name="T24" fmla="*/ 0 w 92"/>
                <a:gd name="T25" fmla="*/ 50 h 682"/>
                <a:gd name="T26" fmla="*/ 0 w 92"/>
                <a:gd name="T27" fmla="*/ 56 h 682"/>
                <a:gd name="T28" fmla="*/ 0 w 92"/>
                <a:gd name="T29" fmla="*/ 63 h 682"/>
                <a:gd name="T30" fmla="*/ 0 w 92"/>
                <a:gd name="T31" fmla="*/ 71 h 682"/>
                <a:gd name="T32" fmla="*/ 0 w 92"/>
                <a:gd name="T33" fmla="*/ 80 h 682"/>
                <a:gd name="T34" fmla="*/ 0 w 92"/>
                <a:gd name="T35" fmla="*/ 90 h 682"/>
                <a:gd name="T36" fmla="*/ 0 w 92"/>
                <a:gd name="T37" fmla="*/ 101 h 682"/>
                <a:gd name="T38" fmla="*/ 0 w 92"/>
                <a:gd name="T39" fmla="*/ 113 h 682"/>
                <a:gd name="T40" fmla="*/ 0 w 92"/>
                <a:gd name="T41" fmla="*/ 127 h 682"/>
                <a:gd name="T42" fmla="*/ 0 w 92"/>
                <a:gd name="T43" fmla="*/ 142 h 682"/>
                <a:gd name="T44" fmla="*/ 0 w 92"/>
                <a:gd name="T45" fmla="*/ 158 h 682"/>
                <a:gd name="T46" fmla="*/ 0 w 92"/>
                <a:gd name="T47" fmla="*/ 175 h 682"/>
                <a:gd name="T48" fmla="*/ 0 w 92"/>
                <a:gd name="T49" fmla="*/ 194 h 682"/>
                <a:gd name="T50" fmla="*/ 0 w 92"/>
                <a:gd name="T51" fmla="*/ 214 h 682"/>
                <a:gd name="T52" fmla="*/ 0 w 92"/>
                <a:gd name="T53" fmla="*/ 237 h 682"/>
                <a:gd name="T54" fmla="*/ 0 w 92"/>
                <a:gd name="T55" fmla="*/ 260 h 682"/>
                <a:gd name="T56" fmla="*/ 0 w 92"/>
                <a:gd name="T57" fmla="*/ 285 h 682"/>
                <a:gd name="T58" fmla="*/ 0 w 92"/>
                <a:gd name="T59" fmla="*/ 313 h 682"/>
                <a:gd name="T60" fmla="*/ 0 w 92"/>
                <a:gd name="T61" fmla="*/ 341 h 682"/>
                <a:gd name="T62" fmla="*/ 46 w 92"/>
                <a:gd name="T63" fmla="*/ 341 h 682"/>
                <a:gd name="T64" fmla="*/ 46 w 92"/>
                <a:gd name="T65" fmla="*/ 313 h 682"/>
                <a:gd name="T66" fmla="*/ 46 w 92"/>
                <a:gd name="T67" fmla="*/ 285 h 682"/>
                <a:gd name="T68" fmla="*/ 46 w 92"/>
                <a:gd name="T69" fmla="*/ 260 h 682"/>
                <a:gd name="T70" fmla="*/ 46 w 92"/>
                <a:gd name="T71" fmla="*/ 237 h 682"/>
                <a:gd name="T72" fmla="*/ 46 w 92"/>
                <a:gd name="T73" fmla="*/ 214 h 682"/>
                <a:gd name="T74" fmla="*/ 46 w 92"/>
                <a:gd name="T75" fmla="*/ 194 h 682"/>
                <a:gd name="T76" fmla="*/ 46 w 92"/>
                <a:gd name="T77" fmla="*/ 175 h 682"/>
                <a:gd name="T78" fmla="*/ 46 w 92"/>
                <a:gd name="T79" fmla="*/ 158 h 682"/>
                <a:gd name="T80" fmla="*/ 46 w 92"/>
                <a:gd name="T81" fmla="*/ 142 h 682"/>
                <a:gd name="T82" fmla="*/ 46 w 92"/>
                <a:gd name="T83" fmla="*/ 127 h 682"/>
                <a:gd name="T84" fmla="*/ 46 w 92"/>
                <a:gd name="T85" fmla="*/ 113 h 682"/>
                <a:gd name="T86" fmla="*/ 46 w 92"/>
                <a:gd name="T87" fmla="*/ 101 h 682"/>
                <a:gd name="T88" fmla="*/ 46 w 92"/>
                <a:gd name="T89" fmla="*/ 90 h 682"/>
                <a:gd name="T90" fmla="*/ 46 w 92"/>
                <a:gd name="T91" fmla="*/ 80 h 682"/>
                <a:gd name="T92" fmla="*/ 46 w 92"/>
                <a:gd name="T93" fmla="*/ 71 h 682"/>
                <a:gd name="T94" fmla="*/ 46 w 92"/>
                <a:gd name="T95" fmla="*/ 63 h 682"/>
                <a:gd name="T96" fmla="*/ 46 w 92"/>
                <a:gd name="T97" fmla="*/ 56 h 682"/>
                <a:gd name="T98" fmla="*/ 46 w 92"/>
                <a:gd name="T99" fmla="*/ 50 h 682"/>
                <a:gd name="T100" fmla="*/ 46 w 92"/>
                <a:gd name="T101" fmla="*/ 44 h 682"/>
                <a:gd name="T102" fmla="*/ 46 w 92"/>
                <a:gd name="T103" fmla="*/ 40 h 682"/>
                <a:gd name="T104" fmla="*/ 46 w 92"/>
                <a:gd name="T105" fmla="*/ 36 h 682"/>
                <a:gd name="T106" fmla="*/ 46 w 92"/>
                <a:gd name="T107" fmla="*/ 33 h 682"/>
                <a:gd name="T108" fmla="*/ 46 w 92"/>
                <a:gd name="T109" fmla="*/ 30 h 682"/>
                <a:gd name="T110" fmla="*/ 46 w 92"/>
                <a:gd name="T111" fmla="*/ 28 h 682"/>
                <a:gd name="T112" fmla="*/ 46 w 92"/>
                <a:gd name="T113" fmla="*/ 27 h 682"/>
                <a:gd name="T114" fmla="*/ 46 w 92"/>
                <a:gd name="T115" fmla="*/ 25 h 682"/>
                <a:gd name="T116" fmla="*/ 46 w 92"/>
                <a:gd name="T117" fmla="*/ 24 h 682"/>
                <a:gd name="T118" fmla="*/ 46 w 92"/>
                <a:gd name="T119" fmla="*/ 23 h 682"/>
                <a:gd name="T120" fmla="*/ 23 w 92"/>
                <a:gd name="T121" fmla="*/ 23 h 682"/>
                <a:gd name="T122" fmla="*/ 23 w 92"/>
                <a:gd name="T123" fmla="*/ 47 h 682"/>
                <a:gd name="T124" fmla="*/ 23 w 92"/>
                <a:gd name="T125" fmla="*/ 0 h 682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92" h="682">
                  <a:moveTo>
                    <a:pt x="46" y="0"/>
                  </a:moveTo>
                  <a:lnTo>
                    <a:pt x="46" y="46"/>
                  </a:lnTo>
                  <a:lnTo>
                    <a:pt x="0" y="46"/>
                  </a:lnTo>
                  <a:lnTo>
                    <a:pt x="0" y="48"/>
                  </a:lnTo>
                  <a:lnTo>
                    <a:pt x="0" y="49"/>
                  </a:lnTo>
                  <a:lnTo>
                    <a:pt x="0" y="53"/>
                  </a:lnTo>
                  <a:lnTo>
                    <a:pt x="0" y="56"/>
                  </a:lnTo>
                  <a:lnTo>
                    <a:pt x="0" y="60"/>
                  </a:lnTo>
                  <a:lnTo>
                    <a:pt x="0" y="65"/>
                  </a:lnTo>
                  <a:lnTo>
                    <a:pt x="0" y="71"/>
                  </a:lnTo>
                  <a:lnTo>
                    <a:pt x="0" y="79"/>
                  </a:lnTo>
                  <a:lnTo>
                    <a:pt x="0" y="88"/>
                  </a:lnTo>
                  <a:lnTo>
                    <a:pt x="0" y="99"/>
                  </a:lnTo>
                  <a:lnTo>
                    <a:pt x="0" y="111"/>
                  </a:lnTo>
                  <a:lnTo>
                    <a:pt x="0" y="125"/>
                  </a:lnTo>
                  <a:lnTo>
                    <a:pt x="0" y="141"/>
                  </a:lnTo>
                  <a:lnTo>
                    <a:pt x="0" y="159"/>
                  </a:lnTo>
                  <a:lnTo>
                    <a:pt x="0" y="179"/>
                  </a:lnTo>
                  <a:lnTo>
                    <a:pt x="0" y="201"/>
                  </a:lnTo>
                  <a:lnTo>
                    <a:pt x="0" y="225"/>
                  </a:lnTo>
                  <a:lnTo>
                    <a:pt x="0" y="253"/>
                  </a:lnTo>
                  <a:lnTo>
                    <a:pt x="0" y="283"/>
                  </a:lnTo>
                  <a:lnTo>
                    <a:pt x="0" y="315"/>
                  </a:lnTo>
                  <a:lnTo>
                    <a:pt x="0" y="349"/>
                  </a:lnTo>
                  <a:lnTo>
                    <a:pt x="0" y="388"/>
                  </a:lnTo>
                  <a:lnTo>
                    <a:pt x="0" y="428"/>
                  </a:lnTo>
                  <a:lnTo>
                    <a:pt x="0" y="473"/>
                  </a:lnTo>
                  <a:lnTo>
                    <a:pt x="0" y="520"/>
                  </a:lnTo>
                  <a:lnTo>
                    <a:pt x="0" y="570"/>
                  </a:lnTo>
                  <a:lnTo>
                    <a:pt x="0" y="625"/>
                  </a:lnTo>
                  <a:lnTo>
                    <a:pt x="0" y="682"/>
                  </a:lnTo>
                  <a:lnTo>
                    <a:pt x="92" y="682"/>
                  </a:lnTo>
                  <a:lnTo>
                    <a:pt x="92" y="625"/>
                  </a:lnTo>
                  <a:lnTo>
                    <a:pt x="92" y="570"/>
                  </a:lnTo>
                  <a:lnTo>
                    <a:pt x="92" y="520"/>
                  </a:lnTo>
                  <a:lnTo>
                    <a:pt x="92" y="473"/>
                  </a:lnTo>
                  <a:lnTo>
                    <a:pt x="92" y="428"/>
                  </a:lnTo>
                  <a:lnTo>
                    <a:pt x="92" y="388"/>
                  </a:lnTo>
                  <a:lnTo>
                    <a:pt x="92" y="349"/>
                  </a:lnTo>
                  <a:lnTo>
                    <a:pt x="92" y="315"/>
                  </a:lnTo>
                  <a:lnTo>
                    <a:pt x="92" y="283"/>
                  </a:lnTo>
                  <a:lnTo>
                    <a:pt x="92" y="253"/>
                  </a:lnTo>
                  <a:lnTo>
                    <a:pt x="92" y="225"/>
                  </a:lnTo>
                  <a:lnTo>
                    <a:pt x="92" y="201"/>
                  </a:lnTo>
                  <a:lnTo>
                    <a:pt x="92" y="179"/>
                  </a:lnTo>
                  <a:lnTo>
                    <a:pt x="92" y="159"/>
                  </a:lnTo>
                  <a:lnTo>
                    <a:pt x="92" y="141"/>
                  </a:lnTo>
                  <a:lnTo>
                    <a:pt x="92" y="125"/>
                  </a:lnTo>
                  <a:lnTo>
                    <a:pt x="92" y="111"/>
                  </a:lnTo>
                  <a:lnTo>
                    <a:pt x="92" y="99"/>
                  </a:lnTo>
                  <a:lnTo>
                    <a:pt x="92" y="88"/>
                  </a:lnTo>
                  <a:lnTo>
                    <a:pt x="92" y="79"/>
                  </a:lnTo>
                  <a:lnTo>
                    <a:pt x="92" y="71"/>
                  </a:lnTo>
                  <a:lnTo>
                    <a:pt x="92" y="65"/>
                  </a:lnTo>
                  <a:lnTo>
                    <a:pt x="92" y="60"/>
                  </a:lnTo>
                  <a:lnTo>
                    <a:pt x="92" y="56"/>
                  </a:lnTo>
                  <a:lnTo>
                    <a:pt x="92" y="53"/>
                  </a:lnTo>
                  <a:lnTo>
                    <a:pt x="92" y="49"/>
                  </a:lnTo>
                  <a:lnTo>
                    <a:pt x="92" y="48"/>
                  </a:lnTo>
                  <a:lnTo>
                    <a:pt x="92" y="46"/>
                  </a:lnTo>
                  <a:lnTo>
                    <a:pt x="46" y="46"/>
                  </a:lnTo>
                  <a:lnTo>
                    <a:pt x="46" y="93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FF6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272" name="Freeform 26"/>
            <p:cNvSpPr>
              <a:spLocks/>
            </p:cNvSpPr>
            <p:nvPr/>
          </p:nvSpPr>
          <p:spPr bwMode="auto">
            <a:xfrm>
              <a:off x="4002" y="2008"/>
              <a:ext cx="313" cy="46"/>
            </a:xfrm>
            <a:custGeom>
              <a:avLst/>
              <a:gdLst>
                <a:gd name="T0" fmla="*/ 290 w 626"/>
                <a:gd name="T1" fmla="*/ 23 h 93"/>
                <a:gd name="T2" fmla="*/ 289 w 626"/>
                <a:gd name="T3" fmla="*/ 0 h 93"/>
                <a:gd name="T4" fmla="*/ 288 w 626"/>
                <a:gd name="T5" fmla="*/ 0 h 93"/>
                <a:gd name="T6" fmla="*/ 285 w 626"/>
                <a:gd name="T7" fmla="*/ 0 h 93"/>
                <a:gd name="T8" fmla="*/ 281 w 626"/>
                <a:gd name="T9" fmla="*/ 0 h 93"/>
                <a:gd name="T10" fmla="*/ 275 w 626"/>
                <a:gd name="T11" fmla="*/ 0 h 93"/>
                <a:gd name="T12" fmla="*/ 265 w 626"/>
                <a:gd name="T13" fmla="*/ 0 h 93"/>
                <a:gd name="T14" fmla="*/ 254 w 626"/>
                <a:gd name="T15" fmla="*/ 0 h 93"/>
                <a:gd name="T16" fmla="*/ 238 w 626"/>
                <a:gd name="T17" fmla="*/ 0 h 93"/>
                <a:gd name="T18" fmla="*/ 219 w 626"/>
                <a:gd name="T19" fmla="*/ 0 h 93"/>
                <a:gd name="T20" fmla="*/ 196 w 626"/>
                <a:gd name="T21" fmla="*/ 0 h 93"/>
                <a:gd name="T22" fmla="*/ 168 w 626"/>
                <a:gd name="T23" fmla="*/ 0 h 93"/>
                <a:gd name="T24" fmla="*/ 134 w 626"/>
                <a:gd name="T25" fmla="*/ 0 h 93"/>
                <a:gd name="T26" fmla="*/ 96 w 626"/>
                <a:gd name="T27" fmla="*/ 0 h 93"/>
                <a:gd name="T28" fmla="*/ 51 w 626"/>
                <a:gd name="T29" fmla="*/ 0 h 93"/>
                <a:gd name="T30" fmla="*/ 0 w 626"/>
                <a:gd name="T31" fmla="*/ 0 h 93"/>
                <a:gd name="T32" fmla="*/ 27 w 626"/>
                <a:gd name="T33" fmla="*/ 46 h 93"/>
                <a:gd name="T34" fmla="*/ 74 w 626"/>
                <a:gd name="T35" fmla="*/ 46 h 93"/>
                <a:gd name="T36" fmla="*/ 116 w 626"/>
                <a:gd name="T37" fmla="*/ 46 h 93"/>
                <a:gd name="T38" fmla="*/ 152 w 626"/>
                <a:gd name="T39" fmla="*/ 46 h 93"/>
                <a:gd name="T40" fmla="*/ 182 w 626"/>
                <a:gd name="T41" fmla="*/ 46 h 93"/>
                <a:gd name="T42" fmla="*/ 208 w 626"/>
                <a:gd name="T43" fmla="*/ 46 h 93"/>
                <a:gd name="T44" fmla="*/ 229 w 626"/>
                <a:gd name="T45" fmla="*/ 46 h 93"/>
                <a:gd name="T46" fmla="*/ 246 w 626"/>
                <a:gd name="T47" fmla="*/ 46 h 93"/>
                <a:gd name="T48" fmla="*/ 260 w 626"/>
                <a:gd name="T49" fmla="*/ 46 h 93"/>
                <a:gd name="T50" fmla="*/ 270 w 626"/>
                <a:gd name="T51" fmla="*/ 46 h 93"/>
                <a:gd name="T52" fmla="*/ 278 w 626"/>
                <a:gd name="T53" fmla="*/ 46 h 93"/>
                <a:gd name="T54" fmla="*/ 283 w 626"/>
                <a:gd name="T55" fmla="*/ 46 h 93"/>
                <a:gd name="T56" fmla="*/ 287 w 626"/>
                <a:gd name="T57" fmla="*/ 46 h 93"/>
                <a:gd name="T58" fmla="*/ 289 w 626"/>
                <a:gd name="T59" fmla="*/ 46 h 93"/>
                <a:gd name="T60" fmla="*/ 290 w 626"/>
                <a:gd name="T61" fmla="*/ 46 h 93"/>
                <a:gd name="T62" fmla="*/ 267 w 626"/>
                <a:gd name="T63" fmla="*/ 23 h 93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626" h="93">
                  <a:moveTo>
                    <a:pt x="626" y="46"/>
                  </a:moveTo>
                  <a:lnTo>
                    <a:pt x="580" y="46"/>
                  </a:lnTo>
                  <a:lnTo>
                    <a:pt x="580" y="0"/>
                  </a:lnTo>
                  <a:lnTo>
                    <a:pt x="578" y="0"/>
                  </a:lnTo>
                  <a:lnTo>
                    <a:pt x="577" y="0"/>
                  </a:lnTo>
                  <a:lnTo>
                    <a:pt x="575" y="0"/>
                  </a:lnTo>
                  <a:lnTo>
                    <a:pt x="574" y="0"/>
                  </a:lnTo>
                  <a:lnTo>
                    <a:pt x="570" y="0"/>
                  </a:lnTo>
                  <a:lnTo>
                    <a:pt x="566" y="0"/>
                  </a:lnTo>
                  <a:lnTo>
                    <a:pt x="561" y="0"/>
                  </a:lnTo>
                  <a:lnTo>
                    <a:pt x="555" y="0"/>
                  </a:lnTo>
                  <a:lnTo>
                    <a:pt x="549" y="0"/>
                  </a:lnTo>
                  <a:lnTo>
                    <a:pt x="540" y="0"/>
                  </a:lnTo>
                  <a:lnTo>
                    <a:pt x="530" y="0"/>
                  </a:lnTo>
                  <a:lnTo>
                    <a:pt x="520" y="0"/>
                  </a:lnTo>
                  <a:lnTo>
                    <a:pt x="507" y="0"/>
                  </a:lnTo>
                  <a:lnTo>
                    <a:pt x="492" y="0"/>
                  </a:lnTo>
                  <a:lnTo>
                    <a:pt x="476" y="0"/>
                  </a:lnTo>
                  <a:lnTo>
                    <a:pt x="458" y="0"/>
                  </a:lnTo>
                  <a:lnTo>
                    <a:pt x="438" y="0"/>
                  </a:lnTo>
                  <a:lnTo>
                    <a:pt x="416" y="0"/>
                  </a:lnTo>
                  <a:lnTo>
                    <a:pt x="392" y="0"/>
                  </a:lnTo>
                  <a:lnTo>
                    <a:pt x="364" y="0"/>
                  </a:lnTo>
                  <a:lnTo>
                    <a:pt x="335" y="0"/>
                  </a:lnTo>
                  <a:lnTo>
                    <a:pt x="304" y="0"/>
                  </a:lnTo>
                  <a:lnTo>
                    <a:pt x="268" y="0"/>
                  </a:lnTo>
                  <a:lnTo>
                    <a:pt x="231" y="0"/>
                  </a:lnTo>
                  <a:lnTo>
                    <a:pt x="191" y="0"/>
                  </a:lnTo>
                  <a:lnTo>
                    <a:pt x="148" y="0"/>
                  </a:lnTo>
                  <a:lnTo>
                    <a:pt x="102" y="0"/>
                  </a:lnTo>
                  <a:lnTo>
                    <a:pt x="53" y="0"/>
                  </a:lnTo>
                  <a:lnTo>
                    <a:pt x="0" y="0"/>
                  </a:lnTo>
                  <a:lnTo>
                    <a:pt x="0" y="93"/>
                  </a:lnTo>
                  <a:lnTo>
                    <a:pt x="53" y="93"/>
                  </a:lnTo>
                  <a:lnTo>
                    <a:pt x="102" y="93"/>
                  </a:lnTo>
                  <a:lnTo>
                    <a:pt x="148" y="93"/>
                  </a:lnTo>
                  <a:lnTo>
                    <a:pt x="191" y="93"/>
                  </a:lnTo>
                  <a:lnTo>
                    <a:pt x="231" y="93"/>
                  </a:lnTo>
                  <a:lnTo>
                    <a:pt x="268" y="93"/>
                  </a:lnTo>
                  <a:lnTo>
                    <a:pt x="304" y="93"/>
                  </a:lnTo>
                  <a:lnTo>
                    <a:pt x="335" y="93"/>
                  </a:lnTo>
                  <a:lnTo>
                    <a:pt x="364" y="93"/>
                  </a:lnTo>
                  <a:lnTo>
                    <a:pt x="392" y="93"/>
                  </a:lnTo>
                  <a:lnTo>
                    <a:pt x="416" y="93"/>
                  </a:lnTo>
                  <a:lnTo>
                    <a:pt x="438" y="93"/>
                  </a:lnTo>
                  <a:lnTo>
                    <a:pt x="458" y="93"/>
                  </a:lnTo>
                  <a:lnTo>
                    <a:pt x="476" y="93"/>
                  </a:lnTo>
                  <a:lnTo>
                    <a:pt x="492" y="93"/>
                  </a:lnTo>
                  <a:lnTo>
                    <a:pt x="507" y="93"/>
                  </a:lnTo>
                  <a:lnTo>
                    <a:pt x="520" y="93"/>
                  </a:lnTo>
                  <a:lnTo>
                    <a:pt x="530" y="93"/>
                  </a:lnTo>
                  <a:lnTo>
                    <a:pt x="540" y="93"/>
                  </a:lnTo>
                  <a:lnTo>
                    <a:pt x="549" y="93"/>
                  </a:lnTo>
                  <a:lnTo>
                    <a:pt x="555" y="93"/>
                  </a:lnTo>
                  <a:lnTo>
                    <a:pt x="561" y="93"/>
                  </a:lnTo>
                  <a:lnTo>
                    <a:pt x="566" y="93"/>
                  </a:lnTo>
                  <a:lnTo>
                    <a:pt x="570" y="93"/>
                  </a:lnTo>
                  <a:lnTo>
                    <a:pt x="574" y="93"/>
                  </a:lnTo>
                  <a:lnTo>
                    <a:pt x="575" y="93"/>
                  </a:lnTo>
                  <a:lnTo>
                    <a:pt x="577" y="93"/>
                  </a:lnTo>
                  <a:lnTo>
                    <a:pt x="578" y="93"/>
                  </a:lnTo>
                  <a:lnTo>
                    <a:pt x="580" y="93"/>
                  </a:lnTo>
                  <a:lnTo>
                    <a:pt x="580" y="46"/>
                  </a:lnTo>
                  <a:lnTo>
                    <a:pt x="534" y="46"/>
                  </a:lnTo>
                  <a:lnTo>
                    <a:pt x="626" y="46"/>
                  </a:lnTo>
                  <a:close/>
                </a:path>
              </a:pathLst>
            </a:custGeom>
            <a:solidFill>
              <a:srgbClr val="FF6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273" name="Freeform 27"/>
            <p:cNvSpPr>
              <a:spLocks/>
            </p:cNvSpPr>
            <p:nvPr/>
          </p:nvSpPr>
          <p:spPr bwMode="auto">
            <a:xfrm>
              <a:off x="4269" y="2031"/>
              <a:ext cx="46" cy="173"/>
            </a:xfrm>
            <a:custGeom>
              <a:avLst/>
              <a:gdLst>
                <a:gd name="T0" fmla="*/ 23 w 92"/>
                <a:gd name="T1" fmla="*/ 173 h 348"/>
                <a:gd name="T2" fmla="*/ 46 w 92"/>
                <a:gd name="T3" fmla="*/ 172 h 348"/>
                <a:gd name="T4" fmla="*/ 46 w 92"/>
                <a:gd name="T5" fmla="*/ 172 h 348"/>
                <a:gd name="T6" fmla="*/ 46 w 92"/>
                <a:gd name="T7" fmla="*/ 171 h 348"/>
                <a:gd name="T8" fmla="*/ 46 w 92"/>
                <a:gd name="T9" fmla="*/ 170 h 348"/>
                <a:gd name="T10" fmla="*/ 46 w 92"/>
                <a:gd name="T11" fmla="*/ 169 h 348"/>
                <a:gd name="T12" fmla="*/ 46 w 92"/>
                <a:gd name="T13" fmla="*/ 168 h 348"/>
                <a:gd name="T14" fmla="*/ 46 w 92"/>
                <a:gd name="T15" fmla="*/ 165 h 348"/>
                <a:gd name="T16" fmla="*/ 46 w 92"/>
                <a:gd name="T17" fmla="*/ 164 h 348"/>
                <a:gd name="T18" fmla="*/ 46 w 92"/>
                <a:gd name="T19" fmla="*/ 161 h 348"/>
                <a:gd name="T20" fmla="*/ 46 w 92"/>
                <a:gd name="T21" fmla="*/ 158 h 348"/>
                <a:gd name="T22" fmla="*/ 46 w 92"/>
                <a:gd name="T23" fmla="*/ 155 h 348"/>
                <a:gd name="T24" fmla="*/ 46 w 92"/>
                <a:gd name="T25" fmla="*/ 151 h 348"/>
                <a:gd name="T26" fmla="*/ 46 w 92"/>
                <a:gd name="T27" fmla="*/ 147 h 348"/>
                <a:gd name="T28" fmla="*/ 46 w 92"/>
                <a:gd name="T29" fmla="*/ 141 h 348"/>
                <a:gd name="T30" fmla="*/ 46 w 92"/>
                <a:gd name="T31" fmla="*/ 136 h 348"/>
                <a:gd name="T32" fmla="*/ 46 w 92"/>
                <a:gd name="T33" fmla="*/ 131 h 348"/>
                <a:gd name="T34" fmla="*/ 46 w 92"/>
                <a:gd name="T35" fmla="*/ 124 h 348"/>
                <a:gd name="T36" fmla="*/ 46 w 92"/>
                <a:gd name="T37" fmla="*/ 116 h 348"/>
                <a:gd name="T38" fmla="*/ 46 w 92"/>
                <a:gd name="T39" fmla="*/ 108 h 348"/>
                <a:gd name="T40" fmla="*/ 46 w 92"/>
                <a:gd name="T41" fmla="*/ 100 h 348"/>
                <a:gd name="T42" fmla="*/ 46 w 92"/>
                <a:gd name="T43" fmla="*/ 90 h 348"/>
                <a:gd name="T44" fmla="*/ 46 w 92"/>
                <a:gd name="T45" fmla="*/ 80 h 348"/>
                <a:gd name="T46" fmla="*/ 46 w 92"/>
                <a:gd name="T47" fmla="*/ 69 h 348"/>
                <a:gd name="T48" fmla="*/ 46 w 92"/>
                <a:gd name="T49" fmla="*/ 57 h 348"/>
                <a:gd name="T50" fmla="*/ 46 w 92"/>
                <a:gd name="T51" fmla="*/ 44 h 348"/>
                <a:gd name="T52" fmla="*/ 46 w 92"/>
                <a:gd name="T53" fmla="*/ 30 h 348"/>
                <a:gd name="T54" fmla="*/ 46 w 92"/>
                <a:gd name="T55" fmla="*/ 15 h 348"/>
                <a:gd name="T56" fmla="*/ 46 w 92"/>
                <a:gd name="T57" fmla="*/ 0 h 348"/>
                <a:gd name="T58" fmla="*/ 0 w 92"/>
                <a:gd name="T59" fmla="*/ 0 h 348"/>
                <a:gd name="T60" fmla="*/ 0 w 92"/>
                <a:gd name="T61" fmla="*/ 15 h 348"/>
                <a:gd name="T62" fmla="*/ 0 w 92"/>
                <a:gd name="T63" fmla="*/ 30 h 348"/>
                <a:gd name="T64" fmla="*/ 0 w 92"/>
                <a:gd name="T65" fmla="*/ 44 h 348"/>
                <a:gd name="T66" fmla="*/ 0 w 92"/>
                <a:gd name="T67" fmla="*/ 57 h 348"/>
                <a:gd name="T68" fmla="*/ 0 w 92"/>
                <a:gd name="T69" fmla="*/ 69 h 348"/>
                <a:gd name="T70" fmla="*/ 0 w 92"/>
                <a:gd name="T71" fmla="*/ 80 h 348"/>
                <a:gd name="T72" fmla="*/ 0 w 92"/>
                <a:gd name="T73" fmla="*/ 90 h 348"/>
                <a:gd name="T74" fmla="*/ 0 w 92"/>
                <a:gd name="T75" fmla="*/ 100 h 348"/>
                <a:gd name="T76" fmla="*/ 0 w 92"/>
                <a:gd name="T77" fmla="*/ 108 h 348"/>
                <a:gd name="T78" fmla="*/ 0 w 92"/>
                <a:gd name="T79" fmla="*/ 116 h 348"/>
                <a:gd name="T80" fmla="*/ 0 w 92"/>
                <a:gd name="T81" fmla="*/ 124 h 348"/>
                <a:gd name="T82" fmla="*/ 0 w 92"/>
                <a:gd name="T83" fmla="*/ 131 h 348"/>
                <a:gd name="T84" fmla="*/ 0 w 92"/>
                <a:gd name="T85" fmla="*/ 136 h 348"/>
                <a:gd name="T86" fmla="*/ 0 w 92"/>
                <a:gd name="T87" fmla="*/ 141 h 348"/>
                <a:gd name="T88" fmla="*/ 0 w 92"/>
                <a:gd name="T89" fmla="*/ 147 h 348"/>
                <a:gd name="T90" fmla="*/ 0 w 92"/>
                <a:gd name="T91" fmla="*/ 151 h 348"/>
                <a:gd name="T92" fmla="*/ 0 w 92"/>
                <a:gd name="T93" fmla="*/ 155 h 348"/>
                <a:gd name="T94" fmla="*/ 0 w 92"/>
                <a:gd name="T95" fmla="*/ 158 h 348"/>
                <a:gd name="T96" fmla="*/ 0 w 92"/>
                <a:gd name="T97" fmla="*/ 161 h 348"/>
                <a:gd name="T98" fmla="*/ 0 w 92"/>
                <a:gd name="T99" fmla="*/ 164 h 348"/>
                <a:gd name="T100" fmla="*/ 0 w 92"/>
                <a:gd name="T101" fmla="*/ 165 h 348"/>
                <a:gd name="T102" fmla="*/ 0 w 92"/>
                <a:gd name="T103" fmla="*/ 168 h 348"/>
                <a:gd name="T104" fmla="*/ 0 w 92"/>
                <a:gd name="T105" fmla="*/ 169 h 348"/>
                <a:gd name="T106" fmla="*/ 0 w 92"/>
                <a:gd name="T107" fmla="*/ 170 h 348"/>
                <a:gd name="T108" fmla="*/ 0 w 92"/>
                <a:gd name="T109" fmla="*/ 171 h 348"/>
                <a:gd name="T110" fmla="*/ 0 w 92"/>
                <a:gd name="T111" fmla="*/ 172 h 348"/>
                <a:gd name="T112" fmla="*/ 0 w 92"/>
                <a:gd name="T113" fmla="*/ 172 h 348"/>
                <a:gd name="T114" fmla="*/ 23 w 92"/>
                <a:gd name="T115" fmla="*/ 173 h 348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92" h="348">
                  <a:moveTo>
                    <a:pt x="46" y="348"/>
                  </a:moveTo>
                  <a:lnTo>
                    <a:pt x="92" y="346"/>
                  </a:lnTo>
                  <a:lnTo>
                    <a:pt x="92" y="345"/>
                  </a:lnTo>
                  <a:lnTo>
                    <a:pt x="92" y="343"/>
                  </a:lnTo>
                  <a:lnTo>
                    <a:pt x="92" y="342"/>
                  </a:lnTo>
                  <a:lnTo>
                    <a:pt x="92" y="339"/>
                  </a:lnTo>
                  <a:lnTo>
                    <a:pt x="92" y="337"/>
                  </a:lnTo>
                  <a:lnTo>
                    <a:pt x="92" y="332"/>
                  </a:lnTo>
                  <a:lnTo>
                    <a:pt x="92" y="329"/>
                  </a:lnTo>
                  <a:lnTo>
                    <a:pt x="92" y="323"/>
                  </a:lnTo>
                  <a:lnTo>
                    <a:pt x="92" y="318"/>
                  </a:lnTo>
                  <a:lnTo>
                    <a:pt x="92" y="311"/>
                  </a:lnTo>
                  <a:lnTo>
                    <a:pt x="92" y="303"/>
                  </a:lnTo>
                  <a:lnTo>
                    <a:pt x="92" y="295"/>
                  </a:lnTo>
                  <a:lnTo>
                    <a:pt x="92" y="284"/>
                  </a:lnTo>
                  <a:lnTo>
                    <a:pt x="92" y="274"/>
                  </a:lnTo>
                  <a:lnTo>
                    <a:pt x="92" y="263"/>
                  </a:lnTo>
                  <a:lnTo>
                    <a:pt x="92" y="249"/>
                  </a:lnTo>
                  <a:lnTo>
                    <a:pt x="92" y="234"/>
                  </a:lnTo>
                  <a:lnTo>
                    <a:pt x="92" y="218"/>
                  </a:lnTo>
                  <a:lnTo>
                    <a:pt x="92" y="201"/>
                  </a:lnTo>
                  <a:lnTo>
                    <a:pt x="92" y="181"/>
                  </a:lnTo>
                  <a:lnTo>
                    <a:pt x="92" y="161"/>
                  </a:lnTo>
                  <a:lnTo>
                    <a:pt x="92" y="138"/>
                  </a:lnTo>
                  <a:lnTo>
                    <a:pt x="92" y="115"/>
                  </a:lnTo>
                  <a:lnTo>
                    <a:pt x="92" y="88"/>
                  </a:lnTo>
                  <a:lnTo>
                    <a:pt x="92" y="61"/>
                  </a:lnTo>
                  <a:lnTo>
                    <a:pt x="92" y="31"/>
                  </a:lnTo>
                  <a:lnTo>
                    <a:pt x="92" y="0"/>
                  </a:lnTo>
                  <a:lnTo>
                    <a:pt x="0" y="0"/>
                  </a:lnTo>
                  <a:lnTo>
                    <a:pt x="0" y="31"/>
                  </a:lnTo>
                  <a:lnTo>
                    <a:pt x="0" y="61"/>
                  </a:lnTo>
                  <a:lnTo>
                    <a:pt x="0" y="88"/>
                  </a:lnTo>
                  <a:lnTo>
                    <a:pt x="0" y="115"/>
                  </a:lnTo>
                  <a:lnTo>
                    <a:pt x="0" y="138"/>
                  </a:lnTo>
                  <a:lnTo>
                    <a:pt x="0" y="161"/>
                  </a:lnTo>
                  <a:lnTo>
                    <a:pt x="0" y="181"/>
                  </a:lnTo>
                  <a:lnTo>
                    <a:pt x="0" y="201"/>
                  </a:lnTo>
                  <a:lnTo>
                    <a:pt x="0" y="218"/>
                  </a:lnTo>
                  <a:lnTo>
                    <a:pt x="0" y="234"/>
                  </a:lnTo>
                  <a:lnTo>
                    <a:pt x="0" y="249"/>
                  </a:lnTo>
                  <a:lnTo>
                    <a:pt x="0" y="263"/>
                  </a:lnTo>
                  <a:lnTo>
                    <a:pt x="0" y="274"/>
                  </a:lnTo>
                  <a:lnTo>
                    <a:pt x="0" y="284"/>
                  </a:lnTo>
                  <a:lnTo>
                    <a:pt x="0" y="295"/>
                  </a:lnTo>
                  <a:lnTo>
                    <a:pt x="0" y="303"/>
                  </a:lnTo>
                  <a:lnTo>
                    <a:pt x="0" y="311"/>
                  </a:lnTo>
                  <a:lnTo>
                    <a:pt x="0" y="318"/>
                  </a:lnTo>
                  <a:lnTo>
                    <a:pt x="0" y="323"/>
                  </a:lnTo>
                  <a:lnTo>
                    <a:pt x="0" y="329"/>
                  </a:lnTo>
                  <a:lnTo>
                    <a:pt x="0" y="332"/>
                  </a:lnTo>
                  <a:lnTo>
                    <a:pt x="0" y="337"/>
                  </a:lnTo>
                  <a:lnTo>
                    <a:pt x="0" y="339"/>
                  </a:lnTo>
                  <a:lnTo>
                    <a:pt x="0" y="342"/>
                  </a:lnTo>
                  <a:lnTo>
                    <a:pt x="0" y="343"/>
                  </a:lnTo>
                  <a:lnTo>
                    <a:pt x="0" y="345"/>
                  </a:lnTo>
                  <a:lnTo>
                    <a:pt x="0" y="346"/>
                  </a:lnTo>
                  <a:lnTo>
                    <a:pt x="46" y="348"/>
                  </a:lnTo>
                  <a:close/>
                </a:path>
              </a:pathLst>
            </a:custGeom>
            <a:solidFill>
              <a:srgbClr val="FF6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274" name="Freeform 28"/>
            <p:cNvSpPr>
              <a:spLocks/>
            </p:cNvSpPr>
            <p:nvPr/>
          </p:nvSpPr>
          <p:spPr bwMode="auto">
            <a:xfrm>
              <a:off x="3835" y="1857"/>
              <a:ext cx="46" cy="718"/>
            </a:xfrm>
            <a:custGeom>
              <a:avLst/>
              <a:gdLst>
                <a:gd name="T0" fmla="*/ 23 w 92"/>
                <a:gd name="T1" fmla="*/ 695 h 1436"/>
                <a:gd name="T2" fmla="*/ 46 w 92"/>
                <a:gd name="T3" fmla="*/ 693 h 1436"/>
                <a:gd name="T4" fmla="*/ 46 w 92"/>
                <a:gd name="T5" fmla="*/ 690 h 1436"/>
                <a:gd name="T6" fmla="*/ 46 w 92"/>
                <a:gd name="T7" fmla="*/ 683 h 1436"/>
                <a:gd name="T8" fmla="*/ 46 w 92"/>
                <a:gd name="T9" fmla="*/ 673 h 1436"/>
                <a:gd name="T10" fmla="*/ 46 w 92"/>
                <a:gd name="T11" fmla="*/ 658 h 1436"/>
                <a:gd name="T12" fmla="*/ 46 w 92"/>
                <a:gd name="T13" fmla="*/ 636 h 1436"/>
                <a:gd name="T14" fmla="*/ 46 w 92"/>
                <a:gd name="T15" fmla="*/ 608 h 1436"/>
                <a:gd name="T16" fmla="*/ 46 w 92"/>
                <a:gd name="T17" fmla="*/ 571 h 1436"/>
                <a:gd name="T18" fmla="*/ 46 w 92"/>
                <a:gd name="T19" fmla="*/ 525 h 1436"/>
                <a:gd name="T20" fmla="*/ 46 w 92"/>
                <a:gd name="T21" fmla="*/ 469 h 1436"/>
                <a:gd name="T22" fmla="*/ 46 w 92"/>
                <a:gd name="T23" fmla="*/ 402 h 1436"/>
                <a:gd name="T24" fmla="*/ 46 w 92"/>
                <a:gd name="T25" fmla="*/ 322 h 1436"/>
                <a:gd name="T26" fmla="*/ 46 w 92"/>
                <a:gd name="T27" fmla="*/ 230 h 1436"/>
                <a:gd name="T28" fmla="*/ 46 w 92"/>
                <a:gd name="T29" fmla="*/ 122 h 1436"/>
                <a:gd name="T30" fmla="*/ 46 w 92"/>
                <a:gd name="T31" fmla="*/ 0 h 1436"/>
                <a:gd name="T32" fmla="*/ 0 w 92"/>
                <a:gd name="T33" fmla="*/ 63 h 1436"/>
                <a:gd name="T34" fmla="*/ 0 w 92"/>
                <a:gd name="T35" fmla="*/ 178 h 1436"/>
                <a:gd name="T36" fmla="*/ 0 w 92"/>
                <a:gd name="T37" fmla="*/ 277 h 1436"/>
                <a:gd name="T38" fmla="*/ 0 w 92"/>
                <a:gd name="T39" fmla="*/ 363 h 1436"/>
                <a:gd name="T40" fmla="*/ 0 w 92"/>
                <a:gd name="T41" fmla="*/ 436 h 1436"/>
                <a:gd name="T42" fmla="*/ 0 w 92"/>
                <a:gd name="T43" fmla="*/ 498 h 1436"/>
                <a:gd name="T44" fmla="*/ 0 w 92"/>
                <a:gd name="T45" fmla="*/ 549 h 1436"/>
                <a:gd name="T46" fmla="*/ 0 w 92"/>
                <a:gd name="T47" fmla="*/ 591 h 1436"/>
                <a:gd name="T48" fmla="*/ 0 w 92"/>
                <a:gd name="T49" fmla="*/ 623 h 1436"/>
                <a:gd name="T50" fmla="*/ 0 w 92"/>
                <a:gd name="T51" fmla="*/ 648 h 1436"/>
                <a:gd name="T52" fmla="*/ 0 w 92"/>
                <a:gd name="T53" fmla="*/ 666 h 1436"/>
                <a:gd name="T54" fmla="*/ 0 w 92"/>
                <a:gd name="T55" fmla="*/ 679 h 1436"/>
                <a:gd name="T56" fmla="*/ 0 w 92"/>
                <a:gd name="T57" fmla="*/ 687 h 1436"/>
                <a:gd name="T58" fmla="*/ 0 w 92"/>
                <a:gd name="T59" fmla="*/ 692 h 1436"/>
                <a:gd name="T60" fmla="*/ 0 w 92"/>
                <a:gd name="T61" fmla="*/ 694 h 1436"/>
                <a:gd name="T62" fmla="*/ 23 w 92"/>
                <a:gd name="T63" fmla="*/ 718 h 14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92" h="1436">
                  <a:moveTo>
                    <a:pt x="46" y="1343"/>
                  </a:moveTo>
                  <a:lnTo>
                    <a:pt x="46" y="1390"/>
                  </a:lnTo>
                  <a:lnTo>
                    <a:pt x="92" y="1388"/>
                  </a:lnTo>
                  <a:lnTo>
                    <a:pt x="92" y="1386"/>
                  </a:lnTo>
                  <a:lnTo>
                    <a:pt x="92" y="1383"/>
                  </a:lnTo>
                  <a:lnTo>
                    <a:pt x="92" y="1380"/>
                  </a:lnTo>
                  <a:lnTo>
                    <a:pt x="92" y="1374"/>
                  </a:lnTo>
                  <a:lnTo>
                    <a:pt x="92" y="1366"/>
                  </a:lnTo>
                  <a:lnTo>
                    <a:pt x="92" y="1357"/>
                  </a:lnTo>
                  <a:lnTo>
                    <a:pt x="92" y="1346"/>
                  </a:lnTo>
                  <a:lnTo>
                    <a:pt x="92" y="1332"/>
                  </a:lnTo>
                  <a:lnTo>
                    <a:pt x="92" y="1315"/>
                  </a:lnTo>
                  <a:lnTo>
                    <a:pt x="92" y="1295"/>
                  </a:lnTo>
                  <a:lnTo>
                    <a:pt x="92" y="1272"/>
                  </a:lnTo>
                  <a:lnTo>
                    <a:pt x="92" y="1246"/>
                  </a:lnTo>
                  <a:lnTo>
                    <a:pt x="92" y="1215"/>
                  </a:lnTo>
                  <a:lnTo>
                    <a:pt x="92" y="1181"/>
                  </a:lnTo>
                  <a:lnTo>
                    <a:pt x="92" y="1141"/>
                  </a:lnTo>
                  <a:lnTo>
                    <a:pt x="92" y="1098"/>
                  </a:lnTo>
                  <a:lnTo>
                    <a:pt x="92" y="1050"/>
                  </a:lnTo>
                  <a:lnTo>
                    <a:pt x="92" y="996"/>
                  </a:lnTo>
                  <a:lnTo>
                    <a:pt x="92" y="937"/>
                  </a:lnTo>
                  <a:lnTo>
                    <a:pt x="92" y="872"/>
                  </a:lnTo>
                  <a:lnTo>
                    <a:pt x="92" y="803"/>
                  </a:lnTo>
                  <a:lnTo>
                    <a:pt x="92" y="726"/>
                  </a:lnTo>
                  <a:lnTo>
                    <a:pt x="92" y="644"/>
                  </a:lnTo>
                  <a:lnTo>
                    <a:pt x="92" y="554"/>
                  </a:lnTo>
                  <a:lnTo>
                    <a:pt x="92" y="459"/>
                  </a:lnTo>
                  <a:lnTo>
                    <a:pt x="92" y="355"/>
                  </a:lnTo>
                  <a:lnTo>
                    <a:pt x="92" y="244"/>
                  </a:lnTo>
                  <a:lnTo>
                    <a:pt x="92" y="125"/>
                  </a:lnTo>
                  <a:lnTo>
                    <a:pt x="92" y="0"/>
                  </a:lnTo>
                  <a:lnTo>
                    <a:pt x="0" y="0"/>
                  </a:lnTo>
                  <a:lnTo>
                    <a:pt x="0" y="125"/>
                  </a:lnTo>
                  <a:lnTo>
                    <a:pt x="0" y="244"/>
                  </a:lnTo>
                  <a:lnTo>
                    <a:pt x="0" y="355"/>
                  </a:lnTo>
                  <a:lnTo>
                    <a:pt x="0" y="459"/>
                  </a:lnTo>
                  <a:lnTo>
                    <a:pt x="0" y="554"/>
                  </a:lnTo>
                  <a:lnTo>
                    <a:pt x="0" y="644"/>
                  </a:lnTo>
                  <a:lnTo>
                    <a:pt x="0" y="726"/>
                  </a:lnTo>
                  <a:lnTo>
                    <a:pt x="0" y="803"/>
                  </a:lnTo>
                  <a:lnTo>
                    <a:pt x="0" y="872"/>
                  </a:lnTo>
                  <a:lnTo>
                    <a:pt x="0" y="937"/>
                  </a:lnTo>
                  <a:lnTo>
                    <a:pt x="0" y="996"/>
                  </a:lnTo>
                  <a:lnTo>
                    <a:pt x="0" y="1050"/>
                  </a:lnTo>
                  <a:lnTo>
                    <a:pt x="0" y="1098"/>
                  </a:lnTo>
                  <a:lnTo>
                    <a:pt x="0" y="1141"/>
                  </a:lnTo>
                  <a:lnTo>
                    <a:pt x="0" y="1181"/>
                  </a:lnTo>
                  <a:lnTo>
                    <a:pt x="0" y="1215"/>
                  </a:lnTo>
                  <a:lnTo>
                    <a:pt x="0" y="1246"/>
                  </a:lnTo>
                  <a:lnTo>
                    <a:pt x="0" y="1272"/>
                  </a:lnTo>
                  <a:lnTo>
                    <a:pt x="0" y="1295"/>
                  </a:lnTo>
                  <a:lnTo>
                    <a:pt x="0" y="1315"/>
                  </a:lnTo>
                  <a:lnTo>
                    <a:pt x="0" y="1332"/>
                  </a:lnTo>
                  <a:lnTo>
                    <a:pt x="0" y="1346"/>
                  </a:lnTo>
                  <a:lnTo>
                    <a:pt x="0" y="1357"/>
                  </a:lnTo>
                  <a:lnTo>
                    <a:pt x="0" y="1366"/>
                  </a:lnTo>
                  <a:lnTo>
                    <a:pt x="0" y="1374"/>
                  </a:lnTo>
                  <a:lnTo>
                    <a:pt x="0" y="1380"/>
                  </a:lnTo>
                  <a:lnTo>
                    <a:pt x="0" y="1383"/>
                  </a:lnTo>
                  <a:lnTo>
                    <a:pt x="0" y="1386"/>
                  </a:lnTo>
                  <a:lnTo>
                    <a:pt x="0" y="1388"/>
                  </a:lnTo>
                  <a:lnTo>
                    <a:pt x="46" y="1390"/>
                  </a:lnTo>
                  <a:lnTo>
                    <a:pt x="46" y="1436"/>
                  </a:lnTo>
                  <a:lnTo>
                    <a:pt x="46" y="1343"/>
                  </a:lnTo>
                  <a:close/>
                </a:path>
              </a:pathLst>
            </a:custGeom>
            <a:solidFill>
              <a:srgbClr val="FF6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275" name="Freeform 29"/>
            <p:cNvSpPr>
              <a:spLocks/>
            </p:cNvSpPr>
            <p:nvPr/>
          </p:nvSpPr>
          <p:spPr bwMode="auto">
            <a:xfrm>
              <a:off x="3858" y="2529"/>
              <a:ext cx="809" cy="46"/>
            </a:xfrm>
            <a:custGeom>
              <a:avLst/>
              <a:gdLst>
                <a:gd name="T0" fmla="*/ 809 w 1618"/>
                <a:gd name="T1" fmla="*/ 23 h 93"/>
                <a:gd name="T2" fmla="*/ 809 w 1618"/>
                <a:gd name="T3" fmla="*/ 0 h 93"/>
                <a:gd name="T4" fmla="*/ 808 w 1618"/>
                <a:gd name="T5" fmla="*/ 0 h 93"/>
                <a:gd name="T6" fmla="*/ 806 w 1618"/>
                <a:gd name="T7" fmla="*/ 0 h 93"/>
                <a:gd name="T8" fmla="*/ 805 w 1618"/>
                <a:gd name="T9" fmla="*/ 0 h 93"/>
                <a:gd name="T10" fmla="*/ 801 w 1618"/>
                <a:gd name="T11" fmla="*/ 0 h 93"/>
                <a:gd name="T12" fmla="*/ 797 w 1618"/>
                <a:gd name="T13" fmla="*/ 0 h 93"/>
                <a:gd name="T14" fmla="*/ 792 w 1618"/>
                <a:gd name="T15" fmla="*/ 0 h 93"/>
                <a:gd name="T16" fmla="*/ 785 w 1618"/>
                <a:gd name="T17" fmla="*/ 0 h 93"/>
                <a:gd name="T18" fmla="*/ 777 w 1618"/>
                <a:gd name="T19" fmla="*/ 0 h 93"/>
                <a:gd name="T20" fmla="*/ 767 w 1618"/>
                <a:gd name="T21" fmla="*/ 0 h 93"/>
                <a:gd name="T22" fmla="*/ 755 w 1618"/>
                <a:gd name="T23" fmla="*/ 0 h 93"/>
                <a:gd name="T24" fmla="*/ 742 w 1618"/>
                <a:gd name="T25" fmla="*/ 0 h 93"/>
                <a:gd name="T26" fmla="*/ 726 w 1618"/>
                <a:gd name="T27" fmla="*/ 0 h 93"/>
                <a:gd name="T28" fmla="*/ 708 w 1618"/>
                <a:gd name="T29" fmla="*/ 0 h 93"/>
                <a:gd name="T30" fmla="*/ 688 w 1618"/>
                <a:gd name="T31" fmla="*/ 0 h 93"/>
                <a:gd name="T32" fmla="*/ 665 w 1618"/>
                <a:gd name="T33" fmla="*/ 0 h 93"/>
                <a:gd name="T34" fmla="*/ 641 w 1618"/>
                <a:gd name="T35" fmla="*/ 0 h 93"/>
                <a:gd name="T36" fmla="*/ 612 w 1618"/>
                <a:gd name="T37" fmla="*/ 0 h 93"/>
                <a:gd name="T38" fmla="*/ 581 w 1618"/>
                <a:gd name="T39" fmla="*/ 0 h 93"/>
                <a:gd name="T40" fmla="*/ 547 w 1618"/>
                <a:gd name="T41" fmla="*/ 0 h 93"/>
                <a:gd name="T42" fmla="*/ 509 w 1618"/>
                <a:gd name="T43" fmla="*/ 0 h 93"/>
                <a:gd name="T44" fmla="*/ 468 w 1618"/>
                <a:gd name="T45" fmla="*/ 0 h 93"/>
                <a:gd name="T46" fmla="*/ 423 w 1618"/>
                <a:gd name="T47" fmla="*/ 0 h 93"/>
                <a:gd name="T48" fmla="*/ 376 w 1618"/>
                <a:gd name="T49" fmla="*/ 0 h 93"/>
                <a:gd name="T50" fmla="*/ 323 w 1618"/>
                <a:gd name="T51" fmla="*/ 0 h 93"/>
                <a:gd name="T52" fmla="*/ 268 w 1618"/>
                <a:gd name="T53" fmla="*/ 0 h 93"/>
                <a:gd name="T54" fmla="*/ 207 w 1618"/>
                <a:gd name="T55" fmla="*/ 0 h 93"/>
                <a:gd name="T56" fmla="*/ 143 w 1618"/>
                <a:gd name="T57" fmla="*/ 0 h 93"/>
                <a:gd name="T58" fmla="*/ 73 w 1618"/>
                <a:gd name="T59" fmla="*/ 0 h 93"/>
                <a:gd name="T60" fmla="*/ 0 w 1618"/>
                <a:gd name="T61" fmla="*/ 0 h 93"/>
                <a:gd name="T62" fmla="*/ 0 w 1618"/>
                <a:gd name="T63" fmla="*/ 46 h 93"/>
                <a:gd name="T64" fmla="*/ 73 w 1618"/>
                <a:gd name="T65" fmla="*/ 46 h 93"/>
                <a:gd name="T66" fmla="*/ 143 w 1618"/>
                <a:gd name="T67" fmla="*/ 46 h 93"/>
                <a:gd name="T68" fmla="*/ 207 w 1618"/>
                <a:gd name="T69" fmla="*/ 46 h 93"/>
                <a:gd name="T70" fmla="*/ 268 w 1618"/>
                <a:gd name="T71" fmla="*/ 46 h 93"/>
                <a:gd name="T72" fmla="*/ 323 w 1618"/>
                <a:gd name="T73" fmla="*/ 46 h 93"/>
                <a:gd name="T74" fmla="*/ 376 w 1618"/>
                <a:gd name="T75" fmla="*/ 46 h 93"/>
                <a:gd name="T76" fmla="*/ 423 w 1618"/>
                <a:gd name="T77" fmla="*/ 46 h 93"/>
                <a:gd name="T78" fmla="*/ 468 w 1618"/>
                <a:gd name="T79" fmla="*/ 46 h 93"/>
                <a:gd name="T80" fmla="*/ 509 w 1618"/>
                <a:gd name="T81" fmla="*/ 46 h 93"/>
                <a:gd name="T82" fmla="*/ 547 w 1618"/>
                <a:gd name="T83" fmla="*/ 46 h 93"/>
                <a:gd name="T84" fmla="*/ 581 w 1618"/>
                <a:gd name="T85" fmla="*/ 46 h 93"/>
                <a:gd name="T86" fmla="*/ 612 w 1618"/>
                <a:gd name="T87" fmla="*/ 46 h 93"/>
                <a:gd name="T88" fmla="*/ 641 w 1618"/>
                <a:gd name="T89" fmla="*/ 46 h 93"/>
                <a:gd name="T90" fmla="*/ 665 w 1618"/>
                <a:gd name="T91" fmla="*/ 46 h 93"/>
                <a:gd name="T92" fmla="*/ 688 w 1618"/>
                <a:gd name="T93" fmla="*/ 46 h 93"/>
                <a:gd name="T94" fmla="*/ 708 w 1618"/>
                <a:gd name="T95" fmla="*/ 46 h 93"/>
                <a:gd name="T96" fmla="*/ 726 w 1618"/>
                <a:gd name="T97" fmla="*/ 46 h 93"/>
                <a:gd name="T98" fmla="*/ 742 w 1618"/>
                <a:gd name="T99" fmla="*/ 46 h 93"/>
                <a:gd name="T100" fmla="*/ 755 w 1618"/>
                <a:gd name="T101" fmla="*/ 46 h 93"/>
                <a:gd name="T102" fmla="*/ 767 w 1618"/>
                <a:gd name="T103" fmla="*/ 46 h 93"/>
                <a:gd name="T104" fmla="*/ 777 w 1618"/>
                <a:gd name="T105" fmla="*/ 46 h 93"/>
                <a:gd name="T106" fmla="*/ 785 w 1618"/>
                <a:gd name="T107" fmla="*/ 46 h 93"/>
                <a:gd name="T108" fmla="*/ 792 w 1618"/>
                <a:gd name="T109" fmla="*/ 46 h 93"/>
                <a:gd name="T110" fmla="*/ 797 w 1618"/>
                <a:gd name="T111" fmla="*/ 46 h 93"/>
                <a:gd name="T112" fmla="*/ 801 w 1618"/>
                <a:gd name="T113" fmla="*/ 46 h 93"/>
                <a:gd name="T114" fmla="*/ 805 w 1618"/>
                <a:gd name="T115" fmla="*/ 46 h 93"/>
                <a:gd name="T116" fmla="*/ 806 w 1618"/>
                <a:gd name="T117" fmla="*/ 46 h 93"/>
                <a:gd name="T118" fmla="*/ 808 w 1618"/>
                <a:gd name="T119" fmla="*/ 46 h 93"/>
                <a:gd name="T120" fmla="*/ 809 w 1618"/>
                <a:gd name="T121" fmla="*/ 46 h 93"/>
                <a:gd name="T122" fmla="*/ 809 w 1618"/>
                <a:gd name="T123" fmla="*/ 23 h 93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1618" h="93">
                  <a:moveTo>
                    <a:pt x="1618" y="47"/>
                  </a:moveTo>
                  <a:lnTo>
                    <a:pt x="1618" y="0"/>
                  </a:lnTo>
                  <a:lnTo>
                    <a:pt x="1615" y="0"/>
                  </a:lnTo>
                  <a:lnTo>
                    <a:pt x="1612" y="0"/>
                  </a:lnTo>
                  <a:lnTo>
                    <a:pt x="1609" y="0"/>
                  </a:lnTo>
                  <a:lnTo>
                    <a:pt x="1601" y="0"/>
                  </a:lnTo>
                  <a:lnTo>
                    <a:pt x="1594" y="0"/>
                  </a:lnTo>
                  <a:lnTo>
                    <a:pt x="1583" y="0"/>
                  </a:lnTo>
                  <a:lnTo>
                    <a:pt x="1569" y="0"/>
                  </a:lnTo>
                  <a:lnTo>
                    <a:pt x="1554" y="0"/>
                  </a:lnTo>
                  <a:lnTo>
                    <a:pt x="1534" y="0"/>
                  </a:lnTo>
                  <a:lnTo>
                    <a:pt x="1510" y="0"/>
                  </a:lnTo>
                  <a:lnTo>
                    <a:pt x="1484" y="0"/>
                  </a:lnTo>
                  <a:lnTo>
                    <a:pt x="1452" y="0"/>
                  </a:lnTo>
                  <a:lnTo>
                    <a:pt x="1416" y="0"/>
                  </a:lnTo>
                  <a:lnTo>
                    <a:pt x="1376" y="0"/>
                  </a:lnTo>
                  <a:lnTo>
                    <a:pt x="1330" y="0"/>
                  </a:lnTo>
                  <a:lnTo>
                    <a:pt x="1281" y="0"/>
                  </a:lnTo>
                  <a:lnTo>
                    <a:pt x="1224" y="0"/>
                  </a:lnTo>
                  <a:lnTo>
                    <a:pt x="1162" y="0"/>
                  </a:lnTo>
                  <a:lnTo>
                    <a:pt x="1093" y="0"/>
                  </a:lnTo>
                  <a:lnTo>
                    <a:pt x="1017" y="0"/>
                  </a:lnTo>
                  <a:lnTo>
                    <a:pt x="936" y="0"/>
                  </a:lnTo>
                  <a:lnTo>
                    <a:pt x="846" y="0"/>
                  </a:lnTo>
                  <a:lnTo>
                    <a:pt x="751" y="0"/>
                  </a:lnTo>
                  <a:lnTo>
                    <a:pt x="646" y="0"/>
                  </a:lnTo>
                  <a:lnTo>
                    <a:pt x="535" y="0"/>
                  </a:lnTo>
                  <a:lnTo>
                    <a:pt x="413" y="0"/>
                  </a:lnTo>
                  <a:lnTo>
                    <a:pt x="285" y="0"/>
                  </a:lnTo>
                  <a:lnTo>
                    <a:pt x="146" y="0"/>
                  </a:lnTo>
                  <a:lnTo>
                    <a:pt x="0" y="0"/>
                  </a:lnTo>
                  <a:lnTo>
                    <a:pt x="0" y="93"/>
                  </a:lnTo>
                  <a:lnTo>
                    <a:pt x="146" y="93"/>
                  </a:lnTo>
                  <a:lnTo>
                    <a:pt x="285" y="93"/>
                  </a:lnTo>
                  <a:lnTo>
                    <a:pt x="413" y="93"/>
                  </a:lnTo>
                  <a:lnTo>
                    <a:pt x="535" y="93"/>
                  </a:lnTo>
                  <a:lnTo>
                    <a:pt x="646" y="93"/>
                  </a:lnTo>
                  <a:lnTo>
                    <a:pt x="751" y="93"/>
                  </a:lnTo>
                  <a:lnTo>
                    <a:pt x="846" y="93"/>
                  </a:lnTo>
                  <a:lnTo>
                    <a:pt x="936" y="93"/>
                  </a:lnTo>
                  <a:lnTo>
                    <a:pt x="1017" y="93"/>
                  </a:lnTo>
                  <a:lnTo>
                    <a:pt x="1093" y="93"/>
                  </a:lnTo>
                  <a:lnTo>
                    <a:pt x="1162" y="93"/>
                  </a:lnTo>
                  <a:lnTo>
                    <a:pt x="1224" y="93"/>
                  </a:lnTo>
                  <a:lnTo>
                    <a:pt x="1281" y="93"/>
                  </a:lnTo>
                  <a:lnTo>
                    <a:pt x="1330" y="93"/>
                  </a:lnTo>
                  <a:lnTo>
                    <a:pt x="1376" y="93"/>
                  </a:lnTo>
                  <a:lnTo>
                    <a:pt x="1416" y="93"/>
                  </a:lnTo>
                  <a:lnTo>
                    <a:pt x="1452" y="93"/>
                  </a:lnTo>
                  <a:lnTo>
                    <a:pt x="1484" y="93"/>
                  </a:lnTo>
                  <a:lnTo>
                    <a:pt x="1510" y="93"/>
                  </a:lnTo>
                  <a:lnTo>
                    <a:pt x="1534" y="93"/>
                  </a:lnTo>
                  <a:lnTo>
                    <a:pt x="1554" y="93"/>
                  </a:lnTo>
                  <a:lnTo>
                    <a:pt x="1569" y="93"/>
                  </a:lnTo>
                  <a:lnTo>
                    <a:pt x="1583" y="93"/>
                  </a:lnTo>
                  <a:lnTo>
                    <a:pt x="1594" y="93"/>
                  </a:lnTo>
                  <a:lnTo>
                    <a:pt x="1601" y="93"/>
                  </a:lnTo>
                  <a:lnTo>
                    <a:pt x="1609" y="93"/>
                  </a:lnTo>
                  <a:lnTo>
                    <a:pt x="1612" y="93"/>
                  </a:lnTo>
                  <a:lnTo>
                    <a:pt x="1615" y="93"/>
                  </a:lnTo>
                  <a:lnTo>
                    <a:pt x="1618" y="93"/>
                  </a:lnTo>
                  <a:lnTo>
                    <a:pt x="1618" y="47"/>
                  </a:lnTo>
                  <a:close/>
                </a:path>
              </a:pathLst>
            </a:custGeom>
            <a:solidFill>
              <a:srgbClr val="FF6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pic>
        <p:nvPicPr>
          <p:cNvPr id="10247" name="Picture 3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4663" y="5240267"/>
            <a:ext cx="1736725" cy="814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8" name="Picture 3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0663" y="3425755"/>
            <a:ext cx="2249487" cy="1160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249" name="Text Box 32"/>
          <p:cNvSpPr txBox="1">
            <a:spLocks noChangeArrowheads="1"/>
          </p:cNvSpPr>
          <p:nvPr/>
        </p:nvSpPr>
        <p:spPr bwMode="auto">
          <a:xfrm>
            <a:off x="5076825" y="4695755"/>
            <a:ext cx="11493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dirty="0">
                <a:solidFill>
                  <a:schemeClr val="tx1"/>
                </a:solidFill>
              </a:rPr>
              <a:t>HMIC Glass</a:t>
            </a:r>
          </a:p>
        </p:txBody>
      </p:sp>
      <p:sp>
        <p:nvSpPr>
          <p:cNvPr id="10250" name="Text Box 33"/>
          <p:cNvSpPr txBox="1">
            <a:spLocks noChangeArrowheads="1"/>
          </p:cNvSpPr>
          <p:nvPr/>
        </p:nvSpPr>
        <p:spPr bwMode="auto">
          <a:xfrm>
            <a:off x="5457825" y="2955855"/>
            <a:ext cx="17113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dirty="0">
                <a:solidFill>
                  <a:schemeClr val="tx1"/>
                </a:solidFill>
              </a:rPr>
              <a:t>Inductor Underpass</a:t>
            </a:r>
          </a:p>
        </p:txBody>
      </p:sp>
      <p:sp>
        <p:nvSpPr>
          <p:cNvPr id="10251" name="Text Box 34"/>
          <p:cNvSpPr txBox="1">
            <a:spLocks noChangeArrowheads="1"/>
          </p:cNvSpPr>
          <p:nvPr/>
        </p:nvSpPr>
        <p:spPr bwMode="auto">
          <a:xfrm>
            <a:off x="4443413" y="3260655"/>
            <a:ext cx="915987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1400" dirty="0">
                <a:solidFill>
                  <a:schemeClr val="tx1"/>
                </a:solidFill>
              </a:rPr>
              <a:t>Dielectric</a:t>
            </a:r>
          </a:p>
        </p:txBody>
      </p:sp>
      <p:sp>
        <p:nvSpPr>
          <p:cNvPr id="10252" name="Line 35"/>
          <p:cNvSpPr>
            <a:spLocks noChangeShapeType="1"/>
          </p:cNvSpPr>
          <p:nvPr/>
        </p:nvSpPr>
        <p:spPr bwMode="auto">
          <a:xfrm flipH="1" flipV="1">
            <a:off x="5626100" y="2385942"/>
            <a:ext cx="431800" cy="584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0253" name="Line 36"/>
          <p:cNvSpPr>
            <a:spLocks noChangeShapeType="1"/>
          </p:cNvSpPr>
          <p:nvPr/>
        </p:nvSpPr>
        <p:spPr bwMode="auto">
          <a:xfrm flipV="1">
            <a:off x="6629400" y="2373242"/>
            <a:ext cx="304800" cy="558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0254" name="Line 37"/>
          <p:cNvSpPr>
            <a:spLocks noChangeShapeType="1"/>
          </p:cNvSpPr>
          <p:nvPr/>
        </p:nvSpPr>
        <p:spPr bwMode="auto">
          <a:xfrm>
            <a:off x="5003800" y="3554342"/>
            <a:ext cx="430213" cy="4286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0255" name="Line 38"/>
          <p:cNvSpPr>
            <a:spLocks noChangeShapeType="1"/>
          </p:cNvSpPr>
          <p:nvPr/>
        </p:nvSpPr>
        <p:spPr bwMode="auto">
          <a:xfrm flipV="1">
            <a:off x="5359400" y="5611742"/>
            <a:ext cx="520700" cy="254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0256" name="Text Box 39"/>
          <p:cNvSpPr txBox="1">
            <a:spLocks noChangeArrowheads="1"/>
          </p:cNvSpPr>
          <p:nvPr/>
        </p:nvSpPr>
        <p:spPr bwMode="auto">
          <a:xfrm>
            <a:off x="4054475" y="4086155"/>
            <a:ext cx="1122363" cy="730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1400" dirty="0">
                <a:solidFill>
                  <a:schemeClr val="tx1"/>
                </a:solidFill>
              </a:rPr>
              <a:t>Very Low</a:t>
            </a:r>
          </a:p>
          <a:p>
            <a:pPr algn="ctr"/>
            <a:r>
              <a:rPr lang="en-US" altLang="en-US" sz="1400" dirty="0">
                <a:solidFill>
                  <a:schemeClr val="tx1"/>
                </a:solidFill>
              </a:rPr>
              <a:t>Parasitic</a:t>
            </a:r>
          </a:p>
          <a:p>
            <a:pPr algn="ctr"/>
            <a:r>
              <a:rPr lang="en-US" altLang="en-US" sz="1400" dirty="0">
                <a:solidFill>
                  <a:schemeClr val="tx1"/>
                </a:solidFill>
              </a:rPr>
              <a:t>Capacitance</a:t>
            </a:r>
          </a:p>
        </p:txBody>
      </p:sp>
      <p:sp>
        <p:nvSpPr>
          <p:cNvPr id="10257" name="Line 40"/>
          <p:cNvSpPr>
            <a:spLocks noChangeShapeType="1"/>
          </p:cNvSpPr>
          <p:nvPr/>
        </p:nvSpPr>
        <p:spPr bwMode="auto">
          <a:xfrm flipH="1" flipV="1">
            <a:off x="6527800" y="3516242"/>
            <a:ext cx="1168400" cy="635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0258" name="Text Box 41"/>
          <p:cNvSpPr txBox="1">
            <a:spLocks noChangeArrowheads="1"/>
          </p:cNvSpPr>
          <p:nvPr/>
        </p:nvSpPr>
        <p:spPr bwMode="auto">
          <a:xfrm>
            <a:off x="6434678" y="4721155"/>
            <a:ext cx="1995996" cy="2862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dirty="0">
                <a:solidFill>
                  <a:schemeClr val="tx1"/>
                </a:solidFill>
              </a:rPr>
              <a:t>Backside </a:t>
            </a:r>
            <a:r>
              <a:rPr lang="en-US" altLang="en-US" sz="1400" dirty="0" smtClean="0">
                <a:solidFill>
                  <a:schemeClr val="tx1"/>
                </a:solidFill>
              </a:rPr>
              <a:t>Ground </a:t>
            </a:r>
            <a:r>
              <a:rPr lang="en-US" altLang="en-US" sz="1400" dirty="0">
                <a:solidFill>
                  <a:schemeClr val="tx1"/>
                </a:solidFill>
              </a:rPr>
              <a:t>Plane</a:t>
            </a:r>
          </a:p>
        </p:txBody>
      </p:sp>
      <p:sp>
        <p:nvSpPr>
          <p:cNvPr id="10259" name="Line 42"/>
          <p:cNvSpPr>
            <a:spLocks noChangeShapeType="1"/>
          </p:cNvSpPr>
          <p:nvPr/>
        </p:nvSpPr>
        <p:spPr bwMode="auto">
          <a:xfrm flipH="1" flipV="1">
            <a:off x="6807200" y="4519542"/>
            <a:ext cx="546100" cy="266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0260" name="Line 43"/>
          <p:cNvSpPr>
            <a:spLocks noChangeShapeType="1"/>
          </p:cNvSpPr>
          <p:nvPr/>
        </p:nvSpPr>
        <p:spPr bwMode="auto">
          <a:xfrm>
            <a:off x="6159500" y="3249542"/>
            <a:ext cx="215900" cy="5969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pic>
        <p:nvPicPr>
          <p:cNvPr id="10261" name="Picture 4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2900" y="3938517"/>
            <a:ext cx="566738" cy="534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262" name="Text Box 45"/>
          <p:cNvSpPr txBox="1">
            <a:spLocks noChangeArrowheads="1"/>
          </p:cNvSpPr>
          <p:nvPr/>
        </p:nvSpPr>
        <p:spPr bwMode="auto">
          <a:xfrm>
            <a:off x="7616825" y="3984555"/>
            <a:ext cx="698500" cy="51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1400" dirty="0">
                <a:solidFill>
                  <a:schemeClr val="tx1"/>
                </a:solidFill>
              </a:rPr>
              <a:t>Air </a:t>
            </a:r>
          </a:p>
          <a:p>
            <a:pPr algn="ctr"/>
            <a:r>
              <a:rPr lang="en-US" altLang="en-US" sz="1400" dirty="0">
                <a:solidFill>
                  <a:schemeClr val="tx1"/>
                </a:solidFill>
              </a:rPr>
              <a:t>Bridge</a:t>
            </a:r>
          </a:p>
        </p:txBody>
      </p:sp>
      <p:sp>
        <p:nvSpPr>
          <p:cNvPr id="10263" name="Line 46"/>
          <p:cNvSpPr>
            <a:spLocks noChangeShapeType="1"/>
          </p:cNvSpPr>
          <p:nvPr/>
        </p:nvSpPr>
        <p:spPr bwMode="auto">
          <a:xfrm flipV="1">
            <a:off x="5080000" y="4262367"/>
            <a:ext cx="328613" cy="666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0264" name="Text Box 47"/>
          <p:cNvSpPr txBox="1">
            <a:spLocks noChangeArrowheads="1"/>
          </p:cNvSpPr>
          <p:nvPr/>
        </p:nvSpPr>
        <p:spPr bwMode="auto">
          <a:xfrm>
            <a:off x="4479925" y="5648255"/>
            <a:ext cx="884238" cy="51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1400" dirty="0">
                <a:solidFill>
                  <a:schemeClr val="tx1"/>
                </a:solidFill>
              </a:rPr>
              <a:t>Mutual </a:t>
            </a:r>
          </a:p>
          <a:p>
            <a:pPr algn="ctr"/>
            <a:r>
              <a:rPr lang="en-US" altLang="en-US" sz="1400" dirty="0">
                <a:solidFill>
                  <a:schemeClr val="tx1"/>
                </a:solidFill>
              </a:rPr>
              <a:t>Coupling</a:t>
            </a:r>
          </a:p>
        </p:txBody>
      </p:sp>
      <p:sp>
        <p:nvSpPr>
          <p:cNvPr id="10265" name="Line 48"/>
          <p:cNvSpPr>
            <a:spLocks noChangeShapeType="1"/>
          </p:cNvSpPr>
          <p:nvPr/>
        </p:nvSpPr>
        <p:spPr bwMode="auto">
          <a:xfrm flipV="1">
            <a:off x="5765800" y="4329042"/>
            <a:ext cx="457200" cy="419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0266" name="Line 49"/>
          <p:cNvSpPr>
            <a:spLocks noChangeShapeType="1"/>
          </p:cNvSpPr>
          <p:nvPr/>
        </p:nvSpPr>
        <p:spPr bwMode="auto">
          <a:xfrm flipV="1">
            <a:off x="5384800" y="5687942"/>
            <a:ext cx="876300" cy="2159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8484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800100" y="1549400"/>
            <a:ext cx="7162800" cy="2048565"/>
          </a:xfrm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>
              <a:spcBef>
                <a:spcPct val="50000"/>
              </a:spcBef>
            </a:pPr>
            <a:r>
              <a:rPr lang="en-US" altLang="en-US" sz="2400" dirty="0" smtClean="0"/>
              <a:t>Thin film metals</a:t>
            </a:r>
          </a:p>
          <a:p>
            <a:pPr>
              <a:spcBef>
                <a:spcPct val="120000"/>
              </a:spcBef>
            </a:pPr>
            <a:r>
              <a:rPr lang="en-US" altLang="en-US" sz="2400" dirty="0" smtClean="0"/>
              <a:t>UHVCVD Polysilicon</a:t>
            </a:r>
          </a:p>
          <a:p>
            <a:pPr>
              <a:spcBef>
                <a:spcPct val="120000"/>
              </a:spcBef>
            </a:pPr>
            <a:r>
              <a:rPr lang="en-US" altLang="en-US" sz="2400" dirty="0" smtClean="0"/>
              <a:t>Typical properties:</a:t>
            </a:r>
          </a:p>
          <a:p>
            <a:pPr lvl="1">
              <a:spcBef>
                <a:spcPct val="10000"/>
              </a:spcBef>
              <a:buFontTx/>
              <a:buNone/>
            </a:pPr>
            <a:r>
              <a:rPr lang="en-US" altLang="en-US" sz="2000" i="1" dirty="0" smtClean="0"/>
              <a:t>				</a:t>
            </a:r>
            <a:endParaRPr lang="en-US" altLang="en-US" sz="2400" dirty="0" smtClean="0"/>
          </a:p>
          <a:p>
            <a:pPr>
              <a:spcBef>
                <a:spcPct val="10000"/>
              </a:spcBef>
            </a:pPr>
            <a:endParaRPr lang="en-US" altLang="en-US" sz="2400" dirty="0" smtClean="0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title"/>
          </p:nvPr>
        </p:nvSpPr>
        <p:spPr>
          <a:xfrm>
            <a:off x="204788" y="107157"/>
            <a:ext cx="6461125" cy="838200"/>
          </a:xfrm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ctr" anchorCtr="0"/>
          <a:lstStyle/>
          <a:p>
            <a:r>
              <a:rPr lang="en-US" altLang="en-US" sz="2800" dirty="0" smtClean="0"/>
              <a:t>Resistors</a:t>
            </a:r>
          </a:p>
        </p:txBody>
      </p:sp>
      <p:grpSp>
        <p:nvGrpSpPr>
          <p:cNvPr id="11268" name="Group 4"/>
          <p:cNvGrpSpPr>
            <a:grpSpLocks/>
          </p:cNvGrpSpPr>
          <p:nvPr/>
        </p:nvGrpSpPr>
        <p:grpSpPr bwMode="auto">
          <a:xfrm>
            <a:off x="4453420" y="1465540"/>
            <a:ext cx="4267200" cy="2400300"/>
            <a:chOff x="2518" y="551"/>
            <a:chExt cx="2688" cy="1512"/>
          </a:xfrm>
        </p:grpSpPr>
        <p:sp>
          <p:nvSpPr>
            <p:cNvPr id="11270" name="Rectangle 5"/>
            <p:cNvSpPr>
              <a:spLocks noChangeArrowheads="1"/>
            </p:cNvSpPr>
            <p:nvPr/>
          </p:nvSpPr>
          <p:spPr bwMode="auto">
            <a:xfrm>
              <a:off x="3368" y="1120"/>
              <a:ext cx="1263" cy="361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 dirty="0"/>
            </a:p>
          </p:txBody>
        </p:sp>
        <p:sp>
          <p:nvSpPr>
            <p:cNvPr id="11271" name="Rectangle 6"/>
            <p:cNvSpPr>
              <a:spLocks noChangeArrowheads="1"/>
            </p:cNvSpPr>
            <p:nvPr/>
          </p:nvSpPr>
          <p:spPr bwMode="auto">
            <a:xfrm>
              <a:off x="3368" y="1120"/>
              <a:ext cx="1263" cy="361"/>
            </a:xfrm>
            <a:prstGeom prst="rect">
              <a:avLst/>
            </a:prstGeom>
            <a:noFill/>
            <a:ln w="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 dirty="0"/>
            </a:p>
          </p:txBody>
        </p:sp>
        <p:sp>
          <p:nvSpPr>
            <p:cNvPr id="11272" name="Rectangle 7" descr="Trellis"/>
            <p:cNvSpPr>
              <a:spLocks noChangeArrowheads="1"/>
            </p:cNvSpPr>
            <p:nvPr/>
          </p:nvSpPr>
          <p:spPr bwMode="auto">
            <a:xfrm>
              <a:off x="3568" y="1012"/>
              <a:ext cx="831" cy="109"/>
            </a:xfrm>
            <a:prstGeom prst="rect">
              <a:avLst/>
            </a:prstGeom>
            <a:pattFill prst="trellis">
              <a:fgClr>
                <a:schemeClr val="hlink"/>
              </a:fgClr>
              <a:bgClr>
                <a:srgbClr val="FFFFFF"/>
              </a:bgClr>
            </a:patt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 dirty="0"/>
            </a:p>
          </p:txBody>
        </p:sp>
        <p:sp>
          <p:nvSpPr>
            <p:cNvPr id="11273" name="Rectangle 8" descr="60%"/>
            <p:cNvSpPr>
              <a:spLocks noChangeArrowheads="1"/>
            </p:cNvSpPr>
            <p:nvPr/>
          </p:nvSpPr>
          <p:spPr bwMode="auto">
            <a:xfrm>
              <a:off x="3368" y="940"/>
              <a:ext cx="289" cy="180"/>
            </a:xfrm>
            <a:prstGeom prst="rect">
              <a:avLst/>
            </a:prstGeom>
            <a:pattFill prst="pct60">
              <a:fgClr>
                <a:srgbClr val="FFFF00"/>
              </a:fgClr>
              <a:bgClr>
                <a:srgbClr val="FF9933"/>
              </a:bgClr>
            </a:patt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 dirty="0"/>
            </a:p>
          </p:txBody>
        </p:sp>
        <p:sp>
          <p:nvSpPr>
            <p:cNvPr id="11274" name="Rectangle 9" descr="60%"/>
            <p:cNvSpPr>
              <a:spLocks noChangeArrowheads="1"/>
            </p:cNvSpPr>
            <p:nvPr/>
          </p:nvSpPr>
          <p:spPr bwMode="auto">
            <a:xfrm>
              <a:off x="4342" y="940"/>
              <a:ext cx="289" cy="180"/>
            </a:xfrm>
            <a:prstGeom prst="rect">
              <a:avLst/>
            </a:prstGeom>
            <a:pattFill prst="pct60">
              <a:fgClr>
                <a:srgbClr val="FFFF00"/>
              </a:fgClr>
              <a:bgClr>
                <a:srgbClr val="FF9933"/>
              </a:bgClr>
            </a:patt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 dirty="0"/>
            </a:p>
          </p:txBody>
        </p:sp>
        <p:sp>
          <p:nvSpPr>
            <p:cNvPr id="11275" name="Rectangle 10" descr="60%"/>
            <p:cNvSpPr>
              <a:spLocks noChangeArrowheads="1"/>
            </p:cNvSpPr>
            <p:nvPr/>
          </p:nvSpPr>
          <p:spPr bwMode="auto">
            <a:xfrm>
              <a:off x="3368" y="1481"/>
              <a:ext cx="1263" cy="109"/>
            </a:xfrm>
            <a:prstGeom prst="rect">
              <a:avLst/>
            </a:prstGeom>
            <a:pattFill prst="pct60">
              <a:fgClr>
                <a:srgbClr val="FFFF00"/>
              </a:fgClr>
              <a:bgClr>
                <a:srgbClr val="FF9933"/>
              </a:bgClr>
            </a:patt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 dirty="0"/>
            </a:p>
          </p:txBody>
        </p:sp>
        <p:sp>
          <p:nvSpPr>
            <p:cNvPr id="11276" name="Text Box 11"/>
            <p:cNvSpPr txBox="1">
              <a:spLocks noChangeArrowheads="1"/>
            </p:cNvSpPr>
            <p:nvPr/>
          </p:nvSpPr>
          <p:spPr bwMode="auto">
            <a:xfrm>
              <a:off x="4030" y="1751"/>
              <a:ext cx="724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1400" dirty="0">
                  <a:solidFill>
                    <a:schemeClr val="tx1"/>
                  </a:solidFill>
                </a:rPr>
                <a:t>HMIC Glass</a:t>
              </a:r>
            </a:p>
          </p:txBody>
        </p:sp>
        <p:sp>
          <p:nvSpPr>
            <p:cNvPr id="11277" name="Text Box 12"/>
            <p:cNvSpPr txBox="1">
              <a:spLocks noChangeArrowheads="1"/>
            </p:cNvSpPr>
            <p:nvPr/>
          </p:nvSpPr>
          <p:spPr bwMode="auto">
            <a:xfrm>
              <a:off x="3800" y="551"/>
              <a:ext cx="140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1400" dirty="0">
                  <a:solidFill>
                    <a:schemeClr val="tx1"/>
                  </a:solidFill>
                </a:rPr>
                <a:t>Deposited Thin Film Metal</a:t>
              </a:r>
            </a:p>
          </p:txBody>
        </p:sp>
        <p:sp>
          <p:nvSpPr>
            <p:cNvPr id="11278" name="Line 13"/>
            <p:cNvSpPr>
              <a:spLocks noChangeShapeType="1"/>
            </p:cNvSpPr>
            <p:nvPr/>
          </p:nvSpPr>
          <p:spPr bwMode="auto">
            <a:xfrm flipH="1">
              <a:off x="3943" y="744"/>
              <a:ext cx="417" cy="29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1279" name="Text Box 14"/>
            <p:cNvSpPr txBox="1">
              <a:spLocks noChangeArrowheads="1"/>
            </p:cNvSpPr>
            <p:nvPr/>
          </p:nvSpPr>
          <p:spPr bwMode="auto">
            <a:xfrm>
              <a:off x="2518" y="1167"/>
              <a:ext cx="754" cy="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1400" dirty="0">
                  <a:solidFill>
                    <a:schemeClr val="tx1"/>
                  </a:solidFill>
                </a:rPr>
                <a:t>Interconnect </a:t>
              </a:r>
            </a:p>
            <a:p>
              <a:pPr algn="ctr"/>
              <a:r>
                <a:rPr lang="en-US" altLang="en-US" sz="1400" dirty="0">
                  <a:solidFill>
                    <a:schemeClr val="tx1"/>
                  </a:solidFill>
                </a:rPr>
                <a:t>Metallization</a:t>
              </a:r>
            </a:p>
          </p:txBody>
        </p:sp>
        <p:sp>
          <p:nvSpPr>
            <p:cNvPr id="11280" name="Line 15"/>
            <p:cNvSpPr>
              <a:spLocks noChangeShapeType="1"/>
            </p:cNvSpPr>
            <p:nvPr/>
          </p:nvSpPr>
          <p:spPr bwMode="auto">
            <a:xfrm flipV="1">
              <a:off x="3488" y="1542"/>
              <a:ext cx="391" cy="34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1281" name="Line 16"/>
            <p:cNvSpPr>
              <a:spLocks noChangeShapeType="1"/>
            </p:cNvSpPr>
            <p:nvPr/>
          </p:nvSpPr>
          <p:spPr bwMode="auto">
            <a:xfrm flipH="1" flipV="1">
              <a:off x="4416" y="1352"/>
              <a:ext cx="104" cy="3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1282" name="Text Box 17"/>
            <p:cNvSpPr txBox="1">
              <a:spLocks noChangeArrowheads="1"/>
            </p:cNvSpPr>
            <p:nvPr/>
          </p:nvSpPr>
          <p:spPr bwMode="auto">
            <a:xfrm>
              <a:off x="2712" y="1871"/>
              <a:ext cx="109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1400" dirty="0">
                  <a:solidFill>
                    <a:schemeClr val="tx1"/>
                  </a:solidFill>
                </a:rPr>
                <a:t>Metal Ground Plane</a:t>
              </a:r>
            </a:p>
          </p:txBody>
        </p:sp>
        <p:sp>
          <p:nvSpPr>
            <p:cNvPr id="11283" name="Line 18"/>
            <p:cNvSpPr>
              <a:spLocks noChangeShapeType="1"/>
            </p:cNvSpPr>
            <p:nvPr/>
          </p:nvSpPr>
          <p:spPr bwMode="auto">
            <a:xfrm flipV="1">
              <a:off x="2992" y="1006"/>
              <a:ext cx="479" cy="17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</p:grp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4333297"/>
              </p:ext>
            </p:extLst>
          </p:nvPr>
        </p:nvGraphicFramePr>
        <p:xfrm>
          <a:off x="1485900" y="4029281"/>
          <a:ext cx="6096000" cy="229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/>
                <a:gridCol w="2032000"/>
                <a:gridCol w="2032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Material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Sheet Resistivity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Temperature Coefficient</a:t>
                      </a:r>
                      <a:r>
                        <a:rPr lang="en-US" baseline="0" dirty="0" smtClean="0"/>
                        <a:t> of Resistance</a:t>
                      </a:r>
                      <a:endParaRPr 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(</a:t>
                      </a:r>
                      <a:r>
                        <a:rPr lang="en-US" dirty="0" smtClean="0">
                          <a:sym typeface="Symbol" panose="05050102010706020507" pitchFamily="18" charset="2"/>
                        </a:rPr>
                        <a:t>/)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(ppm/</a:t>
                      </a:r>
                      <a:r>
                        <a:rPr lang="en-US" dirty="0" smtClean="0">
                          <a:sym typeface="Symbol" panose="05050102010706020507" pitchFamily="18" charset="2"/>
                        </a:rPr>
                        <a:t>C)</a:t>
                      </a:r>
                      <a:endParaRPr 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NiCr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5 - 100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20</a:t>
                      </a:r>
                      <a:endParaRPr 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UHVCVD Polysilicon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10k – 100k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__</a:t>
                      </a:r>
                      <a:endParaRPr lang="en-US" dirty="0"/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5789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296069" y="1536700"/>
            <a:ext cx="4165600" cy="4584492"/>
          </a:xfrm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>
              <a:spcBef>
                <a:spcPct val="80000"/>
              </a:spcBef>
            </a:pPr>
            <a:r>
              <a:rPr lang="en-US" altLang="en-US" dirty="0" smtClean="0"/>
              <a:t>Distributed inductors</a:t>
            </a:r>
          </a:p>
          <a:p>
            <a:pPr>
              <a:spcBef>
                <a:spcPct val="80000"/>
              </a:spcBef>
            </a:pPr>
            <a:r>
              <a:rPr lang="en-US" altLang="en-US" dirty="0" smtClean="0"/>
              <a:t>Provides specific impedance </a:t>
            </a:r>
          </a:p>
          <a:p>
            <a:pPr>
              <a:spcBef>
                <a:spcPct val="80000"/>
              </a:spcBef>
            </a:pPr>
            <a:r>
              <a:rPr lang="en-US" altLang="en-US" dirty="0" smtClean="0"/>
              <a:t>Microstrip</a:t>
            </a:r>
          </a:p>
          <a:p>
            <a:pPr lvl="1">
              <a:spcBef>
                <a:spcPct val="10000"/>
              </a:spcBef>
            </a:pPr>
            <a:r>
              <a:rPr lang="en-US" altLang="en-US" sz="1600" dirty="0" smtClean="0"/>
              <a:t>Conductor width</a:t>
            </a:r>
          </a:p>
          <a:p>
            <a:pPr lvl="1">
              <a:spcBef>
                <a:spcPct val="10000"/>
              </a:spcBef>
            </a:pPr>
            <a:r>
              <a:rPr lang="en-US" altLang="en-US" sz="1600" dirty="0" smtClean="0"/>
              <a:t>Substrate thickness</a:t>
            </a:r>
          </a:p>
          <a:p>
            <a:pPr lvl="1">
              <a:spcBef>
                <a:spcPct val="10000"/>
              </a:spcBef>
            </a:pPr>
            <a:r>
              <a:rPr lang="en-US" altLang="en-US" sz="1600" dirty="0" smtClean="0"/>
              <a:t>Substrate dielectric constant</a:t>
            </a:r>
          </a:p>
          <a:p>
            <a:pPr>
              <a:spcBef>
                <a:spcPct val="80000"/>
              </a:spcBef>
            </a:pPr>
            <a:r>
              <a:rPr lang="en-US" altLang="en-US" dirty="0" smtClean="0"/>
              <a:t>Coplanar</a:t>
            </a:r>
          </a:p>
          <a:p>
            <a:pPr lvl="1">
              <a:spcBef>
                <a:spcPct val="10000"/>
              </a:spcBef>
            </a:pPr>
            <a:r>
              <a:rPr lang="en-US" altLang="en-US" sz="1600" dirty="0" smtClean="0"/>
              <a:t>Conductor with adjacent lateral ground planes</a:t>
            </a:r>
          </a:p>
          <a:p>
            <a:pPr lvl="1">
              <a:spcBef>
                <a:spcPct val="10000"/>
              </a:spcBef>
            </a:pPr>
            <a:r>
              <a:rPr lang="en-US" altLang="en-US" sz="1600" dirty="0" smtClean="0"/>
              <a:t>Width &amp; thickness of center conductor</a:t>
            </a:r>
          </a:p>
          <a:p>
            <a:pPr lvl="1">
              <a:spcBef>
                <a:spcPct val="10000"/>
              </a:spcBef>
            </a:pPr>
            <a:r>
              <a:rPr lang="en-US" altLang="en-US" sz="1600" dirty="0" smtClean="0"/>
              <a:t>Spacing to ground planes</a:t>
            </a:r>
          </a:p>
          <a:p>
            <a:pPr lvl="1">
              <a:spcBef>
                <a:spcPct val="10000"/>
              </a:spcBef>
            </a:pPr>
            <a:r>
              <a:rPr lang="en-US" altLang="en-US" sz="1600" dirty="0" smtClean="0"/>
              <a:t>Substrate dielectric Constant</a:t>
            </a:r>
          </a:p>
          <a:p>
            <a:pPr lvl="1">
              <a:spcBef>
                <a:spcPct val="10000"/>
              </a:spcBef>
            </a:pPr>
            <a:r>
              <a:rPr lang="en-US" altLang="en-US" sz="1600" dirty="0" smtClean="0"/>
              <a:t>Area inefficient</a:t>
            </a:r>
          </a:p>
          <a:p>
            <a:pPr lvl="1">
              <a:spcBef>
                <a:spcPct val="0"/>
              </a:spcBef>
            </a:pPr>
            <a:endParaRPr lang="en-US" altLang="en-US" dirty="0" smtClean="0"/>
          </a:p>
          <a:p>
            <a:pPr>
              <a:spcBef>
                <a:spcPct val="180000"/>
              </a:spcBef>
            </a:pPr>
            <a:endParaRPr lang="en-US" altLang="en-US" sz="1800" dirty="0" smtClean="0"/>
          </a:p>
        </p:txBody>
      </p:sp>
      <p:sp>
        <p:nvSpPr>
          <p:cNvPr id="12293" name="Rectangle 5"/>
          <p:cNvSpPr>
            <a:spLocks noGrp="1" noChangeArrowheads="1"/>
          </p:cNvSpPr>
          <p:nvPr>
            <p:ph type="title"/>
          </p:nvPr>
        </p:nvSpPr>
        <p:spPr>
          <a:xfrm>
            <a:off x="345281" y="139700"/>
            <a:ext cx="6461125" cy="838200"/>
          </a:xfrm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ctr" anchorCtr="0"/>
          <a:lstStyle/>
          <a:p>
            <a:r>
              <a:rPr lang="en-US" altLang="en-US" dirty="0" smtClean="0"/>
              <a:t>Transmission Lines</a:t>
            </a:r>
            <a:endParaRPr lang="en-US" altLang="en-US" sz="2800" dirty="0" smtClean="0"/>
          </a:p>
        </p:txBody>
      </p:sp>
      <p:grpSp>
        <p:nvGrpSpPr>
          <p:cNvPr id="2" name="Group 1"/>
          <p:cNvGrpSpPr/>
          <p:nvPr/>
        </p:nvGrpSpPr>
        <p:grpSpPr>
          <a:xfrm>
            <a:off x="4837113" y="1326942"/>
            <a:ext cx="3446462" cy="4794250"/>
            <a:chOff x="4837113" y="1217613"/>
            <a:chExt cx="3446462" cy="4794250"/>
          </a:xfrm>
        </p:grpSpPr>
        <p:pic>
          <p:nvPicPr>
            <p:cNvPr id="12291" name="Picture 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45125" y="1425575"/>
              <a:ext cx="2203450" cy="2717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294" name="Picture 6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95863" y="4259263"/>
              <a:ext cx="3217862" cy="9525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2295" name="Text Box 7"/>
            <p:cNvSpPr txBox="1">
              <a:spLocks noChangeArrowheads="1"/>
            </p:cNvSpPr>
            <p:nvPr/>
          </p:nvSpPr>
          <p:spPr bwMode="auto">
            <a:xfrm>
              <a:off x="6715125" y="2970213"/>
              <a:ext cx="1149350" cy="304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1400" dirty="0">
                  <a:solidFill>
                    <a:schemeClr val="tx1"/>
                  </a:solidFill>
                </a:rPr>
                <a:t>HMIC Glass</a:t>
              </a:r>
            </a:p>
          </p:txBody>
        </p:sp>
        <p:sp>
          <p:nvSpPr>
            <p:cNvPr id="12296" name="Text Box 8"/>
            <p:cNvSpPr txBox="1">
              <a:spLocks noChangeArrowheads="1"/>
            </p:cNvSpPr>
            <p:nvPr/>
          </p:nvSpPr>
          <p:spPr bwMode="auto">
            <a:xfrm>
              <a:off x="6424613" y="1243013"/>
              <a:ext cx="1492250" cy="304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1400" dirty="0">
                  <a:solidFill>
                    <a:schemeClr val="tx1"/>
                  </a:solidFill>
                </a:rPr>
                <a:t>Metal Conductor</a:t>
              </a:r>
            </a:p>
          </p:txBody>
        </p:sp>
        <p:sp>
          <p:nvSpPr>
            <p:cNvPr id="12297" name="Line 9"/>
            <p:cNvSpPr>
              <a:spLocks noChangeShapeType="1"/>
            </p:cNvSpPr>
            <p:nvPr/>
          </p:nvSpPr>
          <p:spPr bwMode="auto">
            <a:xfrm flipH="1">
              <a:off x="6577013" y="1562100"/>
              <a:ext cx="458787" cy="4286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2298" name="Text Box 10"/>
            <p:cNvSpPr txBox="1">
              <a:spLocks noChangeArrowheads="1"/>
            </p:cNvSpPr>
            <p:nvPr/>
          </p:nvSpPr>
          <p:spPr bwMode="auto">
            <a:xfrm>
              <a:off x="5014913" y="1217613"/>
              <a:ext cx="822325" cy="730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1400" dirty="0">
                  <a:solidFill>
                    <a:schemeClr val="tx1"/>
                  </a:solidFill>
                </a:rPr>
                <a:t>Electric </a:t>
              </a:r>
            </a:p>
            <a:p>
              <a:pPr algn="ctr"/>
              <a:r>
                <a:rPr lang="en-US" altLang="en-US" sz="1400" dirty="0">
                  <a:solidFill>
                    <a:schemeClr val="tx1"/>
                  </a:solidFill>
                </a:rPr>
                <a:t>Field </a:t>
              </a:r>
            </a:p>
            <a:p>
              <a:pPr algn="ctr"/>
              <a:r>
                <a:rPr lang="en-US" altLang="en-US" sz="1400" dirty="0">
                  <a:solidFill>
                    <a:schemeClr val="tx1"/>
                  </a:solidFill>
                </a:rPr>
                <a:t>Lines</a:t>
              </a:r>
            </a:p>
          </p:txBody>
        </p:sp>
        <p:sp>
          <p:nvSpPr>
            <p:cNvPr id="12299" name="Line 11"/>
            <p:cNvSpPr>
              <a:spLocks noChangeShapeType="1"/>
            </p:cNvSpPr>
            <p:nvPr/>
          </p:nvSpPr>
          <p:spPr bwMode="auto">
            <a:xfrm flipV="1">
              <a:off x="5905500" y="2752725"/>
              <a:ext cx="430213" cy="23177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2300" name="Line 12"/>
            <p:cNvSpPr>
              <a:spLocks noChangeShapeType="1"/>
            </p:cNvSpPr>
            <p:nvPr/>
          </p:nvSpPr>
          <p:spPr bwMode="auto">
            <a:xfrm flipH="1" flipV="1">
              <a:off x="7327900" y="2527300"/>
              <a:ext cx="330200" cy="482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2301" name="Text Box 13"/>
            <p:cNvSpPr txBox="1">
              <a:spLocks noChangeArrowheads="1"/>
            </p:cNvSpPr>
            <p:nvPr/>
          </p:nvSpPr>
          <p:spPr bwMode="auto">
            <a:xfrm>
              <a:off x="4864100" y="2957513"/>
              <a:ext cx="1743075" cy="304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1400" dirty="0">
                  <a:solidFill>
                    <a:schemeClr val="tx1"/>
                  </a:solidFill>
                </a:rPr>
                <a:t>Metal Ground Plane</a:t>
              </a:r>
            </a:p>
          </p:txBody>
        </p:sp>
        <p:sp>
          <p:nvSpPr>
            <p:cNvPr id="12302" name="Line 14"/>
            <p:cNvSpPr>
              <a:spLocks noChangeShapeType="1"/>
            </p:cNvSpPr>
            <p:nvPr/>
          </p:nvSpPr>
          <p:spPr bwMode="auto">
            <a:xfrm>
              <a:off x="5664200" y="1574800"/>
              <a:ext cx="569913" cy="835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2303" name="Text Box 15"/>
            <p:cNvSpPr txBox="1">
              <a:spLocks noChangeArrowheads="1"/>
            </p:cNvSpPr>
            <p:nvPr/>
          </p:nvSpPr>
          <p:spPr bwMode="auto">
            <a:xfrm>
              <a:off x="6702425" y="5586413"/>
              <a:ext cx="1149350" cy="304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1400" dirty="0">
                  <a:solidFill>
                    <a:schemeClr val="tx1"/>
                  </a:solidFill>
                </a:rPr>
                <a:t>HMIC Glass</a:t>
              </a:r>
            </a:p>
          </p:txBody>
        </p:sp>
        <p:sp>
          <p:nvSpPr>
            <p:cNvPr id="12304" name="Text Box 16"/>
            <p:cNvSpPr txBox="1">
              <a:spLocks noChangeArrowheads="1"/>
            </p:cNvSpPr>
            <p:nvPr/>
          </p:nvSpPr>
          <p:spPr bwMode="auto">
            <a:xfrm>
              <a:off x="5799138" y="3617913"/>
              <a:ext cx="1196975" cy="517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1400" dirty="0">
                  <a:solidFill>
                    <a:schemeClr val="tx1"/>
                  </a:solidFill>
                </a:rPr>
                <a:t>Metal Center</a:t>
              </a:r>
            </a:p>
            <a:p>
              <a:pPr algn="ctr"/>
              <a:r>
                <a:rPr lang="en-US" altLang="en-US" sz="1400" dirty="0">
                  <a:solidFill>
                    <a:schemeClr val="tx1"/>
                  </a:solidFill>
                </a:rPr>
                <a:t>Conductor</a:t>
              </a:r>
            </a:p>
          </p:txBody>
        </p:sp>
        <p:sp>
          <p:nvSpPr>
            <p:cNvPr id="12305" name="Text Box 17"/>
            <p:cNvSpPr txBox="1">
              <a:spLocks noChangeArrowheads="1"/>
            </p:cNvSpPr>
            <p:nvPr/>
          </p:nvSpPr>
          <p:spPr bwMode="auto">
            <a:xfrm>
              <a:off x="5205413" y="5281613"/>
              <a:ext cx="822325" cy="730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1400" dirty="0">
                  <a:solidFill>
                    <a:schemeClr val="tx1"/>
                  </a:solidFill>
                </a:rPr>
                <a:t>Electric </a:t>
              </a:r>
            </a:p>
            <a:p>
              <a:pPr algn="ctr"/>
              <a:r>
                <a:rPr lang="en-US" altLang="en-US" sz="1400" dirty="0">
                  <a:solidFill>
                    <a:schemeClr val="tx1"/>
                  </a:solidFill>
                </a:rPr>
                <a:t>Field </a:t>
              </a:r>
            </a:p>
            <a:p>
              <a:pPr algn="ctr"/>
              <a:r>
                <a:rPr lang="en-US" altLang="en-US" sz="1400" dirty="0">
                  <a:solidFill>
                    <a:schemeClr val="tx1"/>
                  </a:solidFill>
                </a:rPr>
                <a:t>Lines</a:t>
              </a:r>
            </a:p>
          </p:txBody>
        </p:sp>
        <p:sp>
          <p:nvSpPr>
            <p:cNvPr id="12306" name="Line 18"/>
            <p:cNvSpPr>
              <a:spLocks noChangeShapeType="1"/>
            </p:cNvSpPr>
            <p:nvPr/>
          </p:nvSpPr>
          <p:spPr bwMode="auto">
            <a:xfrm flipV="1">
              <a:off x="5969000" y="4683125"/>
              <a:ext cx="239713" cy="91757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2307" name="Line 19"/>
            <p:cNvSpPr>
              <a:spLocks noChangeShapeType="1"/>
            </p:cNvSpPr>
            <p:nvPr/>
          </p:nvSpPr>
          <p:spPr bwMode="auto">
            <a:xfrm flipV="1">
              <a:off x="7327900" y="4965700"/>
              <a:ext cx="165100" cy="6223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2308" name="Text Box 20"/>
            <p:cNvSpPr txBox="1">
              <a:spLocks noChangeArrowheads="1"/>
            </p:cNvSpPr>
            <p:nvPr/>
          </p:nvSpPr>
          <p:spPr bwMode="auto">
            <a:xfrm>
              <a:off x="7453313" y="3579813"/>
              <a:ext cx="830262" cy="730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1400" dirty="0">
                  <a:solidFill>
                    <a:schemeClr val="tx1"/>
                  </a:solidFill>
                </a:rPr>
                <a:t>Metal </a:t>
              </a:r>
            </a:p>
            <a:p>
              <a:pPr algn="ctr"/>
              <a:r>
                <a:rPr lang="en-US" altLang="en-US" sz="1400" dirty="0">
                  <a:solidFill>
                    <a:schemeClr val="tx1"/>
                  </a:solidFill>
                </a:rPr>
                <a:t>Ground </a:t>
              </a:r>
            </a:p>
            <a:p>
              <a:pPr algn="ctr"/>
              <a:r>
                <a:rPr lang="en-US" altLang="en-US" sz="1400" dirty="0">
                  <a:solidFill>
                    <a:schemeClr val="tx1"/>
                  </a:solidFill>
                </a:rPr>
                <a:t>Plane</a:t>
              </a:r>
            </a:p>
          </p:txBody>
        </p:sp>
        <p:sp>
          <p:nvSpPr>
            <p:cNvPr id="12309" name="Line 21"/>
            <p:cNvSpPr>
              <a:spLocks noChangeShapeType="1"/>
            </p:cNvSpPr>
            <p:nvPr/>
          </p:nvSpPr>
          <p:spPr bwMode="auto">
            <a:xfrm>
              <a:off x="6527800" y="4089400"/>
              <a:ext cx="23813" cy="3778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2310" name="Line 22"/>
            <p:cNvSpPr>
              <a:spLocks noChangeShapeType="1"/>
            </p:cNvSpPr>
            <p:nvPr/>
          </p:nvSpPr>
          <p:spPr bwMode="auto">
            <a:xfrm flipV="1">
              <a:off x="5981700" y="4673600"/>
              <a:ext cx="990600" cy="9525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2311" name="Line 23"/>
            <p:cNvSpPr>
              <a:spLocks noChangeShapeType="1"/>
            </p:cNvSpPr>
            <p:nvPr/>
          </p:nvSpPr>
          <p:spPr bwMode="auto">
            <a:xfrm flipH="1">
              <a:off x="7289800" y="4089400"/>
              <a:ext cx="292100" cy="4064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2312" name="Text Box 24"/>
            <p:cNvSpPr txBox="1">
              <a:spLocks noChangeArrowheads="1"/>
            </p:cNvSpPr>
            <p:nvPr/>
          </p:nvSpPr>
          <p:spPr bwMode="auto">
            <a:xfrm>
              <a:off x="4837113" y="3567113"/>
              <a:ext cx="830262" cy="730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1400" dirty="0">
                  <a:solidFill>
                    <a:schemeClr val="tx1"/>
                  </a:solidFill>
                </a:rPr>
                <a:t>Metal </a:t>
              </a:r>
            </a:p>
            <a:p>
              <a:pPr algn="ctr"/>
              <a:r>
                <a:rPr lang="en-US" altLang="en-US" sz="1400" dirty="0">
                  <a:solidFill>
                    <a:schemeClr val="tx1"/>
                  </a:solidFill>
                </a:rPr>
                <a:t>Ground </a:t>
              </a:r>
            </a:p>
            <a:p>
              <a:pPr algn="ctr"/>
              <a:r>
                <a:rPr lang="en-US" altLang="en-US" sz="1400" dirty="0">
                  <a:solidFill>
                    <a:schemeClr val="tx1"/>
                  </a:solidFill>
                </a:rPr>
                <a:t>Plane</a:t>
              </a:r>
            </a:p>
          </p:txBody>
        </p:sp>
        <p:sp>
          <p:nvSpPr>
            <p:cNvPr id="12313" name="Line 25"/>
            <p:cNvSpPr>
              <a:spLocks noChangeShapeType="1"/>
            </p:cNvSpPr>
            <p:nvPr/>
          </p:nvSpPr>
          <p:spPr bwMode="auto">
            <a:xfrm>
              <a:off x="5537200" y="4051300"/>
              <a:ext cx="266700" cy="4064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2314" name="Line 26"/>
            <p:cNvSpPr>
              <a:spLocks noChangeShapeType="1"/>
            </p:cNvSpPr>
            <p:nvPr/>
          </p:nvSpPr>
          <p:spPr bwMode="auto">
            <a:xfrm flipV="1">
              <a:off x="5994400" y="4381500"/>
              <a:ext cx="939800" cy="12065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2315" name="Line 27"/>
            <p:cNvSpPr>
              <a:spLocks noChangeShapeType="1"/>
            </p:cNvSpPr>
            <p:nvPr/>
          </p:nvSpPr>
          <p:spPr bwMode="auto">
            <a:xfrm>
              <a:off x="5664200" y="1612900"/>
              <a:ext cx="355600" cy="7874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245657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Typical HMIC</a:t>
            </a:r>
            <a:r>
              <a:rPr lang="en-US" baseline="42000" dirty="0"/>
              <a:t>TM</a:t>
            </a:r>
            <a:r>
              <a:rPr lang="en-US" altLang="en-US" dirty="0" smtClean="0"/>
              <a:t> Component Capabilities</a:t>
            </a:r>
          </a:p>
        </p:txBody>
      </p:sp>
      <p:pic>
        <p:nvPicPr>
          <p:cNvPr id="13315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188" y="1817688"/>
            <a:ext cx="8418512" cy="408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50993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 descr="High isolation generic PIN SPDT.em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710076" y="4542523"/>
            <a:ext cx="3313113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HMIC</a:t>
            </a:r>
            <a:r>
              <a:rPr lang="en-US" baseline="42000" dirty="0"/>
              <a:t>TM</a:t>
            </a:r>
            <a:r>
              <a:rPr lang="en-US" dirty="0" smtClean="0"/>
              <a:t> PIN Diode Products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 smtClean="0"/>
              <a:t>Switching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630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PIN Diodes		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3896" y="1226000"/>
            <a:ext cx="4050088" cy="5202232"/>
          </a:xfrm>
        </p:spPr>
        <p:txBody>
          <a:bodyPr>
            <a:normAutofit/>
          </a:bodyPr>
          <a:lstStyle/>
          <a:p>
            <a:r>
              <a:rPr lang="en-US" sz="2800" dirty="0"/>
              <a:t>PIN Diodes are current-controlled RF resistors</a:t>
            </a:r>
          </a:p>
          <a:p>
            <a:r>
              <a:rPr lang="en-US" sz="2800" dirty="0"/>
              <a:t>Primarily used in control circuits</a:t>
            </a:r>
          </a:p>
          <a:p>
            <a:pPr lvl="1"/>
            <a:r>
              <a:rPr lang="en-US" sz="2400" dirty="0"/>
              <a:t>Switches </a:t>
            </a:r>
          </a:p>
          <a:p>
            <a:pPr lvl="1"/>
            <a:r>
              <a:rPr lang="en-US" sz="2400" dirty="0"/>
              <a:t>Attenuators </a:t>
            </a:r>
          </a:p>
          <a:p>
            <a:pPr lvl="1"/>
            <a:r>
              <a:rPr lang="en-US" sz="2400" dirty="0" smtClean="0"/>
              <a:t>Limiters</a:t>
            </a:r>
            <a:endParaRPr lang="en-US" sz="2400" dirty="0"/>
          </a:p>
          <a:p>
            <a:r>
              <a:rPr lang="en-US" sz="2800" dirty="0" smtClean="0"/>
              <a:t>HMIC</a:t>
            </a:r>
            <a:r>
              <a:rPr lang="en-US" sz="2800" baseline="42000" dirty="0"/>
              <a:t>TM</a:t>
            </a:r>
            <a:r>
              <a:rPr lang="en-US" sz="2800" dirty="0" smtClean="0"/>
              <a:t> PIN </a:t>
            </a:r>
            <a:r>
              <a:rPr lang="en-US" sz="2800" dirty="0"/>
              <a:t>diodes </a:t>
            </a:r>
            <a:r>
              <a:rPr lang="en-US" sz="2800" dirty="0" smtClean="0"/>
              <a:t>are made </a:t>
            </a:r>
            <a:r>
              <a:rPr lang="en-US" sz="2800" dirty="0"/>
              <a:t>from </a:t>
            </a:r>
            <a:r>
              <a:rPr lang="en-US" sz="2800" dirty="0" smtClean="0"/>
              <a:t>Si</a:t>
            </a:r>
            <a:endParaRPr lang="en-US" sz="28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29785" y="1345487"/>
            <a:ext cx="3262675" cy="2852928"/>
          </a:xfrm>
          <a:prstGeom prst="rect">
            <a:avLst/>
          </a:prstGeom>
        </p:spPr>
      </p:pic>
      <p:graphicFrame>
        <p:nvGraphicFramePr>
          <p:cNvPr id="5" name="Object 1024"/>
          <p:cNvGraphicFramePr>
            <a:graphicFrameLocks noChangeAspect="1"/>
          </p:cNvGraphicFramePr>
          <p:nvPr>
            <p:extLst/>
          </p:nvPr>
        </p:nvGraphicFramePr>
        <p:xfrm>
          <a:off x="4056530" y="4221480"/>
          <a:ext cx="4828033" cy="19781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2" name="Mathcad 6.0" r:id="rId5" imgW="3943080" imgH="2809800" progId="">
                  <p:embed/>
                </p:oleObj>
              </mc:Choice>
              <mc:Fallback>
                <p:oleObj name="Mathcad 6.0" r:id="rId5" imgW="3943080" imgH="280980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56530" y="4221480"/>
                        <a:ext cx="4828033" cy="19781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04122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5835" y="288365"/>
            <a:ext cx="3083859" cy="4572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PIN Diode Families</a:t>
            </a:r>
            <a:endParaRPr lang="en-US" dirty="0"/>
          </a:p>
        </p:txBody>
      </p:sp>
      <p:graphicFrame>
        <p:nvGraphicFramePr>
          <p:cNvPr id="5" name="Table Placeholder 4"/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1555687317"/>
              </p:ext>
            </p:extLst>
          </p:nvPr>
        </p:nvGraphicFramePr>
        <p:xfrm>
          <a:off x="627529" y="1198482"/>
          <a:ext cx="7988300" cy="52890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7075"/>
                <a:gridCol w="1997075"/>
                <a:gridCol w="1997075"/>
                <a:gridCol w="1997075"/>
              </a:tblGrid>
              <a:tr h="485777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Si Discrete</a:t>
                      </a:r>
                      <a:endParaRPr lang="en-US" sz="20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Si HMIC™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GaAs</a:t>
                      </a:r>
                      <a:endParaRPr lang="en-US" sz="20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AlGaAs</a:t>
                      </a:r>
                      <a:endParaRPr lang="en-US" sz="20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084729">
                <a:tc>
                  <a:txBody>
                    <a:bodyPr/>
                    <a:lstStyle/>
                    <a:p>
                      <a:pPr marL="457200" lvl="1" indent="0">
                        <a:buFont typeface="Arial" panose="020B0604020202020204" pitchFamily="34" charset="0"/>
                        <a:buNone/>
                      </a:pPr>
                      <a:endParaRPr lang="en-US" sz="16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57200" marR="0" lvl="1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600" dirty="0" smtClean="0"/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endParaRPr lang="en-US" sz="16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107547"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Wide operating frequency range, to</a:t>
                      </a:r>
                      <a:r>
                        <a:rPr lang="en-US" sz="1400" baseline="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 20 GHz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400" baseline="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Excellent power handling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400" baseline="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PIN and NIP diodes available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400" baseline="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I layer: 2 – 300 µm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400" baseline="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Available as:</a:t>
                      </a:r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400" baseline="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Unpackaged chips</a:t>
                      </a:r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400" baseline="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SMT packages</a:t>
                      </a:r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400" baseline="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Ceramic Packages</a:t>
                      </a:r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400" baseline="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Beam leads</a:t>
                      </a:r>
                      <a:endParaRPr 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smtClean="0"/>
                        <a:t>Very Wide operating frequency range, to 30 GHz</a:t>
                      </a:r>
                    </a:p>
                    <a:p>
                      <a:pPr marL="285750" marR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dirty="0" smtClean="0"/>
                        <a:t> </a:t>
                      </a:r>
                      <a:r>
                        <a:rPr lang="en-US" sz="1400" baseline="0" dirty="0" smtClean="0"/>
                        <a:t>I layer: 8 – 100 µm</a:t>
                      </a:r>
                      <a:endParaRPr lang="en-US" sz="1400" dirty="0" smtClean="0"/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smtClean="0"/>
                        <a:t>Available as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smtClean="0"/>
                        <a:t>Single junction devices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smtClean="0"/>
                        <a:t>Multiple junction ICs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smtClean="0"/>
                        <a:t>Wire-bondable or solderable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Wide operating frequency range, to</a:t>
                      </a:r>
                      <a:r>
                        <a:rPr lang="en-US" sz="1400" baseline="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 30 GHz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400" baseline="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Good power handling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400" baseline="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Available as:</a:t>
                      </a:r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400" baseline="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Unpackaged chips</a:t>
                      </a:r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400" baseline="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SMT packages</a:t>
                      </a:r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400" baseline="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Ceramic Packages</a:t>
                      </a:r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400" baseline="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Beam leads</a:t>
                      </a:r>
                      <a:endParaRPr lang="en-US" sz="1400" dirty="0" smtClean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  <a:p>
                      <a:endParaRPr 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Extremely Wide operating frequency range, to 100 GHz 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Lower insertion loss than comparable Si or GaAs switches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aseline="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I layer: 3 µm</a:t>
                      </a:r>
                      <a:endParaRPr lang="en-US" sz="1400" dirty="0" smtClean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Available as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Multiple junction ICs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Wire-bondable</a:t>
                      </a:r>
                      <a:endParaRPr lang="en-US" sz="14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1358513">
            <a:off x="3821086" y="1862218"/>
            <a:ext cx="339264" cy="147190"/>
          </a:xfrm>
          <a:prstGeom prst="rect">
            <a:avLst/>
          </a:prstGeom>
          <a:solidFill>
            <a:schemeClr val="folHlink">
              <a:alpha val="94901"/>
            </a:schemeClr>
          </a:solidFill>
          <a:ln w="28575">
            <a:solidFill>
              <a:schemeClr val="folHlink"/>
            </a:solidFill>
            <a:miter lim="800000"/>
            <a:headEnd/>
            <a:tailEnd/>
          </a:ln>
        </p:spPr>
      </p:pic>
      <p:pic>
        <p:nvPicPr>
          <p:cNvPr id="8" name="Picture 2" descr="Varactor_crop_rot"/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19846674">
            <a:off x="5873120" y="2138816"/>
            <a:ext cx="300929" cy="3009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4" descr="HeteroSP5T"/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159480" y="1822261"/>
            <a:ext cx="876282" cy="708446"/>
          </a:xfrm>
          <a:prstGeom prst="rect">
            <a:avLst/>
          </a:prstGeom>
        </p:spPr>
      </p:pic>
      <p:pic>
        <p:nvPicPr>
          <p:cNvPr id="10" name="Picture 5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19934200">
            <a:off x="2814576" y="1844234"/>
            <a:ext cx="779092" cy="664499"/>
          </a:xfrm>
          <a:prstGeom prst="rect">
            <a:avLst/>
          </a:prstGeom>
          <a:noFill/>
          <a:ln w="9525" algn="ctr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11" descr="2012"/>
          <p:cNvPicPr>
            <a:picLocks noChangeAspect="1" noChangeArrowheads="1"/>
          </p:cNvPicPr>
          <p:nvPr/>
        </p:nvPicPr>
        <p:blipFill>
          <a:blip r:embed="rId6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99970" y="1987313"/>
            <a:ext cx="393943" cy="39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17" descr="pindiode chips"/>
          <p:cNvPicPr>
            <a:picLocks noChangeAspect="1" noChangeArrowheads="1"/>
          </p:cNvPicPr>
          <p:nvPr/>
        </p:nvPicPr>
        <p:blipFill>
          <a:blip r:embed="rId7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410954" y="1881784"/>
            <a:ext cx="406492" cy="499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8" descr="Beamlead"/>
          <p:cNvPicPr>
            <a:picLocks noChangeAspect="1" noChangeArrowheads="1"/>
          </p:cNvPicPr>
          <p:nvPr/>
        </p:nvPicPr>
        <p:blipFill>
          <a:blip r:embed="rId8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955511" y="1856498"/>
            <a:ext cx="556767" cy="655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" name="Picture 466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62791" y="2186194"/>
            <a:ext cx="611658" cy="490936"/>
          </a:xfrm>
          <a:prstGeom prst="rect">
            <a:avLst/>
          </a:prstGeom>
          <a:noFill/>
        </p:spPr>
      </p:pic>
      <p:grpSp>
        <p:nvGrpSpPr>
          <p:cNvPr id="16" name="Group 15"/>
          <p:cNvGrpSpPr/>
          <p:nvPr/>
        </p:nvGrpSpPr>
        <p:grpSpPr>
          <a:xfrm>
            <a:off x="5219760" y="2069039"/>
            <a:ext cx="449650" cy="384761"/>
            <a:chOff x="939434" y="5386577"/>
            <a:chExt cx="716415" cy="750093"/>
          </a:xfrm>
        </p:grpSpPr>
        <p:pic>
          <p:nvPicPr>
            <p:cNvPr id="17" name="Picture 21"/>
            <p:cNvPicPr>
              <a:picLocks noChangeAspect="1" noChangeArrowheads="1"/>
            </p:cNvPicPr>
            <p:nvPr/>
          </p:nvPicPr>
          <p:blipFill>
            <a:blip r:embed="rId10" cstate="print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rcRect/>
            <a:stretch>
              <a:fillRect/>
            </a:stretch>
          </p:blipFill>
          <p:spPr bwMode="auto">
            <a:xfrm>
              <a:off x="939434" y="5719945"/>
              <a:ext cx="716415" cy="416725"/>
            </a:xfrm>
            <a:prstGeom prst="rect">
              <a:avLst/>
            </a:prstGeom>
            <a:noFill/>
          </p:spPr>
        </p:pic>
        <p:pic>
          <p:nvPicPr>
            <p:cNvPr id="18" name="Picture 18"/>
            <p:cNvPicPr>
              <a:picLocks noChangeAspect="1" noChangeArrowheads="1"/>
            </p:cNvPicPr>
            <p:nvPr/>
          </p:nvPicPr>
          <p:blipFill>
            <a:blip r:embed="rId11" cstate="print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rcRect/>
            <a:stretch>
              <a:fillRect/>
            </a:stretch>
          </p:blipFill>
          <p:spPr bwMode="auto">
            <a:xfrm rot="10800000">
              <a:off x="952450" y="5386577"/>
              <a:ext cx="683637" cy="333368"/>
            </a:xfrm>
            <a:prstGeom prst="rect">
              <a:avLst/>
            </a:prstGeom>
            <a:noFill/>
          </p:spPr>
        </p:pic>
      </p:grpSp>
    </p:spTree>
    <p:extLst>
      <p:ext uri="{BB962C8B-B14F-4D97-AF65-F5344CB8AC3E}">
        <p14:creationId xmlns:p14="http://schemas.microsoft.com/office/powerpoint/2010/main" val="1549042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/>
          </p:cNvSpPr>
          <p:nvPr>
            <p:ph type="title" idx="4294967295"/>
          </p:nvPr>
        </p:nvSpPr>
        <p:spPr>
          <a:xfrm>
            <a:off x="109184" y="308265"/>
            <a:ext cx="6540500" cy="547688"/>
          </a:xfrm>
        </p:spPr>
        <p:txBody>
          <a:bodyPr/>
          <a:lstStyle/>
          <a:p>
            <a:r>
              <a:rPr lang="en-US" dirty="0"/>
              <a:t>HMIC</a:t>
            </a:r>
            <a:r>
              <a:rPr lang="en-US" baseline="42000" dirty="0"/>
              <a:t>TM</a:t>
            </a:r>
            <a:r>
              <a:rPr lang="en-US" dirty="0"/>
              <a:t> Discrete Diode Solution</a:t>
            </a:r>
          </a:p>
        </p:txBody>
      </p:sp>
      <p:sp>
        <p:nvSpPr>
          <p:cNvPr id="50454" name="Oval 1302">
            <a:hlinkClick r:id="" action="ppaction://noaction"/>
          </p:cNvPr>
          <p:cNvSpPr>
            <a:spLocks noChangeArrowheads="1"/>
          </p:cNvSpPr>
          <p:nvPr/>
        </p:nvSpPr>
        <p:spPr bwMode="auto">
          <a:xfrm>
            <a:off x="7535863" y="0"/>
            <a:ext cx="1608137" cy="903288"/>
          </a:xfrm>
          <a:prstGeom prst="ellipse">
            <a:avLst/>
          </a:prstGeom>
          <a:solidFill>
            <a:schemeClr val="bg1">
              <a:alpha val="0"/>
            </a:schemeClr>
          </a:soli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graphicFrame>
        <p:nvGraphicFramePr>
          <p:cNvPr id="15" name="Table 14"/>
          <p:cNvGraphicFramePr>
            <a:graphicFrameLocks noGrp="1"/>
          </p:cNvGraphicFramePr>
          <p:nvPr>
            <p:extLst/>
          </p:nvPr>
        </p:nvGraphicFramePr>
        <p:xfrm>
          <a:off x="131978" y="1842004"/>
          <a:ext cx="8853522" cy="5044440"/>
        </p:xfrm>
        <a:graphic>
          <a:graphicData uri="http://schemas.openxmlformats.org/drawingml/2006/table">
            <a:tbl>
              <a:tblPr firstRow="1" bandRow="1">
                <a:effectLst>
                  <a:innerShdw blurRad="63500" dist="50800" dir="2700000">
                    <a:prstClr val="black">
                      <a:alpha val="50000"/>
                    </a:prstClr>
                  </a:innerShdw>
                </a:effectLst>
                <a:tableStyleId>{5C22544A-7EE6-4342-B048-85BDC9FD1C3A}</a:tableStyleId>
              </a:tblPr>
              <a:tblGrid>
                <a:gridCol w="1301635"/>
                <a:gridCol w="650817"/>
                <a:gridCol w="464869"/>
                <a:gridCol w="623347"/>
                <a:gridCol w="548640"/>
                <a:gridCol w="548640"/>
                <a:gridCol w="640080"/>
                <a:gridCol w="464869"/>
                <a:gridCol w="548640"/>
                <a:gridCol w="548640"/>
                <a:gridCol w="548640"/>
                <a:gridCol w="548640"/>
                <a:gridCol w="669130"/>
                <a:gridCol w="746935"/>
              </a:tblGrid>
              <a:tr h="221032">
                <a:tc rowSpan="2">
                  <a:txBody>
                    <a:bodyPr/>
                    <a:lstStyle/>
                    <a:p>
                      <a:pPr algn="ctr"/>
                      <a:r>
                        <a:rPr lang="en-US" sz="1000" b="1" dirty="0" smtClean="0">
                          <a:solidFill>
                            <a:schemeClr val="bg1"/>
                          </a:solidFill>
                        </a:rPr>
                        <a:t>Part Number</a:t>
                      </a:r>
                      <a:endParaRPr 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000" b="1" dirty="0" smtClean="0">
                          <a:solidFill>
                            <a:schemeClr val="bg1"/>
                          </a:solidFill>
                        </a:rPr>
                        <a:t>Size</a:t>
                      </a:r>
                    </a:p>
                    <a:p>
                      <a:pPr algn="ctr"/>
                      <a:r>
                        <a:rPr lang="en-US" sz="1000" b="1" dirty="0" smtClean="0">
                          <a:solidFill>
                            <a:schemeClr val="bg1"/>
                          </a:solidFill>
                        </a:rPr>
                        <a:t>(mils)</a:t>
                      </a:r>
                      <a:endParaRPr 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000" b="1" dirty="0" smtClean="0">
                          <a:solidFill>
                            <a:schemeClr val="bg1"/>
                          </a:solidFill>
                        </a:rPr>
                        <a:t>VB</a:t>
                      </a:r>
                    </a:p>
                    <a:p>
                      <a:pPr algn="ctr"/>
                      <a:r>
                        <a:rPr lang="en-US" sz="1000" b="1" dirty="0" smtClean="0">
                          <a:solidFill>
                            <a:schemeClr val="bg1"/>
                          </a:solidFill>
                        </a:rPr>
                        <a:t>(V)</a:t>
                      </a:r>
                      <a:endParaRPr 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aseline="0" dirty="0" smtClean="0"/>
                        <a:t>1 MHz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900" baseline="0" dirty="0" smtClean="0"/>
                        <a:t>100 MHz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baseline="0" dirty="0" smtClean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sz="900" baseline="0" dirty="0" smtClean="0"/>
                        <a:t>1 GHz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baseline="0" dirty="0" smtClean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baseline="0" dirty="0" smtClean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 smtClean="0">
                          <a:solidFill>
                            <a:schemeClr val="bg1"/>
                          </a:solidFill>
                        </a:rPr>
                        <a:t>Lifetime (ns)</a:t>
                      </a:r>
                      <a:endParaRPr 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 smtClean="0">
                          <a:solidFill>
                            <a:schemeClr val="bg1"/>
                          </a:solidFill>
                        </a:rPr>
                        <a:t>Nominal </a:t>
                      </a:r>
                    </a:p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 smtClean="0">
                          <a:solidFill>
                            <a:schemeClr val="bg1"/>
                          </a:solidFill>
                        </a:rPr>
                        <a:t>I-region  (</a:t>
                      </a:r>
                      <a:r>
                        <a:rPr lang="en-US" sz="1000" b="1" dirty="0" smtClean="0">
                          <a:solidFill>
                            <a:schemeClr val="bg1"/>
                          </a:solidFill>
                          <a:sym typeface="Symbol"/>
                        </a:rPr>
                        <a:t>m)</a:t>
                      </a:r>
                      <a:endParaRPr 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42063">
                <a:tc vMerge="1"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smtClean="0">
                          <a:solidFill>
                            <a:schemeClr val="bg1"/>
                          </a:solidFill>
                        </a:rPr>
                        <a:t>Cj</a:t>
                      </a:r>
                    </a:p>
                    <a:p>
                      <a:pPr algn="ctr"/>
                      <a:r>
                        <a:rPr lang="en-US" sz="1000" b="1" dirty="0" smtClean="0">
                          <a:solidFill>
                            <a:schemeClr val="bg1"/>
                          </a:solidFill>
                        </a:rPr>
                        <a:t>40 V </a:t>
                      </a:r>
                    </a:p>
                    <a:p>
                      <a:pPr algn="ctr"/>
                      <a:r>
                        <a:rPr lang="en-US" sz="1000" b="1" dirty="0" smtClean="0">
                          <a:solidFill>
                            <a:schemeClr val="bg1"/>
                          </a:solidFill>
                        </a:rPr>
                        <a:t>(pF)</a:t>
                      </a:r>
                      <a:endParaRPr 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smtClean="0">
                          <a:solidFill>
                            <a:schemeClr val="bg1"/>
                          </a:solidFill>
                        </a:rPr>
                        <a:t>Rs</a:t>
                      </a:r>
                      <a:r>
                        <a:rPr lang="en-US" sz="1000" b="1" baseline="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</a:p>
                    <a:p>
                      <a:pPr algn="ctr"/>
                      <a:r>
                        <a:rPr lang="en-US" sz="1000" b="1" baseline="0" dirty="0" smtClean="0">
                          <a:solidFill>
                            <a:schemeClr val="bg1"/>
                          </a:solidFill>
                        </a:rPr>
                        <a:t>10 mA</a:t>
                      </a:r>
                    </a:p>
                    <a:p>
                      <a:pPr algn="ctr"/>
                      <a:r>
                        <a:rPr lang="en-US" sz="1000" b="1" baseline="0" dirty="0" smtClean="0">
                          <a:solidFill>
                            <a:schemeClr val="bg1"/>
                          </a:solidFill>
                          <a:sym typeface="Symbol"/>
                        </a:rPr>
                        <a:t>()</a:t>
                      </a:r>
                      <a:endParaRPr lang="en-US" sz="1000" b="1" baseline="0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smtClean="0">
                          <a:solidFill>
                            <a:schemeClr val="bg1"/>
                          </a:solidFill>
                        </a:rPr>
                        <a:t>Rs</a:t>
                      </a:r>
                      <a:r>
                        <a:rPr lang="en-US" sz="1000" b="1" baseline="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</a:p>
                    <a:p>
                      <a:pPr algn="ctr"/>
                      <a:r>
                        <a:rPr lang="en-US" sz="1000" b="1" baseline="0" dirty="0" smtClean="0">
                          <a:solidFill>
                            <a:schemeClr val="bg1"/>
                          </a:solidFill>
                        </a:rPr>
                        <a:t>20 mA</a:t>
                      </a:r>
                    </a:p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baseline="0" dirty="0" smtClean="0">
                          <a:solidFill>
                            <a:schemeClr val="bg1"/>
                          </a:solidFill>
                          <a:sym typeface="Symbol"/>
                        </a:rPr>
                        <a:t>()</a:t>
                      </a:r>
                      <a:endParaRPr lang="en-US" sz="1000" b="1" baseline="0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 smtClean="0">
                          <a:solidFill>
                            <a:schemeClr val="bg1"/>
                          </a:solidFill>
                        </a:rPr>
                        <a:t>Rs</a:t>
                      </a:r>
                      <a:r>
                        <a:rPr lang="en-US" sz="1000" b="1" baseline="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</a:p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baseline="0" dirty="0" smtClean="0">
                          <a:solidFill>
                            <a:schemeClr val="bg1"/>
                          </a:solidFill>
                        </a:rPr>
                        <a:t>100 mA</a:t>
                      </a:r>
                    </a:p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baseline="0" dirty="0" smtClean="0">
                          <a:solidFill>
                            <a:schemeClr val="bg1"/>
                          </a:solidFill>
                          <a:sym typeface="Symbol"/>
                        </a:rPr>
                        <a:t>()</a:t>
                      </a:r>
                      <a:endParaRPr 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smtClean="0">
                          <a:solidFill>
                            <a:schemeClr val="bg1"/>
                          </a:solidFill>
                        </a:rPr>
                        <a:t>Cj</a:t>
                      </a:r>
                    </a:p>
                    <a:p>
                      <a:pPr algn="ctr"/>
                      <a:r>
                        <a:rPr lang="en-US" sz="1000" b="1" dirty="0" smtClean="0">
                          <a:solidFill>
                            <a:schemeClr val="bg1"/>
                          </a:solidFill>
                        </a:rPr>
                        <a:t>40 V </a:t>
                      </a:r>
                    </a:p>
                    <a:p>
                      <a:pPr algn="ctr"/>
                      <a:r>
                        <a:rPr lang="en-US" sz="1000" b="1" dirty="0" smtClean="0">
                          <a:solidFill>
                            <a:schemeClr val="bg1"/>
                          </a:solidFill>
                        </a:rPr>
                        <a:t>(pF)</a:t>
                      </a:r>
                      <a:endParaRPr 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 smtClean="0">
                          <a:solidFill>
                            <a:schemeClr val="bg1"/>
                          </a:solidFill>
                        </a:rPr>
                        <a:t>Rs</a:t>
                      </a:r>
                      <a:r>
                        <a:rPr lang="en-US" sz="1000" b="1" baseline="0" dirty="0" smtClean="0">
                          <a:solidFill>
                            <a:schemeClr val="bg1"/>
                          </a:solidFill>
                        </a:rPr>
                        <a:t> 10 mA</a:t>
                      </a:r>
                    </a:p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baseline="0" dirty="0" smtClean="0">
                          <a:solidFill>
                            <a:schemeClr val="bg1"/>
                          </a:solidFill>
                          <a:sym typeface="Symbol"/>
                        </a:rPr>
                        <a:t>()</a:t>
                      </a:r>
                      <a:endParaRPr lang="en-US" sz="1000" b="1" baseline="0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 smtClean="0">
                          <a:solidFill>
                            <a:schemeClr val="bg1"/>
                          </a:solidFill>
                        </a:rPr>
                        <a:t>Rs</a:t>
                      </a:r>
                      <a:r>
                        <a:rPr lang="en-US" sz="1000" b="1" baseline="0" dirty="0" smtClean="0">
                          <a:solidFill>
                            <a:schemeClr val="bg1"/>
                          </a:solidFill>
                        </a:rPr>
                        <a:t> 20 mA </a:t>
                      </a:r>
                      <a:r>
                        <a:rPr lang="en-US" sz="1000" b="1" baseline="0" dirty="0" smtClean="0">
                          <a:solidFill>
                            <a:schemeClr val="bg1"/>
                          </a:solidFill>
                          <a:sym typeface="Symbol"/>
                        </a:rPr>
                        <a:t>()</a:t>
                      </a:r>
                      <a:endParaRPr lang="en-US" sz="1000" b="1" baseline="0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 smtClean="0">
                          <a:solidFill>
                            <a:schemeClr val="bg1"/>
                          </a:solidFill>
                        </a:rPr>
                        <a:t>Rs</a:t>
                      </a:r>
                      <a:r>
                        <a:rPr lang="en-US" sz="1000" b="1" baseline="0" dirty="0" smtClean="0">
                          <a:solidFill>
                            <a:schemeClr val="bg1"/>
                          </a:solidFill>
                        </a:rPr>
                        <a:t> 50 mA </a:t>
                      </a:r>
                      <a:r>
                        <a:rPr lang="en-US" sz="1000" b="1" baseline="0" dirty="0" smtClean="0">
                          <a:solidFill>
                            <a:schemeClr val="bg1"/>
                          </a:solidFill>
                          <a:sym typeface="Symbol"/>
                        </a:rPr>
                        <a:t>()</a:t>
                      </a:r>
                      <a:endParaRPr 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 smtClean="0">
                          <a:solidFill>
                            <a:schemeClr val="bg1"/>
                          </a:solidFill>
                        </a:rPr>
                        <a:t>Rs</a:t>
                      </a:r>
                      <a:r>
                        <a:rPr lang="en-US" sz="1000" b="1" baseline="0" dirty="0" smtClean="0">
                          <a:solidFill>
                            <a:schemeClr val="bg1"/>
                          </a:solidFill>
                        </a:rPr>
                        <a:t> 70 mA </a:t>
                      </a:r>
                      <a:r>
                        <a:rPr lang="en-US" sz="1000" b="1" baseline="0" dirty="0" smtClean="0">
                          <a:solidFill>
                            <a:schemeClr val="bg1"/>
                          </a:solidFill>
                          <a:sym typeface="Symbol"/>
                        </a:rPr>
                        <a:t>()</a:t>
                      </a:r>
                      <a:endParaRPr 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91561"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MADP-042305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22 X 41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80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0.13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0.14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1.32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1.18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180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7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91561"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MADP-042405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22 X 41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80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0.57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0.58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0.62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0.58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255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7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91561"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MADP-042505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22 X 41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80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0.27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0.27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0.83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0.76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210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7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91561"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MADP-042905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22 X 41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80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0.06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0.06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3.14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2.6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140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7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91561"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MA4SPS302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23 X</a:t>
                      </a:r>
                      <a:r>
                        <a:rPr lang="en-US" sz="900" baseline="0" dirty="0" smtClean="0"/>
                        <a:t> 55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70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0.40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1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0.30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1.3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460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10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91561"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MA4SPS402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20 X 49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70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0.034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4.6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0.04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5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200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10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91561"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MADP-017015-1314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60 X 30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115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0.32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0.31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0.72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0.51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1300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15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91561"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MADP-030015-1314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60 X 30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115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0.79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0.78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0.49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0.38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1600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15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91561"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MADP-017025-1314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60 X 30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135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0.23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0.23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1.01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0.64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2300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25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91561"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MADP-030025-1314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60 X 30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135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0.50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0.50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0.65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0.45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2800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25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91561"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MA4SPS502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 smtClean="0"/>
                        <a:t>23 X 57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 smtClean="0"/>
                        <a:t>200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0.14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2.4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1.4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0.09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2800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50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91561"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MA4SPS552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 smtClean="0"/>
                        <a:t>12 X 22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200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0.08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2.4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1.7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0.06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2500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50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91561"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MA4SPS421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 smtClean="0"/>
                        <a:t>20 X 41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200</a:t>
                      </a:r>
                      <a:endParaRPr lang="en-US" sz="900" dirty="0"/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0.09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0.07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6.2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5000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100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91561"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MA4SPS422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 smtClean="0"/>
                        <a:t>20 X 41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200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0.18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0.13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3.1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10000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100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91561"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MADP-042308-1306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 smtClean="0"/>
                        <a:t>20 X 41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100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0.20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0.10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1.38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1.18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280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10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91561"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MADP-042408-1306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 smtClean="0"/>
                        <a:t>20 X 41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100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0.50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0.37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0.67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0.61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380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10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91561"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MADP-042508-1306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 smtClean="0"/>
                        <a:t>20 X 41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100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0.30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0.18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0.97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0.87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310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10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91561"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MADP-042908-1306 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 smtClean="0"/>
                        <a:t>20 X 41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100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0.15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0.05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3.63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3.02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230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 smtClean="0"/>
                        <a:t>10</a:t>
                      </a:r>
                      <a:endParaRPr lang="en-US" sz="9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143731" y="1168446"/>
            <a:ext cx="4419921" cy="11172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 smtClean="0"/>
              <a:t>Surmount PIN diodes</a:t>
            </a:r>
          </a:p>
          <a:p>
            <a:pPr algn="l"/>
            <a:r>
              <a:rPr lang="en-US" dirty="0" smtClean="0"/>
              <a:t>Available I-region Thickness: 7 to 100 µm</a:t>
            </a:r>
          </a:p>
          <a:p>
            <a:pPr algn="l"/>
            <a:endParaRPr lang="en-US" dirty="0" smtClean="0"/>
          </a:p>
        </p:txBody>
      </p:sp>
      <p:pic>
        <p:nvPicPr>
          <p:cNvPr id="17" name="Picture 130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11630498">
            <a:off x="7407028" y="1309177"/>
            <a:ext cx="837825" cy="322343"/>
          </a:xfrm>
          <a:prstGeom prst="rect">
            <a:avLst/>
          </a:prstGeom>
          <a:noFill/>
          <a:ln w="9525" algn="ctr">
            <a:pattFill prst="pct25">
              <a:fgClr>
                <a:schemeClr val="tx1"/>
              </a:fgClr>
              <a:bgClr>
                <a:schemeClr val="accent1"/>
              </a:bgClr>
            </a:pattFill>
            <a:miter lim="800000"/>
            <a:headEnd/>
            <a:tailEnd/>
          </a:ln>
          <a:effectLst/>
        </p:spPr>
      </p:pic>
      <p:pic>
        <p:nvPicPr>
          <p:cNvPr id="18" name="Picture 130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8316774">
            <a:off x="5317589" y="1272855"/>
            <a:ext cx="744977" cy="286621"/>
          </a:xfrm>
          <a:prstGeom prst="rect">
            <a:avLst/>
          </a:prstGeom>
          <a:noFill/>
          <a:ln w="9525" algn="ctr">
            <a:pattFill prst="pct25">
              <a:fgClr>
                <a:schemeClr val="tx1"/>
              </a:fgClr>
              <a:bgClr>
                <a:schemeClr val="accent1"/>
              </a:bgClr>
            </a:pattFill>
            <a:miter lim="800000"/>
            <a:headEnd/>
            <a:tailEnd/>
          </a:ln>
          <a:effectLst/>
        </p:spPr>
      </p:pic>
      <p:pic>
        <p:nvPicPr>
          <p:cNvPr id="19" name="Picture 130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12389760">
            <a:off x="6319283" y="1225957"/>
            <a:ext cx="806358" cy="310236"/>
          </a:xfrm>
          <a:prstGeom prst="rect">
            <a:avLst/>
          </a:prstGeom>
          <a:noFill/>
          <a:ln w="9525" algn="ctr">
            <a:pattFill prst="pct25">
              <a:fgClr>
                <a:schemeClr val="tx1"/>
              </a:fgClr>
              <a:bgClr>
                <a:schemeClr val="accent1"/>
              </a:bgClr>
            </a:pattFill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223885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 smtClean="0"/>
              <a:t>PIN Switches</a:t>
            </a:r>
            <a:endParaRPr lang="en-US" sz="36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Modules</a:t>
            </a:r>
            <a:br>
              <a:rPr lang="en-US" dirty="0"/>
            </a:br>
            <a:r>
              <a:rPr lang="en-US" dirty="0"/>
              <a:t>Single-Chip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5389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757" name="Rectangle 109"/>
          <p:cNvSpPr>
            <a:spLocks noGrp="1"/>
          </p:cNvSpPr>
          <p:nvPr>
            <p:ph type="title" idx="4294967295"/>
          </p:nvPr>
        </p:nvSpPr>
        <p:spPr>
          <a:xfrm>
            <a:off x="95536" y="381281"/>
            <a:ext cx="6489568" cy="457200"/>
          </a:xfrm>
        </p:spPr>
        <p:txBody>
          <a:bodyPr>
            <a:noAutofit/>
          </a:bodyPr>
          <a:lstStyle/>
          <a:p>
            <a:r>
              <a:rPr lang="en-US" sz="2400" dirty="0" smtClean="0"/>
              <a:t>X-Band </a:t>
            </a:r>
            <a:r>
              <a:rPr lang="en-US" sz="2400" dirty="0"/>
              <a:t>Terminated SPDT Switch  </a:t>
            </a:r>
            <a:br>
              <a:rPr lang="en-US" sz="2400" dirty="0"/>
            </a:br>
            <a:r>
              <a:rPr lang="en-US" sz="2400" dirty="0"/>
              <a:t>MASW-011071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3073754">
            <a:off x="7940779" y="4038517"/>
            <a:ext cx="614150" cy="62573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0773" y="4724058"/>
            <a:ext cx="645034" cy="65095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52123" y="1159093"/>
            <a:ext cx="4572000" cy="2923877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dirty="0" smtClean="0"/>
              <a:t>Low </a:t>
            </a:r>
            <a:r>
              <a:rPr lang="en-US" sz="2000" dirty="0"/>
              <a:t>Insertion Loss: 1 dB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dirty="0" smtClean="0"/>
              <a:t>High </a:t>
            </a:r>
            <a:r>
              <a:rPr lang="en-US" sz="2000" dirty="0"/>
              <a:t>Isolation: 38 dB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dirty="0" smtClean="0"/>
              <a:t>Integrated </a:t>
            </a:r>
            <a:r>
              <a:rPr lang="en-US" sz="2000" dirty="0"/>
              <a:t>Bias Network and Termination Circuit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dirty="0" smtClean="0"/>
              <a:t>Greater </a:t>
            </a:r>
            <a:r>
              <a:rPr lang="en-US" sz="2000" dirty="0"/>
              <a:t>than 20 W CW Power Handling @ </a:t>
            </a:r>
            <a:r>
              <a:rPr lang="en-US" sz="2000" dirty="0" smtClean="0"/>
              <a:t>70 °</a:t>
            </a:r>
            <a:r>
              <a:rPr lang="en-US" sz="2000" dirty="0"/>
              <a:t>C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dirty="0" smtClean="0"/>
              <a:t>Lead (Pb)-Free </a:t>
            </a:r>
            <a:r>
              <a:rPr lang="en-US" sz="2000" dirty="0"/>
              <a:t>7 </a:t>
            </a:r>
            <a:r>
              <a:rPr lang="en-US" sz="2000" dirty="0" smtClean="0"/>
              <a:t>x 7 mm </a:t>
            </a:r>
            <a:r>
              <a:rPr lang="en-US" sz="2000" dirty="0"/>
              <a:t>44-lead PQFN Package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1632" y="4180789"/>
            <a:ext cx="3038475" cy="22860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00107" y="4104589"/>
            <a:ext cx="3048000" cy="2362200"/>
          </a:xfrm>
          <a:prstGeom prst="rect">
            <a:avLst/>
          </a:prstGeom>
        </p:spPr>
      </p:pic>
      <p:pic>
        <p:nvPicPr>
          <p:cNvPr id="2052" name="Picture 4" descr="http://media.komonews.com/images/070720_X_Band_Radar.jp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414682" y="1271544"/>
            <a:ext cx="2833172" cy="2124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5534449" y="3435153"/>
            <a:ext cx="27134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Missile Defense, Weather Radar Systems</a:t>
            </a:r>
          </a:p>
        </p:txBody>
      </p:sp>
    </p:spTree>
    <p:extLst>
      <p:ext uri="{BB962C8B-B14F-4D97-AF65-F5344CB8AC3E}">
        <p14:creationId xmlns:p14="http://schemas.microsoft.com/office/powerpoint/2010/main" val="3981280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20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228539" y="1282520"/>
            <a:ext cx="5349875" cy="4918075"/>
          </a:xfrm>
          <a:noFill/>
        </p:spPr>
        <p:txBody>
          <a:bodyPr lIns="90488" tIns="44450" rIns="90488" bIns="44450">
            <a:noAutofit/>
          </a:bodyPr>
          <a:lstStyle/>
          <a:p>
            <a:pPr eaLnBrk="1" hangingPunct="1">
              <a:lnSpc>
                <a:spcPct val="80000"/>
              </a:lnSpc>
              <a:spcBef>
                <a:spcPct val="70000"/>
              </a:spcBef>
              <a:buFont typeface="Arial" charset="0"/>
              <a:buNone/>
            </a:pPr>
            <a:r>
              <a:rPr lang="en-US" b="1" i="1" dirty="0"/>
              <a:t>Products</a:t>
            </a:r>
          </a:p>
          <a:p>
            <a:pPr lvl="1" eaLnBrk="1" hangingPunct="1">
              <a:lnSpc>
                <a:spcPct val="90000"/>
              </a:lnSpc>
              <a:spcBef>
                <a:spcPct val="10000"/>
              </a:spcBef>
              <a:buClr>
                <a:schemeClr val="bg1"/>
              </a:buClr>
              <a:buFont typeface="Webdings" pitchFamily="18" charset="2"/>
              <a:buChar char="a"/>
            </a:pPr>
            <a:r>
              <a:rPr lang="en-US" sz="1600" dirty="0" smtClean="0"/>
              <a:t>MASW-001100-11900W (</a:t>
            </a:r>
            <a:r>
              <a:rPr lang="en-US" sz="1600" dirty="0"/>
              <a:t>SPST)</a:t>
            </a:r>
          </a:p>
          <a:p>
            <a:pPr lvl="1" eaLnBrk="1" hangingPunct="1">
              <a:lnSpc>
                <a:spcPct val="90000"/>
              </a:lnSpc>
              <a:spcBef>
                <a:spcPct val="10000"/>
              </a:spcBef>
              <a:buClr>
                <a:schemeClr val="bg1"/>
              </a:buClr>
              <a:buFont typeface="Webdings" pitchFamily="18" charset="2"/>
              <a:buChar char="a"/>
            </a:pPr>
            <a:r>
              <a:rPr lang="en-US" sz="1600" dirty="0"/>
              <a:t>MASW002100-11910W (SPDT)</a:t>
            </a:r>
          </a:p>
          <a:p>
            <a:pPr lvl="1" eaLnBrk="1" hangingPunct="1">
              <a:lnSpc>
                <a:spcPct val="90000"/>
              </a:lnSpc>
              <a:spcBef>
                <a:spcPct val="10000"/>
              </a:spcBef>
              <a:buClr>
                <a:schemeClr val="bg1"/>
              </a:buClr>
              <a:buFont typeface="Webdings" pitchFamily="18" charset="2"/>
              <a:buChar char="a"/>
            </a:pPr>
            <a:r>
              <a:rPr lang="en-US" sz="1600" dirty="0" smtClean="0"/>
              <a:t>MASW-003100-19220W (</a:t>
            </a:r>
            <a:r>
              <a:rPr lang="en-US" sz="1600" dirty="0"/>
              <a:t>SP3T)</a:t>
            </a:r>
          </a:p>
          <a:p>
            <a:pPr lvl="1" eaLnBrk="1" hangingPunct="1">
              <a:lnSpc>
                <a:spcPct val="90000"/>
              </a:lnSpc>
              <a:spcBef>
                <a:spcPct val="10000"/>
              </a:spcBef>
              <a:buClr>
                <a:schemeClr val="bg1"/>
              </a:buClr>
              <a:buFont typeface="Webdings" pitchFamily="18" charset="2"/>
              <a:buChar char="a"/>
            </a:pPr>
            <a:r>
              <a:rPr lang="en-US" sz="1600" dirty="0"/>
              <a:t>MASW-004100-11930W (SP4T) </a:t>
            </a:r>
          </a:p>
          <a:p>
            <a:pPr lvl="1" eaLnBrk="1" hangingPunct="1">
              <a:lnSpc>
                <a:spcPct val="90000"/>
              </a:lnSpc>
              <a:spcBef>
                <a:spcPct val="10000"/>
              </a:spcBef>
              <a:buClr>
                <a:schemeClr val="bg1"/>
              </a:buClr>
              <a:buFont typeface="Webdings" pitchFamily="18" charset="2"/>
              <a:buChar char="a"/>
            </a:pPr>
            <a:r>
              <a:rPr lang="en-US" sz="1600" dirty="0"/>
              <a:t>MASW-005100-11940W (SP5T)</a:t>
            </a:r>
          </a:p>
          <a:p>
            <a:pPr lvl="1" eaLnBrk="1" hangingPunct="1">
              <a:lnSpc>
                <a:spcPct val="60000"/>
              </a:lnSpc>
              <a:spcBef>
                <a:spcPct val="30000"/>
              </a:spcBef>
              <a:buClr>
                <a:schemeClr val="bg1"/>
              </a:buClr>
              <a:buFont typeface="Arial" charset="0"/>
              <a:buNone/>
            </a:pPr>
            <a:endParaRPr lang="en-US" sz="1600" b="1" dirty="0"/>
          </a:p>
          <a:p>
            <a:pPr>
              <a:lnSpc>
                <a:spcPct val="80000"/>
              </a:lnSpc>
              <a:spcBef>
                <a:spcPct val="70000"/>
              </a:spcBef>
              <a:buNone/>
            </a:pPr>
            <a:r>
              <a:rPr lang="en-US" b="1" i="1" dirty="0" smtClean="0"/>
              <a:t>Features</a:t>
            </a:r>
          </a:p>
          <a:p>
            <a:pPr lvl="1" eaLnBrk="1" hangingPunct="1">
              <a:lnSpc>
                <a:spcPct val="100000"/>
              </a:lnSpc>
              <a:spcBef>
                <a:spcPct val="10000"/>
              </a:spcBef>
              <a:spcAft>
                <a:spcPct val="10000"/>
              </a:spcAft>
              <a:buFont typeface="Courier New" pitchFamily="49" charset="0"/>
              <a:buChar char="o"/>
            </a:pPr>
            <a:r>
              <a:rPr lang="en-US" sz="1600" dirty="0" smtClean="0"/>
              <a:t>Operating </a:t>
            </a:r>
            <a:r>
              <a:rPr lang="en-US" sz="1600" dirty="0"/>
              <a:t>Frequency </a:t>
            </a:r>
          </a:p>
          <a:p>
            <a:pPr lvl="2" eaLnBrk="1" hangingPunct="1">
              <a:lnSpc>
                <a:spcPct val="100000"/>
              </a:lnSpc>
              <a:spcBef>
                <a:spcPct val="10000"/>
              </a:spcBef>
              <a:spcAft>
                <a:spcPct val="10000"/>
              </a:spcAft>
              <a:buClrTx/>
              <a:buNone/>
            </a:pPr>
            <a:r>
              <a:rPr lang="en-US" dirty="0"/>
              <a:t>50 MHz – 30 GHz</a:t>
            </a:r>
          </a:p>
          <a:p>
            <a:pPr lvl="1" eaLnBrk="1" hangingPunct="1">
              <a:lnSpc>
                <a:spcPct val="100000"/>
              </a:lnSpc>
              <a:spcBef>
                <a:spcPct val="10000"/>
              </a:spcBef>
              <a:spcAft>
                <a:spcPct val="10000"/>
              </a:spcAft>
              <a:buFont typeface="Courier New" pitchFamily="49" charset="0"/>
              <a:buChar char="o"/>
            </a:pPr>
            <a:r>
              <a:rPr lang="en-US" sz="1600" dirty="0"/>
              <a:t>Series-Shunt Configuration</a:t>
            </a:r>
          </a:p>
          <a:p>
            <a:pPr lvl="1" eaLnBrk="1" hangingPunct="1">
              <a:lnSpc>
                <a:spcPct val="100000"/>
              </a:lnSpc>
              <a:spcBef>
                <a:spcPct val="10000"/>
              </a:spcBef>
              <a:spcAft>
                <a:spcPct val="10000"/>
              </a:spcAft>
              <a:buFont typeface="Courier New" pitchFamily="49" charset="0"/>
              <a:buChar char="o"/>
            </a:pPr>
            <a:r>
              <a:rPr lang="en-US" sz="1600" dirty="0"/>
              <a:t>High </a:t>
            </a:r>
            <a:r>
              <a:rPr lang="en-US" sz="1600" dirty="0" smtClean="0"/>
              <a:t>Isolation: &gt;</a:t>
            </a:r>
            <a:r>
              <a:rPr lang="en-US" sz="1600" dirty="0"/>
              <a:t>35 </a:t>
            </a:r>
            <a:r>
              <a:rPr lang="en-US" sz="1600" dirty="0" smtClean="0"/>
              <a:t>dB </a:t>
            </a:r>
            <a:endParaRPr lang="en-US" sz="1600" dirty="0"/>
          </a:p>
          <a:p>
            <a:pPr lvl="1" eaLnBrk="1" hangingPunct="1">
              <a:lnSpc>
                <a:spcPct val="100000"/>
              </a:lnSpc>
              <a:spcBef>
                <a:spcPct val="10000"/>
              </a:spcBef>
              <a:spcAft>
                <a:spcPct val="10000"/>
              </a:spcAft>
              <a:buFont typeface="Courier New" pitchFamily="49" charset="0"/>
              <a:buChar char="o"/>
            </a:pPr>
            <a:r>
              <a:rPr lang="en-US" sz="1600" dirty="0"/>
              <a:t>Low </a:t>
            </a:r>
            <a:r>
              <a:rPr lang="en-US" sz="1600" dirty="0" smtClean="0"/>
              <a:t>Loss: &lt;</a:t>
            </a:r>
            <a:r>
              <a:rPr lang="en-US" sz="1600" dirty="0"/>
              <a:t>1.0 dB Insertion </a:t>
            </a:r>
            <a:r>
              <a:rPr lang="en-US" sz="1600" dirty="0" smtClean="0"/>
              <a:t>Loss</a:t>
            </a:r>
            <a:endParaRPr lang="en-US" sz="1600" dirty="0"/>
          </a:p>
          <a:p>
            <a:pPr lvl="1">
              <a:spcBef>
                <a:spcPct val="10000"/>
              </a:spcBef>
              <a:spcAft>
                <a:spcPct val="10000"/>
              </a:spcAft>
              <a:buFont typeface="Courier New" pitchFamily="49" charset="0"/>
              <a:buChar char="o"/>
            </a:pPr>
            <a:r>
              <a:rPr lang="en-US" sz="1600" dirty="0" smtClean="0"/>
              <a:t>Switching Time: 50 </a:t>
            </a:r>
            <a:r>
              <a:rPr lang="en-US" sz="1600" dirty="0"/>
              <a:t>ns </a:t>
            </a:r>
          </a:p>
          <a:p>
            <a:pPr lvl="1" eaLnBrk="1" hangingPunct="1">
              <a:lnSpc>
                <a:spcPct val="100000"/>
              </a:lnSpc>
              <a:spcBef>
                <a:spcPct val="10000"/>
              </a:spcBef>
              <a:spcAft>
                <a:spcPct val="10000"/>
              </a:spcAft>
              <a:buFont typeface="Courier New" pitchFamily="49" charset="0"/>
              <a:buChar char="o"/>
            </a:pPr>
            <a:r>
              <a:rPr lang="en-US" sz="1600" dirty="0"/>
              <a:t>Max RF </a:t>
            </a:r>
            <a:r>
              <a:rPr lang="en-US" sz="1600" dirty="0" smtClean="0"/>
              <a:t>Incident Power:</a:t>
            </a:r>
            <a:endParaRPr lang="en-US" sz="1600" dirty="0"/>
          </a:p>
          <a:p>
            <a:pPr lvl="2" eaLnBrk="1" hangingPunct="1">
              <a:lnSpc>
                <a:spcPct val="100000"/>
              </a:lnSpc>
              <a:spcBef>
                <a:spcPct val="10000"/>
              </a:spcBef>
              <a:spcAft>
                <a:spcPct val="10000"/>
              </a:spcAft>
              <a:buClrTx/>
              <a:buNone/>
            </a:pPr>
            <a:r>
              <a:rPr lang="en-US" dirty="0"/>
              <a:t>&gt;6.0 W </a:t>
            </a:r>
            <a:r>
              <a:rPr lang="en-US" dirty="0" smtClean="0"/>
              <a:t>CW @ 2 GHz</a:t>
            </a:r>
            <a:endParaRPr lang="en-US" dirty="0"/>
          </a:p>
          <a:p>
            <a:pPr lvl="2" eaLnBrk="1" hangingPunct="1">
              <a:lnSpc>
                <a:spcPct val="100000"/>
              </a:lnSpc>
              <a:spcBef>
                <a:spcPct val="10000"/>
              </a:spcBef>
              <a:spcAft>
                <a:spcPct val="10000"/>
              </a:spcAft>
              <a:buClrTx/>
              <a:buNone/>
            </a:pPr>
            <a:r>
              <a:rPr lang="en-US" dirty="0"/>
              <a:t>2.0 W </a:t>
            </a:r>
            <a:r>
              <a:rPr lang="en-US" dirty="0" smtClean="0"/>
              <a:t>CW @ 22 GHz</a:t>
            </a:r>
            <a:endParaRPr lang="en-US" dirty="0"/>
          </a:p>
          <a:p>
            <a:pPr lvl="1" eaLnBrk="1" hangingPunct="1">
              <a:lnSpc>
                <a:spcPct val="100000"/>
              </a:lnSpc>
              <a:spcBef>
                <a:spcPct val="10000"/>
              </a:spcBef>
              <a:spcAft>
                <a:spcPct val="10000"/>
              </a:spcAft>
              <a:buFont typeface="Courier New" pitchFamily="49" charset="0"/>
              <a:buChar char="o"/>
            </a:pPr>
            <a:r>
              <a:rPr lang="en-US" sz="1600" dirty="0"/>
              <a:t>RoHS Compliant </a:t>
            </a:r>
          </a:p>
        </p:txBody>
      </p:sp>
      <p:sp>
        <p:nvSpPr>
          <p:cNvPr id="188425" name="Rectangle 8"/>
          <p:cNvSpPr>
            <a:spLocks noGrp="1" noChangeArrowheads="1"/>
          </p:cNvSpPr>
          <p:nvPr>
            <p:ph type="title" idx="4294967295"/>
          </p:nvPr>
        </p:nvSpPr>
        <p:spPr>
          <a:xfrm>
            <a:off x="45628" y="351562"/>
            <a:ext cx="7194158" cy="349250"/>
          </a:xfrm>
        </p:spPr>
        <p:txBody>
          <a:bodyPr lIns="91440" tIns="45720" rIns="91440" bIns="45720" anchor="b">
            <a:noAutofit/>
          </a:bodyPr>
          <a:lstStyle/>
          <a:p>
            <a:r>
              <a:rPr lang="en-US" sz="2400" dirty="0" smtClean="0"/>
              <a:t>HMIC</a:t>
            </a:r>
            <a:r>
              <a:rPr lang="en-US" sz="2400" b="1" dirty="0" smtClean="0">
                <a:latin typeface="+mn-lt"/>
                <a:sym typeface="Symbol" panose="05050102010706020507" pitchFamily="18" charset="2"/>
              </a:rPr>
              <a:t></a:t>
            </a:r>
            <a:r>
              <a:rPr lang="en-US" sz="2400" dirty="0" smtClean="0"/>
              <a:t> Si PIN Switches</a:t>
            </a:r>
            <a:r>
              <a:rPr lang="en-US" sz="2400" dirty="0"/>
              <a:t>:</a:t>
            </a:r>
            <a:r>
              <a:rPr lang="en-US" sz="2400" dirty="0" smtClean="0"/>
              <a:t> </a:t>
            </a:r>
            <a:r>
              <a:rPr lang="en-US" sz="2400" dirty="0"/>
              <a:t>2 </a:t>
            </a:r>
            <a:r>
              <a:rPr lang="en-US" sz="2400" dirty="0" smtClean="0"/>
              <a:t>W, DC </a:t>
            </a:r>
            <a:r>
              <a:rPr lang="en-US" sz="2400" dirty="0"/>
              <a:t>– 26 GHz</a:t>
            </a:r>
          </a:p>
        </p:txBody>
      </p:sp>
      <p:sp>
        <p:nvSpPr>
          <p:cNvPr id="1246211" name="Rectangle 3"/>
          <p:cNvSpPr>
            <a:spLocks noChangeArrowheads="1"/>
          </p:cNvSpPr>
          <p:nvPr/>
        </p:nvSpPr>
        <p:spPr bwMode="auto">
          <a:xfrm>
            <a:off x="7327900" y="3100534"/>
            <a:ext cx="790575" cy="381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algn="ctr" eaLnBrk="0" hangingPunct="0"/>
            <a:r>
              <a:rPr lang="en-US" sz="1400" i="1" dirty="0"/>
              <a:t>SP5T </a:t>
            </a:r>
          </a:p>
        </p:txBody>
      </p:sp>
      <p:pic>
        <p:nvPicPr>
          <p:cNvPr id="18842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89650" y="3865563"/>
            <a:ext cx="2301875" cy="2301875"/>
          </a:xfrm>
          <a:prstGeom prst="rect">
            <a:avLst/>
          </a:prstGeom>
          <a:noFill/>
          <a:ln w="9525" algn="ctr">
            <a:solidFill>
              <a:srgbClr val="000000"/>
            </a:solidFill>
            <a:miter lim="800000"/>
            <a:headEnd/>
            <a:tailEnd/>
          </a:ln>
        </p:spPr>
      </p:pic>
      <p:pic>
        <p:nvPicPr>
          <p:cNvPr id="188423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014913" y="1431925"/>
            <a:ext cx="2312987" cy="1973263"/>
          </a:xfrm>
          <a:prstGeom prst="rect">
            <a:avLst/>
          </a:prstGeom>
          <a:noFill/>
          <a:ln w="9525" algn="ctr">
            <a:solidFill>
              <a:schemeClr val="bg1"/>
            </a:solidFill>
            <a:miter lim="800000"/>
            <a:headEnd/>
            <a:tailEnd/>
          </a:ln>
        </p:spPr>
      </p:pic>
      <p:sp>
        <p:nvSpPr>
          <p:cNvPr id="1246214" name="Rectangle 6"/>
          <p:cNvSpPr>
            <a:spLocks noChangeArrowheads="1"/>
          </p:cNvSpPr>
          <p:nvPr/>
        </p:nvSpPr>
        <p:spPr bwMode="auto">
          <a:xfrm>
            <a:off x="4289425" y="5614988"/>
            <a:ext cx="1724025" cy="6651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algn="ctr" eaLnBrk="0" hangingPunct="0"/>
            <a:r>
              <a:rPr lang="en-US" sz="1400" i="1" dirty="0"/>
              <a:t>SP3T w/ Integrated Bias Network</a:t>
            </a:r>
          </a:p>
        </p:txBody>
      </p:sp>
    </p:spTree>
    <p:extLst>
      <p:ext uri="{BB962C8B-B14F-4D97-AF65-F5344CB8AC3E}">
        <p14:creationId xmlns:p14="http://schemas.microsoft.com/office/powerpoint/2010/main" val="1663865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/>
          </p:cNvSpPr>
          <p:nvPr>
            <p:ph type="title" idx="4294967295"/>
          </p:nvPr>
        </p:nvSpPr>
        <p:spPr>
          <a:xfrm>
            <a:off x="278582" y="563792"/>
            <a:ext cx="5842979" cy="457200"/>
          </a:xfrm>
        </p:spPr>
        <p:txBody>
          <a:bodyPr>
            <a:noAutofit/>
          </a:bodyPr>
          <a:lstStyle/>
          <a:p>
            <a:r>
              <a:rPr lang="en-US" dirty="0"/>
              <a:t>HMIC</a:t>
            </a:r>
            <a:r>
              <a:rPr lang="en-US" baseline="42000" dirty="0"/>
              <a:t>TM</a:t>
            </a:r>
            <a:r>
              <a:rPr lang="en-US" dirty="0"/>
              <a:t> </a:t>
            </a:r>
            <a:r>
              <a:rPr lang="en-US" dirty="0" smtClean="0"/>
              <a:t>Wire-Bondable Switches</a:t>
            </a:r>
            <a:endParaRPr lang="en-US" dirty="0"/>
          </a:p>
        </p:txBody>
      </p:sp>
      <p:sp>
        <p:nvSpPr>
          <p:cNvPr id="56459" name="Oval 2187">
            <a:hlinkClick r:id="" action="ppaction://noaction"/>
          </p:cNvPr>
          <p:cNvSpPr>
            <a:spLocks noChangeArrowheads="1"/>
          </p:cNvSpPr>
          <p:nvPr/>
        </p:nvSpPr>
        <p:spPr bwMode="auto">
          <a:xfrm>
            <a:off x="7535863" y="0"/>
            <a:ext cx="1608137" cy="903288"/>
          </a:xfrm>
          <a:prstGeom prst="ellipse">
            <a:avLst/>
          </a:prstGeom>
          <a:solidFill>
            <a:schemeClr val="bg1">
              <a:alpha val="0"/>
            </a:schemeClr>
          </a:soli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56517" name="Text Box 2245"/>
          <p:cNvSpPr txBox="1">
            <a:spLocks noChangeArrowheads="1"/>
          </p:cNvSpPr>
          <p:nvPr/>
        </p:nvSpPr>
        <p:spPr bwMode="auto">
          <a:xfrm>
            <a:off x="319768" y="1499981"/>
            <a:ext cx="5925786" cy="22960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90000"/>
              </a:lnSpc>
              <a:spcBef>
                <a:spcPct val="35000"/>
              </a:spcBef>
            </a:pPr>
            <a:r>
              <a:rPr lang="en-US" sz="2800" dirty="0" smtClean="0"/>
              <a:t>Features</a:t>
            </a:r>
            <a:r>
              <a:rPr lang="en-US" sz="2400" dirty="0" smtClean="0"/>
              <a:t> </a:t>
            </a:r>
          </a:p>
          <a:p>
            <a:pPr algn="l">
              <a:lnSpc>
                <a:spcPct val="90000"/>
              </a:lnSpc>
              <a:spcBef>
                <a:spcPct val="35000"/>
              </a:spcBef>
              <a:buFont typeface="Wingdings" pitchFamily="2" charset="2"/>
              <a:buChar char="§"/>
            </a:pPr>
            <a:r>
              <a:rPr lang="en-US" sz="2000" dirty="0" smtClean="0"/>
              <a:t>SPST through </a:t>
            </a:r>
            <a:r>
              <a:rPr lang="en-US" sz="2000" dirty="0"/>
              <a:t>SP6T </a:t>
            </a:r>
            <a:endParaRPr lang="en-US" sz="2000" dirty="0" smtClean="0"/>
          </a:p>
          <a:p>
            <a:pPr algn="l">
              <a:lnSpc>
                <a:spcPct val="90000"/>
              </a:lnSpc>
              <a:spcBef>
                <a:spcPct val="35000"/>
              </a:spcBef>
              <a:buFont typeface="Wingdings" pitchFamily="2" charset="2"/>
              <a:buChar char="§"/>
            </a:pPr>
            <a:r>
              <a:rPr lang="en-US" sz="2000" dirty="0" smtClean="0"/>
              <a:t> Broadband Performance to 26 GHz</a:t>
            </a:r>
            <a:endParaRPr lang="en-US" sz="2000" dirty="0"/>
          </a:p>
          <a:p>
            <a:pPr algn="l">
              <a:lnSpc>
                <a:spcPct val="90000"/>
              </a:lnSpc>
              <a:spcBef>
                <a:spcPct val="35000"/>
              </a:spcBef>
              <a:buFont typeface="Wingdings" pitchFamily="2" charset="2"/>
              <a:buChar char="§"/>
            </a:pPr>
            <a:r>
              <a:rPr lang="en-US" sz="2000" dirty="0" smtClean="0"/>
              <a:t> Wire </a:t>
            </a:r>
            <a:r>
              <a:rPr lang="en-US" sz="2000" dirty="0"/>
              <a:t>/Ribbon Bond </a:t>
            </a:r>
            <a:r>
              <a:rPr lang="en-US" sz="2000" dirty="0" smtClean="0"/>
              <a:t>Connections</a:t>
            </a:r>
            <a:endParaRPr lang="en-US" sz="2000" dirty="0"/>
          </a:p>
          <a:p>
            <a:pPr algn="l">
              <a:lnSpc>
                <a:spcPct val="90000"/>
              </a:lnSpc>
              <a:spcBef>
                <a:spcPct val="35000"/>
              </a:spcBef>
              <a:buFont typeface="Wingdings" pitchFamily="2" charset="2"/>
              <a:buChar char="§"/>
            </a:pPr>
            <a:r>
              <a:rPr lang="en-US" sz="2000" dirty="0" smtClean="0"/>
              <a:t> Available With </a:t>
            </a:r>
            <a:r>
              <a:rPr lang="en-US" sz="2000" dirty="0"/>
              <a:t>or </a:t>
            </a:r>
            <a:r>
              <a:rPr lang="en-US" sz="2000" dirty="0" smtClean="0"/>
              <a:t>Without Integrated </a:t>
            </a:r>
            <a:r>
              <a:rPr lang="en-US" sz="2000" dirty="0"/>
              <a:t>Bias </a:t>
            </a:r>
            <a:r>
              <a:rPr lang="en-US" sz="2000" dirty="0" smtClean="0"/>
              <a:t>Networks 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6877937" y="1322375"/>
            <a:ext cx="1885950" cy="2321857"/>
            <a:chOff x="512763" y="1322388"/>
            <a:chExt cx="1885950" cy="2321857"/>
          </a:xfrm>
        </p:grpSpPr>
        <p:grpSp>
          <p:nvGrpSpPr>
            <p:cNvPr id="3" name="Group 2221"/>
            <p:cNvGrpSpPr>
              <a:grpSpLocks/>
            </p:cNvGrpSpPr>
            <p:nvPr/>
          </p:nvGrpSpPr>
          <p:grpSpPr bwMode="auto">
            <a:xfrm rot="-1571532">
              <a:off x="512763" y="1322388"/>
              <a:ext cx="1790700" cy="1827212"/>
              <a:chOff x="83" y="1088"/>
              <a:chExt cx="1450" cy="1235"/>
            </a:xfrm>
          </p:grpSpPr>
          <p:sp>
            <p:nvSpPr>
              <p:cNvPr id="56462" name="Oval 2190"/>
              <p:cNvSpPr>
                <a:spLocks noChangeArrowheads="1"/>
              </p:cNvSpPr>
              <p:nvPr/>
            </p:nvSpPr>
            <p:spPr bwMode="auto">
              <a:xfrm>
                <a:off x="83" y="1088"/>
                <a:ext cx="1450" cy="1235"/>
              </a:xfrm>
              <a:prstGeom prst="ellipse">
                <a:avLst/>
              </a:prstGeom>
              <a:gradFill rotWithShape="1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540000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  <p:pic>
            <p:nvPicPr>
              <p:cNvPr id="54200" name="Picture 1976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3156639">
                <a:off x="451" y="1333"/>
                <a:ext cx="670" cy="667"/>
              </a:xfrm>
              <a:prstGeom prst="rect">
                <a:avLst/>
              </a:prstGeom>
              <a:noFill/>
              <a:ln w="19050" algn="ctr">
                <a:solidFill>
                  <a:srgbClr val="800000"/>
                </a:solidFill>
                <a:miter lim="800000"/>
                <a:headEnd/>
                <a:tailEnd/>
              </a:ln>
              <a:effectLst/>
            </p:spPr>
          </p:pic>
        </p:grpSp>
        <p:sp>
          <p:nvSpPr>
            <p:cNvPr id="56521" name="Text Box 2249"/>
            <p:cNvSpPr txBox="1">
              <a:spLocks noChangeArrowheads="1"/>
            </p:cNvSpPr>
            <p:nvPr/>
          </p:nvSpPr>
          <p:spPr bwMode="auto">
            <a:xfrm>
              <a:off x="581025" y="3121025"/>
              <a:ext cx="1817688" cy="52322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400" dirty="0" smtClean="0"/>
                <a:t>SP3T with Bias </a:t>
              </a:r>
              <a:r>
                <a:rPr lang="en-US" sz="1400" dirty="0"/>
                <a:t>Network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6981950" y="4198633"/>
            <a:ext cx="1817688" cy="2344722"/>
            <a:chOff x="557398" y="3818639"/>
            <a:chExt cx="1817688" cy="2344722"/>
          </a:xfrm>
        </p:grpSpPr>
        <p:grpSp>
          <p:nvGrpSpPr>
            <p:cNvPr id="15" name="Group 14"/>
            <p:cNvGrpSpPr/>
            <p:nvPr/>
          </p:nvGrpSpPr>
          <p:grpSpPr>
            <a:xfrm>
              <a:off x="600446" y="3818639"/>
              <a:ext cx="1668463" cy="1755775"/>
              <a:chOff x="600446" y="3818639"/>
              <a:chExt cx="1668463" cy="1755775"/>
            </a:xfrm>
          </p:grpSpPr>
          <p:sp>
            <p:nvSpPr>
              <p:cNvPr id="56485" name="Oval 2213"/>
              <p:cNvSpPr>
                <a:spLocks noChangeArrowheads="1"/>
              </p:cNvSpPr>
              <p:nvPr/>
            </p:nvSpPr>
            <p:spPr bwMode="auto">
              <a:xfrm rot="3912343">
                <a:off x="556790" y="3862295"/>
                <a:ext cx="1755775" cy="1668463"/>
              </a:xfrm>
              <a:prstGeom prst="ellipse">
                <a:avLst/>
              </a:prstGeom>
              <a:gradFill rotWithShape="1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540000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  <p:pic>
            <p:nvPicPr>
              <p:cNvPr id="56448" name="Picture 2176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 rot="2488733">
                <a:off x="929238" y="4213381"/>
                <a:ext cx="1029247" cy="998376"/>
              </a:xfrm>
              <a:prstGeom prst="rect">
                <a:avLst/>
              </a:prstGeom>
              <a:noFill/>
              <a:ln w="15875">
                <a:solidFill>
                  <a:srgbClr val="993300"/>
                </a:solidFill>
                <a:miter lim="800000"/>
                <a:headEnd/>
                <a:tailEnd/>
              </a:ln>
            </p:spPr>
          </p:pic>
        </p:grpSp>
        <p:sp>
          <p:nvSpPr>
            <p:cNvPr id="56522" name="Text Box 2250"/>
            <p:cNvSpPr txBox="1">
              <a:spLocks noChangeArrowheads="1"/>
            </p:cNvSpPr>
            <p:nvPr/>
          </p:nvSpPr>
          <p:spPr bwMode="auto">
            <a:xfrm>
              <a:off x="557398" y="5640141"/>
              <a:ext cx="1817688" cy="52322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400" dirty="0" smtClean="0"/>
                <a:t>SP5T without </a:t>
              </a:r>
              <a:r>
                <a:rPr lang="en-US" sz="1400" dirty="0"/>
                <a:t>Bias Network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93724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757" name="Rectangle 109"/>
          <p:cNvSpPr>
            <a:spLocks noGrp="1"/>
          </p:cNvSpPr>
          <p:nvPr>
            <p:ph type="title" idx="4294967295"/>
          </p:nvPr>
        </p:nvSpPr>
        <p:spPr>
          <a:xfrm>
            <a:off x="95536" y="268159"/>
            <a:ext cx="5481638" cy="457200"/>
          </a:xfrm>
        </p:spPr>
        <p:txBody>
          <a:bodyPr>
            <a:noAutofit/>
          </a:bodyPr>
          <a:lstStyle/>
          <a:p>
            <a:r>
              <a:rPr lang="en-US" sz="2400" dirty="0" smtClean="0"/>
              <a:t>HMIC</a:t>
            </a:r>
            <a:r>
              <a:rPr lang="en-US" sz="2400" baseline="42000" dirty="0"/>
              <a:t>TM</a:t>
            </a:r>
            <a:r>
              <a:rPr lang="en-US" sz="2400" dirty="0" smtClean="0"/>
              <a:t> SP2T High Current </a:t>
            </a:r>
            <a:r>
              <a:rPr lang="en-US" sz="2400" i="1" dirty="0" smtClean="0"/>
              <a:t/>
            </a:r>
            <a:br>
              <a:rPr lang="en-US" sz="2400" i="1" dirty="0" smtClean="0"/>
            </a:br>
            <a:r>
              <a:rPr lang="en-US" sz="2400" dirty="0" smtClean="0"/>
              <a:t>MASW-011052</a:t>
            </a:r>
            <a:endParaRPr lang="en-US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1102936"/>
            <a:ext cx="5797484" cy="27792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 smtClean="0"/>
              <a:t>Broad Bandwidth: </a:t>
            </a:r>
            <a:r>
              <a:rPr lang="en-US" dirty="0"/>
              <a:t>Specified up to 18 </a:t>
            </a:r>
            <a:r>
              <a:rPr lang="en-US" dirty="0" smtClean="0"/>
              <a:t>GHz, Usable </a:t>
            </a:r>
            <a:r>
              <a:rPr lang="en-US" dirty="0"/>
              <a:t>up to 26 GHz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 smtClean="0"/>
              <a:t>Integrated </a:t>
            </a:r>
            <a:r>
              <a:rPr lang="en-US" dirty="0"/>
              <a:t>Bias </a:t>
            </a:r>
            <a:r>
              <a:rPr lang="en-US" dirty="0" smtClean="0"/>
              <a:t>Network: High Bias Current  +/- 60 mA</a:t>
            </a:r>
            <a:endParaRPr lang="en-US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 smtClean="0"/>
              <a:t>Low </a:t>
            </a:r>
            <a:r>
              <a:rPr lang="en-US" dirty="0"/>
              <a:t>Insertion </a:t>
            </a:r>
            <a:r>
              <a:rPr lang="en-US" dirty="0" smtClean="0"/>
              <a:t>Loss/High </a:t>
            </a:r>
            <a:r>
              <a:rPr lang="en-US" dirty="0"/>
              <a:t>Isolation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 smtClean="0"/>
              <a:t>Glass Encapsulation </a:t>
            </a:r>
            <a:r>
              <a:rPr lang="en-US" dirty="0"/>
              <a:t>Construction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 smtClean="0"/>
              <a:t>RoHS Compliant </a:t>
            </a:r>
            <a:r>
              <a:rPr lang="en-US" dirty="0"/>
              <a:t>and </a:t>
            </a:r>
            <a:r>
              <a:rPr lang="en-US" dirty="0" smtClean="0"/>
              <a:t>260 °</a:t>
            </a:r>
            <a:r>
              <a:rPr lang="en-US" dirty="0"/>
              <a:t>C Reflow Compatible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dirty="0" smtClean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0" y="3559499"/>
            <a:ext cx="4174832" cy="310158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229" y="3513111"/>
            <a:ext cx="3999795" cy="311532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976950" y="1527141"/>
            <a:ext cx="2600325" cy="1920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807646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757" name="Rectangle 109"/>
          <p:cNvSpPr>
            <a:spLocks noGrp="1"/>
          </p:cNvSpPr>
          <p:nvPr>
            <p:ph type="title" idx="4294967295"/>
          </p:nvPr>
        </p:nvSpPr>
        <p:spPr>
          <a:xfrm>
            <a:off x="95536" y="466124"/>
            <a:ext cx="5481638" cy="457200"/>
          </a:xfrm>
        </p:spPr>
        <p:txBody>
          <a:bodyPr>
            <a:noAutofit/>
          </a:bodyPr>
          <a:lstStyle/>
          <a:p>
            <a:r>
              <a:rPr lang="en-US" sz="2400" dirty="0" smtClean="0"/>
              <a:t>HMIC</a:t>
            </a:r>
            <a:r>
              <a:rPr lang="en-US" sz="2400" baseline="42000" dirty="0"/>
              <a:t>TM</a:t>
            </a:r>
            <a:r>
              <a:rPr lang="en-US" sz="2400" dirty="0" smtClean="0"/>
              <a:t> SP3T High Current </a:t>
            </a:r>
            <a:r>
              <a:rPr lang="en-US" sz="2400" i="1" dirty="0" smtClean="0"/>
              <a:t/>
            </a:r>
            <a:br>
              <a:rPr lang="en-US" sz="2400" i="1" dirty="0" smtClean="0"/>
            </a:br>
            <a:r>
              <a:rPr lang="en-US" sz="2400" dirty="0" smtClean="0"/>
              <a:t>MASW-011053</a:t>
            </a:r>
            <a:endParaRPr lang="en-US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1093509"/>
            <a:ext cx="5797484" cy="27792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 smtClean="0"/>
              <a:t>Broad Bandwidth: </a:t>
            </a:r>
            <a:r>
              <a:rPr lang="en-US" dirty="0"/>
              <a:t>Specified up to 18 </a:t>
            </a:r>
            <a:r>
              <a:rPr lang="en-US" dirty="0" smtClean="0"/>
              <a:t>GHz, Usable </a:t>
            </a:r>
            <a:r>
              <a:rPr lang="en-US" dirty="0"/>
              <a:t>up to 26 GHz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 smtClean="0"/>
              <a:t>Integrated </a:t>
            </a:r>
            <a:r>
              <a:rPr lang="en-US" dirty="0"/>
              <a:t>Bias </a:t>
            </a:r>
            <a:r>
              <a:rPr lang="en-US" dirty="0" smtClean="0"/>
              <a:t>Network: High Bias Current  +/- 60 mA</a:t>
            </a:r>
            <a:endParaRPr lang="en-US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 smtClean="0"/>
              <a:t>Low </a:t>
            </a:r>
            <a:r>
              <a:rPr lang="en-US" dirty="0"/>
              <a:t>Insertion </a:t>
            </a:r>
            <a:r>
              <a:rPr lang="en-US" dirty="0" smtClean="0"/>
              <a:t>Loss/High </a:t>
            </a:r>
            <a:r>
              <a:rPr lang="en-US" dirty="0"/>
              <a:t>Isolation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 smtClean="0"/>
              <a:t>Glass Encapsulation </a:t>
            </a:r>
            <a:r>
              <a:rPr lang="en-US" dirty="0"/>
              <a:t>Construction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 smtClean="0"/>
              <a:t>RoHS Compliant </a:t>
            </a:r>
            <a:r>
              <a:rPr lang="en-US" dirty="0"/>
              <a:t>and </a:t>
            </a:r>
            <a:r>
              <a:rPr lang="en-US" dirty="0" smtClean="0"/>
              <a:t>260 °</a:t>
            </a:r>
            <a:r>
              <a:rPr lang="en-US" dirty="0"/>
              <a:t>C Reflow Compatible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dirty="0" smtClean="0"/>
          </a:p>
        </p:txBody>
      </p:sp>
      <p:pic>
        <p:nvPicPr>
          <p:cNvPr id="1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205826" y="1196705"/>
            <a:ext cx="2286000" cy="2309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3720" y="3532313"/>
            <a:ext cx="4009476" cy="309868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" y="3503567"/>
            <a:ext cx="4085110" cy="3118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043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/>
          </p:cNvSpPr>
          <p:nvPr>
            <p:ph type="title" idx="4294967295"/>
          </p:nvPr>
        </p:nvSpPr>
        <p:spPr>
          <a:xfrm>
            <a:off x="159625" y="134472"/>
            <a:ext cx="4427538" cy="1051346"/>
          </a:xfrm>
        </p:spPr>
        <p:txBody>
          <a:bodyPr vert="horz" lIns="0" anchor="ctr" anchorCtr="0">
            <a:normAutofit/>
          </a:bodyPr>
          <a:lstStyle/>
          <a:p>
            <a:r>
              <a:rPr lang="en-US" dirty="0"/>
              <a:t>HMIC</a:t>
            </a:r>
            <a:r>
              <a:rPr lang="en-US" baseline="42000" dirty="0"/>
              <a:t>TM</a:t>
            </a:r>
            <a:r>
              <a:rPr lang="en-US" dirty="0"/>
              <a:t> Package-less Surface Mountable </a:t>
            </a:r>
            <a:r>
              <a:rPr lang="en-US" dirty="0" smtClean="0"/>
              <a:t>Si PIN Diode Switches</a:t>
            </a:r>
            <a:endParaRPr lang="en-US" dirty="0"/>
          </a:p>
        </p:txBody>
      </p:sp>
      <p:graphicFrame>
        <p:nvGraphicFramePr>
          <p:cNvPr id="46552" name="Group 472"/>
          <p:cNvGraphicFramePr>
            <a:graphicFrameLocks noGrp="1"/>
          </p:cNvGraphicFramePr>
          <p:nvPr>
            <p:ph idx="4294967295"/>
            <p:extLst/>
          </p:nvPr>
        </p:nvGraphicFramePr>
        <p:xfrm>
          <a:off x="392711" y="3429000"/>
          <a:ext cx="8410632" cy="3096452"/>
        </p:xfrm>
        <a:graphic>
          <a:graphicData uri="http://schemas.openxmlformats.org/drawingml/2006/table">
            <a:tbl>
              <a:tblPr>
                <a:effectLst>
                  <a:innerShdw blurRad="63500" dist="50800" dir="2700000">
                    <a:prstClr val="black">
                      <a:alpha val="50000"/>
                    </a:prstClr>
                  </a:innerShdw>
                </a:effectLst>
              </a:tblPr>
              <a:tblGrid>
                <a:gridCol w="1274338"/>
                <a:gridCol w="1396407"/>
                <a:gridCol w="1152270"/>
                <a:gridCol w="1274338"/>
                <a:gridCol w="1274338"/>
                <a:gridCol w="2038941"/>
              </a:tblGrid>
              <a:tr h="741872"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Helvetica" pitchFamily="34" charset="0"/>
                          <a:cs typeface="Arial" charset="0"/>
                        </a:rPr>
                        <a:t>Topology</a:t>
                      </a:r>
                    </a:p>
                  </a:txBody>
                  <a:tcPr anchor="ctr" horzOverflow="overflow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Helvetica" pitchFamily="34" charset="0"/>
                          <a:cs typeface="Arial" charset="0"/>
                        </a:rPr>
                        <a:t>Frequency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Helvetica" pitchFamily="34" charset="0"/>
                          <a:cs typeface="Arial" charset="0"/>
                        </a:rPr>
                        <a:t>Insertion Loss (dB)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Helvetica" pitchFamily="34" charset="0"/>
                          <a:cs typeface="Arial" charset="0"/>
                        </a:rPr>
                        <a:t>Isolation (dB)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Helvetica" pitchFamily="34" charset="0"/>
                          <a:cs typeface="Arial" charset="0"/>
                        </a:rPr>
                        <a:t>P</a:t>
                      </a:r>
                      <a:r>
                        <a:rPr kumimoji="0" lang="en-US" sz="1800" b="1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Helvetica" pitchFamily="34" charset="0"/>
                          <a:cs typeface="Arial" charset="0"/>
                        </a:rPr>
                        <a:t>0.1dB</a:t>
                      </a:r>
                    </a:p>
                    <a:p>
                      <a:pPr marL="0" marR="0" lvl="0" indent="0" algn="ctr" defTabSz="912813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Helvetica" pitchFamily="34" charset="0"/>
                          <a:cs typeface="Arial" charset="0"/>
                        </a:rPr>
                        <a:t> (dBm)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Helvetica" pitchFamily="34" charset="0"/>
                          <a:cs typeface="Arial" charset="0"/>
                        </a:rPr>
                        <a:t>Part Number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631825"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cs typeface="Arial" charset="0"/>
                        </a:rPr>
                        <a:t>SPDT</a:t>
                      </a:r>
                    </a:p>
                  </a:txBody>
                  <a:tcPr anchor="ctr" horzOverflow="overflow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cs typeface="Arial" charset="0"/>
                        </a:rPr>
                        <a:t>6 GHz</a:t>
                      </a:r>
                    </a:p>
                    <a:p>
                      <a:pPr marL="0" marR="0" lvl="0" indent="0" algn="ctr" defTabSz="912813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cs typeface="Arial" charset="0"/>
                        </a:rPr>
                        <a:t>13 GHz</a:t>
                      </a:r>
                    </a:p>
                    <a:p>
                      <a:pPr marL="0" marR="0" lvl="0" indent="0" algn="ctr" defTabSz="912813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cs typeface="Arial" charset="0"/>
                        </a:rPr>
                        <a:t>20 GHz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cs typeface="Arial" charset="0"/>
                        </a:rPr>
                        <a:t>0.6</a:t>
                      </a:r>
                    </a:p>
                    <a:p>
                      <a:pPr marL="0" marR="0" lvl="0" indent="0" algn="ctr" defTabSz="912813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cs typeface="Arial" charset="0"/>
                        </a:rPr>
                        <a:t>0.9</a:t>
                      </a:r>
                    </a:p>
                    <a:p>
                      <a:pPr marL="0" marR="0" lvl="0" indent="0" algn="ctr" defTabSz="912813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cs typeface="Arial" charset="0"/>
                        </a:rPr>
                        <a:t>1.2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cs typeface="Arial" charset="0"/>
                        </a:rPr>
                        <a:t>45</a:t>
                      </a:r>
                    </a:p>
                    <a:p>
                      <a:pPr marL="0" marR="0" lvl="0" indent="0" algn="ctr" defTabSz="912813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cs typeface="Arial" charset="0"/>
                        </a:rPr>
                        <a:t>31</a:t>
                      </a:r>
                    </a:p>
                    <a:p>
                      <a:pPr marL="0" marR="0" lvl="0" indent="0" algn="ctr" defTabSz="912813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cs typeface="Arial" charset="0"/>
                        </a:rPr>
                        <a:t>25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cs typeface="Arial" charset="0"/>
                        </a:rPr>
                        <a:t>36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cs typeface="Arial" charset="0"/>
                        </a:rPr>
                        <a:t>MASW-002103-1363</a:t>
                      </a:r>
                      <a:endParaRPr kumimoji="0" lang="en-US" sz="1600" b="1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itchFamily="34" charset="0"/>
                        <a:cs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660400"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cs typeface="Arial" charset="0"/>
                        </a:rPr>
                        <a:t>SP3T</a:t>
                      </a:r>
                    </a:p>
                  </a:txBody>
                  <a:tcPr anchor="ctr" horzOverflow="overflow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cs typeface="Arial" charset="0"/>
                        </a:rPr>
                        <a:t>6 GHz</a:t>
                      </a:r>
                    </a:p>
                    <a:p>
                      <a:pPr marL="0" marR="0" lvl="0" indent="0" algn="ctr" defTabSz="912813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cs typeface="Arial" charset="0"/>
                        </a:rPr>
                        <a:t>13 GHz</a:t>
                      </a:r>
                    </a:p>
                    <a:p>
                      <a:pPr marL="0" marR="0" lvl="0" indent="0" algn="ctr" defTabSz="912813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cs typeface="Arial" charset="0"/>
                        </a:rPr>
                        <a:t>20 GHz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cs typeface="Arial" charset="0"/>
                        </a:rPr>
                        <a:t>0.65</a:t>
                      </a:r>
                    </a:p>
                    <a:p>
                      <a:pPr marL="0" marR="0" lvl="0" indent="0" algn="ctr" defTabSz="912813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cs typeface="Arial" charset="0"/>
                        </a:rPr>
                        <a:t>0.95</a:t>
                      </a:r>
                    </a:p>
                    <a:p>
                      <a:pPr marL="0" marR="0" lvl="0" indent="0" algn="ctr" defTabSz="912813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cs typeface="Arial" charset="0"/>
                        </a:rPr>
                        <a:t>1.25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cs typeface="Arial" charset="0"/>
                        </a:rPr>
                        <a:t>37</a:t>
                      </a:r>
                    </a:p>
                    <a:p>
                      <a:pPr marL="0" marR="0" lvl="0" indent="0" algn="ctr" defTabSz="912813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cs typeface="Arial" charset="0"/>
                        </a:rPr>
                        <a:t>28</a:t>
                      </a:r>
                    </a:p>
                    <a:p>
                      <a:pPr marL="0" marR="0" lvl="0" indent="0" algn="ctr" defTabSz="912813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cs typeface="Arial" charset="0"/>
                        </a:rPr>
                        <a:t>22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cs typeface="Arial" charset="0"/>
                        </a:rPr>
                        <a:t>36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cs typeface="Arial" charset="0"/>
                        </a:rPr>
                        <a:t>MASW-003103-1364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692150"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cs typeface="Arial" charset="0"/>
                        </a:rPr>
                        <a:t>SP4T</a:t>
                      </a:r>
                    </a:p>
                  </a:txBody>
                  <a:tcPr anchor="ctr" horzOverflow="overflow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cs typeface="Arial" charset="0"/>
                        </a:rPr>
                        <a:t>6 GHz</a:t>
                      </a:r>
                    </a:p>
                    <a:p>
                      <a:pPr marL="0" marR="0" lvl="0" indent="0" algn="ctr" defTabSz="912813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cs typeface="Arial" charset="0"/>
                        </a:rPr>
                        <a:t>13 GHz</a:t>
                      </a:r>
                    </a:p>
                    <a:p>
                      <a:pPr marL="0" marR="0" lvl="0" indent="0" algn="ctr" defTabSz="912813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cs typeface="Arial" charset="0"/>
                        </a:rPr>
                        <a:t>20 GHz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cs typeface="Arial" charset="0"/>
                        </a:rPr>
                        <a:t>0.7</a:t>
                      </a:r>
                    </a:p>
                    <a:p>
                      <a:pPr marL="0" marR="0" lvl="0" indent="0" algn="ctr" defTabSz="912813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cs typeface="Arial" charset="0"/>
                        </a:rPr>
                        <a:t>1.0</a:t>
                      </a:r>
                    </a:p>
                    <a:p>
                      <a:pPr marL="0" marR="0" lvl="0" indent="0" algn="ctr" defTabSz="912813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cs typeface="Arial" charset="0"/>
                        </a:rPr>
                        <a:t>1.3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cs typeface="Arial" charset="0"/>
                        </a:rPr>
                        <a:t>35</a:t>
                      </a:r>
                    </a:p>
                    <a:p>
                      <a:pPr marL="0" marR="0" lvl="0" indent="0" algn="ctr" defTabSz="912813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cs typeface="Arial" charset="0"/>
                        </a:rPr>
                        <a:t>30</a:t>
                      </a:r>
                    </a:p>
                    <a:p>
                      <a:pPr marL="0" marR="0" lvl="0" indent="0" algn="ctr" defTabSz="912813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cs typeface="Arial" charset="0"/>
                        </a:rPr>
                        <a:t>26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cs typeface="Arial" charset="0"/>
                        </a:rPr>
                        <a:t>36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813" rtl="0" eaLnBrk="1" fontAlgn="base" latinLnBrk="0" hangingPunct="1">
                        <a:lnSpc>
                          <a:spcPts val="15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cs typeface="Arial" charset="0"/>
                        </a:rPr>
                        <a:t>MASW-004103-1365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46538" name="Text Box 458"/>
          <p:cNvSpPr txBox="1">
            <a:spLocks noChangeArrowheads="1"/>
          </p:cNvSpPr>
          <p:nvPr/>
        </p:nvSpPr>
        <p:spPr bwMode="auto">
          <a:xfrm>
            <a:off x="276167" y="1254733"/>
            <a:ext cx="3823437" cy="172354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0" anchor="ctr" anchorCtr="0">
            <a:spAutoFit/>
          </a:bodyPr>
          <a:lstStyle/>
          <a:p>
            <a:pPr>
              <a:lnSpc>
                <a:spcPct val="75000"/>
              </a:lnSpc>
              <a:spcBef>
                <a:spcPct val="25000"/>
              </a:spcBef>
              <a:spcAft>
                <a:spcPct val="20000"/>
              </a:spcAft>
              <a:buFontTx/>
              <a:buChar char="•"/>
            </a:pPr>
            <a:r>
              <a:rPr lang="en-US" sz="2000" dirty="0" smtClean="0"/>
              <a:t> </a:t>
            </a:r>
            <a:r>
              <a:rPr lang="en-US" sz="2000" dirty="0"/>
              <a:t>Surface mount </a:t>
            </a:r>
            <a:r>
              <a:rPr lang="en-US" sz="2000" dirty="0" smtClean="0"/>
              <a:t>- </a:t>
            </a:r>
            <a:r>
              <a:rPr lang="en-US" sz="2000" dirty="0"/>
              <a:t>No wirebonds</a:t>
            </a:r>
          </a:p>
          <a:p>
            <a:pPr>
              <a:lnSpc>
                <a:spcPct val="75000"/>
              </a:lnSpc>
              <a:spcBef>
                <a:spcPct val="25000"/>
              </a:spcBef>
              <a:spcAft>
                <a:spcPct val="20000"/>
              </a:spcAft>
              <a:buFontTx/>
              <a:buChar char="•"/>
            </a:pPr>
            <a:r>
              <a:rPr lang="en-US" sz="2000" dirty="0"/>
              <a:t> </a:t>
            </a:r>
            <a:r>
              <a:rPr lang="en-US" sz="2000" dirty="0" smtClean="0"/>
              <a:t>Packageless - </a:t>
            </a:r>
            <a:r>
              <a:rPr lang="en-US" sz="2000" dirty="0"/>
              <a:t>Low </a:t>
            </a:r>
            <a:r>
              <a:rPr lang="en-US" sz="2000" dirty="0" smtClean="0"/>
              <a:t>parasitics</a:t>
            </a:r>
            <a:endParaRPr lang="en-US" sz="2000" dirty="0"/>
          </a:p>
          <a:p>
            <a:pPr>
              <a:lnSpc>
                <a:spcPct val="75000"/>
              </a:lnSpc>
              <a:spcBef>
                <a:spcPct val="25000"/>
              </a:spcBef>
              <a:spcAft>
                <a:spcPct val="20000"/>
              </a:spcAft>
              <a:buFontTx/>
              <a:buChar char="•"/>
            </a:pPr>
            <a:r>
              <a:rPr lang="en-US" sz="2000" dirty="0"/>
              <a:t> </a:t>
            </a:r>
            <a:r>
              <a:rPr lang="en-US" sz="2000" dirty="0" smtClean="0"/>
              <a:t>Series/Shunt multi-throw designs</a:t>
            </a:r>
            <a:endParaRPr lang="en-US" sz="2000" dirty="0"/>
          </a:p>
          <a:p>
            <a:pPr>
              <a:lnSpc>
                <a:spcPct val="75000"/>
              </a:lnSpc>
              <a:spcBef>
                <a:spcPct val="25000"/>
              </a:spcBef>
              <a:spcAft>
                <a:spcPct val="20000"/>
              </a:spcAft>
              <a:buFontTx/>
              <a:buChar char="•"/>
            </a:pPr>
            <a:r>
              <a:rPr lang="en-US" sz="2000" dirty="0"/>
              <a:t> High </a:t>
            </a:r>
            <a:r>
              <a:rPr lang="en-US" sz="2000" dirty="0" smtClean="0"/>
              <a:t>Power - 6 W incident</a:t>
            </a:r>
            <a:r>
              <a:rPr lang="en-US" sz="2400" dirty="0" smtClean="0"/>
              <a:t> </a:t>
            </a:r>
            <a:endParaRPr lang="en-US" sz="2000" dirty="0"/>
          </a:p>
        </p:txBody>
      </p:sp>
      <p:pic>
        <p:nvPicPr>
          <p:cNvPr id="46545" name="Picture 46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092099" y="1249064"/>
            <a:ext cx="1038225" cy="754062"/>
          </a:xfrm>
          <a:prstGeom prst="rect">
            <a:avLst/>
          </a:prstGeom>
          <a:noFill/>
        </p:spPr>
      </p:pic>
      <p:pic>
        <p:nvPicPr>
          <p:cNvPr id="46546" name="Picture 46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649062" y="1257001"/>
            <a:ext cx="965200" cy="774700"/>
          </a:xfrm>
          <a:prstGeom prst="rect">
            <a:avLst/>
          </a:prstGeom>
          <a:noFill/>
        </p:spPr>
      </p:pic>
      <p:pic>
        <p:nvPicPr>
          <p:cNvPr id="46547" name="Picture 467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185387" y="1333201"/>
            <a:ext cx="1036637" cy="719138"/>
          </a:xfrm>
          <a:prstGeom prst="rect">
            <a:avLst/>
          </a:prstGeom>
          <a:noFill/>
        </p:spPr>
      </p:pic>
      <p:pic>
        <p:nvPicPr>
          <p:cNvPr id="46548" name="Picture 468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647474" y="2165051"/>
            <a:ext cx="960438" cy="773113"/>
          </a:xfrm>
          <a:prstGeom prst="rect">
            <a:avLst/>
          </a:prstGeom>
          <a:noFill/>
        </p:spPr>
      </p:pic>
      <p:pic>
        <p:nvPicPr>
          <p:cNvPr id="46549" name="Picture 469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125437" y="2120601"/>
            <a:ext cx="1041400" cy="746125"/>
          </a:xfrm>
          <a:prstGeom prst="rect">
            <a:avLst/>
          </a:prstGeom>
          <a:noFill/>
        </p:spPr>
      </p:pic>
      <p:pic>
        <p:nvPicPr>
          <p:cNvPr id="46550" name="Picture 470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4201262" y="2157114"/>
            <a:ext cx="1030287" cy="7175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66477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8554" y="1844824"/>
            <a:ext cx="7315200" cy="640080"/>
          </a:xfrm>
        </p:spPr>
        <p:txBody>
          <a:bodyPr>
            <a:noAutofit/>
          </a:bodyPr>
          <a:lstStyle/>
          <a:p>
            <a:r>
              <a:rPr lang="en-US" sz="3200" dirty="0" smtClean="0"/>
              <a:t>Schottky Diodes</a:t>
            </a:r>
            <a:endParaRPr lang="en-US" sz="3200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Frequency </a:t>
            </a:r>
            <a:r>
              <a:rPr lang="en-US" dirty="0"/>
              <a:t>Mixing</a:t>
            </a:r>
            <a:br>
              <a:rPr lang="en-US" dirty="0"/>
            </a:br>
            <a:r>
              <a:rPr lang="en-US" dirty="0"/>
              <a:t>Detection</a:t>
            </a:r>
          </a:p>
          <a:p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174556" y="4796416"/>
            <a:ext cx="2591438" cy="11846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6700" y="4655923"/>
            <a:ext cx="1281037" cy="128103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11058" y="4563013"/>
            <a:ext cx="2529162" cy="146217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2190" y="4909541"/>
            <a:ext cx="1252915" cy="769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083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/>
          </p:cNvSpPr>
          <p:nvPr>
            <p:ph type="title" idx="4294967295"/>
          </p:nvPr>
        </p:nvSpPr>
        <p:spPr>
          <a:xfrm>
            <a:off x="151113" y="271955"/>
            <a:ext cx="6540500" cy="547688"/>
          </a:xfrm>
        </p:spPr>
        <p:txBody>
          <a:bodyPr/>
          <a:lstStyle/>
          <a:p>
            <a:r>
              <a:rPr lang="en-US" dirty="0"/>
              <a:t>HMIC</a:t>
            </a:r>
            <a:r>
              <a:rPr lang="en-US" baseline="42000" dirty="0"/>
              <a:t>TM</a:t>
            </a:r>
            <a:r>
              <a:rPr lang="en-US" dirty="0"/>
              <a:t> Discrete </a:t>
            </a:r>
            <a:r>
              <a:rPr lang="en-US" dirty="0" smtClean="0"/>
              <a:t>Schottky Diodes</a:t>
            </a:r>
            <a:endParaRPr lang="en-US" dirty="0"/>
          </a:p>
        </p:txBody>
      </p:sp>
      <p:sp>
        <p:nvSpPr>
          <p:cNvPr id="50454" name="Oval 1302">
            <a:hlinkClick r:id="" action="ppaction://noaction"/>
          </p:cNvPr>
          <p:cNvSpPr>
            <a:spLocks noChangeArrowheads="1"/>
          </p:cNvSpPr>
          <p:nvPr/>
        </p:nvSpPr>
        <p:spPr bwMode="auto">
          <a:xfrm>
            <a:off x="7535863" y="0"/>
            <a:ext cx="1608137" cy="903288"/>
          </a:xfrm>
          <a:prstGeom prst="ellipse">
            <a:avLst/>
          </a:prstGeom>
          <a:solidFill>
            <a:schemeClr val="bg1">
              <a:alpha val="0"/>
            </a:schemeClr>
          </a:soli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pic>
        <p:nvPicPr>
          <p:cNvPr id="50452" name="Picture 1300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-1999023">
            <a:off x="7372212" y="2409281"/>
            <a:ext cx="998537" cy="384175"/>
          </a:xfrm>
          <a:prstGeom prst="rect">
            <a:avLst/>
          </a:prstGeom>
          <a:noFill/>
          <a:ln w="9525" algn="ctr">
            <a:pattFill prst="pct25">
              <a:fgClr>
                <a:schemeClr val="tx1"/>
              </a:fgClr>
              <a:bgClr>
                <a:schemeClr val="accent1"/>
              </a:bgClr>
            </a:pattFill>
            <a:miter lim="800000"/>
            <a:headEnd/>
            <a:tailEnd/>
          </a:ln>
          <a:effectLst/>
        </p:spPr>
      </p:pic>
      <p:pic>
        <p:nvPicPr>
          <p:cNvPr id="50455" name="Picture 130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-5726158">
            <a:off x="6488728" y="2526706"/>
            <a:ext cx="998537" cy="384175"/>
          </a:xfrm>
          <a:prstGeom prst="rect">
            <a:avLst/>
          </a:prstGeom>
          <a:noFill/>
          <a:ln w="9525" algn="ctr">
            <a:pattFill prst="pct25">
              <a:fgClr>
                <a:schemeClr val="tx1"/>
              </a:fgClr>
              <a:bgClr>
                <a:schemeClr val="accent1"/>
              </a:bgClr>
            </a:pattFill>
            <a:miter lim="800000"/>
            <a:headEnd/>
            <a:tailEnd/>
          </a:ln>
          <a:effectLst/>
        </p:spPr>
      </p:pic>
      <p:pic>
        <p:nvPicPr>
          <p:cNvPr id="50456" name="Picture 130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11126797">
            <a:off x="6756590" y="3454151"/>
            <a:ext cx="998538" cy="384175"/>
          </a:xfrm>
          <a:prstGeom prst="rect">
            <a:avLst/>
          </a:prstGeom>
          <a:noFill/>
          <a:ln w="9525" algn="ctr">
            <a:pattFill prst="pct25">
              <a:fgClr>
                <a:schemeClr val="tx1"/>
              </a:fgClr>
              <a:bgClr>
                <a:schemeClr val="accent1"/>
              </a:bgClr>
            </a:pattFill>
            <a:miter lim="800000"/>
            <a:headEnd/>
            <a:tailEnd/>
          </a:ln>
          <a:effectLst/>
        </p:spPr>
      </p:pic>
      <p:pic>
        <p:nvPicPr>
          <p:cNvPr id="50457" name="Picture 130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14543893">
            <a:off x="5662018" y="2426516"/>
            <a:ext cx="998538" cy="384175"/>
          </a:xfrm>
          <a:prstGeom prst="rect">
            <a:avLst/>
          </a:prstGeom>
          <a:noFill/>
          <a:ln w="9525" algn="ctr">
            <a:pattFill prst="pct25">
              <a:fgClr>
                <a:schemeClr val="tx1"/>
              </a:fgClr>
              <a:bgClr>
                <a:schemeClr val="accent1"/>
              </a:bgClr>
            </a:pattFill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414779" y="1395167"/>
            <a:ext cx="4677174" cy="51060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 dirty="0" smtClean="0"/>
              <a:t>Features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 smtClean="0"/>
              <a:t>Surmount Single-Junction Si Schottky diodes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 smtClean="0"/>
              <a:t>Low, Medium and High Barrier Heights Available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 smtClean="0"/>
              <a:t>Frequency Range: DC – 30 GHz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 smtClean="0"/>
              <a:t>Very Low Series Resistance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 smtClean="0"/>
              <a:t>Very Low Junction Capacitance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 smtClean="0"/>
              <a:t>Solderable – No Wire Bonds Required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dirty="0"/>
          </a:p>
          <a:p>
            <a:pPr algn="l"/>
            <a:r>
              <a:rPr lang="en-US" b="1" dirty="0" smtClean="0"/>
              <a:t>Applications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 smtClean="0"/>
              <a:t>Mixers and Detectors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 smtClean="0"/>
              <a:t>Receiver Protector Limiters</a:t>
            </a:r>
          </a:p>
          <a:p>
            <a:pPr algn="l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1238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141909" y="191605"/>
            <a:ext cx="7162800" cy="504134"/>
          </a:xfrm>
        </p:spPr>
        <p:txBody>
          <a:bodyPr/>
          <a:lstStyle/>
          <a:p>
            <a:r>
              <a:rPr lang="en-US" altLang="en-US" sz="3200" dirty="0" smtClean="0"/>
              <a:t>HMIC</a:t>
            </a:r>
            <a:r>
              <a:rPr lang="en-US" sz="3200" baseline="42000" dirty="0"/>
              <a:t>TM</a:t>
            </a:r>
            <a:r>
              <a:rPr lang="en-US" altLang="en-US" sz="3200" dirty="0" smtClean="0"/>
              <a:t> Mixer Advantages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10760" y="1345095"/>
            <a:ext cx="7785100" cy="4114800"/>
          </a:xfrm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 marL="57150" indent="0">
              <a:lnSpc>
                <a:spcPct val="80000"/>
              </a:lnSpc>
              <a:spcBef>
                <a:spcPct val="0"/>
              </a:spcBef>
              <a:buNone/>
            </a:pPr>
            <a:endParaRPr lang="en-US" altLang="en-US" sz="2200" dirty="0" smtClean="0"/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en-US" sz="2200" dirty="0" smtClean="0"/>
              <a:t>Passive, Double Balanced</a:t>
            </a:r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en-US" sz="2200" dirty="0" smtClean="0"/>
              <a:t>Silicon Schottky Barrier Diode Ring Quad</a:t>
            </a:r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en-US" sz="2200" dirty="0" smtClean="0"/>
              <a:t>Internal Matching at All Ports</a:t>
            </a:r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en-US" sz="2200" dirty="0" smtClean="0"/>
              <a:t>Good Port to Port Isolation</a:t>
            </a:r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en-US" sz="2200" dirty="0" smtClean="0"/>
              <a:t>Low LO Drive</a:t>
            </a:r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en-US" sz="2200" dirty="0" smtClean="0"/>
              <a:t>High IP</a:t>
            </a:r>
            <a:r>
              <a:rPr lang="en-US" altLang="en-US" sz="2200" baseline="-25000" dirty="0" smtClean="0"/>
              <a:t>3</a:t>
            </a:r>
            <a:r>
              <a:rPr lang="en-US" altLang="en-US" sz="2200" dirty="0" smtClean="0"/>
              <a:t> Performance</a:t>
            </a:r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en-US" sz="2200" dirty="0" smtClean="0"/>
              <a:t>Small Size</a:t>
            </a:r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en-US" sz="2200" dirty="0" smtClean="0"/>
              <a:t>SOT25 Package</a:t>
            </a:r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en-US" sz="2200" dirty="0" smtClean="0">
                <a:solidFill>
                  <a:srgbClr val="FF0000"/>
                </a:solidFill>
              </a:rPr>
              <a:t>NO EXTERNAL COMPONENTS</a:t>
            </a:r>
            <a:r>
              <a:rPr lang="en-US" altLang="en-US" sz="2200" dirty="0" smtClean="0"/>
              <a:t> Needed</a:t>
            </a:r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en-US" sz="2200" dirty="0" smtClean="0"/>
              <a:t>Monolithically Integrate Low Loss Passives</a:t>
            </a:r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en-US" sz="2200" dirty="0" smtClean="0"/>
              <a:t>mmW Frequency Capability</a:t>
            </a:r>
          </a:p>
          <a:p>
            <a:pPr lvl="1">
              <a:lnSpc>
                <a:spcPct val="80000"/>
              </a:lnSpc>
              <a:spcBef>
                <a:spcPct val="0"/>
              </a:spcBef>
            </a:pPr>
            <a:r>
              <a:rPr lang="en-US" altLang="en-US" sz="2000" dirty="0" smtClean="0"/>
              <a:t>Smaller</a:t>
            </a:r>
          </a:p>
          <a:p>
            <a:pPr lvl="1">
              <a:lnSpc>
                <a:spcPct val="80000"/>
              </a:lnSpc>
              <a:spcBef>
                <a:spcPct val="0"/>
              </a:spcBef>
            </a:pPr>
            <a:r>
              <a:rPr lang="en-US" altLang="en-US" sz="2000" dirty="0" smtClean="0"/>
              <a:t>Lower Cost</a:t>
            </a:r>
          </a:p>
          <a:p>
            <a:pPr lvl="1">
              <a:lnSpc>
                <a:spcPct val="80000"/>
              </a:lnSpc>
              <a:spcBef>
                <a:spcPct val="0"/>
              </a:spcBef>
            </a:pPr>
            <a:r>
              <a:rPr lang="en-US" altLang="en-US" sz="2000" dirty="0" smtClean="0"/>
              <a:t>Schottky Diodes NOT Frequency Limited Below 30 GHz</a:t>
            </a:r>
          </a:p>
          <a:p>
            <a:pPr>
              <a:lnSpc>
                <a:spcPct val="80000"/>
              </a:lnSpc>
              <a:spcBef>
                <a:spcPct val="50000"/>
              </a:spcBef>
              <a:buSzTx/>
              <a:buFontTx/>
              <a:buChar char="•"/>
            </a:pPr>
            <a:endParaRPr lang="en-US" altLang="en-US" sz="2000" dirty="0" smtClean="0"/>
          </a:p>
          <a:p>
            <a:pPr lvl="1">
              <a:lnSpc>
                <a:spcPct val="80000"/>
              </a:lnSpc>
              <a:spcBef>
                <a:spcPct val="50000"/>
              </a:spcBef>
            </a:pPr>
            <a:endParaRPr lang="en-US" altLang="en-US" sz="2000" dirty="0" smtClean="0"/>
          </a:p>
          <a:p>
            <a:pPr lvl="1">
              <a:lnSpc>
                <a:spcPct val="80000"/>
              </a:lnSpc>
              <a:spcBef>
                <a:spcPct val="10000"/>
              </a:spcBef>
              <a:buFontTx/>
              <a:buChar char="•"/>
            </a:pPr>
            <a:endParaRPr lang="en-US" altLang="en-US" sz="2000" dirty="0" smtClean="0"/>
          </a:p>
          <a:p>
            <a:pPr>
              <a:lnSpc>
                <a:spcPct val="80000"/>
              </a:lnSpc>
              <a:spcBef>
                <a:spcPct val="0"/>
              </a:spcBef>
              <a:buSzTx/>
              <a:buFontTx/>
              <a:buChar char="•"/>
            </a:pPr>
            <a:endParaRPr lang="en-US" altLang="en-US" sz="2600" dirty="0" smtClean="0"/>
          </a:p>
        </p:txBody>
      </p:sp>
    </p:spTree>
    <p:extLst>
      <p:ext uri="{BB962C8B-B14F-4D97-AF65-F5344CB8AC3E}">
        <p14:creationId xmlns:p14="http://schemas.microsoft.com/office/powerpoint/2010/main" val="2209631481"/>
      </p:ext>
    </p:extLst>
  </p:cSld>
  <p:clrMapOvr>
    <a:masterClrMapping/>
  </p:clrMapOvr>
  <p:transition>
    <p:wipe dir="r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085414" y="1272582"/>
            <a:ext cx="2921000" cy="2927842"/>
          </a:xfrm>
        </p:spPr>
        <p:txBody>
          <a:bodyPr/>
          <a:lstStyle/>
          <a:p>
            <a:pPr>
              <a:spcBef>
                <a:spcPct val="100000"/>
              </a:spcBef>
              <a:buSzTx/>
              <a:buFontTx/>
              <a:buChar char="•"/>
            </a:pPr>
            <a:r>
              <a:rPr lang="en-US" altLang="en-US" sz="1800" dirty="0" smtClean="0"/>
              <a:t>Narrowband, Planar, Balun, Low Loss Transformers</a:t>
            </a:r>
          </a:p>
          <a:p>
            <a:pPr>
              <a:spcBef>
                <a:spcPct val="100000"/>
              </a:spcBef>
              <a:buSzTx/>
              <a:buFontTx/>
              <a:buChar char="•"/>
            </a:pPr>
            <a:r>
              <a:rPr lang="en-US" altLang="en-US" sz="1800" dirty="0" smtClean="0"/>
              <a:t>Silicon Schottky Barrier Diode Xover Ring Quad</a:t>
            </a:r>
          </a:p>
          <a:p>
            <a:pPr>
              <a:spcBef>
                <a:spcPct val="100000"/>
              </a:spcBef>
              <a:buSzTx/>
              <a:buFontTx/>
              <a:buChar char="•"/>
            </a:pPr>
            <a:r>
              <a:rPr lang="en-US" altLang="en-US" sz="1800" dirty="0" smtClean="0"/>
              <a:t>Low, Medium, &amp; High Barrier Height Diodes</a:t>
            </a:r>
          </a:p>
          <a:p>
            <a:pPr>
              <a:spcBef>
                <a:spcPct val="100000"/>
              </a:spcBef>
              <a:buSzTx/>
              <a:buFontTx/>
              <a:buChar char="•"/>
            </a:pPr>
            <a:r>
              <a:rPr lang="en-US" altLang="en-US" sz="1800" dirty="0" smtClean="0"/>
              <a:t>Internally Matched</a:t>
            </a:r>
          </a:p>
        </p:txBody>
      </p:sp>
      <p:grpSp>
        <p:nvGrpSpPr>
          <p:cNvPr id="17411" name="Group 3"/>
          <p:cNvGrpSpPr>
            <a:grpSpLocks/>
          </p:cNvGrpSpPr>
          <p:nvPr/>
        </p:nvGrpSpPr>
        <p:grpSpPr bwMode="auto">
          <a:xfrm>
            <a:off x="3085414" y="4460146"/>
            <a:ext cx="5313707" cy="1816830"/>
            <a:chOff x="650" y="1019"/>
            <a:chExt cx="4175" cy="1728"/>
          </a:xfrm>
        </p:grpSpPr>
        <p:sp>
          <p:nvSpPr>
            <p:cNvPr id="17415" name="Line 4"/>
            <p:cNvSpPr>
              <a:spLocks noChangeShapeType="1"/>
            </p:cNvSpPr>
            <p:nvPr/>
          </p:nvSpPr>
          <p:spPr bwMode="auto">
            <a:xfrm flipV="1">
              <a:off x="2604" y="1807"/>
              <a:ext cx="35" cy="5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7416" name="Line 5"/>
            <p:cNvSpPr>
              <a:spLocks noChangeShapeType="1"/>
            </p:cNvSpPr>
            <p:nvPr/>
          </p:nvSpPr>
          <p:spPr bwMode="auto">
            <a:xfrm>
              <a:off x="2604" y="1815"/>
              <a:ext cx="35" cy="3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7417" name="Freeform 6"/>
            <p:cNvSpPr>
              <a:spLocks/>
            </p:cNvSpPr>
            <p:nvPr/>
          </p:nvSpPr>
          <p:spPr bwMode="auto">
            <a:xfrm>
              <a:off x="2344" y="2492"/>
              <a:ext cx="45" cy="86"/>
            </a:xfrm>
            <a:custGeom>
              <a:avLst/>
              <a:gdLst>
                <a:gd name="T0" fmla="*/ 44 w 45"/>
                <a:gd name="T1" fmla="*/ 0 h 86"/>
                <a:gd name="T2" fmla="*/ 40 w 45"/>
                <a:gd name="T3" fmla="*/ 0 h 86"/>
                <a:gd name="T4" fmla="*/ 36 w 45"/>
                <a:gd name="T5" fmla="*/ 0 h 86"/>
                <a:gd name="T6" fmla="*/ 33 w 45"/>
                <a:gd name="T7" fmla="*/ 1 h 86"/>
                <a:gd name="T8" fmla="*/ 29 w 45"/>
                <a:gd name="T9" fmla="*/ 2 h 86"/>
                <a:gd name="T10" fmla="*/ 25 w 45"/>
                <a:gd name="T11" fmla="*/ 4 h 86"/>
                <a:gd name="T12" fmla="*/ 22 w 45"/>
                <a:gd name="T13" fmla="*/ 5 h 86"/>
                <a:gd name="T14" fmla="*/ 19 w 45"/>
                <a:gd name="T15" fmla="*/ 7 h 86"/>
                <a:gd name="T16" fmla="*/ 16 w 45"/>
                <a:gd name="T17" fmla="*/ 9 h 86"/>
                <a:gd name="T18" fmla="*/ 13 w 45"/>
                <a:gd name="T19" fmla="*/ 12 h 86"/>
                <a:gd name="T20" fmla="*/ 10 w 45"/>
                <a:gd name="T21" fmla="*/ 15 h 86"/>
                <a:gd name="T22" fmla="*/ 8 w 45"/>
                <a:gd name="T23" fmla="*/ 18 h 86"/>
                <a:gd name="T24" fmla="*/ 6 w 45"/>
                <a:gd name="T25" fmla="*/ 21 h 86"/>
                <a:gd name="T26" fmla="*/ 4 w 45"/>
                <a:gd name="T27" fmla="*/ 24 h 86"/>
                <a:gd name="T28" fmla="*/ 3 w 45"/>
                <a:gd name="T29" fmla="*/ 27 h 86"/>
                <a:gd name="T30" fmla="*/ 2 w 45"/>
                <a:gd name="T31" fmla="*/ 31 h 86"/>
                <a:gd name="T32" fmla="*/ 1 w 45"/>
                <a:gd name="T33" fmla="*/ 35 h 86"/>
                <a:gd name="T34" fmla="*/ 1 w 45"/>
                <a:gd name="T35" fmla="*/ 39 h 86"/>
                <a:gd name="T36" fmla="*/ 0 w 45"/>
                <a:gd name="T37" fmla="*/ 42 h 86"/>
                <a:gd name="T38" fmla="*/ 1 w 45"/>
                <a:gd name="T39" fmla="*/ 46 h 86"/>
                <a:gd name="T40" fmla="*/ 1 w 45"/>
                <a:gd name="T41" fmla="*/ 50 h 86"/>
                <a:gd name="T42" fmla="*/ 2 w 45"/>
                <a:gd name="T43" fmla="*/ 53 h 86"/>
                <a:gd name="T44" fmla="*/ 3 w 45"/>
                <a:gd name="T45" fmla="*/ 57 h 86"/>
                <a:gd name="T46" fmla="*/ 4 w 45"/>
                <a:gd name="T47" fmla="*/ 60 h 86"/>
                <a:gd name="T48" fmla="*/ 6 w 45"/>
                <a:gd name="T49" fmla="*/ 64 h 86"/>
                <a:gd name="T50" fmla="*/ 8 w 45"/>
                <a:gd name="T51" fmla="*/ 67 h 86"/>
                <a:gd name="T52" fmla="*/ 10 w 45"/>
                <a:gd name="T53" fmla="*/ 70 h 86"/>
                <a:gd name="T54" fmla="*/ 13 w 45"/>
                <a:gd name="T55" fmla="*/ 73 h 86"/>
                <a:gd name="T56" fmla="*/ 16 w 45"/>
                <a:gd name="T57" fmla="*/ 75 h 86"/>
                <a:gd name="T58" fmla="*/ 19 w 45"/>
                <a:gd name="T59" fmla="*/ 77 h 86"/>
                <a:gd name="T60" fmla="*/ 22 w 45"/>
                <a:gd name="T61" fmla="*/ 79 h 86"/>
                <a:gd name="T62" fmla="*/ 25 w 45"/>
                <a:gd name="T63" fmla="*/ 81 h 86"/>
                <a:gd name="T64" fmla="*/ 29 w 45"/>
                <a:gd name="T65" fmla="*/ 82 h 86"/>
                <a:gd name="T66" fmla="*/ 33 w 45"/>
                <a:gd name="T67" fmla="*/ 84 h 86"/>
                <a:gd name="T68" fmla="*/ 36 w 45"/>
                <a:gd name="T69" fmla="*/ 84 h 86"/>
                <a:gd name="T70" fmla="*/ 40 w 45"/>
                <a:gd name="T71" fmla="*/ 85 h 86"/>
                <a:gd name="T72" fmla="*/ 44 w 45"/>
                <a:gd name="T73" fmla="*/ 85 h 8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45" h="86">
                  <a:moveTo>
                    <a:pt x="44" y="0"/>
                  </a:moveTo>
                  <a:lnTo>
                    <a:pt x="40" y="0"/>
                  </a:lnTo>
                  <a:lnTo>
                    <a:pt x="36" y="0"/>
                  </a:lnTo>
                  <a:lnTo>
                    <a:pt x="33" y="1"/>
                  </a:lnTo>
                  <a:lnTo>
                    <a:pt x="29" y="2"/>
                  </a:lnTo>
                  <a:lnTo>
                    <a:pt x="25" y="4"/>
                  </a:lnTo>
                  <a:lnTo>
                    <a:pt x="22" y="5"/>
                  </a:lnTo>
                  <a:lnTo>
                    <a:pt x="19" y="7"/>
                  </a:lnTo>
                  <a:lnTo>
                    <a:pt x="16" y="9"/>
                  </a:lnTo>
                  <a:lnTo>
                    <a:pt x="13" y="12"/>
                  </a:lnTo>
                  <a:lnTo>
                    <a:pt x="10" y="15"/>
                  </a:lnTo>
                  <a:lnTo>
                    <a:pt x="8" y="18"/>
                  </a:lnTo>
                  <a:lnTo>
                    <a:pt x="6" y="21"/>
                  </a:lnTo>
                  <a:lnTo>
                    <a:pt x="4" y="24"/>
                  </a:lnTo>
                  <a:lnTo>
                    <a:pt x="3" y="27"/>
                  </a:lnTo>
                  <a:lnTo>
                    <a:pt x="2" y="31"/>
                  </a:lnTo>
                  <a:lnTo>
                    <a:pt x="1" y="35"/>
                  </a:lnTo>
                  <a:lnTo>
                    <a:pt x="1" y="39"/>
                  </a:lnTo>
                  <a:lnTo>
                    <a:pt x="0" y="42"/>
                  </a:lnTo>
                  <a:lnTo>
                    <a:pt x="1" y="46"/>
                  </a:lnTo>
                  <a:lnTo>
                    <a:pt x="1" y="50"/>
                  </a:lnTo>
                  <a:lnTo>
                    <a:pt x="2" y="53"/>
                  </a:lnTo>
                  <a:lnTo>
                    <a:pt x="3" y="57"/>
                  </a:lnTo>
                  <a:lnTo>
                    <a:pt x="4" y="60"/>
                  </a:lnTo>
                  <a:lnTo>
                    <a:pt x="6" y="64"/>
                  </a:lnTo>
                  <a:lnTo>
                    <a:pt x="8" y="67"/>
                  </a:lnTo>
                  <a:lnTo>
                    <a:pt x="10" y="70"/>
                  </a:lnTo>
                  <a:lnTo>
                    <a:pt x="13" y="73"/>
                  </a:lnTo>
                  <a:lnTo>
                    <a:pt x="16" y="75"/>
                  </a:lnTo>
                  <a:lnTo>
                    <a:pt x="19" y="77"/>
                  </a:lnTo>
                  <a:lnTo>
                    <a:pt x="22" y="79"/>
                  </a:lnTo>
                  <a:lnTo>
                    <a:pt x="25" y="81"/>
                  </a:lnTo>
                  <a:lnTo>
                    <a:pt x="29" y="82"/>
                  </a:lnTo>
                  <a:lnTo>
                    <a:pt x="33" y="84"/>
                  </a:lnTo>
                  <a:lnTo>
                    <a:pt x="36" y="84"/>
                  </a:lnTo>
                  <a:lnTo>
                    <a:pt x="40" y="85"/>
                  </a:lnTo>
                  <a:lnTo>
                    <a:pt x="44" y="85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418" name="Freeform 7"/>
            <p:cNvSpPr>
              <a:spLocks/>
            </p:cNvSpPr>
            <p:nvPr/>
          </p:nvSpPr>
          <p:spPr bwMode="auto">
            <a:xfrm>
              <a:off x="1876" y="1472"/>
              <a:ext cx="44" cy="85"/>
            </a:xfrm>
            <a:custGeom>
              <a:avLst/>
              <a:gdLst>
                <a:gd name="T0" fmla="*/ 43 w 44"/>
                <a:gd name="T1" fmla="*/ 0 h 85"/>
                <a:gd name="T2" fmla="*/ 39 w 44"/>
                <a:gd name="T3" fmla="*/ 0 h 85"/>
                <a:gd name="T4" fmla="*/ 35 w 44"/>
                <a:gd name="T5" fmla="*/ 0 h 85"/>
                <a:gd name="T6" fmla="*/ 32 w 44"/>
                <a:gd name="T7" fmla="*/ 1 h 85"/>
                <a:gd name="T8" fmla="*/ 28 w 44"/>
                <a:gd name="T9" fmla="*/ 2 h 85"/>
                <a:gd name="T10" fmla="*/ 25 w 44"/>
                <a:gd name="T11" fmla="*/ 4 h 85"/>
                <a:gd name="T12" fmla="*/ 22 w 44"/>
                <a:gd name="T13" fmla="*/ 5 h 85"/>
                <a:gd name="T14" fmla="*/ 19 w 44"/>
                <a:gd name="T15" fmla="*/ 7 h 85"/>
                <a:gd name="T16" fmla="*/ 16 w 44"/>
                <a:gd name="T17" fmla="*/ 10 h 85"/>
                <a:gd name="T18" fmla="*/ 13 w 44"/>
                <a:gd name="T19" fmla="*/ 12 h 85"/>
                <a:gd name="T20" fmla="*/ 10 w 44"/>
                <a:gd name="T21" fmla="*/ 15 h 85"/>
                <a:gd name="T22" fmla="*/ 8 w 44"/>
                <a:gd name="T23" fmla="*/ 18 h 85"/>
                <a:gd name="T24" fmla="*/ 6 w 44"/>
                <a:gd name="T25" fmla="*/ 21 h 85"/>
                <a:gd name="T26" fmla="*/ 4 w 44"/>
                <a:gd name="T27" fmla="*/ 24 h 85"/>
                <a:gd name="T28" fmla="*/ 3 w 44"/>
                <a:gd name="T29" fmla="*/ 28 h 85"/>
                <a:gd name="T30" fmla="*/ 2 w 44"/>
                <a:gd name="T31" fmla="*/ 31 h 85"/>
                <a:gd name="T32" fmla="*/ 1 w 44"/>
                <a:gd name="T33" fmla="*/ 35 h 85"/>
                <a:gd name="T34" fmla="*/ 0 w 44"/>
                <a:gd name="T35" fmla="*/ 38 h 85"/>
                <a:gd name="T36" fmla="*/ 0 w 44"/>
                <a:gd name="T37" fmla="*/ 42 h 85"/>
                <a:gd name="T38" fmla="*/ 0 w 44"/>
                <a:gd name="T39" fmla="*/ 46 h 85"/>
                <a:gd name="T40" fmla="*/ 1 w 44"/>
                <a:gd name="T41" fmla="*/ 49 h 85"/>
                <a:gd name="T42" fmla="*/ 2 w 44"/>
                <a:gd name="T43" fmla="*/ 53 h 85"/>
                <a:gd name="T44" fmla="*/ 3 w 44"/>
                <a:gd name="T45" fmla="*/ 57 h 85"/>
                <a:gd name="T46" fmla="*/ 4 w 44"/>
                <a:gd name="T47" fmla="*/ 60 h 85"/>
                <a:gd name="T48" fmla="*/ 6 w 44"/>
                <a:gd name="T49" fmla="*/ 63 h 85"/>
                <a:gd name="T50" fmla="*/ 8 w 44"/>
                <a:gd name="T51" fmla="*/ 66 h 85"/>
                <a:gd name="T52" fmla="*/ 10 w 44"/>
                <a:gd name="T53" fmla="*/ 69 h 85"/>
                <a:gd name="T54" fmla="*/ 13 w 44"/>
                <a:gd name="T55" fmla="*/ 72 h 85"/>
                <a:gd name="T56" fmla="*/ 16 w 44"/>
                <a:gd name="T57" fmla="*/ 75 h 85"/>
                <a:gd name="T58" fmla="*/ 19 w 44"/>
                <a:gd name="T59" fmla="*/ 77 h 85"/>
                <a:gd name="T60" fmla="*/ 22 w 44"/>
                <a:gd name="T61" fmla="*/ 79 h 85"/>
                <a:gd name="T62" fmla="*/ 25 w 44"/>
                <a:gd name="T63" fmla="*/ 80 h 85"/>
                <a:gd name="T64" fmla="*/ 28 w 44"/>
                <a:gd name="T65" fmla="*/ 82 h 85"/>
                <a:gd name="T66" fmla="*/ 32 w 44"/>
                <a:gd name="T67" fmla="*/ 83 h 85"/>
                <a:gd name="T68" fmla="*/ 36 w 44"/>
                <a:gd name="T69" fmla="*/ 84 h 85"/>
                <a:gd name="T70" fmla="*/ 39 w 44"/>
                <a:gd name="T71" fmla="*/ 84 h 85"/>
                <a:gd name="T72" fmla="*/ 43 w 44"/>
                <a:gd name="T73" fmla="*/ 84 h 85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44" h="85">
                  <a:moveTo>
                    <a:pt x="43" y="0"/>
                  </a:moveTo>
                  <a:lnTo>
                    <a:pt x="39" y="0"/>
                  </a:lnTo>
                  <a:lnTo>
                    <a:pt x="35" y="0"/>
                  </a:lnTo>
                  <a:lnTo>
                    <a:pt x="32" y="1"/>
                  </a:lnTo>
                  <a:lnTo>
                    <a:pt x="28" y="2"/>
                  </a:lnTo>
                  <a:lnTo>
                    <a:pt x="25" y="4"/>
                  </a:lnTo>
                  <a:lnTo>
                    <a:pt x="22" y="5"/>
                  </a:lnTo>
                  <a:lnTo>
                    <a:pt x="19" y="7"/>
                  </a:lnTo>
                  <a:lnTo>
                    <a:pt x="16" y="10"/>
                  </a:lnTo>
                  <a:lnTo>
                    <a:pt x="13" y="12"/>
                  </a:lnTo>
                  <a:lnTo>
                    <a:pt x="10" y="15"/>
                  </a:lnTo>
                  <a:lnTo>
                    <a:pt x="8" y="18"/>
                  </a:lnTo>
                  <a:lnTo>
                    <a:pt x="6" y="21"/>
                  </a:lnTo>
                  <a:lnTo>
                    <a:pt x="4" y="24"/>
                  </a:lnTo>
                  <a:lnTo>
                    <a:pt x="3" y="28"/>
                  </a:lnTo>
                  <a:lnTo>
                    <a:pt x="2" y="31"/>
                  </a:lnTo>
                  <a:lnTo>
                    <a:pt x="1" y="35"/>
                  </a:lnTo>
                  <a:lnTo>
                    <a:pt x="0" y="38"/>
                  </a:lnTo>
                  <a:lnTo>
                    <a:pt x="0" y="42"/>
                  </a:lnTo>
                  <a:lnTo>
                    <a:pt x="0" y="46"/>
                  </a:lnTo>
                  <a:lnTo>
                    <a:pt x="1" y="49"/>
                  </a:lnTo>
                  <a:lnTo>
                    <a:pt x="2" y="53"/>
                  </a:lnTo>
                  <a:lnTo>
                    <a:pt x="3" y="57"/>
                  </a:lnTo>
                  <a:lnTo>
                    <a:pt x="4" y="60"/>
                  </a:lnTo>
                  <a:lnTo>
                    <a:pt x="6" y="63"/>
                  </a:lnTo>
                  <a:lnTo>
                    <a:pt x="8" y="66"/>
                  </a:lnTo>
                  <a:lnTo>
                    <a:pt x="10" y="69"/>
                  </a:lnTo>
                  <a:lnTo>
                    <a:pt x="13" y="72"/>
                  </a:lnTo>
                  <a:lnTo>
                    <a:pt x="16" y="75"/>
                  </a:lnTo>
                  <a:lnTo>
                    <a:pt x="19" y="77"/>
                  </a:lnTo>
                  <a:lnTo>
                    <a:pt x="22" y="79"/>
                  </a:lnTo>
                  <a:lnTo>
                    <a:pt x="25" y="80"/>
                  </a:lnTo>
                  <a:lnTo>
                    <a:pt x="28" y="82"/>
                  </a:lnTo>
                  <a:lnTo>
                    <a:pt x="32" y="83"/>
                  </a:lnTo>
                  <a:lnTo>
                    <a:pt x="36" y="84"/>
                  </a:lnTo>
                  <a:lnTo>
                    <a:pt x="39" y="84"/>
                  </a:lnTo>
                  <a:lnTo>
                    <a:pt x="43" y="84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419" name="Freeform 8"/>
            <p:cNvSpPr>
              <a:spLocks/>
            </p:cNvSpPr>
            <p:nvPr/>
          </p:nvSpPr>
          <p:spPr bwMode="auto">
            <a:xfrm>
              <a:off x="3431" y="1769"/>
              <a:ext cx="86" cy="86"/>
            </a:xfrm>
            <a:custGeom>
              <a:avLst/>
              <a:gdLst>
                <a:gd name="T0" fmla="*/ 0 w 86"/>
                <a:gd name="T1" fmla="*/ 0 h 86"/>
                <a:gd name="T2" fmla="*/ 85 w 86"/>
                <a:gd name="T3" fmla="*/ 0 h 86"/>
                <a:gd name="T4" fmla="*/ 42 w 86"/>
                <a:gd name="T5" fmla="*/ 85 h 86"/>
                <a:gd name="T6" fmla="*/ 0 w 86"/>
                <a:gd name="T7" fmla="*/ 0 h 8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6" h="86">
                  <a:moveTo>
                    <a:pt x="0" y="0"/>
                  </a:moveTo>
                  <a:lnTo>
                    <a:pt x="85" y="0"/>
                  </a:lnTo>
                  <a:lnTo>
                    <a:pt x="42" y="85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420" name="Line 9"/>
            <p:cNvSpPr>
              <a:spLocks noChangeShapeType="1"/>
            </p:cNvSpPr>
            <p:nvPr/>
          </p:nvSpPr>
          <p:spPr bwMode="auto">
            <a:xfrm flipH="1">
              <a:off x="2319" y="1790"/>
              <a:ext cx="94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7421" name="Freeform 10"/>
            <p:cNvSpPr>
              <a:spLocks/>
            </p:cNvSpPr>
            <p:nvPr/>
          </p:nvSpPr>
          <p:spPr bwMode="auto">
            <a:xfrm>
              <a:off x="2323" y="1790"/>
              <a:ext cx="87" cy="86"/>
            </a:xfrm>
            <a:custGeom>
              <a:avLst/>
              <a:gdLst>
                <a:gd name="T0" fmla="*/ 86 w 87"/>
                <a:gd name="T1" fmla="*/ 0 h 86"/>
                <a:gd name="T2" fmla="*/ 43 w 87"/>
                <a:gd name="T3" fmla="*/ 85 h 86"/>
                <a:gd name="T4" fmla="*/ 0 w 87"/>
                <a:gd name="T5" fmla="*/ 0 h 8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7" h="86">
                  <a:moveTo>
                    <a:pt x="86" y="0"/>
                  </a:moveTo>
                  <a:lnTo>
                    <a:pt x="43" y="85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422" name="Line 11"/>
            <p:cNvSpPr>
              <a:spLocks noChangeShapeType="1"/>
            </p:cNvSpPr>
            <p:nvPr/>
          </p:nvSpPr>
          <p:spPr bwMode="auto">
            <a:xfrm flipH="1">
              <a:off x="1106" y="1897"/>
              <a:ext cx="93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7423" name="Freeform 12"/>
            <p:cNvSpPr>
              <a:spLocks/>
            </p:cNvSpPr>
            <p:nvPr/>
          </p:nvSpPr>
          <p:spPr bwMode="auto">
            <a:xfrm>
              <a:off x="1110" y="1897"/>
              <a:ext cx="86" cy="85"/>
            </a:xfrm>
            <a:custGeom>
              <a:avLst/>
              <a:gdLst>
                <a:gd name="T0" fmla="*/ 85 w 86"/>
                <a:gd name="T1" fmla="*/ 0 h 85"/>
                <a:gd name="T2" fmla="*/ 42 w 86"/>
                <a:gd name="T3" fmla="*/ 84 h 85"/>
                <a:gd name="T4" fmla="*/ 0 w 86"/>
                <a:gd name="T5" fmla="*/ 0 h 8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6" h="85">
                  <a:moveTo>
                    <a:pt x="85" y="0"/>
                  </a:moveTo>
                  <a:lnTo>
                    <a:pt x="42" y="84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424" name="Freeform 13"/>
            <p:cNvSpPr>
              <a:spLocks/>
            </p:cNvSpPr>
            <p:nvPr/>
          </p:nvSpPr>
          <p:spPr bwMode="auto">
            <a:xfrm>
              <a:off x="4176" y="1897"/>
              <a:ext cx="86" cy="85"/>
            </a:xfrm>
            <a:custGeom>
              <a:avLst/>
              <a:gdLst>
                <a:gd name="T0" fmla="*/ 0 w 86"/>
                <a:gd name="T1" fmla="*/ 0 h 85"/>
                <a:gd name="T2" fmla="*/ 85 w 86"/>
                <a:gd name="T3" fmla="*/ 0 h 85"/>
                <a:gd name="T4" fmla="*/ 43 w 86"/>
                <a:gd name="T5" fmla="*/ 84 h 85"/>
                <a:gd name="T6" fmla="*/ 0 w 86"/>
                <a:gd name="T7" fmla="*/ 0 h 8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6" h="85">
                  <a:moveTo>
                    <a:pt x="0" y="0"/>
                  </a:moveTo>
                  <a:lnTo>
                    <a:pt x="85" y="0"/>
                  </a:lnTo>
                  <a:lnTo>
                    <a:pt x="43" y="84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425" name="Line 14"/>
            <p:cNvSpPr>
              <a:spLocks noChangeShapeType="1"/>
            </p:cNvSpPr>
            <p:nvPr/>
          </p:nvSpPr>
          <p:spPr bwMode="auto">
            <a:xfrm flipH="1">
              <a:off x="3469" y="2194"/>
              <a:ext cx="93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7426" name="Freeform 15"/>
            <p:cNvSpPr>
              <a:spLocks/>
            </p:cNvSpPr>
            <p:nvPr/>
          </p:nvSpPr>
          <p:spPr bwMode="auto">
            <a:xfrm>
              <a:off x="3473" y="2194"/>
              <a:ext cx="86" cy="86"/>
            </a:xfrm>
            <a:custGeom>
              <a:avLst/>
              <a:gdLst>
                <a:gd name="T0" fmla="*/ 85 w 86"/>
                <a:gd name="T1" fmla="*/ 0 h 86"/>
                <a:gd name="T2" fmla="*/ 43 w 86"/>
                <a:gd name="T3" fmla="*/ 85 h 86"/>
                <a:gd name="T4" fmla="*/ 0 w 86"/>
                <a:gd name="T5" fmla="*/ 0 h 8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6" h="86">
                  <a:moveTo>
                    <a:pt x="85" y="0"/>
                  </a:moveTo>
                  <a:lnTo>
                    <a:pt x="43" y="85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427" name="Freeform 16"/>
            <p:cNvSpPr>
              <a:spLocks/>
            </p:cNvSpPr>
            <p:nvPr/>
          </p:nvSpPr>
          <p:spPr bwMode="auto">
            <a:xfrm>
              <a:off x="3772" y="2619"/>
              <a:ext cx="86" cy="86"/>
            </a:xfrm>
            <a:custGeom>
              <a:avLst/>
              <a:gdLst>
                <a:gd name="T0" fmla="*/ 0 w 86"/>
                <a:gd name="T1" fmla="*/ 0 h 86"/>
                <a:gd name="T2" fmla="*/ 85 w 86"/>
                <a:gd name="T3" fmla="*/ 0 h 86"/>
                <a:gd name="T4" fmla="*/ 42 w 86"/>
                <a:gd name="T5" fmla="*/ 85 h 86"/>
                <a:gd name="T6" fmla="*/ 0 w 86"/>
                <a:gd name="T7" fmla="*/ 0 h 8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6" h="86">
                  <a:moveTo>
                    <a:pt x="0" y="0"/>
                  </a:moveTo>
                  <a:lnTo>
                    <a:pt x="85" y="0"/>
                  </a:lnTo>
                  <a:lnTo>
                    <a:pt x="42" y="85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428" name="Freeform 17"/>
            <p:cNvSpPr>
              <a:spLocks/>
            </p:cNvSpPr>
            <p:nvPr/>
          </p:nvSpPr>
          <p:spPr bwMode="auto">
            <a:xfrm>
              <a:off x="3772" y="1939"/>
              <a:ext cx="86" cy="86"/>
            </a:xfrm>
            <a:custGeom>
              <a:avLst/>
              <a:gdLst>
                <a:gd name="T0" fmla="*/ 0 w 86"/>
                <a:gd name="T1" fmla="*/ 0 h 86"/>
                <a:gd name="T2" fmla="*/ 85 w 86"/>
                <a:gd name="T3" fmla="*/ 0 h 86"/>
                <a:gd name="T4" fmla="*/ 42 w 86"/>
                <a:gd name="T5" fmla="*/ 85 h 86"/>
                <a:gd name="T6" fmla="*/ 0 w 86"/>
                <a:gd name="T7" fmla="*/ 0 h 8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6" h="86">
                  <a:moveTo>
                    <a:pt x="0" y="0"/>
                  </a:moveTo>
                  <a:lnTo>
                    <a:pt x="85" y="0"/>
                  </a:lnTo>
                  <a:lnTo>
                    <a:pt x="42" y="85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429" name="Line 18"/>
            <p:cNvSpPr>
              <a:spLocks noChangeShapeType="1"/>
            </p:cNvSpPr>
            <p:nvPr/>
          </p:nvSpPr>
          <p:spPr bwMode="auto">
            <a:xfrm flipH="1">
              <a:off x="1510" y="2619"/>
              <a:ext cx="93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7430" name="Freeform 19"/>
            <p:cNvSpPr>
              <a:spLocks/>
            </p:cNvSpPr>
            <p:nvPr/>
          </p:nvSpPr>
          <p:spPr bwMode="auto">
            <a:xfrm>
              <a:off x="4359" y="1484"/>
              <a:ext cx="61" cy="61"/>
            </a:xfrm>
            <a:custGeom>
              <a:avLst/>
              <a:gdLst>
                <a:gd name="T0" fmla="*/ 60 w 61"/>
                <a:gd name="T1" fmla="*/ 27 h 61"/>
                <a:gd name="T2" fmla="*/ 59 w 61"/>
                <a:gd name="T3" fmla="*/ 22 h 61"/>
                <a:gd name="T4" fmla="*/ 57 w 61"/>
                <a:gd name="T5" fmla="*/ 17 h 61"/>
                <a:gd name="T6" fmla="*/ 55 w 61"/>
                <a:gd name="T7" fmla="*/ 13 h 61"/>
                <a:gd name="T8" fmla="*/ 51 w 61"/>
                <a:gd name="T9" fmla="*/ 9 h 61"/>
                <a:gd name="T10" fmla="*/ 47 w 61"/>
                <a:gd name="T11" fmla="*/ 6 h 61"/>
                <a:gd name="T12" fmla="*/ 43 w 61"/>
                <a:gd name="T13" fmla="*/ 3 h 61"/>
                <a:gd name="T14" fmla="*/ 38 w 61"/>
                <a:gd name="T15" fmla="*/ 1 h 61"/>
                <a:gd name="T16" fmla="*/ 33 w 61"/>
                <a:gd name="T17" fmla="*/ 0 h 61"/>
                <a:gd name="T18" fmla="*/ 28 w 61"/>
                <a:gd name="T19" fmla="*/ 0 h 61"/>
                <a:gd name="T20" fmla="*/ 22 w 61"/>
                <a:gd name="T21" fmla="*/ 1 h 61"/>
                <a:gd name="T22" fmla="*/ 17 w 61"/>
                <a:gd name="T23" fmla="*/ 3 h 61"/>
                <a:gd name="T24" fmla="*/ 13 w 61"/>
                <a:gd name="T25" fmla="*/ 6 h 61"/>
                <a:gd name="T26" fmla="*/ 9 w 61"/>
                <a:gd name="T27" fmla="*/ 9 h 61"/>
                <a:gd name="T28" fmla="*/ 5 w 61"/>
                <a:gd name="T29" fmla="*/ 13 h 61"/>
                <a:gd name="T30" fmla="*/ 3 w 61"/>
                <a:gd name="T31" fmla="*/ 17 h 61"/>
                <a:gd name="T32" fmla="*/ 1 w 61"/>
                <a:gd name="T33" fmla="*/ 22 h 61"/>
                <a:gd name="T34" fmla="*/ 0 w 61"/>
                <a:gd name="T35" fmla="*/ 27 h 61"/>
                <a:gd name="T36" fmla="*/ 0 w 61"/>
                <a:gd name="T37" fmla="*/ 33 h 61"/>
                <a:gd name="T38" fmla="*/ 1 w 61"/>
                <a:gd name="T39" fmla="*/ 38 h 61"/>
                <a:gd name="T40" fmla="*/ 3 w 61"/>
                <a:gd name="T41" fmla="*/ 43 h 61"/>
                <a:gd name="T42" fmla="*/ 5 w 61"/>
                <a:gd name="T43" fmla="*/ 47 h 61"/>
                <a:gd name="T44" fmla="*/ 9 w 61"/>
                <a:gd name="T45" fmla="*/ 51 h 61"/>
                <a:gd name="T46" fmla="*/ 13 w 61"/>
                <a:gd name="T47" fmla="*/ 55 h 61"/>
                <a:gd name="T48" fmla="*/ 17 w 61"/>
                <a:gd name="T49" fmla="*/ 57 h 61"/>
                <a:gd name="T50" fmla="*/ 22 w 61"/>
                <a:gd name="T51" fmla="*/ 59 h 61"/>
                <a:gd name="T52" fmla="*/ 28 w 61"/>
                <a:gd name="T53" fmla="*/ 60 h 61"/>
                <a:gd name="T54" fmla="*/ 33 w 61"/>
                <a:gd name="T55" fmla="*/ 60 h 61"/>
                <a:gd name="T56" fmla="*/ 38 w 61"/>
                <a:gd name="T57" fmla="*/ 59 h 61"/>
                <a:gd name="T58" fmla="*/ 43 w 61"/>
                <a:gd name="T59" fmla="*/ 57 h 61"/>
                <a:gd name="T60" fmla="*/ 47 w 61"/>
                <a:gd name="T61" fmla="*/ 55 h 61"/>
                <a:gd name="T62" fmla="*/ 51 w 61"/>
                <a:gd name="T63" fmla="*/ 51 h 61"/>
                <a:gd name="T64" fmla="*/ 55 w 61"/>
                <a:gd name="T65" fmla="*/ 47 h 61"/>
                <a:gd name="T66" fmla="*/ 57 w 61"/>
                <a:gd name="T67" fmla="*/ 43 h 61"/>
                <a:gd name="T68" fmla="*/ 59 w 61"/>
                <a:gd name="T69" fmla="*/ 38 h 61"/>
                <a:gd name="T70" fmla="*/ 60 w 61"/>
                <a:gd name="T71" fmla="*/ 33 h 61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1" h="61">
                  <a:moveTo>
                    <a:pt x="60" y="30"/>
                  </a:moveTo>
                  <a:lnTo>
                    <a:pt x="60" y="27"/>
                  </a:lnTo>
                  <a:lnTo>
                    <a:pt x="60" y="25"/>
                  </a:lnTo>
                  <a:lnTo>
                    <a:pt x="59" y="22"/>
                  </a:lnTo>
                  <a:lnTo>
                    <a:pt x="59" y="20"/>
                  </a:lnTo>
                  <a:lnTo>
                    <a:pt x="57" y="17"/>
                  </a:lnTo>
                  <a:lnTo>
                    <a:pt x="56" y="15"/>
                  </a:lnTo>
                  <a:lnTo>
                    <a:pt x="55" y="13"/>
                  </a:lnTo>
                  <a:lnTo>
                    <a:pt x="53" y="11"/>
                  </a:lnTo>
                  <a:lnTo>
                    <a:pt x="51" y="9"/>
                  </a:lnTo>
                  <a:lnTo>
                    <a:pt x="49" y="7"/>
                  </a:lnTo>
                  <a:lnTo>
                    <a:pt x="47" y="6"/>
                  </a:lnTo>
                  <a:lnTo>
                    <a:pt x="45" y="4"/>
                  </a:lnTo>
                  <a:lnTo>
                    <a:pt x="43" y="3"/>
                  </a:lnTo>
                  <a:lnTo>
                    <a:pt x="40" y="2"/>
                  </a:lnTo>
                  <a:lnTo>
                    <a:pt x="38" y="1"/>
                  </a:lnTo>
                  <a:lnTo>
                    <a:pt x="35" y="1"/>
                  </a:lnTo>
                  <a:lnTo>
                    <a:pt x="33" y="0"/>
                  </a:lnTo>
                  <a:lnTo>
                    <a:pt x="30" y="0"/>
                  </a:lnTo>
                  <a:lnTo>
                    <a:pt x="28" y="0"/>
                  </a:lnTo>
                  <a:lnTo>
                    <a:pt x="25" y="1"/>
                  </a:lnTo>
                  <a:lnTo>
                    <a:pt x="22" y="1"/>
                  </a:lnTo>
                  <a:lnTo>
                    <a:pt x="20" y="2"/>
                  </a:lnTo>
                  <a:lnTo>
                    <a:pt x="17" y="3"/>
                  </a:lnTo>
                  <a:lnTo>
                    <a:pt x="15" y="4"/>
                  </a:lnTo>
                  <a:lnTo>
                    <a:pt x="13" y="6"/>
                  </a:lnTo>
                  <a:lnTo>
                    <a:pt x="11" y="7"/>
                  </a:lnTo>
                  <a:lnTo>
                    <a:pt x="9" y="9"/>
                  </a:lnTo>
                  <a:lnTo>
                    <a:pt x="7" y="11"/>
                  </a:lnTo>
                  <a:lnTo>
                    <a:pt x="5" y="13"/>
                  </a:lnTo>
                  <a:lnTo>
                    <a:pt x="4" y="15"/>
                  </a:lnTo>
                  <a:lnTo>
                    <a:pt x="3" y="17"/>
                  </a:lnTo>
                  <a:lnTo>
                    <a:pt x="2" y="20"/>
                  </a:lnTo>
                  <a:lnTo>
                    <a:pt x="1" y="22"/>
                  </a:lnTo>
                  <a:lnTo>
                    <a:pt x="0" y="25"/>
                  </a:lnTo>
                  <a:lnTo>
                    <a:pt x="0" y="27"/>
                  </a:lnTo>
                  <a:lnTo>
                    <a:pt x="0" y="30"/>
                  </a:lnTo>
                  <a:lnTo>
                    <a:pt x="0" y="33"/>
                  </a:lnTo>
                  <a:lnTo>
                    <a:pt x="0" y="35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3"/>
                  </a:lnTo>
                  <a:lnTo>
                    <a:pt x="4" y="45"/>
                  </a:lnTo>
                  <a:lnTo>
                    <a:pt x="5" y="47"/>
                  </a:lnTo>
                  <a:lnTo>
                    <a:pt x="7" y="49"/>
                  </a:lnTo>
                  <a:lnTo>
                    <a:pt x="9" y="51"/>
                  </a:lnTo>
                  <a:lnTo>
                    <a:pt x="11" y="53"/>
                  </a:lnTo>
                  <a:lnTo>
                    <a:pt x="13" y="55"/>
                  </a:lnTo>
                  <a:lnTo>
                    <a:pt x="15" y="56"/>
                  </a:lnTo>
                  <a:lnTo>
                    <a:pt x="17" y="57"/>
                  </a:lnTo>
                  <a:lnTo>
                    <a:pt x="20" y="58"/>
                  </a:lnTo>
                  <a:lnTo>
                    <a:pt x="22" y="59"/>
                  </a:lnTo>
                  <a:lnTo>
                    <a:pt x="25" y="60"/>
                  </a:lnTo>
                  <a:lnTo>
                    <a:pt x="28" y="60"/>
                  </a:lnTo>
                  <a:lnTo>
                    <a:pt x="30" y="60"/>
                  </a:lnTo>
                  <a:lnTo>
                    <a:pt x="33" y="60"/>
                  </a:lnTo>
                  <a:lnTo>
                    <a:pt x="35" y="60"/>
                  </a:lnTo>
                  <a:lnTo>
                    <a:pt x="38" y="59"/>
                  </a:lnTo>
                  <a:lnTo>
                    <a:pt x="40" y="58"/>
                  </a:lnTo>
                  <a:lnTo>
                    <a:pt x="43" y="57"/>
                  </a:lnTo>
                  <a:lnTo>
                    <a:pt x="45" y="56"/>
                  </a:lnTo>
                  <a:lnTo>
                    <a:pt x="47" y="55"/>
                  </a:lnTo>
                  <a:lnTo>
                    <a:pt x="49" y="53"/>
                  </a:lnTo>
                  <a:lnTo>
                    <a:pt x="51" y="51"/>
                  </a:lnTo>
                  <a:lnTo>
                    <a:pt x="53" y="49"/>
                  </a:lnTo>
                  <a:lnTo>
                    <a:pt x="55" y="47"/>
                  </a:lnTo>
                  <a:lnTo>
                    <a:pt x="56" y="45"/>
                  </a:lnTo>
                  <a:lnTo>
                    <a:pt x="57" y="43"/>
                  </a:lnTo>
                  <a:lnTo>
                    <a:pt x="59" y="40"/>
                  </a:lnTo>
                  <a:lnTo>
                    <a:pt x="59" y="38"/>
                  </a:lnTo>
                  <a:lnTo>
                    <a:pt x="60" y="35"/>
                  </a:lnTo>
                  <a:lnTo>
                    <a:pt x="60" y="33"/>
                  </a:lnTo>
                  <a:lnTo>
                    <a:pt x="60" y="3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431" name="Freeform 20"/>
            <p:cNvSpPr>
              <a:spLocks/>
            </p:cNvSpPr>
            <p:nvPr/>
          </p:nvSpPr>
          <p:spPr bwMode="auto">
            <a:xfrm>
              <a:off x="1889" y="1250"/>
              <a:ext cx="61" cy="61"/>
            </a:xfrm>
            <a:custGeom>
              <a:avLst/>
              <a:gdLst>
                <a:gd name="T0" fmla="*/ 60 w 61"/>
                <a:gd name="T1" fmla="*/ 27 h 61"/>
                <a:gd name="T2" fmla="*/ 59 w 61"/>
                <a:gd name="T3" fmla="*/ 22 h 61"/>
                <a:gd name="T4" fmla="*/ 57 w 61"/>
                <a:gd name="T5" fmla="*/ 17 h 61"/>
                <a:gd name="T6" fmla="*/ 54 w 61"/>
                <a:gd name="T7" fmla="*/ 13 h 61"/>
                <a:gd name="T8" fmla="*/ 51 w 61"/>
                <a:gd name="T9" fmla="*/ 9 h 61"/>
                <a:gd name="T10" fmla="*/ 47 w 61"/>
                <a:gd name="T11" fmla="*/ 5 h 61"/>
                <a:gd name="T12" fmla="*/ 43 w 61"/>
                <a:gd name="T13" fmla="*/ 3 h 61"/>
                <a:gd name="T14" fmla="*/ 38 w 61"/>
                <a:gd name="T15" fmla="*/ 1 h 61"/>
                <a:gd name="T16" fmla="*/ 32 w 61"/>
                <a:gd name="T17" fmla="*/ 0 h 61"/>
                <a:gd name="T18" fmla="*/ 27 w 61"/>
                <a:gd name="T19" fmla="*/ 0 h 61"/>
                <a:gd name="T20" fmla="*/ 22 w 61"/>
                <a:gd name="T21" fmla="*/ 1 h 61"/>
                <a:gd name="T22" fmla="*/ 17 w 61"/>
                <a:gd name="T23" fmla="*/ 3 h 61"/>
                <a:gd name="T24" fmla="*/ 13 w 61"/>
                <a:gd name="T25" fmla="*/ 5 h 61"/>
                <a:gd name="T26" fmla="*/ 9 w 61"/>
                <a:gd name="T27" fmla="*/ 9 h 61"/>
                <a:gd name="T28" fmla="*/ 5 w 61"/>
                <a:gd name="T29" fmla="*/ 13 h 61"/>
                <a:gd name="T30" fmla="*/ 3 w 61"/>
                <a:gd name="T31" fmla="*/ 17 h 61"/>
                <a:gd name="T32" fmla="*/ 1 w 61"/>
                <a:gd name="T33" fmla="*/ 22 h 61"/>
                <a:gd name="T34" fmla="*/ 0 w 61"/>
                <a:gd name="T35" fmla="*/ 27 h 61"/>
                <a:gd name="T36" fmla="*/ 0 w 61"/>
                <a:gd name="T37" fmla="*/ 33 h 61"/>
                <a:gd name="T38" fmla="*/ 1 w 61"/>
                <a:gd name="T39" fmla="*/ 38 h 61"/>
                <a:gd name="T40" fmla="*/ 3 w 61"/>
                <a:gd name="T41" fmla="*/ 43 h 61"/>
                <a:gd name="T42" fmla="*/ 5 w 61"/>
                <a:gd name="T43" fmla="*/ 48 h 61"/>
                <a:gd name="T44" fmla="*/ 9 w 61"/>
                <a:gd name="T45" fmla="*/ 52 h 61"/>
                <a:gd name="T46" fmla="*/ 13 w 61"/>
                <a:gd name="T47" fmla="*/ 55 h 61"/>
                <a:gd name="T48" fmla="*/ 17 w 61"/>
                <a:gd name="T49" fmla="*/ 58 h 61"/>
                <a:gd name="T50" fmla="*/ 22 w 61"/>
                <a:gd name="T51" fmla="*/ 59 h 61"/>
                <a:gd name="T52" fmla="*/ 27 w 61"/>
                <a:gd name="T53" fmla="*/ 60 h 61"/>
                <a:gd name="T54" fmla="*/ 32 w 61"/>
                <a:gd name="T55" fmla="*/ 60 h 61"/>
                <a:gd name="T56" fmla="*/ 38 w 61"/>
                <a:gd name="T57" fmla="*/ 59 h 61"/>
                <a:gd name="T58" fmla="*/ 43 w 61"/>
                <a:gd name="T59" fmla="*/ 57 h 61"/>
                <a:gd name="T60" fmla="*/ 47 w 61"/>
                <a:gd name="T61" fmla="*/ 55 h 61"/>
                <a:gd name="T62" fmla="*/ 51 w 61"/>
                <a:gd name="T63" fmla="*/ 52 h 61"/>
                <a:gd name="T64" fmla="*/ 54 w 61"/>
                <a:gd name="T65" fmla="*/ 48 h 61"/>
                <a:gd name="T66" fmla="*/ 57 w 61"/>
                <a:gd name="T67" fmla="*/ 43 h 61"/>
                <a:gd name="T68" fmla="*/ 59 w 61"/>
                <a:gd name="T69" fmla="*/ 38 h 61"/>
                <a:gd name="T70" fmla="*/ 60 w 61"/>
                <a:gd name="T71" fmla="*/ 33 h 61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1" h="61">
                  <a:moveTo>
                    <a:pt x="60" y="30"/>
                  </a:moveTo>
                  <a:lnTo>
                    <a:pt x="60" y="27"/>
                  </a:lnTo>
                  <a:lnTo>
                    <a:pt x="59" y="25"/>
                  </a:lnTo>
                  <a:lnTo>
                    <a:pt x="59" y="22"/>
                  </a:lnTo>
                  <a:lnTo>
                    <a:pt x="58" y="20"/>
                  </a:lnTo>
                  <a:lnTo>
                    <a:pt x="57" y="17"/>
                  </a:lnTo>
                  <a:lnTo>
                    <a:pt x="56" y="15"/>
                  </a:lnTo>
                  <a:lnTo>
                    <a:pt x="54" y="13"/>
                  </a:lnTo>
                  <a:lnTo>
                    <a:pt x="53" y="11"/>
                  </a:lnTo>
                  <a:lnTo>
                    <a:pt x="51" y="9"/>
                  </a:lnTo>
                  <a:lnTo>
                    <a:pt x="49" y="7"/>
                  </a:lnTo>
                  <a:lnTo>
                    <a:pt x="47" y="5"/>
                  </a:lnTo>
                  <a:lnTo>
                    <a:pt x="45" y="4"/>
                  </a:lnTo>
                  <a:lnTo>
                    <a:pt x="43" y="3"/>
                  </a:lnTo>
                  <a:lnTo>
                    <a:pt x="40" y="2"/>
                  </a:lnTo>
                  <a:lnTo>
                    <a:pt x="38" y="1"/>
                  </a:lnTo>
                  <a:lnTo>
                    <a:pt x="35" y="1"/>
                  </a:lnTo>
                  <a:lnTo>
                    <a:pt x="32" y="0"/>
                  </a:lnTo>
                  <a:lnTo>
                    <a:pt x="30" y="0"/>
                  </a:lnTo>
                  <a:lnTo>
                    <a:pt x="27" y="0"/>
                  </a:lnTo>
                  <a:lnTo>
                    <a:pt x="25" y="1"/>
                  </a:lnTo>
                  <a:lnTo>
                    <a:pt x="22" y="1"/>
                  </a:lnTo>
                  <a:lnTo>
                    <a:pt x="20" y="2"/>
                  </a:lnTo>
                  <a:lnTo>
                    <a:pt x="17" y="3"/>
                  </a:lnTo>
                  <a:lnTo>
                    <a:pt x="15" y="4"/>
                  </a:lnTo>
                  <a:lnTo>
                    <a:pt x="13" y="5"/>
                  </a:lnTo>
                  <a:lnTo>
                    <a:pt x="11" y="7"/>
                  </a:lnTo>
                  <a:lnTo>
                    <a:pt x="9" y="9"/>
                  </a:lnTo>
                  <a:lnTo>
                    <a:pt x="7" y="11"/>
                  </a:lnTo>
                  <a:lnTo>
                    <a:pt x="5" y="13"/>
                  </a:lnTo>
                  <a:lnTo>
                    <a:pt x="4" y="15"/>
                  </a:lnTo>
                  <a:lnTo>
                    <a:pt x="3" y="17"/>
                  </a:lnTo>
                  <a:lnTo>
                    <a:pt x="2" y="20"/>
                  </a:lnTo>
                  <a:lnTo>
                    <a:pt x="1" y="22"/>
                  </a:lnTo>
                  <a:lnTo>
                    <a:pt x="0" y="25"/>
                  </a:lnTo>
                  <a:lnTo>
                    <a:pt x="0" y="27"/>
                  </a:lnTo>
                  <a:lnTo>
                    <a:pt x="0" y="30"/>
                  </a:lnTo>
                  <a:lnTo>
                    <a:pt x="0" y="33"/>
                  </a:lnTo>
                  <a:lnTo>
                    <a:pt x="0" y="35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3"/>
                  </a:lnTo>
                  <a:lnTo>
                    <a:pt x="4" y="45"/>
                  </a:lnTo>
                  <a:lnTo>
                    <a:pt x="5" y="48"/>
                  </a:lnTo>
                  <a:lnTo>
                    <a:pt x="7" y="50"/>
                  </a:lnTo>
                  <a:lnTo>
                    <a:pt x="9" y="52"/>
                  </a:lnTo>
                  <a:lnTo>
                    <a:pt x="11" y="53"/>
                  </a:lnTo>
                  <a:lnTo>
                    <a:pt x="13" y="55"/>
                  </a:lnTo>
                  <a:lnTo>
                    <a:pt x="15" y="56"/>
                  </a:lnTo>
                  <a:lnTo>
                    <a:pt x="17" y="58"/>
                  </a:lnTo>
                  <a:lnTo>
                    <a:pt x="20" y="59"/>
                  </a:lnTo>
                  <a:lnTo>
                    <a:pt x="22" y="59"/>
                  </a:lnTo>
                  <a:lnTo>
                    <a:pt x="25" y="60"/>
                  </a:lnTo>
                  <a:lnTo>
                    <a:pt x="27" y="60"/>
                  </a:lnTo>
                  <a:lnTo>
                    <a:pt x="30" y="60"/>
                  </a:lnTo>
                  <a:lnTo>
                    <a:pt x="32" y="60"/>
                  </a:lnTo>
                  <a:lnTo>
                    <a:pt x="35" y="60"/>
                  </a:lnTo>
                  <a:lnTo>
                    <a:pt x="38" y="59"/>
                  </a:lnTo>
                  <a:lnTo>
                    <a:pt x="40" y="59"/>
                  </a:lnTo>
                  <a:lnTo>
                    <a:pt x="43" y="57"/>
                  </a:lnTo>
                  <a:lnTo>
                    <a:pt x="45" y="56"/>
                  </a:lnTo>
                  <a:lnTo>
                    <a:pt x="47" y="55"/>
                  </a:lnTo>
                  <a:lnTo>
                    <a:pt x="49" y="53"/>
                  </a:lnTo>
                  <a:lnTo>
                    <a:pt x="51" y="52"/>
                  </a:lnTo>
                  <a:lnTo>
                    <a:pt x="53" y="50"/>
                  </a:lnTo>
                  <a:lnTo>
                    <a:pt x="54" y="48"/>
                  </a:lnTo>
                  <a:lnTo>
                    <a:pt x="56" y="45"/>
                  </a:lnTo>
                  <a:lnTo>
                    <a:pt x="57" y="43"/>
                  </a:lnTo>
                  <a:lnTo>
                    <a:pt x="58" y="40"/>
                  </a:lnTo>
                  <a:lnTo>
                    <a:pt x="59" y="38"/>
                  </a:lnTo>
                  <a:lnTo>
                    <a:pt x="59" y="35"/>
                  </a:lnTo>
                  <a:lnTo>
                    <a:pt x="60" y="33"/>
                  </a:lnTo>
                  <a:lnTo>
                    <a:pt x="60" y="3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432" name="Line 21"/>
            <p:cNvSpPr>
              <a:spLocks noChangeShapeType="1"/>
            </p:cNvSpPr>
            <p:nvPr/>
          </p:nvSpPr>
          <p:spPr bwMode="auto">
            <a:xfrm>
              <a:off x="1012" y="1511"/>
              <a:ext cx="0" cy="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7433" name="Freeform 22"/>
            <p:cNvSpPr>
              <a:spLocks/>
            </p:cNvSpPr>
            <p:nvPr/>
          </p:nvSpPr>
          <p:spPr bwMode="auto">
            <a:xfrm>
              <a:off x="952" y="1484"/>
              <a:ext cx="61" cy="61"/>
            </a:xfrm>
            <a:custGeom>
              <a:avLst/>
              <a:gdLst>
                <a:gd name="T0" fmla="*/ 59 w 61"/>
                <a:gd name="T1" fmla="*/ 25 h 61"/>
                <a:gd name="T2" fmla="*/ 58 w 61"/>
                <a:gd name="T3" fmla="*/ 20 h 61"/>
                <a:gd name="T4" fmla="*/ 56 w 61"/>
                <a:gd name="T5" fmla="*/ 15 h 61"/>
                <a:gd name="T6" fmla="*/ 53 w 61"/>
                <a:gd name="T7" fmla="*/ 11 h 61"/>
                <a:gd name="T8" fmla="*/ 49 w 61"/>
                <a:gd name="T9" fmla="*/ 7 h 61"/>
                <a:gd name="T10" fmla="*/ 45 w 61"/>
                <a:gd name="T11" fmla="*/ 4 h 61"/>
                <a:gd name="T12" fmla="*/ 40 w 61"/>
                <a:gd name="T13" fmla="*/ 2 h 61"/>
                <a:gd name="T14" fmla="*/ 35 w 61"/>
                <a:gd name="T15" fmla="*/ 1 h 61"/>
                <a:gd name="T16" fmla="*/ 30 w 61"/>
                <a:gd name="T17" fmla="*/ 0 h 61"/>
                <a:gd name="T18" fmla="*/ 25 w 61"/>
                <a:gd name="T19" fmla="*/ 1 h 61"/>
                <a:gd name="T20" fmla="*/ 20 w 61"/>
                <a:gd name="T21" fmla="*/ 2 h 61"/>
                <a:gd name="T22" fmla="*/ 15 w 61"/>
                <a:gd name="T23" fmla="*/ 4 h 61"/>
                <a:gd name="T24" fmla="*/ 11 w 61"/>
                <a:gd name="T25" fmla="*/ 7 h 61"/>
                <a:gd name="T26" fmla="*/ 7 w 61"/>
                <a:gd name="T27" fmla="*/ 11 h 61"/>
                <a:gd name="T28" fmla="*/ 4 w 61"/>
                <a:gd name="T29" fmla="*/ 15 h 61"/>
                <a:gd name="T30" fmla="*/ 1 w 61"/>
                <a:gd name="T31" fmla="*/ 20 h 61"/>
                <a:gd name="T32" fmla="*/ 0 w 61"/>
                <a:gd name="T33" fmla="*/ 25 h 61"/>
                <a:gd name="T34" fmla="*/ 0 w 61"/>
                <a:gd name="T35" fmla="*/ 30 h 61"/>
                <a:gd name="T36" fmla="*/ 0 w 61"/>
                <a:gd name="T37" fmla="*/ 35 h 61"/>
                <a:gd name="T38" fmla="*/ 1 w 61"/>
                <a:gd name="T39" fmla="*/ 40 h 61"/>
                <a:gd name="T40" fmla="*/ 4 w 61"/>
                <a:gd name="T41" fmla="*/ 45 h 61"/>
                <a:gd name="T42" fmla="*/ 7 w 61"/>
                <a:gd name="T43" fmla="*/ 49 h 61"/>
                <a:gd name="T44" fmla="*/ 11 w 61"/>
                <a:gd name="T45" fmla="*/ 53 h 61"/>
                <a:gd name="T46" fmla="*/ 15 w 61"/>
                <a:gd name="T47" fmla="*/ 56 h 61"/>
                <a:gd name="T48" fmla="*/ 20 w 61"/>
                <a:gd name="T49" fmla="*/ 58 h 61"/>
                <a:gd name="T50" fmla="*/ 25 w 61"/>
                <a:gd name="T51" fmla="*/ 60 h 61"/>
                <a:gd name="T52" fmla="*/ 30 w 61"/>
                <a:gd name="T53" fmla="*/ 60 h 61"/>
                <a:gd name="T54" fmla="*/ 35 w 61"/>
                <a:gd name="T55" fmla="*/ 60 h 61"/>
                <a:gd name="T56" fmla="*/ 40 w 61"/>
                <a:gd name="T57" fmla="*/ 58 h 61"/>
                <a:gd name="T58" fmla="*/ 45 w 61"/>
                <a:gd name="T59" fmla="*/ 56 h 61"/>
                <a:gd name="T60" fmla="*/ 49 w 61"/>
                <a:gd name="T61" fmla="*/ 53 h 61"/>
                <a:gd name="T62" fmla="*/ 53 w 61"/>
                <a:gd name="T63" fmla="*/ 49 h 61"/>
                <a:gd name="T64" fmla="*/ 56 w 61"/>
                <a:gd name="T65" fmla="*/ 45 h 61"/>
                <a:gd name="T66" fmla="*/ 58 w 61"/>
                <a:gd name="T67" fmla="*/ 40 h 61"/>
                <a:gd name="T68" fmla="*/ 59 w 61"/>
                <a:gd name="T69" fmla="*/ 35 h 61"/>
                <a:gd name="T70" fmla="*/ 60 w 61"/>
                <a:gd name="T71" fmla="*/ 30 h 61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1" h="61">
                  <a:moveTo>
                    <a:pt x="60" y="27"/>
                  </a:moveTo>
                  <a:lnTo>
                    <a:pt x="59" y="25"/>
                  </a:lnTo>
                  <a:lnTo>
                    <a:pt x="59" y="22"/>
                  </a:lnTo>
                  <a:lnTo>
                    <a:pt x="58" y="20"/>
                  </a:lnTo>
                  <a:lnTo>
                    <a:pt x="57" y="17"/>
                  </a:lnTo>
                  <a:lnTo>
                    <a:pt x="56" y="15"/>
                  </a:lnTo>
                  <a:lnTo>
                    <a:pt x="54" y="13"/>
                  </a:lnTo>
                  <a:lnTo>
                    <a:pt x="53" y="11"/>
                  </a:lnTo>
                  <a:lnTo>
                    <a:pt x="51" y="9"/>
                  </a:lnTo>
                  <a:lnTo>
                    <a:pt x="49" y="7"/>
                  </a:lnTo>
                  <a:lnTo>
                    <a:pt x="47" y="6"/>
                  </a:lnTo>
                  <a:lnTo>
                    <a:pt x="45" y="4"/>
                  </a:lnTo>
                  <a:lnTo>
                    <a:pt x="43" y="3"/>
                  </a:lnTo>
                  <a:lnTo>
                    <a:pt x="40" y="2"/>
                  </a:lnTo>
                  <a:lnTo>
                    <a:pt x="38" y="1"/>
                  </a:lnTo>
                  <a:lnTo>
                    <a:pt x="35" y="1"/>
                  </a:lnTo>
                  <a:lnTo>
                    <a:pt x="32" y="0"/>
                  </a:lnTo>
                  <a:lnTo>
                    <a:pt x="30" y="0"/>
                  </a:lnTo>
                  <a:lnTo>
                    <a:pt x="27" y="0"/>
                  </a:lnTo>
                  <a:lnTo>
                    <a:pt x="25" y="1"/>
                  </a:lnTo>
                  <a:lnTo>
                    <a:pt x="22" y="1"/>
                  </a:lnTo>
                  <a:lnTo>
                    <a:pt x="20" y="2"/>
                  </a:lnTo>
                  <a:lnTo>
                    <a:pt x="17" y="3"/>
                  </a:lnTo>
                  <a:lnTo>
                    <a:pt x="15" y="4"/>
                  </a:lnTo>
                  <a:lnTo>
                    <a:pt x="13" y="6"/>
                  </a:lnTo>
                  <a:lnTo>
                    <a:pt x="11" y="7"/>
                  </a:lnTo>
                  <a:lnTo>
                    <a:pt x="9" y="9"/>
                  </a:lnTo>
                  <a:lnTo>
                    <a:pt x="7" y="11"/>
                  </a:lnTo>
                  <a:lnTo>
                    <a:pt x="5" y="13"/>
                  </a:lnTo>
                  <a:lnTo>
                    <a:pt x="4" y="15"/>
                  </a:lnTo>
                  <a:lnTo>
                    <a:pt x="3" y="17"/>
                  </a:lnTo>
                  <a:lnTo>
                    <a:pt x="1" y="20"/>
                  </a:lnTo>
                  <a:lnTo>
                    <a:pt x="1" y="22"/>
                  </a:lnTo>
                  <a:lnTo>
                    <a:pt x="0" y="25"/>
                  </a:lnTo>
                  <a:lnTo>
                    <a:pt x="0" y="27"/>
                  </a:lnTo>
                  <a:lnTo>
                    <a:pt x="0" y="30"/>
                  </a:lnTo>
                  <a:lnTo>
                    <a:pt x="0" y="33"/>
                  </a:lnTo>
                  <a:lnTo>
                    <a:pt x="0" y="35"/>
                  </a:lnTo>
                  <a:lnTo>
                    <a:pt x="1" y="38"/>
                  </a:lnTo>
                  <a:lnTo>
                    <a:pt x="1" y="40"/>
                  </a:lnTo>
                  <a:lnTo>
                    <a:pt x="3" y="43"/>
                  </a:lnTo>
                  <a:lnTo>
                    <a:pt x="4" y="45"/>
                  </a:lnTo>
                  <a:lnTo>
                    <a:pt x="5" y="47"/>
                  </a:lnTo>
                  <a:lnTo>
                    <a:pt x="7" y="49"/>
                  </a:lnTo>
                  <a:lnTo>
                    <a:pt x="9" y="51"/>
                  </a:lnTo>
                  <a:lnTo>
                    <a:pt x="11" y="53"/>
                  </a:lnTo>
                  <a:lnTo>
                    <a:pt x="13" y="55"/>
                  </a:lnTo>
                  <a:lnTo>
                    <a:pt x="15" y="56"/>
                  </a:lnTo>
                  <a:lnTo>
                    <a:pt x="17" y="57"/>
                  </a:lnTo>
                  <a:lnTo>
                    <a:pt x="20" y="58"/>
                  </a:lnTo>
                  <a:lnTo>
                    <a:pt x="22" y="59"/>
                  </a:lnTo>
                  <a:lnTo>
                    <a:pt x="25" y="60"/>
                  </a:lnTo>
                  <a:lnTo>
                    <a:pt x="27" y="60"/>
                  </a:lnTo>
                  <a:lnTo>
                    <a:pt x="30" y="60"/>
                  </a:lnTo>
                  <a:lnTo>
                    <a:pt x="32" y="60"/>
                  </a:lnTo>
                  <a:lnTo>
                    <a:pt x="35" y="60"/>
                  </a:lnTo>
                  <a:lnTo>
                    <a:pt x="38" y="59"/>
                  </a:lnTo>
                  <a:lnTo>
                    <a:pt x="40" y="58"/>
                  </a:lnTo>
                  <a:lnTo>
                    <a:pt x="43" y="57"/>
                  </a:lnTo>
                  <a:lnTo>
                    <a:pt x="45" y="56"/>
                  </a:lnTo>
                  <a:lnTo>
                    <a:pt x="47" y="55"/>
                  </a:lnTo>
                  <a:lnTo>
                    <a:pt x="49" y="53"/>
                  </a:lnTo>
                  <a:lnTo>
                    <a:pt x="51" y="51"/>
                  </a:lnTo>
                  <a:lnTo>
                    <a:pt x="53" y="49"/>
                  </a:lnTo>
                  <a:lnTo>
                    <a:pt x="54" y="47"/>
                  </a:lnTo>
                  <a:lnTo>
                    <a:pt x="56" y="45"/>
                  </a:lnTo>
                  <a:lnTo>
                    <a:pt x="57" y="43"/>
                  </a:lnTo>
                  <a:lnTo>
                    <a:pt x="58" y="40"/>
                  </a:lnTo>
                  <a:lnTo>
                    <a:pt x="59" y="38"/>
                  </a:lnTo>
                  <a:lnTo>
                    <a:pt x="59" y="35"/>
                  </a:lnTo>
                  <a:lnTo>
                    <a:pt x="60" y="33"/>
                  </a:lnTo>
                  <a:lnTo>
                    <a:pt x="60" y="3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434" name="Freeform 23"/>
            <p:cNvSpPr>
              <a:spLocks/>
            </p:cNvSpPr>
            <p:nvPr/>
          </p:nvSpPr>
          <p:spPr bwMode="auto">
            <a:xfrm>
              <a:off x="1514" y="2619"/>
              <a:ext cx="86" cy="86"/>
            </a:xfrm>
            <a:custGeom>
              <a:avLst/>
              <a:gdLst>
                <a:gd name="T0" fmla="*/ 85 w 86"/>
                <a:gd name="T1" fmla="*/ 0 h 86"/>
                <a:gd name="T2" fmla="*/ 43 w 86"/>
                <a:gd name="T3" fmla="*/ 85 h 86"/>
                <a:gd name="T4" fmla="*/ 0 w 86"/>
                <a:gd name="T5" fmla="*/ 0 h 8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6" h="86">
                  <a:moveTo>
                    <a:pt x="85" y="0"/>
                  </a:moveTo>
                  <a:lnTo>
                    <a:pt x="43" y="85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435" name="Freeform 24"/>
            <p:cNvSpPr>
              <a:spLocks/>
            </p:cNvSpPr>
            <p:nvPr/>
          </p:nvSpPr>
          <p:spPr bwMode="auto">
            <a:xfrm>
              <a:off x="1514" y="1939"/>
              <a:ext cx="86" cy="86"/>
            </a:xfrm>
            <a:custGeom>
              <a:avLst/>
              <a:gdLst>
                <a:gd name="T0" fmla="*/ 0 w 86"/>
                <a:gd name="T1" fmla="*/ 0 h 86"/>
                <a:gd name="T2" fmla="*/ 85 w 86"/>
                <a:gd name="T3" fmla="*/ 0 h 86"/>
                <a:gd name="T4" fmla="*/ 43 w 86"/>
                <a:gd name="T5" fmla="*/ 85 h 86"/>
                <a:gd name="T6" fmla="*/ 0 w 86"/>
                <a:gd name="T7" fmla="*/ 0 h 8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6" h="86">
                  <a:moveTo>
                    <a:pt x="0" y="0"/>
                  </a:moveTo>
                  <a:lnTo>
                    <a:pt x="85" y="0"/>
                  </a:lnTo>
                  <a:lnTo>
                    <a:pt x="43" y="85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436" name="Line 25"/>
            <p:cNvSpPr>
              <a:spLocks noChangeShapeType="1"/>
            </p:cNvSpPr>
            <p:nvPr/>
          </p:nvSpPr>
          <p:spPr bwMode="auto">
            <a:xfrm flipV="1">
              <a:off x="3473" y="1723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7437" name="Line 26"/>
            <p:cNvSpPr>
              <a:spLocks noChangeShapeType="1"/>
            </p:cNvSpPr>
            <p:nvPr/>
          </p:nvSpPr>
          <p:spPr bwMode="auto">
            <a:xfrm flipV="1">
              <a:off x="3473" y="1510"/>
              <a:ext cx="0" cy="13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7438" name="Line 27"/>
            <p:cNvSpPr>
              <a:spLocks noChangeShapeType="1"/>
            </p:cNvSpPr>
            <p:nvPr/>
          </p:nvSpPr>
          <p:spPr bwMode="auto">
            <a:xfrm>
              <a:off x="2366" y="1624"/>
              <a:ext cx="0" cy="1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7439" name="Line 28"/>
            <p:cNvSpPr>
              <a:spLocks noChangeShapeType="1"/>
            </p:cNvSpPr>
            <p:nvPr/>
          </p:nvSpPr>
          <p:spPr bwMode="auto">
            <a:xfrm>
              <a:off x="2366" y="1731"/>
              <a:ext cx="0" cy="5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7440" name="Line 29"/>
            <p:cNvSpPr>
              <a:spLocks noChangeShapeType="1"/>
            </p:cNvSpPr>
            <p:nvPr/>
          </p:nvSpPr>
          <p:spPr bwMode="auto">
            <a:xfrm flipV="1">
              <a:off x="2366" y="1510"/>
              <a:ext cx="0" cy="11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7441" name="Line 30"/>
            <p:cNvSpPr>
              <a:spLocks noChangeShapeType="1"/>
            </p:cNvSpPr>
            <p:nvPr/>
          </p:nvSpPr>
          <p:spPr bwMode="auto">
            <a:xfrm>
              <a:off x="1152" y="1794"/>
              <a:ext cx="0" cy="9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7442" name="Line 31"/>
            <p:cNvSpPr>
              <a:spLocks noChangeShapeType="1"/>
            </p:cNvSpPr>
            <p:nvPr/>
          </p:nvSpPr>
          <p:spPr bwMode="auto">
            <a:xfrm flipV="1">
              <a:off x="1152" y="1510"/>
              <a:ext cx="0" cy="19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7443" name="Line 32"/>
            <p:cNvSpPr>
              <a:spLocks noChangeShapeType="1"/>
            </p:cNvSpPr>
            <p:nvPr/>
          </p:nvSpPr>
          <p:spPr bwMode="auto">
            <a:xfrm>
              <a:off x="4219" y="1794"/>
              <a:ext cx="0" cy="9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7444" name="Line 33"/>
            <p:cNvSpPr>
              <a:spLocks noChangeShapeType="1"/>
            </p:cNvSpPr>
            <p:nvPr/>
          </p:nvSpPr>
          <p:spPr bwMode="auto">
            <a:xfrm flipV="1">
              <a:off x="4219" y="1510"/>
              <a:ext cx="0" cy="19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7445" name="Line 34"/>
            <p:cNvSpPr>
              <a:spLocks noChangeShapeType="1"/>
            </p:cNvSpPr>
            <p:nvPr/>
          </p:nvSpPr>
          <p:spPr bwMode="auto">
            <a:xfrm>
              <a:off x="3281" y="1518"/>
              <a:ext cx="0" cy="50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7446" name="Line 35"/>
            <p:cNvSpPr>
              <a:spLocks noChangeShapeType="1"/>
            </p:cNvSpPr>
            <p:nvPr/>
          </p:nvSpPr>
          <p:spPr bwMode="auto">
            <a:xfrm>
              <a:off x="3281" y="2113"/>
              <a:ext cx="0" cy="63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7447" name="Line 36"/>
            <p:cNvSpPr>
              <a:spLocks noChangeShapeType="1"/>
            </p:cNvSpPr>
            <p:nvPr/>
          </p:nvSpPr>
          <p:spPr bwMode="auto">
            <a:xfrm flipV="1">
              <a:off x="2132" y="2105"/>
              <a:ext cx="0" cy="41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7448" name="Line 37"/>
            <p:cNvSpPr>
              <a:spLocks noChangeShapeType="1"/>
            </p:cNvSpPr>
            <p:nvPr/>
          </p:nvSpPr>
          <p:spPr bwMode="auto">
            <a:xfrm flipV="1">
              <a:off x="2132" y="1510"/>
              <a:ext cx="0" cy="51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7449" name="Line 38"/>
            <p:cNvSpPr>
              <a:spLocks noChangeShapeType="1"/>
            </p:cNvSpPr>
            <p:nvPr/>
          </p:nvSpPr>
          <p:spPr bwMode="auto">
            <a:xfrm>
              <a:off x="1663" y="2241"/>
              <a:ext cx="0" cy="24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7450" name="Line 39"/>
            <p:cNvSpPr>
              <a:spLocks noChangeShapeType="1"/>
            </p:cNvSpPr>
            <p:nvPr/>
          </p:nvSpPr>
          <p:spPr bwMode="auto">
            <a:xfrm flipV="1">
              <a:off x="1642" y="2233"/>
              <a:ext cx="0" cy="26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7451" name="Line 40"/>
            <p:cNvSpPr>
              <a:spLocks noChangeShapeType="1"/>
            </p:cNvSpPr>
            <p:nvPr/>
          </p:nvSpPr>
          <p:spPr bwMode="auto">
            <a:xfrm flipV="1">
              <a:off x="1663" y="1574"/>
              <a:ext cx="0" cy="26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7452" name="Line 41"/>
            <p:cNvSpPr>
              <a:spLocks noChangeShapeType="1"/>
            </p:cNvSpPr>
            <p:nvPr/>
          </p:nvSpPr>
          <p:spPr bwMode="auto">
            <a:xfrm>
              <a:off x="1642" y="1582"/>
              <a:ext cx="0" cy="24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7453" name="Line 42"/>
            <p:cNvSpPr>
              <a:spLocks noChangeShapeType="1"/>
            </p:cNvSpPr>
            <p:nvPr/>
          </p:nvSpPr>
          <p:spPr bwMode="auto">
            <a:xfrm>
              <a:off x="3729" y="2241"/>
              <a:ext cx="0" cy="24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7454" name="Line 43"/>
            <p:cNvSpPr>
              <a:spLocks noChangeShapeType="1"/>
            </p:cNvSpPr>
            <p:nvPr/>
          </p:nvSpPr>
          <p:spPr bwMode="auto">
            <a:xfrm flipV="1">
              <a:off x="3708" y="2233"/>
              <a:ext cx="0" cy="26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7455" name="Line 44"/>
            <p:cNvSpPr>
              <a:spLocks noChangeShapeType="1"/>
            </p:cNvSpPr>
            <p:nvPr/>
          </p:nvSpPr>
          <p:spPr bwMode="auto">
            <a:xfrm flipV="1">
              <a:off x="3729" y="1552"/>
              <a:ext cx="0" cy="26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7456" name="Line 45"/>
            <p:cNvSpPr>
              <a:spLocks noChangeShapeType="1"/>
            </p:cNvSpPr>
            <p:nvPr/>
          </p:nvSpPr>
          <p:spPr bwMode="auto">
            <a:xfrm>
              <a:off x="3708" y="1560"/>
              <a:ext cx="0" cy="24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7457" name="Line 46"/>
            <p:cNvSpPr>
              <a:spLocks noChangeShapeType="1"/>
            </p:cNvSpPr>
            <p:nvPr/>
          </p:nvSpPr>
          <p:spPr bwMode="auto">
            <a:xfrm flipH="1">
              <a:off x="1318" y="2194"/>
              <a:ext cx="243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7458" name="Line 47"/>
            <p:cNvSpPr>
              <a:spLocks noChangeShapeType="1"/>
            </p:cNvSpPr>
            <p:nvPr/>
          </p:nvSpPr>
          <p:spPr bwMode="auto">
            <a:xfrm flipH="1">
              <a:off x="999" y="1514"/>
              <a:ext cx="562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7459" name="Line 48"/>
            <p:cNvSpPr>
              <a:spLocks noChangeShapeType="1"/>
            </p:cNvSpPr>
            <p:nvPr/>
          </p:nvSpPr>
          <p:spPr bwMode="auto">
            <a:xfrm>
              <a:off x="4095" y="1514"/>
              <a:ext cx="269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7460" name="Freeform 49"/>
            <p:cNvSpPr>
              <a:spLocks/>
            </p:cNvSpPr>
            <p:nvPr/>
          </p:nvSpPr>
          <p:spPr bwMode="auto">
            <a:xfrm>
              <a:off x="3814" y="1514"/>
              <a:ext cx="236" cy="681"/>
            </a:xfrm>
            <a:custGeom>
              <a:avLst/>
              <a:gdLst>
                <a:gd name="T0" fmla="*/ 235 w 236"/>
                <a:gd name="T1" fmla="*/ 0 h 681"/>
                <a:gd name="T2" fmla="*/ 235 w 236"/>
                <a:gd name="T3" fmla="*/ 680 h 681"/>
                <a:gd name="T4" fmla="*/ 0 w 236"/>
                <a:gd name="T5" fmla="*/ 680 h 68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6" h="681">
                  <a:moveTo>
                    <a:pt x="235" y="0"/>
                  </a:moveTo>
                  <a:lnTo>
                    <a:pt x="235" y="680"/>
                  </a:lnTo>
                  <a:lnTo>
                    <a:pt x="0" y="68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461" name="Line 50"/>
            <p:cNvSpPr>
              <a:spLocks noChangeShapeType="1"/>
            </p:cNvSpPr>
            <p:nvPr/>
          </p:nvSpPr>
          <p:spPr bwMode="auto">
            <a:xfrm flipH="1" flipV="1">
              <a:off x="2426" y="2020"/>
              <a:ext cx="349" cy="34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7462" name="Freeform 51"/>
            <p:cNvSpPr>
              <a:spLocks/>
            </p:cNvSpPr>
            <p:nvPr/>
          </p:nvSpPr>
          <p:spPr bwMode="auto">
            <a:xfrm>
              <a:off x="2430" y="1684"/>
              <a:ext cx="683" cy="681"/>
            </a:xfrm>
            <a:custGeom>
              <a:avLst/>
              <a:gdLst>
                <a:gd name="T0" fmla="*/ 341 w 683"/>
                <a:gd name="T1" fmla="*/ 680 h 681"/>
                <a:gd name="T2" fmla="*/ 682 w 683"/>
                <a:gd name="T3" fmla="*/ 340 h 681"/>
                <a:gd name="T4" fmla="*/ 341 w 683"/>
                <a:gd name="T5" fmla="*/ 0 h 681"/>
                <a:gd name="T6" fmla="*/ 0 w 683"/>
                <a:gd name="T7" fmla="*/ 340 h 68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83" h="681">
                  <a:moveTo>
                    <a:pt x="341" y="680"/>
                  </a:moveTo>
                  <a:lnTo>
                    <a:pt x="682" y="340"/>
                  </a:lnTo>
                  <a:lnTo>
                    <a:pt x="341" y="0"/>
                  </a:lnTo>
                  <a:lnTo>
                    <a:pt x="0" y="34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463" name="Line 52"/>
            <p:cNvSpPr>
              <a:spLocks noChangeShapeType="1"/>
            </p:cNvSpPr>
            <p:nvPr/>
          </p:nvSpPr>
          <p:spPr bwMode="auto">
            <a:xfrm>
              <a:off x="3818" y="1514"/>
              <a:ext cx="269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7464" name="Line 53"/>
            <p:cNvSpPr>
              <a:spLocks noChangeShapeType="1"/>
            </p:cNvSpPr>
            <p:nvPr/>
          </p:nvSpPr>
          <p:spPr bwMode="auto">
            <a:xfrm flipH="1">
              <a:off x="3150" y="1514"/>
              <a:ext cx="135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7465" name="Line 54"/>
            <p:cNvSpPr>
              <a:spLocks noChangeShapeType="1"/>
            </p:cNvSpPr>
            <p:nvPr/>
          </p:nvSpPr>
          <p:spPr bwMode="auto">
            <a:xfrm flipH="1">
              <a:off x="2384" y="2747"/>
              <a:ext cx="1242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7466" name="Line 55"/>
            <p:cNvSpPr>
              <a:spLocks noChangeShapeType="1"/>
            </p:cNvSpPr>
            <p:nvPr/>
          </p:nvSpPr>
          <p:spPr bwMode="auto">
            <a:xfrm>
              <a:off x="2392" y="2024"/>
              <a:ext cx="34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7467" name="Line 56"/>
            <p:cNvSpPr>
              <a:spLocks noChangeShapeType="1"/>
            </p:cNvSpPr>
            <p:nvPr/>
          </p:nvSpPr>
          <p:spPr bwMode="auto">
            <a:xfrm>
              <a:off x="3116" y="2024"/>
              <a:ext cx="34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7468" name="Line 57"/>
            <p:cNvSpPr>
              <a:spLocks noChangeShapeType="1"/>
            </p:cNvSpPr>
            <p:nvPr/>
          </p:nvSpPr>
          <p:spPr bwMode="auto">
            <a:xfrm>
              <a:off x="3520" y="2024"/>
              <a:ext cx="9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7469" name="Line 58"/>
            <p:cNvSpPr>
              <a:spLocks noChangeShapeType="1"/>
            </p:cNvSpPr>
            <p:nvPr/>
          </p:nvSpPr>
          <p:spPr bwMode="auto">
            <a:xfrm>
              <a:off x="3516" y="2028"/>
              <a:ext cx="0" cy="16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7470" name="Line 59"/>
            <p:cNvSpPr>
              <a:spLocks noChangeShapeType="1"/>
            </p:cNvSpPr>
            <p:nvPr/>
          </p:nvSpPr>
          <p:spPr bwMode="auto">
            <a:xfrm flipV="1">
              <a:off x="1919" y="1298"/>
              <a:ext cx="0" cy="17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7471" name="Line 60"/>
            <p:cNvSpPr>
              <a:spLocks noChangeShapeType="1"/>
            </p:cNvSpPr>
            <p:nvPr/>
          </p:nvSpPr>
          <p:spPr bwMode="auto">
            <a:xfrm flipH="1">
              <a:off x="1744" y="2024"/>
              <a:ext cx="179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7472" name="Line 61"/>
            <p:cNvSpPr>
              <a:spLocks noChangeShapeType="1"/>
            </p:cNvSpPr>
            <p:nvPr/>
          </p:nvSpPr>
          <p:spPr bwMode="auto">
            <a:xfrm>
              <a:off x="3622" y="2538"/>
              <a:ext cx="0" cy="20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7473" name="Line 62"/>
            <p:cNvSpPr>
              <a:spLocks noChangeShapeType="1"/>
            </p:cNvSpPr>
            <p:nvPr/>
          </p:nvSpPr>
          <p:spPr bwMode="auto">
            <a:xfrm flipV="1">
              <a:off x="3622" y="2084"/>
              <a:ext cx="0" cy="11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7474" name="Line 63"/>
            <p:cNvSpPr>
              <a:spLocks noChangeShapeType="1"/>
            </p:cNvSpPr>
            <p:nvPr/>
          </p:nvSpPr>
          <p:spPr bwMode="auto">
            <a:xfrm flipH="1">
              <a:off x="3277" y="1514"/>
              <a:ext cx="349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7475" name="Line 64"/>
            <p:cNvSpPr>
              <a:spLocks noChangeShapeType="1"/>
            </p:cNvSpPr>
            <p:nvPr/>
          </p:nvSpPr>
          <p:spPr bwMode="auto">
            <a:xfrm>
              <a:off x="3154" y="1518"/>
              <a:ext cx="0" cy="50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7476" name="Line 65"/>
            <p:cNvSpPr>
              <a:spLocks noChangeShapeType="1"/>
            </p:cNvSpPr>
            <p:nvPr/>
          </p:nvSpPr>
          <p:spPr bwMode="auto">
            <a:xfrm>
              <a:off x="2388" y="2581"/>
              <a:ext cx="0" cy="16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7477" name="Line 66"/>
            <p:cNvSpPr>
              <a:spLocks noChangeShapeType="1"/>
            </p:cNvSpPr>
            <p:nvPr/>
          </p:nvSpPr>
          <p:spPr bwMode="auto">
            <a:xfrm flipV="1">
              <a:off x="2388" y="2020"/>
              <a:ext cx="0" cy="45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7478" name="Line 67"/>
            <p:cNvSpPr>
              <a:spLocks noChangeShapeType="1"/>
            </p:cNvSpPr>
            <p:nvPr/>
          </p:nvSpPr>
          <p:spPr bwMode="auto">
            <a:xfrm flipV="1">
              <a:off x="3622" y="1850"/>
              <a:ext cx="0" cy="24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7479" name="Line 68"/>
            <p:cNvSpPr>
              <a:spLocks noChangeShapeType="1"/>
            </p:cNvSpPr>
            <p:nvPr/>
          </p:nvSpPr>
          <p:spPr bwMode="auto">
            <a:xfrm>
              <a:off x="3814" y="2538"/>
              <a:ext cx="0" cy="7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7480" name="Line 69"/>
            <p:cNvSpPr>
              <a:spLocks noChangeShapeType="1"/>
            </p:cNvSpPr>
            <p:nvPr/>
          </p:nvSpPr>
          <p:spPr bwMode="auto">
            <a:xfrm flipV="1">
              <a:off x="3814" y="1850"/>
              <a:ext cx="0" cy="9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7481" name="Line 70"/>
            <p:cNvSpPr>
              <a:spLocks noChangeShapeType="1"/>
            </p:cNvSpPr>
            <p:nvPr/>
          </p:nvSpPr>
          <p:spPr bwMode="auto">
            <a:xfrm flipH="1">
              <a:off x="2170" y="1514"/>
              <a:ext cx="115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7482" name="Line 71"/>
            <p:cNvSpPr>
              <a:spLocks noChangeShapeType="1"/>
            </p:cNvSpPr>
            <p:nvPr/>
          </p:nvSpPr>
          <p:spPr bwMode="auto">
            <a:xfrm>
              <a:off x="2388" y="2474"/>
              <a:ext cx="0" cy="1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7483" name="Line 72"/>
            <p:cNvSpPr>
              <a:spLocks noChangeShapeType="1"/>
            </p:cNvSpPr>
            <p:nvPr/>
          </p:nvSpPr>
          <p:spPr bwMode="auto">
            <a:xfrm flipV="1">
              <a:off x="2771" y="2360"/>
              <a:ext cx="0" cy="17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7484" name="Line 73"/>
            <p:cNvSpPr>
              <a:spLocks noChangeShapeType="1"/>
            </p:cNvSpPr>
            <p:nvPr/>
          </p:nvSpPr>
          <p:spPr bwMode="auto">
            <a:xfrm flipH="1">
              <a:off x="2255" y="2534"/>
              <a:ext cx="52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7485" name="Freeform 74"/>
            <p:cNvSpPr>
              <a:spLocks/>
            </p:cNvSpPr>
            <p:nvPr/>
          </p:nvSpPr>
          <p:spPr bwMode="auto">
            <a:xfrm>
              <a:off x="2281" y="1514"/>
              <a:ext cx="491" cy="171"/>
            </a:xfrm>
            <a:custGeom>
              <a:avLst/>
              <a:gdLst>
                <a:gd name="T0" fmla="*/ 490 w 491"/>
                <a:gd name="T1" fmla="*/ 170 h 171"/>
                <a:gd name="T2" fmla="*/ 490 w 491"/>
                <a:gd name="T3" fmla="*/ 0 h 171"/>
                <a:gd name="T4" fmla="*/ 0 w 491"/>
                <a:gd name="T5" fmla="*/ 0 h 17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91" h="171">
                  <a:moveTo>
                    <a:pt x="490" y="170"/>
                  </a:moveTo>
                  <a:lnTo>
                    <a:pt x="490" y="0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486" name="Line 75"/>
            <p:cNvSpPr>
              <a:spLocks noChangeShapeType="1"/>
            </p:cNvSpPr>
            <p:nvPr/>
          </p:nvSpPr>
          <p:spPr bwMode="auto">
            <a:xfrm>
              <a:off x="1919" y="1560"/>
              <a:ext cx="0" cy="46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7487" name="Line 76"/>
            <p:cNvSpPr>
              <a:spLocks noChangeShapeType="1"/>
            </p:cNvSpPr>
            <p:nvPr/>
          </p:nvSpPr>
          <p:spPr bwMode="auto">
            <a:xfrm>
              <a:off x="1752" y="2534"/>
              <a:ext cx="503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7488" name="Freeform 77"/>
            <p:cNvSpPr>
              <a:spLocks/>
            </p:cNvSpPr>
            <p:nvPr/>
          </p:nvSpPr>
          <p:spPr bwMode="auto">
            <a:xfrm>
              <a:off x="1748" y="1918"/>
              <a:ext cx="1" cy="277"/>
            </a:xfrm>
            <a:custGeom>
              <a:avLst/>
              <a:gdLst>
                <a:gd name="T0" fmla="*/ 0 w 1"/>
                <a:gd name="T1" fmla="*/ 276 h 277"/>
                <a:gd name="T2" fmla="*/ 0 w 1"/>
                <a:gd name="T3" fmla="*/ 255 h 277"/>
                <a:gd name="T4" fmla="*/ 0 w 1"/>
                <a:gd name="T5" fmla="*/ 21 h 277"/>
                <a:gd name="T6" fmla="*/ 0 w 1"/>
                <a:gd name="T7" fmla="*/ 0 h 27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" h="277">
                  <a:moveTo>
                    <a:pt x="0" y="276"/>
                  </a:moveTo>
                  <a:lnTo>
                    <a:pt x="0" y="255"/>
                  </a:lnTo>
                  <a:lnTo>
                    <a:pt x="0" y="21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489" name="Line 78"/>
            <p:cNvSpPr>
              <a:spLocks noChangeShapeType="1"/>
            </p:cNvSpPr>
            <p:nvPr/>
          </p:nvSpPr>
          <p:spPr bwMode="auto">
            <a:xfrm>
              <a:off x="1557" y="2538"/>
              <a:ext cx="0" cy="7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7490" name="Line 79"/>
            <p:cNvSpPr>
              <a:spLocks noChangeShapeType="1"/>
            </p:cNvSpPr>
            <p:nvPr/>
          </p:nvSpPr>
          <p:spPr bwMode="auto">
            <a:xfrm flipV="1">
              <a:off x="1322" y="1510"/>
              <a:ext cx="0" cy="68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7491" name="Line 80"/>
            <p:cNvSpPr>
              <a:spLocks noChangeShapeType="1"/>
            </p:cNvSpPr>
            <p:nvPr/>
          </p:nvSpPr>
          <p:spPr bwMode="auto">
            <a:xfrm>
              <a:off x="1748" y="1858"/>
              <a:ext cx="0" cy="5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7492" name="Line 81"/>
            <p:cNvSpPr>
              <a:spLocks noChangeShapeType="1"/>
            </p:cNvSpPr>
            <p:nvPr/>
          </p:nvSpPr>
          <p:spPr bwMode="auto">
            <a:xfrm flipV="1">
              <a:off x="1557" y="1850"/>
              <a:ext cx="0" cy="9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7493" name="Line 82"/>
            <p:cNvSpPr>
              <a:spLocks noChangeShapeType="1"/>
            </p:cNvSpPr>
            <p:nvPr/>
          </p:nvSpPr>
          <p:spPr bwMode="auto">
            <a:xfrm>
              <a:off x="1752" y="1514"/>
              <a:ext cx="41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7494" name="Line 83"/>
            <p:cNvSpPr>
              <a:spLocks noChangeShapeType="1"/>
            </p:cNvSpPr>
            <p:nvPr/>
          </p:nvSpPr>
          <p:spPr bwMode="auto">
            <a:xfrm>
              <a:off x="1152" y="1709"/>
              <a:ext cx="0" cy="1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7495" name="Line 84"/>
            <p:cNvSpPr>
              <a:spLocks noChangeShapeType="1"/>
            </p:cNvSpPr>
            <p:nvPr/>
          </p:nvSpPr>
          <p:spPr bwMode="auto">
            <a:xfrm>
              <a:off x="1092" y="1727"/>
              <a:ext cx="12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7496" name="Line 85"/>
            <p:cNvSpPr>
              <a:spLocks noChangeShapeType="1"/>
            </p:cNvSpPr>
            <p:nvPr/>
          </p:nvSpPr>
          <p:spPr bwMode="auto">
            <a:xfrm flipH="1">
              <a:off x="1084" y="1770"/>
              <a:ext cx="34" cy="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7497" name="Freeform 86"/>
            <p:cNvSpPr>
              <a:spLocks/>
            </p:cNvSpPr>
            <p:nvPr/>
          </p:nvSpPr>
          <p:spPr bwMode="auto">
            <a:xfrm>
              <a:off x="1114" y="1759"/>
              <a:ext cx="104" cy="22"/>
            </a:xfrm>
            <a:custGeom>
              <a:avLst/>
              <a:gdLst>
                <a:gd name="T0" fmla="*/ 0 w 104"/>
                <a:gd name="T1" fmla="*/ 7 h 22"/>
                <a:gd name="T2" fmla="*/ 39 w 104"/>
                <a:gd name="T3" fmla="*/ 0 h 22"/>
                <a:gd name="T4" fmla="*/ 77 w 104"/>
                <a:gd name="T5" fmla="*/ 7 h 22"/>
                <a:gd name="T6" fmla="*/ 103 w 104"/>
                <a:gd name="T7" fmla="*/ 21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4" h="22">
                  <a:moveTo>
                    <a:pt x="0" y="7"/>
                  </a:moveTo>
                  <a:lnTo>
                    <a:pt x="39" y="0"/>
                  </a:lnTo>
                  <a:lnTo>
                    <a:pt x="77" y="7"/>
                  </a:lnTo>
                  <a:lnTo>
                    <a:pt x="103" y="21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498" name="Line 87"/>
            <p:cNvSpPr>
              <a:spLocks noChangeShapeType="1"/>
            </p:cNvSpPr>
            <p:nvPr/>
          </p:nvSpPr>
          <p:spPr bwMode="auto">
            <a:xfrm flipV="1">
              <a:off x="1153" y="1754"/>
              <a:ext cx="0" cy="4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7499" name="Line 88"/>
            <p:cNvSpPr>
              <a:spLocks noChangeShapeType="1"/>
            </p:cNvSpPr>
            <p:nvPr/>
          </p:nvSpPr>
          <p:spPr bwMode="auto">
            <a:xfrm flipV="1">
              <a:off x="4219" y="1701"/>
              <a:ext cx="0" cy="3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7500" name="Line 89"/>
            <p:cNvSpPr>
              <a:spLocks noChangeShapeType="1"/>
            </p:cNvSpPr>
            <p:nvPr/>
          </p:nvSpPr>
          <p:spPr bwMode="auto">
            <a:xfrm>
              <a:off x="4159" y="1727"/>
              <a:ext cx="12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7501" name="Line 90"/>
            <p:cNvSpPr>
              <a:spLocks noChangeShapeType="1"/>
            </p:cNvSpPr>
            <p:nvPr/>
          </p:nvSpPr>
          <p:spPr bwMode="auto">
            <a:xfrm flipH="1">
              <a:off x="4151" y="1770"/>
              <a:ext cx="34" cy="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7502" name="Freeform 91"/>
            <p:cNvSpPr>
              <a:spLocks/>
            </p:cNvSpPr>
            <p:nvPr/>
          </p:nvSpPr>
          <p:spPr bwMode="auto">
            <a:xfrm>
              <a:off x="4181" y="1759"/>
              <a:ext cx="103" cy="22"/>
            </a:xfrm>
            <a:custGeom>
              <a:avLst/>
              <a:gdLst>
                <a:gd name="T0" fmla="*/ 0 w 103"/>
                <a:gd name="T1" fmla="*/ 7 h 22"/>
                <a:gd name="T2" fmla="*/ 38 w 103"/>
                <a:gd name="T3" fmla="*/ 0 h 22"/>
                <a:gd name="T4" fmla="*/ 77 w 103"/>
                <a:gd name="T5" fmla="*/ 7 h 22"/>
                <a:gd name="T6" fmla="*/ 102 w 103"/>
                <a:gd name="T7" fmla="*/ 21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3" h="22">
                  <a:moveTo>
                    <a:pt x="0" y="7"/>
                  </a:moveTo>
                  <a:lnTo>
                    <a:pt x="38" y="0"/>
                  </a:lnTo>
                  <a:lnTo>
                    <a:pt x="77" y="7"/>
                  </a:lnTo>
                  <a:lnTo>
                    <a:pt x="102" y="21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503" name="Line 92"/>
            <p:cNvSpPr>
              <a:spLocks noChangeShapeType="1"/>
            </p:cNvSpPr>
            <p:nvPr/>
          </p:nvSpPr>
          <p:spPr bwMode="auto">
            <a:xfrm flipV="1">
              <a:off x="4219" y="1754"/>
              <a:ext cx="0" cy="4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7504" name="Line 93"/>
            <p:cNvSpPr>
              <a:spLocks noChangeShapeType="1"/>
            </p:cNvSpPr>
            <p:nvPr/>
          </p:nvSpPr>
          <p:spPr bwMode="auto">
            <a:xfrm flipV="1">
              <a:off x="2366" y="1637"/>
              <a:ext cx="0" cy="3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7505" name="Line 94"/>
            <p:cNvSpPr>
              <a:spLocks noChangeShapeType="1"/>
            </p:cNvSpPr>
            <p:nvPr/>
          </p:nvSpPr>
          <p:spPr bwMode="auto">
            <a:xfrm>
              <a:off x="2306" y="1663"/>
              <a:ext cx="12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7506" name="Line 95"/>
            <p:cNvSpPr>
              <a:spLocks noChangeShapeType="1"/>
            </p:cNvSpPr>
            <p:nvPr/>
          </p:nvSpPr>
          <p:spPr bwMode="auto">
            <a:xfrm flipH="1">
              <a:off x="2298" y="1706"/>
              <a:ext cx="34" cy="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7507" name="Freeform 96"/>
            <p:cNvSpPr>
              <a:spLocks/>
            </p:cNvSpPr>
            <p:nvPr/>
          </p:nvSpPr>
          <p:spPr bwMode="auto">
            <a:xfrm>
              <a:off x="2328" y="1696"/>
              <a:ext cx="104" cy="21"/>
            </a:xfrm>
            <a:custGeom>
              <a:avLst/>
              <a:gdLst>
                <a:gd name="T0" fmla="*/ 0 w 104"/>
                <a:gd name="T1" fmla="*/ 6 h 21"/>
                <a:gd name="T2" fmla="*/ 38 w 104"/>
                <a:gd name="T3" fmla="*/ 0 h 21"/>
                <a:gd name="T4" fmla="*/ 77 w 104"/>
                <a:gd name="T5" fmla="*/ 6 h 21"/>
                <a:gd name="T6" fmla="*/ 103 w 104"/>
                <a:gd name="T7" fmla="*/ 20 h 2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4" h="21">
                  <a:moveTo>
                    <a:pt x="0" y="6"/>
                  </a:moveTo>
                  <a:lnTo>
                    <a:pt x="38" y="0"/>
                  </a:lnTo>
                  <a:lnTo>
                    <a:pt x="77" y="6"/>
                  </a:lnTo>
                  <a:lnTo>
                    <a:pt x="103" y="2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508" name="Line 97"/>
            <p:cNvSpPr>
              <a:spLocks noChangeShapeType="1"/>
            </p:cNvSpPr>
            <p:nvPr/>
          </p:nvSpPr>
          <p:spPr bwMode="auto">
            <a:xfrm flipV="1">
              <a:off x="2366" y="1691"/>
              <a:ext cx="0" cy="4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7509" name="Line 98"/>
            <p:cNvSpPr>
              <a:spLocks noChangeShapeType="1"/>
            </p:cNvSpPr>
            <p:nvPr/>
          </p:nvSpPr>
          <p:spPr bwMode="auto">
            <a:xfrm flipV="1">
              <a:off x="3474" y="1637"/>
              <a:ext cx="0" cy="3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7510" name="Line 99"/>
            <p:cNvSpPr>
              <a:spLocks noChangeShapeType="1"/>
            </p:cNvSpPr>
            <p:nvPr/>
          </p:nvSpPr>
          <p:spPr bwMode="auto">
            <a:xfrm>
              <a:off x="3414" y="1663"/>
              <a:ext cx="12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7511" name="Line 100"/>
            <p:cNvSpPr>
              <a:spLocks noChangeShapeType="1"/>
            </p:cNvSpPr>
            <p:nvPr/>
          </p:nvSpPr>
          <p:spPr bwMode="auto">
            <a:xfrm flipH="1">
              <a:off x="3406" y="1706"/>
              <a:ext cx="33" cy="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7512" name="Freeform 101"/>
            <p:cNvSpPr>
              <a:spLocks/>
            </p:cNvSpPr>
            <p:nvPr/>
          </p:nvSpPr>
          <p:spPr bwMode="auto">
            <a:xfrm>
              <a:off x="3435" y="1696"/>
              <a:ext cx="104" cy="21"/>
            </a:xfrm>
            <a:custGeom>
              <a:avLst/>
              <a:gdLst>
                <a:gd name="T0" fmla="*/ 0 w 104"/>
                <a:gd name="T1" fmla="*/ 6 h 21"/>
                <a:gd name="T2" fmla="*/ 39 w 104"/>
                <a:gd name="T3" fmla="*/ 0 h 21"/>
                <a:gd name="T4" fmla="*/ 78 w 104"/>
                <a:gd name="T5" fmla="*/ 6 h 21"/>
                <a:gd name="T6" fmla="*/ 103 w 104"/>
                <a:gd name="T7" fmla="*/ 20 h 2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4" h="21">
                  <a:moveTo>
                    <a:pt x="0" y="6"/>
                  </a:moveTo>
                  <a:lnTo>
                    <a:pt x="39" y="0"/>
                  </a:lnTo>
                  <a:lnTo>
                    <a:pt x="78" y="6"/>
                  </a:lnTo>
                  <a:lnTo>
                    <a:pt x="103" y="2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513" name="Line 102"/>
            <p:cNvSpPr>
              <a:spLocks noChangeShapeType="1"/>
            </p:cNvSpPr>
            <p:nvPr/>
          </p:nvSpPr>
          <p:spPr bwMode="auto">
            <a:xfrm flipV="1">
              <a:off x="3474" y="1691"/>
              <a:ext cx="0" cy="4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7514" name="Line 103"/>
            <p:cNvSpPr>
              <a:spLocks noChangeShapeType="1"/>
            </p:cNvSpPr>
            <p:nvPr/>
          </p:nvSpPr>
          <p:spPr bwMode="auto">
            <a:xfrm>
              <a:off x="3282" y="2028"/>
              <a:ext cx="0" cy="1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7515" name="Line 104"/>
            <p:cNvSpPr>
              <a:spLocks noChangeShapeType="1"/>
            </p:cNvSpPr>
            <p:nvPr/>
          </p:nvSpPr>
          <p:spPr bwMode="auto">
            <a:xfrm>
              <a:off x="3222" y="2045"/>
              <a:ext cx="12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7516" name="Line 105"/>
            <p:cNvSpPr>
              <a:spLocks noChangeShapeType="1"/>
            </p:cNvSpPr>
            <p:nvPr/>
          </p:nvSpPr>
          <p:spPr bwMode="auto">
            <a:xfrm flipH="1">
              <a:off x="3214" y="2088"/>
              <a:ext cx="34" cy="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7517" name="Line 106"/>
            <p:cNvSpPr>
              <a:spLocks noChangeShapeType="1"/>
            </p:cNvSpPr>
            <p:nvPr/>
          </p:nvSpPr>
          <p:spPr bwMode="auto">
            <a:xfrm flipH="1">
              <a:off x="2579" y="1852"/>
              <a:ext cx="76" cy="1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7518" name="Freeform 107"/>
            <p:cNvSpPr>
              <a:spLocks/>
            </p:cNvSpPr>
            <p:nvPr/>
          </p:nvSpPr>
          <p:spPr bwMode="auto">
            <a:xfrm>
              <a:off x="2583" y="1803"/>
              <a:ext cx="69" cy="69"/>
            </a:xfrm>
            <a:custGeom>
              <a:avLst/>
              <a:gdLst>
                <a:gd name="T0" fmla="*/ 68 w 69"/>
                <a:gd name="T1" fmla="*/ 45 h 69"/>
                <a:gd name="T2" fmla="*/ 23 w 69"/>
                <a:gd name="T3" fmla="*/ 0 h 69"/>
                <a:gd name="T4" fmla="*/ 0 w 69"/>
                <a:gd name="T5" fmla="*/ 68 h 6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9" h="69">
                  <a:moveTo>
                    <a:pt x="68" y="45"/>
                  </a:moveTo>
                  <a:lnTo>
                    <a:pt x="23" y="0"/>
                  </a:lnTo>
                  <a:lnTo>
                    <a:pt x="0" y="68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519" name="Line 108"/>
            <p:cNvSpPr>
              <a:spLocks noChangeShapeType="1"/>
            </p:cNvSpPr>
            <p:nvPr/>
          </p:nvSpPr>
          <p:spPr bwMode="auto">
            <a:xfrm flipV="1">
              <a:off x="2602" y="1807"/>
              <a:ext cx="8" cy="2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7520" name="Line 109"/>
            <p:cNvSpPr>
              <a:spLocks noChangeShapeType="1"/>
            </p:cNvSpPr>
            <p:nvPr/>
          </p:nvSpPr>
          <p:spPr bwMode="auto">
            <a:xfrm flipV="1">
              <a:off x="2592" y="1816"/>
              <a:ext cx="28" cy="4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7521" name="Line 110"/>
            <p:cNvSpPr>
              <a:spLocks noChangeShapeType="1"/>
            </p:cNvSpPr>
            <p:nvPr/>
          </p:nvSpPr>
          <p:spPr bwMode="auto">
            <a:xfrm flipV="1">
              <a:off x="2601" y="1826"/>
              <a:ext cx="28" cy="4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7522" name="Line 111"/>
            <p:cNvSpPr>
              <a:spLocks noChangeShapeType="1"/>
            </p:cNvSpPr>
            <p:nvPr/>
          </p:nvSpPr>
          <p:spPr bwMode="auto">
            <a:xfrm flipV="1">
              <a:off x="2630" y="1836"/>
              <a:ext cx="9" cy="2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7523" name="Freeform 112"/>
            <p:cNvSpPr>
              <a:spLocks/>
            </p:cNvSpPr>
            <p:nvPr/>
          </p:nvSpPr>
          <p:spPr bwMode="auto">
            <a:xfrm>
              <a:off x="2902" y="1816"/>
              <a:ext cx="70" cy="69"/>
            </a:xfrm>
            <a:custGeom>
              <a:avLst/>
              <a:gdLst>
                <a:gd name="T0" fmla="*/ 0 w 70"/>
                <a:gd name="T1" fmla="*/ 0 h 69"/>
                <a:gd name="T2" fmla="*/ 24 w 70"/>
                <a:gd name="T3" fmla="*/ 68 h 69"/>
                <a:gd name="T4" fmla="*/ 69 w 70"/>
                <a:gd name="T5" fmla="*/ 23 h 69"/>
                <a:gd name="T6" fmla="*/ 0 w 70"/>
                <a:gd name="T7" fmla="*/ 0 h 6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0" h="69">
                  <a:moveTo>
                    <a:pt x="0" y="0"/>
                  </a:moveTo>
                  <a:lnTo>
                    <a:pt x="24" y="68"/>
                  </a:lnTo>
                  <a:lnTo>
                    <a:pt x="69" y="23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524" name="Line 113"/>
            <p:cNvSpPr>
              <a:spLocks noChangeShapeType="1"/>
            </p:cNvSpPr>
            <p:nvPr/>
          </p:nvSpPr>
          <p:spPr bwMode="auto">
            <a:xfrm flipV="1">
              <a:off x="2911" y="1817"/>
              <a:ext cx="2" cy="1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7525" name="Line 114"/>
            <p:cNvSpPr>
              <a:spLocks noChangeShapeType="1"/>
            </p:cNvSpPr>
            <p:nvPr/>
          </p:nvSpPr>
          <p:spPr bwMode="auto">
            <a:xfrm flipV="1">
              <a:off x="2916" y="1822"/>
              <a:ext cx="12" cy="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7526" name="Line 115"/>
            <p:cNvSpPr>
              <a:spLocks noChangeShapeType="1"/>
            </p:cNvSpPr>
            <p:nvPr/>
          </p:nvSpPr>
          <p:spPr bwMode="auto">
            <a:xfrm flipV="1">
              <a:off x="2921" y="1826"/>
              <a:ext cx="22" cy="3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7527" name="Line 116"/>
            <p:cNvSpPr>
              <a:spLocks noChangeShapeType="1"/>
            </p:cNvSpPr>
            <p:nvPr/>
          </p:nvSpPr>
          <p:spPr bwMode="auto">
            <a:xfrm flipV="1">
              <a:off x="2926" y="1831"/>
              <a:ext cx="31" cy="4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7528" name="Freeform 117"/>
            <p:cNvSpPr>
              <a:spLocks/>
            </p:cNvSpPr>
            <p:nvPr/>
          </p:nvSpPr>
          <p:spPr bwMode="auto">
            <a:xfrm>
              <a:off x="2911" y="2156"/>
              <a:ext cx="69" cy="69"/>
            </a:xfrm>
            <a:custGeom>
              <a:avLst/>
              <a:gdLst>
                <a:gd name="T0" fmla="*/ 68 w 69"/>
                <a:gd name="T1" fmla="*/ 0 h 69"/>
                <a:gd name="T2" fmla="*/ 0 w 69"/>
                <a:gd name="T3" fmla="*/ 23 h 69"/>
                <a:gd name="T4" fmla="*/ 46 w 69"/>
                <a:gd name="T5" fmla="*/ 68 h 69"/>
                <a:gd name="T6" fmla="*/ 68 w 69"/>
                <a:gd name="T7" fmla="*/ 0 h 6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9" h="69">
                  <a:moveTo>
                    <a:pt x="68" y="0"/>
                  </a:moveTo>
                  <a:lnTo>
                    <a:pt x="0" y="23"/>
                  </a:lnTo>
                  <a:lnTo>
                    <a:pt x="46" y="68"/>
                  </a:lnTo>
                  <a:lnTo>
                    <a:pt x="68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529" name="Line 118"/>
            <p:cNvSpPr>
              <a:spLocks noChangeShapeType="1"/>
            </p:cNvSpPr>
            <p:nvPr/>
          </p:nvSpPr>
          <p:spPr bwMode="auto">
            <a:xfrm flipV="1">
              <a:off x="2923" y="2167"/>
              <a:ext cx="8" cy="2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7530" name="Line 119"/>
            <p:cNvSpPr>
              <a:spLocks noChangeShapeType="1"/>
            </p:cNvSpPr>
            <p:nvPr/>
          </p:nvSpPr>
          <p:spPr bwMode="auto">
            <a:xfrm flipV="1">
              <a:off x="2933" y="2157"/>
              <a:ext cx="28" cy="4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7531" name="Line 120"/>
            <p:cNvSpPr>
              <a:spLocks noChangeShapeType="1"/>
            </p:cNvSpPr>
            <p:nvPr/>
          </p:nvSpPr>
          <p:spPr bwMode="auto">
            <a:xfrm flipV="1">
              <a:off x="2943" y="2166"/>
              <a:ext cx="28" cy="4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7532" name="Line 121"/>
            <p:cNvSpPr>
              <a:spLocks noChangeShapeType="1"/>
            </p:cNvSpPr>
            <p:nvPr/>
          </p:nvSpPr>
          <p:spPr bwMode="auto">
            <a:xfrm flipV="1">
              <a:off x="2953" y="2196"/>
              <a:ext cx="8" cy="2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7533" name="Freeform 122"/>
            <p:cNvSpPr>
              <a:spLocks/>
            </p:cNvSpPr>
            <p:nvPr/>
          </p:nvSpPr>
          <p:spPr bwMode="auto">
            <a:xfrm>
              <a:off x="2549" y="2143"/>
              <a:ext cx="69" cy="69"/>
            </a:xfrm>
            <a:custGeom>
              <a:avLst/>
              <a:gdLst>
                <a:gd name="T0" fmla="*/ 68 w 69"/>
                <a:gd name="T1" fmla="*/ 68 h 69"/>
                <a:gd name="T2" fmla="*/ 46 w 69"/>
                <a:gd name="T3" fmla="*/ 0 h 69"/>
                <a:gd name="T4" fmla="*/ 0 w 69"/>
                <a:gd name="T5" fmla="*/ 46 h 69"/>
                <a:gd name="T6" fmla="*/ 68 w 69"/>
                <a:gd name="T7" fmla="*/ 68 h 6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9" h="69">
                  <a:moveTo>
                    <a:pt x="68" y="68"/>
                  </a:moveTo>
                  <a:lnTo>
                    <a:pt x="46" y="0"/>
                  </a:lnTo>
                  <a:lnTo>
                    <a:pt x="0" y="46"/>
                  </a:lnTo>
                  <a:lnTo>
                    <a:pt x="68" y="68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534" name="Line 123"/>
            <p:cNvSpPr>
              <a:spLocks noChangeShapeType="1"/>
            </p:cNvSpPr>
            <p:nvPr/>
          </p:nvSpPr>
          <p:spPr bwMode="auto">
            <a:xfrm flipV="1">
              <a:off x="2563" y="2148"/>
              <a:ext cx="31" cy="4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7535" name="Line 124"/>
            <p:cNvSpPr>
              <a:spLocks noChangeShapeType="1"/>
            </p:cNvSpPr>
            <p:nvPr/>
          </p:nvSpPr>
          <p:spPr bwMode="auto">
            <a:xfrm flipV="1">
              <a:off x="2577" y="2163"/>
              <a:ext cx="22" cy="3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7536" name="Line 125"/>
            <p:cNvSpPr>
              <a:spLocks noChangeShapeType="1"/>
            </p:cNvSpPr>
            <p:nvPr/>
          </p:nvSpPr>
          <p:spPr bwMode="auto">
            <a:xfrm flipV="1">
              <a:off x="2592" y="2178"/>
              <a:ext cx="11" cy="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7537" name="Line 126"/>
            <p:cNvSpPr>
              <a:spLocks noChangeShapeType="1"/>
            </p:cNvSpPr>
            <p:nvPr/>
          </p:nvSpPr>
          <p:spPr bwMode="auto">
            <a:xfrm flipV="1">
              <a:off x="2606" y="2192"/>
              <a:ext cx="2" cy="1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7538" name="Line 127"/>
            <p:cNvSpPr>
              <a:spLocks noChangeShapeType="1"/>
            </p:cNvSpPr>
            <p:nvPr/>
          </p:nvSpPr>
          <p:spPr bwMode="auto">
            <a:xfrm>
              <a:off x="2617" y="2211"/>
              <a:ext cx="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7539" name="Freeform 128"/>
            <p:cNvSpPr>
              <a:spLocks/>
            </p:cNvSpPr>
            <p:nvPr/>
          </p:nvSpPr>
          <p:spPr bwMode="auto">
            <a:xfrm>
              <a:off x="3244" y="2078"/>
              <a:ext cx="103" cy="21"/>
            </a:xfrm>
            <a:custGeom>
              <a:avLst/>
              <a:gdLst>
                <a:gd name="T0" fmla="*/ 0 w 103"/>
                <a:gd name="T1" fmla="*/ 6 h 21"/>
                <a:gd name="T2" fmla="*/ 38 w 103"/>
                <a:gd name="T3" fmla="*/ 0 h 21"/>
                <a:gd name="T4" fmla="*/ 77 w 103"/>
                <a:gd name="T5" fmla="*/ 6 h 21"/>
                <a:gd name="T6" fmla="*/ 102 w 103"/>
                <a:gd name="T7" fmla="*/ 20 h 2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3" h="21">
                  <a:moveTo>
                    <a:pt x="0" y="6"/>
                  </a:moveTo>
                  <a:lnTo>
                    <a:pt x="38" y="0"/>
                  </a:lnTo>
                  <a:lnTo>
                    <a:pt x="77" y="6"/>
                  </a:lnTo>
                  <a:lnTo>
                    <a:pt x="102" y="2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540" name="Line 129"/>
            <p:cNvSpPr>
              <a:spLocks noChangeShapeType="1"/>
            </p:cNvSpPr>
            <p:nvPr/>
          </p:nvSpPr>
          <p:spPr bwMode="auto">
            <a:xfrm flipV="1">
              <a:off x="3282" y="2073"/>
              <a:ext cx="0" cy="4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7541" name="Line 130"/>
            <p:cNvSpPr>
              <a:spLocks noChangeShapeType="1"/>
            </p:cNvSpPr>
            <p:nvPr/>
          </p:nvSpPr>
          <p:spPr bwMode="auto">
            <a:xfrm flipV="1">
              <a:off x="2132" y="2020"/>
              <a:ext cx="0" cy="2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7542" name="Line 131"/>
            <p:cNvSpPr>
              <a:spLocks noChangeShapeType="1"/>
            </p:cNvSpPr>
            <p:nvPr/>
          </p:nvSpPr>
          <p:spPr bwMode="auto">
            <a:xfrm>
              <a:off x="2072" y="2045"/>
              <a:ext cx="12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7543" name="Line 132"/>
            <p:cNvSpPr>
              <a:spLocks noChangeShapeType="1"/>
            </p:cNvSpPr>
            <p:nvPr/>
          </p:nvSpPr>
          <p:spPr bwMode="auto">
            <a:xfrm flipH="1">
              <a:off x="2064" y="2088"/>
              <a:ext cx="34" cy="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7544" name="Freeform 133"/>
            <p:cNvSpPr>
              <a:spLocks/>
            </p:cNvSpPr>
            <p:nvPr/>
          </p:nvSpPr>
          <p:spPr bwMode="auto">
            <a:xfrm>
              <a:off x="2094" y="2078"/>
              <a:ext cx="104" cy="21"/>
            </a:xfrm>
            <a:custGeom>
              <a:avLst/>
              <a:gdLst>
                <a:gd name="T0" fmla="*/ 0 w 104"/>
                <a:gd name="T1" fmla="*/ 6 h 21"/>
                <a:gd name="T2" fmla="*/ 38 w 104"/>
                <a:gd name="T3" fmla="*/ 0 h 21"/>
                <a:gd name="T4" fmla="*/ 76 w 104"/>
                <a:gd name="T5" fmla="*/ 6 h 21"/>
                <a:gd name="T6" fmla="*/ 103 w 104"/>
                <a:gd name="T7" fmla="*/ 20 h 2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4" h="21">
                  <a:moveTo>
                    <a:pt x="0" y="6"/>
                  </a:moveTo>
                  <a:lnTo>
                    <a:pt x="38" y="0"/>
                  </a:lnTo>
                  <a:lnTo>
                    <a:pt x="76" y="6"/>
                  </a:lnTo>
                  <a:lnTo>
                    <a:pt x="103" y="2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545" name="Line 134"/>
            <p:cNvSpPr>
              <a:spLocks noChangeShapeType="1"/>
            </p:cNvSpPr>
            <p:nvPr/>
          </p:nvSpPr>
          <p:spPr bwMode="auto">
            <a:xfrm flipV="1">
              <a:off x="2132" y="2073"/>
              <a:ext cx="0" cy="4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7546" name="Line 135"/>
            <p:cNvSpPr>
              <a:spLocks noChangeShapeType="1"/>
            </p:cNvSpPr>
            <p:nvPr/>
          </p:nvSpPr>
          <p:spPr bwMode="auto">
            <a:xfrm>
              <a:off x="2562" y="1850"/>
              <a:ext cx="43" cy="4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7547" name="Line 136"/>
            <p:cNvSpPr>
              <a:spLocks noChangeShapeType="1"/>
            </p:cNvSpPr>
            <p:nvPr/>
          </p:nvSpPr>
          <p:spPr bwMode="auto">
            <a:xfrm flipH="1">
              <a:off x="2554" y="1875"/>
              <a:ext cx="33" cy="1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7548" name="Line 137"/>
            <p:cNvSpPr>
              <a:spLocks noChangeShapeType="1"/>
            </p:cNvSpPr>
            <p:nvPr/>
          </p:nvSpPr>
          <p:spPr bwMode="auto">
            <a:xfrm flipV="1">
              <a:off x="2881" y="1786"/>
              <a:ext cx="44" cy="5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7549" name="Line 138"/>
            <p:cNvSpPr>
              <a:spLocks noChangeShapeType="1"/>
            </p:cNvSpPr>
            <p:nvPr/>
          </p:nvSpPr>
          <p:spPr bwMode="auto">
            <a:xfrm flipH="1" flipV="1">
              <a:off x="2873" y="1786"/>
              <a:ext cx="33" cy="3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7550" name="Line 139"/>
            <p:cNvSpPr>
              <a:spLocks noChangeShapeType="1"/>
            </p:cNvSpPr>
            <p:nvPr/>
          </p:nvSpPr>
          <p:spPr bwMode="auto">
            <a:xfrm>
              <a:off x="2958" y="2134"/>
              <a:ext cx="43" cy="4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7551" name="Line 140"/>
            <p:cNvSpPr>
              <a:spLocks noChangeShapeType="1"/>
            </p:cNvSpPr>
            <p:nvPr/>
          </p:nvSpPr>
          <p:spPr bwMode="auto">
            <a:xfrm flipV="1">
              <a:off x="2983" y="2126"/>
              <a:ext cx="18" cy="3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7552" name="Line 141"/>
            <p:cNvSpPr>
              <a:spLocks noChangeShapeType="1"/>
            </p:cNvSpPr>
            <p:nvPr/>
          </p:nvSpPr>
          <p:spPr bwMode="auto">
            <a:xfrm flipH="1">
              <a:off x="2588" y="2190"/>
              <a:ext cx="59" cy="4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7553" name="Line 142"/>
            <p:cNvSpPr>
              <a:spLocks noChangeShapeType="1"/>
            </p:cNvSpPr>
            <p:nvPr/>
          </p:nvSpPr>
          <p:spPr bwMode="auto">
            <a:xfrm>
              <a:off x="2621" y="2215"/>
              <a:ext cx="18" cy="1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7554" name="Freeform 143"/>
            <p:cNvSpPr>
              <a:spLocks/>
            </p:cNvSpPr>
            <p:nvPr/>
          </p:nvSpPr>
          <p:spPr bwMode="auto">
            <a:xfrm>
              <a:off x="3622" y="2194"/>
              <a:ext cx="44" cy="341"/>
            </a:xfrm>
            <a:custGeom>
              <a:avLst/>
              <a:gdLst>
                <a:gd name="T0" fmla="*/ 0 w 44"/>
                <a:gd name="T1" fmla="*/ 0 h 341"/>
                <a:gd name="T2" fmla="*/ 21 w 44"/>
                <a:gd name="T3" fmla="*/ 6 h 341"/>
                <a:gd name="T4" fmla="*/ 37 w 44"/>
                <a:gd name="T5" fmla="*/ 22 h 341"/>
                <a:gd name="T6" fmla="*/ 43 w 44"/>
                <a:gd name="T7" fmla="*/ 43 h 341"/>
                <a:gd name="T8" fmla="*/ 37 w 44"/>
                <a:gd name="T9" fmla="*/ 64 h 341"/>
                <a:gd name="T10" fmla="*/ 21 w 44"/>
                <a:gd name="T11" fmla="*/ 79 h 341"/>
                <a:gd name="T12" fmla="*/ 0 w 44"/>
                <a:gd name="T13" fmla="*/ 85 h 341"/>
                <a:gd name="T14" fmla="*/ 21 w 44"/>
                <a:gd name="T15" fmla="*/ 91 h 341"/>
                <a:gd name="T16" fmla="*/ 37 w 44"/>
                <a:gd name="T17" fmla="*/ 106 h 341"/>
                <a:gd name="T18" fmla="*/ 43 w 44"/>
                <a:gd name="T19" fmla="*/ 127 h 341"/>
                <a:gd name="T20" fmla="*/ 37 w 44"/>
                <a:gd name="T21" fmla="*/ 149 h 341"/>
                <a:gd name="T22" fmla="*/ 21 w 44"/>
                <a:gd name="T23" fmla="*/ 165 h 341"/>
                <a:gd name="T24" fmla="*/ 0 w 44"/>
                <a:gd name="T25" fmla="*/ 170 h 341"/>
                <a:gd name="T26" fmla="*/ 21 w 44"/>
                <a:gd name="T27" fmla="*/ 176 h 341"/>
                <a:gd name="T28" fmla="*/ 37 w 44"/>
                <a:gd name="T29" fmla="*/ 192 h 341"/>
                <a:gd name="T30" fmla="*/ 43 w 44"/>
                <a:gd name="T31" fmla="*/ 213 h 341"/>
                <a:gd name="T32" fmla="*/ 37 w 44"/>
                <a:gd name="T33" fmla="*/ 234 h 341"/>
                <a:gd name="T34" fmla="*/ 21 w 44"/>
                <a:gd name="T35" fmla="*/ 249 h 341"/>
                <a:gd name="T36" fmla="*/ 0 w 44"/>
                <a:gd name="T37" fmla="*/ 255 h 341"/>
                <a:gd name="T38" fmla="*/ 21 w 44"/>
                <a:gd name="T39" fmla="*/ 261 h 341"/>
                <a:gd name="T40" fmla="*/ 37 w 44"/>
                <a:gd name="T41" fmla="*/ 277 h 341"/>
                <a:gd name="T42" fmla="*/ 43 w 44"/>
                <a:gd name="T43" fmla="*/ 298 h 341"/>
                <a:gd name="T44" fmla="*/ 37 w 44"/>
                <a:gd name="T45" fmla="*/ 319 h 341"/>
                <a:gd name="T46" fmla="*/ 21 w 44"/>
                <a:gd name="T47" fmla="*/ 334 h 341"/>
                <a:gd name="T48" fmla="*/ 0 w 44"/>
                <a:gd name="T49" fmla="*/ 340 h 341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44" h="341">
                  <a:moveTo>
                    <a:pt x="0" y="0"/>
                  </a:moveTo>
                  <a:lnTo>
                    <a:pt x="21" y="6"/>
                  </a:lnTo>
                  <a:lnTo>
                    <a:pt x="37" y="22"/>
                  </a:lnTo>
                  <a:lnTo>
                    <a:pt x="43" y="43"/>
                  </a:lnTo>
                  <a:lnTo>
                    <a:pt x="37" y="64"/>
                  </a:lnTo>
                  <a:lnTo>
                    <a:pt x="21" y="79"/>
                  </a:lnTo>
                  <a:lnTo>
                    <a:pt x="0" y="85"/>
                  </a:lnTo>
                  <a:lnTo>
                    <a:pt x="21" y="91"/>
                  </a:lnTo>
                  <a:lnTo>
                    <a:pt x="37" y="106"/>
                  </a:lnTo>
                  <a:lnTo>
                    <a:pt x="43" y="127"/>
                  </a:lnTo>
                  <a:lnTo>
                    <a:pt x="37" y="149"/>
                  </a:lnTo>
                  <a:lnTo>
                    <a:pt x="21" y="165"/>
                  </a:lnTo>
                  <a:lnTo>
                    <a:pt x="0" y="170"/>
                  </a:lnTo>
                  <a:lnTo>
                    <a:pt x="21" y="176"/>
                  </a:lnTo>
                  <a:lnTo>
                    <a:pt x="37" y="192"/>
                  </a:lnTo>
                  <a:lnTo>
                    <a:pt x="43" y="213"/>
                  </a:lnTo>
                  <a:lnTo>
                    <a:pt x="37" y="234"/>
                  </a:lnTo>
                  <a:lnTo>
                    <a:pt x="21" y="249"/>
                  </a:lnTo>
                  <a:lnTo>
                    <a:pt x="0" y="255"/>
                  </a:lnTo>
                  <a:lnTo>
                    <a:pt x="21" y="261"/>
                  </a:lnTo>
                  <a:lnTo>
                    <a:pt x="37" y="277"/>
                  </a:lnTo>
                  <a:lnTo>
                    <a:pt x="43" y="298"/>
                  </a:lnTo>
                  <a:lnTo>
                    <a:pt x="37" y="319"/>
                  </a:lnTo>
                  <a:lnTo>
                    <a:pt x="21" y="334"/>
                  </a:lnTo>
                  <a:lnTo>
                    <a:pt x="0" y="34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555" name="Line 144"/>
            <p:cNvSpPr>
              <a:spLocks noChangeShapeType="1"/>
            </p:cNvSpPr>
            <p:nvPr/>
          </p:nvSpPr>
          <p:spPr bwMode="auto">
            <a:xfrm flipH="1" flipV="1">
              <a:off x="3618" y="1510"/>
              <a:ext cx="29" cy="1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7556" name="Freeform 145"/>
            <p:cNvSpPr>
              <a:spLocks/>
            </p:cNvSpPr>
            <p:nvPr/>
          </p:nvSpPr>
          <p:spPr bwMode="auto">
            <a:xfrm>
              <a:off x="3622" y="1520"/>
              <a:ext cx="44" cy="335"/>
            </a:xfrm>
            <a:custGeom>
              <a:avLst/>
              <a:gdLst>
                <a:gd name="T0" fmla="*/ 21 w 44"/>
                <a:gd name="T1" fmla="*/ 0 h 335"/>
                <a:gd name="T2" fmla="*/ 37 w 44"/>
                <a:gd name="T3" fmla="*/ 15 h 335"/>
                <a:gd name="T4" fmla="*/ 43 w 44"/>
                <a:gd name="T5" fmla="*/ 36 h 335"/>
                <a:gd name="T6" fmla="*/ 37 w 44"/>
                <a:gd name="T7" fmla="*/ 57 h 335"/>
                <a:gd name="T8" fmla="*/ 21 w 44"/>
                <a:gd name="T9" fmla="*/ 73 h 335"/>
                <a:gd name="T10" fmla="*/ 0 w 44"/>
                <a:gd name="T11" fmla="*/ 79 h 335"/>
                <a:gd name="T12" fmla="*/ 21 w 44"/>
                <a:gd name="T13" fmla="*/ 85 h 335"/>
                <a:gd name="T14" fmla="*/ 37 w 44"/>
                <a:gd name="T15" fmla="*/ 100 h 335"/>
                <a:gd name="T16" fmla="*/ 43 w 44"/>
                <a:gd name="T17" fmla="*/ 121 h 335"/>
                <a:gd name="T18" fmla="*/ 37 w 44"/>
                <a:gd name="T19" fmla="*/ 143 h 335"/>
                <a:gd name="T20" fmla="*/ 21 w 44"/>
                <a:gd name="T21" fmla="*/ 158 h 335"/>
                <a:gd name="T22" fmla="*/ 0 w 44"/>
                <a:gd name="T23" fmla="*/ 164 h 335"/>
                <a:gd name="T24" fmla="*/ 21 w 44"/>
                <a:gd name="T25" fmla="*/ 170 h 335"/>
                <a:gd name="T26" fmla="*/ 37 w 44"/>
                <a:gd name="T27" fmla="*/ 186 h 335"/>
                <a:gd name="T28" fmla="*/ 43 w 44"/>
                <a:gd name="T29" fmla="*/ 207 h 335"/>
                <a:gd name="T30" fmla="*/ 37 w 44"/>
                <a:gd name="T31" fmla="*/ 228 h 335"/>
                <a:gd name="T32" fmla="*/ 21 w 44"/>
                <a:gd name="T33" fmla="*/ 243 h 335"/>
                <a:gd name="T34" fmla="*/ 0 w 44"/>
                <a:gd name="T35" fmla="*/ 249 h 335"/>
                <a:gd name="T36" fmla="*/ 21 w 44"/>
                <a:gd name="T37" fmla="*/ 255 h 335"/>
                <a:gd name="T38" fmla="*/ 37 w 44"/>
                <a:gd name="T39" fmla="*/ 270 h 335"/>
                <a:gd name="T40" fmla="*/ 43 w 44"/>
                <a:gd name="T41" fmla="*/ 291 h 335"/>
                <a:gd name="T42" fmla="*/ 37 w 44"/>
                <a:gd name="T43" fmla="*/ 313 h 335"/>
                <a:gd name="T44" fmla="*/ 21 w 44"/>
                <a:gd name="T45" fmla="*/ 328 h 335"/>
                <a:gd name="T46" fmla="*/ 0 w 44"/>
                <a:gd name="T47" fmla="*/ 334 h 335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44" h="335">
                  <a:moveTo>
                    <a:pt x="21" y="0"/>
                  </a:moveTo>
                  <a:lnTo>
                    <a:pt x="37" y="15"/>
                  </a:lnTo>
                  <a:lnTo>
                    <a:pt x="43" y="36"/>
                  </a:lnTo>
                  <a:lnTo>
                    <a:pt x="37" y="57"/>
                  </a:lnTo>
                  <a:lnTo>
                    <a:pt x="21" y="73"/>
                  </a:lnTo>
                  <a:lnTo>
                    <a:pt x="0" y="79"/>
                  </a:lnTo>
                  <a:lnTo>
                    <a:pt x="21" y="85"/>
                  </a:lnTo>
                  <a:lnTo>
                    <a:pt x="37" y="100"/>
                  </a:lnTo>
                  <a:lnTo>
                    <a:pt x="43" y="121"/>
                  </a:lnTo>
                  <a:lnTo>
                    <a:pt x="37" y="143"/>
                  </a:lnTo>
                  <a:lnTo>
                    <a:pt x="21" y="158"/>
                  </a:lnTo>
                  <a:lnTo>
                    <a:pt x="0" y="164"/>
                  </a:lnTo>
                  <a:lnTo>
                    <a:pt x="21" y="170"/>
                  </a:lnTo>
                  <a:lnTo>
                    <a:pt x="37" y="186"/>
                  </a:lnTo>
                  <a:lnTo>
                    <a:pt x="43" y="207"/>
                  </a:lnTo>
                  <a:lnTo>
                    <a:pt x="37" y="228"/>
                  </a:lnTo>
                  <a:lnTo>
                    <a:pt x="21" y="243"/>
                  </a:lnTo>
                  <a:lnTo>
                    <a:pt x="0" y="249"/>
                  </a:lnTo>
                  <a:lnTo>
                    <a:pt x="21" y="255"/>
                  </a:lnTo>
                  <a:lnTo>
                    <a:pt x="37" y="270"/>
                  </a:lnTo>
                  <a:lnTo>
                    <a:pt x="43" y="291"/>
                  </a:lnTo>
                  <a:lnTo>
                    <a:pt x="37" y="313"/>
                  </a:lnTo>
                  <a:lnTo>
                    <a:pt x="21" y="328"/>
                  </a:lnTo>
                  <a:lnTo>
                    <a:pt x="0" y="334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557" name="Line 146"/>
            <p:cNvSpPr>
              <a:spLocks noChangeShapeType="1"/>
            </p:cNvSpPr>
            <p:nvPr/>
          </p:nvSpPr>
          <p:spPr bwMode="auto">
            <a:xfrm>
              <a:off x="3797" y="2528"/>
              <a:ext cx="13" cy="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7558" name="Freeform 147"/>
            <p:cNvSpPr>
              <a:spLocks/>
            </p:cNvSpPr>
            <p:nvPr/>
          </p:nvSpPr>
          <p:spPr bwMode="auto">
            <a:xfrm>
              <a:off x="3772" y="2194"/>
              <a:ext cx="43" cy="335"/>
            </a:xfrm>
            <a:custGeom>
              <a:avLst/>
              <a:gdLst>
                <a:gd name="T0" fmla="*/ 21 w 43"/>
                <a:gd name="T1" fmla="*/ 334 h 335"/>
                <a:gd name="T2" fmla="*/ 5 w 43"/>
                <a:gd name="T3" fmla="*/ 319 h 335"/>
                <a:gd name="T4" fmla="*/ 0 w 43"/>
                <a:gd name="T5" fmla="*/ 298 h 335"/>
                <a:gd name="T6" fmla="*/ 5 w 43"/>
                <a:gd name="T7" fmla="*/ 277 h 335"/>
                <a:gd name="T8" fmla="*/ 21 w 43"/>
                <a:gd name="T9" fmla="*/ 261 h 335"/>
                <a:gd name="T10" fmla="*/ 42 w 43"/>
                <a:gd name="T11" fmla="*/ 255 h 335"/>
                <a:gd name="T12" fmla="*/ 21 w 43"/>
                <a:gd name="T13" fmla="*/ 249 h 335"/>
                <a:gd name="T14" fmla="*/ 5 w 43"/>
                <a:gd name="T15" fmla="*/ 234 h 335"/>
                <a:gd name="T16" fmla="*/ 0 w 43"/>
                <a:gd name="T17" fmla="*/ 213 h 335"/>
                <a:gd name="T18" fmla="*/ 5 w 43"/>
                <a:gd name="T19" fmla="*/ 192 h 335"/>
                <a:gd name="T20" fmla="*/ 21 w 43"/>
                <a:gd name="T21" fmla="*/ 176 h 335"/>
                <a:gd name="T22" fmla="*/ 42 w 43"/>
                <a:gd name="T23" fmla="*/ 170 h 335"/>
                <a:gd name="T24" fmla="*/ 21 w 43"/>
                <a:gd name="T25" fmla="*/ 165 h 335"/>
                <a:gd name="T26" fmla="*/ 5 w 43"/>
                <a:gd name="T27" fmla="*/ 149 h 335"/>
                <a:gd name="T28" fmla="*/ 0 w 43"/>
                <a:gd name="T29" fmla="*/ 127 h 335"/>
                <a:gd name="T30" fmla="*/ 5 w 43"/>
                <a:gd name="T31" fmla="*/ 106 h 335"/>
                <a:gd name="T32" fmla="*/ 21 w 43"/>
                <a:gd name="T33" fmla="*/ 91 h 335"/>
                <a:gd name="T34" fmla="*/ 42 w 43"/>
                <a:gd name="T35" fmla="*/ 85 h 335"/>
                <a:gd name="T36" fmla="*/ 21 w 43"/>
                <a:gd name="T37" fmla="*/ 79 h 335"/>
                <a:gd name="T38" fmla="*/ 5 w 43"/>
                <a:gd name="T39" fmla="*/ 64 h 335"/>
                <a:gd name="T40" fmla="*/ 0 w 43"/>
                <a:gd name="T41" fmla="*/ 43 h 335"/>
                <a:gd name="T42" fmla="*/ 5 w 43"/>
                <a:gd name="T43" fmla="*/ 22 h 335"/>
                <a:gd name="T44" fmla="*/ 21 w 43"/>
                <a:gd name="T45" fmla="*/ 6 h 335"/>
                <a:gd name="T46" fmla="*/ 42 w 43"/>
                <a:gd name="T47" fmla="*/ 0 h 335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43" h="335">
                  <a:moveTo>
                    <a:pt x="21" y="334"/>
                  </a:moveTo>
                  <a:lnTo>
                    <a:pt x="5" y="319"/>
                  </a:lnTo>
                  <a:lnTo>
                    <a:pt x="0" y="298"/>
                  </a:lnTo>
                  <a:lnTo>
                    <a:pt x="5" y="277"/>
                  </a:lnTo>
                  <a:lnTo>
                    <a:pt x="21" y="261"/>
                  </a:lnTo>
                  <a:lnTo>
                    <a:pt x="42" y="255"/>
                  </a:lnTo>
                  <a:lnTo>
                    <a:pt x="21" y="249"/>
                  </a:lnTo>
                  <a:lnTo>
                    <a:pt x="5" y="234"/>
                  </a:lnTo>
                  <a:lnTo>
                    <a:pt x="0" y="213"/>
                  </a:lnTo>
                  <a:lnTo>
                    <a:pt x="5" y="192"/>
                  </a:lnTo>
                  <a:lnTo>
                    <a:pt x="21" y="176"/>
                  </a:lnTo>
                  <a:lnTo>
                    <a:pt x="42" y="170"/>
                  </a:lnTo>
                  <a:lnTo>
                    <a:pt x="21" y="165"/>
                  </a:lnTo>
                  <a:lnTo>
                    <a:pt x="5" y="149"/>
                  </a:lnTo>
                  <a:lnTo>
                    <a:pt x="0" y="127"/>
                  </a:lnTo>
                  <a:lnTo>
                    <a:pt x="5" y="106"/>
                  </a:lnTo>
                  <a:lnTo>
                    <a:pt x="21" y="91"/>
                  </a:lnTo>
                  <a:lnTo>
                    <a:pt x="42" y="85"/>
                  </a:lnTo>
                  <a:lnTo>
                    <a:pt x="21" y="79"/>
                  </a:lnTo>
                  <a:lnTo>
                    <a:pt x="5" y="64"/>
                  </a:lnTo>
                  <a:lnTo>
                    <a:pt x="0" y="43"/>
                  </a:lnTo>
                  <a:lnTo>
                    <a:pt x="5" y="22"/>
                  </a:lnTo>
                  <a:lnTo>
                    <a:pt x="21" y="6"/>
                  </a:lnTo>
                  <a:lnTo>
                    <a:pt x="42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559" name="Freeform 148"/>
            <p:cNvSpPr>
              <a:spLocks/>
            </p:cNvSpPr>
            <p:nvPr/>
          </p:nvSpPr>
          <p:spPr bwMode="auto">
            <a:xfrm>
              <a:off x="3772" y="1514"/>
              <a:ext cx="43" cy="341"/>
            </a:xfrm>
            <a:custGeom>
              <a:avLst/>
              <a:gdLst>
                <a:gd name="T0" fmla="*/ 42 w 43"/>
                <a:gd name="T1" fmla="*/ 340 h 341"/>
                <a:gd name="T2" fmla="*/ 21 w 43"/>
                <a:gd name="T3" fmla="*/ 334 h 341"/>
                <a:gd name="T4" fmla="*/ 5 w 43"/>
                <a:gd name="T5" fmla="*/ 319 h 341"/>
                <a:gd name="T6" fmla="*/ 0 w 43"/>
                <a:gd name="T7" fmla="*/ 297 h 341"/>
                <a:gd name="T8" fmla="*/ 5 w 43"/>
                <a:gd name="T9" fmla="*/ 276 h 341"/>
                <a:gd name="T10" fmla="*/ 21 w 43"/>
                <a:gd name="T11" fmla="*/ 261 h 341"/>
                <a:gd name="T12" fmla="*/ 42 w 43"/>
                <a:gd name="T13" fmla="*/ 255 h 341"/>
                <a:gd name="T14" fmla="*/ 21 w 43"/>
                <a:gd name="T15" fmla="*/ 249 h 341"/>
                <a:gd name="T16" fmla="*/ 5 w 43"/>
                <a:gd name="T17" fmla="*/ 234 h 341"/>
                <a:gd name="T18" fmla="*/ 0 w 43"/>
                <a:gd name="T19" fmla="*/ 213 h 341"/>
                <a:gd name="T20" fmla="*/ 5 w 43"/>
                <a:gd name="T21" fmla="*/ 192 h 341"/>
                <a:gd name="T22" fmla="*/ 21 w 43"/>
                <a:gd name="T23" fmla="*/ 176 h 341"/>
                <a:gd name="T24" fmla="*/ 42 w 43"/>
                <a:gd name="T25" fmla="*/ 170 h 341"/>
                <a:gd name="T26" fmla="*/ 21 w 43"/>
                <a:gd name="T27" fmla="*/ 164 h 341"/>
                <a:gd name="T28" fmla="*/ 5 w 43"/>
                <a:gd name="T29" fmla="*/ 149 h 341"/>
                <a:gd name="T30" fmla="*/ 0 w 43"/>
                <a:gd name="T31" fmla="*/ 127 h 341"/>
                <a:gd name="T32" fmla="*/ 5 w 43"/>
                <a:gd name="T33" fmla="*/ 106 h 341"/>
                <a:gd name="T34" fmla="*/ 21 w 43"/>
                <a:gd name="T35" fmla="*/ 91 h 341"/>
                <a:gd name="T36" fmla="*/ 42 w 43"/>
                <a:gd name="T37" fmla="*/ 85 h 341"/>
                <a:gd name="T38" fmla="*/ 21 w 43"/>
                <a:gd name="T39" fmla="*/ 79 h 341"/>
                <a:gd name="T40" fmla="*/ 5 w 43"/>
                <a:gd name="T41" fmla="*/ 63 h 341"/>
                <a:gd name="T42" fmla="*/ 0 w 43"/>
                <a:gd name="T43" fmla="*/ 42 h 341"/>
                <a:gd name="T44" fmla="*/ 5 w 43"/>
                <a:gd name="T45" fmla="*/ 21 h 341"/>
                <a:gd name="T46" fmla="*/ 21 w 43"/>
                <a:gd name="T47" fmla="*/ 6 h 341"/>
                <a:gd name="T48" fmla="*/ 42 w 43"/>
                <a:gd name="T49" fmla="*/ 0 h 341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43" h="341">
                  <a:moveTo>
                    <a:pt x="42" y="340"/>
                  </a:moveTo>
                  <a:lnTo>
                    <a:pt x="21" y="334"/>
                  </a:lnTo>
                  <a:lnTo>
                    <a:pt x="5" y="319"/>
                  </a:lnTo>
                  <a:lnTo>
                    <a:pt x="0" y="297"/>
                  </a:lnTo>
                  <a:lnTo>
                    <a:pt x="5" y="276"/>
                  </a:lnTo>
                  <a:lnTo>
                    <a:pt x="21" y="261"/>
                  </a:lnTo>
                  <a:lnTo>
                    <a:pt x="42" y="255"/>
                  </a:lnTo>
                  <a:lnTo>
                    <a:pt x="21" y="249"/>
                  </a:lnTo>
                  <a:lnTo>
                    <a:pt x="5" y="234"/>
                  </a:lnTo>
                  <a:lnTo>
                    <a:pt x="0" y="213"/>
                  </a:lnTo>
                  <a:lnTo>
                    <a:pt x="5" y="192"/>
                  </a:lnTo>
                  <a:lnTo>
                    <a:pt x="21" y="176"/>
                  </a:lnTo>
                  <a:lnTo>
                    <a:pt x="42" y="170"/>
                  </a:lnTo>
                  <a:lnTo>
                    <a:pt x="21" y="164"/>
                  </a:lnTo>
                  <a:lnTo>
                    <a:pt x="5" y="149"/>
                  </a:lnTo>
                  <a:lnTo>
                    <a:pt x="0" y="127"/>
                  </a:lnTo>
                  <a:lnTo>
                    <a:pt x="5" y="106"/>
                  </a:lnTo>
                  <a:lnTo>
                    <a:pt x="21" y="91"/>
                  </a:lnTo>
                  <a:lnTo>
                    <a:pt x="42" y="85"/>
                  </a:lnTo>
                  <a:lnTo>
                    <a:pt x="21" y="79"/>
                  </a:lnTo>
                  <a:lnTo>
                    <a:pt x="5" y="63"/>
                  </a:lnTo>
                  <a:lnTo>
                    <a:pt x="0" y="42"/>
                  </a:lnTo>
                  <a:lnTo>
                    <a:pt x="5" y="21"/>
                  </a:lnTo>
                  <a:lnTo>
                    <a:pt x="21" y="6"/>
                  </a:lnTo>
                  <a:lnTo>
                    <a:pt x="42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560" name="Line 149"/>
            <p:cNvSpPr>
              <a:spLocks noChangeShapeType="1"/>
            </p:cNvSpPr>
            <p:nvPr/>
          </p:nvSpPr>
          <p:spPr bwMode="auto">
            <a:xfrm flipH="1" flipV="1">
              <a:off x="1553" y="2190"/>
              <a:ext cx="29" cy="1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7561" name="Freeform 150"/>
            <p:cNvSpPr>
              <a:spLocks/>
            </p:cNvSpPr>
            <p:nvPr/>
          </p:nvSpPr>
          <p:spPr bwMode="auto">
            <a:xfrm>
              <a:off x="1557" y="2200"/>
              <a:ext cx="43" cy="335"/>
            </a:xfrm>
            <a:custGeom>
              <a:avLst/>
              <a:gdLst>
                <a:gd name="T0" fmla="*/ 21 w 43"/>
                <a:gd name="T1" fmla="*/ 0 h 335"/>
                <a:gd name="T2" fmla="*/ 36 w 43"/>
                <a:gd name="T3" fmla="*/ 16 h 335"/>
                <a:gd name="T4" fmla="*/ 42 w 43"/>
                <a:gd name="T5" fmla="*/ 37 h 335"/>
                <a:gd name="T6" fmla="*/ 36 w 43"/>
                <a:gd name="T7" fmla="*/ 58 h 335"/>
                <a:gd name="T8" fmla="*/ 21 w 43"/>
                <a:gd name="T9" fmla="*/ 73 h 335"/>
                <a:gd name="T10" fmla="*/ 0 w 43"/>
                <a:gd name="T11" fmla="*/ 79 h 335"/>
                <a:gd name="T12" fmla="*/ 21 w 43"/>
                <a:gd name="T13" fmla="*/ 85 h 335"/>
                <a:gd name="T14" fmla="*/ 36 w 43"/>
                <a:gd name="T15" fmla="*/ 100 h 335"/>
                <a:gd name="T16" fmla="*/ 42 w 43"/>
                <a:gd name="T17" fmla="*/ 121 h 335"/>
                <a:gd name="T18" fmla="*/ 36 w 43"/>
                <a:gd name="T19" fmla="*/ 143 h 335"/>
                <a:gd name="T20" fmla="*/ 21 w 43"/>
                <a:gd name="T21" fmla="*/ 159 h 335"/>
                <a:gd name="T22" fmla="*/ 0 w 43"/>
                <a:gd name="T23" fmla="*/ 164 h 335"/>
                <a:gd name="T24" fmla="*/ 21 w 43"/>
                <a:gd name="T25" fmla="*/ 170 h 335"/>
                <a:gd name="T26" fmla="*/ 36 w 43"/>
                <a:gd name="T27" fmla="*/ 186 h 335"/>
                <a:gd name="T28" fmla="*/ 42 w 43"/>
                <a:gd name="T29" fmla="*/ 207 h 335"/>
                <a:gd name="T30" fmla="*/ 36 w 43"/>
                <a:gd name="T31" fmla="*/ 228 h 335"/>
                <a:gd name="T32" fmla="*/ 21 w 43"/>
                <a:gd name="T33" fmla="*/ 243 h 335"/>
                <a:gd name="T34" fmla="*/ 0 w 43"/>
                <a:gd name="T35" fmla="*/ 249 h 335"/>
                <a:gd name="T36" fmla="*/ 21 w 43"/>
                <a:gd name="T37" fmla="*/ 255 h 335"/>
                <a:gd name="T38" fmla="*/ 36 w 43"/>
                <a:gd name="T39" fmla="*/ 271 h 335"/>
                <a:gd name="T40" fmla="*/ 42 w 43"/>
                <a:gd name="T41" fmla="*/ 292 h 335"/>
                <a:gd name="T42" fmla="*/ 36 w 43"/>
                <a:gd name="T43" fmla="*/ 313 h 335"/>
                <a:gd name="T44" fmla="*/ 21 w 43"/>
                <a:gd name="T45" fmla="*/ 328 h 335"/>
                <a:gd name="T46" fmla="*/ 0 w 43"/>
                <a:gd name="T47" fmla="*/ 334 h 335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43" h="335">
                  <a:moveTo>
                    <a:pt x="21" y="0"/>
                  </a:moveTo>
                  <a:lnTo>
                    <a:pt x="36" y="16"/>
                  </a:lnTo>
                  <a:lnTo>
                    <a:pt x="42" y="37"/>
                  </a:lnTo>
                  <a:lnTo>
                    <a:pt x="36" y="58"/>
                  </a:lnTo>
                  <a:lnTo>
                    <a:pt x="21" y="73"/>
                  </a:lnTo>
                  <a:lnTo>
                    <a:pt x="0" y="79"/>
                  </a:lnTo>
                  <a:lnTo>
                    <a:pt x="21" y="85"/>
                  </a:lnTo>
                  <a:lnTo>
                    <a:pt x="36" y="100"/>
                  </a:lnTo>
                  <a:lnTo>
                    <a:pt x="42" y="121"/>
                  </a:lnTo>
                  <a:lnTo>
                    <a:pt x="36" y="143"/>
                  </a:lnTo>
                  <a:lnTo>
                    <a:pt x="21" y="159"/>
                  </a:lnTo>
                  <a:lnTo>
                    <a:pt x="0" y="164"/>
                  </a:lnTo>
                  <a:lnTo>
                    <a:pt x="21" y="170"/>
                  </a:lnTo>
                  <a:lnTo>
                    <a:pt x="36" y="186"/>
                  </a:lnTo>
                  <a:lnTo>
                    <a:pt x="42" y="207"/>
                  </a:lnTo>
                  <a:lnTo>
                    <a:pt x="36" y="228"/>
                  </a:lnTo>
                  <a:lnTo>
                    <a:pt x="21" y="243"/>
                  </a:lnTo>
                  <a:lnTo>
                    <a:pt x="0" y="249"/>
                  </a:lnTo>
                  <a:lnTo>
                    <a:pt x="21" y="255"/>
                  </a:lnTo>
                  <a:lnTo>
                    <a:pt x="36" y="271"/>
                  </a:lnTo>
                  <a:lnTo>
                    <a:pt x="42" y="292"/>
                  </a:lnTo>
                  <a:lnTo>
                    <a:pt x="36" y="313"/>
                  </a:lnTo>
                  <a:lnTo>
                    <a:pt x="21" y="328"/>
                  </a:lnTo>
                  <a:lnTo>
                    <a:pt x="0" y="334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562" name="Line 151"/>
            <p:cNvSpPr>
              <a:spLocks noChangeShapeType="1"/>
            </p:cNvSpPr>
            <p:nvPr/>
          </p:nvSpPr>
          <p:spPr bwMode="auto">
            <a:xfrm flipH="1" flipV="1">
              <a:off x="1553" y="1510"/>
              <a:ext cx="29" cy="1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7563" name="Freeform 152"/>
            <p:cNvSpPr>
              <a:spLocks/>
            </p:cNvSpPr>
            <p:nvPr/>
          </p:nvSpPr>
          <p:spPr bwMode="auto">
            <a:xfrm>
              <a:off x="1557" y="1520"/>
              <a:ext cx="43" cy="335"/>
            </a:xfrm>
            <a:custGeom>
              <a:avLst/>
              <a:gdLst>
                <a:gd name="T0" fmla="*/ 21 w 43"/>
                <a:gd name="T1" fmla="*/ 0 h 335"/>
                <a:gd name="T2" fmla="*/ 36 w 43"/>
                <a:gd name="T3" fmla="*/ 15 h 335"/>
                <a:gd name="T4" fmla="*/ 42 w 43"/>
                <a:gd name="T5" fmla="*/ 36 h 335"/>
                <a:gd name="T6" fmla="*/ 36 w 43"/>
                <a:gd name="T7" fmla="*/ 57 h 335"/>
                <a:gd name="T8" fmla="*/ 21 w 43"/>
                <a:gd name="T9" fmla="*/ 73 h 335"/>
                <a:gd name="T10" fmla="*/ 0 w 43"/>
                <a:gd name="T11" fmla="*/ 79 h 335"/>
                <a:gd name="T12" fmla="*/ 21 w 43"/>
                <a:gd name="T13" fmla="*/ 85 h 335"/>
                <a:gd name="T14" fmla="*/ 36 w 43"/>
                <a:gd name="T15" fmla="*/ 100 h 335"/>
                <a:gd name="T16" fmla="*/ 42 w 43"/>
                <a:gd name="T17" fmla="*/ 121 h 335"/>
                <a:gd name="T18" fmla="*/ 36 w 43"/>
                <a:gd name="T19" fmla="*/ 143 h 335"/>
                <a:gd name="T20" fmla="*/ 21 w 43"/>
                <a:gd name="T21" fmla="*/ 158 h 335"/>
                <a:gd name="T22" fmla="*/ 0 w 43"/>
                <a:gd name="T23" fmla="*/ 164 h 335"/>
                <a:gd name="T24" fmla="*/ 21 w 43"/>
                <a:gd name="T25" fmla="*/ 170 h 335"/>
                <a:gd name="T26" fmla="*/ 36 w 43"/>
                <a:gd name="T27" fmla="*/ 186 h 335"/>
                <a:gd name="T28" fmla="*/ 42 w 43"/>
                <a:gd name="T29" fmla="*/ 207 h 335"/>
                <a:gd name="T30" fmla="*/ 36 w 43"/>
                <a:gd name="T31" fmla="*/ 228 h 335"/>
                <a:gd name="T32" fmla="*/ 21 w 43"/>
                <a:gd name="T33" fmla="*/ 243 h 335"/>
                <a:gd name="T34" fmla="*/ 0 w 43"/>
                <a:gd name="T35" fmla="*/ 249 h 335"/>
                <a:gd name="T36" fmla="*/ 21 w 43"/>
                <a:gd name="T37" fmla="*/ 255 h 335"/>
                <a:gd name="T38" fmla="*/ 36 w 43"/>
                <a:gd name="T39" fmla="*/ 270 h 335"/>
                <a:gd name="T40" fmla="*/ 42 w 43"/>
                <a:gd name="T41" fmla="*/ 291 h 335"/>
                <a:gd name="T42" fmla="*/ 36 w 43"/>
                <a:gd name="T43" fmla="*/ 313 h 335"/>
                <a:gd name="T44" fmla="*/ 21 w 43"/>
                <a:gd name="T45" fmla="*/ 328 h 335"/>
                <a:gd name="T46" fmla="*/ 0 w 43"/>
                <a:gd name="T47" fmla="*/ 334 h 335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43" h="335">
                  <a:moveTo>
                    <a:pt x="21" y="0"/>
                  </a:moveTo>
                  <a:lnTo>
                    <a:pt x="36" y="15"/>
                  </a:lnTo>
                  <a:lnTo>
                    <a:pt x="42" y="36"/>
                  </a:lnTo>
                  <a:lnTo>
                    <a:pt x="36" y="57"/>
                  </a:lnTo>
                  <a:lnTo>
                    <a:pt x="21" y="73"/>
                  </a:lnTo>
                  <a:lnTo>
                    <a:pt x="0" y="79"/>
                  </a:lnTo>
                  <a:lnTo>
                    <a:pt x="21" y="85"/>
                  </a:lnTo>
                  <a:lnTo>
                    <a:pt x="36" y="100"/>
                  </a:lnTo>
                  <a:lnTo>
                    <a:pt x="42" y="121"/>
                  </a:lnTo>
                  <a:lnTo>
                    <a:pt x="36" y="143"/>
                  </a:lnTo>
                  <a:lnTo>
                    <a:pt x="21" y="158"/>
                  </a:lnTo>
                  <a:lnTo>
                    <a:pt x="0" y="164"/>
                  </a:lnTo>
                  <a:lnTo>
                    <a:pt x="21" y="170"/>
                  </a:lnTo>
                  <a:lnTo>
                    <a:pt x="36" y="186"/>
                  </a:lnTo>
                  <a:lnTo>
                    <a:pt x="42" y="207"/>
                  </a:lnTo>
                  <a:lnTo>
                    <a:pt x="36" y="228"/>
                  </a:lnTo>
                  <a:lnTo>
                    <a:pt x="21" y="243"/>
                  </a:lnTo>
                  <a:lnTo>
                    <a:pt x="0" y="249"/>
                  </a:lnTo>
                  <a:lnTo>
                    <a:pt x="21" y="255"/>
                  </a:lnTo>
                  <a:lnTo>
                    <a:pt x="36" y="270"/>
                  </a:lnTo>
                  <a:lnTo>
                    <a:pt x="42" y="291"/>
                  </a:lnTo>
                  <a:lnTo>
                    <a:pt x="36" y="313"/>
                  </a:lnTo>
                  <a:lnTo>
                    <a:pt x="21" y="328"/>
                  </a:lnTo>
                  <a:lnTo>
                    <a:pt x="0" y="334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564" name="Line 153"/>
            <p:cNvSpPr>
              <a:spLocks noChangeShapeType="1"/>
            </p:cNvSpPr>
            <p:nvPr/>
          </p:nvSpPr>
          <p:spPr bwMode="auto">
            <a:xfrm>
              <a:off x="1731" y="2528"/>
              <a:ext cx="13" cy="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7565" name="Freeform 154"/>
            <p:cNvSpPr>
              <a:spLocks/>
            </p:cNvSpPr>
            <p:nvPr/>
          </p:nvSpPr>
          <p:spPr bwMode="auto">
            <a:xfrm>
              <a:off x="1706" y="2194"/>
              <a:ext cx="43" cy="335"/>
            </a:xfrm>
            <a:custGeom>
              <a:avLst/>
              <a:gdLst>
                <a:gd name="T0" fmla="*/ 21 w 43"/>
                <a:gd name="T1" fmla="*/ 334 h 335"/>
                <a:gd name="T2" fmla="*/ 6 w 43"/>
                <a:gd name="T3" fmla="*/ 319 h 335"/>
                <a:gd name="T4" fmla="*/ 0 w 43"/>
                <a:gd name="T5" fmla="*/ 298 h 335"/>
                <a:gd name="T6" fmla="*/ 6 w 43"/>
                <a:gd name="T7" fmla="*/ 277 h 335"/>
                <a:gd name="T8" fmla="*/ 21 w 43"/>
                <a:gd name="T9" fmla="*/ 261 h 335"/>
                <a:gd name="T10" fmla="*/ 42 w 43"/>
                <a:gd name="T11" fmla="*/ 255 h 335"/>
                <a:gd name="T12" fmla="*/ 21 w 43"/>
                <a:gd name="T13" fmla="*/ 249 h 335"/>
                <a:gd name="T14" fmla="*/ 6 w 43"/>
                <a:gd name="T15" fmla="*/ 234 h 335"/>
                <a:gd name="T16" fmla="*/ 0 w 43"/>
                <a:gd name="T17" fmla="*/ 213 h 335"/>
                <a:gd name="T18" fmla="*/ 6 w 43"/>
                <a:gd name="T19" fmla="*/ 192 h 335"/>
                <a:gd name="T20" fmla="*/ 21 w 43"/>
                <a:gd name="T21" fmla="*/ 176 h 335"/>
                <a:gd name="T22" fmla="*/ 42 w 43"/>
                <a:gd name="T23" fmla="*/ 170 h 335"/>
                <a:gd name="T24" fmla="*/ 21 w 43"/>
                <a:gd name="T25" fmla="*/ 165 h 335"/>
                <a:gd name="T26" fmla="*/ 6 w 43"/>
                <a:gd name="T27" fmla="*/ 149 h 335"/>
                <a:gd name="T28" fmla="*/ 0 w 43"/>
                <a:gd name="T29" fmla="*/ 127 h 335"/>
                <a:gd name="T30" fmla="*/ 6 w 43"/>
                <a:gd name="T31" fmla="*/ 106 h 335"/>
                <a:gd name="T32" fmla="*/ 21 w 43"/>
                <a:gd name="T33" fmla="*/ 91 h 335"/>
                <a:gd name="T34" fmla="*/ 42 w 43"/>
                <a:gd name="T35" fmla="*/ 85 h 335"/>
                <a:gd name="T36" fmla="*/ 21 w 43"/>
                <a:gd name="T37" fmla="*/ 79 h 335"/>
                <a:gd name="T38" fmla="*/ 6 w 43"/>
                <a:gd name="T39" fmla="*/ 64 h 335"/>
                <a:gd name="T40" fmla="*/ 0 w 43"/>
                <a:gd name="T41" fmla="*/ 43 h 335"/>
                <a:gd name="T42" fmla="*/ 6 w 43"/>
                <a:gd name="T43" fmla="*/ 22 h 335"/>
                <a:gd name="T44" fmla="*/ 21 w 43"/>
                <a:gd name="T45" fmla="*/ 6 h 335"/>
                <a:gd name="T46" fmla="*/ 42 w 43"/>
                <a:gd name="T47" fmla="*/ 0 h 335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43" h="335">
                  <a:moveTo>
                    <a:pt x="21" y="334"/>
                  </a:moveTo>
                  <a:lnTo>
                    <a:pt x="6" y="319"/>
                  </a:lnTo>
                  <a:lnTo>
                    <a:pt x="0" y="298"/>
                  </a:lnTo>
                  <a:lnTo>
                    <a:pt x="6" y="277"/>
                  </a:lnTo>
                  <a:lnTo>
                    <a:pt x="21" y="261"/>
                  </a:lnTo>
                  <a:lnTo>
                    <a:pt x="42" y="255"/>
                  </a:lnTo>
                  <a:lnTo>
                    <a:pt x="21" y="249"/>
                  </a:lnTo>
                  <a:lnTo>
                    <a:pt x="6" y="234"/>
                  </a:lnTo>
                  <a:lnTo>
                    <a:pt x="0" y="213"/>
                  </a:lnTo>
                  <a:lnTo>
                    <a:pt x="6" y="192"/>
                  </a:lnTo>
                  <a:lnTo>
                    <a:pt x="21" y="176"/>
                  </a:lnTo>
                  <a:lnTo>
                    <a:pt x="42" y="170"/>
                  </a:lnTo>
                  <a:lnTo>
                    <a:pt x="21" y="165"/>
                  </a:lnTo>
                  <a:lnTo>
                    <a:pt x="6" y="149"/>
                  </a:lnTo>
                  <a:lnTo>
                    <a:pt x="0" y="127"/>
                  </a:lnTo>
                  <a:lnTo>
                    <a:pt x="6" y="106"/>
                  </a:lnTo>
                  <a:lnTo>
                    <a:pt x="21" y="91"/>
                  </a:lnTo>
                  <a:lnTo>
                    <a:pt x="42" y="85"/>
                  </a:lnTo>
                  <a:lnTo>
                    <a:pt x="21" y="79"/>
                  </a:lnTo>
                  <a:lnTo>
                    <a:pt x="6" y="64"/>
                  </a:lnTo>
                  <a:lnTo>
                    <a:pt x="0" y="43"/>
                  </a:lnTo>
                  <a:lnTo>
                    <a:pt x="6" y="22"/>
                  </a:lnTo>
                  <a:lnTo>
                    <a:pt x="21" y="6"/>
                  </a:lnTo>
                  <a:lnTo>
                    <a:pt x="42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566" name="Freeform 155"/>
            <p:cNvSpPr>
              <a:spLocks/>
            </p:cNvSpPr>
            <p:nvPr/>
          </p:nvSpPr>
          <p:spPr bwMode="auto">
            <a:xfrm>
              <a:off x="1706" y="1514"/>
              <a:ext cx="43" cy="341"/>
            </a:xfrm>
            <a:custGeom>
              <a:avLst/>
              <a:gdLst>
                <a:gd name="T0" fmla="*/ 42 w 43"/>
                <a:gd name="T1" fmla="*/ 340 h 341"/>
                <a:gd name="T2" fmla="*/ 21 w 43"/>
                <a:gd name="T3" fmla="*/ 334 h 341"/>
                <a:gd name="T4" fmla="*/ 6 w 43"/>
                <a:gd name="T5" fmla="*/ 319 h 341"/>
                <a:gd name="T6" fmla="*/ 0 w 43"/>
                <a:gd name="T7" fmla="*/ 297 h 341"/>
                <a:gd name="T8" fmla="*/ 6 w 43"/>
                <a:gd name="T9" fmla="*/ 276 h 341"/>
                <a:gd name="T10" fmla="*/ 21 w 43"/>
                <a:gd name="T11" fmla="*/ 261 h 341"/>
                <a:gd name="T12" fmla="*/ 42 w 43"/>
                <a:gd name="T13" fmla="*/ 255 h 341"/>
                <a:gd name="T14" fmla="*/ 21 w 43"/>
                <a:gd name="T15" fmla="*/ 249 h 341"/>
                <a:gd name="T16" fmla="*/ 6 w 43"/>
                <a:gd name="T17" fmla="*/ 234 h 341"/>
                <a:gd name="T18" fmla="*/ 0 w 43"/>
                <a:gd name="T19" fmla="*/ 213 h 341"/>
                <a:gd name="T20" fmla="*/ 6 w 43"/>
                <a:gd name="T21" fmla="*/ 192 h 341"/>
                <a:gd name="T22" fmla="*/ 21 w 43"/>
                <a:gd name="T23" fmla="*/ 176 h 341"/>
                <a:gd name="T24" fmla="*/ 42 w 43"/>
                <a:gd name="T25" fmla="*/ 170 h 341"/>
                <a:gd name="T26" fmla="*/ 21 w 43"/>
                <a:gd name="T27" fmla="*/ 164 h 341"/>
                <a:gd name="T28" fmla="*/ 6 w 43"/>
                <a:gd name="T29" fmla="*/ 149 h 341"/>
                <a:gd name="T30" fmla="*/ 0 w 43"/>
                <a:gd name="T31" fmla="*/ 127 h 341"/>
                <a:gd name="T32" fmla="*/ 6 w 43"/>
                <a:gd name="T33" fmla="*/ 106 h 341"/>
                <a:gd name="T34" fmla="*/ 21 w 43"/>
                <a:gd name="T35" fmla="*/ 91 h 341"/>
                <a:gd name="T36" fmla="*/ 42 w 43"/>
                <a:gd name="T37" fmla="*/ 85 h 341"/>
                <a:gd name="T38" fmla="*/ 21 w 43"/>
                <a:gd name="T39" fmla="*/ 79 h 341"/>
                <a:gd name="T40" fmla="*/ 6 w 43"/>
                <a:gd name="T41" fmla="*/ 63 h 341"/>
                <a:gd name="T42" fmla="*/ 0 w 43"/>
                <a:gd name="T43" fmla="*/ 42 h 341"/>
                <a:gd name="T44" fmla="*/ 6 w 43"/>
                <a:gd name="T45" fmla="*/ 21 h 341"/>
                <a:gd name="T46" fmla="*/ 21 w 43"/>
                <a:gd name="T47" fmla="*/ 6 h 341"/>
                <a:gd name="T48" fmla="*/ 42 w 43"/>
                <a:gd name="T49" fmla="*/ 0 h 341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43" h="341">
                  <a:moveTo>
                    <a:pt x="42" y="340"/>
                  </a:moveTo>
                  <a:lnTo>
                    <a:pt x="21" y="334"/>
                  </a:lnTo>
                  <a:lnTo>
                    <a:pt x="6" y="319"/>
                  </a:lnTo>
                  <a:lnTo>
                    <a:pt x="0" y="297"/>
                  </a:lnTo>
                  <a:lnTo>
                    <a:pt x="6" y="276"/>
                  </a:lnTo>
                  <a:lnTo>
                    <a:pt x="21" y="261"/>
                  </a:lnTo>
                  <a:lnTo>
                    <a:pt x="42" y="255"/>
                  </a:lnTo>
                  <a:lnTo>
                    <a:pt x="21" y="249"/>
                  </a:lnTo>
                  <a:lnTo>
                    <a:pt x="6" y="234"/>
                  </a:lnTo>
                  <a:lnTo>
                    <a:pt x="0" y="213"/>
                  </a:lnTo>
                  <a:lnTo>
                    <a:pt x="6" y="192"/>
                  </a:lnTo>
                  <a:lnTo>
                    <a:pt x="21" y="176"/>
                  </a:lnTo>
                  <a:lnTo>
                    <a:pt x="42" y="170"/>
                  </a:lnTo>
                  <a:lnTo>
                    <a:pt x="21" y="164"/>
                  </a:lnTo>
                  <a:lnTo>
                    <a:pt x="6" y="149"/>
                  </a:lnTo>
                  <a:lnTo>
                    <a:pt x="0" y="127"/>
                  </a:lnTo>
                  <a:lnTo>
                    <a:pt x="6" y="106"/>
                  </a:lnTo>
                  <a:lnTo>
                    <a:pt x="21" y="91"/>
                  </a:lnTo>
                  <a:lnTo>
                    <a:pt x="42" y="85"/>
                  </a:lnTo>
                  <a:lnTo>
                    <a:pt x="21" y="79"/>
                  </a:lnTo>
                  <a:lnTo>
                    <a:pt x="6" y="63"/>
                  </a:lnTo>
                  <a:lnTo>
                    <a:pt x="0" y="42"/>
                  </a:lnTo>
                  <a:lnTo>
                    <a:pt x="6" y="21"/>
                  </a:lnTo>
                  <a:lnTo>
                    <a:pt x="21" y="6"/>
                  </a:lnTo>
                  <a:lnTo>
                    <a:pt x="42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567" name="Rectangle 156"/>
            <p:cNvSpPr>
              <a:spLocks noChangeArrowheads="1"/>
            </p:cNvSpPr>
            <p:nvPr/>
          </p:nvSpPr>
          <p:spPr bwMode="auto">
            <a:xfrm>
              <a:off x="650" y="1433"/>
              <a:ext cx="263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1400" dirty="0">
                  <a:solidFill>
                    <a:schemeClr val="tx1"/>
                  </a:solidFill>
                  <a:latin typeface="Arial" panose="020B0604020202020204" pitchFamily="34" charset="0"/>
                </a:rPr>
                <a:t>RF</a:t>
              </a:r>
            </a:p>
          </p:txBody>
        </p:sp>
        <p:sp>
          <p:nvSpPr>
            <p:cNvPr id="17568" name="Rectangle 157"/>
            <p:cNvSpPr>
              <a:spLocks noChangeArrowheads="1"/>
            </p:cNvSpPr>
            <p:nvPr/>
          </p:nvSpPr>
          <p:spPr bwMode="auto">
            <a:xfrm>
              <a:off x="1820" y="1019"/>
              <a:ext cx="213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1400" dirty="0">
                  <a:solidFill>
                    <a:schemeClr val="tx1"/>
                  </a:solidFill>
                  <a:latin typeface="Arial" panose="020B0604020202020204" pitchFamily="34" charset="0"/>
                </a:rPr>
                <a:t>IF</a:t>
              </a:r>
            </a:p>
          </p:txBody>
        </p:sp>
        <p:sp>
          <p:nvSpPr>
            <p:cNvPr id="17569" name="Rectangle 158"/>
            <p:cNvSpPr>
              <a:spLocks noChangeArrowheads="1"/>
            </p:cNvSpPr>
            <p:nvPr/>
          </p:nvSpPr>
          <p:spPr bwMode="auto">
            <a:xfrm>
              <a:off x="4556" y="1424"/>
              <a:ext cx="269" cy="1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000066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1400" dirty="0">
                  <a:solidFill>
                    <a:schemeClr val="tx1"/>
                  </a:solidFill>
                  <a:latin typeface="Arial" panose="020B0604020202020204" pitchFamily="34" charset="0"/>
                </a:rPr>
                <a:t>LO</a:t>
              </a:r>
            </a:p>
          </p:txBody>
        </p:sp>
      </p:grpSp>
      <p:sp>
        <p:nvSpPr>
          <p:cNvPr id="17412" name="Rectangle 160"/>
          <p:cNvSpPr>
            <a:spLocks noGrp="1" noChangeArrowheads="1"/>
          </p:cNvSpPr>
          <p:nvPr>
            <p:ph type="title"/>
          </p:nvPr>
        </p:nvSpPr>
        <p:spPr>
          <a:xfrm>
            <a:off x="235374" y="98460"/>
            <a:ext cx="7162800" cy="914400"/>
          </a:xfrm>
          <a:noFill/>
        </p:spPr>
        <p:txBody>
          <a:bodyPr anchor="ctr" anchorCtr="0"/>
          <a:lstStyle/>
          <a:p>
            <a:r>
              <a:rPr lang="en-US" altLang="en-US" sz="3200" dirty="0" smtClean="0">
                <a:solidFill>
                  <a:schemeClr val="tx1"/>
                </a:solidFill>
              </a:rPr>
              <a:t>HMIC</a:t>
            </a:r>
            <a:r>
              <a:rPr lang="en-US" sz="3200" baseline="42000" dirty="0"/>
              <a:t>TM</a:t>
            </a:r>
            <a:r>
              <a:rPr lang="en-US" altLang="en-US" sz="3200" dirty="0" smtClean="0">
                <a:solidFill>
                  <a:schemeClr val="tx1"/>
                </a:solidFill>
              </a:rPr>
              <a:t> Mixers</a:t>
            </a:r>
          </a:p>
        </p:txBody>
      </p:sp>
      <p:sp>
        <p:nvSpPr>
          <p:cNvPr id="17413" name="Rectangle 161"/>
          <p:cNvSpPr>
            <a:spLocks noChangeArrowheads="1"/>
          </p:cNvSpPr>
          <p:nvPr/>
        </p:nvSpPr>
        <p:spPr bwMode="auto">
          <a:xfrm>
            <a:off x="6342063" y="1272582"/>
            <a:ext cx="2611437" cy="34518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0066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70000"/>
              </a:spcBef>
              <a:buFontTx/>
              <a:buChar char="•"/>
            </a:pPr>
            <a:r>
              <a:rPr lang="en-US" altLang="en-US" sz="1800" b="0" dirty="0">
                <a:solidFill>
                  <a:schemeClr val="tx1"/>
                </a:solidFill>
                <a:latin typeface="+mn-lt"/>
              </a:rPr>
              <a:t> Good port to port  Isolation</a:t>
            </a:r>
          </a:p>
          <a:p>
            <a:pPr>
              <a:spcBef>
                <a:spcPct val="70000"/>
              </a:spcBef>
              <a:buFontTx/>
              <a:buChar char="•"/>
            </a:pPr>
            <a:r>
              <a:rPr lang="en-US" altLang="en-US" sz="1800" b="0" dirty="0">
                <a:solidFill>
                  <a:schemeClr val="tx1"/>
                </a:solidFill>
                <a:latin typeface="+mn-lt"/>
              </a:rPr>
              <a:t> Passive Double Balanced Mixer</a:t>
            </a:r>
          </a:p>
          <a:p>
            <a:pPr>
              <a:spcBef>
                <a:spcPct val="70000"/>
              </a:spcBef>
              <a:buFontTx/>
              <a:buChar char="•"/>
            </a:pPr>
            <a:r>
              <a:rPr lang="en-US" altLang="en-US" sz="1800" b="0" dirty="0">
                <a:solidFill>
                  <a:schemeClr val="tx1"/>
                </a:solidFill>
                <a:latin typeface="+mn-lt"/>
              </a:rPr>
              <a:t> Low LO drive</a:t>
            </a:r>
          </a:p>
          <a:p>
            <a:pPr>
              <a:spcBef>
                <a:spcPct val="70000"/>
              </a:spcBef>
              <a:buFontTx/>
              <a:buChar char="•"/>
            </a:pPr>
            <a:r>
              <a:rPr lang="en-US" altLang="en-US" sz="1800" b="0" dirty="0">
                <a:solidFill>
                  <a:schemeClr val="tx1"/>
                </a:solidFill>
                <a:latin typeface="+mn-lt"/>
              </a:rPr>
              <a:t> High IP</a:t>
            </a:r>
            <a:r>
              <a:rPr lang="en-US" altLang="en-US" sz="1800" b="0" baseline="-25000" dirty="0">
                <a:solidFill>
                  <a:schemeClr val="tx1"/>
                </a:solidFill>
                <a:latin typeface="+mn-lt"/>
              </a:rPr>
              <a:t>3</a:t>
            </a:r>
            <a:r>
              <a:rPr lang="en-US" altLang="en-US" sz="1800" b="0" dirty="0">
                <a:solidFill>
                  <a:schemeClr val="tx1"/>
                </a:solidFill>
                <a:latin typeface="+mn-lt"/>
              </a:rPr>
              <a:t> Performance</a:t>
            </a:r>
          </a:p>
          <a:p>
            <a:pPr>
              <a:spcBef>
                <a:spcPct val="70000"/>
              </a:spcBef>
              <a:buFontTx/>
              <a:buChar char="•"/>
            </a:pPr>
            <a:r>
              <a:rPr lang="en-US" altLang="en-US" sz="1800" b="0" dirty="0">
                <a:solidFill>
                  <a:schemeClr val="tx1"/>
                </a:solidFill>
                <a:latin typeface="+mn-lt"/>
              </a:rPr>
              <a:t> Small Size</a:t>
            </a:r>
          </a:p>
          <a:p>
            <a:pPr>
              <a:spcBef>
                <a:spcPct val="70000"/>
              </a:spcBef>
              <a:buFontTx/>
              <a:buChar char="•"/>
            </a:pPr>
            <a:r>
              <a:rPr lang="en-US" altLang="en-US" sz="1800" b="0" dirty="0">
                <a:solidFill>
                  <a:schemeClr val="tx1"/>
                </a:solidFill>
                <a:latin typeface="+mn-lt"/>
              </a:rPr>
              <a:t> SOT25 Packaging</a:t>
            </a:r>
          </a:p>
        </p:txBody>
      </p:sp>
      <p:pic>
        <p:nvPicPr>
          <p:cNvPr id="17414" name="Picture 162" descr="950F_mix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61" t="14400" r="16431" b="17599"/>
          <a:stretch>
            <a:fillRect/>
          </a:stretch>
        </p:blipFill>
        <p:spPr bwMode="auto">
          <a:xfrm>
            <a:off x="476941" y="1428121"/>
            <a:ext cx="2120900" cy="3122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69793988"/>
      </p:ext>
    </p:extLst>
  </p:cSld>
  <p:clrMapOvr>
    <a:masterClrMapping/>
  </p:clrMapOvr>
  <p:transition>
    <p:wipe dir="r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/>
              <a:t>Flip Chip Diodes</a:t>
            </a: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en-US" dirty="0" smtClean="0"/>
              <a:t>PIN </a:t>
            </a:r>
          </a:p>
        </p:txBody>
      </p:sp>
    </p:spTree>
    <p:extLst>
      <p:ext uri="{BB962C8B-B14F-4D97-AF65-F5344CB8AC3E}">
        <p14:creationId xmlns:p14="http://schemas.microsoft.com/office/powerpoint/2010/main" val="1111607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68240" y="290144"/>
            <a:ext cx="6983413" cy="544512"/>
          </a:xfrm>
        </p:spPr>
        <p:txBody>
          <a:bodyPr/>
          <a:lstStyle/>
          <a:p>
            <a:r>
              <a:rPr lang="en-US" dirty="0" smtClean="0"/>
              <a:t>Solderable </a:t>
            </a:r>
            <a:r>
              <a:rPr lang="en-US" dirty="0" smtClean="0"/>
              <a:t>HMIC</a:t>
            </a:r>
            <a:r>
              <a:rPr lang="en-US" b="1" dirty="0" smtClean="0">
                <a:sym typeface="Symbol" panose="05050102010706020507" pitchFamily="18" charset="2"/>
              </a:rPr>
              <a:t></a:t>
            </a:r>
            <a:r>
              <a:rPr lang="en-US" dirty="0" smtClean="0"/>
              <a:t> Flip </a:t>
            </a:r>
            <a:r>
              <a:rPr lang="en-US" dirty="0" smtClean="0"/>
              <a:t>Chip </a:t>
            </a:r>
            <a:r>
              <a:rPr lang="en-US" dirty="0" smtClean="0"/>
              <a:t>PIN Diodes</a:t>
            </a:r>
            <a:endParaRPr lang="en-US" dirty="0"/>
          </a:p>
        </p:txBody>
      </p:sp>
      <p:pic>
        <p:nvPicPr>
          <p:cNvPr id="6" name="Picture 5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3624885">
            <a:off x="6439668" y="2102626"/>
            <a:ext cx="1447800" cy="7239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7" name="Picture 6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17874107">
            <a:off x="5151389" y="2767730"/>
            <a:ext cx="1447800" cy="7239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8" name="Picture 7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9986890">
            <a:off x="6786149" y="3432347"/>
            <a:ext cx="1447800" cy="7239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7463201"/>
              </p:ext>
            </p:extLst>
          </p:nvPr>
        </p:nvGraphicFramePr>
        <p:xfrm>
          <a:off x="461962" y="3262102"/>
          <a:ext cx="3789403" cy="1400208"/>
        </p:xfrm>
        <a:graphic>
          <a:graphicData uri="http://schemas.openxmlformats.org/drawingml/2006/table">
            <a:tbl>
              <a:tblPr bandRow="1">
                <a:effectLst>
                  <a:innerShdw blurRad="63500" dist="50800" dir="2700000">
                    <a:prstClr val="black">
                      <a:alpha val="50000"/>
                    </a:prstClr>
                  </a:innerShdw>
                </a:effectLst>
              </a:tblPr>
              <a:tblGrid>
                <a:gridCol w="1538591"/>
                <a:gridCol w="732523"/>
                <a:gridCol w="1518289"/>
              </a:tblGrid>
              <a:tr h="257208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Times New Roman"/>
                        </a:rPr>
                        <a:t>Parameter</a:t>
                      </a:r>
                      <a:endParaRPr lang="en-US" sz="1100" dirty="0">
                        <a:solidFill>
                          <a:schemeClr val="bg1"/>
                        </a:solidFill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Times New Roman"/>
                        </a:rPr>
                        <a:t>Units</a:t>
                      </a:r>
                      <a:endParaRPr lang="en-US" sz="1100" dirty="0">
                        <a:solidFill>
                          <a:schemeClr val="bg1"/>
                        </a:solidFill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 smtClean="0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Times New Roman"/>
                        </a:rPr>
                        <a:t>MA4FCP200</a:t>
                      </a:r>
                      <a:endParaRPr lang="en-US" sz="1100" dirty="0">
                        <a:solidFill>
                          <a:schemeClr val="bg1"/>
                        </a:solidFill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Frequency</a:t>
                      </a:r>
                      <a:endParaRPr lang="en-US" sz="10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GHz</a:t>
                      </a:r>
                      <a:endParaRPr lang="en-US" sz="10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Up to </a:t>
                      </a:r>
                      <a:r>
                        <a:rPr lang="en-US" sz="1000" b="1" dirty="0" smtClean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30</a:t>
                      </a:r>
                      <a:endParaRPr lang="en-US" sz="10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Capacitance @ </a:t>
                      </a:r>
                      <a:r>
                        <a:rPr lang="en-US" sz="1000" b="1" dirty="0" smtClean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40 </a:t>
                      </a:r>
                      <a:r>
                        <a:rPr lang="en-US" sz="1000" b="1" dirty="0" smtClean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V </a:t>
                      </a:r>
                      <a:endParaRPr lang="en-US" sz="10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pF</a:t>
                      </a:r>
                      <a:endParaRPr lang="en-US" sz="10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 smtClean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0.020 typical</a:t>
                      </a:r>
                      <a:endParaRPr lang="en-US" sz="10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 smtClean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Series Resistance</a:t>
                      </a:r>
                      <a:endParaRPr lang="en-US" sz="10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 smtClean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  <a:sym typeface="Symbol"/>
                        </a:rPr>
                        <a:t></a:t>
                      </a:r>
                      <a:endParaRPr lang="en-US" sz="10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 smtClean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2.8 </a:t>
                      </a:r>
                      <a:r>
                        <a:rPr lang="en-US" sz="1000" b="1" dirty="0" smtClean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  <a:sym typeface="Symbol"/>
                        </a:rPr>
                        <a:t>typical</a:t>
                      </a:r>
                      <a:endParaRPr lang="en-US" sz="10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Breakdown Voltage</a:t>
                      </a:r>
                      <a:endParaRPr lang="en-US" sz="10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V</a:t>
                      </a:r>
                      <a:endParaRPr lang="en-US" sz="10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 smtClean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70 min</a:t>
                      </a:r>
                      <a:endParaRPr lang="en-US" sz="10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 smtClean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Size</a:t>
                      </a:r>
                      <a:endParaRPr lang="en-US" sz="10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 smtClean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µm</a:t>
                      </a:r>
                      <a:endParaRPr lang="en-US" sz="10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 smtClean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381 </a:t>
                      </a:r>
                      <a:r>
                        <a:rPr lang="en-US" sz="1000" b="1" dirty="0" smtClean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X </a:t>
                      </a:r>
                      <a:r>
                        <a:rPr lang="en-US" sz="1000" b="1" dirty="0" smtClean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230 </a:t>
                      </a:r>
                      <a:endParaRPr lang="en-US" sz="10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292064" y="1169514"/>
            <a:ext cx="5216085" cy="17943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buFont typeface="Arial" pitchFamily="34" charset="0"/>
              <a:buChar char="•"/>
            </a:pPr>
            <a:r>
              <a:rPr lang="en-US" sz="1400" dirty="0" smtClean="0"/>
              <a:t> Ultra Low Capacitance</a:t>
            </a:r>
          </a:p>
          <a:p>
            <a:pPr algn="l">
              <a:buFont typeface="Arial" pitchFamily="34" charset="0"/>
              <a:buChar char="•"/>
            </a:pPr>
            <a:r>
              <a:rPr lang="en-US" sz="1400" dirty="0" smtClean="0"/>
              <a:t> Millimeter Wave Switching &amp; Cutoff Frequency</a:t>
            </a:r>
          </a:p>
          <a:p>
            <a:pPr algn="l">
              <a:buFont typeface="Arial" pitchFamily="34" charset="0"/>
              <a:buChar char="•"/>
            </a:pPr>
            <a:r>
              <a:rPr lang="en-US" sz="1400" dirty="0" smtClean="0"/>
              <a:t> Silicon Nitride Passivation</a:t>
            </a:r>
          </a:p>
          <a:p>
            <a:pPr algn="l">
              <a:buFont typeface="Arial" pitchFamily="34" charset="0"/>
              <a:buChar char="•"/>
            </a:pPr>
            <a:r>
              <a:rPr lang="en-US" sz="1400" dirty="0" smtClean="0"/>
              <a:t> Polyimide Scratch Protection</a:t>
            </a:r>
          </a:p>
          <a:p>
            <a:pPr algn="l">
              <a:buFont typeface="Arial" pitchFamily="34" charset="0"/>
              <a:buChar char="•"/>
            </a:pPr>
            <a:r>
              <a:rPr lang="en-US" sz="1400" dirty="0" smtClean="0"/>
              <a:t>Cu/Ni/Au Solderable Terminals</a:t>
            </a:r>
          </a:p>
          <a:p>
            <a:pPr algn="l">
              <a:buFont typeface="Arial" pitchFamily="34" charset="0"/>
              <a:buChar char="•"/>
            </a:pPr>
            <a:r>
              <a:rPr lang="en-US" sz="1400" dirty="0" smtClean="0"/>
              <a:t> RoHS Compliant</a:t>
            </a:r>
            <a:endParaRPr lang="en-US" sz="1400" dirty="0"/>
          </a:p>
        </p:txBody>
      </p:sp>
      <p:sp>
        <p:nvSpPr>
          <p:cNvPr id="16" name="TextBox 15"/>
          <p:cNvSpPr txBox="1"/>
          <p:nvPr/>
        </p:nvSpPr>
        <p:spPr>
          <a:xfrm>
            <a:off x="485849" y="2986564"/>
            <a:ext cx="3429000" cy="2862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PIN </a:t>
            </a:r>
            <a:r>
              <a:rPr lang="en-US" sz="1400" dirty="0" smtClean="0"/>
              <a:t>Diodes </a:t>
            </a:r>
            <a:r>
              <a:rPr lang="en-US" sz="1400" dirty="0" smtClean="0"/>
              <a:t>- Switching  </a:t>
            </a:r>
            <a:endParaRPr lang="en-US" sz="1400" dirty="0"/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2534459"/>
              </p:ext>
            </p:extLst>
          </p:nvPr>
        </p:nvGraphicFramePr>
        <p:xfrm>
          <a:off x="485155" y="4965006"/>
          <a:ext cx="3789403" cy="1400208"/>
        </p:xfrm>
        <a:graphic>
          <a:graphicData uri="http://schemas.openxmlformats.org/drawingml/2006/table">
            <a:tbl>
              <a:tblPr bandRow="1">
                <a:effectLst>
                  <a:innerShdw blurRad="63500" dist="50800" dir="2700000">
                    <a:prstClr val="black">
                      <a:alpha val="50000"/>
                    </a:prstClr>
                  </a:innerShdw>
                </a:effectLst>
              </a:tblPr>
              <a:tblGrid>
                <a:gridCol w="1538591"/>
                <a:gridCol w="732523"/>
                <a:gridCol w="1518289"/>
              </a:tblGrid>
              <a:tr h="257208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Times New Roman"/>
                        </a:rPr>
                        <a:t>Parameter</a:t>
                      </a:r>
                      <a:endParaRPr lang="en-US" sz="1100" dirty="0">
                        <a:solidFill>
                          <a:schemeClr val="bg1"/>
                        </a:solidFill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Times New Roman"/>
                        </a:rPr>
                        <a:t>Units</a:t>
                      </a:r>
                      <a:endParaRPr lang="en-US" sz="1100" dirty="0">
                        <a:solidFill>
                          <a:schemeClr val="bg1"/>
                        </a:solidFill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 smtClean="0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Times New Roman"/>
                        </a:rPr>
                        <a:t>MA4FCP300</a:t>
                      </a:r>
                      <a:endParaRPr lang="en-US" sz="1100" dirty="0">
                        <a:solidFill>
                          <a:schemeClr val="bg1"/>
                        </a:solidFill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Frequency</a:t>
                      </a:r>
                      <a:endParaRPr lang="en-US" sz="10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GHz</a:t>
                      </a:r>
                      <a:endParaRPr lang="en-US" sz="10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Up to </a:t>
                      </a:r>
                      <a:r>
                        <a:rPr lang="en-US" sz="1000" b="1" dirty="0" smtClean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30</a:t>
                      </a:r>
                      <a:endParaRPr lang="en-US" sz="10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Capacitance @ </a:t>
                      </a:r>
                      <a:r>
                        <a:rPr lang="en-US" sz="1000" b="1" dirty="0" smtClean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40 </a:t>
                      </a:r>
                      <a:r>
                        <a:rPr lang="en-US" sz="1000" b="1" dirty="0" smtClean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V </a:t>
                      </a:r>
                      <a:endParaRPr lang="en-US" sz="10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pF</a:t>
                      </a:r>
                      <a:endParaRPr lang="en-US" sz="10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 smtClean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0.080 typical</a:t>
                      </a:r>
                      <a:endParaRPr lang="en-US" sz="10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 smtClean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Series Resistance</a:t>
                      </a:r>
                      <a:endParaRPr lang="en-US" sz="10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 smtClean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  <a:sym typeface="Symbol"/>
                        </a:rPr>
                        <a:t></a:t>
                      </a:r>
                      <a:endParaRPr lang="en-US" sz="10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 smtClean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2.6 </a:t>
                      </a:r>
                      <a:r>
                        <a:rPr lang="en-US" sz="1000" b="1" dirty="0" smtClean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  <a:sym typeface="Symbol"/>
                        </a:rPr>
                        <a:t>typical</a:t>
                      </a:r>
                      <a:endParaRPr lang="en-US" sz="10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Breakdown Voltage</a:t>
                      </a:r>
                      <a:endParaRPr lang="en-US" sz="10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V</a:t>
                      </a:r>
                      <a:endParaRPr lang="en-US" sz="10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 smtClean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70 min</a:t>
                      </a:r>
                      <a:endParaRPr lang="en-US" sz="10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 smtClean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Size</a:t>
                      </a:r>
                      <a:endParaRPr lang="en-US" sz="10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 smtClean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µm</a:t>
                      </a:r>
                      <a:endParaRPr lang="en-US" sz="10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 smtClean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733 </a:t>
                      </a:r>
                      <a:r>
                        <a:rPr lang="en-US" sz="1000" b="1" dirty="0" smtClean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X </a:t>
                      </a:r>
                      <a:r>
                        <a:rPr lang="en-US" sz="1000" b="1" dirty="0" smtClean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393 </a:t>
                      </a:r>
                      <a:endParaRPr lang="en-US" sz="10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7455155"/>
              </p:ext>
            </p:extLst>
          </p:nvPr>
        </p:nvGraphicFramePr>
        <p:xfrm>
          <a:off x="4772233" y="4938502"/>
          <a:ext cx="3789403" cy="1400208"/>
        </p:xfrm>
        <a:graphic>
          <a:graphicData uri="http://schemas.openxmlformats.org/drawingml/2006/table">
            <a:tbl>
              <a:tblPr bandRow="1">
                <a:effectLst>
                  <a:innerShdw blurRad="63500" dist="50800" dir="2700000">
                    <a:prstClr val="black">
                      <a:alpha val="50000"/>
                    </a:prstClr>
                  </a:innerShdw>
                </a:effectLst>
              </a:tblPr>
              <a:tblGrid>
                <a:gridCol w="1538591"/>
                <a:gridCol w="732523"/>
                <a:gridCol w="1518289"/>
              </a:tblGrid>
              <a:tr h="257208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Times New Roman"/>
                        </a:rPr>
                        <a:t>Parameter</a:t>
                      </a:r>
                      <a:endParaRPr lang="en-US" sz="1100" dirty="0">
                        <a:solidFill>
                          <a:schemeClr val="bg1"/>
                        </a:solidFill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Times New Roman"/>
                        </a:rPr>
                        <a:t>Units</a:t>
                      </a:r>
                      <a:endParaRPr lang="en-US" sz="1100" dirty="0">
                        <a:solidFill>
                          <a:schemeClr val="bg1"/>
                        </a:solidFill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 smtClean="0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Times New Roman"/>
                        </a:rPr>
                        <a:t>MA4FCP300</a:t>
                      </a:r>
                      <a:endParaRPr lang="en-US" sz="1100" dirty="0">
                        <a:solidFill>
                          <a:schemeClr val="bg1"/>
                        </a:solidFill>
                        <a:latin typeface="Arial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Frequency</a:t>
                      </a:r>
                      <a:endParaRPr lang="en-US" sz="10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GHz</a:t>
                      </a:r>
                      <a:endParaRPr lang="en-US" sz="10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Up to </a:t>
                      </a:r>
                      <a:r>
                        <a:rPr lang="en-US" sz="1000" b="1" dirty="0" smtClean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30</a:t>
                      </a:r>
                      <a:endParaRPr lang="en-US" sz="10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Capacitance @ </a:t>
                      </a:r>
                      <a:r>
                        <a:rPr lang="en-US" sz="1000" b="1" dirty="0" smtClean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10 </a:t>
                      </a:r>
                      <a:r>
                        <a:rPr lang="en-US" sz="1000" b="1" dirty="0" smtClean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V </a:t>
                      </a:r>
                      <a:endParaRPr lang="en-US" sz="10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pF</a:t>
                      </a:r>
                      <a:endParaRPr lang="en-US" sz="10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 smtClean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0.050 typical</a:t>
                      </a:r>
                      <a:endParaRPr lang="en-US" sz="10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 smtClean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Series Resistance</a:t>
                      </a:r>
                      <a:endParaRPr lang="en-US" sz="10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 smtClean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  <a:sym typeface="Symbol"/>
                        </a:rPr>
                        <a:t></a:t>
                      </a:r>
                      <a:endParaRPr lang="en-US" sz="10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 smtClean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2.1 </a:t>
                      </a:r>
                      <a:r>
                        <a:rPr lang="en-US" sz="1000" b="1" dirty="0" smtClean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  <a:sym typeface="Symbol"/>
                        </a:rPr>
                        <a:t>typical</a:t>
                      </a:r>
                      <a:endParaRPr lang="en-US" sz="10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Breakdown Voltage</a:t>
                      </a:r>
                      <a:endParaRPr lang="en-US" sz="10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V</a:t>
                      </a:r>
                      <a:endParaRPr lang="en-US" sz="10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 smtClean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40 min</a:t>
                      </a:r>
                      <a:endParaRPr lang="en-US" sz="10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 smtClean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Size</a:t>
                      </a:r>
                      <a:endParaRPr lang="en-US" sz="10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 smtClean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µm</a:t>
                      </a:r>
                      <a:endParaRPr lang="en-US" sz="10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 smtClean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733 </a:t>
                      </a:r>
                      <a:r>
                        <a:rPr lang="en-US" sz="1000" b="1" dirty="0" smtClean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X </a:t>
                      </a:r>
                      <a:r>
                        <a:rPr lang="en-US" sz="1000" b="1" dirty="0" smtClean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393 </a:t>
                      </a:r>
                      <a:endParaRPr lang="en-US" sz="10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1125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 smtClean="0"/>
              <a:t>Passive Devices</a:t>
            </a: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en-US" dirty="0" smtClean="0"/>
              <a:t>HMIC™ Bias Networks</a:t>
            </a:r>
          </a:p>
          <a:p>
            <a:pPr>
              <a:spcBef>
                <a:spcPts val="0"/>
              </a:spcBef>
            </a:pPr>
            <a:r>
              <a:rPr lang="en-US" dirty="0" smtClean="0"/>
              <a:t>Attenuators</a:t>
            </a:r>
          </a:p>
          <a:p>
            <a:pPr>
              <a:spcBef>
                <a:spcPts val="0"/>
              </a:spcBef>
            </a:pPr>
            <a:r>
              <a:rPr lang="en-US" dirty="0" smtClean="0"/>
              <a:t>MNS </a:t>
            </a:r>
            <a:r>
              <a:rPr lang="en-US" dirty="0"/>
              <a:t>Capacitors</a:t>
            </a:r>
            <a:br>
              <a:rPr lang="en-US" dirty="0"/>
            </a:br>
            <a:r>
              <a:rPr lang="en-US" dirty="0"/>
              <a:t>Spiral Inductors</a:t>
            </a:r>
            <a:br>
              <a:rPr lang="en-US" dirty="0"/>
            </a:br>
            <a:r>
              <a:rPr lang="en-US" dirty="0"/>
              <a:t>Resistor Networks</a:t>
            </a:r>
          </a:p>
          <a:p>
            <a:pPr>
              <a:spcBef>
                <a:spcPts val="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013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/>
          </p:cNvSpPr>
          <p:nvPr>
            <p:ph type="title" idx="4294967295"/>
          </p:nvPr>
        </p:nvSpPr>
        <p:spPr>
          <a:xfrm>
            <a:off x="0" y="228270"/>
            <a:ext cx="7516813" cy="725487"/>
          </a:xfrm>
        </p:spPr>
        <p:txBody>
          <a:bodyPr>
            <a:normAutofit/>
          </a:bodyPr>
          <a:lstStyle/>
          <a:p>
            <a:r>
              <a:rPr lang="en-US" dirty="0" smtClean="0"/>
              <a:t>MABT-011000 2-18 GHz </a:t>
            </a:r>
            <a:br>
              <a:rPr lang="en-US" dirty="0" smtClean="0"/>
            </a:br>
            <a:r>
              <a:rPr lang="en-US" dirty="0"/>
              <a:t>HMIC</a:t>
            </a:r>
            <a:r>
              <a:rPr lang="en-US" baseline="42000" dirty="0"/>
              <a:t>TM</a:t>
            </a:r>
            <a:r>
              <a:rPr lang="en-US" dirty="0" smtClean="0"/>
              <a:t> Surmount Bias Network</a:t>
            </a:r>
          </a:p>
        </p:txBody>
      </p:sp>
      <p:pic>
        <p:nvPicPr>
          <p:cNvPr id="9" name="Picture 3" descr="C:\Users\ma043201\Documents\BiasNetwork\Single Series Cap Concept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36978" y="4881947"/>
            <a:ext cx="1507982" cy="156487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100825" y="1142527"/>
            <a:ext cx="4358244" cy="10033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Arial" pitchFamily="34" charset="0"/>
              <a:buChar char="•"/>
            </a:pPr>
            <a:r>
              <a:rPr lang="en-US" sz="1600" dirty="0" smtClean="0"/>
              <a:t> HMIC™ Surmount Technology</a:t>
            </a:r>
          </a:p>
          <a:p>
            <a:pPr algn="l">
              <a:buFont typeface="Arial" pitchFamily="34" charset="0"/>
              <a:buChar char="•"/>
            </a:pPr>
            <a:r>
              <a:rPr lang="en-US" sz="1600" dirty="0" smtClean="0"/>
              <a:t> Broadband Performance 2 – 18 GHz </a:t>
            </a:r>
          </a:p>
          <a:p>
            <a:pPr algn="l">
              <a:buFont typeface="Arial" pitchFamily="34" charset="0"/>
              <a:buChar char="•"/>
            </a:pPr>
            <a:endParaRPr lang="en-US" sz="1600" dirty="0" smtClean="0"/>
          </a:p>
        </p:txBody>
      </p:sp>
      <p:graphicFrame>
        <p:nvGraphicFramePr>
          <p:cNvPr id="15" name="Table 14"/>
          <p:cNvGraphicFramePr>
            <a:graphicFrameLocks noGrp="1"/>
          </p:cNvGraphicFramePr>
          <p:nvPr>
            <p:extLst/>
          </p:nvPr>
        </p:nvGraphicFramePr>
        <p:xfrm>
          <a:off x="327551" y="1818176"/>
          <a:ext cx="3212934" cy="2880360"/>
        </p:xfrm>
        <a:graphic>
          <a:graphicData uri="http://schemas.openxmlformats.org/drawingml/2006/table">
            <a:tbl>
              <a:tblPr/>
              <a:tblGrid>
                <a:gridCol w="786268"/>
                <a:gridCol w="828464"/>
                <a:gridCol w="529060"/>
                <a:gridCol w="545593"/>
                <a:gridCol w="523549"/>
              </a:tblGrid>
              <a:tr h="29899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1" i="0" u="none" strike="noStrike" dirty="0" smtClean="0">
                          <a:latin typeface="Arial"/>
                        </a:rPr>
                        <a:t>Parameter</a:t>
                      </a:r>
                      <a:endParaRPr lang="en-US" sz="1050" b="1" i="0" u="none" strike="noStrike" dirty="0">
                        <a:latin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1" i="0" u="none" strike="noStrike" dirty="0" smtClean="0">
                          <a:latin typeface="Arial"/>
                        </a:rPr>
                        <a:t>Frequency (GHz)</a:t>
                      </a:r>
                      <a:endParaRPr lang="en-US" sz="1050" b="1" i="0" u="none" strike="noStrike" dirty="0">
                        <a:latin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1" i="0" u="none" strike="noStrike" dirty="0" smtClean="0">
                          <a:latin typeface="Arial"/>
                        </a:rPr>
                        <a:t>Target Min</a:t>
                      </a:r>
                      <a:endParaRPr lang="en-US" sz="1050" b="1" i="0" u="none" strike="noStrike" dirty="0"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1" i="0" u="none" strike="noStrike" dirty="0" smtClean="0">
                          <a:latin typeface="Arial"/>
                        </a:rPr>
                        <a:t>Target Avg</a:t>
                      </a:r>
                      <a:endParaRPr lang="en-US" sz="1050" b="1" i="0" u="none" strike="noStrike" dirty="0"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1" i="0" u="none" strike="noStrike" dirty="0" smtClean="0">
                          <a:latin typeface="Arial"/>
                        </a:rPr>
                        <a:t>Target</a:t>
                      </a:r>
                      <a:r>
                        <a:rPr lang="en-US" sz="1050" b="1" i="0" u="none" strike="noStrike" baseline="0" dirty="0" smtClean="0">
                          <a:latin typeface="Arial"/>
                        </a:rPr>
                        <a:t> Max</a:t>
                      </a:r>
                      <a:endParaRPr lang="en-US" sz="1050" b="1" i="0" u="none" strike="noStrike" dirty="0"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9497">
                <a:tc rowSpan="4">
                  <a:txBody>
                    <a:bodyPr/>
                    <a:lstStyle/>
                    <a:p>
                      <a:pPr algn="ctr" fontAlgn="b"/>
                      <a:r>
                        <a:rPr lang="en-US" sz="1050" b="1" i="0" u="none" strike="noStrike" dirty="0" smtClean="0">
                          <a:latin typeface="Arial"/>
                        </a:rPr>
                        <a:t>Insertion Loss</a:t>
                      </a:r>
                      <a:endParaRPr lang="en-US" sz="1050" b="1" i="0" u="none" strike="noStrike" dirty="0">
                        <a:latin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1" i="0" u="none" strike="noStrike" dirty="0" smtClean="0">
                          <a:latin typeface="Arial"/>
                        </a:rPr>
                        <a:t>2</a:t>
                      </a:r>
                      <a:endParaRPr lang="en-US" sz="1050" b="1" i="0" u="none" strike="noStrike" dirty="0">
                        <a:latin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ctr" fontAlgn="b"/>
                      <a:r>
                        <a:rPr lang="en-US" sz="1050" b="1" i="0" u="none" strike="noStrike" dirty="0" smtClean="0">
                          <a:latin typeface="Arial"/>
                        </a:rPr>
                        <a:t>-</a:t>
                      </a:r>
                      <a:endParaRPr lang="en-US" sz="1050" b="1" i="0" u="none" strike="noStrike" dirty="0"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ctr" fontAlgn="b"/>
                      <a:r>
                        <a:rPr lang="en-US" sz="1050" b="1" i="0" u="none" strike="noStrike" dirty="0" smtClean="0">
                          <a:latin typeface="Arial"/>
                        </a:rPr>
                        <a:t>0.1</a:t>
                      </a:r>
                      <a:endParaRPr lang="en-US" sz="1050" b="1" i="0" u="none" strike="noStrike" dirty="0"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ctr" fontAlgn="b"/>
                      <a:r>
                        <a:rPr lang="en-US" sz="1050" b="1" i="0" u="none" strike="noStrike" dirty="0" smtClean="0">
                          <a:latin typeface="Arial"/>
                        </a:rPr>
                        <a:t>0.50</a:t>
                      </a:r>
                      <a:endParaRPr lang="en-US" sz="1050" b="1" i="0" u="none" strike="noStrike" dirty="0"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9497">
                <a:tc vMerge="1">
                  <a:txBody>
                    <a:bodyPr/>
                    <a:lstStyle/>
                    <a:p>
                      <a:pPr algn="ctr" fontAlgn="b"/>
                      <a:endParaRPr lang="en-US" sz="1400" b="1" i="0" u="none" strike="noStrike" dirty="0"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i="0" u="none" strike="noStrike" dirty="0" smtClean="0">
                          <a:latin typeface="+mn-lt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b"/>
                      <a:endParaRPr lang="en-US" sz="1400" b="1" i="0" u="none" strike="noStrike" dirty="0"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49497">
                <a:tc vMerge="1">
                  <a:txBody>
                    <a:bodyPr/>
                    <a:lstStyle/>
                    <a:p>
                      <a:pPr algn="ctr" fontAlgn="b"/>
                      <a:endParaRPr lang="en-US" sz="1400" b="1" i="0" u="none" strike="noStrike" dirty="0"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i="0" u="none" strike="noStrike" dirty="0" smtClean="0">
                          <a:latin typeface="+mn-lt"/>
                        </a:rPr>
                        <a:t>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b"/>
                      <a:endParaRPr lang="en-US" sz="1400" b="1" i="0" u="none" strike="noStrike" dirty="0"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49497">
                <a:tc vMerge="1">
                  <a:txBody>
                    <a:bodyPr/>
                    <a:lstStyle/>
                    <a:p>
                      <a:pPr algn="ctr" fontAlgn="b"/>
                      <a:endParaRPr lang="en-US" sz="1400" b="1" i="0" u="none" strike="noStrike" dirty="0"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i="0" u="none" strike="noStrike" dirty="0" smtClean="0">
                          <a:latin typeface="+mn-lt"/>
                        </a:rPr>
                        <a:t>18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b"/>
                      <a:endParaRPr lang="en-US" sz="1400" b="1" i="0" u="none" strike="noStrike" dirty="0"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49497">
                <a:tc rowSpan="4"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i="0" u="none" strike="noStrike" dirty="0" smtClean="0">
                          <a:latin typeface="+mn-lt"/>
                        </a:rPr>
                        <a:t>RF – DC Isolation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1" i="0" u="none" strike="noStrike" dirty="0" smtClean="0">
                          <a:latin typeface="Arial"/>
                        </a:rPr>
                        <a:t>2</a:t>
                      </a:r>
                      <a:endParaRPr lang="en-US" sz="1050" b="1" i="0" u="none" strike="noStrike" dirty="0">
                        <a:latin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i="0" u="none" strike="noStrike" dirty="0" smtClean="0">
                          <a:latin typeface="+mn-lt"/>
                        </a:rPr>
                        <a:t>30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i="0" u="none" strike="noStrike" dirty="0" smtClean="0">
                          <a:latin typeface="+mn-lt"/>
                        </a:rPr>
                        <a:t>35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i="0" u="none" strike="noStrike" dirty="0" smtClean="0">
                          <a:latin typeface="+mn-lt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9497">
                <a:tc vMerge="1">
                  <a:txBody>
                    <a:bodyPr/>
                    <a:lstStyle/>
                    <a:p>
                      <a:pPr algn="ctr" fontAlgn="b"/>
                      <a:endParaRPr lang="en-US" sz="1400" b="1" i="0" u="none" strike="noStrike" dirty="0"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i="0" u="none" strike="noStrike" dirty="0" smtClean="0">
                          <a:latin typeface="+mn-lt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b"/>
                      <a:endParaRPr lang="en-US" sz="1400" b="1" i="0" u="none" strike="noStrike" dirty="0"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49497">
                <a:tc vMerge="1">
                  <a:txBody>
                    <a:bodyPr/>
                    <a:lstStyle/>
                    <a:p>
                      <a:pPr algn="ctr" fontAlgn="b"/>
                      <a:endParaRPr lang="en-US" sz="1400" b="1" i="0" u="none" strike="noStrike" dirty="0"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i="0" u="none" strike="noStrike" dirty="0" smtClean="0">
                          <a:latin typeface="+mn-lt"/>
                        </a:rPr>
                        <a:t>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b"/>
                      <a:endParaRPr lang="en-US" sz="1400" b="1" i="0" u="none" strike="noStrike" dirty="0"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49497">
                <a:tc vMerge="1">
                  <a:txBody>
                    <a:bodyPr/>
                    <a:lstStyle/>
                    <a:p>
                      <a:pPr algn="ctr" fontAlgn="b"/>
                      <a:endParaRPr lang="en-US" sz="1400" b="1" i="0" u="none" strike="noStrike" dirty="0"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i="0" u="none" strike="noStrike" dirty="0" smtClean="0">
                          <a:latin typeface="+mn-lt"/>
                        </a:rPr>
                        <a:t>18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b"/>
                      <a:endParaRPr lang="en-US" sz="1400" b="1" i="0" u="none" strike="noStrike" dirty="0"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49497">
                <a:tc rowSpan="4"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i="0" u="none" strike="noStrike" dirty="0" smtClean="0">
                          <a:latin typeface="+mn-lt"/>
                        </a:rPr>
                        <a:t>Input Return</a:t>
                      </a:r>
                      <a:r>
                        <a:rPr lang="en-US" sz="1050" b="1" i="0" u="none" strike="noStrike" baseline="0" dirty="0" smtClean="0">
                          <a:latin typeface="+mn-lt"/>
                        </a:rPr>
                        <a:t> Loss</a:t>
                      </a:r>
                      <a:endParaRPr lang="en-US" sz="1050" b="1" i="0" u="none" strike="noStrike" dirty="0" smtClean="0"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1" i="0" u="none" strike="noStrike" dirty="0" smtClean="0">
                          <a:latin typeface="Arial"/>
                        </a:rPr>
                        <a:t>2</a:t>
                      </a:r>
                      <a:endParaRPr lang="en-US" sz="1050" b="1" i="0" u="none" strike="noStrike" dirty="0">
                        <a:latin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ctr" fontAlgn="b"/>
                      <a:r>
                        <a:rPr lang="en-US" sz="1050" b="1" i="0" u="none" strike="noStrike" dirty="0" smtClean="0">
                          <a:latin typeface="Arial"/>
                        </a:rPr>
                        <a:t>15</a:t>
                      </a:r>
                      <a:endParaRPr lang="en-US" sz="1050" b="1" i="0" u="none" strike="noStrike" dirty="0"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ctr" fontAlgn="b"/>
                      <a:r>
                        <a:rPr lang="en-US" sz="1050" b="1" i="0" u="none" strike="noStrike" dirty="0" smtClean="0">
                          <a:latin typeface="Arial"/>
                        </a:rPr>
                        <a:t>17</a:t>
                      </a:r>
                      <a:endParaRPr lang="en-US" sz="1050" b="1" i="0" u="none" strike="noStrike" dirty="0"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ctr" fontAlgn="b"/>
                      <a:r>
                        <a:rPr lang="en-US" sz="1050" b="1" i="0" u="none" strike="noStrike" dirty="0" smtClean="0">
                          <a:latin typeface="Arial"/>
                        </a:rPr>
                        <a:t>-</a:t>
                      </a:r>
                      <a:endParaRPr lang="en-US" sz="1050" b="1" i="0" u="none" strike="noStrike" dirty="0"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9497">
                <a:tc vMerge="1">
                  <a:txBody>
                    <a:bodyPr/>
                    <a:lstStyle/>
                    <a:p>
                      <a:pPr algn="ctr" fontAlgn="b"/>
                      <a:endParaRPr lang="en-US" sz="1400" b="1" i="0" u="none" strike="noStrike" dirty="0"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i="0" u="none" strike="noStrike" dirty="0" smtClean="0">
                          <a:latin typeface="+mn-lt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b"/>
                      <a:endParaRPr lang="en-US" sz="1400" b="1" i="0" u="none" strike="noStrike" dirty="0"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49497">
                <a:tc vMerge="1">
                  <a:txBody>
                    <a:bodyPr/>
                    <a:lstStyle/>
                    <a:p>
                      <a:pPr algn="ctr" fontAlgn="b"/>
                      <a:endParaRPr lang="en-US" sz="1400" b="1" i="0" u="none" strike="noStrike" dirty="0"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i="0" u="none" strike="noStrike" dirty="0" smtClean="0">
                          <a:latin typeface="+mn-lt"/>
                        </a:rPr>
                        <a:t>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b"/>
                      <a:endParaRPr lang="en-US" sz="1400" b="1" i="0" u="none" strike="noStrike" dirty="0"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49497">
                <a:tc vMerge="1">
                  <a:txBody>
                    <a:bodyPr/>
                    <a:lstStyle/>
                    <a:p>
                      <a:pPr algn="ctr" fontAlgn="b"/>
                      <a:endParaRPr lang="en-US" sz="1400" b="1" i="0" u="none" strike="noStrike" dirty="0"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i="0" u="none" strike="noStrike" dirty="0" smtClean="0">
                          <a:latin typeface="+mn-lt"/>
                        </a:rPr>
                        <a:t>18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b"/>
                      <a:endParaRPr lang="en-US" sz="1400" b="1" i="0" u="none" strike="noStrike" dirty="0"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49497">
                <a:tc rowSpan="4"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i="0" u="none" strike="noStrike" dirty="0" smtClean="0">
                          <a:latin typeface="+mn-lt"/>
                        </a:rPr>
                        <a:t>Output Return Loss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1" i="0" u="none" strike="noStrike" dirty="0" smtClean="0">
                          <a:latin typeface="Arial"/>
                        </a:rPr>
                        <a:t>2</a:t>
                      </a:r>
                      <a:endParaRPr lang="en-US" sz="1050" b="1" i="0" u="none" strike="noStrike" dirty="0">
                        <a:latin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ctr" fontAlgn="b"/>
                      <a:r>
                        <a:rPr lang="en-US" sz="1050" b="1" i="0" u="none" strike="noStrike" dirty="0" smtClean="0">
                          <a:latin typeface="Arial"/>
                        </a:rPr>
                        <a:t>15</a:t>
                      </a:r>
                      <a:endParaRPr lang="en-US" sz="1050" b="1" i="0" u="none" strike="noStrike" dirty="0"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ctr" fontAlgn="b"/>
                      <a:r>
                        <a:rPr lang="en-US" sz="1050" b="1" i="0" u="none" strike="noStrike" dirty="0" smtClean="0">
                          <a:latin typeface="Arial"/>
                        </a:rPr>
                        <a:t>17</a:t>
                      </a:r>
                      <a:endParaRPr lang="en-US" sz="1050" b="1" i="0" u="none" strike="noStrike" dirty="0"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ctr" fontAlgn="b"/>
                      <a:r>
                        <a:rPr lang="en-US" sz="1050" b="1" i="0" u="none" strike="noStrike" dirty="0" smtClean="0">
                          <a:latin typeface="Arial"/>
                        </a:rPr>
                        <a:t>-</a:t>
                      </a:r>
                      <a:endParaRPr lang="en-US" sz="1050" b="1" i="0" u="none" strike="noStrike" dirty="0"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9497">
                <a:tc vMerge="1">
                  <a:txBody>
                    <a:bodyPr/>
                    <a:lstStyle/>
                    <a:p>
                      <a:pPr algn="ctr" fontAlgn="b"/>
                      <a:endParaRPr lang="en-US" sz="1400" b="1" i="0" u="none" strike="noStrike" dirty="0"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i="0" u="none" strike="noStrike" dirty="0" smtClean="0">
                          <a:latin typeface="+mn-lt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b"/>
                      <a:endParaRPr lang="en-US" sz="1400" b="1" i="0" u="none" strike="noStrike" dirty="0"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49497">
                <a:tc vMerge="1">
                  <a:txBody>
                    <a:bodyPr/>
                    <a:lstStyle/>
                    <a:p>
                      <a:pPr algn="ctr" fontAlgn="b"/>
                      <a:endParaRPr lang="en-US" sz="1400" b="1" i="0" u="none" strike="noStrike" dirty="0"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i="0" u="none" strike="noStrike" dirty="0" smtClean="0">
                          <a:latin typeface="+mn-lt"/>
                        </a:rPr>
                        <a:t>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b"/>
                      <a:endParaRPr lang="en-US" sz="1400" b="1" i="0" u="none" strike="noStrike" dirty="0"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49497">
                <a:tc vMerge="1">
                  <a:txBody>
                    <a:bodyPr/>
                    <a:lstStyle/>
                    <a:p>
                      <a:pPr algn="ctr" fontAlgn="b"/>
                      <a:endParaRPr lang="en-US" sz="1400" b="1" i="0" u="none" strike="noStrike" dirty="0"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i="0" u="none" strike="noStrike" dirty="0" smtClean="0">
                          <a:latin typeface="+mn-lt"/>
                        </a:rPr>
                        <a:t>18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b"/>
                      <a:endParaRPr lang="en-US" sz="1400" b="1" i="0" u="none" strike="noStrike" dirty="0"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28679" name="Picture 7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616091" y="1203504"/>
            <a:ext cx="3188958" cy="2429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680" name="Picture 8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645907" y="4017964"/>
            <a:ext cx="3188958" cy="234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Box 2"/>
          <p:cNvSpPr txBox="1"/>
          <p:nvPr/>
        </p:nvSpPr>
        <p:spPr>
          <a:xfrm>
            <a:off x="4459069" y="6384466"/>
            <a:ext cx="38461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High current ±60mA; Voltage ±50V</a:t>
            </a:r>
          </a:p>
        </p:txBody>
      </p:sp>
      <p:pic>
        <p:nvPicPr>
          <p:cNvPr id="12" name="Content Placeholder 6" descr="HBN0218X1S Layout.PNG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95132" y="4843465"/>
            <a:ext cx="1563273" cy="1698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40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/>
          <p:cNvSpPr>
            <a:spLocks noGrp="1"/>
          </p:cNvSpPr>
          <p:nvPr>
            <p:ph type="title"/>
          </p:nvPr>
        </p:nvSpPr>
        <p:spPr>
          <a:xfrm>
            <a:off x="1188554" y="2307865"/>
            <a:ext cx="7315200" cy="640080"/>
          </a:xfrm>
        </p:spPr>
        <p:txBody>
          <a:bodyPr/>
          <a:lstStyle/>
          <a:p>
            <a:r>
              <a:rPr lang="en-US" sz="4000" dirty="0" smtClean="0"/>
              <a:t>Thank You</a:t>
            </a:r>
            <a:endParaRPr lang="en-US" sz="4000" dirty="0"/>
          </a:p>
        </p:txBody>
      </p:sp>
      <p:sp>
        <p:nvSpPr>
          <p:cNvPr id="15" name="TextBox 14"/>
          <p:cNvSpPr txBox="1"/>
          <p:nvPr/>
        </p:nvSpPr>
        <p:spPr>
          <a:xfrm>
            <a:off x="1660880" y="5543792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6112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 smtClean="0"/>
              <a:t>Appendix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60920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25354" y="265517"/>
            <a:ext cx="6983413" cy="544512"/>
          </a:xfrm>
        </p:spPr>
        <p:txBody>
          <a:bodyPr/>
          <a:lstStyle/>
          <a:p>
            <a:r>
              <a:rPr lang="en-US" dirty="0" smtClean="0"/>
              <a:t>Si </a:t>
            </a:r>
            <a:r>
              <a:rPr lang="en-US" dirty="0"/>
              <a:t>Mesa </a:t>
            </a:r>
            <a:r>
              <a:rPr lang="en-US" dirty="0" smtClean="0"/>
              <a:t>Beamlead PIN Diodes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334445" y="1288694"/>
            <a:ext cx="4711710" cy="15050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9063" indent="-119063" algn="l">
              <a:buFont typeface="Wingdings" pitchFamily="2" charset="2"/>
              <a:buChar char="§"/>
            </a:pPr>
            <a:r>
              <a:rPr lang="en-US" dirty="0" smtClean="0"/>
              <a:t>Rugged Silicon-Glass Construction</a:t>
            </a:r>
          </a:p>
          <a:p>
            <a:pPr marL="119063" indent="-119063" algn="l">
              <a:buFont typeface="Wingdings" pitchFamily="2" charset="2"/>
              <a:buChar char="§"/>
            </a:pPr>
            <a:r>
              <a:rPr lang="en-US" dirty="0" smtClean="0"/>
              <a:t>Silicon Nitride Passivation</a:t>
            </a:r>
          </a:p>
          <a:p>
            <a:pPr marL="119063" indent="-119063" algn="l">
              <a:buFont typeface="Wingdings" pitchFamily="2" charset="2"/>
              <a:buChar char="§"/>
            </a:pPr>
            <a:r>
              <a:rPr lang="en-US" dirty="0" smtClean="0"/>
              <a:t>Low Parasitic Capacitance and Inductance</a:t>
            </a:r>
          </a:p>
          <a:p>
            <a:pPr algn="l"/>
            <a:endParaRPr lang="en-US" dirty="0" smtClean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844" y="2611633"/>
            <a:ext cx="7705126" cy="409396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658" y="1312258"/>
            <a:ext cx="2495550" cy="1038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131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95536" y="107025"/>
            <a:ext cx="6983413" cy="544512"/>
          </a:xfrm>
        </p:spPr>
        <p:txBody>
          <a:bodyPr/>
          <a:lstStyle/>
          <a:p>
            <a:r>
              <a:rPr lang="en-US" dirty="0" smtClean="0"/>
              <a:t>Si Planar Beamlead PIN Diodes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77619" y="1248470"/>
            <a:ext cx="5259499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9063" indent="-119063" algn="l">
              <a:buFont typeface="Wingdings" pitchFamily="2" charset="2"/>
              <a:buChar char="§"/>
            </a:pPr>
            <a:r>
              <a:rPr lang="en-US" sz="2000" dirty="0" smtClean="0"/>
              <a:t>Rugged Silicon-Glass Construction</a:t>
            </a:r>
          </a:p>
          <a:p>
            <a:pPr marL="119063" indent="-119063" algn="l">
              <a:buFont typeface="Wingdings" pitchFamily="2" charset="2"/>
              <a:buChar char="§"/>
            </a:pPr>
            <a:r>
              <a:rPr lang="en-US" sz="2000" dirty="0" smtClean="0"/>
              <a:t>Silicon Nitride Passivation</a:t>
            </a:r>
          </a:p>
          <a:p>
            <a:pPr marL="119063" indent="-119063" algn="l">
              <a:buFont typeface="Wingdings" pitchFamily="2" charset="2"/>
              <a:buChar char="§"/>
            </a:pPr>
            <a:r>
              <a:rPr lang="en-US" sz="2000" dirty="0" smtClean="0"/>
              <a:t>Low Parasitic Capacitance and Inductance</a:t>
            </a:r>
          </a:p>
          <a:p>
            <a:pPr algn="l"/>
            <a:endParaRPr lang="en-US" sz="2000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386" y="2747025"/>
            <a:ext cx="7886834" cy="3472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767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64" name="Rectangle 16"/>
          <p:cNvSpPr>
            <a:spLocks noGrp="1"/>
          </p:cNvSpPr>
          <p:nvPr>
            <p:ph type="title" idx="4294967295"/>
          </p:nvPr>
        </p:nvSpPr>
        <p:spPr>
          <a:xfrm>
            <a:off x="119123" y="356933"/>
            <a:ext cx="6540500" cy="547688"/>
          </a:xfrm>
        </p:spPr>
        <p:txBody>
          <a:bodyPr/>
          <a:lstStyle/>
          <a:p>
            <a:r>
              <a:rPr lang="en-US" dirty="0"/>
              <a:t>Flip </a:t>
            </a:r>
            <a:r>
              <a:rPr lang="en-US" dirty="0" smtClean="0"/>
              <a:t>Chip Products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7422435"/>
              </p:ext>
            </p:extLst>
          </p:nvPr>
        </p:nvGraphicFramePr>
        <p:xfrm>
          <a:off x="549813" y="1932146"/>
          <a:ext cx="7584374" cy="1947223"/>
        </p:xfrm>
        <a:graphic>
          <a:graphicData uri="http://schemas.openxmlformats.org/drawingml/2006/table">
            <a:tbl>
              <a:tblPr firstRow="1" bandRow="1">
                <a:effectLst>
                  <a:innerShdw blurRad="63500" dist="50800" dir="2700000">
                    <a:prstClr val="black">
                      <a:alpha val="50000"/>
                    </a:prstClr>
                  </a:innerShdw>
                </a:effectLst>
                <a:tableStyleId>{5C22544A-7EE6-4342-B048-85BDC9FD1C3A}</a:tableStyleId>
              </a:tblPr>
              <a:tblGrid>
                <a:gridCol w="1249697"/>
                <a:gridCol w="1434999"/>
                <a:gridCol w="982521"/>
                <a:gridCol w="1063162"/>
                <a:gridCol w="646487"/>
                <a:gridCol w="1103754"/>
                <a:gridCol w="1103754"/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sz="1100" dirty="0" smtClean="0">
                          <a:solidFill>
                            <a:schemeClr val="bg1"/>
                          </a:solidFill>
                        </a:rPr>
                        <a:t>PIN</a:t>
                      </a:r>
                    </a:p>
                    <a:p>
                      <a:pPr algn="ctr"/>
                      <a:r>
                        <a:rPr lang="en-US" sz="1100" dirty="0" smtClean="0">
                          <a:solidFill>
                            <a:schemeClr val="bg1"/>
                          </a:solidFill>
                        </a:rPr>
                        <a:t> Diodes</a:t>
                      </a:r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>
                          <a:solidFill>
                            <a:schemeClr val="bg1"/>
                          </a:solidFill>
                        </a:rPr>
                        <a:t>Configuration</a:t>
                      </a:r>
                      <a:endParaRPr lang="en-US" sz="105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>
                          <a:solidFill>
                            <a:schemeClr val="bg1"/>
                          </a:solidFill>
                        </a:rPr>
                        <a:t>Max Frequency</a:t>
                      </a:r>
                      <a:endParaRPr lang="en-US" sz="105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>
                          <a:solidFill>
                            <a:schemeClr val="bg1"/>
                          </a:solidFill>
                        </a:rPr>
                        <a:t>Breakdown Voltage Vb</a:t>
                      </a:r>
                      <a:endParaRPr lang="en-US" sz="105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>
                          <a:solidFill>
                            <a:schemeClr val="bg1"/>
                          </a:solidFill>
                        </a:rPr>
                        <a:t>Ct Max</a:t>
                      </a:r>
                      <a:endParaRPr lang="en-US" sz="105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>
                          <a:solidFill>
                            <a:schemeClr val="bg1"/>
                          </a:solidFill>
                        </a:rPr>
                        <a:t>Rs Typical</a:t>
                      </a:r>
                      <a:endParaRPr lang="en-US" sz="105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>
                          <a:solidFill>
                            <a:schemeClr val="bg1"/>
                          </a:solidFill>
                        </a:rPr>
                        <a:t>Material</a:t>
                      </a:r>
                      <a:endParaRPr lang="en-US" sz="105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71483">
                <a:tc vMerge="1">
                  <a:txBody>
                    <a:bodyPr/>
                    <a:lstStyle/>
                    <a:p>
                      <a:pPr algn="ctr"/>
                      <a:endParaRPr lang="en-US" sz="105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>
                          <a:solidFill>
                            <a:schemeClr val="bg1"/>
                          </a:solidFill>
                        </a:rPr>
                        <a:t>(GHz)</a:t>
                      </a:r>
                      <a:endParaRPr lang="en-US" sz="105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>
                          <a:solidFill>
                            <a:schemeClr val="bg1"/>
                          </a:solidFill>
                        </a:rPr>
                        <a:t>(V)</a:t>
                      </a:r>
                      <a:endParaRPr lang="en-US" sz="105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>
                          <a:solidFill>
                            <a:schemeClr val="bg1"/>
                          </a:solidFill>
                        </a:rPr>
                        <a:t>(pf)</a:t>
                      </a:r>
                      <a:endParaRPr lang="en-US" sz="105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en-US" sz="1050" dirty="0" smtClean="0">
                          <a:solidFill>
                            <a:schemeClr val="bg1"/>
                          </a:solidFill>
                          <a:sym typeface="Symbol"/>
                        </a:rPr>
                        <a:t>)</a:t>
                      </a:r>
                      <a:endParaRPr lang="en-US" sz="105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</a:tr>
              <a:tr h="258420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MA4GP907</a:t>
                      </a:r>
                      <a:endParaRPr lang="en-US" sz="1050" dirty="0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Single</a:t>
                      </a:r>
                      <a:endParaRPr lang="en-US" sz="105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40</a:t>
                      </a:r>
                      <a:endParaRPr lang="en-US" sz="105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45</a:t>
                      </a:r>
                      <a:endParaRPr lang="en-US" sz="105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0.025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4.2</a:t>
                      </a:r>
                      <a:endParaRPr lang="en-US" sz="1050" dirty="0"/>
                    </a:p>
                  </a:txBody>
                  <a:tcPr anchor="ctr"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GaAs</a:t>
                      </a:r>
                      <a:endParaRPr lang="en-US" sz="1050" dirty="0"/>
                    </a:p>
                  </a:txBody>
                  <a:tcPr anchor="ctr">
                    <a:lnL w="12700" cmpd="sng">
                      <a:noFill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33482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MA4AGP907</a:t>
                      </a:r>
                      <a:endParaRPr lang="en-US" sz="1050" dirty="0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Single</a:t>
                      </a:r>
                      <a:endParaRPr lang="en-US" sz="105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50</a:t>
                      </a:r>
                      <a:endParaRPr lang="en-US" sz="105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50</a:t>
                      </a:r>
                      <a:endParaRPr lang="en-US" sz="105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0.020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4.2</a:t>
                      </a:r>
                      <a:endParaRPr lang="en-US" sz="1050" dirty="0"/>
                    </a:p>
                  </a:txBody>
                  <a:tcPr anchor="ctr"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AlGaAs</a:t>
                      </a:r>
                      <a:endParaRPr lang="en-US" sz="1050" dirty="0"/>
                    </a:p>
                  </a:txBody>
                  <a:tcPr anchor="ctr">
                    <a:lnL w="12700" cmpd="sng">
                      <a:noFill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32294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MA4FCP200</a:t>
                      </a:r>
                      <a:endParaRPr lang="en-US" sz="1050" dirty="0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Single</a:t>
                      </a:r>
                      <a:endParaRPr lang="en-US" sz="105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40</a:t>
                      </a:r>
                      <a:endParaRPr lang="en-US" sz="105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50</a:t>
                      </a:r>
                      <a:endParaRPr lang="en-US" sz="105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0.015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2.8</a:t>
                      </a:r>
                      <a:endParaRPr lang="en-US" sz="1050" dirty="0"/>
                    </a:p>
                  </a:txBody>
                  <a:tcPr anchor="ctr"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HMIC </a:t>
                      </a:r>
                      <a:endParaRPr lang="en-US" sz="1050" dirty="0"/>
                    </a:p>
                  </a:txBody>
                  <a:tcPr anchor="ctr">
                    <a:lnL w="12700" cmpd="sng">
                      <a:noFill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07356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MA4FCP300</a:t>
                      </a:r>
                      <a:endParaRPr lang="en-US" sz="1050" dirty="0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Single</a:t>
                      </a:r>
                      <a:endParaRPr lang="en-US" sz="105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30</a:t>
                      </a:r>
                      <a:endParaRPr lang="en-US" sz="105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70</a:t>
                      </a:r>
                      <a:endParaRPr lang="en-US" sz="105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0.025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2.6</a:t>
                      </a:r>
                      <a:endParaRPr lang="en-US" sz="1050" dirty="0"/>
                    </a:p>
                  </a:txBody>
                  <a:tcPr anchor="ctr"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HMIC</a:t>
                      </a:r>
                      <a:endParaRPr lang="en-US" sz="1050" dirty="0"/>
                    </a:p>
                  </a:txBody>
                  <a:tcPr anchor="ctr">
                    <a:lnL w="12700" cmpd="sng">
                      <a:noFill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94293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MA4FCP305</a:t>
                      </a:r>
                      <a:endParaRPr lang="en-US" sz="1050" dirty="0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Single</a:t>
                      </a:r>
                      <a:endParaRPr lang="en-US" sz="105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18</a:t>
                      </a:r>
                      <a:endParaRPr lang="en-US" sz="105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40</a:t>
                      </a:r>
                      <a:endParaRPr lang="en-US" sz="105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0.050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2.1</a:t>
                      </a:r>
                      <a:endParaRPr lang="en-US" sz="1050" dirty="0"/>
                    </a:p>
                  </a:txBody>
                  <a:tcPr anchor="ctr"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HMIC</a:t>
                      </a:r>
                      <a:endParaRPr lang="en-US" sz="1050" dirty="0"/>
                    </a:p>
                  </a:txBody>
                  <a:tcPr anchor="ctr">
                    <a:lnL w="12700" cmpd="sng">
                      <a:noFill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8244976"/>
              </p:ext>
            </p:extLst>
          </p:nvPr>
        </p:nvGraphicFramePr>
        <p:xfrm>
          <a:off x="549813" y="4064742"/>
          <a:ext cx="7635837" cy="1173677"/>
        </p:xfrm>
        <a:graphic>
          <a:graphicData uri="http://schemas.openxmlformats.org/drawingml/2006/table">
            <a:tbl>
              <a:tblPr firstRow="1" bandRow="1">
                <a:effectLst>
                  <a:innerShdw blurRad="63500" dist="50800" dir="2700000">
                    <a:prstClr val="black">
                      <a:alpha val="50000"/>
                    </a:prstClr>
                  </a:innerShdw>
                </a:effectLst>
                <a:tableStyleId>{5C22544A-7EE6-4342-B048-85BDC9FD1C3A}</a:tableStyleId>
              </a:tblPr>
              <a:tblGrid>
                <a:gridCol w="1034296"/>
                <a:gridCol w="1602029"/>
                <a:gridCol w="1080654"/>
                <a:gridCol w="1021279"/>
                <a:gridCol w="926275"/>
                <a:gridCol w="860059"/>
                <a:gridCol w="1111245"/>
              </a:tblGrid>
              <a:tr h="359823">
                <a:tc rowSpan="2">
                  <a:txBody>
                    <a:bodyPr/>
                    <a:lstStyle/>
                    <a:p>
                      <a:pPr algn="ctr"/>
                      <a:r>
                        <a:rPr lang="en-US" sz="1100" dirty="0" smtClean="0">
                          <a:solidFill>
                            <a:schemeClr val="bg1"/>
                          </a:solidFill>
                        </a:rPr>
                        <a:t>Varactor</a:t>
                      </a:r>
                      <a:r>
                        <a:rPr lang="en-US" sz="1100" baseline="0" dirty="0" smtClean="0">
                          <a:solidFill>
                            <a:schemeClr val="bg1"/>
                          </a:solidFill>
                        </a:rPr>
                        <a:t> Diodes</a:t>
                      </a:r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>
                          <a:solidFill>
                            <a:schemeClr val="bg1"/>
                          </a:solidFill>
                        </a:rPr>
                        <a:t>Configuration</a:t>
                      </a:r>
                      <a:endParaRPr lang="en-US" sz="105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>
                          <a:solidFill>
                            <a:schemeClr val="bg1"/>
                          </a:solidFill>
                        </a:rPr>
                        <a:t>Max Frequency</a:t>
                      </a:r>
                      <a:endParaRPr lang="en-US" sz="105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>
                          <a:solidFill>
                            <a:schemeClr val="bg1"/>
                          </a:solidFill>
                        </a:rPr>
                        <a:t>Breakdown Voltage Vb</a:t>
                      </a:r>
                      <a:endParaRPr lang="en-US" sz="105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>
                          <a:solidFill>
                            <a:schemeClr val="bg1"/>
                          </a:solidFill>
                        </a:rPr>
                        <a:t>Ct 4V</a:t>
                      </a:r>
                      <a:endParaRPr lang="en-US" sz="105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>
                          <a:solidFill>
                            <a:schemeClr val="bg1"/>
                          </a:solidFill>
                        </a:rPr>
                        <a:t>Gamma</a:t>
                      </a:r>
                      <a:endParaRPr lang="en-US" sz="105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 smtClean="0">
                          <a:solidFill>
                            <a:schemeClr val="bg1"/>
                          </a:solidFill>
                        </a:rPr>
                        <a:t>Material</a:t>
                      </a:r>
                      <a:endParaRPr lang="en-US" sz="105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87630">
                <a:tc vMerge="1">
                  <a:txBody>
                    <a:bodyPr/>
                    <a:lstStyle/>
                    <a:p>
                      <a:pPr algn="ctr"/>
                      <a:endParaRPr lang="en-US" sz="105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>
                          <a:solidFill>
                            <a:schemeClr val="bg1"/>
                          </a:solidFill>
                        </a:rPr>
                        <a:t>(GHz)</a:t>
                      </a:r>
                      <a:endParaRPr lang="en-US" sz="105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>
                          <a:solidFill>
                            <a:schemeClr val="bg1"/>
                          </a:solidFill>
                        </a:rPr>
                        <a:t>(V)</a:t>
                      </a:r>
                      <a:endParaRPr lang="en-US" sz="105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>
                          <a:solidFill>
                            <a:schemeClr val="bg1"/>
                          </a:solidFill>
                        </a:rPr>
                        <a:t>(pf)</a:t>
                      </a:r>
                      <a:endParaRPr lang="en-US" sz="105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</a:tr>
              <a:tr h="259277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MA46H146</a:t>
                      </a:r>
                      <a:endParaRPr lang="en-US" sz="1050" dirty="0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Single</a:t>
                      </a:r>
                      <a:endParaRPr lang="en-US" sz="105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60</a:t>
                      </a:r>
                      <a:endParaRPr lang="en-US" sz="105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26</a:t>
                      </a:r>
                      <a:endParaRPr lang="en-US" sz="105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0.033-0.06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1</a:t>
                      </a:r>
                      <a:endParaRPr lang="en-US" sz="1050" dirty="0"/>
                    </a:p>
                  </a:txBody>
                  <a:tcPr anchor="ctr"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GaAs</a:t>
                      </a:r>
                      <a:endParaRPr lang="en-US" sz="1050" dirty="0"/>
                    </a:p>
                  </a:txBody>
                  <a:tcPr anchor="ctr">
                    <a:lnL w="12700" cmpd="sng">
                      <a:noFill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33482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MA46H120</a:t>
                      </a:r>
                      <a:endParaRPr lang="en-US" sz="1050" dirty="0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Single</a:t>
                      </a:r>
                      <a:endParaRPr lang="en-US" sz="105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60</a:t>
                      </a:r>
                      <a:endParaRPr lang="en-US" sz="105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15</a:t>
                      </a:r>
                      <a:endParaRPr lang="en-US" sz="105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0.20-0.40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0.5</a:t>
                      </a:r>
                      <a:endParaRPr lang="en-US" sz="1050" dirty="0"/>
                    </a:p>
                  </a:txBody>
                  <a:tcPr anchor="ctr">
                    <a:lnL w="12700" cmpd="sng">
                      <a:noFill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GaAs</a:t>
                      </a:r>
                      <a:endParaRPr lang="en-US" sz="1050" dirty="0"/>
                    </a:p>
                  </a:txBody>
                  <a:tcPr anchor="ctr">
                    <a:lnL w="12700" cmpd="sng">
                      <a:noFill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30544" y="1371998"/>
            <a:ext cx="34259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Low Capacitance Devices</a:t>
            </a:r>
          </a:p>
        </p:txBody>
      </p:sp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27392" y="5388990"/>
            <a:ext cx="2147852" cy="1173148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98528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30888"/>
            <a:ext cx="7719392" cy="533400"/>
          </a:xfrm>
        </p:spPr>
        <p:txBody>
          <a:bodyPr>
            <a:normAutofit fontScale="90000"/>
          </a:bodyPr>
          <a:lstStyle/>
          <a:p>
            <a:r>
              <a:rPr lang="en-US" sz="2200" dirty="0" smtClean="0"/>
              <a:t>HMIC and AlGaAs MMIC Performance Comparison </a:t>
            </a:r>
            <a:r>
              <a:rPr lang="en-US" dirty="0"/>
              <a:t>		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2147828"/>
              </p:ext>
            </p:extLst>
          </p:nvPr>
        </p:nvGraphicFramePr>
        <p:xfrm>
          <a:off x="104775" y="1019173"/>
          <a:ext cx="8963024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4750"/>
                <a:gridCol w="2752725"/>
                <a:gridCol w="2495549"/>
              </a:tblGrid>
              <a:tr h="351009">
                <a:tc>
                  <a:txBody>
                    <a:bodyPr/>
                    <a:lstStyle/>
                    <a:p>
                      <a:r>
                        <a:rPr lang="en-US" dirty="0" smtClean="0"/>
                        <a:t>Parameter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HMIC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AlGaAs</a:t>
                      </a:r>
                      <a:endParaRPr lang="en-US" dirty="0"/>
                    </a:p>
                  </a:txBody>
                  <a:tcPr/>
                </a:tc>
              </a:tr>
              <a:tr h="614265">
                <a:tc>
                  <a:txBody>
                    <a:bodyPr/>
                    <a:lstStyle/>
                    <a:p>
                      <a:r>
                        <a:rPr lang="en-US" dirty="0" smtClean="0"/>
                        <a:t>Products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Switches, Attenuators, Limiters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Switches</a:t>
                      </a:r>
                      <a:endParaRPr lang="en-US" dirty="0"/>
                    </a:p>
                  </a:txBody>
                  <a:tcPr/>
                </a:tc>
              </a:tr>
              <a:tr h="351009">
                <a:tc>
                  <a:txBody>
                    <a:bodyPr/>
                    <a:lstStyle/>
                    <a:p>
                      <a:r>
                        <a:rPr lang="en-US" dirty="0" smtClean="0"/>
                        <a:t>Medium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Silicon and Glass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Semi-Insulating</a:t>
                      </a:r>
                      <a:r>
                        <a:rPr lang="en-US" baseline="0" dirty="0" smtClean="0"/>
                        <a:t> GaAs</a:t>
                      </a:r>
                      <a:endParaRPr lang="en-US" dirty="0"/>
                    </a:p>
                  </a:txBody>
                  <a:tcPr/>
                </a:tc>
              </a:tr>
              <a:tr h="351009">
                <a:tc>
                  <a:txBody>
                    <a:bodyPr/>
                    <a:lstStyle/>
                    <a:p>
                      <a:r>
                        <a:rPr lang="en-US" dirty="0" smtClean="0"/>
                        <a:t>Die Thickness (um)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125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100</a:t>
                      </a:r>
                      <a:endParaRPr lang="en-US" dirty="0"/>
                    </a:p>
                  </a:txBody>
                  <a:tcPr/>
                </a:tc>
              </a:tr>
              <a:tr h="351009">
                <a:tc>
                  <a:txBody>
                    <a:bodyPr/>
                    <a:lstStyle/>
                    <a:p>
                      <a:r>
                        <a:rPr lang="en-US" dirty="0" smtClean="0"/>
                        <a:t>Intrinsic Length (um)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 to 100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</a:tr>
              <a:tr h="351009">
                <a:tc>
                  <a:txBody>
                    <a:bodyPr/>
                    <a:lstStyle/>
                    <a:p>
                      <a:r>
                        <a:rPr lang="en-US" dirty="0" smtClean="0"/>
                        <a:t>I/O</a:t>
                      </a:r>
                      <a:r>
                        <a:rPr lang="en-US" baseline="0" dirty="0" smtClean="0"/>
                        <a:t> Connections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Wire Bondable and SMT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Wire Bondable Only</a:t>
                      </a:r>
                      <a:endParaRPr lang="en-US" dirty="0"/>
                    </a:p>
                  </a:txBody>
                  <a:tcPr/>
                </a:tc>
              </a:tr>
              <a:tr h="351009">
                <a:tc>
                  <a:txBody>
                    <a:bodyPr/>
                    <a:lstStyle/>
                    <a:p>
                      <a:r>
                        <a:rPr lang="en-US" dirty="0" smtClean="0"/>
                        <a:t>Passive R,L,C Integration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Yes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Yes</a:t>
                      </a:r>
                      <a:endParaRPr lang="en-US" dirty="0"/>
                    </a:p>
                  </a:txBody>
                  <a:tcPr/>
                </a:tc>
              </a:tr>
              <a:tr h="351009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Breakdown Voltage (V)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50 to 200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70</a:t>
                      </a:r>
                      <a:endParaRPr lang="en-US" dirty="0"/>
                    </a:p>
                  </a:txBody>
                  <a:tcPr/>
                </a:tc>
              </a:tr>
              <a:tr h="351009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F </a:t>
                      </a:r>
                      <a:r>
                        <a:rPr lang="en-US" baseline="0" dirty="0" smtClean="0"/>
                        <a:t>(GHz)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0.050 - 30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0.050 - 70</a:t>
                      </a:r>
                      <a:endParaRPr lang="en-US" dirty="0"/>
                    </a:p>
                  </a:txBody>
                  <a:tcPr/>
                </a:tc>
              </a:tr>
              <a:tr h="351009">
                <a:tc>
                  <a:txBody>
                    <a:bodyPr/>
                    <a:lstStyle/>
                    <a:p>
                      <a:r>
                        <a:rPr lang="en-US" dirty="0" smtClean="0"/>
                        <a:t>Insertion Loss at 10 GHz (SP4T)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0.45</a:t>
                      </a:r>
                      <a:endParaRPr lang="en-US" dirty="0"/>
                    </a:p>
                  </a:txBody>
                  <a:tcPr/>
                </a:tc>
              </a:tr>
              <a:tr h="351009">
                <a:tc>
                  <a:txBody>
                    <a:bodyPr/>
                    <a:lstStyle/>
                    <a:p>
                      <a:r>
                        <a:rPr lang="en-US" dirty="0" smtClean="0"/>
                        <a:t>Switching Speed (ns)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15</a:t>
                      </a:r>
                      <a:endParaRPr lang="en-US" dirty="0"/>
                    </a:p>
                  </a:txBody>
                  <a:tcPr/>
                </a:tc>
              </a:tr>
              <a:tr h="351009">
                <a:tc>
                  <a:txBody>
                    <a:bodyPr/>
                    <a:lstStyle/>
                    <a:p>
                      <a:r>
                        <a:rPr lang="en-US" dirty="0" smtClean="0"/>
                        <a:t>IIP3 (dBm)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25</a:t>
                      </a:r>
                      <a:endParaRPr lang="en-US" dirty="0"/>
                    </a:p>
                  </a:txBody>
                  <a:tcPr/>
                </a:tc>
              </a:tr>
              <a:tr h="515743">
                <a:tc>
                  <a:txBody>
                    <a:bodyPr/>
                    <a:lstStyle/>
                    <a:p>
                      <a:r>
                        <a:rPr lang="en-US" dirty="0" smtClean="0"/>
                        <a:t>CW Power Handling, @ 2 GHz (dBm)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+38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+28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5485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757" name="Rectangle 109"/>
          <p:cNvSpPr>
            <a:spLocks noGrp="1"/>
          </p:cNvSpPr>
          <p:nvPr>
            <p:ph type="title" idx="4294967295"/>
          </p:nvPr>
        </p:nvSpPr>
        <p:spPr>
          <a:xfrm>
            <a:off x="95535" y="326977"/>
            <a:ext cx="7368751" cy="457200"/>
          </a:xfrm>
        </p:spPr>
        <p:txBody>
          <a:bodyPr>
            <a:noAutofit/>
          </a:bodyPr>
          <a:lstStyle/>
          <a:p>
            <a:r>
              <a:rPr lang="en-US" sz="2000" dirty="0" smtClean="0"/>
              <a:t>HMIC</a:t>
            </a:r>
            <a:r>
              <a:rPr lang="en-US" sz="2000" baseline="42000" dirty="0"/>
              <a:t>TM</a:t>
            </a:r>
            <a:r>
              <a:rPr lang="en-US" sz="2000" dirty="0" smtClean="0"/>
              <a:t> SP2T  6-14 GHz  (Terminated SPDT)</a:t>
            </a:r>
            <a:br>
              <a:rPr lang="en-US" sz="2000" dirty="0" smtClean="0"/>
            </a:br>
            <a:r>
              <a:rPr lang="en-US" sz="2000" dirty="0" smtClean="0"/>
              <a:t>MASW-010647</a:t>
            </a:r>
            <a:endParaRPr lang="en-US" sz="2000" dirty="0"/>
          </a:p>
        </p:txBody>
      </p:sp>
      <p:sp>
        <p:nvSpPr>
          <p:cNvPr id="2" name="Rectangle 1"/>
          <p:cNvSpPr/>
          <p:nvPr/>
        </p:nvSpPr>
        <p:spPr>
          <a:xfrm>
            <a:off x="248853" y="1157973"/>
            <a:ext cx="4873053" cy="23975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Arial" panose="020B0604020202020204" pitchFamily="34" charset="0"/>
              </a:rPr>
              <a:t>X-Band Terminated SPDT switch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Arial" panose="020B0604020202020204" pitchFamily="34" charset="0"/>
              </a:rPr>
              <a:t>Wire-Bondable Bare Die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Arial" panose="020B0604020202020204" pitchFamily="34" charset="0"/>
              </a:rPr>
              <a:t>Low </a:t>
            </a:r>
            <a:r>
              <a:rPr lang="en-US" sz="1400" dirty="0">
                <a:latin typeface="Arial" panose="020B0604020202020204" pitchFamily="34" charset="0"/>
              </a:rPr>
              <a:t>Insertion </a:t>
            </a:r>
            <a:r>
              <a:rPr lang="en-US" sz="1400" dirty="0" smtClean="0">
                <a:latin typeface="Arial" panose="020B0604020202020204" pitchFamily="34" charset="0"/>
              </a:rPr>
              <a:t>Loss/ High </a:t>
            </a:r>
            <a:r>
              <a:rPr lang="en-US" sz="1400" dirty="0">
                <a:latin typeface="Arial" panose="020B0604020202020204" pitchFamily="34" charset="0"/>
              </a:rPr>
              <a:t>Isolation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All Shunt Design; Integrated Bias Network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Arial" panose="020B0604020202020204" pitchFamily="34" charset="0"/>
              </a:rPr>
              <a:t>Glass </a:t>
            </a:r>
            <a:r>
              <a:rPr lang="en-US" sz="1400" dirty="0">
                <a:latin typeface="Arial" panose="020B0604020202020204" pitchFamily="34" charset="0"/>
              </a:rPr>
              <a:t>Encapsulated Construction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Arial" panose="020B0604020202020204" pitchFamily="34" charset="0"/>
              </a:rPr>
              <a:t>Greater </a:t>
            </a:r>
            <a:r>
              <a:rPr lang="en-US" sz="1400" dirty="0">
                <a:latin typeface="Arial" panose="020B0604020202020204" pitchFamily="34" charset="0"/>
              </a:rPr>
              <a:t>than 20 W CW Power Handling @ </a:t>
            </a:r>
            <a:r>
              <a:rPr lang="en-US" sz="1400" dirty="0" smtClean="0">
                <a:latin typeface="Arial" panose="020B0604020202020204" pitchFamily="34" charset="0"/>
              </a:rPr>
              <a:t>85 °</a:t>
            </a:r>
            <a:r>
              <a:rPr lang="en-US" sz="1400" dirty="0">
                <a:latin typeface="Arial" panose="020B0604020202020204" pitchFamily="34" charset="0"/>
              </a:rPr>
              <a:t>C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Arial" panose="020B0604020202020204" pitchFamily="34" charset="0"/>
              </a:rPr>
              <a:t>Silicon </a:t>
            </a:r>
            <a:r>
              <a:rPr lang="en-US" sz="1400" dirty="0">
                <a:latin typeface="Arial" panose="020B0604020202020204" pitchFamily="34" charset="0"/>
              </a:rPr>
              <a:t>Nitride </a:t>
            </a:r>
            <a:r>
              <a:rPr lang="en-US" sz="1400" dirty="0" smtClean="0">
                <a:latin typeface="Arial" panose="020B0604020202020204" pitchFamily="34" charset="0"/>
              </a:rPr>
              <a:t>Passivation/Polymer </a:t>
            </a:r>
            <a:r>
              <a:rPr lang="en-US" sz="1400" dirty="0">
                <a:latin typeface="Arial" panose="020B0604020202020204" pitchFamily="34" charset="0"/>
              </a:rPr>
              <a:t>Scratch Protection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Arial" panose="020B0604020202020204" pitchFamily="34" charset="0"/>
              </a:rPr>
              <a:t>RoHS </a:t>
            </a:r>
            <a:r>
              <a:rPr lang="en-US" sz="1400" dirty="0">
                <a:latin typeface="Arial" panose="020B0604020202020204" pitchFamily="34" charset="0"/>
              </a:rPr>
              <a:t>Compliant</a:t>
            </a:r>
            <a:endParaRPr lang="en-US" sz="1400" dirty="0"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5894" y="1192045"/>
            <a:ext cx="3857854" cy="156753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591" y="3505410"/>
            <a:ext cx="5085285" cy="305564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9468" y="2635578"/>
            <a:ext cx="2382987" cy="191334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69468" y="4548925"/>
            <a:ext cx="2416974" cy="2012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620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757" name="Rectangle 109"/>
          <p:cNvSpPr>
            <a:spLocks noGrp="1"/>
          </p:cNvSpPr>
          <p:nvPr>
            <p:ph type="title" idx="4294967295"/>
          </p:nvPr>
        </p:nvSpPr>
        <p:spPr>
          <a:xfrm>
            <a:off x="95536" y="217649"/>
            <a:ext cx="6489568" cy="457200"/>
          </a:xfrm>
        </p:spPr>
        <p:txBody>
          <a:bodyPr>
            <a:noAutofit/>
          </a:bodyPr>
          <a:lstStyle/>
          <a:p>
            <a:r>
              <a:rPr lang="en-US" sz="2400" dirty="0" smtClean="0"/>
              <a:t>HMIC™ Si PIN SP2T  6-14 GHz  </a:t>
            </a:r>
            <a:br>
              <a:rPr lang="en-US" sz="2400" dirty="0" smtClean="0"/>
            </a:br>
            <a:r>
              <a:rPr lang="en-US" sz="2400" dirty="0" smtClean="0"/>
              <a:t>MASW-011021</a:t>
            </a:r>
            <a:endParaRPr lang="en-US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124427" y="1090881"/>
            <a:ext cx="5851870" cy="269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Specified </a:t>
            </a:r>
            <a:r>
              <a:rPr lang="en-US" sz="1400" dirty="0"/>
              <a:t>from 8 GHz to 12 GHz </a:t>
            </a:r>
            <a:r>
              <a:rPr lang="en-US" sz="1400" dirty="0" smtClean="0"/>
              <a:t>; Usable 6-14 GHz</a:t>
            </a:r>
            <a:endParaRPr lang="en-US" sz="14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Low </a:t>
            </a:r>
            <a:r>
              <a:rPr lang="en-US" sz="1400" dirty="0"/>
              <a:t>Insertion Loss </a:t>
            </a:r>
            <a:r>
              <a:rPr lang="en-US" sz="1400" dirty="0" smtClean="0"/>
              <a:t>/ High </a:t>
            </a:r>
            <a:r>
              <a:rPr lang="en-US" sz="1400" dirty="0"/>
              <a:t>Isolation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All Shunt Design; Integrated Bias Network</a:t>
            </a:r>
            <a:endParaRPr lang="en-US" sz="14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Surface </a:t>
            </a:r>
            <a:r>
              <a:rPr lang="en-US" sz="1400" dirty="0"/>
              <a:t>Mountable, Fully Monolithic Die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Glass </a:t>
            </a:r>
            <a:r>
              <a:rPr lang="en-US" sz="1400" dirty="0"/>
              <a:t>Encapsulated Construction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20 </a:t>
            </a:r>
            <a:r>
              <a:rPr lang="en-US" sz="1400" dirty="0"/>
              <a:t>W Pulsed Power Handling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Silicon </a:t>
            </a:r>
            <a:r>
              <a:rPr lang="en-US" sz="1400" dirty="0"/>
              <a:t>Nitride Passivation </a:t>
            </a:r>
            <a:r>
              <a:rPr lang="en-US" sz="1400" dirty="0" smtClean="0"/>
              <a:t>/ Polymer </a:t>
            </a:r>
            <a:r>
              <a:rPr lang="en-US" sz="1400" dirty="0"/>
              <a:t>Scratch Protection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RoHS </a:t>
            </a:r>
            <a:r>
              <a:rPr lang="en-US" sz="1400" dirty="0"/>
              <a:t>Compliant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400" dirty="0" smtClean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129" y="1283072"/>
            <a:ext cx="2086145" cy="1144015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9504" y="2588045"/>
            <a:ext cx="2516956" cy="2031918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0778" y="4686965"/>
            <a:ext cx="2394408" cy="1910564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8854" y="3464647"/>
            <a:ext cx="5548630" cy="3060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543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10"/>
  <p:tag name="ISPRING_RESOURCE_PATHS_HASH_2" val="754e257bf4e67b6eda8b5226aec68fcba58438"/>
  <p:tag name="MMPROD_UIDATA" val="&lt;database version=&quot;11.0&quot;&gt;&lt;object type=&quot;1&quot; unique_id=&quot;10001&quot;&gt;&lt;object type=&quot;8&quot; unique_id=&quot;10222&quot;&gt;&lt;/object&gt;&lt;object type=&quot;2&quot; unique_id=&quot;10223&quot;&gt;&lt;object type=&quot;3&quot; unique_id=&quot;33884&quot;&gt;&lt;property id=&quot;20148&quot; value=&quot;5&quot;/&gt;&lt;property id=&quot;20300&quot; value=&quot;Slide 1 - &amp;quot;Click to Edit MACOM Title Slide  Arial Black 24pt&amp;quot;&quot;/&gt;&lt;property id=&quot;20307&quot; value=&quot;484&quot;/&gt;&lt;/object&gt;&lt;object type=&quot;3&quot; unique_id=&quot;33885&quot;&gt;&lt;property id=&quot;20148&quot; value=&quot;5&quot;/&gt;&lt;property id=&quot;20300&quot; value=&quot;Slide 2 - &amp;quot;Layout: Section Divider&amp;quot;&quot;/&gt;&lt;property id=&quot;20307&quot; value=&quot;503&quot;/&gt;&lt;/object&gt;&lt;object type=&quot;3&quot; unique_id=&quot;33886&quot;&gt;&lt;property id=&quot;20148&quot; value=&quot;5&quot;/&gt;&lt;property id=&quot;20300&quot; value=&quot;Slide 3 - &amp;quot;Title and Content, Arial Black 24pt&amp;quot;&quot;/&gt;&lt;property id=&quot;20307&quot; value=&quot;489&quot;/&gt;&lt;/object&gt;&lt;object type=&quot;3&quot; unique_id=&quot;33887&quot;&gt;&lt;property id=&quot;20148&quot; value=&quot;5&quot;/&gt;&lt;property id=&quot;20300&quot; value=&quot;Slide 4 - &amp;quot;Title and Content with Subhead&amp;quot;&quot;/&gt;&lt;property id=&quot;20307&quot; value=&quot;504&quot;/&gt;&lt;/object&gt;&lt;object type=&quot;3&quot; unique_id=&quot;33888&quot;&gt;&lt;property id=&quot;20148&quot; value=&quot;5&quot;/&gt;&lt;property id=&quot;20300&quot; value=&quot;Slide 5 - &amp;quot;Layout: Two Content, No subhead&amp;quot;&quot;/&gt;&lt;property id=&quot;20307&quot; value=&quot;490&quot;/&gt;&lt;/object&gt;&lt;object type=&quot;3&quot; unique_id=&quot;33889&quot;&gt;&lt;property id=&quot;20148&quot; value=&quot;5&quot;/&gt;&lt;property id=&quot;20300&quot; value=&quot;Slide 6 - &amp;quot;Layout: Two Content, with Subhead&amp;quot;&quot;/&gt;&lt;property id=&quot;20307&quot; value=&quot;505&quot;/&gt;&lt;/object&gt;&lt;object type=&quot;3&quot; unique_id=&quot;33890&quot;&gt;&lt;property id=&quot;20148&quot; value=&quot;5&quot;/&gt;&lt;property id=&quot;20300&quot; value=&quot;Slide 7 - &amp;quot;Layout: Comparison&amp;quot;&quot;/&gt;&lt;property id=&quot;20307&quot; value=&quot;506&quot;/&gt;&lt;/object&gt;&lt;object type=&quot;3&quot; unique_id=&quot;33891&quot;&gt;&lt;property id=&quot;20148&quot; value=&quot;5&quot;/&gt;&lt;property id=&quot;20300&quot; value=&quot;Slide 8 - &amp;quot;Color Scheme&amp;quot;&quot;/&gt;&lt;property id=&quot;20307&quot; value=&quot;491&quot;/&gt;&lt;/object&gt;&lt;object type=&quot;3&quot; unique_id=&quot;33892&quot;&gt;&lt;property id=&quot;20148&quot; value=&quot;5&quot;/&gt;&lt;property id=&quot;20300&quot; value=&quot;Slide 9 - &amp;quot;Default Settings&amp;quot;&quot;/&gt;&lt;property id=&quot;20307&quot; value=&quot;493&quot;/&gt;&lt;/object&gt;&lt;object type=&quot;3&quot; unique_id=&quot;33893&quot;&gt;&lt;property id=&quot;20148&quot; value=&quot;5&quot;/&gt;&lt;property id=&quot;20300&quot; value=&quot;Slide 10 - &amp;quot;Default Table Style&amp;quot;&quot;/&gt;&lt;property id=&quot;20307&quot; value=&quot;494&quot;/&gt;&lt;/object&gt;&lt;object type=&quot;3&quot; unique_id=&quot;33894&quot;&gt;&lt;property id=&quot;20148&quot; value=&quot;5&quot;/&gt;&lt;property id=&quot;20300&quot; value=&quot;Slide 11 - &amp;quot;Column Chart Sample&amp;quot;&quot;/&gt;&lt;property id=&quot;20307&quot; value=&quot;496&quot;/&gt;&lt;/object&gt;&lt;object type=&quot;3&quot; unique_id=&quot;33895&quot;&gt;&lt;property id=&quot;20148&quot; value=&quot;5&quot;/&gt;&lt;property id=&quot;20300&quot; value=&quot;Slide 12 - &amp;quot;Two Content  Column Chart Sample&amp;quot;&quot;/&gt;&lt;property id=&quot;20307&quot; value=&quot;495&quot;/&gt;&lt;/object&gt;&lt;object type=&quot;3&quot; unique_id=&quot;33896&quot;&gt;&lt;property id=&quot;20148&quot; value=&quot;5&quot;/&gt;&lt;property id=&quot;20300&quot; value=&quot;Slide 13 - &amp;quot;Line Chart Sample&amp;quot;&quot;/&gt;&lt;property id=&quot;20307&quot; value=&quot;501&quot;/&gt;&lt;/object&gt;&lt;object type=&quot;3&quot; unique_id=&quot;33897&quot;&gt;&lt;property id=&quot;20148&quot; value=&quot;5&quot;/&gt;&lt;property id=&quot;20300&quot; value=&quot;Slide 14 - &amp;quot;Two Content  Line Chart Sample&amp;quot;&quot;/&gt;&lt;property id=&quot;20307&quot; value=&quot;502&quot;/&gt;&lt;/object&gt;&lt;object type=&quot;3&quot; unique_id=&quot;33898&quot;&gt;&lt;property id=&quot;20148&quot; value=&quot;5&quot;/&gt;&lt;property id=&quot;20300&quot; value=&quot;Slide 15 - &amp;quot;Pie Chart Sample &amp;quot;&quot;/&gt;&lt;property id=&quot;20307&quot; value=&quot;499&quot;/&gt;&lt;/object&gt;&lt;object type=&quot;3&quot; unique_id=&quot;33899&quot;&gt;&lt;property id=&quot;20148&quot; value=&quot;5&quot;/&gt;&lt;property id=&quot;20300&quot; value=&quot;Slide 16 - &amp;quot;Two Content  Pie Chart Sample &amp;quot;&quot;/&gt;&lt;property id=&quot;20307&quot; value=&quot;500&quot;/&gt;&lt;/object&gt;&lt;/object&gt;&lt;/object&gt;&lt;/database&gt;"/>
  <p:tag name="SECTOMILLISECCONVERTED" val="1"/>
</p:tagLst>
</file>

<file path=ppt/theme/theme1.xml><?xml version="1.0" encoding="utf-8"?>
<a:theme xmlns:a="http://schemas.openxmlformats.org/drawingml/2006/main" name="PPT-2010-Template_LightDark">
  <a:themeElements>
    <a:clrScheme name="MACOM">
      <a:dk1>
        <a:sysClr val="windowText" lastClr="000000"/>
      </a:dk1>
      <a:lt1>
        <a:sysClr val="window" lastClr="FFFFFF"/>
      </a:lt1>
      <a:dk2>
        <a:srgbClr val="00243E"/>
      </a:dk2>
      <a:lt2>
        <a:srgbClr val="FFFFFF"/>
      </a:lt2>
      <a:accent1>
        <a:srgbClr val="005A84"/>
      </a:accent1>
      <a:accent2>
        <a:srgbClr val="0083C2"/>
      </a:accent2>
      <a:accent3>
        <a:srgbClr val="00A5B6"/>
      </a:accent3>
      <a:accent4>
        <a:srgbClr val="6C953C"/>
      </a:accent4>
      <a:accent5>
        <a:srgbClr val="8DC73F"/>
      </a:accent5>
      <a:accent6>
        <a:srgbClr val="DADA56"/>
      </a:accent6>
      <a:hlink>
        <a:srgbClr val="0083C2"/>
      </a:hlink>
      <a:folHlink>
        <a:srgbClr val="77B800"/>
      </a:folHlink>
    </a:clrScheme>
    <a:fontScheme name="MACOM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2"/>
        </a:solidFill>
        <a:ln w="12700" cap="sq" algn="ctr">
          <a:noFill/>
          <a:miter lim="800000"/>
          <a:headEnd/>
          <a:tailEnd/>
        </a:ln>
        <a:effectLst/>
      </a:spPr>
      <a:bodyPr wrap="square" lIns="0" rIns="0" rtlCol="0" anchor="ctr"/>
      <a:lstStyle>
        <a:defPPr algn="ctr">
          <a:spcBef>
            <a:spcPts val="600"/>
          </a:spcBef>
          <a:defRPr dirty="0" smtClean="0">
            <a:solidFill>
              <a:schemeClr val="bg1"/>
            </a:solidFill>
            <a:latin typeface="+mn-lt"/>
          </a:defRPr>
        </a:defPPr>
      </a:lstStyle>
    </a:spDef>
    <a:lnDef>
      <a:spPr bwMode="auto">
        <a:solidFill>
          <a:schemeClr val="accent2"/>
        </a:solidFill>
        <a:ln w="19050" cap="sq" cmpd="sng" algn="ctr">
          <a:solidFill>
            <a:schemeClr val="accent2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  <a:txDef>
      <a:spPr bwMode="auto">
        <a:noFill/>
        <a:ln w="12700" cap="sq" algn="ctr">
          <a:noFill/>
          <a:miter lim="800000"/>
          <a:headEnd/>
          <a:tailEnd/>
        </a:ln>
        <a:effectLst/>
      </a:spPr>
      <a:bodyPr wrap="square" rtlCol="0" anchor="ctr" anchorCtr="0">
        <a:noAutofit/>
      </a:bodyPr>
      <a:lstStyle>
        <a:defPPr>
          <a:spcBef>
            <a:spcPts val="900"/>
          </a:spcBef>
          <a:defRPr dirty="0" err="1" smtClean="0">
            <a:solidFill>
              <a:schemeClr val="tx2"/>
            </a:solidFill>
            <a:latin typeface="+mn-lt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17388-MACOM2016-4x3-edit</Template>
  <TotalTime>1032</TotalTime>
  <Words>2172</Words>
  <Application>Microsoft Office PowerPoint</Application>
  <PresentationFormat>On-screen Show (4:3)</PresentationFormat>
  <Paragraphs>853</Paragraphs>
  <Slides>40</Slides>
  <Notes>28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40</vt:i4>
      </vt:variant>
    </vt:vector>
  </HeadingPairs>
  <TitlesOfParts>
    <vt:vector size="52" baseType="lpstr">
      <vt:lpstr>Arial</vt:lpstr>
      <vt:lpstr>Arial Black</vt:lpstr>
      <vt:lpstr>Calibri</vt:lpstr>
      <vt:lpstr>Courier New</vt:lpstr>
      <vt:lpstr>Helvetica</vt:lpstr>
      <vt:lpstr>Symbol</vt:lpstr>
      <vt:lpstr>Times New Roman</vt:lpstr>
      <vt:lpstr>Webdings</vt:lpstr>
      <vt:lpstr>Wingdings</vt:lpstr>
      <vt:lpstr>PPT-2010-Template_LightDark</vt:lpstr>
      <vt:lpstr>Document</vt:lpstr>
      <vt:lpstr>Mathcad 6.0</vt:lpstr>
      <vt:lpstr>MACOM Diode Products - HMICTM rev 2</vt:lpstr>
      <vt:lpstr>PowerPoint Presentation</vt:lpstr>
      <vt:lpstr>PowerPoint Presentation</vt:lpstr>
      <vt:lpstr>HMICTM Process</vt:lpstr>
      <vt:lpstr>HMICTM = Heterolithic Microwave Integrated Circuit</vt:lpstr>
      <vt:lpstr>Simplified HMICTM Process</vt:lpstr>
      <vt:lpstr>Simplified HMICTM Process (cont’d)</vt:lpstr>
      <vt:lpstr>HMICTM Cross Section</vt:lpstr>
      <vt:lpstr>High Frequency Capacitors</vt:lpstr>
      <vt:lpstr>High Frequency Inductors</vt:lpstr>
      <vt:lpstr>Resistors</vt:lpstr>
      <vt:lpstr>Transmission Lines</vt:lpstr>
      <vt:lpstr>Typical HMICTM Component Capabilities</vt:lpstr>
      <vt:lpstr>HMICTM PIN Diode Products</vt:lpstr>
      <vt:lpstr>PIN Diodes  </vt:lpstr>
      <vt:lpstr>PIN Diode Families</vt:lpstr>
      <vt:lpstr>HMICTM Discrete Diode Solution</vt:lpstr>
      <vt:lpstr>PIN Switches</vt:lpstr>
      <vt:lpstr>X-Band Terminated SPDT Switch   MASW-011071</vt:lpstr>
      <vt:lpstr>HMIC Si PIN Switches: 2 W, DC – 26 GHz</vt:lpstr>
      <vt:lpstr>HMICTM Wire-Bondable Switches</vt:lpstr>
      <vt:lpstr>HMICTM SP2T High Current  MASW-011052</vt:lpstr>
      <vt:lpstr>HMICTM SP3T High Current  MASW-011053</vt:lpstr>
      <vt:lpstr>HMICTM Package-less Surface Mountable Si PIN Diode Switches</vt:lpstr>
      <vt:lpstr>Schottky Diodes</vt:lpstr>
      <vt:lpstr>HMICTM Discrete Schottky Diodes</vt:lpstr>
      <vt:lpstr>HMICTM Mixer Advantages</vt:lpstr>
      <vt:lpstr>HMICTM Mixers</vt:lpstr>
      <vt:lpstr>Flip Chip Diodes</vt:lpstr>
      <vt:lpstr>Solderable HMIC Flip Chip PIN Diodes</vt:lpstr>
      <vt:lpstr>Passive Devices</vt:lpstr>
      <vt:lpstr>MABT-011000 2-18 GHz  HMICTM Surmount Bias Network</vt:lpstr>
      <vt:lpstr>Thank You</vt:lpstr>
      <vt:lpstr>Appendix</vt:lpstr>
      <vt:lpstr>Si Mesa Beamlead PIN Diodes</vt:lpstr>
      <vt:lpstr>Si Planar Beamlead PIN Diodes</vt:lpstr>
      <vt:lpstr>Flip Chip Products</vt:lpstr>
      <vt:lpstr>HMIC and AlGaAs MMIC Performance Comparison   </vt:lpstr>
      <vt:lpstr>HMICTM SP2T  6-14 GHz  (Terminated SPDT) MASW-010647</vt:lpstr>
      <vt:lpstr>HMIC™ Si PIN SP2T  6-14 GHz   MASW-011021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Click to Edit MACOM Title Slide  Arial Black 24pt</dc:title>
  <dc:creator>Megan Haley</dc:creator>
  <cp:lastModifiedBy>Rick Cory</cp:lastModifiedBy>
  <cp:revision>52</cp:revision>
  <cp:lastPrinted>2014-03-27T13:48:09Z</cp:lastPrinted>
  <dcterms:created xsi:type="dcterms:W3CDTF">2016-07-13T20:18:51Z</dcterms:created>
  <dcterms:modified xsi:type="dcterms:W3CDTF">2017-03-17T20:34:06Z</dcterms:modified>
</cp:coreProperties>
</file>