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98" r:id="rId1"/>
  </p:sldMasterIdLst>
  <p:notesMasterIdLst>
    <p:notesMasterId r:id="rId29"/>
  </p:notesMasterIdLst>
  <p:handoutMasterIdLst>
    <p:handoutMasterId r:id="rId30"/>
  </p:handoutMasterIdLst>
  <p:sldIdLst>
    <p:sldId id="507" r:id="rId2"/>
    <p:sldId id="508" r:id="rId3"/>
    <p:sldId id="509" r:id="rId4"/>
    <p:sldId id="567" r:id="rId5"/>
    <p:sldId id="519" r:id="rId6"/>
    <p:sldId id="564" r:id="rId7"/>
    <p:sldId id="569" r:id="rId8"/>
    <p:sldId id="570" r:id="rId9"/>
    <p:sldId id="571" r:id="rId10"/>
    <p:sldId id="576" r:id="rId11"/>
    <p:sldId id="572" r:id="rId12"/>
    <p:sldId id="520" r:id="rId13"/>
    <p:sldId id="578" r:id="rId14"/>
    <p:sldId id="568" r:id="rId15"/>
    <p:sldId id="577" r:id="rId16"/>
    <p:sldId id="521" r:id="rId17"/>
    <p:sldId id="562" r:id="rId18"/>
    <p:sldId id="565" r:id="rId19"/>
    <p:sldId id="534" r:id="rId20"/>
    <p:sldId id="535" r:id="rId21"/>
    <p:sldId id="566" r:id="rId22"/>
    <p:sldId id="579" r:id="rId23"/>
    <p:sldId id="573" r:id="rId24"/>
    <p:sldId id="574" r:id="rId25"/>
    <p:sldId id="575" r:id="rId26"/>
    <p:sldId id="580" r:id="rId27"/>
    <p:sldId id="550" r:id="rId28"/>
  </p:sldIdLst>
  <p:sldSz cx="9144000" cy="6858000" type="screen4x3"/>
  <p:notesSz cx="7010400" cy="9296400"/>
  <p:custDataLst>
    <p:tags r:id="rId31"/>
  </p:custDataLst>
  <p:defaultTextStyle>
    <a:defPPr>
      <a:defRPr lang="en-US"/>
    </a:defPPr>
    <a:lvl1pPr algn="ctr" rtl="0" fontAlgn="base">
      <a:lnSpc>
        <a:spcPct val="90000"/>
      </a:lnSpc>
      <a:spcBef>
        <a:spcPct val="5000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fontAlgn="base">
      <a:lnSpc>
        <a:spcPct val="90000"/>
      </a:lnSpc>
      <a:spcBef>
        <a:spcPct val="5000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fontAlgn="base">
      <a:lnSpc>
        <a:spcPct val="90000"/>
      </a:lnSpc>
      <a:spcBef>
        <a:spcPct val="5000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fontAlgn="base">
      <a:lnSpc>
        <a:spcPct val="90000"/>
      </a:lnSpc>
      <a:spcBef>
        <a:spcPct val="5000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fontAlgn="base">
      <a:lnSpc>
        <a:spcPct val="90000"/>
      </a:lnSpc>
      <a:spcBef>
        <a:spcPct val="5000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48">
          <p15:clr>
            <a:srgbClr val="A4A3A4"/>
          </p15:clr>
        </p15:guide>
        <p15:guide id="2" orient="horz" pos="3889">
          <p15:clr>
            <a:srgbClr val="A4A3A4"/>
          </p15:clr>
        </p15:guide>
        <p15:guide id="3" orient="horz" pos="722">
          <p15:clr>
            <a:srgbClr val="A4A3A4"/>
          </p15:clr>
        </p15:guide>
        <p15:guide id="4" pos="2880">
          <p15:clr>
            <a:srgbClr val="A4A3A4"/>
          </p15:clr>
        </p15:guide>
        <p15:guide id="5" pos="260">
          <p15:clr>
            <a:srgbClr val="A4A3A4"/>
          </p15:clr>
        </p15:guide>
        <p15:guide id="6" pos="549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EAEAEA"/>
    <a:srgbClr val="000000"/>
    <a:srgbClr val="C0C0C0"/>
    <a:srgbClr val="B2B2B2"/>
    <a:srgbClr val="FFFF66"/>
    <a:srgbClr val="3333CC"/>
    <a:srgbClr val="FF00CC"/>
    <a:srgbClr val="CBCBDF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7" autoAdjust="0"/>
    <p:restoredTop sz="86457" autoAdjust="0"/>
  </p:normalViewPr>
  <p:slideViewPr>
    <p:cSldViewPr snapToGrid="0">
      <p:cViewPr varScale="1">
        <p:scale>
          <a:sx n="77" d="100"/>
          <a:sy n="77" d="100"/>
        </p:scale>
        <p:origin x="1061" y="62"/>
      </p:cViewPr>
      <p:guideLst>
        <p:guide orient="horz" pos="948"/>
        <p:guide orient="horz" pos="3889"/>
        <p:guide orient="horz" pos="722"/>
        <p:guide pos="2880"/>
        <p:guide pos="260"/>
        <p:guide pos="5499"/>
      </p:guideLst>
    </p:cSldViewPr>
  </p:slideViewPr>
  <p:outlineViewPr>
    <p:cViewPr>
      <p:scale>
        <a:sx n="33" d="100"/>
        <a:sy n="33" d="100"/>
      </p:scale>
      <p:origin x="0" y="-551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4478"/>
    </p:cViewPr>
  </p:sorterViewPr>
  <p:notesViewPr>
    <p:cSldViewPr snapToGrid="0">
      <p:cViewPr varScale="1">
        <p:scale>
          <a:sx n="97" d="100"/>
          <a:sy n="97" d="100"/>
        </p:scale>
        <p:origin x="-1698" y="-9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043968\Documents\ppoint\diode%20presentation\limiter%20presentation\limiter%20module%20CW%20power%20vs%20f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Junction Temperature Rise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Sheet1!$C$3:$C$203</c:f>
              <c:numCache>
                <c:formatCode>0.00E+00</c:formatCode>
                <c:ptCount val="201"/>
                <c:pt idx="0">
                  <c:v>0</c:v>
                </c:pt>
                <c:pt idx="1">
                  <c:v>3.3333333333333333E-2</c:v>
                </c:pt>
                <c:pt idx="2">
                  <c:v>6.6666666666666666E-2</c:v>
                </c:pt>
                <c:pt idx="3">
                  <c:v>0.1</c:v>
                </c:pt>
                <c:pt idx="4">
                  <c:v>0.13333333333333333</c:v>
                </c:pt>
                <c:pt idx="5">
                  <c:v>0.16666666666666669</c:v>
                </c:pt>
                <c:pt idx="6">
                  <c:v>0.2</c:v>
                </c:pt>
                <c:pt idx="7">
                  <c:v>0.23333333333333334</c:v>
                </c:pt>
                <c:pt idx="8">
                  <c:v>0.26666666666666666</c:v>
                </c:pt>
                <c:pt idx="9">
                  <c:v>0.3</c:v>
                </c:pt>
                <c:pt idx="10">
                  <c:v>0.33333333333333337</c:v>
                </c:pt>
                <c:pt idx="11">
                  <c:v>0.36666666666666664</c:v>
                </c:pt>
                <c:pt idx="12">
                  <c:v>0.4</c:v>
                </c:pt>
                <c:pt idx="13">
                  <c:v>0.43333333333333329</c:v>
                </c:pt>
                <c:pt idx="14">
                  <c:v>0.46666666666666667</c:v>
                </c:pt>
                <c:pt idx="15">
                  <c:v>0.5</c:v>
                </c:pt>
                <c:pt idx="16">
                  <c:v>0.53333333333333333</c:v>
                </c:pt>
                <c:pt idx="17">
                  <c:v>0.56666666666666665</c:v>
                </c:pt>
                <c:pt idx="18">
                  <c:v>0.6</c:v>
                </c:pt>
                <c:pt idx="19">
                  <c:v>0.6333333333333333</c:v>
                </c:pt>
                <c:pt idx="20">
                  <c:v>0.66666666666666674</c:v>
                </c:pt>
                <c:pt idx="21">
                  <c:v>0.7</c:v>
                </c:pt>
                <c:pt idx="22">
                  <c:v>0.73333333333333328</c:v>
                </c:pt>
                <c:pt idx="23">
                  <c:v>0.76666666666666661</c:v>
                </c:pt>
                <c:pt idx="24">
                  <c:v>0.8</c:v>
                </c:pt>
                <c:pt idx="25">
                  <c:v>0.83333333333333337</c:v>
                </c:pt>
                <c:pt idx="26">
                  <c:v>0.86666666666666659</c:v>
                </c:pt>
                <c:pt idx="27">
                  <c:v>0.89999999999999991</c:v>
                </c:pt>
                <c:pt idx="28">
                  <c:v>0.93333333333333335</c:v>
                </c:pt>
                <c:pt idx="29">
                  <c:v>0.96666666666666667</c:v>
                </c:pt>
                <c:pt idx="30">
                  <c:v>1</c:v>
                </c:pt>
                <c:pt idx="31">
                  <c:v>1.0333333333333334</c:v>
                </c:pt>
                <c:pt idx="32">
                  <c:v>1.0666666666666667</c:v>
                </c:pt>
                <c:pt idx="33">
                  <c:v>1.1000000000000001</c:v>
                </c:pt>
                <c:pt idx="34">
                  <c:v>1.1333333333333333</c:v>
                </c:pt>
                <c:pt idx="35">
                  <c:v>1.1666666666666665</c:v>
                </c:pt>
                <c:pt idx="36">
                  <c:v>1.2</c:v>
                </c:pt>
                <c:pt idx="37">
                  <c:v>1.2333333333333332</c:v>
                </c:pt>
                <c:pt idx="38">
                  <c:v>1.2666666666666666</c:v>
                </c:pt>
                <c:pt idx="39">
                  <c:v>1.3</c:v>
                </c:pt>
                <c:pt idx="40">
                  <c:v>1.3333333333333335</c:v>
                </c:pt>
                <c:pt idx="41">
                  <c:v>1.3666666666666667</c:v>
                </c:pt>
                <c:pt idx="42">
                  <c:v>1.4</c:v>
                </c:pt>
                <c:pt idx="43">
                  <c:v>1.4333333333333333</c:v>
                </c:pt>
                <c:pt idx="44">
                  <c:v>1.4666666666666666</c:v>
                </c:pt>
                <c:pt idx="45">
                  <c:v>1.5</c:v>
                </c:pt>
                <c:pt idx="46">
                  <c:v>1.5333333333333332</c:v>
                </c:pt>
                <c:pt idx="47">
                  <c:v>1.5666666666666664</c:v>
                </c:pt>
                <c:pt idx="48">
                  <c:v>1.6</c:v>
                </c:pt>
                <c:pt idx="49">
                  <c:v>1.6333333333333333</c:v>
                </c:pt>
                <c:pt idx="50">
                  <c:v>1.6666666666666667</c:v>
                </c:pt>
                <c:pt idx="51">
                  <c:v>1.7</c:v>
                </c:pt>
                <c:pt idx="52">
                  <c:v>1.7333333333333332</c:v>
                </c:pt>
                <c:pt idx="53">
                  <c:v>1.7666666666666666</c:v>
                </c:pt>
                <c:pt idx="54">
                  <c:v>1.7999999999999998</c:v>
                </c:pt>
                <c:pt idx="55">
                  <c:v>1.8333333333333333</c:v>
                </c:pt>
                <c:pt idx="56">
                  <c:v>1.8666666666666667</c:v>
                </c:pt>
                <c:pt idx="57">
                  <c:v>1.9000000000000001</c:v>
                </c:pt>
                <c:pt idx="58">
                  <c:v>1.9333333333333333</c:v>
                </c:pt>
                <c:pt idx="59">
                  <c:v>1.9666666666666666</c:v>
                </c:pt>
                <c:pt idx="60">
                  <c:v>2</c:v>
                </c:pt>
                <c:pt idx="61">
                  <c:v>2.0333333333333332</c:v>
                </c:pt>
                <c:pt idx="62">
                  <c:v>2.0666666666666669</c:v>
                </c:pt>
                <c:pt idx="63">
                  <c:v>2.1</c:v>
                </c:pt>
                <c:pt idx="64">
                  <c:v>2.1333333333333333</c:v>
                </c:pt>
                <c:pt idx="65">
                  <c:v>2.1666666666666665</c:v>
                </c:pt>
                <c:pt idx="66">
                  <c:v>2.2000000000000002</c:v>
                </c:pt>
                <c:pt idx="67">
                  <c:v>2.2333333333333334</c:v>
                </c:pt>
                <c:pt idx="68">
                  <c:v>2.2666666666666666</c:v>
                </c:pt>
                <c:pt idx="69">
                  <c:v>2.2999999999999998</c:v>
                </c:pt>
                <c:pt idx="70">
                  <c:v>2.333333333333333</c:v>
                </c:pt>
                <c:pt idx="71">
                  <c:v>2.3666666666666667</c:v>
                </c:pt>
                <c:pt idx="72">
                  <c:v>2.4</c:v>
                </c:pt>
                <c:pt idx="73">
                  <c:v>2.4333333333333331</c:v>
                </c:pt>
                <c:pt idx="74">
                  <c:v>2.4666666666666663</c:v>
                </c:pt>
                <c:pt idx="75">
                  <c:v>2.4999999999999996</c:v>
                </c:pt>
                <c:pt idx="76">
                  <c:v>2.5333333333333332</c:v>
                </c:pt>
                <c:pt idx="77">
                  <c:v>2.5666666666666664</c:v>
                </c:pt>
                <c:pt idx="78">
                  <c:v>2.6</c:v>
                </c:pt>
                <c:pt idx="79">
                  <c:v>2.6333333333333333</c:v>
                </c:pt>
                <c:pt idx="80">
                  <c:v>2.666666666666667</c:v>
                </c:pt>
                <c:pt idx="81">
                  <c:v>2.7</c:v>
                </c:pt>
                <c:pt idx="82">
                  <c:v>2.7333333333333334</c:v>
                </c:pt>
                <c:pt idx="83">
                  <c:v>2.7666666666666666</c:v>
                </c:pt>
                <c:pt idx="84">
                  <c:v>2.8</c:v>
                </c:pt>
                <c:pt idx="85">
                  <c:v>2.8333333333333335</c:v>
                </c:pt>
                <c:pt idx="86">
                  <c:v>2.8666666666666667</c:v>
                </c:pt>
                <c:pt idx="87">
                  <c:v>2.9</c:v>
                </c:pt>
                <c:pt idx="88">
                  <c:v>2.9333333333333331</c:v>
                </c:pt>
                <c:pt idx="89">
                  <c:v>2.9666666666666663</c:v>
                </c:pt>
                <c:pt idx="90">
                  <c:v>3</c:v>
                </c:pt>
                <c:pt idx="91">
                  <c:v>3.0333333333333332</c:v>
                </c:pt>
                <c:pt idx="92">
                  <c:v>3.0666666666666664</c:v>
                </c:pt>
                <c:pt idx="93">
                  <c:v>3.0999999999999996</c:v>
                </c:pt>
                <c:pt idx="94">
                  <c:v>3.1333333333333329</c:v>
                </c:pt>
                <c:pt idx="95">
                  <c:v>3.166666666666667</c:v>
                </c:pt>
                <c:pt idx="96">
                  <c:v>3.2</c:v>
                </c:pt>
                <c:pt idx="97">
                  <c:v>3.2333333333333334</c:v>
                </c:pt>
                <c:pt idx="98">
                  <c:v>3.2666666666666666</c:v>
                </c:pt>
                <c:pt idx="99">
                  <c:v>3.3</c:v>
                </c:pt>
                <c:pt idx="100">
                  <c:v>3.3333333333333335</c:v>
                </c:pt>
                <c:pt idx="101">
                  <c:v>3.3666666666666667</c:v>
                </c:pt>
                <c:pt idx="102">
                  <c:v>3.4</c:v>
                </c:pt>
                <c:pt idx="103">
                  <c:v>3.4333333333333331</c:v>
                </c:pt>
                <c:pt idx="104">
                  <c:v>3.4666666666666663</c:v>
                </c:pt>
                <c:pt idx="105">
                  <c:v>3.5</c:v>
                </c:pt>
                <c:pt idx="106">
                  <c:v>3.5333333333333332</c:v>
                </c:pt>
                <c:pt idx="107">
                  <c:v>3.5666666666666664</c:v>
                </c:pt>
                <c:pt idx="108">
                  <c:v>3.5999999999999996</c:v>
                </c:pt>
                <c:pt idx="109">
                  <c:v>3.6333333333333333</c:v>
                </c:pt>
                <c:pt idx="110">
                  <c:v>3.6666666666666665</c:v>
                </c:pt>
                <c:pt idx="111">
                  <c:v>3.6999999999999997</c:v>
                </c:pt>
                <c:pt idx="112">
                  <c:v>3.7333333333333334</c:v>
                </c:pt>
                <c:pt idx="113">
                  <c:v>3.7666666666666666</c:v>
                </c:pt>
                <c:pt idx="114">
                  <c:v>3.8000000000000003</c:v>
                </c:pt>
                <c:pt idx="115">
                  <c:v>3.8333333333333335</c:v>
                </c:pt>
                <c:pt idx="116">
                  <c:v>3.8666666666666667</c:v>
                </c:pt>
                <c:pt idx="117">
                  <c:v>3.9</c:v>
                </c:pt>
                <c:pt idx="118">
                  <c:v>3.9333333333333331</c:v>
                </c:pt>
                <c:pt idx="119">
                  <c:v>3.9666666666666668</c:v>
                </c:pt>
                <c:pt idx="120">
                  <c:v>4</c:v>
                </c:pt>
                <c:pt idx="121">
                  <c:v>4.0333333333333332</c:v>
                </c:pt>
                <c:pt idx="122">
                  <c:v>4.0666666666666664</c:v>
                </c:pt>
                <c:pt idx="123">
                  <c:v>4.1000000000000005</c:v>
                </c:pt>
                <c:pt idx="124">
                  <c:v>4.1333333333333337</c:v>
                </c:pt>
                <c:pt idx="125">
                  <c:v>4.166666666666667</c:v>
                </c:pt>
                <c:pt idx="126">
                  <c:v>4.2</c:v>
                </c:pt>
                <c:pt idx="127">
                  <c:v>4.2333333333333334</c:v>
                </c:pt>
                <c:pt idx="128">
                  <c:v>4.2666666666666666</c:v>
                </c:pt>
                <c:pt idx="129">
                  <c:v>4.3</c:v>
                </c:pt>
                <c:pt idx="130">
                  <c:v>4.333333333333333</c:v>
                </c:pt>
                <c:pt idx="131">
                  <c:v>4.3666666666666671</c:v>
                </c:pt>
                <c:pt idx="132">
                  <c:v>4.4000000000000004</c:v>
                </c:pt>
                <c:pt idx="133">
                  <c:v>4.4333333333333336</c:v>
                </c:pt>
                <c:pt idx="134">
                  <c:v>4.4666666666666668</c:v>
                </c:pt>
                <c:pt idx="135">
                  <c:v>4.5</c:v>
                </c:pt>
                <c:pt idx="136">
                  <c:v>4.5333333333333332</c:v>
                </c:pt>
                <c:pt idx="137">
                  <c:v>4.5666666666666664</c:v>
                </c:pt>
                <c:pt idx="138">
                  <c:v>4.5999999999999996</c:v>
                </c:pt>
                <c:pt idx="139">
                  <c:v>4.6333333333333329</c:v>
                </c:pt>
                <c:pt idx="140">
                  <c:v>4.6666666666666661</c:v>
                </c:pt>
                <c:pt idx="141">
                  <c:v>4.7</c:v>
                </c:pt>
                <c:pt idx="142">
                  <c:v>4.7333333333333334</c:v>
                </c:pt>
                <c:pt idx="143">
                  <c:v>4.7666666666666666</c:v>
                </c:pt>
                <c:pt idx="144">
                  <c:v>4.8</c:v>
                </c:pt>
                <c:pt idx="145">
                  <c:v>4.833333333333333</c:v>
                </c:pt>
                <c:pt idx="146">
                  <c:v>4.8666666666666663</c:v>
                </c:pt>
                <c:pt idx="147">
                  <c:v>4.8999999999999995</c:v>
                </c:pt>
                <c:pt idx="148">
                  <c:v>4.9333333333333327</c:v>
                </c:pt>
                <c:pt idx="149">
                  <c:v>4.9666666666666659</c:v>
                </c:pt>
                <c:pt idx="150">
                  <c:v>4.9999999999999991</c:v>
                </c:pt>
                <c:pt idx="151">
                  <c:v>5.0333333333333332</c:v>
                </c:pt>
                <c:pt idx="152">
                  <c:v>5.0666666666666664</c:v>
                </c:pt>
                <c:pt idx="153">
                  <c:v>5.0999999999999996</c:v>
                </c:pt>
                <c:pt idx="154">
                  <c:v>5.1333333333333329</c:v>
                </c:pt>
                <c:pt idx="155">
                  <c:v>5.166666666666667</c:v>
                </c:pt>
                <c:pt idx="156">
                  <c:v>5.2</c:v>
                </c:pt>
                <c:pt idx="157">
                  <c:v>5.2333333333333334</c:v>
                </c:pt>
                <c:pt idx="158">
                  <c:v>5.2666666666666666</c:v>
                </c:pt>
                <c:pt idx="159">
                  <c:v>5.3</c:v>
                </c:pt>
                <c:pt idx="160">
                  <c:v>5.3333333333333339</c:v>
                </c:pt>
                <c:pt idx="161">
                  <c:v>5.3666666666666671</c:v>
                </c:pt>
                <c:pt idx="162">
                  <c:v>5.4</c:v>
                </c:pt>
                <c:pt idx="163">
                  <c:v>5.4333333333333336</c:v>
                </c:pt>
                <c:pt idx="164">
                  <c:v>5.4666666666666668</c:v>
                </c:pt>
                <c:pt idx="165">
                  <c:v>5.5</c:v>
                </c:pt>
                <c:pt idx="166">
                  <c:v>5.5333333333333332</c:v>
                </c:pt>
                <c:pt idx="167">
                  <c:v>5.5666666666666664</c:v>
                </c:pt>
                <c:pt idx="168">
                  <c:v>5.6</c:v>
                </c:pt>
                <c:pt idx="169">
                  <c:v>5.6333333333333329</c:v>
                </c:pt>
                <c:pt idx="170">
                  <c:v>5.666666666666667</c:v>
                </c:pt>
                <c:pt idx="171">
                  <c:v>5.7</c:v>
                </c:pt>
                <c:pt idx="172">
                  <c:v>5.7333333333333334</c:v>
                </c:pt>
                <c:pt idx="173">
                  <c:v>5.7666666666666666</c:v>
                </c:pt>
                <c:pt idx="174">
                  <c:v>5.8</c:v>
                </c:pt>
                <c:pt idx="175">
                  <c:v>5.833333333333333</c:v>
                </c:pt>
                <c:pt idx="176">
                  <c:v>5.8666666666666663</c:v>
                </c:pt>
                <c:pt idx="177">
                  <c:v>5.8999999999999995</c:v>
                </c:pt>
                <c:pt idx="178">
                  <c:v>5.9333333333333327</c:v>
                </c:pt>
                <c:pt idx="179">
                  <c:v>5.9666666666666659</c:v>
                </c:pt>
                <c:pt idx="180">
                  <c:v>6</c:v>
                </c:pt>
                <c:pt idx="181">
                  <c:v>6.0333333333333332</c:v>
                </c:pt>
                <c:pt idx="182">
                  <c:v>6.0666666666666664</c:v>
                </c:pt>
                <c:pt idx="183">
                  <c:v>6.1</c:v>
                </c:pt>
                <c:pt idx="184">
                  <c:v>6.1333333333333329</c:v>
                </c:pt>
                <c:pt idx="185">
                  <c:v>6.1666666666666661</c:v>
                </c:pt>
                <c:pt idx="186">
                  <c:v>6.1999999999999993</c:v>
                </c:pt>
                <c:pt idx="187">
                  <c:v>6.2333333333333325</c:v>
                </c:pt>
                <c:pt idx="188">
                  <c:v>6.2666666666666657</c:v>
                </c:pt>
                <c:pt idx="189">
                  <c:v>6.3000000000000007</c:v>
                </c:pt>
                <c:pt idx="190">
                  <c:v>6.3333333333333339</c:v>
                </c:pt>
                <c:pt idx="191">
                  <c:v>6.3666666666666671</c:v>
                </c:pt>
                <c:pt idx="192">
                  <c:v>6.4</c:v>
                </c:pt>
                <c:pt idx="193">
                  <c:v>6.4333333333333336</c:v>
                </c:pt>
                <c:pt idx="194">
                  <c:v>6.4666666666666668</c:v>
                </c:pt>
                <c:pt idx="195">
                  <c:v>6.5</c:v>
                </c:pt>
                <c:pt idx="196">
                  <c:v>6.5333333333333332</c:v>
                </c:pt>
                <c:pt idx="197">
                  <c:v>6.5666666666666664</c:v>
                </c:pt>
                <c:pt idx="198">
                  <c:v>6.6</c:v>
                </c:pt>
                <c:pt idx="199">
                  <c:v>6.6333333333333337</c:v>
                </c:pt>
                <c:pt idx="200">
                  <c:v>6.666666666666667</c:v>
                </c:pt>
              </c:numCache>
            </c:numRef>
          </c:xVal>
          <c:yVal>
            <c:numRef>
              <c:f>Sheet1!$B$3:$B$203</c:f>
              <c:numCache>
                <c:formatCode>0.00E+00</c:formatCode>
                <c:ptCount val="201"/>
                <c:pt idx="0">
                  <c:v>0</c:v>
                </c:pt>
                <c:pt idx="1">
                  <c:v>3.2783899517994097E-2</c:v>
                </c:pt>
                <c:pt idx="2">
                  <c:v>6.4493014968382223E-2</c:v>
                </c:pt>
                <c:pt idx="3">
                  <c:v>9.5162581964040482E-2</c:v>
                </c:pt>
                <c:pt idx="4">
                  <c:v>0.12482668095705252</c:v>
                </c:pt>
                <c:pt idx="5">
                  <c:v>0.15351827510938598</c:v>
                </c:pt>
                <c:pt idx="6">
                  <c:v>0.18126924692201818</c:v>
                </c:pt>
                <c:pt idx="7">
                  <c:v>0.20811043366321835</c:v>
                </c:pt>
                <c:pt idx="8">
                  <c:v>0.23407166163535131</c:v>
                </c:pt>
                <c:pt idx="9">
                  <c:v>0.25918177931828212</c:v>
                </c:pt>
                <c:pt idx="10">
                  <c:v>0.28346868942621073</c:v>
                </c:pt>
                <c:pt idx="11">
                  <c:v>0.30695937991355848</c:v>
                </c:pt>
                <c:pt idx="12">
                  <c:v>0.32967995396436067</c:v>
                </c:pt>
                <c:pt idx="13">
                  <c:v>0.35165565899849027</c:v>
                </c:pt>
                <c:pt idx="14">
                  <c:v>0.37291091472694393</c:v>
                </c:pt>
                <c:pt idx="15">
                  <c:v>0.39346934028736658</c:v>
                </c:pt>
                <c:pt idx="16">
                  <c:v>0.41335378048996818</c:v>
                </c:pt>
                <c:pt idx="17">
                  <c:v>0.43258633120299617</c:v>
                </c:pt>
                <c:pt idx="18">
                  <c:v>0.45118836390597361</c:v>
                </c:pt>
                <c:pt idx="19">
                  <c:v>0.46918054943798604</c:v>
                </c:pt>
                <c:pt idx="20">
                  <c:v>0.48658288096740798</c:v>
                </c:pt>
                <c:pt idx="21">
                  <c:v>0.50341469620859047</c:v>
                </c:pt>
                <c:pt idx="22">
                  <c:v>0.51969469891020059</c:v>
                </c:pt>
                <c:pt idx="23">
                  <c:v>0.53544097963908843</c:v>
                </c:pt>
                <c:pt idx="24">
                  <c:v>0.55067103588277844</c:v>
                </c:pt>
                <c:pt idx="25">
                  <c:v>0.5654017914929218</c:v>
                </c:pt>
                <c:pt idx="26">
                  <c:v>0.57964961549131799</c:v>
                </c:pt>
                <c:pt idx="27">
                  <c:v>0.59343034025940078</c:v>
                </c:pt>
                <c:pt idx="28">
                  <c:v>0.60675927913140182</c:v>
                </c:pt>
                <c:pt idx="29">
                  <c:v>0.61965124341074151</c:v>
                </c:pt>
                <c:pt idx="30">
                  <c:v>0.63212055882855767</c:v>
                </c:pt>
                <c:pt idx="31">
                  <c:v>0.64418108146265807</c:v>
                </c:pt>
                <c:pt idx="32">
                  <c:v>0.65584621313458769</c:v>
                </c:pt>
                <c:pt idx="33">
                  <c:v>0.6671289163019205</c:v>
                </c:pt>
                <c:pt idx="34">
                  <c:v>0.67804172846232413</c:v>
                </c:pt>
                <c:pt idx="35">
                  <c:v>0.68859677608540226</c:v>
                </c:pt>
                <c:pt idx="36">
                  <c:v>0.69880578808779781</c:v>
                </c:pt>
                <c:pt idx="37">
                  <c:v>0.70868010886652888</c:v>
                </c:pt>
                <c:pt idx="38">
                  <c:v>0.71823071090504165</c:v>
                </c:pt>
                <c:pt idx="39">
                  <c:v>0.72746820696598746</c:v>
                </c:pt>
                <c:pt idx="40">
                  <c:v>0.73640286188427329</c:v>
                </c:pt>
                <c:pt idx="41">
                  <c:v>0.74504460397349004</c:v>
                </c:pt>
                <c:pt idx="42">
                  <c:v>0.75340303605839354</c:v>
                </c:pt>
                <c:pt idx="43">
                  <c:v>0.76148744614569752</c:v>
                </c:pt>
                <c:pt idx="44">
                  <c:v>0.76930681774503717</c:v>
                </c:pt>
                <c:pt idx="45">
                  <c:v>0.77686983985157021</c:v>
                </c:pt>
                <c:pt idx="46">
                  <c:v>0.78418491660131018</c:v>
                </c:pt>
                <c:pt idx="47">
                  <c:v>0.79126017660992032</c:v>
                </c:pt>
                <c:pt idx="48">
                  <c:v>0.79810348200534464</c:v>
                </c:pt>
                <c:pt idx="49">
                  <c:v>0.80472243716431424</c:v>
                </c:pt>
                <c:pt idx="50">
                  <c:v>0.81112439716243823</c:v>
                </c:pt>
                <c:pt idx="51">
                  <c:v>0.81731647594726531</c:v>
                </c:pt>
                <c:pt idx="52">
                  <c:v>0.82330555424340324</c:v>
                </c:pt>
                <c:pt idx="53">
                  <c:v>0.82909828719847511</c:v>
                </c:pt>
                <c:pt idx="54">
                  <c:v>0.83470111177841344</c:v>
                </c:pt>
                <c:pt idx="55">
                  <c:v>0.84012025392030609</c:v>
                </c:pt>
                <c:pt idx="56">
                  <c:v>0.84536173545074522</c:v>
                </c:pt>
                <c:pt idx="57">
                  <c:v>0.85043138077736491</c:v>
                </c:pt>
                <c:pt idx="58">
                  <c:v>0.85533482336100497</c:v>
                </c:pt>
                <c:pt idx="59">
                  <c:v>0.8600775119756906</c:v>
                </c:pt>
                <c:pt idx="60">
                  <c:v>0.8646647167633873</c:v>
                </c:pt>
                <c:pt idx="61">
                  <c:v>0.86910153509025567</c:v>
                </c:pt>
                <c:pt idx="62">
                  <c:v>0.8733928972109164</c:v>
                </c:pt>
                <c:pt idx="63">
                  <c:v>0.87754357174701814</c:v>
                </c:pt>
                <c:pt idx="64">
                  <c:v>0.88155817098619627</c:v>
                </c:pt>
                <c:pt idx="65">
                  <c:v>0.88544115600731232</c:v>
                </c:pt>
                <c:pt idx="66">
                  <c:v>0.8891968416376661</c:v>
                </c:pt>
                <c:pt idx="67">
                  <c:v>0.89282940124769328</c:v>
                </c:pt>
                <c:pt idx="68">
                  <c:v>0.89634287138847213</c:v>
                </c:pt>
                <c:pt idx="69">
                  <c:v>0.8997411562771962</c:v>
                </c:pt>
                <c:pt idx="70">
                  <c:v>0.9030280321355949</c:v>
                </c:pt>
                <c:pt idx="71">
                  <c:v>0.90620715138612373</c:v>
                </c:pt>
                <c:pt idx="72">
                  <c:v>0.90928204671058754</c:v>
                </c:pt>
                <c:pt idx="73">
                  <c:v>0.91225613497570568</c:v>
                </c:pt>
                <c:pt idx="74">
                  <c:v>0.91513272102998255</c:v>
                </c:pt>
                <c:pt idx="75">
                  <c:v>0.91791500137610116</c:v>
                </c:pt>
                <c:pt idx="76">
                  <c:v>0.92060606772292175</c:v>
                </c:pt>
                <c:pt idx="77">
                  <c:v>0.92320891042103193</c:v>
                </c:pt>
                <c:pt idx="78">
                  <c:v>0.92572642178566611</c:v>
                </c:pt>
                <c:pt idx="79">
                  <c:v>0.92816139931068675</c:v>
                </c:pt>
                <c:pt idx="80">
                  <c:v>0.93051654877719847</c:v>
                </c:pt>
                <c:pt idx="81">
                  <c:v>0.93279448726025027</c:v>
                </c:pt>
                <c:pt idx="82">
                  <c:v>0.9349977460369655</c:v>
                </c:pt>
                <c:pt idx="83">
                  <c:v>0.93712877339933276</c:v>
                </c:pt>
                <c:pt idx="84">
                  <c:v>0.93918993737478207</c:v>
                </c:pt>
                <c:pt idx="85">
                  <c:v>0.94118352835757013</c:v>
                </c:pt>
                <c:pt idx="86">
                  <c:v>0.94311176165389843</c:v>
                </c:pt>
                <c:pt idx="87">
                  <c:v>0.94497677994359275</c:v>
                </c:pt>
                <c:pt idx="88">
                  <c:v>0.9467806556610785</c:v>
                </c:pt>
                <c:pt idx="89">
                  <c:v>0.94852539329829921</c:v>
                </c:pt>
                <c:pt idx="90">
                  <c:v>0.95021293163213605</c:v>
                </c:pt>
                <c:pt idx="91">
                  <c:v>0.95184514587880364</c:v>
                </c:pt>
                <c:pt idx="92">
                  <c:v>0.95342384977761652</c:v>
                </c:pt>
                <c:pt idx="93">
                  <c:v>0.95495079760644219</c:v>
                </c:pt>
                <c:pt idx="94">
                  <c:v>0.95642768613107831</c:v>
                </c:pt>
                <c:pt idx="95">
                  <c:v>0.95785615649072364</c:v>
                </c:pt>
                <c:pt idx="96">
                  <c:v>0.95923779602163384</c:v>
                </c:pt>
                <c:pt idx="97">
                  <c:v>0.96057414002099251</c:v>
                </c:pt>
                <c:pt idx="98">
                  <c:v>0.96186667345295485</c:v>
                </c:pt>
                <c:pt idx="99">
                  <c:v>0.96311683259876002</c:v>
                </c:pt>
                <c:pt idx="100">
                  <c:v>0.96432600665274759</c:v>
                </c:pt>
                <c:pt idx="101">
                  <c:v>0.96549553926604947</c:v>
                </c:pt>
                <c:pt idx="102">
                  <c:v>0.96662673003967392</c:v>
                </c:pt>
                <c:pt idx="103">
                  <c:v>0.96772083596864011</c:v>
                </c:pt>
                <c:pt idx="104">
                  <c:v>0.96877907283876907</c:v>
                </c:pt>
                <c:pt idx="105">
                  <c:v>0.96980261657768152</c:v>
                </c:pt>
                <c:pt idx="106">
                  <c:v>0.97079260456150518</c:v>
                </c:pt>
                <c:pt idx="107">
                  <c:v>0.97175013687874301</c:v>
                </c:pt>
                <c:pt idx="108">
                  <c:v>0.97267627755270747</c:v>
                </c:pt>
                <c:pt idx="109">
                  <c:v>0.97357205572387706</c:v>
                </c:pt>
                <c:pt idx="110">
                  <c:v>0.97443846679349255</c:v>
                </c:pt>
                <c:pt idx="111">
                  <c:v>0.97527647352966063</c:v>
                </c:pt>
                <c:pt idx="112">
                  <c:v>0.97608700713719465</c:v>
                </c:pt>
                <c:pt idx="113">
                  <c:v>0.9768709682923834</c:v>
                </c:pt>
                <c:pt idx="114">
                  <c:v>0.97762922814383446</c:v>
                </c:pt>
                <c:pt idx="115">
                  <c:v>0.97836262928050688</c:v>
                </c:pt>
                <c:pt idx="116">
                  <c:v>0.97907198666800832</c:v>
                </c:pt>
                <c:pt idx="117">
                  <c:v>0.97975808855419566</c:v>
                </c:pt>
                <c:pt idx="118">
                  <c:v>0.980421697345087</c:v>
                </c:pt>
                <c:pt idx="119">
                  <c:v>0.98106355045205851</c:v>
                </c:pt>
                <c:pt idx="120">
                  <c:v>0.98168436111126578</c:v>
                </c:pt>
                <c:pt idx="121">
                  <c:v>0.98228481917620192</c:v>
                </c:pt>
                <c:pt idx="122">
                  <c:v>0.98286559188427247</c:v>
                </c:pt>
                <c:pt idx="123">
                  <c:v>0.98342732459823878</c:v>
                </c:pt>
                <c:pt idx="124">
                  <c:v>0.98397064152335445</c:v>
                </c:pt>
                <c:pt idx="125">
                  <c:v>0.9844961464009907</c:v>
                </c:pt>
                <c:pt idx="126">
                  <c:v>0.9850044231795223</c:v>
                </c:pt>
                <c:pt idx="127">
                  <c:v>0.98549603666321917</c:v>
                </c:pt>
                <c:pt idx="128">
                  <c:v>0.98597153313986485</c:v>
                </c:pt>
                <c:pt idx="129">
                  <c:v>0.98643144098779911</c:v>
                </c:pt>
                <c:pt idx="130">
                  <c:v>0.98687627126305899</c:v>
                </c:pt>
                <c:pt idx="131">
                  <c:v>0.98730651826727234</c:v>
                </c:pt>
                <c:pt idx="132">
                  <c:v>0.98772266009693155</c:v>
                </c:pt>
                <c:pt idx="133">
                  <c:v>0.98812515917466204</c:v>
                </c:pt>
                <c:pt idx="134">
                  <c:v>0.98851446276307209</c:v>
                </c:pt>
                <c:pt idx="135">
                  <c:v>0.98889100346175773</c:v>
                </c:pt>
                <c:pt idx="136">
                  <c:v>0.98925519968801312</c:v>
                </c:pt>
                <c:pt idx="137">
                  <c:v>0.98960745614178225</c:v>
                </c:pt>
                <c:pt idx="138">
                  <c:v>0.98994816425536647</c:v>
                </c:pt>
                <c:pt idx="139">
                  <c:v>0.99027770262838988</c:v>
                </c:pt>
                <c:pt idx="140">
                  <c:v>0.99059643744850479</c:v>
                </c:pt>
                <c:pt idx="141">
                  <c:v>0.99090472289830422</c:v>
                </c:pt>
                <c:pt idx="142">
                  <c:v>0.99120290154889445</c:v>
                </c:pt>
                <c:pt idx="143">
                  <c:v>0.99149130474056546</c:v>
                </c:pt>
                <c:pt idx="144">
                  <c:v>0.99177025295097998</c:v>
                </c:pt>
                <c:pt idx="145">
                  <c:v>0.99204005615129354</c:v>
                </c:pt>
                <c:pt idx="146">
                  <c:v>0.99230101415059846</c:v>
                </c:pt>
                <c:pt idx="147">
                  <c:v>0.99255341692907562</c:v>
                </c:pt>
                <c:pt idx="148">
                  <c:v>0.99279754496022521</c:v>
                </c:pt>
                <c:pt idx="149">
                  <c:v>0.99303366952253203</c:v>
                </c:pt>
                <c:pt idx="150">
                  <c:v>0.99326205300091452</c:v>
                </c:pt>
                <c:pt idx="151">
                  <c:v>0.99348294917829016</c:v>
                </c:pt>
                <c:pt idx="152">
                  <c:v>0.99369660351758271</c:v>
                </c:pt>
                <c:pt idx="153">
                  <c:v>0.99390325343448438</c:v>
                </c:pt>
                <c:pt idx="154">
                  <c:v>0.99410312856127492</c:v>
                </c:pt>
                <c:pt idx="155">
                  <c:v>0.9942964510019926</c:v>
                </c:pt>
                <c:pt idx="156">
                  <c:v>0.99448343557923924</c:v>
                </c:pt>
                <c:pt idx="157">
                  <c:v>0.99466429007289403</c:v>
                </c:pt>
                <c:pt idx="158">
                  <c:v>0.9948392154510014</c:v>
                </c:pt>
                <c:pt idx="159">
                  <c:v>0.99500840609308983</c:v>
                </c:pt>
                <c:pt idx="160">
                  <c:v>0.9951720500061686</c:v>
                </c:pt>
                <c:pt idx="161">
                  <c:v>0.99533032903364427</c:v>
                </c:pt>
                <c:pt idx="162">
                  <c:v>0.99548341905738735</c:v>
                </c:pt>
                <c:pt idx="163">
                  <c:v>0.99563149019317487</c:v>
                </c:pt>
                <c:pt idx="164">
                  <c:v>0.99577470697972514</c:v>
                </c:pt>
                <c:pt idx="165">
                  <c:v>0.99591322856153597</c:v>
                </c:pt>
                <c:pt idx="166">
                  <c:v>0.99604720886572751</c:v>
                </c:pt>
                <c:pt idx="167">
                  <c:v>0.99617679677308912</c:v>
                </c:pt>
                <c:pt idx="168">
                  <c:v>0.99630213628351705</c:v>
                </c:pt>
                <c:pt idx="169">
                  <c:v>0.99642336667602949</c:v>
                </c:pt>
                <c:pt idx="170">
                  <c:v>0.99654062266353527</c:v>
                </c:pt>
                <c:pt idx="171">
                  <c:v>0.99665403454252877</c:v>
                </c:pt>
                <c:pt idx="172">
                  <c:v>0.99676372833787719</c:v>
                </c:pt>
                <c:pt idx="173">
                  <c:v>0.99686982594286111</c:v>
                </c:pt>
                <c:pt idx="174">
                  <c:v>0.99697244525462414</c:v>
                </c:pt>
                <c:pt idx="175">
                  <c:v>0.99707170030518177</c:v>
                </c:pt>
                <c:pt idx="176">
                  <c:v>0.99716770138813526</c:v>
                </c:pt>
                <c:pt idx="177">
                  <c:v>0.99726055518123158</c:v>
                </c:pt>
                <c:pt idx="178">
                  <c:v>0.99735036486490525</c:v>
                </c:pt>
                <c:pt idx="179">
                  <c:v>0.99743723023693354</c:v>
                </c:pt>
                <c:pt idx="180">
                  <c:v>0.99752124782333362</c:v>
                </c:pt>
                <c:pt idx="181">
                  <c:v>0.99760251098562347</c:v>
                </c:pt>
                <c:pt idx="182">
                  <c:v>0.99768111002456628</c:v>
                </c:pt>
                <c:pt idx="183">
                  <c:v>0.99775713228051421</c:v>
                </c:pt>
                <c:pt idx="184">
                  <c:v>0.99783066223046202</c:v>
                </c:pt>
                <c:pt idx="185">
                  <c:v>0.99790178158191911</c:v>
                </c:pt>
                <c:pt idx="186">
                  <c:v>0.99797056936370432</c:v>
                </c:pt>
                <c:pt idx="187">
                  <c:v>0.99803710201376328</c:v>
                </c:pt>
                <c:pt idx="188">
                  <c:v>0.99810145346410817</c:v>
                </c:pt>
                <c:pt idx="189">
                  <c:v>0.9981636952229711</c:v>
                </c:pt>
                <c:pt idx="190">
                  <c:v>0.99822389645426557</c:v>
                </c:pt>
                <c:pt idx="191">
                  <c:v>0.9982821240544425</c:v>
                </c:pt>
                <c:pt idx="192">
                  <c:v>0.99833844272682604</c:v>
                </c:pt>
                <c:pt idx="193">
                  <c:v>0.99839291505351324</c:v>
                </c:pt>
                <c:pt idx="194">
                  <c:v>0.99844560156491569</c:v>
                </c:pt>
                <c:pt idx="195">
                  <c:v>0.99849656080702243</c:v>
                </c:pt>
                <c:pt idx="196">
                  <c:v>0.99854584940645641</c:v>
                </c:pt>
                <c:pt idx="197">
                  <c:v>0.99859352213339914</c:v>
                </c:pt>
                <c:pt idx="198">
                  <c:v>0.99863963196245209</c:v>
                </c:pt>
                <c:pt idx="199">
                  <c:v>0.99868423013150254</c:v>
                </c:pt>
                <c:pt idx="200">
                  <c:v>0.9987273661986602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593728"/>
        <c:axId val="125590984"/>
      </c:scatterChart>
      <c:valAx>
        <c:axId val="125593728"/>
        <c:scaling>
          <c:orientation val="minMax"/>
          <c:max val="6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Thermal Time Constants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.0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590984"/>
        <c:crosses val="autoZero"/>
        <c:crossBetween val="midCat"/>
      </c:valAx>
      <c:valAx>
        <c:axId val="1255909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Junction Temperature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%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59372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96733882999591"/>
          <c:y val="4.0460486467531635E-2"/>
          <c:w val="0.60134555697336534"/>
          <c:h val="0.82416159265516908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Sheet1!$H$4</c:f>
              <c:strCache>
                <c:ptCount val="1"/>
                <c:pt idx="0">
                  <c:v>MADL-011021</c:v>
                </c:pt>
              </c:strCache>
            </c:strRef>
          </c:tx>
          <c:spPr>
            <a:ln w="381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Sheet1!$D$4:$E$4</c:f>
              <c:numCache>
                <c:formatCode>General</c:formatCode>
                <c:ptCount val="2"/>
                <c:pt idx="0">
                  <c:v>0.01</c:v>
                </c:pt>
                <c:pt idx="1">
                  <c:v>6</c:v>
                </c:pt>
              </c:numCache>
            </c:numRef>
          </c:xVal>
          <c:yVal>
            <c:numRef>
              <c:f>Sheet1!$A$4:$B$4</c:f>
              <c:numCache>
                <c:formatCode>General</c:formatCode>
                <c:ptCount val="2"/>
                <c:pt idx="0">
                  <c:v>34</c:v>
                </c:pt>
                <c:pt idx="1">
                  <c:v>34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Sheet1!$H$5</c:f>
              <c:strCache>
                <c:ptCount val="1"/>
                <c:pt idx="0">
                  <c:v>LM202602</c:v>
                </c:pt>
              </c:strCache>
            </c:strRef>
          </c:tx>
          <c:spPr>
            <a:ln w="3810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Sheet1!$D$5:$E$5</c:f>
              <c:numCache>
                <c:formatCode>General</c:formatCode>
                <c:ptCount val="2"/>
                <c:pt idx="0">
                  <c:v>2</c:v>
                </c:pt>
                <c:pt idx="1">
                  <c:v>6</c:v>
                </c:pt>
              </c:numCache>
            </c:numRef>
          </c:xVal>
          <c:yVal>
            <c:numRef>
              <c:f>Sheet1!$A$5:$B$5</c:f>
              <c:numCache>
                <c:formatCode>General</c:formatCode>
                <c:ptCount val="2"/>
                <c:pt idx="0">
                  <c:v>36</c:v>
                </c:pt>
                <c:pt idx="1">
                  <c:v>36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Sheet1!$H$6</c:f>
              <c:strCache>
                <c:ptCount val="1"/>
                <c:pt idx="0">
                  <c:v>LM501102</c:v>
                </c:pt>
              </c:strCache>
            </c:strRef>
          </c:tx>
          <c:spPr>
            <a:ln w="3810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xVal>
            <c:numRef>
              <c:f>Sheet1!$D$6:$E$6</c:f>
              <c:numCache>
                <c:formatCode>General</c:formatCode>
                <c:ptCount val="2"/>
                <c:pt idx="0">
                  <c:v>0.5</c:v>
                </c:pt>
                <c:pt idx="1">
                  <c:v>1</c:v>
                </c:pt>
              </c:numCache>
            </c:numRef>
          </c:xVal>
          <c:yVal>
            <c:numRef>
              <c:f>Sheet1!$A$6:$B$6</c:f>
              <c:numCache>
                <c:formatCode>General</c:formatCode>
                <c:ptCount val="2"/>
                <c:pt idx="0">
                  <c:v>37</c:v>
                </c:pt>
                <c:pt idx="1">
                  <c:v>37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Sheet1!$H$7</c:f>
              <c:strCache>
                <c:ptCount val="1"/>
                <c:pt idx="0">
                  <c:v>LM200802</c:v>
                </c:pt>
              </c:strCache>
            </c:strRef>
          </c:tx>
          <c:spPr>
            <a:ln w="3810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xVal>
            <c:numRef>
              <c:f>Sheet1!$D$7:$E$7</c:f>
              <c:numCache>
                <c:formatCode>General</c:formatCode>
                <c:ptCount val="2"/>
                <c:pt idx="0">
                  <c:v>0.02</c:v>
                </c:pt>
                <c:pt idx="1">
                  <c:v>8</c:v>
                </c:pt>
              </c:numCache>
            </c:numRef>
          </c:xVal>
          <c:yVal>
            <c:numRef>
              <c:f>Sheet1!$A$7:$B$7</c:f>
              <c:numCache>
                <c:formatCode>General</c:formatCode>
                <c:ptCount val="2"/>
                <c:pt idx="0">
                  <c:v>44</c:v>
                </c:pt>
                <c:pt idx="1">
                  <c:v>44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Sheet1!$H$8</c:f>
              <c:strCache>
                <c:ptCount val="1"/>
                <c:pt idx="0">
                  <c:v>LM202802</c:v>
                </c:pt>
              </c:strCache>
            </c:strRef>
          </c:tx>
          <c:spPr>
            <a:ln w="38100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xVal>
            <c:numRef>
              <c:f>Sheet1!$D$8:$E$8</c:f>
              <c:numCache>
                <c:formatCode>General</c:formatCode>
                <c:ptCount val="2"/>
                <c:pt idx="0">
                  <c:v>2</c:v>
                </c:pt>
                <c:pt idx="1">
                  <c:v>8</c:v>
                </c:pt>
              </c:numCache>
            </c:numRef>
          </c:xVal>
          <c:yVal>
            <c:numRef>
              <c:f>Sheet1!$A$8:$B$8</c:f>
              <c:numCache>
                <c:formatCode>General</c:formatCode>
                <c:ptCount val="2"/>
                <c:pt idx="0">
                  <c:v>45</c:v>
                </c:pt>
                <c:pt idx="1">
                  <c:v>45</c:v>
                </c:pt>
              </c:numCache>
            </c:numRef>
          </c:yVal>
          <c:smooth val="0"/>
        </c:ser>
        <c:ser>
          <c:idx val="5"/>
          <c:order val="5"/>
          <c:tx>
            <c:strRef>
              <c:f>Sheet1!$H$9</c:f>
              <c:strCache>
                <c:ptCount val="1"/>
                <c:pt idx="0">
                  <c:v>LM401102</c:v>
                </c:pt>
              </c:strCache>
            </c:strRef>
          </c:tx>
          <c:spPr>
            <a:ln w="38100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xVal>
            <c:numRef>
              <c:f>Sheet1!$D$9:$E$9</c:f>
              <c:numCache>
                <c:formatCode>General</c:formatCode>
                <c:ptCount val="2"/>
                <c:pt idx="0">
                  <c:v>0.4</c:v>
                </c:pt>
                <c:pt idx="1">
                  <c:v>1</c:v>
                </c:pt>
              </c:numCache>
            </c:numRef>
          </c:xVal>
          <c:yVal>
            <c:numRef>
              <c:f>Sheet1!$A$9:$B$9</c:f>
              <c:numCache>
                <c:formatCode>General</c:formatCod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yVal>
          <c:smooth val="0"/>
        </c:ser>
        <c:ser>
          <c:idx val="6"/>
          <c:order val="6"/>
          <c:tx>
            <c:strRef>
              <c:f>Sheet1!$H$10</c:f>
              <c:strCache>
                <c:ptCount val="1"/>
                <c:pt idx="0">
                  <c:v>LM102202</c:v>
                </c:pt>
              </c:strCache>
            </c:strRef>
          </c:tx>
          <c:spPr>
            <a:ln w="38100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xVal>
            <c:numRef>
              <c:f>Sheet1!$D$10:$E$10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Sheet1!$A$10:$B$10</c:f>
              <c:numCache>
                <c:formatCode>General</c:formatCod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yVal>
          <c:smooth val="0"/>
        </c:ser>
        <c:ser>
          <c:idx val="7"/>
          <c:order val="7"/>
          <c:tx>
            <c:strRef>
              <c:f>Sheet1!$H$11</c:f>
              <c:strCache>
                <c:ptCount val="1"/>
                <c:pt idx="0">
                  <c:v>LM202402</c:v>
                </c:pt>
              </c:strCache>
            </c:strRef>
          </c:tx>
          <c:spPr>
            <a:ln w="381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xVal>
            <c:numRef>
              <c:f>Sheet1!$D$11:$E$11</c:f>
              <c:numCache>
                <c:formatCode>General</c:formatCode>
                <c:ptCount val="2"/>
                <c:pt idx="0">
                  <c:v>2</c:v>
                </c:pt>
                <c:pt idx="1">
                  <c:v>4</c:v>
                </c:pt>
              </c:numCache>
            </c:numRef>
          </c:xVal>
          <c:yVal>
            <c:numRef>
              <c:f>Sheet1!$A$11:$B$11</c:f>
              <c:numCache>
                <c:formatCode>General</c:formatCod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yVal>
          <c:smooth val="0"/>
        </c:ser>
        <c:ser>
          <c:idx val="8"/>
          <c:order val="8"/>
          <c:tx>
            <c:strRef>
              <c:f>Sheet1!$H$12</c:f>
              <c:strCache>
                <c:ptCount val="1"/>
                <c:pt idx="0">
                  <c:v>MADL-011014</c:v>
                </c:pt>
              </c:strCache>
            </c:strRef>
          </c:tx>
          <c:spPr>
            <a:ln w="38100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xVal>
            <c:numRef>
              <c:f>Sheet1!$D$12:$E$12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Sheet1!$A$12:$B$12</c:f>
              <c:numCache>
                <c:formatCode>General</c:formatCode>
                <c:ptCount val="2"/>
                <c:pt idx="0">
                  <c:v>53</c:v>
                </c:pt>
                <c:pt idx="1">
                  <c:v>53</c:v>
                </c:pt>
              </c:numCache>
            </c:numRef>
          </c:yVal>
          <c:smooth val="0"/>
        </c:ser>
        <c:ser>
          <c:idx val="9"/>
          <c:order val="9"/>
          <c:tx>
            <c:strRef>
              <c:f>Sheet1!$H$13</c:f>
              <c:strCache>
                <c:ptCount val="1"/>
                <c:pt idx="0">
                  <c:v>MADL-011012</c:v>
                </c:pt>
              </c:strCache>
            </c:strRef>
          </c:tx>
          <c:spPr>
            <a:ln w="38100" cap="rnd">
              <a:solidFill>
                <a:schemeClr val="accent4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xVal>
            <c:numRef>
              <c:f>Sheet1!$D$13:$E$13</c:f>
              <c:numCache>
                <c:formatCode>General</c:formatCode>
                <c:ptCount val="2"/>
                <c:pt idx="0">
                  <c:v>0.3</c:v>
                </c:pt>
                <c:pt idx="1">
                  <c:v>1</c:v>
                </c:pt>
              </c:numCache>
            </c:numRef>
          </c:xVal>
          <c:yVal>
            <c:numRef>
              <c:f>Sheet1!$A$13:$B$13</c:f>
              <c:numCache>
                <c:formatCode>General</c:formatCode>
                <c:ptCount val="2"/>
                <c:pt idx="0">
                  <c:v>54</c:v>
                </c:pt>
                <c:pt idx="1">
                  <c:v>54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592160"/>
        <c:axId val="125592552"/>
      </c:scatterChart>
      <c:valAx>
        <c:axId val="125592160"/>
        <c:scaling>
          <c:orientation val="minMax"/>
          <c:max val="9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>
                    <a:solidFill>
                      <a:schemeClr val="tx1"/>
                    </a:solidFill>
                  </a:rPr>
                  <a:t>Frequency (GHz)</a:t>
                </a:r>
              </a:p>
            </c:rich>
          </c:tx>
          <c:layout>
            <c:manualLayout>
              <c:xMode val="edge"/>
              <c:yMode val="edge"/>
              <c:x val="0.30189759543024131"/>
              <c:y val="0.9429047786030794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592552"/>
        <c:crosses val="autoZero"/>
        <c:crossBetween val="midCat"/>
        <c:majorUnit val="1"/>
      </c:valAx>
      <c:valAx>
        <c:axId val="125592552"/>
        <c:scaling>
          <c:orientation val="minMax"/>
          <c:min val="3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>
                    <a:solidFill>
                      <a:schemeClr val="tx1"/>
                    </a:solidFill>
                  </a:rPr>
                  <a:t>Maximum CW Power (dBm)</a:t>
                </a:r>
              </a:p>
            </c:rich>
          </c:tx>
          <c:layout>
            <c:manualLayout>
              <c:xMode val="edge"/>
              <c:yMode val="edge"/>
              <c:x val="1.611328063048718E-2"/>
              <c:y val="0.2332599062768975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592160"/>
        <c:crossesAt val="0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3982830417121737"/>
          <c:y val="0.21907695495552934"/>
          <c:w val="0.25138263366669872"/>
          <c:h val="0.5618460900889412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4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8258" cy="464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576" y="1"/>
            <a:ext cx="3038258" cy="464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623381-AFEF-490F-AA45-31EC49CF1500}" type="datetimeFigureOut">
              <a:rPr lang="en-US" smtClean="0"/>
              <a:pPr/>
              <a:t>3/10/2017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30268"/>
            <a:ext cx="3038258" cy="4644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576" y="8830268"/>
            <a:ext cx="3038258" cy="4644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5BF31A-114D-494C-A5D5-F6526D17527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8669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8258" cy="464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576" y="1"/>
            <a:ext cx="3038258" cy="464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CA216A-1E3F-4AD2-B74F-855E5673142F}" type="datetimeFigureOut">
              <a:rPr lang="en-US" smtClean="0"/>
              <a:pPr/>
              <a:t>3/10/2017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413" y="4415133"/>
            <a:ext cx="5609574" cy="41837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30268"/>
            <a:ext cx="3038258" cy="4644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576" y="8830268"/>
            <a:ext cx="3038258" cy="4644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A09BFF-9304-4EE8-967B-56F816FBB8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738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4894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1996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7375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2179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180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A09BFF-9304-4EE8-967B-56F816FBB8C1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50307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A09BFF-9304-4EE8-967B-56F816FBB8C1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9543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9867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6949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2986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7835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2424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880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0620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/>
          </a:p>
        </p:txBody>
      </p:sp>
      <p:sp>
        <p:nvSpPr>
          <p:cNvPr id="57348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354EED8A-2D52-48FD-BE72-01578EF62C00}" type="datetime1">
              <a:rPr lang="en-US" altLang="en-US" sz="1200" smtClean="0">
                <a:latin typeface="Helvetica" panose="020B0604020202020204" pitchFamily="34" charset="0"/>
              </a:rPr>
              <a:pPr/>
              <a:t>3/10/2017</a:t>
            </a:fld>
            <a:endParaRPr lang="en-US" altLang="en-US" sz="1200" dirty="0" smtClean="0">
              <a:latin typeface="Helvetica" panose="020B0604020202020204" pitchFamily="34" charset="0"/>
            </a:endParaRPr>
          </a:p>
        </p:txBody>
      </p:sp>
      <p:sp>
        <p:nvSpPr>
          <p:cNvPr id="57349" name="Slide Number Placeholder 4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55BAC90B-AF62-4DF2-AC93-432FEA4E0C2C}" type="slidenum">
              <a:rPr lang="en-US" altLang="en-US" sz="1200">
                <a:latin typeface="Helvetica" panose="020B0604020202020204" pitchFamily="34" charset="0"/>
              </a:rPr>
              <a:pPr/>
              <a:t>20</a:t>
            </a:fld>
            <a:endParaRPr lang="en-US" altLang="en-US" sz="1200" dirty="0">
              <a:latin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66373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A09BFF-9304-4EE8-967B-56F816FBB8C1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7803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994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74231" y="930872"/>
            <a:ext cx="2817272" cy="73998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2943225"/>
            <a:ext cx="6400800" cy="6400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MACOM Title Slide </a:t>
            </a:r>
            <a:br>
              <a:rPr lang="en-US" dirty="0" smtClean="0"/>
            </a:br>
            <a:r>
              <a:rPr lang="en-US" dirty="0" smtClean="0"/>
              <a:t>Arial Black 24pt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3749040"/>
            <a:ext cx="4572000" cy="731520"/>
          </a:xfrm>
        </p:spPr>
        <p:txBody>
          <a:bodyPr/>
          <a:lstStyle>
            <a:lvl1pPr marL="0" indent="0">
              <a:spcBef>
                <a:spcPts val="600"/>
              </a:spcBef>
              <a:buFontTx/>
              <a:buNone/>
              <a:defRPr sz="1800" baseline="0">
                <a:solidFill>
                  <a:schemeClr val="bg1"/>
                </a:solidFill>
              </a:defRPr>
            </a:lvl1pPr>
            <a:lvl2pPr marL="400050" indent="0">
              <a:buFontTx/>
              <a:buNone/>
              <a:defRPr/>
            </a:lvl2pPr>
            <a:lvl3pPr marL="800100" indent="0">
              <a:buFontTx/>
              <a:buNone/>
              <a:defRPr/>
            </a:lvl3pPr>
            <a:lvl4pPr marL="1143000" indent="0">
              <a:buFontTx/>
              <a:buNone/>
              <a:defRPr/>
            </a:lvl4pPr>
            <a:lvl5pPr marL="1543050" indent="0">
              <a:buFontTx/>
              <a:buNone/>
              <a:defRPr/>
            </a:lvl5pPr>
          </a:lstStyle>
          <a:p>
            <a:r>
              <a:rPr lang="en-US" dirty="0" smtClean="0"/>
              <a:t>Click to edit Subhead Arial 18pt</a:t>
            </a:r>
            <a:br>
              <a:rPr lang="en-US" dirty="0" smtClean="0"/>
            </a:br>
            <a:r>
              <a:rPr lang="en-US" dirty="0" smtClean="0"/>
              <a:t>Presenter Name and Date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343400"/>
            <a:ext cx="9144000" cy="2514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342426"/>
            <a:ext cx="8766807" cy="277977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3715" y="346569"/>
            <a:ext cx="1484623" cy="247437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88554" y="1920240"/>
            <a:ext cx="7315200" cy="640080"/>
          </a:xfrm>
        </p:spPr>
        <p:txBody>
          <a:bodyPr anchor="b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1188554" y="2651760"/>
            <a:ext cx="7315200" cy="914400"/>
          </a:xfrm>
        </p:spPr>
        <p:txBody>
          <a:bodyPr/>
          <a:lstStyle>
            <a:lvl1pPr marL="0" indent="0">
              <a:buFontTx/>
              <a:buNone/>
              <a:defRPr sz="1800">
                <a:solidFill>
                  <a:schemeClr val="bg1"/>
                </a:solidFill>
              </a:defRPr>
            </a:lvl1pPr>
            <a:lvl2pPr marL="400050" indent="0">
              <a:buFontTx/>
              <a:buNone/>
              <a:defRPr/>
            </a:lvl2pPr>
            <a:lvl3pPr marL="800100" indent="0">
              <a:buFontTx/>
              <a:buNone/>
              <a:defRPr/>
            </a:lvl3pPr>
            <a:lvl4pPr marL="1143000" indent="0">
              <a:buFontTx/>
              <a:buNone/>
              <a:defRPr/>
            </a:lvl4pPr>
            <a:lvl5pPr marL="154305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gray"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gray"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12750" y="310896"/>
            <a:ext cx="6400800" cy="365760"/>
          </a:xfrm>
        </p:spPr>
        <p:txBody>
          <a:bodyPr/>
          <a:lstStyle>
            <a:lvl1pPr>
              <a:defRPr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idx="11"/>
          </p:nvPr>
        </p:nvSpPr>
        <p:spPr bwMode="gray">
          <a:xfrm>
            <a:off x="412749" y="676275"/>
            <a:ext cx="8316913" cy="365760"/>
          </a:xfrm>
        </p:spPr>
        <p:txBody>
          <a:bodyPr anchor="t" anchorCtr="0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1800" b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1611305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412750" y="1504951"/>
            <a:ext cx="4018280" cy="4668838"/>
          </a:xfrm>
        </p:spPr>
        <p:txBody>
          <a:bodyPr/>
          <a:lstStyle>
            <a:lvl1pPr>
              <a:spcBef>
                <a:spcPts val="1200"/>
              </a:spcBef>
              <a:defRPr sz="2000"/>
            </a:lvl1pPr>
            <a:lvl2pPr>
              <a:spcBef>
                <a:spcPts val="800"/>
              </a:spcBef>
              <a:defRPr sz="1800"/>
            </a:lvl2pPr>
            <a:lvl3pPr>
              <a:spcBef>
                <a:spcPts val="800"/>
              </a:spcBef>
              <a:defRPr sz="1600"/>
            </a:lvl3pPr>
            <a:lvl4pPr marL="1143000" indent="-228600">
              <a:spcBef>
                <a:spcPts val="800"/>
              </a:spcBef>
              <a:defRPr sz="1600"/>
            </a:lvl4pPr>
            <a:lvl5pPr marL="1485900" indent="-228600">
              <a:spcBef>
                <a:spcPts val="800"/>
              </a:spcBef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gray">
          <a:xfrm>
            <a:off x="4711383" y="1504951"/>
            <a:ext cx="4018280" cy="4668838"/>
          </a:xfrm>
        </p:spPr>
        <p:txBody>
          <a:bodyPr/>
          <a:lstStyle>
            <a:lvl1pPr>
              <a:spcBef>
                <a:spcPts val="1200"/>
              </a:spcBef>
              <a:defRPr sz="2000"/>
            </a:lvl1pPr>
            <a:lvl2pPr>
              <a:spcBef>
                <a:spcPts val="800"/>
              </a:spcBef>
              <a:defRPr sz="1800"/>
            </a:lvl2pPr>
            <a:lvl3pPr>
              <a:spcBef>
                <a:spcPts val="800"/>
              </a:spcBef>
              <a:defRPr sz="1600"/>
            </a:lvl3pPr>
            <a:lvl4pPr marL="1143000" indent="-228600">
              <a:spcBef>
                <a:spcPts val="800"/>
              </a:spcBef>
              <a:defRPr sz="1600"/>
            </a:lvl4pPr>
            <a:lvl5pPr marL="1485900" indent="-228600">
              <a:spcBef>
                <a:spcPts val="800"/>
              </a:spcBef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412750" y="1504951"/>
            <a:ext cx="4018280" cy="4668838"/>
          </a:xfrm>
        </p:spPr>
        <p:txBody>
          <a:bodyPr/>
          <a:lstStyle>
            <a:lvl1pPr>
              <a:spcBef>
                <a:spcPts val="1200"/>
              </a:spcBef>
              <a:defRPr sz="2000"/>
            </a:lvl1pPr>
            <a:lvl2pPr>
              <a:spcBef>
                <a:spcPts val="800"/>
              </a:spcBef>
              <a:defRPr sz="1800"/>
            </a:lvl2pPr>
            <a:lvl3pPr>
              <a:spcBef>
                <a:spcPts val="800"/>
              </a:spcBef>
              <a:defRPr sz="1600"/>
            </a:lvl3pPr>
            <a:lvl4pPr marL="1143000" indent="-228600">
              <a:spcBef>
                <a:spcPts val="800"/>
              </a:spcBef>
              <a:defRPr sz="1600"/>
            </a:lvl4pPr>
            <a:lvl5pPr marL="1485900" indent="-228600">
              <a:spcBef>
                <a:spcPts val="800"/>
              </a:spcBef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gray">
          <a:xfrm>
            <a:off x="4711383" y="1504951"/>
            <a:ext cx="4018280" cy="4668838"/>
          </a:xfrm>
        </p:spPr>
        <p:txBody>
          <a:bodyPr/>
          <a:lstStyle>
            <a:lvl1pPr>
              <a:spcBef>
                <a:spcPts val="1200"/>
              </a:spcBef>
              <a:defRPr sz="2000"/>
            </a:lvl1pPr>
            <a:lvl2pPr>
              <a:spcBef>
                <a:spcPts val="800"/>
              </a:spcBef>
              <a:defRPr sz="1800"/>
            </a:lvl2pPr>
            <a:lvl3pPr>
              <a:spcBef>
                <a:spcPts val="800"/>
              </a:spcBef>
              <a:defRPr sz="1600"/>
            </a:lvl3pPr>
            <a:lvl4pPr marL="1143000" indent="-228600">
              <a:spcBef>
                <a:spcPts val="800"/>
              </a:spcBef>
              <a:defRPr sz="1600"/>
            </a:lvl4pPr>
            <a:lvl5pPr marL="1485900" indent="-228600">
              <a:spcBef>
                <a:spcPts val="800"/>
              </a:spcBef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2750" y="310896"/>
            <a:ext cx="6400800" cy="36576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idx="11"/>
          </p:nvPr>
        </p:nvSpPr>
        <p:spPr bwMode="gray">
          <a:xfrm>
            <a:off x="412749" y="676275"/>
            <a:ext cx="6400800" cy="365760"/>
          </a:xfrm>
        </p:spPr>
        <p:txBody>
          <a:bodyPr anchor="t" anchorCtr="0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1800" b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97672987"/>
      </p:ext>
    </p:extLst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12750" y="1504950"/>
            <a:ext cx="4018280" cy="64008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285750" indent="-285750">
              <a:spcBef>
                <a:spcPts val="0"/>
              </a:spcBef>
              <a:buNone/>
              <a:defRPr lang="en-US" sz="1800" b="1" dirty="0" smtClean="0">
                <a:latin typeface="+mj-lt"/>
              </a:defRPr>
            </a:lvl1pPr>
          </a:lstStyle>
          <a:p>
            <a:pPr marL="0" lvl="0" indent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half" idx="2"/>
          </p:nvPr>
        </p:nvSpPr>
        <p:spPr bwMode="gray">
          <a:xfrm>
            <a:off x="412750" y="2126744"/>
            <a:ext cx="4018280" cy="4047044"/>
          </a:xfrm>
        </p:spPr>
        <p:txBody>
          <a:bodyPr/>
          <a:lstStyle>
            <a:lvl1pPr>
              <a:spcBef>
                <a:spcPts val="1200"/>
              </a:spcBef>
              <a:defRPr sz="2000"/>
            </a:lvl1pPr>
            <a:lvl2pPr>
              <a:spcBef>
                <a:spcPts val="800"/>
              </a:spcBef>
              <a:defRPr sz="1800"/>
            </a:lvl2pPr>
            <a:lvl3pPr>
              <a:spcBef>
                <a:spcPts val="800"/>
              </a:spcBef>
              <a:defRPr sz="1600"/>
            </a:lvl3pPr>
            <a:lvl4pPr>
              <a:spcBef>
                <a:spcPts val="800"/>
              </a:spcBef>
              <a:defRPr sz="1600"/>
            </a:lvl4pPr>
            <a:lvl5pPr marL="1600200" indent="-228600">
              <a:spcBef>
                <a:spcPts val="800"/>
              </a:spcBef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4711383" y="1504950"/>
            <a:ext cx="4018280" cy="64008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285750" indent="-285750">
              <a:spcBef>
                <a:spcPts val="0"/>
              </a:spcBef>
              <a:buNone/>
              <a:defRPr lang="en-US" sz="1800" b="1" dirty="0" smtClean="0">
                <a:latin typeface="+mj-lt"/>
              </a:defRPr>
            </a:lvl1pPr>
          </a:lstStyle>
          <a:p>
            <a:pPr marL="0" lvl="0" indent="0"/>
            <a:r>
              <a:rPr lang="en-US" smtClean="0"/>
              <a:t>Click to edit Master text styles</a:t>
            </a:r>
          </a:p>
        </p:txBody>
      </p:sp>
      <p:sp>
        <p:nvSpPr>
          <p:cNvPr id="7" name="Content Placeholder 5"/>
          <p:cNvSpPr>
            <a:spLocks noGrp="1"/>
          </p:cNvSpPr>
          <p:nvPr>
            <p:ph sz="quarter" idx="4"/>
          </p:nvPr>
        </p:nvSpPr>
        <p:spPr bwMode="gray">
          <a:xfrm>
            <a:off x="4711383" y="2126744"/>
            <a:ext cx="4018280" cy="4047044"/>
          </a:xfrm>
        </p:spPr>
        <p:txBody>
          <a:bodyPr/>
          <a:lstStyle>
            <a:lvl1pPr>
              <a:spcBef>
                <a:spcPts val="1200"/>
              </a:spcBef>
              <a:defRPr sz="2000"/>
            </a:lvl1pPr>
            <a:lvl2pPr>
              <a:spcBef>
                <a:spcPts val="800"/>
              </a:spcBef>
              <a:defRPr sz="1800"/>
            </a:lvl2pPr>
            <a:lvl3pPr>
              <a:spcBef>
                <a:spcPts val="800"/>
              </a:spcBef>
              <a:defRPr sz="1600"/>
            </a:lvl3pPr>
            <a:lvl4pPr>
              <a:spcBef>
                <a:spcPts val="800"/>
              </a:spcBef>
              <a:defRPr sz="1600"/>
            </a:lvl4pPr>
            <a:lvl5pPr marL="1485900" indent="-228600">
              <a:spcBef>
                <a:spcPts val="800"/>
              </a:spcBef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1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2138" y="4988742"/>
            <a:ext cx="6330615" cy="993474"/>
          </a:xfrm>
        </p:spPr>
        <p:txBody>
          <a:bodyPr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3" name="Picture 2" descr="banner 8 Jan_small.jp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203575"/>
            <a:ext cx="9144000" cy="1792733"/>
          </a:xfrm>
          <a:prstGeom prst="rect">
            <a:avLst/>
          </a:prstGeom>
        </p:spPr>
      </p:pic>
      <p:pic>
        <p:nvPicPr>
          <p:cNvPr id="4" name="Picture 3" descr="MACOM wrdmrk 3025 TM Tag RFLT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40250" y="1600200"/>
            <a:ext cx="344658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380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421223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 Content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9600" y="2106613"/>
            <a:ext cx="7951788" cy="41111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Subtitle – Arial 18pt</a:t>
            </a:r>
            <a:endParaRPr lang="en-US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63113" y="6356350"/>
            <a:ext cx="390525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US" dirty="0" smtClean="0"/>
              <a:t>#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Main Content Subhead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609600" y="2655518"/>
            <a:ext cx="7951788" cy="353233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6613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592231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096750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1800"/>
            </a:lvl2pPr>
            <a:lvl3pPr>
              <a:defRPr sz="1800"/>
            </a:lvl3pPr>
            <a:lvl5pPr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756025" y="6600825"/>
            <a:ext cx="1654175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1"/>
          </p:nvPr>
        </p:nvSpPr>
        <p:spPr>
          <a:xfrm>
            <a:off x="609600" y="6607175"/>
            <a:ext cx="1089025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74C3A4-9881-4D08-B72D-75063D51E101}" type="datetime1">
              <a:rPr lang="en-US"/>
              <a:pPr>
                <a:defRPr/>
              </a:pPr>
              <a:t>3/10/2017</a:t>
            </a:fld>
            <a:endParaRPr lang="en-US" alt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712075" y="6629400"/>
            <a:ext cx="838200" cy="2000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102CF83C-CD11-4319-8827-75C17BD80577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7369768"/>
      </p:ext>
    </p:extLst>
  </p:cSld>
  <p:clrMapOvr>
    <a:masterClrMapping/>
  </p:clrMapOvr>
  <p:transition spd="med"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88856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3039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647689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587447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99785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5"/>
          <p:cNvSpPr>
            <a:spLocks noGrp="1"/>
          </p:cNvSpPr>
          <p:nvPr>
            <p:ph sz="quarter" idx="10"/>
          </p:nvPr>
        </p:nvSpPr>
        <p:spPr>
          <a:xfrm>
            <a:off x="404812" y="1499615"/>
            <a:ext cx="4004119" cy="4675853"/>
          </a:xfrm>
        </p:spPr>
        <p:txBody>
          <a:bodyPr/>
          <a:lstStyle>
            <a:lvl1pPr marL="228600" marR="0" indent="-228600" algn="l" defTabSz="914400" rtl="0" eaLnBrk="1" fontAlgn="base" latinLnBrk="0" hangingPunct="1">
              <a:lnSpc>
                <a:spcPct val="95000"/>
              </a:lnSpc>
              <a:spcBef>
                <a:spcPts val="1000"/>
              </a:spcBef>
              <a:spcAft>
                <a:spcPct val="0"/>
              </a:spcAft>
              <a:buClr>
                <a:srgbClr val="0083C2"/>
              </a:buClr>
              <a:buSzTx/>
              <a:buFont typeface="Arial Black" panose="020B0A04020102020204" pitchFamily="34" charset="0"/>
              <a:buChar char="&gt;"/>
              <a:tabLst/>
              <a:defRPr/>
            </a:lvl1pPr>
            <a:lvl2pPr marL="514350" marR="0" indent="-285750" algn="l" defTabSz="914400" rtl="0" eaLnBrk="1" fontAlgn="base" latinLnBrk="0" hangingPunct="1">
              <a:lnSpc>
                <a:spcPct val="95000"/>
              </a:lnSpc>
              <a:spcBef>
                <a:spcPts val="1000"/>
              </a:spcBef>
              <a:spcAft>
                <a:spcPct val="0"/>
              </a:spcAft>
              <a:buClr>
                <a:srgbClr val="0083C2"/>
              </a:buClr>
              <a:buSzTx/>
              <a:buFont typeface="Arial" charset="0"/>
              <a:buChar char="•"/>
              <a:tabLst/>
              <a:defRPr/>
            </a:lvl2pPr>
            <a:lvl3pPr marL="742950" marR="0" indent="-200025" algn="l" defTabSz="914400" rtl="0" eaLnBrk="1" fontAlgn="base" latinLnBrk="0" hangingPunct="1">
              <a:lnSpc>
                <a:spcPct val="95000"/>
              </a:lnSpc>
              <a:spcBef>
                <a:spcPts val="1000"/>
              </a:spcBef>
              <a:spcAft>
                <a:spcPct val="0"/>
              </a:spcAft>
              <a:buClr>
                <a:srgbClr val="0083C2"/>
              </a:buClr>
              <a:buSzTx/>
              <a:buFont typeface="Arial" charset="0"/>
              <a:buChar char="•"/>
              <a:tabLst/>
              <a:defRPr/>
            </a:lvl3pPr>
            <a:lvl4pPr marL="979488" marR="0" indent="-200025" algn="l" defTabSz="914400" rtl="0" eaLnBrk="1" fontAlgn="base" latinLnBrk="0" hangingPunct="1">
              <a:lnSpc>
                <a:spcPct val="95000"/>
              </a:lnSpc>
              <a:spcBef>
                <a:spcPts val="1000"/>
              </a:spcBef>
              <a:spcAft>
                <a:spcPct val="0"/>
              </a:spcAft>
              <a:buClr>
                <a:srgbClr val="0083C2"/>
              </a:buClr>
              <a:buSzTx/>
              <a:buFont typeface="Arial" charset="0"/>
              <a:buChar char="•"/>
              <a:tabLst/>
              <a:defRPr/>
            </a:lvl4pPr>
            <a:lvl5pPr marL="1270000" marR="0" indent="-236538" algn="l" defTabSz="914400" rtl="0" eaLnBrk="1" fontAlgn="base" latinLnBrk="0" hangingPunct="1">
              <a:lnSpc>
                <a:spcPct val="95000"/>
              </a:lnSpc>
              <a:spcBef>
                <a:spcPts val="1000"/>
              </a:spcBef>
              <a:spcAft>
                <a:spcPct val="0"/>
              </a:spcAft>
              <a:buClr>
                <a:srgbClr val="0083C2"/>
              </a:buClr>
              <a:buSzTx/>
              <a:buFont typeface="Arial" charset="0"/>
              <a:buChar char="•"/>
              <a:tabLst/>
              <a:defRPr/>
            </a:lvl5pPr>
            <a:lvl6pPr>
              <a:defRPr/>
            </a:lvl6pPr>
          </a:lstStyle>
          <a:p>
            <a:pPr marL="228600" marR="0" lvl="0" indent="-228600" algn="l" defTabSz="914400" rtl="0" eaLnBrk="1" fontAlgn="base" latinLnBrk="0" hangingPunct="1">
              <a:lnSpc>
                <a:spcPct val="95000"/>
              </a:lnSpc>
              <a:spcBef>
                <a:spcPts val="1000"/>
              </a:spcBef>
              <a:spcAft>
                <a:spcPct val="0"/>
              </a:spcAft>
              <a:buClr>
                <a:srgbClr val="0083C2"/>
              </a:buClr>
              <a:buSzTx/>
              <a:buFont typeface="Arial Black" panose="020B0A04020102020204" pitchFamily="34" charset="0"/>
              <a:buChar char="&gt;"/>
              <a:tabLst/>
              <a:defRPr/>
            </a:pPr>
            <a:r>
              <a:rPr lang="en-US" smtClean="0"/>
              <a:t>Click to edit Master text styles</a:t>
            </a:r>
          </a:p>
          <a:p>
            <a:pPr marL="228600" marR="0" lvl="1" indent="-228600" algn="l" defTabSz="914400" rtl="0" eaLnBrk="1" fontAlgn="base" latinLnBrk="0" hangingPunct="1">
              <a:lnSpc>
                <a:spcPct val="95000"/>
              </a:lnSpc>
              <a:spcBef>
                <a:spcPts val="1000"/>
              </a:spcBef>
              <a:spcAft>
                <a:spcPct val="0"/>
              </a:spcAft>
              <a:buClr>
                <a:srgbClr val="0083C2"/>
              </a:buClr>
              <a:buSzTx/>
              <a:buFont typeface="Arial Black" panose="020B0A04020102020204" pitchFamily="34" charset="0"/>
              <a:buChar char="&gt;"/>
              <a:tabLst/>
              <a:defRPr/>
            </a:pPr>
            <a:r>
              <a:rPr lang="en-US" smtClean="0"/>
              <a:t>Second level</a:t>
            </a:r>
          </a:p>
          <a:p>
            <a:pPr marL="228600" marR="0" lvl="2" indent="-228600" algn="l" defTabSz="914400" rtl="0" eaLnBrk="1" fontAlgn="base" latinLnBrk="0" hangingPunct="1">
              <a:lnSpc>
                <a:spcPct val="95000"/>
              </a:lnSpc>
              <a:spcBef>
                <a:spcPts val="1000"/>
              </a:spcBef>
              <a:spcAft>
                <a:spcPct val="0"/>
              </a:spcAft>
              <a:buClr>
                <a:srgbClr val="0083C2"/>
              </a:buClr>
              <a:buSzTx/>
              <a:buFont typeface="Arial Black" panose="020B0A04020102020204" pitchFamily="34" charset="0"/>
              <a:buChar char="&gt;"/>
              <a:tabLst/>
              <a:defRPr/>
            </a:pPr>
            <a:r>
              <a:rPr lang="en-US" smtClean="0"/>
              <a:t>Third level</a:t>
            </a:r>
          </a:p>
          <a:p>
            <a:pPr marL="228600" marR="0" lvl="3" indent="-228600" algn="l" defTabSz="914400" rtl="0" eaLnBrk="1" fontAlgn="base" latinLnBrk="0" hangingPunct="1">
              <a:lnSpc>
                <a:spcPct val="95000"/>
              </a:lnSpc>
              <a:spcBef>
                <a:spcPts val="1000"/>
              </a:spcBef>
              <a:spcAft>
                <a:spcPct val="0"/>
              </a:spcAft>
              <a:buClr>
                <a:srgbClr val="0083C2"/>
              </a:buClr>
              <a:buSzTx/>
              <a:buFont typeface="Arial Black" panose="020B0A04020102020204" pitchFamily="34" charset="0"/>
              <a:buChar char="&gt;"/>
              <a:tabLst/>
              <a:defRPr/>
            </a:pPr>
            <a:r>
              <a:rPr lang="en-US" smtClean="0"/>
              <a:t>Fourth level</a:t>
            </a:r>
          </a:p>
          <a:p>
            <a:pPr marL="228600" marR="0" lvl="4" indent="-228600" algn="l" defTabSz="914400" rtl="0" eaLnBrk="1" fontAlgn="base" latinLnBrk="0" hangingPunct="1">
              <a:lnSpc>
                <a:spcPct val="95000"/>
              </a:lnSpc>
              <a:spcBef>
                <a:spcPts val="1000"/>
              </a:spcBef>
              <a:spcAft>
                <a:spcPct val="0"/>
              </a:spcAft>
              <a:buClr>
                <a:srgbClr val="0083C2"/>
              </a:buClr>
              <a:buSzTx/>
              <a:buFont typeface="Arial Black" panose="020B0A04020102020204" pitchFamily="34" charset="0"/>
              <a:buChar char="&gt;"/>
              <a:tabLst/>
              <a:defRPr/>
            </a:pPr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0" name="Content Placeholder 7"/>
          <p:cNvSpPr>
            <a:spLocks noGrp="1"/>
          </p:cNvSpPr>
          <p:nvPr>
            <p:ph sz="quarter" idx="11"/>
          </p:nvPr>
        </p:nvSpPr>
        <p:spPr>
          <a:xfrm>
            <a:off x="4713120" y="1499616"/>
            <a:ext cx="4001182" cy="4674172"/>
          </a:xfrm>
        </p:spPr>
        <p:txBody>
          <a:bodyPr/>
          <a:lstStyle>
            <a:lvl1pPr marL="228600" marR="0" indent="-228600" algn="l" defTabSz="914400" rtl="0" eaLnBrk="1" fontAlgn="base" latinLnBrk="0" hangingPunct="1">
              <a:lnSpc>
                <a:spcPct val="95000"/>
              </a:lnSpc>
              <a:spcBef>
                <a:spcPts val="1000"/>
              </a:spcBef>
              <a:spcAft>
                <a:spcPct val="0"/>
              </a:spcAft>
              <a:buClr>
                <a:srgbClr val="0083C2"/>
              </a:buClr>
              <a:buSzTx/>
              <a:buFont typeface="Arial Black" panose="020B0A04020102020204" pitchFamily="34" charset="0"/>
              <a:buChar char="&gt;"/>
              <a:tabLst/>
              <a:defRPr/>
            </a:lvl1pPr>
            <a:lvl2pPr marL="514350" marR="0" indent="-285750" algn="l" defTabSz="914400" rtl="0" eaLnBrk="1" fontAlgn="base" latinLnBrk="0" hangingPunct="1">
              <a:lnSpc>
                <a:spcPct val="95000"/>
              </a:lnSpc>
              <a:spcBef>
                <a:spcPts val="1000"/>
              </a:spcBef>
              <a:spcAft>
                <a:spcPct val="0"/>
              </a:spcAft>
              <a:buClr>
                <a:srgbClr val="0083C2"/>
              </a:buClr>
              <a:buSzTx/>
              <a:buFont typeface="Arial" charset="0"/>
              <a:buChar char="•"/>
              <a:tabLst/>
              <a:defRPr/>
            </a:lvl2pPr>
            <a:lvl3pPr marL="742950" marR="0" indent="-200025" algn="l" defTabSz="914400" rtl="0" eaLnBrk="1" fontAlgn="base" latinLnBrk="0" hangingPunct="1">
              <a:lnSpc>
                <a:spcPct val="95000"/>
              </a:lnSpc>
              <a:spcBef>
                <a:spcPts val="1000"/>
              </a:spcBef>
              <a:spcAft>
                <a:spcPct val="0"/>
              </a:spcAft>
              <a:buClr>
                <a:srgbClr val="0083C2"/>
              </a:buClr>
              <a:buSzTx/>
              <a:buFont typeface="Arial" charset="0"/>
              <a:buChar char="•"/>
              <a:tabLst/>
              <a:defRPr/>
            </a:lvl3pPr>
            <a:lvl4pPr marL="979488" marR="0" indent="-200025" algn="l" defTabSz="914400" rtl="0" eaLnBrk="1" fontAlgn="base" latinLnBrk="0" hangingPunct="1">
              <a:lnSpc>
                <a:spcPct val="95000"/>
              </a:lnSpc>
              <a:spcBef>
                <a:spcPts val="1000"/>
              </a:spcBef>
              <a:spcAft>
                <a:spcPct val="0"/>
              </a:spcAft>
              <a:buClr>
                <a:srgbClr val="0083C2"/>
              </a:buClr>
              <a:buSzTx/>
              <a:buFont typeface="Arial" charset="0"/>
              <a:buChar char="•"/>
              <a:tabLst/>
              <a:defRPr/>
            </a:lvl4pPr>
            <a:lvl5pPr marL="1270000" marR="0" indent="-236538" algn="l" defTabSz="914400" rtl="0" eaLnBrk="1" fontAlgn="base" latinLnBrk="0" hangingPunct="1">
              <a:lnSpc>
                <a:spcPct val="95000"/>
              </a:lnSpc>
              <a:spcBef>
                <a:spcPts val="1000"/>
              </a:spcBef>
              <a:spcAft>
                <a:spcPct val="0"/>
              </a:spcAft>
              <a:buClr>
                <a:srgbClr val="0083C2"/>
              </a:buClr>
              <a:buSzTx/>
              <a:buFont typeface="Arial" charset="0"/>
              <a:buChar char="•"/>
              <a:tabLst/>
              <a:defRPr/>
            </a:lvl5pPr>
          </a:lstStyle>
          <a:p>
            <a:pPr marL="228600" marR="0" lvl="0" indent="-228600" algn="l" defTabSz="914400" rtl="0" eaLnBrk="1" fontAlgn="base" latinLnBrk="0" hangingPunct="1">
              <a:lnSpc>
                <a:spcPct val="95000"/>
              </a:lnSpc>
              <a:spcBef>
                <a:spcPts val="1000"/>
              </a:spcBef>
              <a:spcAft>
                <a:spcPct val="0"/>
              </a:spcAft>
              <a:buClr>
                <a:srgbClr val="0083C2"/>
              </a:buClr>
              <a:buSzTx/>
              <a:buFont typeface="Arial Black" panose="020B0A04020102020204" pitchFamily="34" charset="0"/>
              <a:buChar char="&gt;"/>
              <a:tabLst/>
              <a:defRPr/>
            </a:pPr>
            <a:r>
              <a:rPr lang="en-US" smtClean="0"/>
              <a:t>Click to edit Master text styles</a:t>
            </a:r>
          </a:p>
          <a:p>
            <a:pPr marL="228600" marR="0" lvl="1" indent="-228600" algn="l" defTabSz="914400" rtl="0" eaLnBrk="1" fontAlgn="base" latinLnBrk="0" hangingPunct="1">
              <a:lnSpc>
                <a:spcPct val="95000"/>
              </a:lnSpc>
              <a:spcBef>
                <a:spcPts val="1000"/>
              </a:spcBef>
              <a:spcAft>
                <a:spcPct val="0"/>
              </a:spcAft>
              <a:buClr>
                <a:srgbClr val="0083C2"/>
              </a:buClr>
              <a:buSzTx/>
              <a:buFont typeface="Arial Black" panose="020B0A04020102020204" pitchFamily="34" charset="0"/>
              <a:buChar char="&gt;"/>
              <a:tabLst/>
              <a:defRPr/>
            </a:pPr>
            <a:r>
              <a:rPr lang="en-US" smtClean="0"/>
              <a:t>Second level</a:t>
            </a:r>
          </a:p>
          <a:p>
            <a:pPr marL="228600" marR="0" lvl="2" indent="-228600" algn="l" defTabSz="914400" rtl="0" eaLnBrk="1" fontAlgn="base" latinLnBrk="0" hangingPunct="1">
              <a:lnSpc>
                <a:spcPct val="95000"/>
              </a:lnSpc>
              <a:spcBef>
                <a:spcPts val="1000"/>
              </a:spcBef>
              <a:spcAft>
                <a:spcPct val="0"/>
              </a:spcAft>
              <a:buClr>
                <a:srgbClr val="0083C2"/>
              </a:buClr>
              <a:buSzTx/>
              <a:buFont typeface="Arial Black" panose="020B0A04020102020204" pitchFamily="34" charset="0"/>
              <a:buChar char="&gt;"/>
              <a:tabLst/>
              <a:defRPr/>
            </a:pPr>
            <a:r>
              <a:rPr lang="en-US" smtClean="0"/>
              <a:t>Third level</a:t>
            </a:r>
          </a:p>
          <a:p>
            <a:pPr marL="228600" marR="0" lvl="3" indent="-228600" algn="l" defTabSz="914400" rtl="0" eaLnBrk="1" fontAlgn="base" latinLnBrk="0" hangingPunct="1">
              <a:lnSpc>
                <a:spcPct val="95000"/>
              </a:lnSpc>
              <a:spcBef>
                <a:spcPts val="1000"/>
              </a:spcBef>
              <a:spcAft>
                <a:spcPct val="0"/>
              </a:spcAft>
              <a:buClr>
                <a:srgbClr val="0083C2"/>
              </a:buClr>
              <a:buSzTx/>
              <a:buFont typeface="Arial Black" panose="020B0A04020102020204" pitchFamily="34" charset="0"/>
              <a:buChar char="&gt;"/>
              <a:tabLst/>
              <a:defRPr/>
            </a:pPr>
            <a:r>
              <a:rPr lang="en-US" smtClean="0"/>
              <a:t>Fourth level</a:t>
            </a:r>
          </a:p>
          <a:p>
            <a:pPr marL="228600" marR="0" lvl="4" indent="-228600" algn="l" defTabSz="914400" rtl="0" eaLnBrk="1" fontAlgn="base" latinLnBrk="0" hangingPunct="1">
              <a:lnSpc>
                <a:spcPct val="95000"/>
              </a:lnSpc>
              <a:spcBef>
                <a:spcPts val="1000"/>
              </a:spcBef>
              <a:spcAft>
                <a:spcPct val="0"/>
              </a:spcAft>
              <a:buClr>
                <a:srgbClr val="0083C2"/>
              </a:buClr>
              <a:buSzTx/>
              <a:buFont typeface="Arial Black" panose="020B0A04020102020204" pitchFamily="34" charset="0"/>
              <a:buChar char="&gt;"/>
              <a:tabLst/>
              <a:defRPr/>
            </a:pPr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1" name="Text Placeholder 2"/>
          <p:cNvSpPr>
            <a:spLocks noGrp="1" noChangeAspect="1"/>
          </p:cNvSpPr>
          <p:nvPr>
            <p:ph type="body" idx="12"/>
          </p:nvPr>
        </p:nvSpPr>
        <p:spPr bwMode="gray">
          <a:xfrm>
            <a:off x="404812" y="670970"/>
            <a:ext cx="6068478" cy="329184"/>
          </a:xfrm>
        </p:spPr>
        <p:txBody>
          <a:bodyPr lIns="0" tIns="0" rIns="0" bIns="0" anchor="t" anchorCtr="0"/>
          <a:lstStyle>
            <a:lvl1pPr marL="0" indent="0">
              <a:lnSpc>
                <a:spcPct val="95000"/>
              </a:lnSpc>
              <a:buNone/>
              <a:defRPr sz="1800" b="0">
                <a:solidFill>
                  <a:schemeClr val="tx2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itle 5"/>
          <p:cNvSpPr>
            <a:spLocks noGrp="1"/>
          </p:cNvSpPr>
          <p:nvPr>
            <p:ph type="title"/>
          </p:nvPr>
        </p:nvSpPr>
        <p:spPr>
          <a:xfrm>
            <a:off x="404812" y="310896"/>
            <a:ext cx="6080760" cy="332399"/>
          </a:xfrm>
        </p:spPr>
        <p:txBody>
          <a:bodyPr anchor="b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6054256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343400"/>
            <a:ext cx="9144000" cy="25146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3715" y="346569"/>
            <a:ext cx="1484623" cy="247437"/>
          </a:xfrm>
          <a:prstGeom prst="rect">
            <a:avLst/>
          </a:prstGeom>
        </p:spPr>
      </p:pic>
      <p:cxnSp>
        <p:nvCxnSpPr>
          <p:cNvPr id="11" name="Straight Connector 10"/>
          <p:cNvCxnSpPr/>
          <p:nvPr userDrawn="1"/>
        </p:nvCxnSpPr>
        <p:spPr bwMode="auto">
          <a:xfrm>
            <a:off x="0" y="1147763"/>
            <a:ext cx="8774810" cy="0"/>
          </a:xfrm>
          <a:prstGeom prst="line">
            <a:avLst/>
          </a:prstGeom>
          <a:solidFill>
            <a:schemeClr val="accent2"/>
          </a:solidFill>
          <a:ln w="28575" cap="sq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5398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12750" y="310896"/>
            <a:ext cx="6400800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 dirty="0" smtClean="0"/>
          </a:p>
        </p:txBody>
      </p:sp>
      <p:sp>
        <p:nvSpPr>
          <p:cNvPr id="553987" name="Rectangle 3"/>
          <p:cNvSpPr>
            <a:spLocks noGrp="1" noChangeArrowheads="1"/>
          </p:cNvSpPr>
          <p:nvPr>
            <p:ph type="body" idx="1"/>
          </p:nvPr>
        </p:nvSpPr>
        <p:spPr bwMode="gray">
          <a:xfrm>
            <a:off x="412751" y="1504951"/>
            <a:ext cx="8316912" cy="4668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553996" name="Text Box 12"/>
          <p:cNvSpPr txBox="1">
            <a:spLocks noChangeArrowheads="1"/>
          </p:cNvSpPr>
          <p:nvPr userDrawn="1"/>
        </p:nvSpPr>
        <p:spPr bwMode="gray">
          <a:xfrm>
            <a:off x="412750" y="6557963"/>
            <a:ext cx="5600700" cy="3000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91440" tIns="45720" rIns="91440" bIns="45720"/>
          <a:lstStyle/>
          <a:p>
            <a:pPr algn="l">
              <a:spcBef>
                <a:spcPts val="900"/>
              </a:spcBef>
            </a:pPr>
            <a:r>
              <a:rPr lang="en-US" sz="1000" kern="1200" dirty="0" smtClean="0">
                <a:solidFill>
                  <a:schemeClr val="tx2"/>
                </a:solidFill>
                <a:latin typeface="Arial" charset="0"/>
                <a:ea typeface="+mn-ea"/>
                <a:cs typeface="+mn-cs"/>
              </a:rPr>
              <a:t>Company Confidential</a:t>
            </a:r>
          </a:p>
        </p:txBody>
      </p:sp>
      <p:sp>
        <p:nvSpPr>
          <p:cNvPr id="7" name="Rectangle 5"/>
          <p:cNvSpPr txBox="1">
            <a:spLocks noChangeArrowheads="1"/>
          </p:cNvSpPr>
          <p:nvPr/>
        </p:nvSpPr>
        <p:spPr bwMode="gray">
          <a:xfrm>
            <a:off x="7926388" y="6557963"/>
            <a:ext cx="803275" cy="30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320040" numCol="1" anchor="t" anchorCtr="0" compatLnSpc="1">
            <a:prstTxWarp prst="textNoShape">
              <a:avLst/>
            </a:prstTxWarp>
          </a:bodyPr>
          <a:lstStyle>
            <a:lvl1pPr algn="r" eaLnBrk="0" hangingPunct="0">
              <a:lnSpc>
                <a:spcPct val="100000"/>
              </a:lnSpc>
              <a:spcBef>
                <a:spcPct val="0"/>
              </a:spcBef>
              <a:defRPr sz="1000">
                <a:solidFill>
                  <a:schemeClr val="tx2"/>
                </a:solidFill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C78AFB4-C6FC-46C2-866E-1D035D18C51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1" r:id="rId2"/>
    <p:sldLayoutId id="2147483700" r:id="rId3"/>
    <p:sldLayoutId id="2147483713" r:id="rId4"/>
    <p:sldLayoutId id="2147483702" r:id="rId5"/>
    <p:sldLayoutId id="2147483715" r:id="rId6"/>
    <p:sldLayoutId id="2147483712" r:id="rId7"/>
    <p:sldLayoutId id="2147483704" r:id="rId8"/>
    <p:sldLayoutId id="2147483705" r:id="rId9"/>
    <p:sldLayoutId id="2147483716" r:id="rId10"/>
    <p:sldLayoutId id="2147483717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  <p:sldLayoutId id="2147483726" r:id="rId18"/>
    <p:sldLayoutId id="2147483727" r:id="rId19"/>
    <p:sldLayoutId id="2147483728" r:id="rId20"/>
    <p:sldLayoutId id="2147483729" r:id="rId21"/>
  </p:sldLayoutIdLst>
  <p:transition>
    <p:wipe dir="r"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0" i="0" u="none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9pPr>
    </p:titleStyle>
    <p:bodyStyle>
      <a:lvl1pPr marL="285750" indent="-285750" algn="l" rtl="0" eaLnBrk="1" fontAlgn="base" hangingPunct="1">
        <a:lnSpc>
          <a:spcPct val="95000"/>
        </a:lnSpc>
        <a:spcBef>
          <a:spcPts val="1200"/>
        </a:spcBef>
        <a:spcAft>
          <a:spcPct val="0"/>
        </a:spcAft>
        <a:buClr>
          <a:schemeClr val="accent2"/>
        </a:buClr>
        <a:buFont typeface="Arial Black" panose="020B0A04020102020204" pitchFamily="34" charset="0"/>
        <a:buChar char="&gt;"/>
        <a:defRPr sz="2000">
          <a:solidFill>
            <a:schemeClr val="tx2"/>
          </a:solidFill>
          <a:latin typeface="+mn-lt"/>
          <a:ea typeface="+mn-ea"/>
          <a:cs typeface="+mn-cs"/>
        </a:defRPr>
      </a:lvl1pPr>
      <a:lvl2pPr marL="571500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•"/>
        <a:defRPr sz="1800">
          <a:solidFill>
            <a:schemeClr val="tx2"/>
          </a:solidFill>
          <a:latin typeface="+mn-lt"/>
        </a:defRPr>
      </a:lvl2pPr>
      <a:lvl3pPr marL="857250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•"/>
        <a:defRPr sz="1600">
          <a:solidFill>
            <a:schemeClr val="tx2"/>
          </a:solidFill>
          <a:latin typeface="+mn-lt"/>
        </a:defRPr>
      </a:lvl3pPr>
      <a:lvl4pPr marL="1143000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•"/>
        <a:defRPr sz="1600">
          <a:solidFill>
            <a:schemeClr val="tx2"/>
          </a:solidFill>
          <a:latin typeface="+mn-lt"/>
        </a:defRPr>
      </a:lvl4pPr>
      <a:lvl5pPr marL="1485900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•"/>
        <a:defRPr sz="1600">
          <a:solidFill>
            <a:schemeClr val="tx2"/>
          </a:solidFill>
          <a:latin typeface="+mn-lt"/>
        </a:defRPr>
      </a:lvl5pPr>
      <a:lvl6pPr marL="2228850" indent="-228600" algn="l" rtl="0" eaLnBrk="1" fontAlgn="base" hangingPunct="1">
        <a:lnSpc>
          <a:spcPct val="95000"/>
        </a:lnSpc>
        <a:spcBef>
          <a:spcPct val="25000"/>
        </a:spcBef>
        <a:spcAft>
          <a:spcPct val="0"/>
        </a:spcAft>
        <a:buClr>
          <a:schemeClr val="accent1"/>
        </a:buClr>
        <a:buChar char="•"/>
        <a:defRPr sz="1600">
          <a:solidFill>
            <a:schemeClr val="tx1"/>
          </a:solidFill>
          <a:latin typeface="+mn-lt"/>
        </a:defRPr>
      </a:lvl6pPr>
      <a:lvl7pPr marL="2686050" indent="-228600" algn="l" rtl="0" eaLnBrk="1" fontAlgn="base" hangingPunct="1">
        <a:lnSpc>
          <a:spcPct val="95000"/>
        </a:lnSpc>
        <a:spcBef>
          <a:spcPct val="25000"/>
        </a:spcBef>
        <a:spcAft>
          <a:spcPct val="0"/>
        </a:spcAft>
        <a:buClr>
          <a:schemeClr val="accent1"/>
        </a:buClr>
        <a:buChar char="•"/>
        <a:defRPr sz="1600">
          <a:solidFill>
            <a:schemeClr val="tx1"/>
          </a:solidFill>
          <a:latin typeface="+mn-lt"/>
        </a:defRPr>
      </a:lvl7pPr>
      <a:lvl8pPr marL="3143250" indent="-228600" algn="l" rtl="0" eaLnBrk="1" fontAlgn="base" hangingPunct="1">
        <a:lnSpc>
          <a:spcPct val="95000"/>
        </a:lnSpc>
        <a:spcBef>
          <a:spcPct val="25000"/>
        </a:spcBef>
        <a:spcAft>
          <a:spcPct val="0"/>
        </a:spcAft>
        <a:buClr>
          <a:schemeClr val="accent1"/>
        </a:buClr>
        <a:buChar char="•"/>
        <a:defRPr sz="1600">
          <a:solidFill>
            <a:schemeClr val="tx1"/>
          </a:solidFill>
          <a:latin typeface="+mn-lt"/>
        </a:defRPr>
      </a:lvl8pPr>
      <a:lvl9pPr marL="3600450" indent="-228600" algn="l" rtl="0" eaLnBrk="1" fontAlgn="base" hangingPunct="1">
        <a:lnSpc>
          <a:spcPct val="95000"/>
        </a:lnSpc>
        <a:spcBef>
          <a:spcPct val="25000"/>
        </a:spcBef>
        <a:spcAft>
          <a:spcPct val="0"/>
        </a:spcAft>
        <a:buClr>
          <a:schemeClr val="accent1"/>
        </a:buClr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7.png"/><Relationship Id="rId5" Type="http://schemas.openxmlformats.org/officeDocument/2006/relationships/image" Target="../media/image16.w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7.png"/><Relationship Id="rId5" Type="http://schemas.openxmlformats.org/officeDocument/2006/relationships/image" Target="../media/image16.wmf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9.wmf"/><Relationship Id="rId12" Type="http://schemas.openxmlformats.org/officeDocument/2006/relationships/image" Target="../media/image16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11" Type="http://schemas.openxmlformats.org/officeDocument/2006/relationships/oleObject" Target="../embeddings/oleObject6.bin"/><Relationship Id="rId5" Type="http://schemas.openxmlformats.org/officeDocument/2006/relationships/image" Target="../media/image18.wmf"/><Relationship Id="rId10" Type="http://schemas.openxmlformats.org/officeDocument/2006/relationships/image" Target="../media/image20.wmf"/><Relationship Id="rId4" Type="http://schemas.openxmlformats.org/officeDocument/2006/relationships/oleObject" Target="../embeddings/oleObject3.bin"/><Relationship Id="rId9" Type="http://schemas.openxmlformats.org/officeDocument/2006/relationships/oleObject" Target="../embeddings/oleObject5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30.wmf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29.wmf"/><Relationship Id="rId4" Type="http://schemas.openxmlformats.org/officeDocument/2006/relationships/oleObject" Target="../embeddings/oleObject7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7" Type="http://schemas.openxmlformats.org/officeDocument/2006/relationships/image" Target="../media/image36.jpeg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35.png"/><Relationship Id="rId5" Type="http://schemas.openxmlformats.org/officeDocument/2006/relationships/image" Target="../media/image34.jpeg"/><Relationship Id="rId4" Type="http://schemas.openxmlformats.org/officeDocument/2006/relationships/image" Target="../media/image33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emf"/><Relationship Id="rId5" Type="http://schemas.openxmlformats.org/officeDocument/2006/relationships/image" Target="../media/image39.emf"/><Relationship Id="rId4" Type="http://schemas.openxmlformats.org/officeDocument/2006/relationships/image" Target="../media/image38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0.emf"/><Relationship Id="rId5" Type="http://schemas.openxmlformats.org/officeDocument/2006/relationships/image" Target="../media/image43.emf"/><Relationship Id="rId4" Type="http://schemas.openxmlformats.org/officeDocument/2006/relationships/image" Target="../media/image42.e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848955"/>
            <a:ext cx="6400800" cy="64008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MACOM</a:t>
            </a:r>
            <a:br>
              <a:rPr lang="en-US" dirty="0" smtClean="0"/>
            </a:br>
            <a:r>
              <a:rPr lang="en-US" dirty="0" smtClean="0"/>
              <a:t>Diode Limiter Products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914400" y="3777321"/>
            <a:ext cx="4572000" cy="731520"/>
          </a:xfrm>
        </p:spPr>
        <p:txBody>
          <a:bodyPr/>
          <a:lstStyle/>
          <a:p>
            <a:r>
              <a:rPr lang="en-US" dirty="0" smtClean="0"/>
              <a:t>Rick Cory, Joe Bukowski</a:t>
            </a:r>
          </a:p>
          <a:p>
            <a:r>
              <a:rPr lang="en-US" dirty="0" smtClean="0"/>
              <a:t>3 March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300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36795" y="422029"/>
            <a:ext cx="5247568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200" b="1" dirty="0" smtClean="0"/>
              <a:t>PRODUCT FAMILIES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530167" y="1488128"/>
            <a:ext cx="5793850" cy="5202791"/>
            <a:chOff x="2381814" y="1097009"/>
            <a:chExt cx="5793850" cy="5202791"/>
          </a:xfrm>
        </p:grpSpPr>
        <p:sp>
          <p:nvSpPr>
            <p:cNvPr id="30" name="Freeform 29"/>
            <p:cNvSpPr/>
            <p:nvPr/>
          </p:nvSpPr>
          <p:spPr>
            <a:xfrm>
              <a:off x="4423676" y="3066426"/>
              <a:ext cx="1674580" cy="1150965"/>
            </a:xfrm>
            <a:custGeom>
              <a:avLst/>
              <a:gdLst>
                <a:gd name="connsiteX0" fmla="*/ 0 w 1196197"/>
                <a:gd name="connsiteY0" fmla="*/ 59810 h 598098"/>
                <a:gd name="connsiteX1" fmla="*/ 17518 w 1196197"/>
                <a:gd name="connsiteY1" fmla="*/ 17518 h 598098"/>
                <a:gd name="connsiteX2" fmla="*/ 59810 w 1196197"/>
                <a:gd name="connsiteY2" fmla="*/ 0 h 598098"/>
                <a:gd name="connsiteX3" fmla="*/ 1136387 w 1196197"/>
                <a:gd name="connsiteY3" fmla="*/ 0 h 598098"/>
                <a:gd name="connsiteX4" fmla="*/ 1178679 w 1196197"/>
                <a:gd name="connsiteY4" fmla="*/ 17518 h 598098"/>
                <a:gd name="connsiteX5" fmla="*/ 1196197 w 1196197"/>
                <a:gd name="connsiteY5" fmla="*/ 59810 h 598098"/>
                <a:gd name="connsiteX6" fmla="*/ 1196197 w 1196197"/>
                <a:gd name="connsiteY6" fmla="*/ 538288 h 598098"/>
                <a:gd name="connsiteX7" fmla="*/ 1178679 w 1196197"/>
                <a:gd name="connsiteY7" fmla="*/ 580580 h 598098"/>
                <a:gd name="connsiteX8" fmla="*/ 1136387 w 1196197"/>
                <a:gd name="connsiteY8" fmla="*/ 598098 h 598098"/>
                <a:gd name="connsiteX9" fmla="*/ 59810 w 1196197"/>
                <a:gd name="connsiteY9" fmla="*/ 598098 h 598098"/>
                <a:gd name="connsiteX10" fmla="*/ 17518 w 1196197"/>
                <a:gd name="connsiteY10" fmla="*/ 580580 h 598098"/>
                <a:gd name="connsiteX11" fmla="*/ 0 w 1196197"/>
                <a:gd name="connsiteY11" fmla="*/ 538288 h 598098"/>
                <a:gd name="connsiteX12" fmla="*/ 0 w 1196197"/>
                <a:gd name="connsiteY12" fmla="*/ 59810 h 5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598098">
                  <a:moveTo>
                    <a:pt x="0" y="59810"/>
                  </a:moveTo>
                  <a:cubicBezTo>
                    <a:pt x="0" y="43947"/>
                    <a:pt x="6301" y="28734"/>
                    <a:pt x="17518" y="17518"/>
                  </a:cubicBezTo>
                  <a:cubicBezTo>
                    <a:pt x="28735" y="6301"/>
                    <a:pt x="43947" y="0"/>
                    <a:pt x="59810" y="0"/>
                  </a:cubicBezTo>
                  <a:lnTo>
                    <a:pt x="1136387" y="0"/>
                  </a:lnTo>
                  <a:cubicBezTo>
                    <a:pt x="1152250" y="0"/>
                    <a:pt x="1167463" y="6301"/>
                    <a:pt x="1178679" y="17518"/>
                  </a:cubicBezTo>
                  <a:cubicBezTo>
                    <a:pt x="1189896" y="28735"/>
                    <a:pt x="1196197" y="43947"/>
                    <a:pt x="1196197" y="59810"/>
                  </a:cubicBezTo>
                  <a:lnTo>
                    <a:pt x="1196197" y="538288"/>
                  </a:lnTo>
                  <a:cubicBezTo>
                    <a:pt x="1196197" y="554151"/>
                    <a:pt x="1189896" y="569364"/>
                    <a:pt x="1178679" y="580580"/>
                  </a:cubicBezTo>
                  <a:cubicBezTo>
                    <a:pt x="1167462" y="591797"/>
                    <a:pt x="1152250" y="598098"/>
                    <a:pt x="1136387" y="598098"/>
                  </a:cubicBezTo>
                  <a:lnTo>
                    <a:pt x="59810" y="598098"/>
                  </a:lnTo>
                  <a:cubicBezTo>
                    <a:pt x="43947" y="598098"/>
                    <a:pt x="28734" y="591797"/>
                    <a:pt x="17518" y="580580"/>
                  </a:cubicBezTo>
                  <a:cubicBezTo>
                    <a:pt x="6301" y="569363"/>
                    <a:pt x="0" y="554151"/>
                    <a:pt x="0" y="538288"/>
                  </a:cubicBezTo>
                  <a:lnTo>
                    <a:pt x="0" y="59810"/>
                  </a:lnTo>
                  <a:close/>
                </a:path>
              </a:pathLst>
            </a:custGeom>
            <a:solidFill>
              <a:srgbClr val="18921E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678" tIns="27678" rIns="27678" bIns="27678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 b="1" kern="1200" dirty="0" smtClean="0"/>
                <a:t>Diode Products</a:t>
              </a:r>
              <a:endParaRPr lang="en-US" sz="2400" b="1" kern="1200" dirty="0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4540734" y="1097009"/>
              <a:ext cx="1371600" cy="1245435"/>
            </a:xfrm>
            <a:custGeom>
              <a:avLst/>
              <a:gdLst>
                <a:gd name="connsiteX0" fmla="*/ 0 w 1196197"/>
                <a:gd name="connsiteY0" fmla="*/ 59810 h 598098"/>
                <a:gd name="connsiteX1" fmla="*/ 17518 w 1196197"/>
                <a:gd name="connsiteY1" fmla="*/ 17518 h 598098"/>
                <a:gd name="connsiteX2" fmla="*/ 59810 w 1196197"/>
                <a:gd name="connsiteY2" fmla="*/ 0 h 598098"/>
                <a:gd name="connsiteX3" fmla="*/ 1136387 w 1196197"/>
                <a:gd name="connsiteY3" fmla="*/ 0 h 598098"/>
                <a:gd name="connsiteX4" fmla="*/ 1178679 w 1196197"/>
                <a:gd name="connsiteY4" fmla="*/ 17518 h 598098"/>
                <a:gd name="connsiteX5" fmla="*/ 1196197 w 1196197"/>
                <a:gd name="connsiteY5" fmla="*/ 59810 h 598098"/>
                <a:gd name="connsiteX6" fmla="*/ 1196197 w 1196197"/>
                <a:gd name="connsiteY6" fmla="*/ 538288 h 598098"/>
                <a:gd name="connsiteX7" fmla="*/ 1178679 w 1196197"/>
                <a:gd name="connsiteY7" fmla="*/ 580580 h 598098"/>
                <a:gd name="connsiteX8" fmla="*/ 1136387 w 1196197"/>
                <a:gd name="connsiteY8" fmla="*/ 598098 h 598098"/>
                <a:gd name="connsiteX9" fmla="*/ 59810 w 1196197"/>
                <a:gd name="connsiteY9" fmla="*/ 598098 h 598098"/>
                <a:gd name="connsiteX10" fmla="*/ 17518 w 1196197"/>
                <a:gd name="connsiteY10" fmla="*/ 580580 h 598098"/>
                <a:gd name="connsiteX11" fmla="*/ 0 w 1196197"/>
                <a:gd name="connsiteY11" fmla="*/ 538288 h 598098"/>
                <a:gd name="connsiteX12" fmla="*/ 0 w 1196197"/>
                <a:gd name="connsiteY12" fmla="*/ 59810 h 5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598098">
                  <a:moveTo>
                    <a:pt x="0" y="59810"/>
                  </a:moveTo>
                  <a:cubicBezTo>
                    <a:pt x="0" y="43947"/>
                    <a:pt x="6301" y="28734"/>
                    <a:pt x="17518" y="17518"/>
                  </a:cubicBezTo>
                  <a:cubicBezTo>
                    <a:pt x="28735" y="6301"/>
                    <a:pt x="43947" y="0"/>
                    <a:pt x="59810" y="0"/>
                  </a:cubicBezTo>
                  <a:lnTo>
                    <a:pt x="1136387" y="0"/>
                  </a:lnTo>
                  <a:cubicBezTo>
                    <a:pt x="1152250" y="0"/>
                    <a:pt x="1167463" y="6301"/>
                    <a:pt x="1178679" y="17518"/>
                  </a:cubicBezTo>
                  <a:cubicBezTo>
                    <a:pt x="1189896" y="28735"/>
                    <a:pt x="1196197" y="43947"/>
                    <a:pt x="1196197" y="59810"/>
                  </a:cubicBezTo>
                  <a:lnTo>
                    <a:pt x="1196197" y="538288"/>
                  </a:lnTo>
                  <a:cubicBezTo>
                    <a:pt x="1196197" y="554151"/>
                    <a:pt x="1189896" y="569364"/>
                    <a:pt x="1178679" y="580580"/>
                  </a:cubicBezTo>
                  <a:cubicBezTo>
                    <a:pt x="1167462" y="591797"/>
                    <a:pt x="1152250" y="598098"/>
                    <a:pt x="1136387" y="598098"/>
                  </a:cubicBezTo>
                  <a:lnTo>
                    <a:pt x="59810" y="598098"/>
                  </a:lnTo>
                  <a:cubicBezTo>
                    <a:pt x="43947" y="598098"/>
                    <a:pt x="28734" y="591797"/>
                    <a:pt x="17518" y="580580"/>
                  </a:cubicBezTo>
                  <a:cubicBezTo>
                    <a:pt x="6301" y="569363"/>
                    <a:pt x="0" y="554151"/>
                    <a:pt x="0" y="538288"/>
                  </a:cubicBezTo>
                  <a:lnTo>
                    <a:pt x="0" y="59810"/>
                  </a:lnTo>
                  <a:close/>
                </a:path>
              </a:pathLst>
            </a:custGeom>
            <a:solidFill>
              <a:srgbClr val="18921E"/>
            </a:solidFill>
            <a:ln w="76200">
              <a:solidFill>
                <a:srgbClr val="FF0000"/>
              </a:solidFill>
            </a:ln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678" tIns="27678" rIns="27678" bIns="27678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b="1" kern="1200" dirty="0" smtClean="0"/>
                <a:t>PIN/NIP Diodes:</a:t>
              </a:r>
            </a:p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b="1" dirty="0" smtClean="0"/>
                <a:t>Switching</a:t>
              </a:r>
            </a:p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b="1" kern="1200" dirty="0" smtClean="0"/>
                <a:t>Attenuation</a:t>
              </a:r>
            </a:p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b="1" dirty="0" smtClean="0"/>
                <a:t>Limiting</a:t>
              </a:r>
              <a:endParaRPr lang="en-US" sz="1400" b="1" kern="1200" dirty="0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6804064" y="2027083"/>
              <a:ext cx="1371600" cy="1005840"/>
            </a:xfrm>
            <a:custGeom>
              <a:avLst/>
              <a:gdLst>
                <a:gd name="connsiteX0" fmla="*/ 0 w 1196197"/>
                <a:gd name="connsiteY0" fmla="*/ 59810 h 598098"/>
                <a:gd name="connsiteX1" fmla="*/ 17518 w 1196197"/>
                <a:gd name="connsiteY1" fmla="*/ 17518 h 598098"/>
                <a:gd name="connsiteX2" fmla="*/ 59810 w 1196197"/>
                <a:gd name="connsiteY2" fmla="*/ 0 h 598098"/>
                <a:gd name="connsiteX3" fmla="*/ 1136387 w 1196197"/>
                <a:gd name="connsiteY3" fmla="*/ 0 h 598098"/>
                <a:gd name="connsiteX4" fmla="*/ 1178679 w 1196197"/>
                <a:gd name="connsiteY4" fmla="*/ 17518 h 598098"/>
                <a:gd name="connsiteX5" fmla="*/ 1196197 w 1196197"/>
                <a:gd name="connsiteY5" fmla="*/ 59810 h 598098"/>
                <a:gd name="connsiteX6" fmla="*/ 1196197 w 1196197"/>
                <a:gd name="connsiteY6" fmla="*/ 538288 h 598098"/>
                <a:gd name="connsiteX7" fmla="*/ 1178679 w 1196197"/>
                <a:gd name="connsiteY7" fmla="*/ 580580 h 598098"/>
                <a:gd name="connsiteX8" fmla="*/ 1136387 w 1196197"/>
                <a:gd name="connsiteY8" fmla="*/ 598098 h 598098"/>
                <a:gd name="connsiteX9" fmla="*/ 59810 w 1196197"/>
                <a:gd name="connsiteY9" fmla="*/ 598098 h 598098"/>
                <a:gd name="connsiteX10" fmla="*/ 17518 w 1196197"/>
                <a:gd name="connsiteY10" fmla="*/ 580580 h 598098"/>
                <a:gd name="connsiteX11" fmla="*/ 0 w 1196197"/>
                <a:gd name="connsiteY11" fmla="*/ 538288 h 598098"/>
                <a:gd name="connsiteX12" fmla="*/ 0 w 1196197"/>
                <a:gd name="connsiteY12" fmla="*/ 59810 h 5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598098">
                  <a:moveTo>
                    <a:pt x="0" y="59810"/>
                  </a:moveTo>
                  <a:cubicBezTo>
                    <a:pt x="0" y="43947"/>
                    <a:pt x="6301" y="28734"/>
                    <a:pt x="17518" y="17518"/>
                  </a:cubicBezTo>
                  <a:cubicBezTo>
                    <a:pt x="28735" y="6301"/>
                    <a:pt x="43947" y="0"/>
                    <a:pt x="59810" y="0"/>
                  </a:cubicBezTo>
                  <a:lnTo>
                    <a:pt x="1136387" y="0"/>
                  </a:lnTo>
                  <a:cubicBezTo>
                    <a:pt x="1152250" y="0"/>
                    <a:pt x="1167463" y="6301"/>
                    <a:pt x="1178679" y="17518"/>
                  </a:cubicBezTo>
                  <a:cubicBezTo>
                    <a:pt x="1189896" y="28735"/>
                    <a:pt x="1196197" y="43947"/>
                    <a:pt x="1196197" y="59810"/>
                  </a:cubicBezTo>
                  <a:lnTo>
                    <a:pt x="1196197" y="538288"/>
                  </a:lnTo>
                  <a:cubicBezTo>
                    <a:pt x="1196197" y="554151"/>
                    <a:pt x="1189896" y="569364"/>
                    <a:pt x="1178679" y="580580"/>
                  </a:cubicBezTo>
                  <a:cubicBezTo>
                    <a:pt x="1167462" y="591797"/>
                    <a:pt x="1152250" y="598098"/>
                    <a:pt x="1136387" y="598098"/>
                  </a:cubicBezTo>
                  <a:lnTo>
                    <a:pt x="59810" y="598098"/>
                  </a:lnTo>
                  <a:cubicBezTo>
                    <a:pt x="43947" y="598098"/>
                    <a:pt x="28734" y="591797"/>
                    <a:pt x="17518" y="580580"/>
                  </a:cubicBezTo>
                  <a:cubicBezTo>
                    <a:pt x="6301" y="569363"/>
                    <a:pt x="0" y="554151"/>
                    <a:pt x="0" y="538288"/>
                  </a:cubicBezTo>
                  <a:lnTo>
                    <a:pt x="0" y="59810"/>
                  </a:lnTo>
                  <a:close/>
                </a:path>
              </a:pathLst>
            </a:custGeom>
            <a:solidFill>
              <a:srgbClr val="18921E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678" tIns="27678" rIns="27678" bIns="27678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tabLst>
                  <a:tab pos="1603375" algn="l"/>
                </a:tabLst>
              </a:pPr>
              <a:r>
                <a:rPr lang="en-US" sz="1200" b="1" kern="1200" dirty="0" smtClean="0"/>
                <a:t>Schottky Diodes:</a:t>
              </a:r>
            </a:p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tabLst>
                  <a:tab pos="1603375" algn="l"/>
                </a:tabLst>
              </a:pPr>
              <a:r>
                <a:rPr lang="en-US" sz="1200" b="1" dirty="0" smtClean="0"/>
                <a:t>Detection</a:t>
              </a:r>
            </a:p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tabLst>
                  <a:tab pos="1603375" algn="l"/>
                </a:tabLst>
              </a:pPr>
              <a:r>
                <a:rPr lang="en-US" sz="1200" b="1" kern="1200" dirty="0" smtClean="0"/>
                <a:t>Frequency Mixing</a:t>
              </a:r>
              <a:endParaRPr lang="en-US" sz="1200" b="1" kern="1200" dirty="0"/>
            </a:p>
          </p:txBody>
        </p:sp>
        <p:sp>
          <p:nvSpPr>
            <p:cNvPr id="36" name="Freeform 35"/>
            <p:cNvSpPr/>
            <p:nvPr/>
          </p:nvSpPr>
          <p:spPr>
            <a:xfrm>
              <a:off x="2381814" y="4156582"/>
              <a:ext cx="1371600" cy="1005840"/>
            </a:xfrm>
            <a:custGeom>
              <a:avLst/>
              <a:gdLst>
                <a:gd name="connsiteX0" fmla="*/ 0 w 1196197"/>
                <a:gd name="connsiteY0" fmla="*/ 85508 h 855077"/>
                <a:gd name="connsiteX1" fmla="*/ 25045 w 1196197"/>
                <a:gd name="connsiteY1" fmla="*/ 25045 h 855077"/>
                <a:gd name="connsiteX2" fmla="*/ 85508 w 1196197"/>
                <a:gd name="connsiteY2" fmla="*/ 0 h 855077"/>
                <a:gd name="connsiteX3" fmla="*/ 1110689 w 1196197"/>
                <a:gd name="connsiteY3" fmla="*/ 0 h 855077"/>
                <a:gd name="connsiteX4" fmla="*/ 1171152 w 1196197"/>
                <a:gd name="connsiteY4" fmla="*/ 25045 h 855077"/>
                <a:gd name="connsiteX5" fmla="*/ 1196197 w 1196197"/>
                <a:gd name="connsiteY5" fmla="*/ 85508 h 855077"/>
                <a:gd name="connsiteX6" fmla="*/ 1196197 w 1196197"/>
                <a:gd name="connsiteY6" fmla="*/ 769569 h 855077"/>
                <a:gd name="connsiteX7" fmla="*/ 1171152 w 1196197"/>
                <a:gd name="connsiteY7" fmla="*/ 830032 h 855077"/>
                <a:gd name="connsiteX8" fmla="*/ 1110689 w 1196197"/>
                <a:gd name="connsiteY8" fmla="*/ 855077 h 855077"/>
                <a:gd name="connsiteX9" fmla="*/ 85508 w 1196197"/>
                <a:gd name="connsiteY9" fmla="*/ 855077 h 855077"/>
                <a:gd name="connsiteX10" fmla="*/ 25045 w 1196197"/>
                <a:gd name="connsiteY10" fmla="*/ 830032 h 855077"/>
                <a:gd name="connsiteX11" fmla="*/ 0 w 1196197"/>
                <a:gd name="connsiteY11" fmla="*/ 769569 h 855077"/>
                <a:gd name="connsiteX12" fmla="*/ 0 w 1196197"/>
                <a:gd name="connsiteY12" fmla="*/ 85508 h 855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855077">
                  <a:moveTo>
                    <a:pt x="0" y="85508"/>
                  </a:moveTo>
                  <a:cubicBezTo>
                    <a:pt x="0" y="62830"/>
                    <a:pt x="9009" y="41081"/>
                    <a:pt x="25045" y="25045"/>
                  </a:cubicBezTo>
                  <a:cubicBezTo>
                    <a:pt x="41081" y="9009"/>
                    <a:pt x="62830" y="0"/>
                    <a:pt x="85508" y="0"/>
                  </a:cubicBezTo>
                  <a:lnTo>
                    <a:pt x="1110689" y="0"/>
                  </a:lnTo>
                  <a:cubicBezTo>
                    <a:pt x="1133367" y="0"/>
                    <a:pt x="1155116" y="9009"/>
                    <a:pt x="1171152" y="25045"/>
                  </a:cubicBezTo>
                  <a:cubicBezTo>
                    <a:pt x="1187188" y="41081"/>
                    <a:pt x="1196197" y="62830"/>
                    <a:pt x="1196197" y="85508"/>
                  </a:cubicBezTo>
                  <a:lnTo>
                    <a:pt x="1196197" y="769569"/>
                  </a:lnTo>
                  <a:cubicBezTo>
                    <a:pt x="1196197" y="792247"/>
                    <a:pt x="1187188" y="813996"/>
                    <a:pt x="1171152" y="830032"/>
                  </a:cubicBezTo>
                  <a:cubicBezTo>
                    <a:pt x="1155116" y="846068"/>
                    <a:pt x="1133367" y="855077"/>
                    <a:pt x="1110689" y="855077"/>
                  </a:cubicBezTo>
                  <a:lnTo>
                    <a:pt x="85508" y="855077"/>
                  </a:lnTo>
                  <a:cubicBezTo>
                    <a:pt x="62830" y="855077"/>
                    <a:pt x="41081" y="846068"/>
                    <a:pt x="25045" y="830032"/>
                  </a:cubicBezTo>
                  <a:cubicBezTo>
                    <a:pt x="9009" y="813996"/>
                    <a:pt x="0" y="792247"/>
                    <a:pt x="0" y="769569"/>
                  </a:cubicBezTo>
                  <a:lnTo>
                    <a:pt x="0" y="85508"/>
                  </a:lnTo>
                  <a:close/>
                </a:path>
              </a:pathLst>
            </a:custGeom>
            <a:solidFill>
              <a:srgbClr val="18921E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5204" tIns="35204" rIns="35204" bIns="35204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b="1" kern="1200" dirty="0" smtClean="0"/>
                <a:t>Attenuators</a:t>
              </a:r>
              <a:endParaRPr lang="en-US" sz="1600" b="1" kern="1200" dirty="0"/>
            </a:p>
          </p:txBody>
        </p:sp>
        <p:sp>
          <p:nvSpPr>
            <p:cNvPr id="38" name="Freeform 37"/>
            <p:cNvSpPr/>
            <p:nvPr/>
          </p:nvSpPr>
          <p:spPr>
            <a:xfrm>
              <a:off x="2381814" y="2009655"/>
              <a:ext cx="1371600" cy="1005840"/>
            </a:xfrm>
            <a:custGeom>
              <a:avLst/>
              <a:gdLst>
                <a:gd name="connsiteX0" fmla="*/ 0 w 1196197"/>
                <a:gd name="connsiteY0" fmla="*/ 59810 h 598098"/>
                <a:gd name="connsiteX1" fmla="*/ 17518 w 1196197"/>
                <a:gd name="connsiteY1" fmla="*/ 17518 h 598098"/>
                <a:gd name="connsiteX2" fmla="*/ 59810 w 1196197"/>
                <a:gd name="connsiteY2" fmla="*/ 0 h 598098"/>
                <a:gd name="connsiteX3" fmla="*/ 1136387 w 1196197"/>
                <a:gd name="connsiteY3" fmla="*/ 0 h 598098"/>
                <a:gd name="connsiteX4" fmla="*/ 1178679 w 1196197"/>
                <a:gd name="connsiteY4" fmla="*/ 17518 h 598098"/>
                <a:gd name="connsiteX5" fmla="*/ 1196197 w 1196197"/>
                <a:gd name="connsiteY5" fmla="*/ 59810 h 598098"/>
                <a:gd name="connsiteX6" fmla="*/ 1196197 w 1196197"/>
                <a:gd name="connsiteY6" fmla="*/ 538288 h 598098"/>
                <a:gd name="connsiteX7" fmla="*/ 1178679 w 1196197"/>
                <a:gd name="connsiteY7" fmla="*/ 580580 h 598098"/>
                <a:gd name="connsiteX8" fmla="*/ 1136387 w 1196197"/>
                <a:gd name="connsiteY8" fmla="*/ 598098 h 598098"/>
                <a:gd name="connsiteX9" fmla="*/ 59810 w 1196197"/>
                <a:gd name="connsiteY9" fmla="*/ 598098 h 598098"/>
                <a:gd name="connsiteX10" fmla="*/ 17518 w 1196197"/>
                <a:gd name="connsiteY10" fmla="*/ 580580 h 598098"/>
                <a:gd name="connsiteX11" fmla="*/ 0 w 1196197"/>
                <a:gd name="connsiteY11" fmla="*/ 538288 h 598098"/>
                <a:gd name="connsiteX12" fmla="*/ 0 w 1196197"/>
                <a:gd name="connsiteY12" fmla="*/ 59810 h 5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598098">
                  <a:moveTo>
                    <a:pt x="0" y="59810"/>
                  </a:moveTo>
                  <a:cubicBezTo>
                    <a:pt x="0" y="43947"/>
                    <a:pt x="6301" y="28734"/>
                    <a:pt x="17518" y="17518"/>
                  </a:cubicBezTo>
                  <a:cubicBezTo>
                    <a:pt x="28735" y="6301"/>
                    <a:pt x="43947" y="0"/>
                    <a:pt x="59810" y="0"/>
                  </a:cubicBezTo>
                  <a:lnTo>
                    <a:pt x="1136387" y="0"/>
                  </a:lnTo>
                  <a:cubicBezTo>
                    <a:pt x="1152250" y="0"/>
                    <a:pt x="1167463" y="6301"/>
                    <a:pt x="1178679" y="17518"/>
                  </a:cubicBezTo>
                  <a:cubicBezTo>
                    <a:pt x="1189896" y="28735"/>
                    <a:pt x="1196197" y="43947"/>
                    <a:pt x="1196197" y="59810"/>
                  </a:cubicBezTo>
                  <a:lnTo>
                    <a:pt x="1196197" y="538288"/>
                  </a:lnTo>
                  <a:cubicBezTo>
                    <a:pt x="1196197" y="554151"/>
                    <a:pt x="1189896" y="569364"/>
                    <a:pt x="1178679" y="580580"/>
                  </a:cubicBezTo>
                  <a:cubicBezTo>
                    <a:pt x="1167462" y="591797"/>
                    <a:pt x="1152250" y="598098"/>
                    <a:pt x="1136387" y="598098"/>
                  </a:cubicBezTo>
                  <a:lnTo>
                    <a:pt x="59810" y="598098"/>
                  </a:lnTo>
                  <a:cubicBezTo>
                    <a:pt x="43947" y="598098"/>
                    <a:pt x="28734" y="591797"/>
                    <a:pt x="17518" y="580580"/>
                  </a:cubicBezTo>
                  <a:cubicBezTo>
                    <a:pt x="6301" y="569363"/>
                    <a:pt x="0" y="554151"/>
                    <a:pt x="0" y="538288"/>
                  </a:cubicBezTo>
                  <a:lnTo>
                    <a:pt x="0" y="59810"/>
                  </a:lnTo>
                  <a:close/>
                </a:path>
              </a:pathLst>
            </a:custGeom>
            <a:solidFill>
              <a:srgbClr val="18921E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678" tIns="27678" rIns="27678" bIns="27678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b="1" kern="1200" dirty="0" smtClean="0"/>
                <a:t>Varactor Diodes:</a:t>
              </a:r>
            </a:p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b="1" dirty="0" smtClean="0"/>
                <a:t>Tuning</a:t>
              </a:r>
            </a:p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b="1" kern="1200" dirty="0" smtClean="0"/>
                <a:t>Phase Shifting</a:t>
              </a:r>
              <a:endParaRPr lang="en-US" sz="1200" b="1" kern="1200" dirty="0"/>
            </a:p>
          </p:txBody>
        </p:sp>
        <p:sp>
          <p:nvSpPr>
            <p:cNvPr id="40" name="Freeform 39"/>
            <p:cNvSpPr/>
            <p:nvPr/>
          </p:nvSpPr>
          <p:spPr>
            <a:xfrm>
              <a:off x="4534430" y="4952644"/>
              <a:ext cx="1371600" cy="1347156"/>
            </a:xfrm>
            <a:custGeom>
              <a:avLst/>
              <a:gdLst>
                <a:gd name="connsiteX0" fmla="*/ 0 w 1196197"/>
                <a:gd name="connsiteY0" fmla="*/ 59810 h 598098"/>
                <a:gd name="connsiteX1" fmla="*/ 17518 w 1196197"/>
                <a:gd name="connsiteY1" fmla="*/ 17518 h 598098"/>
                <a:gd name="connsiteX2" fmla="*/ 59810 w 1196197"/>
                <a:gd name="connsiteY2" fmla="*/ 0 h 598098"/>
                <a:gd name="connsiteX3" fmla="*/ 1136387 w 1196197"/>
                <a:gd name="connsiteY3" fmla="*/ 0 h 598098"/>
                <a:gd name="connsiteX4" fmla="*/ 1178679 w 1196197"/>
                <a:gd name="connsiteY4" fmla="*/ 17518 h 598098"/>
                <a:gd name="connsiteX5" fmla="*/ 1196197 w 1196197"/>
                <a:gd name="connsiteY5" fmla="*/ 59810 h 598098"/>
                <a:gd name="connsiteX6" fmla="*/ 1196197 w 1196197"/>
                <a:gd name="connsiteY6" fmla="*/ 538288 h 598098"/>
                <a:gd name="connsiteX7" fmla="*/ 1178679 w 1196197"/>
                <a:gd name="connsiteY7" fmla="*/ 580580 h 598098"/>
                <a:gd name="connsiteX8" fmla="*/ 1136387 w 1196197"/>
                <a:gd name="connsiteY8" fmla="*/ 598098 h 598098"/>
                <a:gd name="connsiteX9" fmla="*/ 59810 w 1196197"/>
                <a:gd name="connsiteY9" fmla="*/ 598098 h 598098"/>
                <a:gd name="connsiteX10" fmla="*/ 17518 w 1196197"/>
                <a:gd name="connsiteY10" fmla="*/ 580580 h 598098"/>
                <a:gd name="connsiteX11" fmla="*/ 0 w 1196197"/>
                <a:gd name="connsiteY11" fmla="*/ 538288 h 598098"/>
                <a:gd name="connsiteX12" fmla="*/ 0 w 1196197"/>
                <a:gd name="connsiteY12" fmla="*/ 59810 h 5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598098">
                  <a:moveTo>
                    <a:pt x="0" y="59810"/>
                  </a:moveTo>
                  <a:cubicBezTo>
                    <a:pt x="0" y="43947"/>
                    <a:pt x="6301" y="28734"/>
                    <a:pt x="17518" y="17518"/>
                  </a:cubicBezTo>
                  <a:cubicBezTo>
                    <a:pt x="28735" y="6301"/>
                    <a:pt x="43947" y="0"/>
                    <a:pt x="59810" y="0"/>
                  </a:cubicBezTo>
                  <a:lnTo>
                    <a:pt x="1136387" y="0"/>
                  </a:lnTo>
                  <a:cubicBezTo>
                    <a:pt x="1152250" y="0"/>
                    <a:pt x="1167463" y="6301"/>
                    <a:pt x="1178679" y="17518"/>
                  </a:cubicBezTo>
                  <a:cubicBezTo>
                    <a:pt x="1189896" y="28735"/>
                    <a:pt x="1196197" y="43947"/>
                    <a:pt x="1196197" y="59810"/>
                  </a:cubicBezTo>
                  <a:lnTo>
                    <a:pt x="1196197" y="538288"/>
                  </a:lnTo>
                  <a:cubicBezTo>
                    <a:pt x="1196197" y="554151"/>
                    <a:pt x="1189896" y="569364"/>
                    <a:pt x="1178679" y="580580"/>
                  </a:cubicBezTo>
                  <a:cubicBezTo>
                    <a:pt x="1167462" y="591797"/>
                    <a:pt x="1152250" y="598098"/>
                    <a:pt x="1136387" y="598098"/>
                  </a:cubicBezTo>
                  <a:lnTo>
                    <a:pt x="59810" y="598098"/>
                  </a:lnTo>
                  <a:cubicBezTo>
                    <a:pt x="43947" y="598098"/>
                    <a:pt x="28734" y="591797"/>
                    <a:pt x="17518" y="580580"/>
                  </a:cubicBezTo>
                  <a:cubicBezTo>
                    <a:pt x="6301" y="569363"/>
                    <a:pt x="0" y="554151"/>
                    <a:pt x="0" y="538288"/>
                  </a:cubicBezTo>
                  <a:lnTo>
                    <a:pt x="0" y="59810"/>
                  </a:lnTo>
                  <a:close/>
                </a:path>
              </a:pathLst>
            </a:custGeom>
            <a:solidFill>
              <a:srgbClr val="18921E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678" tIns="27678" rIns="27678" bIns="27678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b="1" kern="1200" dirty="0" smtClean="0"/>
                <a:t>Passive Devices</a:t>
              </a:r>
            </a:p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b="1" dirty="0" smtClean="0"/>
                <a:t>RF Chokes/Inductors</a:t>
              </a:r>
            </a:p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b="1" kern="1200" dirty="0" smtClean="0"/>
                <a:t>MNS Capacitors</a:t>
              </a:r>
            </a:p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b="1" dirty="0" smtClean="0"/>
                <a:t>Resistors</a:t>
              </a:r>
              <a:endParaRPr lang="en-US" sz="1200" b="1" kern="1200" dirty="0"/>
            </a:p>
          </p:txBody>
        </p:sp>
        <p:sp>
          <p:nvSpPr>
            <p:cNvPr id="42" name="Freeform 41"/>
            <p:cNvSpPr/>
            <p:nvPr/>
          </p:nvSpPr>
          <p:spPr>
            <a:xfrm>
              <a:off x="6804064" y="4149657"/>
              <a:ext cx="1371600" cy="1005840"/>
            </a:xfrm>
            <a:custGeom>
              <a:avLst/>
              <a:gdLst>
                <a:gd name="connsiteX0" fmla="*/ 0 w 1196197"/>
                <a:gd name="connsiteY0" fmla="*/ 59810 h 598098"/>
                <a:gd name="connsiteX1" fmla="*/ 17518 w 1196197"/>
                <a:gd name="connsiteY1" fmla="*/ 17518 h 598098"/>
                <a:gd name="connsiteX2" fmla="*/ 59810 w 1196197"/>
                <a:gd name="connsiteY2" fmla="*/ 0 h 598098"/>
                <a:gd name="connsiteX3" fmla="*/ 1136387 w 1196197"/>
                <a:gd name="connsiteY3" fmla="*/ 0 h 598098"/>
                <a:gd name="connsiteX4" fmla="*/ 1178679 w 1196197"/>
                <a:gd name="connsiteY4" fmla="*/ 17518 h 598098"/>
                <a:gd name="connsiteX5" fmla="*/ 1196197 w 1196197"/>
                <a:gd name="connsiteY5" fmla="*/ 59810 h 598098"/>
                <a:gd name="connsiteX6" fmla="*/ 1196197 w 1196197"/>
                <a:gd name="connsiteY6" fmla="*/ 538288 h 598098"/>
                <a:gd name="connsiteX7" fmla="*/ 1178679 w 1196197"/>
                <a:gd name="connsiteY7" fmla="*/ 580580 h 598098"/>
                <a:gd name="connsiteX8" fmla="*/ 1136387 w 1196197"/>
                <a:gd name="connsiteY8" fmla="*/ 598098 h 598098"/>
                <a:gd name="connsiteX9" fmla="*/ 59810 w 1196197"/>
                <a:gd name="connsiteY9" fmla="*/ 598098 h 598098"/>
                <a:gd name="connsiteX10" fmla="*/ 17518 w 1196197"/>
                <a:gd name="connsiteY10" fmla="*/ 580580 h 598098"/>
                <a:gd name="connsiteX11" fmla="*/ 0 w 1196197"/>
                <a:gd name="connsiteY11" fmla="*/ 538288 h 598098"/>
                <a:gd name="connsiteX12" fmla="*/ 0 w 1196197"/>
                <a:gd name="connsiteY12" fmla="*/ 59810 h 5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598098">
                  <a:moveTo>
                    <a:pt x="0" y="59810"/>
                  </a:moveTo>
                  <a:cubicBezTo>
                    <a:pt x="0" y="43947"/>
                    <a:pt x="6301" y="28734"/>
                    <a:pt x="17518" y="17518"/>
                  </a:cubicBezTo>
                  <a:cubicBezTo>
                    <a:pt x="28735" y="6301"/>
                    <a:pt x="43947" y="0"/>
                    <a:pt x="59810" y="0"/>
                  </a:cubicBezTo>
                  <a:lnTo>
                    <a:pt x="1136387" y="0"/>
                  </a:lnTo>
                  <a:cubicBezTo>
                    <a:pt x="1152250" y="0"/>
                    <a:pt x="1167463" y="6301"/>
                    <a:pt x="1178679" y="17518"/>
                  </a:cubicBezTo>
                  <a:cubicBezTo>
                    <a:pt x="1189896" y="28735"/>
                    <a:pt x="1196197" y="43947"/>
                    <a:pt x="1196197" y="59810"/>
                  </a:cubicBezTo>
                  <a:lnTo>
                    <a:pt x="1196197" y="538288"/>
                  </a:lnTo>
                  <a:cubicBezTo>
                    <a:pt x="1196197" y="554151"/>
                    <a:pt x="1189896" y="569364"/>
                    <a:pt x="1178679" y="580580"/>
                  </a:cubicBezTo>
                  <a:cubicBezTo>
                    <a:pt x="1167462" y="591797"/>
                    <a:pt x="1152250" y="598098"/>
                    <a:pt x="1136387" y="598098"/>
                  </a:cubicBezTo>
                  <a:lnTo>
                    <a:pt x="59810" y="598098"/>
                  </a:lnTo>
                  <a:cubicBezTo>
                    <a:pt x="43947" y="598098"/>
                    <a:pt x="28734" y="591797"/>
                    <a:pt x="17518" y="580580"/>
                  </a:cubicBezTo>
                  <a:cubicBezTo>
                    <a:pt x="6301" y="569363"/>
                    <a:pt x="0" y="554151"/>
                    <a:pt x="0" y="538288"/>
                  </a:cubicBezTo>
                  <a:lnTo>
                    <a:pt x="0" y="59810"/>
                  </a:lnTo>
                  <a:close/>
                </a:path>
              </a:pathLst>
            </a:custGeom>
            <a:solidFill>
              <a:srgbClr val="18921E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678" tIns="27678" rIns="27678" bIns="27678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b="1" kern="1200" dirty="0" smtClean="0"/>
                <a:t>Multiplier Diodes:</a:t>
              </a:r>
            </a:p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b="1" dirty="0" smtClean="0"/>
                <a:t>Frequency Multiplication</a:t>
              </a:r>
            </a:p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b="1" kern="1200" dirty="0" smtClean="0"/>
                <a:t>Waveshaping</a:t>
              </a:r>
              <a:endParaRPr lang="en-US" sz="1200" b="1" kern="1200" dirty="0"/>
            </a:p>
          </p:txBody>
        </p:sp>
        <p:cxnSp>
          <p:nvCxnSpPr>
            <p:cNvPr id="65" name="Straight Arrow Connector 64"/>
            <p:cNvCxnSpPr/>
            <p:nvPr/>
          </p:nvCxnSpPr>
          <p:spPr>
            <a:xfrm flipH="1" flipV="1">
              <a:off x="5235389" y="2447365"/>
              <a:ext cx="6304" cy="50286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/>
            <p:nvPr/>
          </p:nvCxnSpPr>
          <p:spPr>
            <a:xfrm flipH="1" flipV="1">
              <a:off x="3845859" y="2788024"/>
              <a:ext cx="448074" cy="27840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 flipV="1">
              <a:off x="6221263" y="2788024"/>
              <a:ext cx="448074" cy="27840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6221263" y="4156582"/>
              <a:ext cx="448074" cy="27840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 flipH="1">
              <a:off x="3845859" y="4156582"/>
              <a:ext cx="448074" cy="27840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 flipH="1">
              <a:off x="5220230" y="4333583"/>
              <a:ext cx="6304" cy="50286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28190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2164" y="126938"/>
            <a:ext cx="597869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b="1" dirty="0" smtClean="0"/>
              <a:t>LIMITER PRODUCT CONFIGURATIONS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505270" y="1409969"/>
            <a:ext cx="5950800" cy="3586578"/>
            <a:chOff x="1505270" y="704290"/>
            <a:chExt cx="5950800" cy="3586578"/>
          </a:xfrm>
        </p:grpSpPr>
        <p:pic>
          <p:nvPicPr>
            <p:cNvPr id="73" name="Picture 1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 rot="2262414">
              <a:off x="3947637" y="704290"/>
              <a:ext cx="741505" cy="602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5" name="Freeform 54"/>
            <p:cNvSpPr/>
            <p:nvPr/>
          </p:nvSpPr>
          <p:spPr>
            <a:xfrm>
              <a:off x="3754026" y="2363293"/>
              <a:ext cx="1162320" cy="900541"/>
            </a:xfrm>
            <a:custGeom>
              <a:avLst/>
              <a:gdLst>
                <a:gd name="connsiteX0" fmla="*/ 0 w 1196197"/>
                <a:gd name="connsiteY0" fmla="*/ 59810 h 598098"/>
                <a:gd name="connsiteX1" fmla="*/ 17518 w 1196197"/>
                <a:gd name="connsiteY1" fmla="*/ 17518 h 598098"/>
                <a:gd name="connsiteX2" fmla="*/ 59810 w 1196197"/>
                <a:gd name="connsiteY2" fmla="*/ 0 h 598098"/>
                <a:gd name="connsiteX3" fmla="*/ 1136387 w 1196197"/>
                <a:gd name="connsiteY3" fmla="*/ 0 h 598098"/>
                <a:gd name="connsiteX4" fmla="*/ 1178679 w 1196197"/>
                <a:gd name="connsiteY4" fmla="*/ 17518 h 598098"/>
                <a:gd name="connsiteX5" fmla="*/ 1196197 w 1196197"/>
                <a:gd name="connsiteY5" fmla="*/ 59810 h 598098"/>
                <a:gd name="connsiteX6" fmla="*/ 1196197 w 1196197"/>
                <a:gd name="connsiteY6" fmla="*/ 538288 h 598098"/>
                <a:gd name="connsiteX7" fmla="*/ 1178679 w 1196197"/>
                <a:gd name="connsiteY7" fmla="*/ 580580 h 598098"/>
                <a:gd name="connsiteX8" fmla="*/ 1136387 w 1196197"/>
                <a:gd name="connsiteY8" fmla="*/ 598098 h 598098"/>
                <a:gd name="connsiteX9" fmla="*/ 59810 w 1196197"/>
                <a:gd name="connsiteY9" fmla="*/ 598098 h 598098"/>
                <a:gd name="connsiteX10" fmla="*/ 17518 w 1196197"/>
                <a:gd name="connsiteY10" fmla="*/ 580580 h 598098"/>
                <a:gd name="connsiteX11" fmla="*/ 0 w 1196197"/>
                <a:gd name="connsiteY11" fmla="*/ 538288 h 598098"/>
                <a:gd name="connsiteX12" fmla="*/ 0 w 1196197"/>
                <a:gd name="connsiteY12" fmla="*/ 59810 h 5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598098">
                  <a:moveTo>
                    <a:pt x="0" y="59810"/>
                  </a:moveTo>
                  <a:cubicBezTo>
                    <a:pt x="0" y="43947"/>
                    <a:pt x="6301" y="28734"/>
                    <a:pt x="17518" y="17518"/>
                  </a:cubicBezTo>
                  <a:cubicBezTo>
                    <a:pt x="28735" y="6301"/>
                    <a:pt x="43947" y="0"/>
                    <a:pt x="59810" y="0"/>
                  </a:cubicBezTo>
                  <a:lnTo>
                    <a:pt x="1136387" y="0"/>
                  </a:lnTo>
                  <a:cubicBezTo>
                    <a:pt x="1152250" y="0"/>
                    <a:pt x="1167463" y="6301"/>
                    <a:pt x="1178679" y="17518"/>
                  </a:cubicBezTo>
                  <a:cubicBezTo>
                    <a:pt x="1189896" y="28735"/>
                    <a:pt x="1196197" y="43947"/>
                    <a:pt x="1196197" y="59810"/>
                  </a:cubicBezTo>
                  <a:lnTo>
                    <a:pt x="1196197" y="538288"/>
                  </a:lnTo>
                  <a:cubicBezTo>
                    <a:pt x="1196197" y="554151"/>
                    <a:pt x="1189896" y="569364"/>
                    <a:pt x="1178679" y="580580"/>
                  </a:cubicBezTo>
                  <a:cubicBezTo>
                    <a:pt x="1167462" y="591797"/>
                    <a:pt x="1152250" y="598098"/>
                    <a:pt x="1136387" y="598098"/>
                  </a:cubicBezTo>
                  <a:lnTo>
                    <a:pt x="59810" y="598098"/>
                  </a:lnTo>
                  <a:cubicBezTo>
                    <a:pt x="43947" y="598098"/>
                    <a:pt x="28734" y="591797"/>
                    <a:pt x="17518" y="580580"/>
                  </a:cubicBezTo>
                  <a:cubicBezTo>
                    <a:pt x="6301" y="569363"/>
                    <a:pt x="0" y="554151"/>
                    <a:pt x="0" y="538288"/>
                  </a:cubicBezTo>
                  <a:lnTo>
                    <a:pt x="0" y="59810"/>
                  </a:lnTo>
                  <a:close/>
                </a:path>
              </a:pathLst>
            </a:custGeom>
            <a:solidFill>
              <a:srgbClr val="18921E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678" tIns="27678" rIns="27678" bIns="27678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b="1" dirty="0"/>
                <a:t>Discrete Device</a:t>
              </a:r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1505270" y="3020136"/>
              <a:ext cx="1591571" cy="1066813"/>
              <a:chOff x="1578674" y="1617168"/>
              <a:chExt cx="1591571" cy="1066813"/>
            </a:xfrm>
          </p:grpSpPr>
          <p:grpSp>
            <p:nvGrpSpPr>
              <p:cNvPr id="93" name="Group 51"/>
              <p:cNvGrpSpPr/>
              <p:nvPr/>
            </p:nvGrpSpPr>
            <p:grpSpPr>
              <a:xfrm rot="5188313">
                <a:off x="1209789" y="1986053"/>
                <a:ext cx="1066813" cy="329043"/>
                <a:chOff x="2326737" y="1119150"/>
                <a:chExt cx="1089965" cy="332770"/>
              </a:xfrm>
            </p:grpSpPr>
            <p:pic>
              <p:nvPicPr>
                <p:cNvPr id="95" name="Picture 3"/>
                <p:cNvPicPr>
                  <a:picLocks noChangeAspect="1" noChangeArrowheads="1"/>
                </p:cNvPicPr>
                <p:nvPr/>
              </p:nvPicPr>
              <p:blipFill>
                <a:blip r:embed="rId4" cstate="print"/>
                <a:srcRect/>
                <a:stretch>
                  <a:fillRect/>
                </a:stretch>
              </p:blipFill>
              <p:spPr bwMode="auto">
                <a:xfrm rot="196511">
                  <a:off x="2730144" y="1137595"/>
                  <a:ext cx="323850" cy="31432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96" name="Picture 4"/>
                <p:cNvPicPr>
                  <a:picLocks noChangeAspect="1" noChangeArrowheads="1"/>
                </p:cNvPicPr>
                <p:nvPr/>
              </p:nvPicPr>
              <p:blipFill>
                <a:blip r:embed="rId4" cstate="print"/>
                <a:srcRect/>
                <a:stretch>
                  <a:fillRect/>
                </a:stretch>
              </p:blipFill>
              <p:spPr bwMode="auto">
                <a:xfrm rot="19677519">
                  <a:off x="2326737" y="1119150"/>
                  <a:ext cx="323850" cy="31432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97" name="Picture 2"/>
                <p:cNvPicPr>
                  <a:picLocks noChangeAspect="1" noChangeArrowheads="1"/>
                </p:cNvPicPr>
                <p:nvPr/>
              </p:nvPicPr>
              <p:blipFill>
                <a:blip r:embed="rId4" cstate="print"/>
                <a:srcRect/>
                <a:stretch>
                  <a:fillRect/>
                </a:stretch>
              </p:blipFill>
              <p:spPr bwMode="auto">
                <a:xfrm rot="21040387">
                  <a:off x="3092852" y="1136284"/>
                  <a:ext cx="323850" cy="31432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  <p:sp>
            <p:nvSpPr>
              <p:cNvPr id="94" name="Freeform 93"/>
              <p:cNvSpPr/>
              <p:nvPr/>
            </p:nvSpPr>
            <p:spPr>
              <a:xfrm>
                <a:off x="1999457" y="1716145"/>
                <a:ext cx="1170788" cy="591399"/>
              </a:xfrm>
              <a:custGeom>
                <a:avLst/>
                <a:gdLst>
                  <a:gd name="connsiteX0" fmla="*/ 0 w 1196197"/>
                  <a:gd name="connsiteY0" fmla="*/ 59810 h 598098"/>
                  <a:gd name="connsiteX1" fmla="*/ 17518 w 1196197"/>
                  <a:gd name="connsiteY1" fmla="*/ 17518 h 598098"/>
                  <a:gd name="connsiteX2" fmla="*/ 59810 w 1196197"/>
                  <a:gd name="connsiteY2" fmla="*/ 0 h 598098"/>
                  <a:gd name="connsiteX3" fmla="*/ 1136387 w 1196197"/>
                  <a:gd name="connsiteY3" fmla="*/ 0 h 598098"/>
                  <a:gd name="connsiteX4" fmla="*/ 1178679 w 1196197"/>
                  <a:gd name="connsiteY4" fmla="*/ 17518 h 598098"/>
                  <a:gd name="connsiteX5" fmla="*/ 1196197 w 1196197"/>
                  <a:gd name="connsiteY5" fmla="*/ 59810 h 598098"/>
                  <a:gd name="connsiteX6" fmla="*/ 1196197 w 1196197"/>
                  <a:gd name="connsiteY6" fmla="*/ 538288 h 598098"/>
                  <a:gd name="connsiteX7" fmla="*/ 1178679 w 1196197"/>
                  <a:gd name="connsiteY7" fmla="*/ 580580 h 598098"/>
                  <a:gd name="connsiteX8" fmla="*/ 1136387 w 1196197"/>
                  <a:gd name="connsiteY8" fmla="*/ 598098 h 598098"/>
                  <a:gd name="connsiteX9" fmla="*/ 59810 w 1196197"/>
                  <a:gd name="connsiteY9" fmla="*/ 598098 h 598098"/>
                  <a:gd name="connsiteX10" fmla="*/ 17518 w 1196197"/>
                  <a:gd name="connsiteY10" fmla="*/ 580580 h 598098"/>
                  <a:gd name="connsiteX11" fmla="*/ 0 w 1196197"/>
                  <a:gd name="connsiteY11" fmla="*/ 538288 h 598098"/>
                  <a:gd name="connsiteX12" fmla="*/ 0 w 1196197"/>
                  <a:gd name="connsiteY12" fmla="*/ 59810 h 598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96197" h="598098">
                    <a:moveTo>
                      <a:pt x="0" y="59810"/>
                    </a:moveTo>
                    <a:cubicBezTo>
                      <a:pt x="0" y="43947"/>
                      <a:pt x="6301" y="28734"/>
                      <a:pt x="17518" y="17518"/>
                    </a:cubicBezTo>
                    <a:cubicBezTo>
                      <a:pt x="28735" y="6301"/>
                      <a:pt x="43947" y="0"/>
                      <a:pt x="59810" y="0"/>
                    </a:cubicBezTo>
                    <a:lnTo>
                      <a:pt x="1136387" y="0"/>
                    </a:lnTo>
                    <a:cubicBezTo>
                      <a:pt x="1152250" y="0"/>
                      <a:pt x="1167463" y="6301"/>
                      <a:pt x="1178679" y="17518"/>
                    </a:cubicBezTo>
                    <a:cubicBezTo>
                      <a:pt x="1189896" y="28735"/>
                      <a:pt x="1196197" y="43947"/>
                      <a:pt x="1196197" y="59810"/>
                    </a:cubicBezTo>
                    <a:lnTo>
                      <a:pt x="1196197" y="538288"/>
                    </a:lnTo>
                    <a:cubicBezTo>
                      <a:pt x="1196197" y="554151"/>
                      <a:pt x="1189896" y="569364"/>
                      <a:pt x="1178679" y="580580"/>
                    </a:cubicBezTo>
                    <a:cubicBezTo>
                      <a:pt x="1167462" y="591797"/>
                      <a:pt x="1152250" y="598098"/>
                      <a:pt x="1136387" y="598098"/>
                    </a:cubicBezTo>
                    <a:lnTo>
                      <a:pt x="59810" y="598098"/>
                    </a:lnTo>
                    <a:cubicBezTo>
                      <a:pt x="43947" y="598098"/>
                      <a:pt x="28734" y="591797"/>
                      <a:pt x="17518" y="580580"/>
                    </a:cubicBezTo>
                    <a:cubicBezTo>
                      <a:pt x="6301" y="569363"/>
                      <a:pt x="0" y="554151"/>
                      <a:pt x="0" y="538288"/>
                    </a:cubicBezTo>
                    <a:lnTo>
                      <a:pt x="0" y="59810"/>
                    </a:lnTo>
                    <a:close/>
                  </a:path>
                </a:pathLst>
              </a:custGeom>
              <a:solidFill>
                <a:srgbClr val="18921E"/>
              </a:solidFill>
            </p:spPr>
            <p:style>
              <a:lnRef idx="3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7678" tIns="27678" rIns="27678" bIns="27678" numCol="1" spcCol="1270" anchor="ctr" anchorCtr="0">
                <a:noAutofit/>
              </a:bodyPr>
              <a:lstStyle/>
              <a:p>
                <a:pPr algn="ctr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050" b="1" dirty="0"/>
                  <a:t>Bare Die</a:t>
                </a:r>
              </a:p>
              <a:p>
                <a:pPr algn="ctr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050" b="1" dirty="0"/>
                  <a:t>(to 18 GHz)</a:t>
                </a:r>
              </a:p>
            </p:txBody>
          </p:sp>
        </p:grpSp>
        <p:sp>
          <p:nvSpPr>
            <p:cNvPr id="75" name="Freeform 74"/>
            <p:cNvSpPr/>
            <p:nvPr/>
          </p:nvSpPr>
          <p:spPr>
            <a:xfrm>
              <a:off x="5414334" y="3205440"/>
              <a:ext cx="1170788" cy="641234"/>
            </a:xfrm>
            <a:custGeom>
              <a:avLst/>
              <a:gdLst>
                <a:gd name="connsiteX0" fmla="*/ 0 w 1196197"/>
                <a:gd name="connsiteY0" fmla="*/ 59810 h 598098"/>
                <a:gd name="connsiteX1" fmla="*/ 17518 w 1196197"/>
                <a:gd name="connsiteY1" fmla="*/ 17518 h 598098"/>
                <a:gd name="connsiteX2" fmla="*/ 59810 w 1196197"/>
                <a:gd name="connsiteY2" fmla="*/ 0 h 598098"/>
                <a:gd name="connsiteX3" fmla="*/ 1136387 w 1196197"/>
                <a:gd name="connsiteY3" fmla="*/ 0 h 598098"/>
                <a:gd name="connsiteX4" fmla="*/ 1178679 w 1196197"/>
                <a:gd name="connsiteY4" fmla="*/ 17518 h 598098"/>
                <a:gd name="connsiteX5" fmla="*/ 1196197 w 1196197"/>
                <a:gd name="connsiteY5" fmla="*/ 59810 h 598098"/>
                <a:gd name="connsiteX6" fmla="*/ 1196197 w 1196197"/>
                <a:gd name="connsiteY6" fmla="*/ 538288 h 598098"/>
                <a:gd name="connsiteX7" fmla="*/ 1178679 w 1196197"/>
                <a:gd name="connsiteY7" fmla="*/ 580580 h 598098"/>
                <a:gd name="connsiteX8" fmla="*/ 1136387 w 1196197"/>
                <a:gd name="connsiteY8" fmla="*/ 598098 h 598098"/>
                <a:gd name="connsiteX9" fmla="*/ 59810 w 1196197"/>
                <a:gd name="connsiteY9" fmla="*/ 598098 h 598098"/>
                <a:gd name="connsiteX10" fmla="*/ 17518 w 1196197"/>
                <a:gd name="connsiteY10" fmla="*/ 580580 h 598098"/>
                <a:gd name="connsiteX11" fmla="*/ 0 w 1196197"/>
                <a:gd name="connsiteY11" fmla="*/ 538288 h 598098"/>
                <a:gd name="connsiteX12" fmla="*/ 0 w 1196197"/>
                <a:gd name="connsiteY12" fmla="*/ 59810 h 5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598098">
                  <a:moveTo>
                    <a:pt x="0" y="59810"/>
                  </a:moveTo>
                  <a:cubicBezTo>
                    <a:pt x="0" y="43947"/>
                    <a:pt x="6301" y="28734"/>
                    <a:pt x="17518" y="17518"/>
                  </a:cubicBezTo>
                  <a:cubicBezTo>
                    <a:pt x="28735" y="6301"/>
                    <a:pt x="43947" y="0"/>
                    <a:pt x="59810" y="0"/>
                  </a:cubicBezTo>
                  <a:lnTo>
                    <a:pt x="1136387" y="0"/>
                  </a:lnTo>
                  <a:cubicBezTo>
                    <a:pt x="1152250" y="0"/>
                    <a:pt x="1167463" y="6301"/>
                    <a:pt x="1178679" y="17518"/>
                  </a:cubicBezTo>
                  <a:cubicBezTo>
                    <a:pt x="1189896" y="28735"/>
                    <a:pt x="1196197" y="43947"/>
                    <a:pt x="1196197" y="59810"/>
                  </a:cubicBezTo>
                  <a:lnTo>
                    <a:pt x="1196197" y="538288"/>
                  </a:lnTo>
                  <a:cubicBezTo>
                    <a:pt x="1196197" y="554151"/>
                    <a:pt x="1189896" y="569364"/>
                    <a:pt x="1178679" y="580580"/>
                  </a:cubicBezTo>
                  <a:cubicBezTo>
                    <a:pt x="1167462" y="591797"/>
                    <a:pt x="1152250" y="598098"/>
                    <a:pt x="1136387" y="598098"/>
                  </a:cubicBezTo>
                  <a:lnTo>
                    <a:pt x="59810" y="598098"/>
                  </a:lnTo>
                  <a:cubicBezTo>
                    <a:pt x="43947" y="598098"/>
                    <a:pt x="28734" y="591797"/>
                    <a:pt x="17518" y="580580"/>
                  </a:cubicBezTo>
                  <a:cubicBezTo>
                    <a:pt x="6301" y="569363"/>
                    <a:pt x="0" y="554151"/>
                    <a:pt x="0" y="538288"/>
                  </a:cubicBezTo>
                  <a:lnTo>
                    <a:pt x="0" y="59810"/>
                  </a:lnTo>
                  <a:close/>
                </a:path>
              </a:pathLst>
            </a:custGeom>
            <a:solidFill>
              <a:srgbClr val="18921E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678" tIns="27678" rIns="27678" bIns="27678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tabLst>
                  <a:tab pos="1603375" algn="l"/>
                </a:tabLst>
              </a:pPr>
              <a:r>
                <a:rPr lang="en-US" sz="1050" b="1" dirty="0"/>
                <a:t>Hermetic Packaged</a:t>
              </a:r>
            </a:p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tabLst>
                  <a:tab pos="1603375" algn="l"/>
                </a:tabLst>
              </a:pPr>
              <a:r>
                <a:rPr lang="en-US" sz="1050" b="1" dirty="0"/>
                <a:t>(to 12 GHz)</a:t>
              </a:r>
            </a:p>
          </p:txBody>
        </p:sp>
        <p:grpSp>
          <p:nvGrpSpPr>
            <p:cNvPr id="77" name="Group 50"/>
            <p:cNvGrpSpPr/>
            <p:nvPr/>
          </p:nvGrpSpPr>
          <p:grpSpPr>
            <a:xfrm rot="3921021">
              <a:off x="6227011" y="3061810"/>
              <a:ext cx="1597957" cy="860160"/>
              <a:chOff x="4772791" y="550602"/>
              <a:chExt cx="1632636" cy="869903"/>
            </a:xfrm>
          </p:grpSpPr>
          <p:pic>
            <p:nvPicPr>
              <p:cNvPr id="78" name="Picture 53" descr="1056 ceramic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72791" y="671481"/>
                <a:ext cx="700513" cy="350942"/>
              </a:xfrm>
              <a:prstGeom prst="rect">
                <a:avLst/>
              </a:prstGeom>
              <a:noFill/>
            </p:spPr>
          </p:pic>
          <p:pic>
            <p:nvPicPr>
              <p:cNvPr id="79" name="Picture 78" descr="1082 ceramic.jpg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5597905" y="550602"/>
                <a:ext cx="807522" cy="484761"/>
              </a:xfrm>
              <a:prstGeom prst="rect">
                <a:avLst/>
              </a:prstGeom>
            </p:spPr>
          </p:pic>
          <p:pic>
            <p:nvPicPr>
              <p:cNvPr id="80" name="Picture 18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8326268" flipH="1">
                <a:off x="5865108" y="1129729"/>
                <a:ext cx="512881" cy="290776"/>
              </a:xfrm>
              <a:prstGeom prst="rect">
                <a:avLst/>
              </a:prstGeom>
              <a:noFill/>
            </p:spPr>
          </p:pic>
        </p:grpSp>
        <p:cxnSp>
          <p:nvCxnSpPr>
            <p:cNvPr id="61" name="Straight Arrow Connector 60"/>
            <p:cNvCxnSpPr/>
            <p:nvPr/>
          </p:nvCxnSpPr>
          <p:spPr>
            <a:xfrm flipV="1">
              <a:off x="4299766" y="1981999"/>
              <a:ext cx="0" cy="28248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Freeform 70"/>
            <p:cNvSpPr/>
            <p:nvPr/>
          </p:nvSpPr>
          <p:spPr>
            <a:xfrm>
              <a:off x="3773906" y="1304881"/>
              <a:ext cx="1170788" cy="591400"/>
            </a:xfrm>
            <a:custGeom>
              <a:avLst/>
              <a:gdLst>
                <a:gd name="connsiteX0" fmla="*/ 0 w 1196197"/>
                <a:gd name="connsiteY0" fmla="*/ 59810 h 598098"/>
                <a:gd name="connsiteX1" fmla="*/ 17518 w 1196197"/>
                <a:gd name="connsiteY1" fmla="*/ 17518 h 598098"/>
                <a:gd name="connsiteX2" fmla="*/ 59810 w 1196197"/>
                <a:gd name="connsiteY2" fmla="*/ 0 h 598098"/>
                <a:gd name="connsiteX3" fmla="*/ 1136387 w 1196197"/>
                <a:gd name="connsiteY3" fmla="*/ 0 h 598098"/>
                <a:gd name="connsiteX4" fmla="*/ 1178679 w 1196197"/>
                <a:gd name="connsiteY4" fmla="*/ 17518 h 598098"/>
                <a:gd name="connsiteX5" fmla="*/ 1196197 w 1196197"/>
                <a:gd name="connsiteY5" fmla="*/ 59810 h 598098"/>
                <a:gd name="connsiteX6" fmla="*/ 1196197 w 1196197"/>
                <a:gd name="connsiteY6" fmla="*/ 538288 h 598098"/>
                <a:gd name="connsiteX7" fmla="*/ 1178679 w 1196197"/>
                <a:gd name="connsiteY7" fmla="*/ 580580 h 598098"/>
                <a:gd name="connsiteX8" fmla="*/ 1136387 w 1196197"/>
                <a:gd name="connsiteY8" fmla="*/ 598098 h 598098"/>
                <a:gd name="connsiteX9" fmla="*/ 59810 w 1196197"/>
                <a:gd name="connsiteY9" fmla="*/ 598098 h 598098"/>
                <a:gd name="connsiteX10" fmla="*/ 17518 w 1196197"/>
                <a:gd name="connsiteY10" fmla="*/ 580580 h 598098"/>
                <a:gd name="connsiteX11" fmla="*/ 0 w 1196197"/>
                <a:gd name="connsiteY11" fmla="*/ 538288 h 598098"/>
                <a:gd name="connsiteX12" fmla="*/ 0 w 1196197"/>
                <a:gd name="connsiteY12" fmla="*/ 59810 h 5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598098">
                  <a:moveTo>
                    <a:pt x="0" y="59810"/>
                  </a:moveTo>
                  <a:cubicBezTo>
                    <a:pt x="0" y="43947"/>
                    <a:pt x="6301" y="28734"/>
                    <a:pt x="17518" y="17518"/>
                  </a:cubicBezTo>
                  <a:cubicBezTo>
                    <a:pt x="28735" y="6301"/>
                    <a:pt x="43947" y="0"/>
                    <a:pt x="59810" y="0"/>
                  </a:cubicBezTo>
                  <a:lnTo>
                    <a:pt x="1136387" y="0"/>
                  </a:lnTo>
                  <a:cubicBezTo>
                    <a:pt x="1152250" y="0"/>
                    <a:pt x="1167463" y="6301"/>
                    <a:pt x="1178679" y="17518"/>
                  </a:cubicBezTo>
                  <a:cubicBezTo>
                    <a:pt x="1189896" y="28735"/>
                    <a:pt x="1196197" y="43947"/>
                    <a:pt x="1196197" y="59810"/>
                  </a:cubicBezTo>
                  <a:lnTo>
                    <a:pt x="1196197" y="538288"/>
                  </a:lnTo>
                  <a:cubicBezTo>
                    <a:pt x="1196197" y="554151"/>
                    <a:pt x="1189896" y="569364"/>
                    <a:pt x="1178679" y="580580"/>
                  </a:cubicBezTo>
                  <a:cubicBezTo>
                    <a:pt x="1167462" y="591797"/>
                    <a:pt x="1152250" y="598098"/>
                    <a:pt x="1136387" y="598098"/>
                  </a:cubicBezTo>
                  <a:lnTo>
                    <a:pt x="59810" y="598098"/>
                  </a:lnTo>
                  <a:cubicBezTo>
                    <a:pt x="43947" y="598098"/>
                    <a:pt x="28734" y="591797"/>
                    <a:pt x="17518" y="580580"/>
                  </a:cubicBezTo>
                  <a:cubicBezTo>
                    <a:pt x="6301" y="569363"/>
                    <a:pt x="0" y="554151"/>
                    <a:pt x="0" y="538288"/>
                  </a:cubicBezTo>
                  <a:lnTo>
                    <a:pt x="0" y="59810"/>
                  </a:lnTo>
                  <a:close/>
                </a:path>
              </a:pathLst>
            </a:custGeom>
            <a:solidFill>
              <a:srgbClr val="18921E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678" tIns="27678" rIns="27678" bIns="27678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50" b="1" dirty="0"/>
                <a:t>Plastic</a:t>
              </a:r>
            </a:p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50" b="1" dirty="0"/>
                <a:t>(to 6 GHz)</a:t>
              </a:r>
            </a:p>
          </p:txBody>
        </p:sp>
        <p:cxnSp>
          <p:nvCxnSpPr>
            <p:cNvPr id="101" name="Straight Arrow Connector 100"/>
            <p:cNvCxnSpPr/>
            <p:nvPr/>
          </p:nvCxnSpPr>
          <p:spPr>
            <a:xfrm flipH="1">
              <a:off x="3331892" y="3284721"/>
              <a:ext cx="340010" cy="16598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/>
            <p:cNvCxnSpPr/>
            <p:nvPr/>
          </p:nvCxnSpPr>
          <p:spPr>
            <a:xfrm>
              <a:off x="4944694" y="3284721"/>
              <a:ext cx="340010" cy="16598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>
            <a:off x="1999457" y="5343715"/>
            <a:ext cx="4501195" cy="952726"/>
            <a:chOff x="3823970" y="5479391"/>
            <a:chExt cx="4501195" cy="952726"/>
          </a:xfrm>
        </p:grpSpPr>
        <p:sp>
          <p:nvSpPr>
            <p:cNvPr id="48" name="Freeform 47"/>
            <p:cNvSpPr/>
            <p:nvPr/>
          </p:nvSpPr>
          <p:spPr>
            <a:xfrm>
              <a:off x="3823970" y="5479391"/>
              <a:ext cx="1698286" cy="952726"/>
            </a:xfrm>
            <a:custGeom>
              <a:avLst/>
              <a:gdLst>
                <a:gd name="connsiteX0" fmla="*/ 0 w 1196197"/>
                <a:gd name="connsiteY0" fmla="*/ 59810 h 598098"/>
                <a:gd name="connsiteX1" fmla="*/ 17518 w 1196197"/>
                <a:gd name="connsiteY1" fmla="*/ 17518 h 598098"/>
                <a:gd name="connsiteX2" fmla="*/ 59810 w 1196197"/>
                <a:gd name="connsiteY2" fmla="*/ 0 h 598098"/>
                <a:gd name="connsiteX3" fmla="*/ 1136387 w 1196197"/>
                <a:gd name="connsiteY3" fmla="*/ 0 h 598098"/>
                <a:gd name="connsiteX4" fmla="*/ 1178679 w 1196197"/>
                <a:gd name="connsiteY4" fmla="*/ 17518 h 598098"/>
                <a:gd name="connsiteX5" fmla="*/ 1196197 w 1196197"/>
                <a:gd name="connsiteY5" fmla="*/ 59810 h 598098"/>
                <a:gd name="connsiteX6" fmla="*/ 1196197 w 1196197"/>
                <a:gd name="connsiteY6" fmla="*/ 538288 h 598098"/>
                <a:gd name="connsiteX7" fmla="*/ 1178679 w 1196197"/>
                <a:gd name="connsiteY7" fmla="*/ 580580 h 598098"/>
                <a:gd name="connsiteX8" fmla="*/ 1136387 w 1196197"/>
                <a:gd name="connsiteY8" fmla="*/ 598098 h 598098"/>
                <a:gd name="connsiteX9" fmla="*/ 59810 w 1196197"/>
                <a:gd name="connsiteY9" fmla="*/ 598098 h 598098"/>
                <a:gd name="connsiteX10" fmla="*/ 17518 w 1196197"/>
                <a:gd name="connsiteY10" fmla="*/ 580580 h 598098"/>
                <a:gd name="connsiteX11" fmla="*/ 0 w 1196197"/>
                <a:gd name="connsiteY11" fmla="*/ 538288 h 598098"/>
                <a:gd name="connsiteX12" fmla="*/ 0 w 1196197"/>
                <a:gd name="connsiteY12" fmla="*/ 59810 h 5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598098">
                  <a:moveTo>
                    <a:pt x="0" y="59810"/>
                  </a:moveTo>
                  <a:cubicBezTo>
                    <a:pt x="0" y="43947"/>
                    <a:pt x="6301" y="28734"/>
                    <a:pt x="17518" y="17518"/>
                  </a:cubicBezTo>
                  <a:cubicBezTo>
                    <a:pt x="28735" y="6301"/>
                    <a:pt x="43947" y="0"/>
                    <a:pt x="59810" y="0"/>
                  </a:cubicBezTo>
                  <a:lnTo>
                    <a:pt x="1136387" y="0"/>
                  </a:lnTo>
                  <a:cubicBezTo>
                    <a:pt x="1152250" y="0"/>
                    <a:pt x="1167463" y="6301"/>
                    <a:pt x="1178679" y="17518"/>
                  </a:cubicBezTo>
                  <a:cubicBezTo>
                    <a:pt x="1189896" y="28735"/>
                    <a:pt x="1196197" y="43947"/>
                    <a:pt x="1196197" y="59810"/>
                  </a:cubicBezTo>
                  <a:lnTo>
                    <a:pt x="1196197" y="538288"/>
                  </a:lnTo>
                  <a:cubicBezTo>
                    <a:pt x="1196197" y="554151"/>
                    <a:pt x="1189896" y="569364"/>
                    <a:pt x="1178679" y="580580"/>
                  </a:cubicBezTo>
                  <a:cubicBezTo>
                    <a:pt x="1167462" y="591797"/>
                    <a:pt x="1152250" y="598098"/>
                    <a:pt x="1136387" y="598098"/>
                  </a:cubicBezTo>
                  <a:lnTo>
                    <a:pt x="59810" y="598098"/>
                  </a:lnTo>
                  <a:cubicBezTo>
                    <a:pt x="43947" y="598098"/>
                    <a:pt x="28734" y="591797"/>
                    <a:pt x="17518" y="580580"/>
                  </a:cubicBezTo>
                  <a:cubicBezTo>
                    <a:pt x="6301" y="569363"/>
                    <a:pt x="0" y="554151"/>
                    <a:pt x="0" y="538288"/>
                  </a:cubicBezTo>
                  <a:lnTo>
                    <a:pt x="0" y="59810"/>
                  </a:lnTo>
                  <a:close/>
                </a:path>
              </a:pathLst>
            </a:custGeom>
            <a:solidFill>
              <a:srgbClr val="00206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678" tIns="27678" rIns="27678" bIns="27678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b="1" dirty="0"/>
                <a:t>Integrated Solutions</a:t>
              </a:r>
            </a:p>
          </p:txBody>
        </p:sp>
        <p:sp>
          <p:nvSpPr>
            <p:cNvPr id="50" name="Freeform 49"/>
            <p:cNvSpPr/>
            <p:nvPr/>
          </p:nvSpPr>
          <p:spPr>
            <a:xfrm>
              <a:off x="5893536" y="5568015"/>
              <a:ext cx="1354666" cy="788220"/>
            </a:xfrm>
            <a:custGeom>
              <a:avLst/>
              <a:gdLst>
                <a:gd name="connsiteX0" fmla="*/ 0 w 1196197"/>
                <a:gd name="connsiteY0" fmla="*/ 59810 h 598098"/>
                <a:gd name="connsiteX1" fmla="*/ 17518 w 1196197"/>
                <a:gd name="connsiteY1" fmla="*/ 17518 h 598098"/>
                <a:gd name="connsiteX2" fmla="*/ 59810 w 1196197"/>
                <a:gd name="connsiteY2" fmla="*/ 0 h 598098"/>
                <a:gd name="connsiteX3" fmla="*/ 1136387 w 1196197"/>
                <a:gd name="connsiteY3" fmla="*/ 0 h 598098"/>
                <a:gd name="connsiteX4" fmla="*/ 1178679 w 1196197"/>
                <a:gd name="connsiteY4" fmla="*/ 17518 h 598098"/>
                <a:gd name="connsiteX5" fmla="*/ 1196197 w 1196197"/>
                <a:gd name="connsiteY5" fmla="*/ 59810 h 598098"/>
                <a:gd name="connsiteX6" fmla="*/ 1196197 w 1196197"/>
                <a:gd name="connsiteY6" fmla="*/ 538288 h 598098"/>
                <a:gd name="connsiteX7" fmla="*/ 1178679 w 1196197"/>
                <a:gd name="connsiteY7" fmla="*/ 580580 h 598098"/>
                <a:gd name="connsiteX8" fmla="*/ 1136387 w 1196197"/>
                <a:gd name="connsiteY8" fmla="*/ 598098 h 598098"/>
                <a:gd name="connsiteX9" fmla="*/ 59810 w 1196197"/>
                <a:gd name="connsiteY9" fmla="*/ 598098 h 598098"/>
                <a:gd name="connsiteX10" fmla="*/ 17518 w 1196197"/>
                <a:gd name="connsiteY10" fmla="*/ 580580 h 598098"/>
                <a:gd name="connsiteX11" fmla="*/ 0 w 1196197"/>
                <a:gd name="connsiteY11" fmla="*/ 538288 h 598098"/>
                <a:gd name="connsiteX12" fmla="*/ 0 w 1196197"/>
                <a:gd name="connsiteY12" fmla="*/ 59810 h 5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598098">
                  <a:moveTo>
                    <a:pt x="0" y="59810"/>
                  </a:moveTo>
                  <a:cubicBezTo>
                    <a:pt x="0" y="43947"/>
                    <a:pt x="6301" y="28734"/>
                    <a:pt x="17518" y="17518"/>
                  </a:cubicBezTo>
                  <a:cubicBezTo>
                    <a:pt x="28735" y="6301"/>
                    <a:pt x="43947" y="0"/>
                    <a:pt x="59810" y="0"/>
                  </a:cubicBezTo>
                  <a:lnTo>
                    <a:pt x="1136387" y="0"/>
                  </a:lnTo>
                  <a:cubicBezTo>
                    <a:pt x="1152250" y="0"/>
                    <a:pt x="1167463" y="6301"/>
                    <a:pt x="1178679" y="17518"/>
                  </a:cubicBezTo>
                  <a:cubicBezTo>
                    <a:pt x="1189896" y="28735"/>
                    <a:pt x="1196197" y="43947"/>
                    <a:pt x="1196197" y="59810"/>
                  </a:cubicBezTo>
                  <a:lnTo>
                    <a:pt x="1196197" y="538288"/>
                  </a:lnTo>
                  <a:cubicBezTo>
                    <a:pt x="1196197" y="554151"/>
                    <a:pt x="1189896" y="569364"/>
                    <a:pt x="1178679" y="580580"/>
                  </a:cubicBezTo>
                  <a:cubicBezTo>
                    <a:pt x="1167462" y="591797"/>
                    <a:pt x="1152250" y="598098"/>
                    <a:pt x="1136387" y="598098"/>
                  </a:cubicBezTo>
                  <a:lnTo>
                    <a:pt x="59810" y="598098"/>
                  </a:lnTo>
                  <a:cubicBezTo>
                    <a:pt x="43947" y="598098"/>
                    <a:pt x="28734" y="591797"/>
                    <a:pt x="17518" y="580580"/>
                  </a:cubicBezTo>
                  <a:cubicBezTo>
                    <a:pt x="6301" y="569363"/>
                    <a:pt x="0" y="554151"/>
                    <a:pt x="0" y="538288"/>
                  </a:cubicBezTo>
                  <a:lnTo>
                    <a:pt x="0" y="59810"/>
                  </a:lnTo>
                  <a:close/>
                </a:path>
              </a:pathLst>
            </a:custGeom>
            <a:solidFill>
              <a:srgbClr val="00206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678" tIns="27678" rIns="27678" bIns="27678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50" b="1" dirty="0"/>
                <a:t>Hybrid Solutions</a:t>
              </a:r>
            </a:p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50" b="1" dirty="0"/>
                <a:t>Multichip Modules</a:t>
              </a:r>
            </a:p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50" b="1" dirty="0"/>
                <a:t>(to 8 GHz)</a:t>
              </a:r>
            </a:p>
          </p:txBody>
        </p:sp>
        <p:pic>
          <p:nvPicPr>
            <p:cNvPr id="53" name="Picture 5" descr="Untitled.png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09787" y="5671940"/>
              <a:ext cx="915378" cy="6033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98" name="Straight Arrow Connector 97"/>
            <p:cNvCxnSpPr/>
            <p:nvPr/>
          </p:nvCxnSpPr>
          <p:spPr>
            <a:xfrm>
              <a:off x="5551137" y="5967056"/>
              <a:ext cx="293852" cy="656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09485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Transceiver Block Diagram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743" y="1450645"/>
            <a:ext cx="8588586" cy="4875547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 bwMode="auto">
          <a:xfrm>
            <a:off x="2140998" y="1626094"/>
            <a:ext cx="816746" cy="1242873"/>
          </a:xfrm>
          <a:prstGeom prst="ellipse">
            <a:avLst/>
          </a:prstGeom>
          <a:solidFill>
            <a:schemeClr val="tx2">
              <a:lumMod val="50000"/>
              <a:lumOff val="50000"/>
              <a:alpha val="28000"/>
            </a:schemeClr>
          </a:solidFill>
          <a:ln w="12700" cap="sq" algn="ctr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 lIns="0" rIns="0" rtlCol="0" anchor="ctr"/>
          <a:lstStyle/>
          <a:p>
            <a:pPr algn="ctr">
              <a:spcBef>
                <a:spcPts val="1440"/>
              </a:spcBef>
            </a:pPr>
            <a:endParaRPr lang="en-US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6211247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240" y="183932"/>
            <a:ext cx="6061075" cy="363537"/>
          </a:xfrm>
        </p:spPr>
        <p:txBody>
          <a:bodyPr lIns="91440" tIns="45720" rIns="91440" bIns="45720" anchor="b">
            <a:noAutofit/>
          </a:bodyPr>
          <a:lstStyle/>
          <a:p>
            <a:r>
              <a:rPr lang="en-US" dirty="0" smtClean="0"/>
              <a:t>Discrete Diodes – Limiters</a:t>
            </a:r>
            <a:endParaRPr lang="en-US" dirty="0"/>
          </a:p>
        </p:txBody>
      </p:sp>
      <p:sp>
        <p:nvSpPr>
          <p:cNvPr id="187399" name="Rectangle 6"/>
          <p:cNvSpPr>
            <a:spLocks noChangeArrowheads="1"/>
          </p:cNvSpPr>
          <p:nvPr/>
        </p:nvSpPr>
        <p:spPr bwMode="auto">
          <a:xfrm>
            <a:off x="179537" y="1203446"/>
            <a:ext cx="4995778" cy="52198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2800" dirty="0" smtClean="0">
                <a:ea typeface="굴림" pitchFamily="34" charset="-127"/>
              </a:rPr>
              <a:t> Limiter diodes can be thought of as RF-voltage-controlled variable attenuators</a:t>
            </a:r>
          </a:p>
          <a:p>
            <a:pPr lvl="1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2800" dirty="0" smtClean="0">
                <a:ea typeface="굴림" pitchFamily="34" charset="-127"/>
              </a:rPr>
              <a:t>When input signal is small, </a:t>
            </a:r>
          </a:p>
          <a:p>
            <a:pPr lvl="2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2800" dirty="0" smtClean="0">
                <a:ea typeface="굴림" pitchFamily="34" charset="-127"/>
              </a:rPr>
              <a:t>limiter diode impedance is high  </a:t>
            </a:r>
          </a:p>
          <a:p>
            <a:pPr lvl="2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2800" dirty="0" smtClean="0">
                <a:ea typeface="굴림" pitchFamily="34" charset="-127"/>
              </a:rPr>
              <a:t>RF signal is not attenuated</a:t>
            </a:r>
          </a:p>
          <a:p>
            <a:pPr lvl="1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2800" dirty="0" smtClean="0">
                <a:ea typeface="굴림" pitchFamily="34" charset="-127"/>
              </a:rPr>
              <a:t>When RF signal is large, </a:t>
            </a:r>
          </a:p>
          <a:p>
            <a:pPr lvl="2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2800" dirty="0" smtClean="0">
                <a:ea typeface="굴림" pitchFamily="34" charset="-127"/>
              </a:rPr>
              <a:t>it forces the diode’s impedance to be small</a:t>
            </a:r>
          </a:p>
          <a:p>
            <a:pPr lvl="2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2800" dirty="0" smtClean="0">
                <a:ea typeface="굴림" pitchFamily="34" charset="-127"/>
              </a:rPr>
              <a:t>input signal is reflected back to its source</a:t>
            </a:r>
          </a:p>
        </p:txBody>
      </p:sp>
      <p:graphicFrame>
        <p:nvGraphicFramePr>
          <p:cNvPr id="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4129812"/>
              </p:ext>
            </p:extLst>
          </p:nvPr>
        </p:nvGraphicFramePr>
        <p:xfrm>
          <a:off x="5034845" y="2487505"/>
          <a:ext cx="3743325" cy="360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8" name="Mathcad 6.0" r:id="rId4" imgW="3743280" imgH="3609720" progId="">
                  <p:embed/>
                </p:oleObj>
              </mc:Choice>
              <mc:Fallback>
                <p:oleObj name="Mathcad 6.0" r:id="rId4" imgW="3743280" imgH="360972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4845" y="2487505"/>
                        <a:ext cx="3743325" cy="360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1906" y="1234931"/>
            <a:ext cx="3007555" cy="1338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250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240" y="183932"/>
            <a:ext cx="6061075" cy="363537"/>
          </a:xfrm>
        </p:spPr>
        <p:txBody>
          <a:bodyPr lIns="91440" tIns="45720" rIns="91440" bIns="45720" anchor="b">
            <a:noAutofit/>
          </a:bodyPr>
          <a:lstStyle/>
          <a:p>
            <a:r>
              <a:rPr lang="en-US" dirty="0" smtClean="0"/>
              <a:t>Discrete Diodes – Limiters (cont’d)</a:t>
            </a:r>
            <a:endParaRPr lang="en-US" dirty="0"/>
          </a:p>
        </p:txBody>
      </p:sp>
      <p:sp>
        <p:nvSpPr>
          <p:cNvPr id="187399" name="Rectangle 6"/>
          <p:cNvSpPr>
            <a:spLocks noChangeArrowheads="1"/>
          </p:cNvSpPr>
          <p:nvPr/>
        </p:nvSpPr>
        <p:spPr bwMode="auto">
          <a:xfrm>
            <a:off x="169489" y="1705864"/>
            <a:ext cx="4995778" cy="3862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2800" dirty="0" smtClean="0">
                <a:ea typeface="굴림" pitchFamily="34" charset="-127"/>
              </a:rPr>
              <a:t>No external control signal is required for the limiter to operate</a:t>
            </a:r>
          </a:p>
          <a:p>
            <a:pPr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2800" dirty="0" smtClean="0">
                <a:ea typeface="굴림" pitchFamily="34" charset="-127"/>
              </a:rPr>
              <a:t>DC current return path (e.g., RF choke) is required</a:t>
            </a:r>
          </a:p>
          <a:p>
            <a:pPr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2800" dirty="0" smtClean="0">
                <a:ea typeface="굴림" pitchFamily="34" charset="-127"/>
              </a:rPr>
              <a:t>Diode I layer thickness determines input power level at which the limiter “turns on” </a:t>
            </a:r>
          </a:p>
          <a:p>
            <a:pPr lvl="1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2800" dirty="0" smtClean="0">
                <a:ea typeface="굴림" pitchFamily="34" charset="-127"/>
              </a:rPr>
              <a:t>Threshold level = input 1 dB compression point</a:t>
            </a:r>
          </a:p>
        </p:txBody>
      </p:sp>
      <p:graphicFrame>
        <p:nvGraphicFramePr>
          <p:cNvPr id="7" name="Object 21"/>
          <p:cNvGraphicFramePr>
            <a:graphicFrameLocks noChangeAspect="1"/>
          </p:cNvGraphicFramePr>
          <p:nvPr>
            <p:extLst/>
          </p:nvPr>
        </p:nvGraphicFramePr>
        <p:xfrm>
          <a:off x="5034845" y="2487505"/>
          <a:ext cx="3743325" cy="360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4" name="Mathcad 6.0" r:id="rId4" imgW="3743280" imgH="3609720" progId="">
                  <p:embed/>
                </p:oleObj>
              </mc:Choice>
              <mc:Fallback>
                <p:oleObj name="Mathcad 6.0" r:id="rId4" imgW="3743280" imgH="360972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4845" y="2487505"/>
                        <a:ext cx="3743325" cy="360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1906" y="1234931"/>
            <a:ext cx="3007555" cy="1338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516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PIN Diode Parameters for Limiters</a:t>
            </a:r>
            <a:endParaRPr lang="en-US" dirty="0"/>
          </a:p>
        </p:txBody>
      </p:sp>
      <p:grpSp>
        <p:nvGrpSpPr>
          <p:cNvPr id="5" name="Group 5"/>
          <p:cNvGrpSpPr>
            <a:grpSpLocks/>
          </p:cNvGrpSpPr>
          <p:nvPr/>
        </p:nvGrpSpPr>
        <p:grpSpPr bwMode="auto">
          <a:xfrm>
            <a:off x="7489115" y="3963423"/>
            <a:ext cx="968297" cy="946790"/>
            <a:chOff x="3824" y="2152"/>
            <a:chExt cx="960" cy="924"/>
          </a:xfrm>
        </p:grpSpPr>
        <p:sp>
          <p:nvSpPr>
            <p:cNvPr id="7" name="Line 6"/>
            <p:cNvSpPr>
              <a:spLocks noChangeShapeType="1"/>
            </p:cNvSpPr>
            <p:nvPr/>
          </p:nvSpPr>
          <p:spPr bwMode="auto">
            <a:xfrm>
              <a:off x="3824" y="2152"/>
              <a:ext cx="9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8" name="Line 7"/>
            <p:cNvSpPr>
              <a:spLocks noChangeShapeType="1"/>
            </p:cNvSpPr>
            <p:nvPr/>
          </p:nvSpPr>
          <p:spPr bwMode="auto">
            <a:xfrm>
              <a:off x="3864" y="3072"/>
              <a:ext cx="9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9" name="Group 8"/>
            <p:cNvGrpSpPr>
              <a:grpSpLocks/>
            </p:cNvGrpSpPr>
            <p:nvPr/>
          </p:nvGrpSpPr>
          <p:grpSpPr bwMode="auto">
            <a:xfrm rot="5400000">
              <a:off x="3860" y="2441"/>
              <a:ext cx="924" cy="345"/>
              <a:chOff x="2784" y="1344"/>
              <a:chExt cx="924" cy="345"/>
            </a:xfrm>
          </p:grpSpPr>
          <p:sp>
            <p:nvSpPr>
              <p:cNvPr id="10" name="Line 9"/>
              <p:cNvSpPr>
                <a:spLocks noChangeShapeType="1"/>
              </p:cNvSpPr>
              <p:nvPr/>
            </p:nvSpPr>
            <p:spPr bwMode="auto">
              <a:xfrm>
                <a:off x="3165" y="1344"/>
                <a:ext cx="171" cy="1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1" name="Line 10"/>
              <p:cNvSpPr>
                <a:spLocks noChangeShapeType="1"/>
              </p:cNvSpPr>
              <p:nvPr/>
            </p:nvSpPr>
            <p:spPr bwMode="auto">
              <a:xfrm flipH="1">
                <a:off x="3165" y="1515"/>
                <a:ext cx="171" cy="1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2" name="Line 11"/>
              <p:cNvSpPr>
                <a:spLocks noChangeShapeType="1"/>
              </p:cNvSpPr>
              <p:nvPr/>
            </p:nvSpPr>
            <p:spPr bwMode="auto">
              <a:xfrm flipV="1">
                <a:off x="3162" y="1344"/>
                <a:ext cx="0" cy="3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3" name="Line 12"/>
              <p:cNvSpPr>
                <a:spLocks noChangeShapeType="1"/>
              </p:cNvSpPr>
              <p:nvPr/>
            </p:nvSpPr>
            <p:spPr bwMode="auto">
              <a:xfrm flipV="1">
                <a:off x="3336" y="1347"/>
                <a:ext cx="0" cy="3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4" name="Line 13"/>
              <p:cNvSpPr>
                <a:spLocks noChangeShapeType="1"/>
              </p:cNvSpPr>
              <p:nvPr/>
            </p:nvSpPr>
            <p:spPr bwMode="auto">
              <a:xfrm>
                <a:off x="3333" y="1515"/>
                <a:ext cx="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5" name="Line 14"/>
              <p:cNvSpPr>
                <a:spLocks noChangeShapeType="1"/>
              </p:cNvSpPr>
              <p:nvPr/>
            </p:nvSpPr>
            <p:spPr bwMode="auto">
              <a:xfrm>
                <a:off x="2784" y="1515"/>
                <a:ext cx="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</p:grpSp>
      <p:sp>
        <p:nvSpPr>
          <p:cNvPr id="6" name="Text Box 15"/>
          <p:cNvSpPr txBox="1">
            <a:spLocks noChangeArrowheads="1"/>
          </p:cNvSpPr>
          <p:nvPr/>
        </p:nvSpPr>
        <p:spPr bwMode="auto">
          <a:xfrm>
            <a:off x="6185893" y="4082804"/>
            <a:ext cx="937462" cy="8002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Shunt</a:t>
            </a:r>
            <a:endParaRPr lang="en-US" sz="1600" dirty="0">
              <a:latin typeface="Arial" pitchFamily="34" charset="0"/>
              <a:cs typeface="Arial" pitchFamily="34" charset="0"/>
            </a:endParaRPr>
          </a:p>
          <a:p>
            <a:pPr>
              <a:spcBef>
                <a:spcPct val="50000"/>
              </a:spcBef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Diode</a:t>
            </a:r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6" name="Object 1024"/>
          <p:cNvGraphicFramePr>
            <a:graphicFrameLocks noChangeAspect="1"/>
          </p:cNvGraphicFramePr>
          <p:nvPr>
            <p:extLst/>
          </p:nvPr>
        </p:nvGraphicFramePr>
        <p:xfrm>
          <a:off x="6237389" y="5108961"/>
          <a:ext cx="2220023" cy="3114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8" name="Equation" r:id="rId4" imgW="1485720" imgH="241200" progId="Equation.3">
                  <p:embed/>
                </p:oleObj>
              </mc:Choice>
              <mc:Fallback>
                <p:oleObj name="Equation" r:id="rId4" imgW="148572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7389" y="5108961"/>
                        <a:ext cx="2220023" cy="31149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025"/>
          <p:cNvGraphicFramePr>
            <a:graphicFrameLocks noChangeAspect="1"/>
          </p:cNvGraphicFramePr>
          <p:nvPr>
            <p:extLst/>
          </p:nvPr>
        </p:nvGraphicFramePr>
        <p:xfrm>
          <a:off x="6266639" y="5619207"/>
          <a:ext cx="2190773" cy="64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9" name="Equation" r:id="rId6" imgW="1485720" imgH="482400" progId="Equation.3">
                  <p:embed/>
                </p:oleObj>
              </mc:Choice>
              <mc:Fallback>
                <p:oleObj name="Equation" r:id="rId6" imgW="148572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6639" y="5619207"/>
                        <a:ext cx="2190773" cy="647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71507" y="2616771"/>
            <a:ext cx="4813574" cy="2861441"/>
          </a:xfrm>
        </p:spPr>
        <p:txBody>
          <a:bodyPr/>
          <a:lstStyle/>
          <a:p>
            <a:r>
              <a:rPr lang="en-US" dirty="0" smtClean="0"/>
              <a:t>Capacitance determines insertion loss</a:t>
            </a:r>
          </a:p>
          <a:p>
            <a:r>
              <a:rPr lang="en-US" dirty="0" smtClean="0"/>
              <a:t>I layer thickness determines </a:t>
            </a:r>
          </a:p>
          <a:p>
            <a:pPr lvl="1"/>
            <a:r>
              <a:rPr lang="en-US" dirty="0" smtClean="0"/>
              <a:t>Threshold level (input 1 dB compression point)</a:t>
            </a:r>
          </a:p>
          <a:p>
            <a:pPr lvl="1"/>
            <a:r>
              <a:rPr lang="en-US" dirty="0" smtClean="0"/>
              <a:t>Spike leakage</a:t>
            </a:r>
          </a:p>
          <a:p>
            <a:pPr lvl="1"/>
            <a:r>
              <a:rPr lang="en-US" dirty="0" smtClean="0"/>
              <a:t>Recovery time</a:t>
            </a:r>
          </a:p>
          <a:p>
            <a:r>
              <a:rPr lang="en-US" dirty="0" smtClean="0"/>
              <a:t>Resistance determines flat leakage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0203" y="1224990"/>
            <a:ext cx="2512955" cy="1460783"/>
          </a:xfrm>
          <a:prstGeom prst="rect">
            <a:avLst/>
          </a:prstGeom>
        </p:spPr>
      </p:pic>
      <p:grpSp>
        <p:nvGrpSpPr>
          <p:cNvPr id="18" name="Group 17"/>
          <p:cNvGrpSpPr/>
          <p:nvPr/>
        </p:nvGrpSpPr>
        <p:grpSpPr>
          <a:xfrm>
            <a:off x="5058515" y="1224990"/>
            <a:ext cx="3573799" cy="3610338"/>
            <a:chOff x="5300663" y="-272979"/>
            <a:chExt cx="5352547" cy="4864029"/>
          </a:xfrm>
        </p:grpSpPr>
        <p:graphicFrame>
          <p:nvGraphicFramePr>
            <p:cNvPr id="55" name="Object 3"/>
            <p:cNvGraphicFramePr>
              <a:graphicFrameLocks noChangeAspect="1"/>
            </p:cNvGraphicFramePr>
            <p:nvPr>
              <p:extLst/>
            </p:nvPr>
          </p:nvGraphicFramePr>
          <p:xfrm>
            <a:off x="5300663" y="2876550"/>
            <a:ext cx="2286000" cy="171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00" name="Mathcad 6.0" r:id="rId9" imgW="2286000" imgH="1714680" progId="">
                    <p:embed/>
                  </p:oleObj>
                </mc:Choice>
                <mc:Fallback>
                  <p:oleObj name="Mathcad 6.0" r:id="rId9" imgW="2286000" imgH="171468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00663" y="2876550"/>
                          <a:ext cx="2286000" cy="1714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4" name="Line 15"/>
            <p:cNvSpPr>
              <a:spLocks noChangeShapeType="1"/>
            </p:cNvSpPr>
            <p:nvPr/>
          </p:nvSpPr>
          <p:spPr bwMode="auto">
            <a:xfrm flipH="1">
              <a:off x="7016750" y="416307"/>
              <a:ext cx="520700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graphicFrame>
          <p:nvGraphicFramePr>
            <p:cNvPr id="70" name="Object 21"/>
            <p:cNvGraphicFramePr>
              <a:graphicFrameLocks noChangeAspect="1"/>
            </p:cNvGraphicFramePr>
            <p:nvPr>
              <p:extLst/>
            </p:nvPr>
          </p:nvGraphicFramePr>
          <p:xfrm>
            <a:off x="5874475" y="-272979"/>
            <a:ext cx="4778735" cy="3609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01" name="Mathcad 6.0" r:id="rId11" imgW="3743280" imgH="3609720" progId="">
                    <p:embed/>
                  </p:oleObj>
                </mc:Choice>
                <mc:Fallback>
                  <p:oleObj name="Mathcad 6.0" r:id="rId11" imgW="3743280" imgH="360972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74475" y="-272979"/>
                          <a:ext cx="4778735" cy="36099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" name="TextBox 21"/>
          <p:cNvSpPr txBox="1"/>
          <p:nvPr/>
        </p:nvSpPr>
        <p:spPr bwMode="auto">
          <a:xfrm>
            <a:off x="17173" y="5605871"/>
            <a:ext cx="5167908" cy="65942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 cap="sq" algn="ctr">
            <a:noFill/>
            <a:miter lim="800000"/>
            <a:headEnd/>
            <a:tailEnd/>
          </a:ln>
          <a:effectLst/>
        </p:spPr>
        <p:txBody>
          <a:bodyPr wrap="square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400" b="1" dirty="0" smtClean="0">
                <a:solidFill>
                  <a:schemeClr val="tx2"/>
                </a:solidFill>
                <a:latin typeface="+mn-lt"/>
              </a:rPr>
              <a:t>TAKEAWAY: Limiter design is not done with simulators</a:t>
            </a:r>
            <a:br>
              <a:rPr lang="en-US" sz="1400" b="1" dirty="0" smtClean="0">
                <a:solidFill>
                  <a:schemeClr val="tx2"/>
                </a:solidFill>
                <a:latin typeface="+mn-lt"/>
              </a:rPr>
            </a:br>
            <a:r>
              <a:rPr lang="en-US" sz="1400" b="1" dirty="0" smtClean="0">
                <a:solidFill>
                  <a:schemeClr val="tx2"/>
                </a:solidFill>
                <a:latin typeface="+mn-lt"/>
              </a:rPr>
              <a:t>                     —experience is </a:t>
            </a:r>
            <a:r>
              <a:rPr lang="en-US" sz="1400" b="1" u="sng" dirty="0" smtClean="0">
                <a:solidFill>
                  <a:schemeClr val="tx2"/>
                </a:solidFill>
                <a:latin typeface="+mn-lt"/>
              </a:rPr>
              <a:t>required</a:t>
            </a:r>
            <a:r>
              <a:rPr lang="en-US" sz="1400" b="1" dirty="0" smtClean="0">
                <a:solidFill>
                  <a:schemeClr val="tx2"/>
                </a:solidFill>
                <a:latin typeface="+mn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05448149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12750" y="3236570"/>
            <a:ext cx="8313806" cy="3194048"/>
          </a:xfrm>
        </p:spPr>
        <p:txBody>
          <a:bodyPr/>
          <a:lstStyle/>
          <a:p>
            <a:r>
              <a:rPr lang="en-US" sz="1800" dirty="0" smtClean="0"/>
              <a:t>A limiter diode cannot go into conduction instantaneously</a:t>
            </a:r>
          </a:p>
          <a:p>
            <a:pPr lvl="1"/>
            <a:r>
              <a:rPr lang="en-US" sz="1600" dirty="0" smtClean="0"/>
              <a:t>Leading edge of large RF signal is initially unattenuated resulting in spike leakage</a:t>
            </a:r>
          </a:p>
          <a:p>
            <a:r>
              <a:rPr lang="en-US" sz="1800" dirty="0" smtClean="0"/>
              <a:t>As charge carriers accumulate in limiter I layer</a:t>
            </a:r>
          </a:p>
          <a:p>
            <a:pPr lvl="1"/>
            <a:r>
              <a:rPr lang="en-US" sz="1600" dirty="0" smtClean="0"/>
              <a:t>Series resistance decreases</a:t>
            </a:r>
          </a:p>
          <a:p>
            <a:pPr lvl="1"/>
            <a:r>
              <a:rPr lang="en-US" sz="1600" dirty="0" smtClean="0"/>
              <a:t>Attenuation increases due to mismatch loss</a:t>
            </a:r>
          </a:p>
          <a:p>
            <a:r>
              <a:rPr lang="en-US" sz="1800" dirty="0" smtClean="0"/>
              <a:t>When the diode’s resistance reaches equilibrium, </a:t>
            </a:r>
          </a:p>
          <a:p>
            <a:pPr lvl="1"/>
            <a:r>
              <a:rPr lang="en-US" sz="1600" dirty="0" smtClean="0"/>
              <a:t>some power is passed by the limiter</a:t>
            </a:r>
          </a:p>
          <a:p>
            <a:pPr lvl="1"/>
            <a:r>
              <a:rPr lang="en-US" sz="1600" dirty="0" smtClean="0"/>
              <a:t>a small portion of the incident power is dissipated by the diode </a:t>
            </a:r>
          </a:p>
          <a:p>
            <a:pPr lvl="1"/>
            <a:r>
              <a:rPr lang="en-US" sz="1600" dirty="0" smtClean="0"/>
              <a:t>the remainder is reflected to its source</a:t>
            </a:r>
            <a:endParaRPr lang="en-US" sz="16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Limiter Performance vs. Time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7338" y="1211622"/>
            <a:ext cx="4333462" cy="198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095697"/>
      </p:ext>
    </p:extLst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64276" y="1306172"/>
            <a:ext cx="4854088" cy="2804258"/>
          </a:xfrm>
        </p:spPr>
        <p:txBody>
          <a:bodyPr/>
          <a:lstStyle/>
          <a:p>
            <a:r>
              <a:rPr lang="en-US" sz="2400" dirty="0" smtClean="0"/>
              <a:t>When the limiter diode is conducting, Joule heating (I</a:t>
            </a:r>
            <a:r>
              <a:rPr lang="en-US" sz="2400" baseline="-25000" dirty="0" smtClean="0"/>
              <a:t>RF</a:t>
            </a:r>
            <a:r>
              <a:rPr lang="en-US" sz="2400" baseline="30000" dirty="0" smtClean="0"/>
              <a:t>2</a:t>
            </a:r>
            <a:r>
              <a:rPr lang="en-US" sz="2400" dirty="0" smtClean="0"/>
              <a:t>R</a:t>
            </a:r>
            <a:r>
              <a:rPr lang="en-US" sz="2400" baseline="-25000" dirty="0" smtClean="0"/>
              <a:t>S</a:t>
            </a:r>
            <a:r>
              <a:rPr lang="en-US" sz="2400" dirty="0" smtClean="0"/>
              <a:t>) causes the junction temperature to rise</a:t>
            </a:r>
          </a:p>
          <a:p>
            <a:r>
              <a:rPr lang="en-US" sz="2400" dirty="0" smtClean="0"/>
              <a:t>The diode acts as a network containing thermal resistance (</a:t>
            </a:r>
            <a:r>
              <a:rPr lang="en-US" sz="2400" dirty="0" smtClean="0">
                <a:sym typeface="Symbol" panose="05050102010706020507" pitchFamily="18" charset="2"/>
              </a:rPr>
              <a:t></a:t>
            </a:r>
            <a:r>
              <a:rPr lang="en-US" sz="2400" baseline="-25000" dirty="0" smtClean="0">
                <a:sym typeface="Symbol" panose="05050102010706020507" pitchFamily="18" charset="2"/>
              </a:rPr>
              <a:t>JC</a:t>
            </a:r>
            <a:r>
              <a:rPr lang="en-US" sz="2400" dirty="0" smtClean="0"/>
              <a:t>) and thermal capacitance (C</a:t>
            </a:r>
            <a:r>
              <a:rPr lang="en-US" sz="2400" baseline="-25000" dirty="0" smtClean="0"/>
              <a:t>thermal</a:t>
            </a:r>
            <a:r>
              <a:rPr lang="en-US" sz="2400" dirty="0" smtClean="0"/>
              <a:t>)</a:t>
            </a:r>
          </a:p>
          <a:p>
            <a:r>
              <a:rPr lang="en-US" sz="2400" dirty="0"/>
              <a:t>Junction temperature rises according to the thermal time constant of the </a:t>
            </a:r>
            <a:r>
              <a:rPr lang="en-US" sz="2400" dirty="0" smtClean="0"/>
              <a:t>diode</a:t>
            </a:r>
          </a:p>
          <a:p>
            <a:r>
              <a:rPr lang="en-US" sz="2400" dirty="0" smtClean="0"/>
              <a:t>The maximum rated junction temperature for a Si PIN diode is 175 </a:t>
            </a:r>
            <a:r>
              <a:rPr lang="en-US" sz="2400" dirty="0" smtClean="0">
                <a:sym typeface="Symbol" panose="05050102010706020507" pitchFamily="18" charset="2"/>
              </a:rPr>
              <a:t>C</a:t>
            </a:r>
            <a:endParaRPr lang="en-US" sz="2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Junction Heating – </a:t>
            </a:r>
            <a:r>
              <a:rPr lang="en-US" dirty="0"/>
              <a:t>t</a:t>
            </a:r>
            <a:r>
              <a:rPr lang="en-US" dirty="0" smtClean="0"/>
              <a:t>he Enemy of All Semiconductors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1026" y="1866627"/>
            <a:ext cx="4048470" cy="29905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407574" y="5306832"/>
                <a:ext cx="2980368" cy="5073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𝑡h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𝐽𝐶</m:t>
                          </m:r>
                        </m:sub>
                      </m:sSub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𝑡h𝑒𝑟𝑚𝑎𝑙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7574" y="5306832"/>
                <a:ext cx="2980368" cy="507318"/>
              </a:xfrm>
              <a:prstGeom prst="rect">
                <a:avLst/>
              </a:prstGeom>
              <a:blipFill rotWithShape="0">
                <a:blip r:embed="rId4"/>
                <a:stretch>
                  <a:fillRect b="-132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7199985"/>
      </p:ext>
    </p:extLst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184153" y="1667108"/>
                <a:ext cx="4039977" cy="3203063"/>
              </a:xfrm>
            </p:spPr>
            <p:txBody>
              <a:bodyPr/>
              <a:lstStyle/>
              <a:p>
                <a:pPr lvl="0" rtl="0" eaLnBrk="1" fontAlgn="base" hangingPunct="1"/>
                <a:r>
                  <a:rPr lang="en-US" sz="2400" b="0" i="0" u="none" dirty="0" smtClean="0">
                    <a:solidFill>
                      <a:schemeClr val="tx2"/>
                    </a:solidFill>
                    <a:effectLst/>
                    <a:ea typeface="+mj-ea"/>
                    <a:cs typeface="+mj-cs"/>
                  </a:rPr>
                  <a:t>The relation of pulse width of the input signal to </a:t>
                </a:r>
                <a:r>
                  <a:rPr lang="en-US" sz="2400" b="0" i="0" u="none" dirty="0">
                    <a:solidFill>
                      <a:schemeClr val="tx2"/>
                    </a:solidFill>
                    <a:effectLst/>
                    <a:ea typeface="+mj-ea"/>
                    <a:cs typeface="+mj-cs"/>
                    <a:sym typeface="Symbol" panose="05050102010706020507" pitchFamily="18" charset="2"/>
                  </a:rPr>
                  <a:t></a:t>
                </a:r>
                <a:r>
                  <a:rPr lang="en-US" sz="2400" b="0" i="0" u="none" baseline="-25000" dirty="0">
                    <a:solidFill>
                      <a:schemeClr val="tx2"/>
                    </a:solidFill>
                    <a:effectLst/>
                    <a:ea typeface="+mj-ea"/>
                    <a:cs typeface="+mj-cs"/>
                  </a:rPr>
                  <a:t>th</a:t>
                </a:r>
                <a:r>
                  <a:rPr lang="en-US" sz="2400" b="0" i="0" u="none" dirty="0">
                    <a:solidFill>
                      <a:schemeClr val="tx2"/>
                    </a:solidFill>
                    <a:effectLst/>
                    <a:ea typeface="+mj-ea"/>
                    <a:cs typeface="+mj-cs"/>
                  </a:rPr>
                  <a:t> is critical</a:t>
                </a:r>
                <a:endParaRPr lang="en-US" sz="2400" dirty="0">
                  <a:effectLst/>
                </a:endParaRPr>
              </a:p>
              <a:p>
                <a:pPr lvl="0" rtl="0" eaLnBrk="1" fontAlgn="base" hangingPunct="1"/>
                <a:r>
                  <a:rPr lang="en-US" sz="2400" b="0" i="0" u="none" dirty="0">
                    <a:solidFill>
                      <a:schemeClr val="tx2"/>
                    </a:solidFill>
                    <a:effectLst/>
                    <a:ea typeface="+mj-ea"/>
                    <a:cs typeface="+mj-cs"/>
                  </a:rPr>
                  <a:t>If pulse width is approximately 3 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u="none">
                            <a:solidFill>
                              <a:schemeClr val="tx2"/>
                            </a:solidFill>
                            <a:effectLst/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</m:ctrlPr>
                      </m:sSubPr>
                      <m:e>
                        <m:r>
                          <a:rPr lang="en-US" sz="2400" b="0" i="1" u="none">
                            <a:solidFill>
                              <a:schemeClr val="tx2"/>
                            </a:solidFill>
                            <a:effectLst/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  <m:t>𝜏</m:t>
                        </m:r>
                      </m:e>
                      <m:sub>
                        <m:r>
                          <a:rPr lang="en-US" sz="2400" b="0" i="1" u="none">
                            <a:solidFill>
                              <a:schemeClr val="tx2"/>
                            </a:solidFill>
                            <a:effectLst/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  <m:t>𝑡h</m:t>
                        </m:r>
                      </m:sub>
                    </m:sSub>
                  </m:oMath>
                </a14:m>
                <a:r>
                  <a:rPr lang="en-US" sz="2400" b="0" i="0" u="none" dirty="0">
                    <a:solidFill>
                      <a:schemeClr val="tx2"/>
                    </a:solidFill>
                    <a:effectLst/>
                    <a:ea typeface="+mj-ea"/>
                    <a:cs typeface="+mj-cs"/>
                  </a:rPr>
                  <a:t> or more, heating is roughly equivalent to that caused by a CW </a:t>
                </a:r>
                <a:r>
                  <a:rPr lang="en-US" sz="2400" b="0" i="0" u="none" dirty="0" smtClean="0">
                    <a:solidFill>
                      <a:schemeClr val="tx2"/>
                    </a:solidFill>
                    <a:effectLst/>
                    <a:ea typeface="+mj-ea"/>
                    <a:cs typeface="+mj-cs"/>
                  </a:rPr>
                  <a:t>signal</a:t>
                </a:r>
                <a:endParaRPr lang="en-US" sz="2400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4153" y="1667108"/>
                <a:ext cx="4039977" cy="3203063"/>
              </a:xfrm>
              <a:blipFill rotWithShape="0">
                <a:blip r:embed="rId2"/>
                <a:stretch>
                  <a:fillRect l="-5279" t="-5133" r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Junction Heating – </a:t>
            </a:r>
            <a:r>
              <a:rPr lang="en-US" dirty="0"/>
              <a:t>t</a:t>
            </a:r>
            <a:r>
              <a:rPr lang="en-US" dirty="0" smtClean="0"/>
              <a:t>he Enemy of All Semiconductors (cont’d)</a:t>
            </a:r>
            <a:endParaRPr lang="en-US" dirty="0"/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99713473"/>
              </p:ext>
            </p:extLst>
          </p:nvPr>
        </p:nvGraphicFramePr>
        <p:xfrm>
          <a:off x="4134677" y="1756197"/>
          <a:ext cx="4790662" cy="30963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515928" y="5170568"/>
                <a:ext cx="8271175" cy="7730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𝐻𝑒𝑎𝑡𝑖𝑛𝑔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𝐽</m:t>
                          </m:r>
                        </m:sub>
                      </m:sSub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𝑐𝑎𝑠𝑒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𝑑𝑖𝑠𝑠𝑖𝑝𝑎𝑡𝑒𝑑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𝐽𝐶</m:t>
                          </m:r>
                        </m:sub>
                      </m:sSub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𝑡h</m:t>
                                      </m:r>
                                    </m:sub>
                                  </m:sSub>
                                </m:den>
                              </m:f>
                            </m:sup>
                          </m:sSup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928" y="5170568"/>
                <a:ext cx="8271175" cy="7730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8530883"/>
      </p:ext>
    </p:extLst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44409" y="4382332"/>
            <a:ext cx="8462890" cy="1035687"/>
          </a:xfrm>
        </p:spPr>
        <p:txBody>
          <a:bodyPr/>
          <a:lstStyle/>
          <a:p>
            <a:r>
              <a:rPr lang="en-US" sz="2400" dirty="0" smtClean="0"/>
              <a:t>The relation of duty cycle </a:t>
            </a:r>
            <a:r>
              <a:rPr lang="en-US" sz="2400" dirty="0"/>
              <a:t>to </a:t>
            </a:r>
            <a:r>
              <a:rPr lang="en-US" sz="2400" dirty="0">
                <a:sym typeface="Symbol" panose="05050102010706020507" pitchFamily="18" charset="2"/>
              </a:rPr>
              <a:t></a:t>
            </a:r>
            <a:r>
              <a:rPr lang="en-US" sz="2400" baseline="-25000" dirty="0">
                <a:sym typeface="Symbol" panose="05050102010706020507" pitchFamily="18" charset="2"/>
              </a:rPr>
              <a:t>th</a:t>
            </a:r>
            <a:r>
              <a:rPr lang="en-US" sz="2400" dirty="0"/>
              <a:t> is</a:t>
            </a:r>
            <a:r>
              <a:rPr lang="en-US" sz="2400" dirty="0" smtClean="0"/>
              <a:t> critical</a:t>
            </a:r>
          </a:p>
          <a:p>
            <a:pPr lvl="1"/>
            <a:r>
              <a:rPr lang="en-US" sz="2000" dirty="0" smtClean="0"/>
              <a:t>If duty cycle is too large, due to insufficient cooling times successive pulses cause peak junction temperature to sequentially increase</a:t>
            </a:r>
            <a:endParaRPr lang="en-US" sz="2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Junction Heating – </a:t>
            </a:r>
            <a:r>
              <a:rPr lang="en-US" dirty="0"/>
              <a:t>t</a:t>
            </a:r>
            <a:r>
              <a:rPr lang="en-US" dirty="0" smtClean="0"/>
              <a:t>he Enemy of All Semiconductors (cont’d)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358" y="1168136"/>
            <a:ext cx="4318277" cy="264190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0297" y="1174305"/>
            <a:ext cx="3857002" cy="26357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545128" y="5533547"/>
                <a:ext cx="3598872" cy="5785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𝐶𝑜𝑜𝑙𝑖𝑛𝑔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𝐽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𝑝𝑒𝑎𝑘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𝑡h</m:t>
                                      </m:r>
                                    </m:sub>
                                  </m:sSub>
                                </m:den>
                              </m:f>
                            </m:sup>
                          </m:sSup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5128" y="5533547"/>
                <a:ext cx="3598872" cy="57855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55576" y="5633833"/>
                <a:ext cx="5389552" cy="52988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𝐻𝑒𝑎𝑡𝑖𝑛𝑔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𝐽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𝑐𝑎𝑠𝑒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𝑑𝑖𝑠𝑠𝑖𝑝𝑎𝑡𝑒𝑑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𝐽𝐶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𝑡h</m:t>
                                      </m:r>
                                    </m:sub>
                                  </m:sSub>
                                </m:den>
                              </m:f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576" y="5633833"/>
                <a:ext cx="5389552" cy="529889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 bwMode="auto">
          <a:xfrm>
            <a:off x="1152248" y="3947098"/>
            <a:ext cx="1798983" cy="298174"/>
          </a:xfrm>
          <a:prstGeom prst="rect">
            <a:avLst/>
          </a:prstGeom>
          <a:noFill/>
          <a:ln w="12700" cap="sq" algn="ctr">
            <a:noFill/>
            <a:miter lim="800000"/>
            <a:headEnd/>
            <a:tailEnd/>
          </a:ln>
          <a:effectLst/>
        </p:spPr>
        <p:txBody>
          <a:bodyPr wrap="square" rtlCol="0" anchor="ctr" anchorCtr="0">
            <a:noAutofit/>
          </a:bodyPr>
          <a:lstStyle/>
          <a:p>
            <a:pPr>
              <a:spcBef>
                <a:spcPts val="900"/>
              </a:spcBef>
            </a:pPr>
            <a:r>
              <a:rPr lang="en-US" dirty="0" smtClean="0">
                <a:solidFill>
                  <a:schemeClr val="tx2"/>
                </a:solidFill>
                <a:latin typeface="+mn-lt"/>
              </a:rPr>
              <a:t>Low Duty Cycle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5916405" y="3876942"/>
            <a:ext cx="2084595" cy="327988"/>
          </a:xfrm>
          <a:prstGeom prst="rect">
            <a:avLst/>
          </a:prstGeom>
          <a:noFill/>
          <a:ln w="12700" cap="sq" algn="ctr">
            <a:noFill/>
            <a:miter lim="800000"/>
            <a:headEnd/>
            <a:tailEnd/>
          </a:ln>
          <a:effectLst/>
        </p:spPr>
        <p:txBody>
          <a:bodyPr wrap="square" rtlCol="0" anchor="ctr" anchorCtr="0">
            <a:noAutofit/>
          </a:bodyPr>
          <a:lstStyle/>
          <a:p>
            <a:pPr>
              <a:spcBef>
                <a:spcPts val="900"/>
              </a:spcBef>
            </a:pPr>
            <a:r>
              <a:rPr lang="en-US" dirty="0" smtClean="0">
                <a:solidFill>
                  <a:schemeClr val="tx2"/>
                </a:solidFill>
                <a:latin typeface="+mn-lt"/>
              </a:rPr>
              <a:t>High Duty Cycle</a:t>
            </a:r>
          </a:p>
        </p:txBody>
      </p:sp>
    </p:spTree>
    <p:extLst>
      <p:ext uri="{BB962C8B-B14F-4D97-AF65-F5344CB8AC3E}">
        <p14:creationId xmlns:p14="http://schemas.microsoft.com/office/powerpoint/2010/main" val="2458693833"/>
      </p:ext>
    </p:extLst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240" y="183932"/>
            <a:ext cx="6061075" cy="363537"/>
          </a:xfrm>
        </p:spPr>
        <p:txBody>
          <a:bodyPr lIns="91440" tIns="45720" rIns="91440" bIns="45720" anchor="b">
            <a:noAutofit/>
          </a:bodyPr>
          <a:lstStyle/>
          <a:p>
            <a:r>
              <a:rPr lang="en-US" dirty="0" smtClean="0"/>
              <a:t>Discrete Diodes – Limiters</a:t>
            </a:r>
            <a:endParaRPr lang="en-US" dirty="0"/>
          </a:p>
        </p:txBody>
      </p:sp>
      <p:sp>
        <p:nvSpPr>
          <p:cNvPr id="187399" name="Rectangle 6"/>
          <p:cNvSpPr>
            <a:spLocks noChangeArrowheads="1"/>
          </p:cNvSpPr>
          <p:nvPr/>
        </p:nvSpPr>
        <p:spPr bwMode="auto">
          <a:xfrm>
            <a:off x="151158" y="1303838"/>
            <a:ext cx="4000104" cy="47243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2000" dirty="0" smtClean="0">
                <a:ea typeface="굴림" pitchFamily="34" charset="-127"/>
              </a:rPr>
              <a:t>Limiter diodes available </a:t>
            </a:r>
          </a:p>
          <a:p>
            <a:pPr lvl="1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2000" dirty="0" smtClean="0">
                <a:ea typeface="굴림" pitchFamily="34" charset="-127"/>
              </a:rPr>
              <a:t>Die Versions (to 20 GHz)</a:t>
            </a:r>
          </a:p>
          <a:p>
            <a:pPr lvl="1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2000" dirty="0" smtClean="0">
                <a:ea typeface="굴림" pitchFamily="34" charset="-127"/>
              </a:rPr>
              <a:t> In Ceramic &amp; Plastic Packages  (up to 12 GHz)</a:t>
            </a:r>
          </a:p>
          <a:p>
            <a:pPr marL="0" lvl="1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2000" dirty="0" smtClean="0">
                <a:ea typeface="굴림" pitchFamily="34" charset="-127"/>
              </a:rPr>
              <a:t>Low Capacitance</a:t>
            </a:r>
          </a:p>
          <a:p>
            <a:pPr marL="0" lvl="1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2000" dirty="0" smtClean="0">
                <a:ea typeface="굴림" pitchFamily="34" charset="-127"/>
              </a:rPr>
              <a:t>I layers from 2 µm to 40 </a:t>
            </a:r>
            <a:r>
              <a:rPr lang="en-US" altLang="ko-KR" sz="2000" dirty="0"/>
              <a:t>µm</a:t>
            </a:r>
            <a:endParaRPr lang="en-US" altLang="ko-KR" sz="2000" dirty="0">
              <a:ea typeface="굴림" pitchFamily="34" charset="-127"/>
            </a:endParaRPr>
          </a:p>
          <a:p>
            <a:pPr marL="0" lvl="1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2000" dirty="0">
                <a:ea typeface="굴림" pitchFamily="34" charset="-127"/>
              </a:rPr>
              <a:t> </a:t>
            </a:r>
            <a:r>
              <a:rPr lang="en-US" altLang="ko-KR" sz="2000" dirty="0" smtClean="0">
                <a:ea typeface="굴림" pitchFamily="34" charset="-127"/>
              </a:rPr>
              <a:t>Cascadable for Increased </a:t>
            </a:r>
            <a:r>
              <a:rPr lang="en-US" altLang="ko-KR" sz="2000" dirty="0">
                <a:ea typeface="굴림" pitchFamily="34" charset="-127"/>
              </a:rPr>
              <a:t>Power Handling and </a:t>
            </a:r>
            <a:r>
              <a:rPr lang="en-US" altLang="ko-KR" sz="2000" dirty="0" smtClean="0">
                <a:ea typeface="굴림" pitchFamily="34" charset="-127"/>
              </a:rPr>
              <a:t>Limiting</a:t>
            </a:r>
          </a:p>
          <a:p>
            <a:pPr marL="457200" lvl="2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2000" dirty="0" smtClean="0">
                <a:ea typeface="굴림" pitchFamily="34" charset="-127"/>
              </a:rPr>
              <a:t>Thinnest diode placed at output stage</a:t>
            </a:r>
          </a:p>
          <a:p>
            <a:pPr marL="914400" lvl="3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2000" dirty="0" smtClean="0">
                <a:ea typeface="굴림" pitchFamily="34" charset="-127"/>
              </a:rPr>
              <a:t>Determines threshold level, spike leakage</a:t>
            </a:r>
          </a:p>
          <a:p>
            <a:pPr marL="457200" lvl="2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2000" dirty="0" smtClean="0">
                <a:ea typeface="굴림" pitchFamily="34" charset="-127"/>
              </a:rPr>
              <a:t>Thickest diode placed at input stage</a:t>
            </a:r>
          </a:p>
          <a:p>
            <a:pPr marL="914400" lvl="3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2000" dirty="0" smtClean="0">
                <a:ea typeface="굴림" pitchFamily="34" charset="-127"/>
              </a:rPr>
              <a:t>Determines power handling, recovery time </a:t>
            </a:r>
            <a:endParaRPr lang="en-US" altLang="ko-KR" sz="2000" dirty="0">
              <a:ea typeface="굴림" pitchFamily="34" charset="-127"/>
            </a:endParaRPr>
          </a:p>
        </p:txBody>
      </p:sp>
      <p:grpSp>
        <p:nvGrpSpPr>
          <p:cNvPr id="6" name="Group 4"/>
          <p:cNvGrpSpPr>
            <a:grpSpLocks/>
          </p:cNvGrpSpPr>
          <p:nvPr/>
        </p:nvGrpSpPr>
        <p:grpSpPr bwMode="auto">
          <a:xfrm>
            <a:off x="4338581" y="1741442"/>
            <a:ext cx="4507499" cy="3453741"/>
            <a:chOff x="2880" y="1316"/>
            <a:chExt cx="2671" cy="1985"/>
          </a:xfrm>
        </p:grpSpPr>
        <p:graphicFrame>
          <p:nvGraphicFramePr>
            <p:cNvPr id="8" name="Object 5"/>
            <p:cNvGraphicFramePr>
              <a:graphicFrameLocks noChangeAspect="1"/>
            </p:cNvGraphicFramePr>
            <p:nvPr/>
          </p:nvGraphicFramePr>
          <p:xfrm>
            <a:off x="3060" y="1392"/>
            <a:ext cx="1335" cy="17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0" name="Mathcad" r:id="rId4" imgW="5153040" imgH="2800440" progId="Mathcad">
                    <p:embed/>
                  </p:oleObj>
                </mc:Choice>
                <mc:Fallback>
                  <p:oleObj name="Mathcad" r:id="rId4" imgW="5153040" imgH="2800440" progId="Mathcad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0" y="1392"/>
                          <a:ext cx="1335" cy="17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6"/>
            <p:cNvGraphicFramePr>
              <a:graphicFrameLocks noChangeAspect="1"/>
            </p:cNvGraphicFramePr>
            <p:nvPr/>
          </p:nvGraphicFramePr>
          <p:xfrm>
            <a:off x="3018" y="2160"/>
            <a:ext cx="2533" cy="6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1" name="VISIO" r:id="rId6" imgW="2555280" imgH="1043280" progId="Visio.Drawing.11">
                    <p:embed/>
                  </p:oleObj>
                </mc:Choice>
                <mc:Fallback>
                  <p:oleObj name="VISIO" r:id="rId6" imgW="2555280" imgH="1043280" progId="Visio.Drawing.11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18" y="2160"/>
                          <a:ext cx="2533" cy="6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" name="Group 7"/>
            <p:cNvGrpSpPr>
              <a:grpSpLocks/>
            </p:cNvGrpSpPr>
            <p:nvPr/>
          </p:nvGrpSpPr>
          <p:grpSpPr bwMode="auto">
            <a:xfrm>
              <a:off x="3710" y="2774"/>
              <a:ext cx="568" cy="264"/>
              <a:chOff x="3572" y="2324"/>
              <a:chExt cx="568" cy="264"/>
            </a:xfrm>
          </p:grpSpPr>
          <p:sp>
            <p:nvSpPr>
              <p:cNvPr id="15" name="Line 8"/>
              <p:cNvSpPr>
                <a:spLocks noChangeShapeType="1"/>
              </p:cNvSpPr>
              <p:nvPr/>
            </p:nvSpPr>
            <p:spPr bwMode="auto">
              <a:xfrm>
                <a:off x="3576" y="2324"/>
                <a:ext cx="0" cy="2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6" name="Line 9"/>
              <p:cNvSpPr>
                <a:spLocks noChangeShapeType="1"/>
              </p:cNvSpPr>
              <p:nvPr/>
            </p:nvSpPr>
            <p:spPr bwMode="auto">
              <a:xfrm>
                <a:off x="4140" y="2324"/>
                <a:ext cx="0" cy="2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7" name="Text Box 10"/>
              <p:cNvSpPr txBox="1">
                <a:spLocks noChangeArrowheads="1"/>
              </p:cNvSpPr>
              <p:nvPr/>
            </p:nvSpPr>
            <p:spPr bwMode="auto">
              <a:xfrm>
                <a:off x="3728" y="2380"/>
                <a:ext cx="268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200" dirty="0">
                    <a:latin typeface="Times New Roman" pitchFamily="18" charset="0"/>
                    <a:sym typeface="Symbol" pitchFamily="18" charset="2"/>
                  </a:rPr>
                  <a:t>/4</a:t>
                </a:r>
                <a:endParaRPr lang="en-US" sz="1200" dirty="0">
                  <a:latin typeface="Times New Roman" pitchFamily="18" charset="0"/>
                </a:endParaRPr>
              </a:p>
            </p:txBody>
          </p:sp>
          <p:sp>
            <p:nvSpPr>
              <p:cNvPr id="18" name="Line 11"/>
              <p:cNvSpPr>
                <a:spLocks noChangeShapeType="1"/>
              </p:cNvSpPr>
              <p:nvPr/>
            </p:nvSpPr>
            <p:spPr bwMode="auto">
              <a:xfrm>
                <a:off x="3956" y="2468"/>
                <a:ext cx="1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9" name="Line 12"/>
              <p:cNvSpPr>
                <a:spLocks noChangeShapeType="1"/>
              </p:cNvSpPr>
              <p:nvPr/>
            </p:nvSpPr>
            <p:spPr bwMode="auto">
              <a:xfrm flipH="1">
                <a:off x="3572" y="2468"/>
                <a:ext cx="1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11" name="AutoShape 13"/>
            <p:cNvSpPr>
              <a:spLocks/>
            </p:cNvSpPr>
            <p:nvPr/>
          </p:nvSpPr>
          <p:spPr bwMode="auto">
            <a:xfrm>
              <a:off x="4686" y="1316"/>
              <a:ext cx="738" cy="179"/>
            </a:xfrm>
            <a:prstGeom prst="borderCallout2">
              <a:avLst>
                <a:gd name="adj1" fmla="val 40222"/>
                <a:gd name="adj2" fmla="val -6505"/>
                <a:gd name="adj3" fmla="val 40222"/>
                <a:gd name="adj4" fmla="val -30083"/>
                <a:gd name="adj5" fmla="val 268713"/>
                <a:gd name="adj6" fmla="val -54472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r>
                <a:rPr lang="en-US" sz="1200" dirty="0">
                  <a:latin typeface="Times New Roman" pitchFamily="18" charset="0"/>
                </a:rPr>
                <a:t>I standing wave</a:t>
              </a:r>
              <a:endParaRPr lang="en-US" sz="1600" dirty="0">
                <a:latin typeface="Times New Roman" pitchFamily="18" charset="0"/>
              </a:endParaRPr>
            </a:p>
          </p:txBody>
        </p:sp>
        <p:sp>
          <p:nvSpPr>
            <p:cNvPr id="12" name="AutoShape 14"/>
            <p:cNvSpPr>
              <a:spLocks/>
            </p:cNvSpPr>
            <p:nvPr/>
          </p:nvSpPr>
          <p:spPr bwMode="auto">
            <a:xfrm>
              <a:off x="4680" y="1670"/>
              <a:ext cx="804" cy="179"/>
            </a:xfrm>
            <a:prstGeom prst="borderCallout2">
              <a:avLst>
                <a:gd name="adj1" fmla="val 40222"/>
                <a:gd name="adj2" fmla="val -5972"/>
                <a:gd name="adj3" fmla="val 40222"/>
                <a:gd name="adj4" fmla="val -30347"/>
                <a:gd name="adj5" fmla="val 249162"/>
                <a:gd name="adj6" fmla="val -63431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r>
                <a:rPr lang="en-US" sz="1200" dirty="0">
                  <a:latin typeface="Times New Roman" pitchFamily="18" charset="0"/>
                </a:rPr>
                <a:t>V standing wave</a:t>
              </a:r>
            </a:p>
          </p:txBody>
        </p:sp>
        <p:sp>
          <p:nvSpPr>
            <p:cNvPr id="13" name="AutoShape 15"/>
            <p:cNvSpPr>
              <a:spLocks/>
            </p:cNvSpPr>
            <p:nvPr/>
          </p:nvSpPr>
          <p:spPr bwMode="auto">
            <a:xfrm>
              <a:off x="4638" y="2892"/>
              <a:ext cx="576" cy="409"/>
            </a:xfrm>
            <a:prstGeom prst="borderCallout2">
              <a:avLst>
                <a:gd name="adj1" fmla="val 18750"/>
                <a:gd name="adj2" fmla="val -8333"/>
                <a:gd name="adj3" fmla="val 18750"/>
                <a:gd name="adj4" fmla="val -30384"/>
                <a:gd name="adj5" fmla="val -75000"/>
                <a:gd name="adj6" fmla="val -53125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r>
                <a:rPr lang="en-US" sz="1200" dirty="0">
                  <a:latin typeface="Times New Roman" pitchFamily="18" charset="0"/>
                </a:rPr>
                <a:t>Thin “clean-up” limiter</a:t>
              </a:r>
            </a:p>
          </p:txBody>
        </p:sp>
        <p:sp>
          <p:nvSpPr>
            <p:cNvPr id="14" name="AutoShape 16"/>
            <p:cNvSpPr>
              <a:spLocks/>
            </p:cNvSpPr>
            <p:nvPr/>
          </p:nvSpPr>
          <p:spPr bwMode="auto">
            <a:xfrm>
              <a:off x="2880" y="2891"/>
              <a:ext cx="576" cy="409"/>
            </a:xfrm>
            <a:prstGeom prst="borderCallout2">
              <a:avLst>
                <a:gd name="adj1" fmla="val 17602"/>
                <a:gd name="adj2" fmla="val 108333"/>
                <a:gd name="adj3" fmla="val 17602"/>
                <a:gd name="adj4" fmla="val 123093"/>
                <a:gd name="adj5" fmla="val -74574"/>
                <a:gd name="adj6" fmla="val 138542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r>
                <a:rPr lang="en-US" sz="1200" dirty="0">
                  <a:latin typeface="Times New Roman" pitchFamily="18" charset="0"/>
                </a:rPr>
                <a:t>Thick “coarse” limiter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60241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Limiter Products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518670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04812" y="2614108"/>
            <a:ext cx="4030455" cy="3561360"/>
          </a:xfrm>
        </p:spPr>
        <p:txBody>
          <a:bodyPr/>
          <a:lstStyle/>
          <a:p>
            <a:r>
              <a:rPr lang="en-US" dirty="0" smtClean="0"/>
              <a:t>Limiter Modules</a:t>
            </a:r>
          </a:p>
          <a:p>
            <a:pPr lvl="1"/>
            <a:r>
              <a:rPr lang="en-US" dirty="0" smtClean="0"/>
              <a:t>Frequency 500 MHz – 8 GHz in octave bands</a:t>
            </a:r>
          </a:p>
          <a:p>
            <a:pPr lvl="1"/>
            <a:r>
              <a:rPr lang="en-US" dirty="0" smtClean="0"/>
              <a:t>Power handling up to 200 W CW, 2 kW peak</a:t>
            </a:r>
          </a:p>
          <a:p>
            <a:pPr lvl="1"/>
            <a:r>
              <a:rPr lang="en-US" dirty="0" smtClean="0"/>
              <a:t>Threshold level as low as 7 dBm</a:t>
            </a:r>
          </a:p>
          <a:p>
            <a:pPr lvl="1"/>
            <a:r>
              <a:rPr lang="en-US" dirty="0" smtClean="0"/>
              <a:t>Non-hermetic:</a:t>
            </a:r>
          </a:p>
          <a:p>
            <a:pPr lvl="2"/>
            <a:r>
              <a:rPr lang="en-US" dirty="0" smtClean="0"/>
              <a:t>5 x 8 mm SMT ceramic package</a:t>
            </a:r>
          </a:p>
          <a:p>
            <a:pPr lvl="1"/>
            <a:r>
              <a:rPr lang="en-US" dirty="0" smtClean="0"/>
              <a:t>Hermetic</a:t>
            </a:r>
          </a:p>
          <a:p>
            <a:pPr lvl="2"/>
            <a:r>
              <a:rPr lang="en-US" dirty="0" smtClean="0"/>
              <a:t>6 x 10 mm SMT ceramic package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15" y="1576611"/>
            <a:ext cx="3129778" cy="866704"/>
          </a:xfrm>
        </p:spPr>
      </p:pic>
      <p:sp>
        <p:nvSpPr>
          <p:cNvPr id="7" name="Text Placeholder 6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en-US" dirty="0" smtClean="0"/>
              <a:t>Modules and Discrete Limiter Diodes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Receiver Protector Limiter</a:t>
            </a:r>
            <a:endParaRPr lang="en-US" dirty="0"/>
          </a:p>
        </p:txBody>
      </p:sp>
      <p:pic>
        <p:nvPicPr>
          <p:cNvPr id="6" name="Picture 10" descr="Picture1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4319" y="1509342"/>
            <a:ext cx="1165598" cy="933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1919" y="1509342"/>
            <a:ext cx="1632000" cy="891429"/>
          </a:xfrm>
          <a:prstGeom prst="rect">
            <a:avLst/>
          </a:prstGeom>
        </p:spPr>
      </p:pic>
      <p:pic>
        <p:nvPicPr>
          <p:cNvPr id="9" name="Picture 17" descr="pindiode chip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1482" y="1623970"/>
            <a:ext cx="538741" cy="662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Content Placeholder 2"/>
          <p:cNvSpPr txBox="1">
            <a:spLocks/>
          </p:cNvSpPr>
          <p:nvPr/>
        </p:nvSpPr>
        <p:spPr bwMode="gray">
          <a:xfrm>
            <a:off x="5031859" y="2614108"/>
            <a:ext cx="4004119" cy="3561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21899" tIns="60949" rIns="121899" bIns="60949" numCol="1" anchor="t" anchorCtr="0" compatLnSpc="1">
            <a:prstTxWarp prst="textNoShape">
              <a:avLst/>
            </a:prstTxWarp>
          </a:bodyPr>
          <a:lstStyle>
            <a:lvl1pPr marL="228600" marR="0" indent="-228600" algn="l" defTabSz="914400" rtl="0" eaLnBrk="1" fontAlgn="base" latinLnBrk="0" hangingPunct="1">
              <a:lnSpc>
                <a:spcPct val="95000"/>
              </a:lnSpc>
              <a:spcBef>
                <a:spcPts val="1000"/>
              </a:spcBef>
              <a:spcAft>
                <a:spcPct val="0"/>
              </a:spcAft>
              <a:buClr>
                <a:srgbClr val="0083C2"/>
              </a:buClr>
              <a:buSzTx/>
              <a:buFont typeface="Arial Black" panose="020B0A04020102020204" pitchFamily="34" charset="0"/>
              <a:buChar char="&gt;"/>
              <a:tabLst/>
              <a:defRPr kumimoji="0" lang="en-US" sz="2000" b="0" i="0" u="none" strike="noStrike" kern="0" cap="none" spc="0" normalizeH="0" baseline="0">
                <a:ln>
                  <a:noFill/>
                </a:ln>
                <a:solidFill>
                  <a:srgbClr val="00243E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1pPr>
            <a:lvl2pPr marL="514350" marR="0" indent="-285750" algn="l" defTabSz="914400" rtl="0" eaLnBrk="1" fontAlgn="base" latinLnBrk="0" hangingPunct="1">
              <a:lnSpc>
                <a:spcPct val="95000"/>
              </a:lnSpc>
              <a:spcBef>
                <a:spcPts val="1000"/>
              </a:spcBef>
              <a:spcAft>
                <a:spcPct val="0"/>
              </a:spcAft>
              <a:buClr>
                <a:srgbClr val="0083C2"/>
              </a:buClr>
              <a:buSzTx/>
              <a:buFont typeface="Arial" charset="0"/>
              <a:buChar char="•"/>
              <a:tabLst/>
              <a:defRPr kumimoji="0" lang="en-US" sz="1800" b="0" i="0" u="none" strike="noStrike" kern="0" cap="none" spc="0" normalizeH="0" baseline="0">
                <a:ln>
                  <a:noFill/>
                </a:ln>
                <a:solidFill>
                  <a:srgbClr val="00243E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2pPr>
            <a:lvl3pPr marL="742950" marR="0" indent="-200025" algn="l" defTabSz="914400" rtl="0" eaLnBrk="1" fontAlgn="base" latinLnBrk="0" hangingPunct="1">
              <a:lnSpc>
                <a:spcPct val="95000"/>
              </a:lnSpc>
              <a:spcBef>
                <a:spcPts val="1000"/>
              </a:spcBef>
              <a:spcAft>
                <a:spcPct val="0"/>
              </a:spcAft>
              <a:buClr>
                <a:srgbClr val="0083C2"/>
              </a:buClr>
              <a:buSzTx/>
              <a:buFont typeface="Arial" charset="0"/>
              <a:buChar char="•"/>
              <a:tabLst/>
              <a:defRPr kumimoji="0" lang="en-US" sz="1600" b="0" i="0" u="none" strike="noStrike" kern="0" cap="none" spc="0" normalizeH="0" baseline="0">
                <a:ln>
                  <a:noFill/>
                </a:ln>
                <a:solidFill>
                  <a:srgbClr val="00243E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3pPr>
            <a:lvl4pPr marL="979488" marR="0" indent="-200025" algn="l" defTabSz="914400" rtl="0" eaLnBrk="1" fontAlgn="base" latinLnBrk="0" hangingPunct="1">
              <a:lnSpc>
                <a:spcPct val="95000"/>
              </a:lnSpc>
              <a:spcBef>
                <a:spcPts val="1000"/>
              </a:spcBef>
              <a:spcAft>
                <a:spcPct val="0"/>
              </a:spcAft>
              <a:buClr>
                <a:srgbClr val="0083C2"/>
              </a:buClr>
              <a:buSzTx/>
              <a:buFont typeface="Arial" charset="0"/>
              <a:buChar char="•"/>
              <a:tabLst/>
              <a:defRPr kumimoji="0" lang="en-US" sz="1600" b="0" i="0" u="none" strike="noStrike" kern="0" cap="none" spc="0" normalizeH="0" baseline="0">
                <a:ln>
                  <a:noFill/>
                </a:ln>
                <a:solidFill>
                  <a:srgbClr val="00243E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4pPr>
            <a:lvl5pPr marL="1270000" marR="0" indent="-236538" algn="l" defTabSz="914400" rtl="0" eaLnBrk="1" fontAlgn="base" latinLnBrk="0" hangingPunct="1">
              <a:lnSpc>
                <a:spcPct val="95000"/>
              </a:lnSpc>
              <a:spcBef>
                <a:spcPts val="1000"/>
              </a:spcBef>
              <a:spcAft>
                <a:spcPct val="0"/>
              </a:spcAft>
              <a:buClr>
                <a:srgbClr val="0083C2"/>
              </a:buClr>
              <a:buSzTx/>
              <a:buFont typeface="Arial" charset="0"/>
              <a:buChar char="•"/>
              <a:tabLst/>
              <a:defRPr kumimoji="0" lang="en-US" sz="1600" b="0" i="0" u="none" strike="noStrike" kern="0" cap="none" spc="0" normalizeH="0" baseline="0">
                <a:ln>
                  <a:noFill/>
                </a:ln>
                <a:solidFill>
                  <a:srgbClr val="00243E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5pPr>
            <a:lvl6pPr marL="228600" indent="0" algn="l" rtl="0" eaLnBrk="1" fontAlgn="base" hangingPunct="1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Tx/>
              <a:buNone/>
              <a:tabLst/>
              <a:defRPr sz="1400" i="1">
                <a:solidFill>
                  <a:schemeClr val="tx2"/>
                </a:solidFill>
                <a:latin typeface="+mn-lt"/>
              </a:defRPr>
            </a:lvl6pPr>
            <a:lvl7pPr marL="3580773" indent="-304747" algn="l" rtl="0" eaLnBrk="1" fontAlgn="base" hangingPunct="1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100">
                <a:solidFill>
                  <a:schemeClr val="tx1"/>
                </a:solidFill>
                <a:latin typeface="+mn-lt"/>
              </a:defRPr>
            </a:lvl7pPr>
            <a:lvl8pPr marL="4190267" indent="-304747" algn="l" rtl="0" eaLnBrk="1" fontAlgn="base" hangingPunct="1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100">
                <a:solidFill>
                  <a:schemeClr val="tx1"/>
                </a:solidFill>
                <a:latin typeface="+mn-lt"/>
              </a:defRPr>
            </a:lvl8pPr>
            <a:lvl9pPr marL="4799760" indent="-304747" algn="l" rtl="0" eaLnBrk="1" fontAlgn="base" hangingPunct="1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1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 smtClean="0"/>
              <a:t>Limiter Diodes</a:t>
            </a:r>
          </a:p>
          <a:p>
            <a:pPr lvl="1"/>
            <a:r>
              <a:rPr lang="en-US" dirty="0"/>
              <a:t>Frequency: </a:t>
            </a:r>
            <a:r>
              <a:rPr lang="en-US" dirty="0" smtClean="0"/>
              <a:t>50 </a:t>
            </a:r>
            <a:r>
              <a:rPr lang="en-US" dirty="0"/>
              <a:t>MHz – </a:t>
            </a:r>
            <a:r>
              <a:rPr lang="en-US" dirty="0" smtClean="0"/>
              <a:t>18+ GHz </a:t>
            </a:r>
          </a:p>
          <a:p>
            <a:pPr lvl="1"/>
            <a:r>
              <a:rPr lang="en-US" dirty="0" smtClean="0"/>
              <a:t>I layers from 1.5 to 40 µm</a:t>
            </a:r>
            <a:endParaRPr lang="en-US" dirty="0"/>
          </a:p>
          <a:p>
            <a:pPr lvl="1"/>
            <a:r>
              <a:rPr lang="en-US" dirty="0" smtClean="0"/>
              <a:t>Power </a:t>
            </a:r>
            <a:r>
              <a:rPr lang="en-US" dirty="0"/>
              <a:t>handling: up to 200 W CW, 2 kW peak</a:t>
            </a:r>
          </a:p>
          <a:p>
            <a:pPr lvl="1"/>
            <a:r>
              <a:rPr lang="en-US" dirty="0" smtClean="0"/>
              <a:t>Available in many package styles:</a:t>
            </a:r>
          </a:p>
          <a:p>
            <a:pPr lvl="2"/>
            <a:r>
              <a:rPr lang="en-US" dirty="0" smtClean="0"/>
              <a:t>Chip</a:t>
            </a:r>
          </a:p>
          <a:p>
            <a:pPr lvl="2"/>
            <a:r>
              <a:rPr lang="en-US" dirty="0" smtClean="0"/>
              <a:t>Ceramic package</a:t>
            </a:r>
          </a:p>
          <a:p>
            <a:pPr lvl="2"/>
            <a:r>
              <a:rPr lang="en-US" dirty="0" smtClean="0"/>
              <a:t>Plastic SMT</a:t>
            </a:r>
            <a:endParaRPr lang="en-US" dirty="0"/>
          </a:p>
        </p:txBody>
      </p:sp>
      <p:pic>
        <p:nvPicPr>
          <p:cNvPr id="13" name="Picture 1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 rot="14604597" flipH="1">
            <a:off x="7675532" y="1836811"/>
            <a:ext cx="709572" cy="406287"/>
          </a:xfrm>
          <a:prstGeom prst="rect">
            <a:avLst/>
          </a:prstGeom>
          <a:noFill/>
        </p:spPr>
      </p:pic>
      <p:pic>
        <p:nvPicPr>
          <p:cNvPr id="14" name="Picture 13" descr="1056 ceramic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 rot="5035437">
            <a:off x="8151599" y="1644236"/>
            <a:ext cx="969962" cy="5175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02530434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Limiter Diodes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137811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84"/>
          <p:cNvSpPr txBox="1">
            <a:spLocks noChangeArrowheads="1"/>
          </p:cNvSpPr>
          <p:nvPr/>
        </p:nvSpPr>
        <p:spPr bwMode="auto">
          <a:xfrm>
            <a:off x="247735" y="242331"/>
            <a:ext cx="6872188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sz="2400" b="1" dirty="0" smtClean="0"/>
              <a:t>Discrete Limiter Products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45235" y="1209680"/>
            <a:ext cx="1559945" cy="2933760"/>
          </a:xfrm>
          <a:prstGeom prst="rect">
            <a:avLst/>
          </a:prstGeom>
          <a:noFill/>
          <a:ln w="9525">
            <a:solidFill>
              <a:schemeClr val="tx1">
                <a:lumMod val="50000"/>
              </a:schemeClr>
            </a:solidFill>
            <a:miter lim="800000"/>
            <a:headEnd/>
            <a:tailEnd/>
          </a:ln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6601126" y="4885007"/>
            <a:ext cx="1205906" cy="2286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51573" y="4370340"/>
            <a:ext cx="1290918" cy="122697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4971" y="4370340"/>
            <a:ext cx="1639450" cy="123764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09466" y="5634883"/>
            <a:ext cx="19084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Schottky-Limiter-PIN Shunt Antiparallel Pair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2813" y="5634882"/>
            <a:ext cx="19084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Shunt Limiter PIN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78904" y="5634882"/>
            <a:ext cx="12503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Limiter PIN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6346" y="1431488"/>
            <a:ext cx="6054453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itchFamily="34" charset="0"/>
              <a:buChar char="•"/>
            </a:pPr>
            <a:r>
              <a:rPr lang="en-US" sz="2000" dirty="0"/>
              <a:t>Broadband Performance to 12 </a:t>
            </a:r>
            <a:r>
              <a:rPr lang="en-US" sz="2000" dirty="0" smtClean="0"/>
              <a:t>GHz and Higher</a:t>
            </a:r>
            <a:endParaRPr lang="en-US" sz="2000" dirty="0"/>
          </a:p>
          <a:p>
            <a:pPr algn="l">
              <a:buFont typeface="Arial" pitchFamily="34" charset="0"/>
              <a:buChar char="•"/>
            </a:pPr>
            <a:r>
              <a:rPr lang="en-US" sz="2000" dirty="0" smtClean="0"/>
              <a:t>Several </a:t>
            </a:r>
            <a:r>
              <a:rPr lang="en-US" sz="2000" dirty="0"/>
              <a:t>Packages </a:t>
            </a:r>
            <a:r>
              <a:rPr lang="en-US" sz="2000" dirty="0" smtClean="0"/>
              <a:t>Available Including</a:t>
            </a:r>
          </a:p>
          <a:p>
            <a:pPr lvl="1" algn="l">
              <a:buFont typeface="Arial" pitchFamily="34" charset="0"/>
              <a:buChar char="•"/>
            </a:pPr>
            <a:r>
              <a:rPr lang="en-US" sz="2000" dirty="0" smtClean="0"/>
              <a:t> </a:t>
            </a:r>
            <a:r>
              <a:rPr lang="en-US" sz="2000" dirty="0"/>
              <a:t>Low Inductance Shunt </a:t>
            </a:r>
            <a:r>
              <a:rPr lang="en-US" sz="2000" dirty="0" smtClean="0"/>
              <a:t>Configuration </a:t>
            </a:r>
            <a:r>
              <a:rPr lang="en-US" sz="2000" dirty="0"/>
              <a:t>Plastic 1.5 X 1.2 mm </a:t>
            </a:r>
            <a:r>
              <a:rPr lang="en-US" sz="2000" dirty="0" smtClean="0"/>
              <a:t>DFN</a:t>
            </a:r>
          </a:p>
          <a:p>
            <a:pPr lvl="1" algn="l">
              <a:buFont typeface="Arial" pitchFamily="34" charset="0"/>
              <a:buChar char="•"/>
            </a:pPr>
            <a:r>
              <a:rPr lang="en-US" sz="2000" dirty="0" smtClean="0"/>
              <a:t>Ceramic</a:t>
            </a:r>
          </a:p>
          <a:p>
            <a:pPr lvl="1" algn="l">
              <a:buFont typeface="Arial" pitchFamily="34" charset="0"/>
              <a:buChar char="•"/>
            </a:pPr>
            <a:r>
              <a:rPr lang="en-US" sz="2000" dirty="0" smtClean="0"/>
              <a:t>Chips</a:t>
            </a:r>
            <a:endParaRPr lang="en-US" sz="2000" dirty="0"/>
          </a:p>
          <a:p>
            <a:pPr algn="l">
              <a:buFont typeface="Arial" pitchFamily="34" charset="0"/>
              <a:buChar char="•"/>
            </a:pPr>
            <a:r>
              <a:rPr lang="en-US" sz="2000" dirty="0"/>
              <a:t> Cascadable</a:t>
            </a:r>
          </a:p>
          <a:p>
            <a:pPr algn="l"/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3029076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240" y="183932"/>
            <a:ext cx="6061075" cy="363537"/>
          </a:xfrm>
        </p:spPr>
        <p:txBody>
          <a:bodyPr lIns="91440" tIns="45720" rIns="91440" bIns="45720" anchor="b">
            <a:noAutofit/>
          </a:bodyPr>
          <a:lstStyle/>
          <a:p>
            <a:r>
              <a:rPr lang="en-US" dirty="0" smtClean="0"/>
              <a:t>Discrete Diodes – Limiters</a:t>
            </a:r>
            <a:endParaRPr lang="en-US" dirty="0"/>
          </a:p>
        </p:txBody>
      </p:sp>
      <p:sp>
        <p:nvSpPr>
          <p:cNvPr id="187399" name="Rectangle 6"/>
          <p:cNvSpPr>
            <a:spLocks noChangeArrowheads="1"/>
          </p:cNvSpPr>
          <p:nvPr/>
        </p:nvSpPr>
        <p:spPr bwMode="auto">
          <a:xfrm>
            <a:off x="213403" y="1221000"/>
            <a:ext cx="8503214" cy="1169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1400" b="1" dirty="0" smtClean="0">
                <a:ea typeface="굴림" pitchFamily="34" charset="-127"/>
              </a:rPr>
              <a:t> Die Versions (operate to 20+ GHz)</a:t>
            </a:r>
          </a:p>
          <a:p>
            <a:pPr marL="0" lvl="1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1400" b="1" dirty="0" smtClean="0">
                <a:ea typeface="굴림" pitchFamily="34" charset="-127"/>
              </a:rPr>
              <a:t> Available in Ceramic &amp; Plastic Packages  (operate to 12+ GHz)</a:t>
            </a:r>
          </a:p>
          <a:p>
            <a:pPr marL="0" lvl="1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1400" b="1" dirty="0" smtClean="0">
                <a:ea typeface="굴림" pitchFamily="34" charset="-127"/>
              </a:rPr>
              <a:t> </a:t>
            </a:r>
            <a:r>
              <a:rPr lang="en-US" altLang="ko-KR" sz="1400" b="1" dirty="0">
                <a:ea typeface="굴림" pitchFamily="34" charset="-127"/>
              </a:rPr>
              <a:t>Low </a:t>
            </a:r>
            <a:r>
              <a:rPr lang="en-US" altLang="ko-KR" sz="1400" b="1" dirty="0" smtClean="0">
                <a:ea typeface="굴림" pitchFamily="34" charset="-127"/>
              </a:rPr>
              <a:t>Capacitance</a:t>
            </a:r>
            <a:endParaRPr lang="en-US" altLang="ko-KR" sz="1400" b="1" dirty="0">
              <a:ea typeface="굴림" pitchFamily="34" charset="-127"/>
            </a:endParaRPr>
          </a:p>
          <a:p>
            <a:pPr marL="0" lvl="1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1400" b="1" dirty="0">
                <a:ea typeface="굴림" pitchFamily="34" charset="-127"/>
              </a:rPr>
              <a:t> </a:t>
            </a:r>
            <a:r>
              <a:rPr lang="en-US" altLang="ko-KR" sz="1400" b="1" dirty="0" smtClean="0">
                <a:ea typeface="굴림" pitchFamily="34" charset="-127"/>
              </a:rPr>
              <a:t>Cascadable for Increased </a:t>
            </a:r>
            <a:r>
              <a:rPr lang="en-US" altLang="ko-KR" sz="1400" b="1" dirty="0">
                <a:ea typeface="굴림" pitchFamily="34" charset="-127"/>
              </a:rPr>
              <a:t>Power Handling and </a:t>
            </a:r>
            <a:r>
              <a:rPr lang="en-US" altLang="ko-KR" sz="1400" b="1" dirty="0" smtClean="0">
                <a:ea typeface="굴림" pitchFamily="34" charset="-127"/>
              </a:rPr>
              <a:t>Limiting</a:t>
            </a:r>
          </a:p>
          <a:p>
            <a:pPr marL="0" lvl="1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1400" b="1" dirty="0" smtClean="0">
                <a:ea typeface="굴림" pitchFamily="34" charset="-127"/>
              </a:rPr>
              <a:t> Au-doped and non-Au-doped diodes available to optimize recovery time and flat leakage power</a:t>
            </a:r>
            <a:endParaRPr lang="en-US" altLang="ko-KR" sz="1400" b="1" dirty="0">
              <a:ea typeface="굴림" pitchFamily="34" charset="-127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2054310"/>
              </p:ext>
            </p:extLst>
          </p:nvPr>
        </p:nvGraphicFramePr>
        <p:xfrm>
          <a:off x="317577" y="2360643"/>
          <a:ext cx="7968342" cy="4164263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2700000">
                    <a:prstClr val="black">
                      <a:alpha val="50000"/>
                    </a:prstClr>
                  </a:innerShdw>
                </a:effectLst>
                <a:tableStyleId>{5C22544A-7EE6-4342-B048-85BDC9FD1C3A}</a:tableStyleId>
              </a:tblPr>
              <a:tblGrid>
                <a:gridCol w="1371202"/>
                <a:gridCol w="489645"/>
                <a:gridCol w="484094"/>
                <a:gridCol w="788894"/>
                <a:gridCol w="749395"/>
                <a:gridCol w="712519"/>
                <a:gridCol w="795647"/>
                <a:gridCol w="866899"/>
                <a:gridCol w="819397"/>
                <a:gridCol w="890650"/>
              </a:tblGrid>
              <a:tr h="397604">
                <a:tc rowSpan="3"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Part Number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Min</a:t>
                      </a:r>
                    </a:p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V</a:t>
                      </a:r>
                      <a:r>
                        <a:rPr lang="en-US" sz="1050" b="1" baseline="-25000" dirty="0" smtClean="0">
                          <a:solidFill>
                            <a:schemeClr val="bg1"/>
                          </a:solidFill>
                        </a:rPr>
                        <a:t>B</a:t>
                      </a:r>
                      <a:endParaRPr lang="en-US" sz="1050" b="1" baseline="-25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Max</a:t>
                      </a:r>
                    </a:p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 V</a:t>
                      </a:r>
                      <a:r>
                        <a:rPr lang="en-US" sz="1050" b="1" baseline="-25000" dirty="0" smtClean="0">
                          <a:solidFill>
                            <a:schemeClr val="bg1"/>
                          </a:solidFill>
                        </a:rPr>
                        <a:t>B</a:t>
                      </a:r>
                      <a:endParaRPr lang="en-US" sz="1050" b="1" baseline="-25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Min       C</a:t>
                      </a:r>
                      <a:r>
                        <a:rPr lang="en-US" sz="1050" b="1" baseline="-25000" dirty="0" smtClean="0">
                          <a:solidFill>
                            <a:schemeClr val="bg1"/>
                          </a:solidFill>
                        </a:rPr>
                        <a:t>j</a:t>
                      </a:r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 @ 0 V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Max       C</a:t>
                      </a:r>
                      <a:r>
                        <a:rPr lang="en-US" sz="1050" b="1" baseline="-25000" dirty="0" smtClean="0">
                          <a:solidFill>
                            <a:schemeClr val="bg1"/>
                          </a:solidFill>
                        </a:rPr>
                        <a:t>j</a:t>
                      </a:r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 @ 0 V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Max</a:t>
                      </a:r>
                      <a:r>
                        <a:rPr lang="en-US" sz="1050" b="1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</a:p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Rs</a:t>
                      </a:r>
                    </a:p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@ 10 mA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050" b="1" dirty="0" smtClean="0"/>
                        <a:t>Nominal Characteristics</a:t>
                      </a:r>
                      <a:endParaRPr lang="en-US" sz="1050" b="1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</a:tr>
              <a:tr h="36308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Carrier Lifetime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Intrinsic</a:t>
                      </a:r>
                    </a:p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Region Thickness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Contact Diameter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Thermal Resistance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</a:tr>
              <a:tr h="265062">
                <a:tc vMerge="1"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V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V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pF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pF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  <a:sym typeface="Symbol"/>
                        </a:rPr>
                        <a:t>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  <a:sym typeface="Symbol"/>
                        </a:rPr>
                        <a:t>ns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  <a:sym typeface="Symbol"/>
                        </a:rPr>
                        <a:t>m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mils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ºC/W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</a:tr>
              <a:tr h="235317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MA4L011-134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0.08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0.18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2.10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1.2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175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32367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MA4L021-134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0.10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0.20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2.10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1.2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175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720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MA4L022-134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0.09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0.19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2.00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1.2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175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720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MADL-011009-0134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0.16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0.23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1.50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3.0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175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720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MA4L031-134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50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0.14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0.21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2.00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1.4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150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47857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MA4L032-134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50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0.13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0.20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2.50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1.5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150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720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MADL-011010-0134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50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0.17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0.24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1.50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3.0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150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720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MA4L062-134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60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75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0.07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0.15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2.50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4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1.5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150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720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MADL-011011-0134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60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75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0.05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0.17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2.30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4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3.0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150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720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MA4L101-134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100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0.15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2.00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90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13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3.5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32242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MADL-000301-0134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200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0.20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1.50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200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3.0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7095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MA4L401-134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250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0.30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1.20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800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4.5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7278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240" y="183932"/>
            <a:ext cx="6061075" cy="363537"/>
          </a:xfrm>
        </p:spPr>
        <p:txBody>
          <a:bodyPr lIns="91440" tIns="45720" rIns="91440" bIns="45720" anchor="b">
            <a:noAutofit/>
          </a:bodyPr>
          <a:lstStyle/>
          <a:p>
            <a:r>
              <a:rPr lang="en-US" dirty="0" smtClean="0"/>
              <a:t>Discrete Diodes – Limiters (cont’d)</a:t>
            </a:r>
            <a:endParaRPr lang="en-US" dirty="0"/>
          </a:p>
        </p:txBody>
      </p:sp>
      <p:sp>
        <p:nvSpPr>
          <p:cNvPr id="187399" name="Rectangle 6"/>
          <p:cNvSpPr>
            <a:spLocks noChangeArrowheads="1"/>
          </p:cNvSpPr>
          <p:nvPr/>
        </p:nvSpPr>
        <p:spPr bwMode="auto">
          <a:xfrm>
            <a:off x="213403" y="1221000"/>
            <a:ext cx="8503214" cy="943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1400" b="1" dirty="0" smtClean="0">
                <a:ea typeface="굴림" pitchFamily="34" charset="-127"/>
              </a:rPr>
              <a:t> Die Versions (operate to 20+ GHz)</a:t>
            </a:r>
          </a:p>
          <a:p>
            <a:pPr marL="0" lvl="1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1400" b="1" dirty="0" smtClean="0">
                <a:ea typeface="굴림" pitchFamily="34" charset="-127"/>
              </a:rPr>
              <a:t> Available in Ceramic &amp; Plastic Packages  (operate to 12+ GHz)</a:t>
            </a:r>
          </a:p>
          <a:p>
            <a:pPr marL="0" lvl="1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1400" b="1" dirty="0" smtClean="0">
                <a:ea typeface="굴림" pitchFamily="34" charset="-127"/>
              </a:rPr>
              <a:t> </a:t>
            </a:r>
            <a:r>
              <a:rPr lang="en-US" altLang="ko-KR" sz="1400" b="1" dirty="0">
                <a:ea typeface="굴림" pitchFamily="34" charset="-127"/>
              </a:rPr>
              <a:t>Low </a:t>
            </a:r>
            <a:r>
              <a:rPr lang="en-US" altLang="ko-KR" sz="1400" b="1" dirty="0" smtClean="0">
                <a:ea typeface="굴림" pitchFamily="34" charset="-127"/>
              </a:rPr>
              <a:t>Capacitance</a:t>
            </a:r>
            <a:endParaRPr lang="en-US" altLang="ko-KR" sz="1400" b="1" dirty="0">
              <a:ea typeface="굴림" pitchFamily="34" charset="-127"/>
            </a:endParaRPr>
          </a:p>
          <a:p>
            <a:pPr marL="0" lvl="1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1400" b="1" dirty="0">
                <a:ea typeface="굴림" pitchFamily="34" charset="-127"/>
              </a:rPr>
              <a:t> </a:t>
            </a:r>
            <a:r>
              <a:rPr lang="en-US" altLang="ko-KR" sz="1400" b="1" dirty="0" smtClean="0">
                <a:ea typeface="굴림" pitchFamily="34" charset="-127"/>
              </a:rPr>
              <a:t>Cascadable for Increased </a:t>
            </a:r>
            <a:r>
              <a:rPr lang="en-US" altLang="ko-KR" sz="1400" b="1" dirty="0">
                <a:ea typeface="굴림" pitchFamily="34" charset="-127"/>
              </a:rPr>
              <a:t>Power Handling and </a:t>
            </a:r>
            <a:r>
              <a:rPr lang="en-US" altLang="ko-KR" sz="1400" b="1" dirty="0" smtClean="0">
                <a:ea typeface="굴림" pitchFamily="34" charset="-127"/>
              </a:rPr>
              <a:t>Limiting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7812654"/>
              </p:ext>
            </p:extLst>
          </p:nvPr>
        </p:nvGraphicFramePr>
        <p:xfrm>
          <a:off x="317577" y="2150046"/>
          <a:ext cx="7968342" cy="4408103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2700000">
                    <a:prstClr val="black">
                      <a:alpha val="50000"/>
                    </a:prstClr>
                  </a:innerShdw>
                </a:effectLst>
                <a:tableStyleId>{5C22544A-7EE6-4342-B048-85BDC9FD1C3A}</a:tableStyleId>
              </a:tblPr>
              <a:tblGrid>
                <a:gridCol w="1371202"/>
                <a:gridCol w="489645"/>
                <a:gridCol w="484094"/>
                <a:gridCol w="788894"/>
                <a:gridCol w="749395"/>
                <a:gridCol w="712519"/>
                <a:gridCol w="795647"/>
                <a:gridCol w="866899"/>
                <a:gridCol w="819397"/>
                <a:gridCol w="890650"/>
              </a:tblGrid>
              <a:tr h="397604">
                <a:tc rowSpan="3"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Part Number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Min</a:t>
                      </a:r>
                    </a:p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V</a:t>
                      </a:r>
                      <a:r>
                        <a:rPr lang="en-US" sz="1050" b="1" baseline="-25000" dirty="0" smtClean="0">
                          <a:solidFill>
                            <a:schemeClr val="bg1"/>
                          </a:solidFill>
                        </a:rPr>
                        <a:t>B</a:t>
                      </a:r>
                      <a:endParaRPr lang="en-US" sz="1050" b="1" baseline="-25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Max</a:t>
                      </a:r>
                    </a:p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 V</a:t>
                      </a:r>
                      <a:r>
                        <a:rPr lang="en-US" sz="1050" b="1" baseline="-25000" dirty="0" smtClean="0">
                          <a:solidFill>
                            <a:schemeClr val="bg1"/>
                          </a:solidFill>
                        </a:rPr>
                        <a:t>B</a:t>
                      </a:r>
                      <a:endParaRPr lang="en-US" sz="1050" b="1" baseline="-25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Typ       C</a:t>
                      </a:r>
                      <a:r>
                        <a:rPr lang="en-US" sz="1050" b="1" baseline="-25000" dirty="0" smtClean="0">
                          <a:solidFill>
                            <a:schemeClr val="bg1"/>
                          </a:solidFill>
                        </a:rPr>
                        <a:t>j</a:t>
                      </a:r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 @ 0 V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Max       C</a:t>
                      </a:r>
                      <a:r>
                        <a:rPr lang="en-US" sz="1050" b="1" baseline="-25000" dirty="0" smtClean="0">
                          <a:solidFill>
                            <a:schemeClr val="bg1"/>
                          </a:solidFill>
                        </a:rPr>
                        <a:t>j</a:t>
                      </a:r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 @ 6 V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Typ</a:t>
                      </a:r>
                      <a:endParaRPr lang="en-US" sz="1050" b="1" baseline="0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Rs</a:t>
                      </a:r>
                    </a:p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@ 10 mA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050" b="1" dirty="0" smtClean="0"/>
                        <a:t>Nominal Characteristics</a:t>
                      </a:r>
                      <a:endParaRPr lang="en-US" sz="1050" b="1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</a:tr>
              <a:tr h="36308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Carrier Lifetime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Intrinsic</a:t>
                      </a:r>
                    </a:p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Region Thickness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Contact Diameter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Thermal Resistance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</a:tr>
              <a:tr h="265062">
                <a:tc vMerge="1"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V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V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pF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pF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  <a:sym typeface="Symbol"/>
                        </a:rPr>
                        <a:t>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  <a:sym typeface="Symbol"/>
                        </a:rPr>
                        <a:t>ns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  <a:sym typeface="Symbol"/>
                        </a:rPr>
                        <a:t>m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mils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ºC/W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</a:tr>
              <a:tr h="235317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MLP7100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45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0.2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0.15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1.5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100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32367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MLP7101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45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0.3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1.2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80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720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MLP7102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45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0.7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1.0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55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720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MLP7110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45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75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0.2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0.15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1.5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80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720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MLP7111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45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75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0.3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1.2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60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47857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MLP7112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45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75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0.7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1.0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40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720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MLP7120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120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180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0.2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0.15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1.5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50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40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720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MLP7121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120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180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0.6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0.3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1.2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50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720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MLP7122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120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180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0.8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100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720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MLP7130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0.12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0.10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2.0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120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32242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MLP7131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0.2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0.15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1.5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80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7095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MLP7140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60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0.12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0.10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2.0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7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100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7095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MLP7141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60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0.2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0.15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1.5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7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70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8578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Limiter Modules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757331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Content Placeholder 1"/>
          <p:cNvSpPr>
            <a:spLocks noGrp="1"/>
          </p:cNvSpPr>
          <p:nvPr>
            <p:ph idx="1"/>
          </p:nvPr>
        </p:nvSpPr>
        <p:spPr>
          <a:xfrm>
            <a:off x="263775" y="1240248"/>
            <a:ext cx="4504185" cy="5292829"/>
          </a:xfrm>
        </p:spPr>
        <p:txBody>
          <a:bodyPr>
            <a:noAutofit/>
          </a:bodyPr>
          <a:lstStyle/>
          <a:p>
            <a:r>
              <a:rPr lang="en-US" altLang="en-US" sz="1800" dirty="0" smtClean="0"/>
              <a:t>Industry-leading input power handling as high as </a:t>
            </a:r>
          </a:p>
          <a:p>
            <a:pPr lvl="1"/>
            <a:r>
              <a:rPr lang="en-US" altLang="en-US" dirty="0" smtClean="0"/>
              <a:t>250 W CW </a:t>
            </a:r>
          </a:p>
          <a:p>
            <a:pPr lvl="1"/>
            <a:r>
              <a:rPr lang="en-US" altLang="en-US" dirty="0" smtClean="0"/>
              <a:t>1 kW peak</a:t>
            </a:r>
          </a:p>
          <a:p>
            <a:r>
              <a:rPr lang="en-US" altLang="en-US" sz="1800" dirty="0" smtClean="0"/>
              <a:t>No external control signal or external bias required</a:t>
            </a:r>
          </a:p>
          <a:p>
            <a:r>
              <a:rPr lang="en-US" altLang="en-US" sz="1800" dirty="0" smtClean="0"/>
              <a:t>Available as</a:t>
            </a:r>
          </a:p>
          <a:p>
            <a:pPr lvl="1"/>
            <a:r>
              <a:rPr lang="en-US" altLang="en-US" dirty="0" smtClean="0"/>
              <a:t>Single stage</a:t>
            </a:r>
          </a:p>
          <a:p>
            <a:pPr lvl="1"/>
            <a:r>
              <a:rPr lang="en-US" altLang="en-US" dirty="0" smtClean="0"/>
              <a:t>Dual stage</a:t>
            </a:r>
          </a:p>
          <a:p>
            <a:pPr lvl="1"/>
            <a:r>
              <a:rPr lang="en-US" altLang="en-US" dirty="0" smtClean="0"/>
              <a:t>Detector/limiter</a:t>
            </a:r>
          </a:p>
          <a:p>
            <a:r>
              <a:rPr lang="en-US" altLang="en-US" sz="1800" dirty="0" smtClean="0"/>
              <a:t>Available in VHF, UHF, L, S and C bands</a:t>
            </a:r>
          </a:p>
          <a:p>
            <a:r>
              <a:rPr lang="en-US" altLang="en-US" sz="1800" dirty="0" smtClean="0"/>
              <a:t>Packaged in low-thermal-resistance surface-mount hermetic or nonhermetic module packages</a:t>
            </a:r>
          </a:p>
          <a:p>
            <a:r>
              <a:rPr lang="en-US" altLang="en-US" sz="1800" dirty="0" smtClean="0"/>
              <a:t>Custom designs are possible</a:t>
            </a:r>
          </a:p>
          <a:p>
            <a:endParaRPr lang="en-US" altLang="en-US" sz="1800" dirty="0" smtClean="0"/>
          </a:p>
        </p:txBody>
      </p:sp>
      <p:sp>
        <p:nvSpPr>
          <p:cNvPr id="28675" name="Title 2"/>
          <p:cNvSpPr>
            <a:spLocks noGrp="1"/>
          </p:cNvSpPr>
          <p:nvPr>
            <p:ph type="title"/>
          </p:nvPr>
        </p:nvSpPr>
        <p:spPr>
          <a:xfrm>
            <a:off x="215152" y="274924"/>
            <a:ext cx="4500283" cy="516951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/>
              <a:t>High Power Limiter Modules</a:t>
            </a:r>
          </a:p>
        </p:txBody>
      </p:sp>
      <p:pic>
        <p:nvPicPr>
          <p:cNvPr id="28678" name="Picture 5" descr="Untitled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540651" y="171003"/>
            <a:ext cx="1391526" cy="9172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two stage limiter.em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1390" y="2440398"/>
            <a:ext cx="3333750" cy="164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3983" y="4370340"/>
            <a:ext cx="4428565" cy="120995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36401" y="1359025"/>
            <a:ext cx="1250737" cy="944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884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Limiter Modules</a:t>
            </a:r>
            <a:br>
              <a:rPr lang="en-US" dirty="0" smtClean="0"/>
            </a:br>
            <a:r>
              <a:rPr lang="en-US" dirty="0" smtClean="0"/>
              <a:t>Maximum CW Power vs. Frequency</a:t>
            </a:r>
            <a:endParaRPr lang="en-US" dirty="0"/>
          </a:p>
        </p:txBody>
      </p:sp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8170973"/>
              </p:ext>
            </p:extLst>
          </p:nvPr>
        </p:nvGraphicFramePr>
        <p:xfrm>
          <a:off x="313359" y="1286290"/>
          <a:ext cx="8452954" cy="50609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5089109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648" y="1504950"/>
            <a:ext cx="6225117" cy="4668838"/>
          </a:xfr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12750" y="310896"/>
            <a:ext cx="6400800" cy="742652"/>
          </a:xfrm>
        </p:spPr>
        <p:txBody>
          <a:bodyPr/>
          <a:lstStyle/>
          <a:p>
            <a:r>
              <a:rPr lang="en-US" dirty="0"/>
              <a:t>What’s Inside a Limiter Module</a:t>
            </a:r>
            <a:r>
              <a:rPr lang="en-US" dirty="0" smtClean="0"/>
              <a:t>?</a:t>
            </a:r>
            <a:br>
              <a:rPr lang="en-US" dirty="0" smtClean="0"/>
            </a:br>
            <a:r>
              <a:rPr lang="en-US" dirty="0" smtClean="0"/>
              <a:t>MADL-011014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575072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2232611" y="1229199"/>
            <a:ext cx="4759844" cy="3569884"/>
          </a:xfr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What’s Inside a Limiter Module</a:t>
            </a:r>
            <a:r>
              <a:rPr lang="en-US" dirty="0" smtClean="0"/>
              <a:t>?</a:t>
            </a:r>
            <a:br>
              <a:rPr lang="en-US" dirty="0" smtClean="0"/>
            </a:br>
            <a:r>
              <a:rPr lang="en-US" dirty="0" smtClean="0"/>
              <a:t>LM202402-Q-B-301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3829" y="4930935"/>
            <a:ext cx="5161100" cy="1454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45703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458648" y="1504950"/>
            <a:ext cx="6225117" cy="4668838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8904" y="198782"/>
            <a:ext cx="6927574" cy="762133"/>
          </a:xfrm>
        </p:spPr>
        <p:txBody>
          <a:bodyPr/>
          <a:lstStyle/>
          <a:p>
            <a:r>
              <a:rPr lang="en-US" sz="2800" dirty="0" smtClean="0"/>
              <a:t>Electrical Overstress: </a:t>
            </a:r>
            <a:r>
              <a:rPr lang="en-US" sz="2800" dirty="0" smtClean="0"/>
              <a:t>A Very Bad </a:t>
            </a:r>
            <a:r>
              <a:rPr lang="en-US" sz="2800" dirty="0" smtClean="0"/>
              <a:t>Idea…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19212214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458648" y="1504950"/>
            <a:ext cx="6225117" cy="4668838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Coarse Limiter Stage Damage Due to Electrical/Thermal Overstress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684134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12750" y="1335986"/>
            <a:ext cx="8316912" cy="4668837"/>
          </a:xfrm>
        </p:spPr>
        <p:txBody>
          <a:bodyPr/>
          <a:lstStyle/>
          <a:p>
            <a:r>
              <a:rPr lang="en-US" dirty="0" smtClean="0"/>
              <a:t>A (receiver protector) limiter is a passive device whose insertion loss is controlled by the magnitude of the input signal</a:t>
            </a:r>
          </a:p>
          <a:p>
            <a:pPr lvl="1"/>
            <a:r>
              <a:rPr lang="en-US" dirty="0" smtClean="0"/>
              <a:t>Small signal produces low insertion loss (&lt; 1 dB)</a:t>
            </a:r>
          </a:p>
          <a:p>
            <a:pPr lvl="1"/>
            <a:r>
              <a:rPr lang="en-US" dirty="0" smtClean="0"/>
              <a:t>Large signal produces large isolation (&gt; 30 dB)</a:t>
            </a:r>
          </a:p>
          <a:p>
            <a:pPr lvl="1"/>
            <a:r>
              <a:rPr lang="en-US" dirty="0" smtClean="0"/>
              <a:t>No external control signal is required</a:t>
            </a:r>
          </a:p>
          <a:p>
            <a:r>
              <a:rPr lang="en-US" dirty="0" smtClean="0"/>
              <a:t>MACOM offers limiters comprising our limiter PIN diodes and other components</a:t>
            </a:r>
          </a:p>
          <a:p>
            <a:r>
              <a:rPr lang="en-US" dirty="0" smtClean="0"/>
              <a:t>In order to select a limiter module or diode, we must know:</a:t>
            </a:r>
          </a:p>
          <a:p>
            <a:pPr lvl="1"/>
            <a:r>
              <a:rPr lang="en-US" dirty="0" smtClean="0"/>
              <a:t>Frequency range of operation</a:t>
            </a:r>
          </a:p>
          <a:p>
            <a:pPr lvl="1"/>
            <a:r>
              <a:rPr lang="en-US" dirty="0" smtClean="0"/>
              <a:t>Peak input power</a:t>
            </a:r>
          </a:p>
          <a:p>
            <a:pPr lvl="1"/>
            <a:r>
              <a:rPr lang="en-US" dirty="0" smtClean="0"/>
              <a:t>Pulse width</a:t>
            </a:r>
          </a:p>
          <a:p>
            <a:pPr lvl="1"/>
            <a:r>
              <a:rPr lang="en-US" dirty="0" smtClean="0"/>
              <a:t>Duty cycle</a:t>
            </a:r>
          </a:p>
          <a:p>
            <a:pPr lvl="1"/>
            <a:r>
              <a:rPr lang="en-US" dirty="0" smtClean="0"/>
              <a:t>Acceptable insertion loss, spike and flat leakage levels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843583"/>
      </p:ext>
    </p:extLst>
  </p:cSld>
  <p:clrMapOvr>
    <a:masterClrMapping/>
  </p:clrMapOvr>
  <p:transition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1188554" y="2307865"/>
            <a:ext cx="7315200" cy="640080"/>
          </a:xfrm>
        </p:spPr>
        <p:txBody>
          <a:bodyPr/>
          <a:lstStyle/>
          <a:p>
            <a:r>
              <a:rPr lang="en-US" sz="4000" dirty="0" smtClean="0"/>
              <a:t>Thank You</a:t>
            </a:r>
            <a:endParaRPr lang="en-US" sz="4000" dirty="0"/>
          </a:p>
        </p:txBody>
      </p:sp>
      <p:sp>
        <p:nvSpPr>
          <p:cNvPr id="15" name="TextBox 14"/>
          <p:cNvSpPr txBox="1"/>
          <p:nvPr/>
        </p:nvSpPr>
        <p:spPr>
          <a:xfrm>
            <a:off x="1660880" y="5543792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112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10"/>
  <p:tag name="ISPRING_RESOURCE_PATHS_HASH_2" val="754e257bf4e67b6eda8b5226aec68fcba58438"/>
  <p:tag name="MMPROD_UIDATA" val="&lt;database version=&quot;11.0&quot;&gt;&lt;object type=&quot;1&quot; unique_id=&quot;10001&quot;&gt;&lt;object type=&quot;8&quot; unique_id=&quot;10222&quot;&gt;&lt;/object&gt;&lt;object type=&quot;2&quot; unique_id=&quot;10223&quot;&gt;&lt;object type=&quot;3&quot; unique_id=&quot;33884&quot;&gt;&lt;property id=&quot;20148&quot; value=&quot;5&quot;/&gt;&lt;property id=&quot;20300&quot; value=&quot;Slide 1 - &amp;quot;Click to Edit MACOM Title Slide  Arial Black 24pt&amp;quot;&quot;/&gt;&lt;property id=&quot;20307&quot; value=&quot;484&quot;/&gt;&lt;/object&gt;&lt;object type=&quot;3&quot; unique_id=&quot;33885&quot;&gt;&lt;property id=&quot;20148&quot; value=&quot;5&quot;/&gt;&lt;property id=&quot;20300&quot; value=&quot;Slide 2 - &amp;quot;Layout: Section Divider&amp;quot;&quot;/&gt;&lt;property id=&quot;20307&quot; value=&quot;503&quot;/&gt;&lt;/object&gt;&lt;object type=&quot;3&quot; unique_id=&quot;33886&quot;&gt;&lt;property id=&quot;20148&quot; value=&quot;5&quot;/&gt;&lt;property id=&quot;20300&quot; value=&quot;Slide 3 - &amp;quot;Title and Content, Arial Black 24pt&amp;quot;&quot;/&gt;&lt;property id=&quot;20307&quot; value=&quot;489&quot;/&gt;&lt;/object&gt;&lt;object type=&quot;3&quot; unique_id=&quot;33887&quot;&gt;&lt;property id=&quot;20148&quot; value=&quot;5&quot;/&gt;&lt;property id=&quot;20300&quot; value=&quot;Slide 4 - &amp;quot;Title and Content with Subhead&amp;quot;&quot;/&gt;&lt;property id=&quot;20307&quot; value=&quot;504&quot;/&gt;&lt;/object&gt;&lt;object type=&quot;3&quot; unique_id=&quot;33888&quot;&gt;&lt;property id=&quot;20148&quot; value=&quot;5&quot;/&gt;&lt;property id=&quot;20300&quot; value=&quot;Slide 5 - &amp;quot;Layout: Two Content, No subhead&amp;quot;&quot;/&gt;&lt;property id=&quot;20307&quot; value=&quot;490&quot;/&gt;&lt;/object&gt;&lt;object type=&quot;3&quot; unique_id=&quot;33889&quot;&gt;&lt;property id=&quot;20148&quot; value=&quot;5&quot;/&gt;&lt;property id=&quot;20300&quot; value=&quot;Slide 6 - &amp;quot;Layout: Two Content, with Subhead&amp;quot;&quot;/&gt;&lt;property id=&quot;20307&quot; value=&quot;505&quot;/&gt;&lt;/object&gt;&lt;object type=&quot;3&quot; unique_id=&quot;33890&quot;&gt;&lt;property id=&quot;20148&quot; value=&quot;5&quot;/&gt;&lt;property id=&quot;20300&quot; value=&quot;Slide 7 - &amp;quot;Layout: Comparison&amp;quot;&quot;/&gt;&lt;property id=&quot;20307&quot; value=&quot;506&quot;/&gt;&lt;/object&gt;&lt;object type=&quot;3&quot; unique_id=&quot;33891&quot;&gt;&lt;property id=&quot;20148&quot; value=&quot;5&quot;/&gt;&lt;property id=&quot;20300&quot; value=&quot;Slide 8 - &amp;quot;Color Scheme&amp;quot;&quot;/&gt;&lt;property id=&quot;20307&quot; value=&quot;491&quot;/&gt;&lt;/object&gt;&lt;object type=&quot;3&quot; unique_id=&quot;33892&quot;&gt;&lt;property id=&quot;20148&quot; value=&quot;5&quot;/&gt;&lt;property id=&quot;20300&quot; value=&quot;Slide 9 - &amp;quot;Default Settings&amp;quot;&quot;/&gt;&lt;property id=&quot;20307&quot; value=&quot;493&quot;/&gt;&lt;/object&gt;&lt;object type=&quot;3&quot; unique_id=&quot;33893&quot;&gt;&lt;property id=&quot;20148&quot; value=&quot;5&quot;/&gt;&lt;property id=&quot;20300&quot; value=&quot;Slide 10 - &amp;quot;Default Table Style&amp;quot;&quot;/&gt;&lt;property id=&quot;20307&quot; value=&quot;494&quot;/&gt;&lt;/object&gt;&lt;object type=&quot;3&quot; unique_id=&quot;33894&quot;&gt;&lt;property id=&quot;20148&quot; value=&quot;5&quot;/&gt;&lt;property id=&quot;20300&quot; value=&quot;Slide 11 - &amp;quot;Column Chart Sample&amp;quot;&quot;/&gt;&lt;property id=&quot;20307&quot; value=&quot;496&quot;/&gt;&lt;/object&gt;&lt;object type=&quot;3&quot; unique_id=&quot;33895&quot;&gt;&lt;property id=&quot;20148&quot; value=&quot;5&quot;/&gt;&lt;property id=&quot;20300&quot; value=&quot;Slide 12 - &amp;quot;Two Content  Column Chart Sample&amp;quot;&quot;/&gt;&lt;property id=&quot;20307&quot; value=&quot;495&quot;/&gt;&lt;/object&gt;&lt;object type=&quot;3&quot; unique_id=&quot;33896&quot;&gt;&lt;property id=&quot;20148&quot; value=&quot;5&quot;/&gt;&lt;property id=&quot;20300&quot; value=&quot;Slide 13 - &amp;quot;Line Chart Sample&amp;quot;&quot;/&gt;&lt;property id=&quot;20307&quot; value=&quot;501&quot;/&gt;&lt;/object&gt;&lt;object type=&quot;3&quot; unique_id=&quot;33897&quot;&gt;&lt;property id=&quot;20148&quot; value=&quot;5&quot;/&gt;&lt;property id=&quot;20300&quot; value=&quot;Slide 14 - &amp;quot;Two Content  Line Chart Sample&amp;quot;&quot;/&gt;&lt;property id=&quot;20307&quot; value=&quot;502&quot;/&gt;&lt;/object&gt;&lt;object type=&quot;3&quot; unique_id=&quot;33898&quot;&gt;&lt;property id=&quot;20148&quot; value=&quot;5&quot;/&gt;&lt;property id=&quot;20300&quot; value=&quot;Slide 15 - &amp;quot;Pie Chart Sample &amp;quot;&quot;/&gt;&lt;property id=&quot;20307&quot; value=&quot;499&quot;/&gt;&lt;/object&gt;&lt;object type=&quot;3&quot; unique_id=&quot;33899&quot;&gt;&lt;property id=&quot;20148&quot; value=&quot;5&quot;/&gt;&lt;property id=&quot;20300&quot; value=&quot;Slide 16 - &amp;quot;Two Content  Pie Chart Sample &amp;quot;&quot;/&gt;&lt;property id=&quot;20307&quot; value=&quot;500&quot;/&gt;&lt;/object&gt;&lt;/object&gt;&lt;/object&gt;&lt;/database&gt;"/>
  <p:tag name="SECTOMILLISECCONVERTED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PPT-2010-Template_LightDark">
  <a:themeElements>
    <a:clrScheme name="MACOM">
      <a:dk1>
        <a:sysClr val="windowText" lastClr="000000"/>
      </a:dk1>
      <a:lt1>
        <a:sysClr val="window" lastClr="FFFFFF"/>
      </a:lt1>
      <a:dk2>
        <a:srgbClr val="00243E"/>
      </a:dk2>
      <a:lt2>
        <a:srgbClr val="FFFFFF"/>
      </a:lt2>
      <a:accent1>
        <a:srgbClr val="005A84"/>
      </a:accent1>
      <a:accent2>
        <a:srgbClr val="0083C2"/>
      </a:accent2>
      <a:accent3>
        <a:srgbClr val="00A5B6"/>
      </a:accent3>
      <a:accent4>
        <a:srgbClr val="6C953C"/>
      </a:accent4>
      <a:accent5>
        <a:srgbClr val="8DC73F"/>
      </a:accent5>
      <a:accent6>
        <a:srgbClr val="DADA56"/>
      </a:accent6>
      <a:hlink>
        <a:srgbClr val="0083C2"/>
      </a:hlink>
      <a:folHlink>
        <a:srgbClr val="77B800"/>
      </a:folHlink>
    </a:clrScheme>
    <a:fontScheme name="MACOM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/>
        </a:solidFill>
        <a:ln w="12700" cap="sq" algn="ctr">
          <a:noFill/>
          <a:miter lim="800000"/>
          <a:headEnd/>
          <a:tailEnd/>
        </a:ln>
        <a:effectLst/>
      </a:spPr>
      <a:bodyPr wrap="square" lIns="0" rIns="0" rtlCol="0" anchor="ctr"/>
      <a:lstStyle>
        <a:defPPr algn="ctr">
          <a:spcBef>
            <a:spcPts val="600"/>
          </a:spcBef>
          <a:defRPr dirty="0" smtClean="0">
            <a:solidFill>
              <a:schemeClr val="bg1"/>
            </a:solidFill>
            <a:latin typeface="+mn-lt"/>
          </a:defRPr>
        </a:defPPr>
      </a:lstStyle>
    </a:spDef>
    <a:lnDef>
      <a:spPr bwMode="auto">
        <a:solidFill>
          <a:schemeClr val="accent2"/>
        </a:solidFill>
        <a:ln w="19050" cap="sq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 bwMode="auto">
        <a:noFill/>
        <a:ln w="12700" cap="sq" algn="ctr">
          <a:noFill/>
          <a:miter lim="800000"/>
          <a:headEnd/>
          <a:tailEnd/>
        </a:ln>
        <a:effectLst/>
      </a:spPr>
      <a:bodyPr wrap="square" rtlCol="0" anchor="ctr" anchorCtr="0">
        <a:noAutofit/>
      </a:bodyPr>
      <a:lstStyle>
        <a:defPPr>
          <a:spcBef>
            <a:spcPts val="900"/>
          </a:spcBef>
          <a:defRPr dirty="0" err="1" smtClean="0">
            <a:solidFill>
              <a:schemeClr val="tx2"/>
            </a:solidFill>
            <a:latin typeface="+mn-l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17388-MACOM2016-4x3-edit</Template>
  <TotalTime>2512</TotalTime>
  <Words>1313</Words>
  <Application>Microsoft Office PowerPoint</Application>
  <PresentationFormat>On-screen Show (4:3)</PresentationFormat>
  <Paragraphs>465</Paragraphs>
  <Slides>27</Slides>
  <Notes>17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27</vt:i4>
      </vt:variant>
    </vt:vector>
  </HeadingPairs>
  <TitlesOfParts>
    <vt:vector size="41" baseType="lpstr">
      <vt:lpstr>굴림</vt:lpstr>
      <vt:lpstr>Arial</vt:lpstr>
      <vt:lpstr>Arial Black</vt:lpstr>
      <vt:lpstr>Calibri</vt:lpstr>
      <vt:lpstr>Cambria Math</vt:lpstr>
      <vt:lpstr>Helvetica</vt:lpstr>
      <vt:lpstr>Symbol</vt:lpstr>
      <vt:lpstr>Times New Roman</vt:lpstr>
      <vt:lpstr>Wingdings</vt:lpstr>
      <vt:lpstr>PPT-2010-Template_LightDark</vt:lpstr>
      <vt:lpstr>Mathcad 6.0</vt:lpstr>
      <vt:lpstr>Equation</vt:lpstr>
      <vt:lpstr>Mathcad</vt:lpstr>
      <vt:lpstr>VISIO</vt:lpstr>
      <vt:lpstr>MACOM Diode Limiter Products </vt:lpstr>
      <vt:lpstr>PowerPoint Presentation</vt:lpstr>
      <vt:lpstr>PowerPoint Presentation</vt:lpstr>
      <vt:lpstr>Transceiver Block Diagram</vt:lpstr>
      <vt:lpstr>Discrete Diodes – Limiters</vt:lpstr>
      <vt:lpstr>Discrete Diodes – Limiters (cont’d)</vt:lpstr>
      <vt:lpstr>PIN Diode Parameters for Limiters</vt:lpstr>
      <vt:lpstr>Limiter Performance vs. Time</vt:lpstr>
      <vt:lpstr>Junction Heating – the Enemy of All Semiconductors</vt:lpstr>
      <vt:lpstr>Junction Heating – the Enemy of All Semiconductors (cont’d)</vt:lpstr>
      <vt:lpstr>Junction Heating – the Enemy of All Semiconductors (cont’d)</vt:lpstr>
      <vt:lpstr>Discrete Diodes – Limiters</vt:lpstr>
      <vt:lpstr>Limiter Products</vt:lpstr>
      <vt:lpstr>Receiver Protector Limiter</vt:lpstr>
      <vt:lpstr>Limiter Diodes</vt:lpstr>
      <vt:lpstr>PowerPoint Presentation</vt:lpstr>
      <vt:lpstr>Discrete Diodes – Limiters</vt:lpstr>
      <vt:lpstr>Discrete Diodes – Limiters (cont’d)</vt:lpstr>
      <vt:lpstr>Limiter Modules</vt:lpstr>
      <vt:lpstr>High Power Limiter Modules</vt:lpstr>
      <vt:lpstr>Limiter Modules Maximum CW Power vs. Frequency</vt:lpstr>
      <vt:lpstr>What’s Inside a Limiter Module? MADL-011014 </vt:lpstr>
      <vt:lpstr>What’s Inside a Limiter Module? LM202402-Q-B-301</vt:lpstr>
      <vt:lpstr>Electrical Overstress: A Very Bad Idea…</vt:lpstr>
      <vt:lpstr>Coarse Limiter Stage Damage Due to Electrical/Thermal Overstress</vt:lpstr>
      <vt:lpstr>Summary</vt:lpstr>
      <vt:lpstr>Thank You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Click to Edit MACOM Title Slide  Arial Black 24pt</dc:title>
  <dc:creator>Megan Haley</dc:creator>
  <cp:lastModifiedBy>Rick Cory</cp:lastModifiedBy>
  <cp:revision>65</cp:revision>
  <cp:lastPrinted>2014-03-27T13:48:09Z</cp:lastPrinted>
  <dcterms:created xsi:type="dcterms:W3CDTF">2016-07-13T20:18:51Z</dcterms:created>
  <dcterms:modified xsi:type="dcterms:W3CDTF">2017-03-10T14:07:43Z</dcterms:modified>
</cp:coreProperties>
</file>