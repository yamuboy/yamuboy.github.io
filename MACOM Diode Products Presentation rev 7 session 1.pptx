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98" r:id="rId1"/>
  </p:sldMasterIdLst>
  <p:notesMasterIdLst>
    <p:notesMasterId r:id="rId66"/>
  </p:notesMasterIdLst>
  <p:handoutMasterIdLst>
    <p:handoutMasterId r:id="rId67"/>
  </p:handoutMasterIdLst>
  <p:sldIdLst>
    <p:sldId id="507" r:id="rId2"/>
    <p:sldId id="571" r:id="rId3"/>
    <p:sldId id="508" r:id="rId4"/>
    <p:sldId id="509" r:id="rId5"/>
    <p:sldId id="510" r:id="rId6"/>
    <p:sldId id="511" r:id="rId7"/>
    <p:sldId id="512" r:id="rId8"/>
    <p:sldId id="513" r:id="rId9"/>
    <p:sldId id="514" r:id="rId10"/>
    <p:sldId id="515" r:id="rId11"/>
    <p:sldId id="516" r:id="rId12"/>
    <p:sldId id="517" r:id="rId13"/>
    <p:sldId id="518" r:id="rId14"/>
    <p:sldId id="519" r:id="rId15"/>
    <p:sldId id="520" r:id="rId16"/>
    <p:sldId id="521" r:id="rId17"/>
    <p:sldId id="522" r:id="rId18"/>
    <p:sldId id="523" r:id="rId19"/>
    <p:sldId id="524" r:id="rId20"/>
    <p:sldId id="525" r:id="rId21"/>
    <p:sldId id="526" r:id="rId22"/>
    <p:sldId id="527" r:id="rId23"/>
    <p:sldId id="528" r:id="rId24"/>
    <p:sldId id="529" r:id="rId25"/>
    <p:sldId id="530" r:id="rId26"/>
    <p:sldId id="531" r:id="rId27"/>
    <p:sldId id="532" r:id="rId28"/>
    <p:sldId id="533" r:id="rId29"/>
    <p:sldId id="534" r:id="rId30"/>
    <p:sldId id="535" r:id="rId31"/>
    <p:sldId id="536" r:id="rId32"/>
    <p:sldId id="537" r:id="rId33"/>
    <p:sldId id="538" r:id="rId34"/>
    <p:sldId id="539" r:id="rId35"/>
    <p:sldId id="540" r:id="rId36"/>
    <p:sldId id="541" r:id="rId37"/>
    <p:sldId id="542" r:id="rId38"/>
    <p:sldId id="570" r:id="rId39"/>
    <p:sldId id="544" r:id="rId40"/>
    <p:sldId id="545" r:id="rId41"/>
    <p:sldId id="546" r:id="rId42"/>
    <p:sldId id="547" r:id="rId43"/>
    <p:sldId id="548" r:id="rId44"/>
    <p:sldId id="549" r:id="rId45"/>
    <p:sldId id="550" r:id="rId46"/>
    <p:sldId id="551" r:id="rId47"/>
    <p:sldId id="552" r:id="rId48"/>
    <p:sldId id="553" r:id="rId49"/>
    <p:sldId id="554" r:id="rId50"/>
    <p:sldId id="555" r:id="rId51"/>
    <p:sldId id="556" r:id="rId52"/>
    <p:sldId id="557" r:id="rId53"/>
    <p:sldId id="558" r:id="rId54"/>
    <p:sldId id="559" r:id="rId55"/>
    <p:sldId id="560" r:id="rId56"/>
    <p:sldId id="561" r:id="rId57"/>
    <p:sldId id="562" r:id="rId58"/>
    <p:sldId id="563" r:id="rId59"/>
    <p:sldId id="564" r:id="rId60"/>
    <p:sldId id="565" r:id="rId61"/>
    <p:sldId id="566" r:id="rId62"/>
    <p:sldId id="567" r:id="rId63"/>
    <p:sldId id="568" r:id="rId64"/>
    <p:sldId id="569" r:id="rId65"/>
  </p:sldIdLst>
  <p:sldSz cx="9144000" cy="6858000" type="screen4x3"/>
  <p:notesSz cx="7010400" cy="9296400"/>
  <p:custDataLst>
    <p:tags r:id="rId68"/>
  </p:custDataLst>
  <p:defaultTextStyle>
    <a:defPPr>
      <a:defRPr lang="en-US"/>
    </a:defPPr>
    <a:lvl1pPr algn="ctr" rtl="0" fontAlgn="base">
      <a:lnSpc>
        <a:spcPct val="90000"/>
      </a:lnSpc>
      <a:spcBef>
        <a:spcPct val="5000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fontAlgn="base">
      <a:lnSpc>
        <a:spcPct val="90000"/>
      </a:lnSpc>
      <a:spcBef>
        <a:spcPct val="5000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fontAlgn="base">
      <a:lnSpc>
        <a:spcPct val="90000"/>
      </a:lnSpc>
      <a:spcBef>
        <a:spcPct val="5000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fontAlgn="base">
      <a:lnSpc>
        <a:spcPct val="90000"/>
      </a:lnSpc>
      <a:spcBef>
        <a:spcPct val="5000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fontAlgn="base">
      <a:lnSpc>
        <a:spcPct val="90000"/>
      </a:lnSpc>
      <a:spcBef>
        <a:spcPct val="5000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48">
          <p15:clr>
            <a:srgbClr val="A4A3A4"/>
          </p15:clr>
        </p15:guide>
        <p15:guide id="2" orient="horz" pos="3889">
          <p15:clr>
            <a:srgbClr val="A4A3A4"/>
          </p15:clr>
        </p15:guide>
        <p15:guide id="3" orient="horz" pos="722">
          <p15:clr>
            <a:srgbClr val="A4A3A4"/>
          </p15:clr>
        </p15:guide>
        <p15:guide id="4" pos="2880">
          <p15:clr>
            <a:srgbClr val="A4A3A4"/>
          </p15:clr>
        </p15:guide>
        <p15:guide id="5" pos="260">
          <p15:clr>
            <a:srgbClr val="A4A3A4"/>
          </p15:clr>
        </p15:guide>
        <p15:guide id="6" pos="549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EAEAEA"/>
    <a:srgbClr val="000000"/>
    <a:srgbClr val="C0C0C0"/>
    <a:srgbClr val="B2B2B2"/>
    <a:srgbClr val="FFFF66"/>
    <a:srgbClr val="3333CC"/>
    <a:srgbClr val="FF00CC"/>
    <a:srgbClr val="CBCBDF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86457" autoAdjust="0"/>
  </p:normalViewPr>
  <p:slideViewPr>
    <p:cSldViewPr snapToGrid="0">
      <p:cViewPr varScale="1">
        <p:scale>
          <a:sx n="77" d="100"/>
          <a:sy n="77" d="100"/>
        </p:scale>
        <p:origin x="1061" y="62"/>
      </p:cViewPr>
      <p:guideLst>
        <p:guide orient="horz" pos="948"/>
        <p:guide orient="horz" pos="3889"/>
        <p:guide orient="horz" pos="722"/>
        <p:guide pos="2880"/>
        <p:guide pos="260"/>
        <p:guide pos="5499"/>
      </p:guideLst>
    </p:cSldViewPr>
  </p:slideViewPr>
  <p:outlineViewPr>
    <p:cViewPr>
      <p:scale>
        <a:sx n="33" d="100"/>
        <a:sy n="33" d="100"/>
      </p:scale>
      <p:origin x="0" y="-30883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8" d="100"/>
        <a:sy n="98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-1698" y="-9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gs" Target="tags/tag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2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043968\Documents\ppoint\diode%20presentation\varactor%20C%20V%20curve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smoothMarker"/>
        <c:varyColors val="0"/>
        <c:ser>
          <c:idx val="1"/>
          <c:order val="0"/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Sheet1!$A$5:$A$22</c:f>
              <c:numCache>
                <c:formatCode>General</c:formatCode>
                <c:ptCount val="18"/>
                <c:pt idx="0">
                  <c:v>0.1</c:v>
                </c:pt>
                <c:pt idx="1">
                  <c:v>0.5</c:v>
                </c:pt>
                <c:pt idx="2">
                  <c:v>1</c:v>
                </c:pt>
                <c:pt idx="3">
                  <c:v>1.5</c:v>
                </c:pt>
                <c:pt idx="4">
                  <c:v>2</c:v>
                </c:pt>
                <c:pt idx="5">
                  <c:v>3</c:v>
                </c:pt>
                <c:pt idx="6">
                  <c:v>4</c:v>
                </c:pt>
                <c:pt idx="7">
                  <c:v>5</c:v>
                </c:pt>
                <c:pt idx="8">
                  <c:v>5.5</c:v>
                </c:pt>
                <c:pt idx="9">
                  <c:v>6</c:v>
                </c:pt>
                <c:pt idx="10">
                  <c:v>6.5</c:v>
                </c:pt>
                <c:pt idx="11">
                  <c:v>7</c:v>
                </c:pt>
                <c:pt idx="12">
                  <c:v>7.5</c:v>
                </c:pt>
                <c:pt idx="13">
                  <c:v>8</c:v>
                </c:pt>
                <c:pt idx="14">
                  <c:v>8.5</c:v>
                </c:pt>
                <c:pt idx="15">
                  <c:v>9</c:v>
                </c:pt>
                <c:pt idx="16">
                  <c:v>9.5</c:v>
                </c:pt>
                <c:pt idx="17">
                  <c:v>10</c:v>
                </c:pt>
              </c:numCache>
            </c:numRef>
          </c:xVal>
          <c:yVal>
            <c:numRef>
              <c:f>Sheet1!$B$5:$B$22</c:f>
              <c:numCache>
                <c:formatCode>General</c:formatCode>
                <c:ptCount val="18"/>
                <c:pt idx="0">
                  <c:v>8.86</c:v>
                </c:pt>
                <c:pt idx="1">
                  <c:v>7.2635512464481193</c:v>
                </c:pt>
                <c:pt idx="2">
                  <c:v>6.1238965276703938</c:v>
                </c:pt>
                <c:pt idx="3">
                  <c:v>5.3971029447523735</c:v>
                </c:pt>
                <c:pt idx="4">
                  <c:v>4.8817953690449984</c:v>
                </c:pt>
                <c:pt idx="5">
                  <c:v>4.1833959412955544</c:v>
                </c:pt>
                <c:pt idx="6">
                  <c:v>3.7206589704906885</c:v>
                </c:pt>
                <c:pt idx="7">
                  <c:v>3.3850815538814576</c:v>
                </c:pt>
                <c:pt idx="8">
                  <c:v>3.2484477646360159</c:v>
                </c:pt>
                <c:pt idx="9">
                  <c:v>3.1273116462912482</c:v>
                </c:pt>
                <c:pt idx="10">
                  <c:v>3.018942853882435</c:v>
                </c:pt>
                <c:pt idx="11">
                  <c:v>2.9212408169507604</c:v>
                </c:pt>
                <c:pt idx="12">
                  <c:v>2.8325594121989841</c:v>
                </c:pt>
                <c:pt idx="13">
                  <c:v>2.7515878413383432</c:v>
                </c:pt>
                <c:pt idx="14">
                  <c:v>2.6772675868788309</c:v>
                </c:pt>
                <c:pt idx="15">
                  <c:v>2.6087332027411265</c:v>
                </c:pt>
                <c:pt idx="16">
                  <c:v>2.5452692536817283</c:v>
                </c:pt>
                <c:pt idx="17">
                  <c:v>2.4862784427824614</c:v>
                </c:pt>
              </c:numCache>
            </c:numRef>
          </c:yVal>
          <c:smooth val="1"/>
        </c:ser>
        <c:ser>
          <c:idx val="0"/>
          <c:order val="1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Sheet1!$A$5:$A$22</c:f>
              <c:numCache>
                <c:formatCode>General</c:formatCode>
                <c:ptCount val="18"/>
                <c:pt idx="0">
                  <c:v>0.1</c:v>
                </c:pt>
                <c:pt idx="1">
                  <c:v>0.5</c:v>
                </c:pt>
                <c:pt idx="2">
                  <c:v>1</c:v>
                </c:pt>
                <c:pt idx="3">
                  <c:v>1.5</c:v>
                </c:pt>
                <c:pt idx="4">
                  <c:v>2</c:v>
                </c:pt>
                <c:pt idx="5">
                  <c:v>3</c:v>
                </c:pt>
                <c:pt idx="6">
                  <c:v>4</c:v>
                </c:pt>
                <c:pt idx="7">
                  <c:v>5</c:v>
                </c:pt>
                <c:pt idx="8">
                  <c:v>5.5</c:v>
                </c:pt>
                <c:pt idx="9">
                  <c:v>6</c:v>
                </c:pt>
                <c:pt idx="10">
                  <c:v>6.5</c:v>
                </c:pt>
                <c:pt idx="11">
                  <c:v>7</c:v>
                </c:pt>
                <c:pt idx="12">
                  <c:v>7.5</c:v>
                </c:pt>
                <c:pt idx="13">
                  <c:v>8</c:v>
                </c:pt>
                <c:pt idx="14">
                  <c:v>8.5</c:v>
                </c:pt>
                <c:pt idx="15">
                  <c:v>9</c:v>
                </c:pt>
                <c:pt idx="16">
                  <c:v>9.5</c:v>
                </c:pt>
                <c:pt idx="17">
                  <c:v>10</c:v>
                </c:pt>
              </c:numCache>
            </c:numRef>
          </c:xVal>
          <c:yVal>
            <c:numRef>
              <c:f>Sheet1!$C$5:$C$22</c:f>
              <c:numCache>
                <c:formatCode>General</c:formatCode>
                <c:ptCount val="18"/>
                <c:pt idx="0">
                  <c:v>8.86</c:v>
                </c:pt>
                <c:pt idx="1">
                  <c:v>7.2452695110311574</c:v>
                </c:pt>
                <c:pt idx="2">
                  <c:v>5.9713733492202747</c:v>
                </c:pt>
                <c:pt idx="3">
                  <c:v>5.1211608056603719</c:v>
                </c:pt>
                <c:pt idx="4">
                  <c:v>4.5084655175707908</c:v>
                </c:pt>
                <c:pt idx="5">
                  <c:v>3.6766667563895203</c:v>
                </c:pt>
                <c:pt idx="6">
                  <c:v>3.1324830406564055</c:v>
                </c:pt>
                <c:pt idx="7">
                  <c:v>2.7453484146764398</c:v>
                </c:pt>
                <c:pt idx="8">
                  <c:v>2.5902109445572452</c:v>
                </c:pt>
                <c:pt idx="9">
                  <c:v>2.4540977868847342</c:v>
                </c:pt>
                <c:pt idx="10">
                  <c:v>2.3335826771716066</c:v>
                </c:pt>
                <c:pt idx="11">
                  <c:v>2.2260291483510599</c:v>
                </c:pt>
                <c:pt idx="12">
                  <c:v>2.1293732630463329</c:v>
                </c:pt>
                <c:pt idx="13">
                  <c:v>2.0419747409917246</c:v>
                </c:pt>
                <c:pt idx="14">
                  <c:v>1.9625125171812312</c:v>
                </c:pt>
                <c:pt idx="15">
                  <c:v>1.8899099316983319</c:v>
                </c:pt>
                <c:pt idx="16">
                  <c:v>1.8232801458364671</c:v>
                </c:pt>
                <c:pt idx="17">
                  <c:v>1.7618856529549454</c:v>
                </c:pt>
              </c:numCache>
            </c:numRef>
          </c:yVal>
          <c:smooth val="1"/>
        </c:ser>
        <c:ser>
          <c:idx val="2"/>
          <c:order val="2"/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Sheet1!$A$5:$A$22</c:f>
              <c:numCache>
                <c:formatCode>General</c:formatCode>
                <c:ptCount val="18"/>
                <c:pt idx="0">
                  <c:v>0.1</c:v>
                </c:pt>
                <c:pt idx="1">
                  <c:v>0.5</c:v>
                </c:pt>
                <c:pt idx="2">
                  <c:v>1</c:v>
                </c:pt>
                <c:pt idx="3">
                  <c:v>1.5</c:v>
                </c:pt>
                <c:pt idx="4">
                  <c:v>2</c:v>
                </c:pt>
                <c:pt idx="5">
                  <c:v>3</c:v>
                </c:pt>
                <c:pt idx="6">
                  <c:v>4</c:v>
                </c:pt>
                <c:pt idx="7">
                  <c:v>5</c:v>
                </c:pt>
                <c:pt idx="8">
                  <c:v>5.5</c:v>
                </c:pt>
                <c:pt idx="9">
                  <c:v>6</c:v>
                </c:pt>
                <c:pt idx="10">
                  <c:v>6.5</c:v>
                </c:pt>
                <c:pt idx="11">
                  <c:v>7</c:v>
                </c:pt>
                <c:pt idx="12">
                  <c:v>7.5</c:v>
                </c:pt>
                <c:pt idx="13">
                  <c:v>8</c:v>
                </c:pt>
                <c:pt idx="14">
                  <c:v>8.5</c:v>
                </c:pt>
                <c:pt idx="15">
                  <c:v>9</c:v>
                </c:pt>
                <c:pt idx="16">
                  <c:v>9.5</c:v>
                </c:pt>
                <c:pt idx="17">
                  <c:v>10</c:v>
                </c:pt>
              </c:numCache>
            </c:numRef>
          </c:xVal>
          <c:yVal>
            <c:numRef>
              <c:f>Sheet1!$D$5:$D$22</c:f>
              <c:numCache>
                <c:formatCode>General</c:formatCode>
                <c:ptCount val="18"/>
                <c:pt idx="0">
                  <c:v>8.86</c:v>
                </c:pt>
                <c:pt idx="1">
                  <c:v>6.775294117647058</c:v>
                </c:pt>
                <c:pt idx="2">
                  <c:v>5.2354545454545454</c:v>
                </c:pt>
                <c:pt idx="3">
                  <c:v>4.2659259259259255</c:v>
                </c:pt>
                <c:pt idx="4">
                  <c:v>3.5993749999999998</c:v>
                </c:pt>
                <c:pt idx="5">
                  <c:v>2.7423809523809521</c:v>
                </c:pt>
                <c:pt idx="6">
                  <c:v>2.2149999999999999</c:v>
                </c:pt>
                <c:pt idx="7">
                  <c:v>1.8577419354838709</c:v>
                </c:pt>
                <c:pt idx="8">
                  <c:v>1.7191044776119402</c:v>
                </c:pt>
                <c:pt idx="9">
                  <c:v>1.5997222222222223</c:v>
                </c:pt>
                <c:pt idx="10">
                  <c:v>1.4958441558441558</c:v>
                </c:pt>
                <c:pt idx="11">
                  <c:v>1.4046341463414636</c:v>
                </c:pt>
                <c:pt idx="12">
                  <c:v>1.3239080459770116</c:v>
                </c:pt>
                <c:pt idx="13">
                  <c:v>1.2519565217391306</c:v>
                </c:pt>
                <c:pt idx="14">
                  <c:v>1.1874226804123711</c:v>
                </c:pt>
                <c:pt idx="15">
                  <c:v>1.12921568627451</c:v>
                </c:pt>
                <c:pt idx="16">
                  <c:v>1.0764485981308411</c:v>
                </c:pt>
                <c:pt idx="17">
                  <c:v>1.0283928571428571</c:v>
                </c:pt>
              </c:numCache>
            </c:numRef>
          </c:yVal>
          <c:smooth val="1"/>
        </c:ser>
        <c:ser>
          <c:idx val="3"/>
          <c:order val="3"/>
          <c:spPr>
            <a:ln w="1905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xVal>
            <c:numRef>
              <c:f>Sheet1!$A$5:$A$18</c:f>
              <c:numCache>
                <c:formatCode>General</c:formatCode>
                <c:ptCount val="14"/>
                <c:pt idx="0">
                  <c:v>0.1</c:v>
                </c:pt>
                <c:pt idx="1">
                  <c:v>0.5</c:v>
                </c:pt>
                <c:pt idx="2">
                  <c:v>1</c:v>
                </c:pt>
                <c:pt idx="3">
                  <c:v>1.5</c:v>
                </c:pt>
                <c:pt idx="4">
                  <c:v>2</c:v>
                </c:pt>
                <c:pt idx="5">
                  <c:v>3</c:v>
                </c:pt>
                <c:pt idx="6">
                  <c:v>4</c:v>
                </c:pt>
                <c:pt idx="7">
                  <c:v>5</c:v>
                </c:pt>
                <c:pt idx="8">
                  <c:v>5.5</c:v>
                </c:pt>
                <c:pt idx="9">
                  <c:v>6</c:v>
                </c:pt>
                <c:pt idx="10">
                  <c:v>6.5</c:v>
                </c:pt>
                <c:pt idx="11">
                  <c:v>7</c:v>
                </c:pt>
                <c:pt idx="12">
                  <c:v>7.5</c:v>
                </c:pt>
                <c:pt idx="13">
                  <c:v>8</c:v>
                </c:pt>
              </c:numCache>
            </c:numRef>
          </c:xVal>
          <c:yVal>
            <c:numRef>
              <c:f>Sheet1!$E$5:$E$18</c:f>
              <c:numCache>
                <c:formatCode>General</c:formatCode>
                <c:ptCount val="14"/>
                <c:pt idx="0">
                  <c:v>8.86</c:v>
                </c:pt>
                <c:pt idx="1">
                  <c:v>6.17</c:v>
                </c:pt>
                <c:pt idx="2">
                  <c:v>4.37</c:v>
                </c:pt>
                <c:pt idx="3">
                  <c:v>2.96</c:v>
                </c:pt>
                <c:pt idx="4">
                  <c:v>1.88</c:v>
                </c:pt>
                <c:pt idx="5">
                  <c:v>0.95</c:v>
                </c:pt>
                <c:pt idx="6">
                  <c:v>0.77</c:v>
                </c:pt>
                <c:pt idx="7">
                  <c:v>0.7</c:v>
                </c:pt>
                <c:pt idx="8">
                  <c:v>0.68</c:v>
                </c:pt>
                <c:pt idx="9">
                  <c:v>0.67</c:v>
                </c:pt>
                <c:pt idx="10">
                  <c:v>0.66</c:v>
                </c:pt>
                <c:pt idx="11">
                  <c:v>0.65</c:v>
                </c:pt>
                <c:pt idx="12">
                  <c:v>0.64</c:v>
                </c:pt>
                <c:pt idx="13">
                  <c:v>0.64</c:v>
                </c:pt>
              </c:numCache>
            </c:numRef>
          </c:yVal>
          <c:smooth val="1"/>
        </c:ser>
        <c:ser>
          <c:idx val="4"/>
          <c:order val="4"/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xVal>
            <c:numRef>
              <c:f>Sheet1!$A$5:$A$22</c:f>
              <c:numCache>
                <c:formatCode>General</c:formatCode>
                <c:ptCount val="18"/>
                <c:pt idx="0">
                  <c:v>0.1</c:v>
                </c:pt>
                <c:pt idx="1">
                  <c:v>0.5</c:v>
                </c:pt>
                <c:pt idx="2">
                  <c:v>1</c:v>
                </c:pt>
                <c:pt idx="3">
                  <c:v>1.5</c:v>
                </c:pt>
                <c:pt idx="4">
                  <c:v>2</c:v>
                </c:pt>
                <c:pt idx="5">
                  <c:v>3</c:v>
                </c:pt>
                <c:pt idx="6">
                  <c:v>4</c:v>
                </c:pt>
                <c:pt idx="7">
                  <c:v>5</c:v>
                </c:pt>
                <c:pt idx="8">
                  <c:v>5.5</c:v>
                </c:pt>
                <c:pt idx="9">
                  <c:v>6</c:v>
                </c:pt>
                <c:pt idx="10">
                  <c:v>6.5</c:v>
                </c:pt>
                <c:pt idx="11">
                  <c:v>7</c:v>
                </c:pt>
                <c:pt idx="12">
                  <c:v>7.5</c:v>
                </c:pt>
                <c:pt idx="13">
                  <c:v>8</c:v>
                </c:pt>
                <c:pt idx="14">
                  <c:v>8.5</c:v>
                </c:pt>
                <c:pt idx="15">
                  <c:v>9</c:v>
                </c:pt>
                <c:pt idx="16">
                  <c:v>9.5</c:v>
                </c:pt>
                <c:pt idx="17">
                  <c:v>10</c:v>
                </c:pt>
              </c:numCache>
            </c:numRef>
          </c:xVal>
          <c:yVal>
            <c:numRef>
              <c:f>Sheet1!$F$5:$F$22</c:f>
              <c:numCache>
                <c:formatCode>General</c:formatCode>
                <c:ptCount val="18"/>
                <c:pt idx="0">
                  <c:v>8.86</c:v>
                </c:pt>
                <c:pt idx="1">
                  <c:v>6.3358043908141131</c:v>
                </c:pt>
                <c:pt idx="2">
                  <c:v>4.5902312072146314</c:v>
                </c:pt>
                <c:pt idx="3">
                  <c:v>3.5535154423139277</c:v>
                </c:pt>
                <c:pt idx="4">
                  <c:v>2.8735942063067066</c:v>
                </c:pt>
                <c:pt idx="5">
                  <c:v>2.0455085506218476</c:v>
                </c:pt>
                <c:pt idx="6">
                  <c:v>1.5662415203282025</c:v>
                </c:pt>
                <c:pt idx="7">
                  <c:v>1.2571100558331538</c:v>
                </c:pt>
                <c:pt idx="8">
                  <c:v>1.1409573460244129</c:v>
                </c:pt>
                <c:pt idx="9">
                  <c:v>1.0427910419658444</c:v>
                </c:pt>
                <c:pt idx="10">
                  <c:v>0.95884742394690392</c:v>
                </c:pt>
                <c:pt idx="11">
                  <c:v>0.88633030098905841</c:v>
                </c:pt>
                <c:pt idx="12">
                  <c:v>0.82312131208746697</c:v>
                </c:pt>
                <c:pt idx="13">
                  <c:v>0.76758791421871664</c:v>
                </c:pt>
                <c:pt idx="14">
                  <c:v>0.71845280456241478</c:v>
                </c:pt>
                <c:pt idx="15">
                  <c:v>0.67470308756065556</c:v>
                </c:pt>
                <c:pt idx="16">
                  <c:v>0.63552580609397025</c:v>
                </c:pt>
                <c:pt idx="17">
                  <c:v>0.60026135455993379</c:v>
                </c:pt>
              </c:numCache>
            </c:numRef>
          </c:yVal>
          <c:smooth val="1"/>
        </c:ser>
        <c:ser>
          <c:idx val="5"/>
          <c:order val="5"/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xVal>
            <c:numRef>
              <c:f>Sheet1!$A$5:$A$22</c:f>
              <c:numCache>
                <c:formatCode>General</c:formatCode>
                <c:ptCount val="18"/>
                <c:pt idx="0">
                  <c:v>0.1</c:v>
                </c:pt>
                <c:pt idx="1">
                  <c:v>0.5</c:v>
                </c:pt>
                <c:pt idx="2">
                  <c:v>1</c:v>
                </c:pt>
                <c:pt idx="3">
                  <c:v>1.5</c:v>
                </c:pt>
                <c:pt idx="4">
                  <c:v>2</c:v>
                </c:pt>
                <c:pt idx="5">
                  <c:v>3</c:v>
                </c:pt>
                <c:pt idx="6">
                  <c:v>4</c:v>
                </c:pt>
                <c:pt idx="7">
                  <c:v>5</c:v>
                </c:pt>
                <c:pt idx="8">
                  <c:v>5.5</c:v>
                </c:pt>
                <c:pt idx="9">
                  <c:v>6</c:v>
                </c:pt>
                <c:pt idx="10">
                  <c:v>6.5</c:v>
                </c:pt>
                <c:pt idx="11">
                  <c:v>7</c:v>
                </c:pt>
                <c:pt idx="12">
                  <c:v>7.5</c:v>
                </c:pt>
                <c:pt idx="13">
                  <c:v>8</c:v>
                </c:pt>
                <c:pt idx="14">
                  <c:v>8.5</c:v>
                </c:pt>
                <c:pt idx="15">
                  <c:v>9</c:v>
                </c:pt>
                <c:pt idx="16">
                  <c:v>9.5</c:v>
                </c:pt>
                <c:pt idx="17">
                  <c:v>10</c:v>
                </c:pt>
              </c:numCache>
            </c:numRef>
          </c:xVal>
          <c:yVal>
            <c:numRef>
              <c:f>Sheet1!$G$5:$G$22</c:f>
              <c:numCache>
                <c:formatCode>General</c:formatCode>
                <c:ptCount val="18"/>
                <c:pt idx="0">
                  <c:v>8.86</c:v>
                </c:pt>
                <c:pt idx="1">
                  <c:v>5.9248228315437554</c:v>
                </c:pt>
                <c:pt idx="2">
                  <c:v>4.0245259227740595</c:v>
                </c:pt>
                <c:pt idx="3">
                  <c:v>2.96007765208036</c:v>
                </c:pt>
                <c:pt idx="4">
                  <c:v>2.2941604202172532</c:v>
                </c:pt>
                <c:pt idx="5">
                  <c:v>1.525719913943548</c:v>
                </c:pt>
                <c:pt idx="6">
                  <c:v>1.1075000000000002</c:v>
                </c:pt>
                <c:pt idx="7">
                  <c:v>0.85067019390140419</c:v>
                </c:pt>
                <c:pt idx="8">
                  <c:v>0.75724522994403354</c:v>
                </c:pt>
                <c:pt idx="9">
                  <c:v>0.67975123561992679</c:v>
                </c:pt>
                <c:pt idx="10">
                  <c:v>0.61462845498819452</c:v>
                </c:pt>
                <c:pt idx="11">
                  <c:v>0.5592783035336959</c:v>
                </c:pt>
                <c:pt idx="12">
                  <c:v>0.51176416403798963</c:v>
                </c:pt>
                <c:pt idx="13">
                  <c:v>0.47061634795126633</c:v>
                </c:pt>
                <c:pt idx="14">
                  <c:v>0.43470151016851161</c:v>
                </c:pt>
                <c:pt idx="15">
                  <c:v>0.40313313204650036</c:v>
                </c:pt>
                <c:pt idx="16">
                  <c:v>0.37520885893921546</c:v>
                </c:pt>
                <c:pt idx="17">
                  <c:v>0.35036580745919577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7172912"/>
        <c:axId val="205582448"/>
      </c:scatterChart>
      <c:valAx>
        <c:axId val="207172912"/>
        <c:scaling>
          <c:logBase val="10"/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Reverse Voltage (V)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582448"/>
        <c:crossesAt val="1.0000000000000004E-6"/>
        <c:crossBetween val="midCat"/>
      </c:valAx>
      <c:valAx>
        <c:axId val="205582448"/>
        <c:scaling>
          <c:logBase val="10"/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Capacitance (pF)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172912"/>
        <c:crossesAt val="1.0000000000000005E-8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307F97-8337-459C-8052-DEFA8E9BFD8F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0"/>
      <dgm:spPr/>
    </dgm:pt>
    <dgm:pt modelId="{E02E9C0D-9D04-41C2-B8E2-18B353D47237}" type="pres">
      <dgm:prSet presAssocID="{5A307F97-8337-459C-8052-DEFA8E9BFD8F}" presName="compositeShape" presStyleCnt="0">
        <dgm:presLayoutVars>
          <dgm:chMax val="7"/>
          <dgm:dir/>
          <dgm:resizeHandles val="exact"/>
        </dgm:presLayoutVars>
      </dgm:prSet>
      <dgm:spPr/>
    </dgm:pt>
  </dgm:ptLst>
  <dgm:cxnLst>
    <dgm:cxn modelId="{DDB3B989-73E1-44B6-908F-5BF0E0E80F9B}" type="presOf" srcId="{5A307F97-8337-459C-8052-DEFA8E9BFD8F}" destId="{E02E9C0D-9D04-41C2-B8E2-18B353D47237}" srcOrd="0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8258" cy="464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576" y="1"/>
            <a:ext cx="3038258" cy="464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623381-AFEF-490F-AA45-31EC49CF1500}" type="datetimeFigureOut">
              <a:rPr lang="en-US" smtClean="0"/>
              <a:pPr/>
              <a:t>2/10/2017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30268"/>
            <a:ext cx="3038258" cy="4644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576" y="8830268"/>
            <a:ext cx="3038258" cy="4644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5BF31A-114D-494C-A5D5-F6526D1752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8669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8258" cy="464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576" y="1"/>
            <a:ext cx="3038258" cy="464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CA216A-1E3F-4AD2-B74F-855E5673142F}" type="datetimeFigureOut">
              <a:rPr lang="en-US" smtClean="0"/>
              <a:pPr/>
              <a:t>2/10/2017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413" y="4415133"/>
            <a:ext cx="5609574" cy="4183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30268"/>
            <a:ext cx="3038258" cy="4644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576" y="8830268"/>
            <a:ext cx="3038258" cy="4644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A09BFF-9304-4EE8-967B-56F816FBB8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738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4894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1996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7375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2071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893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997609-418E-4D0C-9783-1B23ADC71C1C}" type="slidenum">
              <a:rPr lang="en-US"/>
              <a:pPr/>
              <a:t>7</a:t>
            </a:fld>
            <a:endParaRPr lang="en-US" dirty="0"/>
          </a:p>
        </p:txBody>
      </p:sp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85194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997609-418E-4D0C-9783-1B23ADC71C1C}" type="slidenum">
              <a:rPr lang="en-US"/>
              <a:pPr/>
              <a:t>8</a:t>
            </a:fld>
            <a:endParaRPr lang="en-US" dirty="0"/>
          </a:p>
        </p:txBody>
      </p:sp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8765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2472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1623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F4F6294-66A6-4CB6-9234-BB5AAD59AFDD}" type="slidenum">
              <a:rPr lang="en-US"/>
              <a:pPr/>
              <a:t>12</a:t>
            </a:fld>
            <a:endParaRPr lang="en-US" dirty="0"/>
          </a:p>
        </p:txBody>
      </p:sp>
      <p:sp>
        <p:nvSpPr>
          <p:cNvPr id="11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6979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5969F48-CC96-4A80-A99F-54442D22BF14}" type="slidenum">
              <a:rPr lang="en-US"/>
              <a:pPr/>
              <a:t>13</a:t>
            </a:fld>
            <a:endParaRPr lang="en-US" dirty="0"/>
          </a:p>
        </p:txBody>
      </p:sp>
      <p:sp>
        <p:nvSpPr>
          <p:cNvPr id="68610" name="Rectangle 3"/>
          <p:cNvSpPr txBox="1">
            <a:spLocks noGrp="1" noChangeArrowheads="1"/>
          </p:cNvSpPr>
          <p:nvPr/>
        </p:nvSpPr>
        <p:spPr bwMode="auto">
          <a:xfrm>
            <a:off x="3970735" y="1"/>
            <a:ext cx="3039666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263" tIns="46132" rIns="92263" bIns="46132"/>
          <a:lstStyle/>
          <a:p>
            <a:pPr algn="r" defTabSz="924236"/>
            <a:fld id="{555FE0D1-A828-4403-B117-A7E1A3148A08}" type="datetime4">
              <a:rPr lang="en-US" sz="1100">
                <a:solidFill>
                  <a:srgbClr val="FFFFFF"/>
                </a:solidFill>
              </a:rPr>
              <a:pPr algn="r" defTabSz="924236"/>
              <a:t>February 10, 2017</a:t>
            </a:fld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5863" y="698500"/>
            <a:ext cx="4643437" cy="3484563"/>
          </a:xfrm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8676" y="4416099"/>
            <a:ext cx="5136092" cy="4182457"/>
          </a:xfrm>
        </p:spPr>
        <p:txBody>
          <a:bodyPr lIns="92263" tIns="46132" rIns="92263" bIns="46132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7710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2179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9867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7835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0293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05471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5558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F46381A7-EA5E-4A6E-AE28-DD45E9CBCD93}" type="datetime1">
              <a:rPr lang="en-US" altLang="en-US" smtClean="0"/>
              <a:pPr>
                <a:defRPr/>
              </a:pPr>
              <a:t>2/10/2017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 smtClean="0"/>
              <a:t>Proprietary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964F15-7C53-455E-8D1C-C75B528CFAF6}" type="slidenum">
              <a:rPr lang="en-US" altLang="en-US" smtClean="0"/>
              <a:pPr>
                <a:defRPr/>
              </a:pPr>
              <a:t>20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633315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48046C16-456D-409D-ABBD-B0BC6545C6C9}" type="datetime1">
              <a:rPr lang="en-US" altLang="en-US" smtClean="0"/>
              <a:pPr>
                <a:defRPr/>
              </a:pPr>
              <a:t>2/10/2017</a:t>
            </a:fld>
            <a:endParaRPr lang="en-US" altLang="en-US" dirty="0" smtClean="0"/>
          </a:p>
        </p:txBody>
      </p:sp>
      <p:sp>
        <p:nvSpPr>
          <p:cNvPr id="56323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85DB60-29CB-4AE4-9982-81E4F3AFE5F6}" type="slidenum">
              <a:rPr lang="en-US" altLang="en-US" smtClean="0"/>
              <a:pPr>
                <a:defRPr/>
              </a:pPr>
              <a:t>21</a:t>
            </a:fld>
            <a:endParaRPr lang="en-US" altLang="en-US" dirty="0" smtClean="0"/>
          </a:p>
        </p:txBody>
      </p:sp>
      <p:sp>
        <p:nvSpPr>
          <p:cNvPr id="501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8200" cy="3486150"/>
          </a:xfrm>
          <a:ln/>
        </p:spPr>
      </p:sp>
      <p:sp>
        <p:nvSpPr>
          <p:cNvPr id="5018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2591" y="4416099"/>
            <a:ext cx="5145220" cy="4182457"/>
          </a:xfrm>
          <a:noFill/>
          <a:ln/>
        </p:spPr>
        <p:txBody>
          <a:bodyPr lIns="93134" tIns="46567" rIns="93134" bIns="46567"/>
          <a:lstStyle/>
          <a:p>
            <a:endParaRPr lang="en-US" dirty="0" smtClean="0">
              <a:latin typeface="Helvetica" pitchFamily="34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1125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Delete specs table?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1991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Delete specs table?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1227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8027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EDE6D96-5FE9-414A-9BA0-34288C82892E}" type="slidenum">
              <a:rPr lang="en-US"/>
              <a:pPr/>
              <a:t>25</a:t>
            </a:fld>
            <a:endParaRPr lang="en-US" dirty="0"/>
          </a:p>
        </p:txBody>
      </p:sp>
      <p:sp>
        <p:nvSpPr>
          <p:cNvPr id="189442" name="Rectangle 7"/>
          <p:cNvSpPr txBox="1">
            <a:spLocks noGrp="1" noChangeArrowheads="1"/>
          </p:cNvSpPr>
          <p:nvPr/>
        </p:nvSpPr>
        <p:spPr bwMode="auto">
          <a:xfrm>
            <a:off x="3970734" y="8830659"/>
            <a:ext cx="3038145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93" tIns="46047" rIns="92093" bIns="46047" anchor="b"/>
          <a:lstStyle/>
          <a:p>
            <a:pPr algn="r" defTabSz="921175"/>
            <a:fld id="{C866AB2D-8B55-4514-ABC4-C2F09F655434}" type="slidenum">
              <a:rPr lang="en-US" sz="1200"/>
              <a:pPr algn="r" defTabSz="921175"/>
              <a:t>25</a:t>
            </a:fld>
            <a:endParaRPr lang="en-US" sz="1200" dirty="0"/>
          </a:p>
        </p:txBody>
      </p:sp>
      <p:sp>
        <p:nvSpPr>
          <p:cNvPr id="189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ln/>
        </p:spPr>
      </p:sp>
      <p:sp>
        <p:nvSpPr>
          <p:cNvPr id="189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112" y="4416098"/>
            <a:ext cx="5142177" cy="4183995"/>
          </a:xfrm>
        </p:spPr>
        <p:txBody>
          <a:bodyPr lIns="92093" tIns="46047" rIns="92093" bIns="46047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4706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2282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5757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47250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0620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/>
          </a:p>
        </p:txBody>
      </p:sp>
      <p:sp>
        <p:nvSpPr>
          <p:cNvPr id="57348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354EED8A-2D52-48FD-BE72-01578EF62C00}" type="datetime1">
              <a:rPr lang="en-US" altLang="en-US" sz="1200" smtClean="0">
                <a:latin typeface="Helvetica" panose="020B0604020202020204" pitchFamily="34" charset="0"/>
              </a:rPr>
              <a:pPr/>
              <a:t>2/10/2017</a:t>
            </a:fld>
            <a:endParaRPr lang="en-US" altLang="en-US" sz="1200" dirty="0" smtClean="0">
              <a:latin typeface="Helvetica" panose="020B0604020202020204" pitchFamily="34" charset="0"/>
            </a:endParaRPr>
          </a:p>
        </p:txBody>
      </p:sp>
      <p:sp>
        <p:nvSpPr>
          <p:cNvPr id="57349" name="Slide Number Placeholder 4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55BAC90B-AF62-4DF2-AC93-432FEA4E0C2C}" type="slidenum">
              <a:rPr lang="en-US" altLang="en-US" sz="1200">
                <a:latin typeface="Helvetica" panose="020B0604020202020204" pitchFamily="34" charset="0"/>
              </a:rPr>
              <a:pPr/>
              <a:t>30</a:t>
            </a:fld>
            <a:endParaRPr lang="en-US" altLang="en-US" sz="1200" dirty="0">
              <a:latin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663735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98242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05368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42207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59530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59001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16622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4068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60583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/>
          </a:p>
        </p:txBody>
      </p:sp>
      <p:sp>
        <p:nvSpPr>
          <p:cNvPr id="59396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484788C4-B478-44EF-96FA-208E653E7948}" type="datetime1">
              <a:rPr lang="en-US" altLang="en-US" sz="1200" smtClean="0">
                <a:latin typeface="Helvetica" panose="020B0604020202020204" pitchFamily="34" charset="0"/>
              </a:rPr>
              <a:pPr/>
              <a:t>2/10/2017</a:t>
            </a:fld>
            <a:endParaRPr lang="en-US" altLang="en-US" sz="1200" dirty="0" smtClean="0">
              <a:latin typeface="Helvetica" panose="020B0604020202020204" pitchFamily="34" charset="0"/>
            </a:endParaRPr>
          </a:p>
        </p:txBody>
      </p:sp>
      <p:sp>
        <p:nvSpPr>
          <p:cNvPr id="59397" name="Slide Number Placeholder 4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48BF7E7D-050F-474E-A1B7-1E1244CACD59}" type="slidenum">
              <a:rPr lang="en-US" altLang="en-US" sz="1200">
                <a:latin typeface="Helvetica" panose="020B0604020202020204" pitchFamily="34" charset="0"/>
              </a:rPr>
              <a:pPr/>
              <a:t>42</a:t>
            </a:fld>
            <a:endParaRPr lang="en-US" altLang="en-US" sz="1200" dirty="0">
              <a:latin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913920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/>
          </a:p>
        </p:txBody>
      </p:sp>
      <p:sp>
        <p:nvSpPr>
          <p:cNvPr id="59396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484788C4-B478-44EF-96FA-208E653E7948}" type="datetime1">
              <a:rPr lang="en-US" altLang="en-US" sz="1200" smtClean="0">
                <a:latin typeface="Helvetica" panose="020B0604020202020204" pitchFamily="34" charset="0"/>
              </a:rPr>
              <a:pPr/>
              <a:t>2/10/2017</a:t>
            </a:fld>
            <a:endParaRPr lang="en-US" altLang="en-US" sz="1200" dirty="0" smtClean="0">
              <a:latin typeface="Helvetica" panose="020B0604020202020204" pitchFamily="34" charset="0"/>
            </a:endParaRPr>
          </a:p>
        </p:txBody>
      </p:sp>
      <p:sp>
        <p:nvSpPr>
          <p:cNvPr id="59397" name="Slide Number Placeholder 4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48BF7E7D-050F-474E-A1B7-1E1244CACD59}" type="slidenum">
              <a:rPr lang="en-US" altLang="en-US" sz="1200">
                <a:latin typeface="Helvetica" panose="020B0604020202020204" pitchFamily="34" charset="0"/>
              </a:rPr>
              <a:pPr/>
              <a:t>43</a:t>
            </a:fld>
            <a:endParaRPr lang="en-US" altLang="en-US" sz="1200" dirty="0">
              <a:latin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190418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/>
          </a:p>
        </p:txBody>
      </p:sp>
      <p:sp>
        <p:nvSpPr>
          <p:cNvPr id="59396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484788C4-B478-44EF-96FA-208E653E7948}" type="datetime1">
              <a:rPr lang="en-US" altLang="en-US" sz="1200" smtClean="0">
                <a:latin typeface="Helvetica" panose="020B0604020202020204" pitchFamily="34" charset="0"/>
              </a:rPr>
              <a:pPr/>
              <a:t>2/10/2017</a:t>
            </a:fld>
            <a:endParaRPr lang="en-US" altLang="en-US" sz="1200" dirty="0" smtClean="0">
              <a:latin typeface="Helvetica" panose="020B0604020202020204" pitchFamily="34" charset="0"/>
            </a:endParaRPr>
          </a:p>
        </p:txBody>
      </p:sp>
      <p:sp>
        <p:nvSpPr>
          <p:cNvPr id="59397" name="Slide Number Placeholder 4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48BF7E7D-050F-474E-A1B7-1E1244CACD59}" type="slidenum">
              <a:rPr lang="en-US" altLang="en-US" sz="1200">
                <a:latin typeface="Helvetica" panose="020B0604020202020204" pitchFamily="34" charset="0"/>
              </a:rPr>
              <a:pPr/>
              <a:t>44</a:t>
            </a:fld>
            <a:endParaRPr lang="en-US" altLang="en-US" sz="1200" dirty="0">
              <a:latin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508545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99433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66710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87F69C-BE21-4944-B9BC-055499F6CE41}" type="slidenum">
              <a:rPr lang="en-US"/>
              <a:pPr/>
              <a:t>47</a:t>
            </a:fld>
            <a:endParaRPr lang="en-US" dirty="0"/>
          </a:p>
        </p:txBody>
      </p:sp>
      <p:sp>
        <p:nvSpPr>
          <p:cNvPr id="64514" name="Rectangle 3"/>
          <p:cNvSpPr txBox="1">
            <a:spLocks noGrp="1" noChangeArrowheads="1"/>
          </p:cNvSpPr>
          <p:nvPr/>
        </p:nvSpPr>
        <p:spPr bwMode="auto">
          <a:xfrm>
            <a:off x="3970735" y="1"/>
            <a:ext cx="3039666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263" tIns="46132" rIns="92263" bIns="46132"/>
          <a:lstStyle/>
          <a:p>
            <a:pPr algn="r" defTabSz="924236"/>
            <a:fld id="{08416565-C470-4530-91D7-91DA49B1BCB5}" type="datetime4">
              <a:rPr lang="en-US" sz="1100">
                <a:solidFill>
                  <a:srgbClr val="FFFFFF"/>
                </a:solidFill>
              </a:rPr>
              <a:pPr algn="r" defTabSz="924236"/>
              <a:t>February 10, 2017</a:t>
            </a:fld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698500"/>
            <a:ext cx="4643438" cy="3484563"/>
          </a:xfrm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345" y="4417634"/>
            <a:ext cx="5607711" cy="4180921"/>
          </a:xfrm>
        </p:spPr>
        <p:txBody>
          <a:bodyPr lIns="92263" tIns="46132" rIns="92263" bIns="46132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21722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87F69C-BE21-4944-B9BC-055499F6CE41}" type="slidenum">
              <a:rPr lang="en-US"/>
              <a:pPr/>
              <a:t>48</a:t>
            </a:fld>
            <a:endParaRPr lang="en-US" dirty="0"/>
          </a:p>
        </p:txBody>
      </p:sp>
      <p:sp>
        <p:nvSpPr>
          <p:cNvPr id="64514" name="Rectangle 3"/>
          <p:cNvSpPr txBox="1">
            <a:spLocks noGrp="1" noChangeArrowheads="1"/>
          </p:cNvSpPr>
          <p:nvPr/>
        </p:nvSpPr>
        <p:spPr bwMode="auto">
          <a:xfrm>
            <a:off x="3970735" y="1"/>
            <a:ext cx="3039666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263" tIns="46132" rIns="92263" bIns="46132"/>
          <a:lstStyle/>
          <a:p>
            <a:pPr algn="r" defTabSz="924236"/>
            <a:fld id="{08416565-C470-4530-91D7-91DA49B1BCB5}" type="datetime4">
              <a:rPr lang="en-US" sz="1100">
                <a:solidFill>
                  <a:srgbClr val="FFFFFF"/>
                </a:solidFill>
              </a:rPr>
              <a:pPr algn="r" defTabSz="924236"/>
              <a:t>February 10, 2017</a:t>
            </a:fld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698500"/>
            <a:ext cx="4643438" cy="3484563"/>
          </a:xfrm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345" y="4417634"/>
            <a:ext cx="5607711" cy="4180921"/>
          </a:xfrm>
        </p:spPr>
        <p:txBody>
          <a:bodyPr lIns="92263" tIns="46132" rIns="92263" bIns="46132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84833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85934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66425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84464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5969F48-CC96-4A80-A99F-54442D22BF14}" type="slidenum">
              <a:rPr lang="en-US"/>
              <a:pPr/>
              <a:t>52</a:t>
            </a:fld>
            <a:endParaRPr lang="en-US" dirty="0"/>
          </a:p>
        </p:txBody>
      </p:sp>
      <p:sp>
        <p:nvSpPr>
          <p:cNvPr id="68610" name="Rectangle 3"/>
          <p:cNvSpPr txBox="1">
            <a:spLocks noGrp="1" noChangeArrowheads="1"/>
          </p:cNvSpPr>
          <p:nvPr/>
        </p:nvSpPr>
        <p:spPr bwMode="auto">
          <a:xfrm>
            <a:off x="3970735" y="1"/>
            <a:ext cx="3039666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263" tIns="46132" rIns="92263" bIns="46132"/>
          <a:lstStyle/>
          <a:p>
            <a:pPr algn="r" defTabSz="924236"/>
            <a:fld id="{555FE0D1-A828-4403-B117-A7E1A3148A08}" type="datetime4">
              <a:rPr lang="en-US" sz="1100">
                <a:solidFill>
                  <a:srgbClr val="FFFFFF"/>
                </a:solidFill>
              </a:rPr>
              <a:pPr algn="r" defTabSz="924236"/>
              <a:t>February 10, 2017</a:t>
            </a:fld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5863" y="698500"/>
            <a:ext cx="4643437" cy="3484563"/>
          </a:xfrm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8676" y="4416099"/>
            <a:ext cx="5136092" cy="4182457"/>
          </a:xfrm>
        </p:spPr>
        <p:txBody>
          <a:bodyPr lIns="92263" tIns="46132" rIns="92263" bIns="46132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74024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49394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31905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27482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8746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24240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997609-418E-4D0C-9783-1B23ADC71C1C}" type="slidenum">
              <a:rPr lang="en-US"/>
              <a:pPr/>
              <a:t>58</a:t>
            </a:fld>
            <a:endParaRPr lang="en-US"/>
          </a:p>
        </p:txBody>
      </p:sp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41391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48037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Delete specs table?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99703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Delete specs table?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46616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Delete specs table?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52386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6430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Delete Specs Table?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101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74231" y="930872"/>
            <a:ext cx="2817272" cy="7399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2943225"/>
            <a:ext cx="6400800" cy="6400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MACOM Title Slide </a:t>
            </a:r>
            <a:br>
              <a:rPr lang="en-US" dirty="0" smtClean="0"/>
            </a:br>
            <a:r>
              <a:rPr lang="en-US" dirty="0" smtClean="0"/>
              <a:t>Arial Black 24pt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3749040"/>
            <a:ext cx="4572000" cy="731520"/>
          </a:xfrm>
        </p:spPr>
        <p:txBody>
          <a:bodyPr/>
          <a:lstStyle>
            <a:lvl1pPr marL="0" indent="0">
              <a:spcBef>
                <a:spcPts val="600"/>
              </a:spcBef>
              <a:buFontTx/>
              <a:buNone/>
              <a:defRPr sz="1800" baseline="0">
                <a:solidFill>
                  <a:schemeClr val="bg1"/>
                </a:solidFill>
              </a:defRPr>
            </a:lvl1pPr>
            <a:lvl2pPr marL="400050" indent="0">
              <a:buFontTx/>
              <a:buNone/>
              <a:defRPr/>
            </a:lvl2pPr>
            <a:lvl3pPr marL="800100" indent="0">
              <a:buFontTx/>
              <a:buNone/>
              <a:defRPr/>
            </a:lvl3pPr>
            <a:lvl4pPr marL="1143000" indent="0">
              <a:buFontTx/>
              <a:buNone/>
              <a:defRPr/>
            </a:lvl4pPr>
            <a:lvl5pPr marL="1543050" indent="0">
              <a:buFontTx/>
              <a:buNone/>
              <a:defRPr/>
            </a:lvl5pPr>
          </a:lstStyle>
          <a:p>
            <a:r>
              <a:rPr lang="en-US" dirty="0" smtClean="0"/>
              <a:t>Click to edit Subhead Arial 18pt</a:t>
            </a:r>
            <a:br>
              <a:rPr lang="en-US" dirty="0" smtClean="0"/>
            </a:br>
            <a:r>
              <a:rPr lang="en-US" dirty="0" smtClean="0"/>
              <a:t>Presenter Name and Date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343400"/>
            <a:ext cx="9144000" cy="2514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342426"/>
            <a:ext cx="8766807" cy="277977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3715" y="346569"/>
            <a:ext cx="1484623" cy="247437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88554" y="1920240"/>
            <a:ext cx="7315200" cy="640080"/>
          </a:xfrm>
        </p:spPr>
        <p:txBody>
          <a:bodyPr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1188554" y="2651760"/>
            <a:ext cx="7315200" cy="914400"/>
          </a:xfrm>
        </p:spPr>
        <p:txBody>
          <a:bodyPr/>
          <a:lstStyle>
            <a:lvl1pPr marL="0" indent="0">
              <a:buFontTx/>
              <a:buNone/>
              <a:defRPr sz="1800">
                <a:solidFill>
                  <a:schemeClr val="bg1"/>
                </a:solidFill>
              </a:defRPr>
            </a:lvl1pPr>
            <a:lvl2pPr marL="400050" indent="0">
              <a:buFontTx/>
              <a:buNone/>
              <a:defRPr/>
            </a:lvl2pPr>
            <a:lvl3pPr marL="800100" indent="0">
              <a:buFontTx/>
              <a:buNone/>
              <a:defRPr/>
            </a:lvl3pPr>
            <a:lvl4pPr marL="1143000" indent="0">
              <a:buFontTx/>
              <a:buNone/>
              <a:defRPr/>
            </a:lvl4pPr>
            <a:lvl5pPr marL="154305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gray"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gray"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12750" y="310896"/>
            <a:ext cx="6400800" cy="365760"/>
          </a:xfrm>
        </p:spPr>
        <p:txBody>
          <a:bodyPr/>
          <a:lstStyle>
            <a:lvl1pPr>
              <a:defRPr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idx="11"/>
          </p:nvPr>
        </p:nvSpPr>
        <p:spPr bwMode="gray">
          <a:xfrm>
            <a:off x="412749" y="676275"/>
            <a:ext cx="8316913" cy="365760"/>
          </a:xfrm>
        </p:spPr>
        <p:txBody>
          <a:bodyPr anchor="t" anchorCtr="0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1800" b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1611305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412750" y="1504951"/>
            <a:ext cx="4018280" cy="4668838"/>
          </a:xfrm>
        </p:spPr>
        <p:txBody>
          <a:bodyPr/>
          <a:lstStyle>
            <a:lvl1pPr>
              <a:spcBef>
                <a:spcPts val="1200"/>
              </a:spcBef>
              <a:defRPr sz="2000"/>
            </a:lvl1pPr>
            <a:lvl2pPr>
              <a:spcBef>
                <a:spcPts val="800"/>
              </a:spcBef>
              <a:defRPr sz="1800"/>
            </a:lvl2pPr>
            <a:lvl3pPr>
              <a:spcBef>
                <a:spcPts val="800"/>
              </a:spcBef>
              <a:defRPr sz="1600"/>
            </a:lvl3pPr>
            <a:lvl4pPr marL="1143000" indent="-228600">
              <a:spcBef>
                <a:spcPts val="800"/>
              </a:spcBef>
              <a:defRPr sz="1600"/>
            </a:lvl4pPr>
            <a:lvl5pPr marL="1485900" indent="-228600">
              <a:spcBef>
                <a:spcPts val="800"/>
              </a:spcBef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gray">
          <a:xfrm>
            <a:off x="4711383" y="1504951"/>
            <a:ext cx="4018280" cy="4668838"/>
          </a:xfrm>
        </p:spPr>
        <p:txBody>
          <a:bodyPr/>
          <a:lstStyle>
            <a:lvl1pPr>
              <a:spcBef>
                <a:spcPts val="1200"/>
              </a:spcBef>
              <a:defRPr sz="2000"/>
            </a:lvl1pPr>
            <a:lvl2pPr>
              <a:spcBef>
                <a:spcPts val="800"/>
              </a:spcBef>
              <a:defRPr sz="1800"/>
            </a:lvl2pPr>
            <a:lvl3pPr>
              <a:spcBef>
                <a:spcPts val="800"/>
              </a:spcBef>
              <a:defRPr sz="1600"/>
            </a:lvl3pPr>
            <a:lvl4pPr marL="1143000" indent="-228600">
              <a:spcBef>
                <a:spcPts val="800"/>
              </a:spcBef>
              <a:defRPr sz="1600"/>
            </a:lvl4pPr>
            <a:lvl5pPr marL="1485900" indent="-228600">
              <a:spcBef>
                <a:spcPts val="800"/>
              </a:spcBef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412750" y="1504951"/>
            <a:ext cx="4018280" cy="4668838"/>
          </a:xfrm>
        </p:spPr>
        <p:txBody>
          <a:bodyPr/>
          <a:lstStyle>
            <a:lvl1pPr>
              <a:spcBef>
                <a:spcPts val="1200"/>
              </a:spcBef>
              <a:defRPr sz="2000"/>
            </a:lvl1pPr>
            <a:lvl2pPr>
              <a:spcBef>
                <a:spcPts val="800"/>
              </a:spcBef>
              <a:defRPr sz="1800"/>
            </a:lvl2pPr>
            <a:lvl3pPr>
              <a:spcBef>
                <a:spcPts val="800"/>
              </a:spcBef>
              <a:defRPr sz="1600"/>
            </a:lvl3pPr>
            <a:lvl4pPr marL="1143000" indent="-228600">
              <a:spcBef>
                <a:spcPts val="800"/>
              </a:spcBef>
              <a:defRPr sz="1600"/>
            </a:lvl4pPr>
            <a:lvl5pPr marL="1485900" indent="-228600">
              <a:spcBef>
                <a:spcPts val="800"/>
              </a:spcBef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gray">
          <a:xfrm>
            <a:off x="4711383" y="1504951"/>
            <a:ext cx="4018280" cy="4668838"/>
          </a:xfrm>
        </p:spPr>
        <p:txBody>
          <a:bodyPr/>
          <a:lstStyle>
            <a:lvl1pPr>
              <a:spcBef>
                <a:spcPts val="1200"/>
              </a:spcBef>
              <a:defRPr sz="2000"/>
            </a:lvl1pPr>
            <a:lvl2pPr>
              <a:spcBef>
                <a:spcPts val="800"/>
              </a:spcBef>
              <a:defRPr sz="1800"/>
            </a:lvl2pPr>
            <a:lvl3pPr>
              <a:spcBef>
                <a:spcPts val="800"/>
              </a:spcBef>
              <a:defRPr sz="1600"/>
            </a:lvl3pPr>
            <a:lvl4pPr marL="1143000" indent="-228600">
              <a:spcBef>
                <a:spcPts val="800"/>
              </a:spcBef>
              <a:defRPr sz="1600"/>
            </a:lvl4pPr>
            <a:lvl5pPr marL="1485900" indent="-228600">
              <a:spcBef>
                <a:spcPts val="800"/>
              </a:spcBef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2750" y="310896"/>
            <a:ext cx="6400800" cy="3657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idx="11"/>
          </p:nvPr>
        </p:nvSpPr>
        <p:spPr bwMode="gray">
          <a:xfrm>
            <a:off x="412749" y="676275"/>
            <a:ext cx="6400800" cy="365760"/>
          </a:xfrm>
        </p:spPr>
        <p:txBody>
          <a:bodyPr anchor="t" anchorCtr="0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1800" b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7672987"/>
      </p:ext>
    </p:extLst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12750" y="1504950"/>
            <a:ext cx="4018280" cy="64008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285750" indent="-285750">
              <a:spcBef>
                <a:spcPts val="0"/>
              </a:spcBef>
              <a:buNone/>
              <a:defRPr lang="en-US" sz="1800" b="1" dirty="0" smtClean="0">
                <a:latin typeface="+mj-lt"/>
              </a:defRPr>
            </a:lvl1pPr>
          </a:lstStyle>
          <a:p>
            <a:pPr marL="0" lvl="0" indent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half" idx="2"/>
          </p:nvPr>
        </p:nvSpPr>
        <p:spPr bwMode="gray">
          <a:xfrm>
            <a:off x="412750" y="2126744"/>
            <a:ext cx="4018280" cy="4047044"/>
          </a:xfrm>
        </p:spPr>
        <p:txBody>
          <a:bodyPr/>
          <a:lstStyle>
            <a:lvl1pPr>
              <a:spcBef>
                <a:spcPts val="1200"/>
              </a:spcBef>
              <a:defRPr sz="2000"/>
            </a:lvl1pPr>
            <a:lvl2pPr>
              <a:spcBef>
                <a:spcPts val="800"/>
              </a:spcBef>
              <a:defRPr sz="1800"/>
            </a:lvl2pPr>
            <a:lvl3pPr>
              <a:spcBef>
                <a:spcPts val="800"/>
              </a:spcBef>
              <a:defRPr sz="1600"/>
            </a:lvl3pPr>
            <a:lvl4pPr>
              <a:spcBef>
                <a:spcPts val="800"/>
              </a:spcBef>
              <a:defRPr sz="1600"/>
            </a:lvl4pPr>
            <a:lvl5pPr marL="1600200" indent="-228600">
              <a:spcBef>
                <a:spcPts val="800"/>
              </a:spcBef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4711383" y="1504950"/>
            <a:ext cx="4018280" cy="64008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285750" indent="-285750">
              <a:spcBef>
                <a:spcPts val="0"/>
              </a:spcBef>
              <a:buNone/>
              <a:defRPr lang="en-US" sz="1800" b="1" dirty="0" smtClean="0">
                <a:latin typeface="+mj-lt"/>
              </a:defRPr>
            </a:lvl1pPr>
          </a:lstStyle>
          <a:p>
            <a:pPr marL="0" lvl="0" indent="0"/>
            <a:r>
              <a:rPr lang="en-US" smtClean="0"/>
              <a:t>Click to edit Master text styles</a:t>
            </a:r>
          </a:p>
        </p:txBody>
      </p:sp>
      <p:sp>
        <p:nvSpPr>
          <p:cNvPr id="7" name="Content Placeholder 5"/>
          <p:cNvSpPr>
            <a:spLocks noGrp="1"/>
          </p:cNvSpPr>
          <p:nvPr>
            <p:ph sz="quarter" idx="4"/>
          </p:nvPr>
        </p:nvSpPr>
        <p:spPr bwMode="gray">
          <a:xfrm>
            <a:off x="4711383" y="2126744"/>
            <a:ext cx="4018280" cy="4047044"/>
          </a:xfrm>
        </p:spPr>
        <p:txBody>
          <a:bodyPr/>
          <a:lstStyle>
            <a:lvl1pPr>
              <a:spcBef>
                <a:spcPts val="1200"/>
              </a:spcBef>
              <a:defRPr sz="2000"/>
            </a:lvl1pPr>
            <a:lvl2pPr>
              <a:spcBef>
                <a:spcPts val="800"/>
              </a:spcBef>
              <a:defRPr sz="1800"/>
            </a:lvl2pPr>
            <a:lvl3pPr>
              <a:spcBef>
                <a:spcPts val="800"/>
              </a:spcBef>
              <a:defRPr sz="1600"/>
            </a:lvl3pPr>
            <a:lvl4pPr>
              <a:spcBef>
                <a:spcPts val="800"/>
              </a:spcBef>
              <a:defRPr sz="1600"/>
            </a:lvl4pPr>
            <a:lvl5pPr marL="1485900" indent="-228600">
              <a:spcBef>
                <a:spcPts val="800"/>
              </a:spcBef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1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2138" y="4988742"/>
            <a:ext cx="6330615" cy="993474"/>
          </a:xfrm>
        </p:spPr>
        <p:txBody>
          <a:bodyPr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3" name="Picture 2" descr="banner 8 Jan_small.jp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203575"/>
            <a:ext cx="9144000" cy="1792733"/>
          </a:xfrm>
          <a:prstGeom prst="rect">
            <a:avLst/>
          </a:prstGeom>
        </p:spPr>
      </p:pic>
      <p:pic>
        <p:nvPicPr>
          <p:cNvPr id="4" name="Picture 3" descr="MACOM wrdmrk 3025 TM Tag RFLT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40250" y="1600200"/>
            <a:ext cx="344658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380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42122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ullet List - Standard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7719392" cy="5334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270" y="1059904"/>
            <a:ext cx="7726122" cy="51054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defRPr b="0" i="0" baseline="0"/>
            </a:lvl1pPr>
            <a:lvl2pPr>
              <a:lnSpc>
                <a:spcPct val="100000"/>
              </a:lnSpc>
              <a:spcBef>
                <a:spcPts val="600"/>
              </a:spcBef>
              <a:defRPr sz="1800" b="0" i="0" baseline="0"/>
            </a:lvl2pPr>
            <a:lvl3pPr>
              <a:lnSpc>
                <a:spcPct val="100000"/>
              </a:lnSpc>
              <a:defRPr b="0" i="0" baseline="0"/>
            </a:lvl3pPr>
            <a:lvl4pPr>
              <a:lnSpc>
                <a:spcPct val="100000"/>
              </a:lnSpc>
              <a:spcBef>
                <a:spcPts val="600"/>
              </a:spcBef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152400" y="6613525"/>
            <a:ext cx="1089025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9D7F74-350C-461C-A83B-C5017C8FC408}" type="datetime1">
              <a:rPr lang="en-US" altLang="en-US" smtClean="0"/>
              <a:pPr>
                <a:defRPr/>
              </a:pPr>
              <a:t>2/10/2017</a:t>
            </a:fld>
            <a:endParaRPr lang="en-US" altLang="en-US" dirty="0">
              <a:solidFill>
                <a:srgbClr val="003366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41700" y="6613525"/>
            <a:ext cx="22860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 smtClean="0"/>
              <a:t>Aeroflex FD4.2-005 </a:t>
            </a:r>
            <a:r>
              <a:rPr lang="en-US" altLang="en-US" dirty="0" err="1" smtClean="0"/>
              <a:t>Rev.A</a:t>
            </a:r>
            <a:r>
              <a:rPr lang="en-US" altLang="en-US" dirty="0" smtClean="0"/>
              <a:t>, </a:t>
            </a:r>
            <a:r>
              <a:rPr lang="en-US" altLang="en-US" dirty="0" err="1" smtClean="0"/>
              <a:t>ECN</a:t>
            </a:r>
            <a:r>
              <a:rPr lang="en-US" altLang="en-US" dirty="0" smtClean="0"/>
              <a:t> 13489</a:t>
            </a:r>
            <a:endParaRPr lang="en-US" alt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600200" y="6613525"/>
            <a:ext cx="6096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86BA18-6A16-43B4-BC6F-0B09B9E9A90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48649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84200"/>
            <a:ext cx="8031163" cy="457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343025"/>
            <a:ext cx="7988300" cy="490061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8450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Content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9600" y="2106613"/>
            <a:ext cx="7951788" cy="41111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Subtitle – Arial 18pt</a:t>
            </a:r>
            <a:endParaRPr lang="en-US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63113" y="6356350"/>
            <a:ext cx="390525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US" dirty="0" smtClean="0"/>
              <a:t>#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Main Content Subhead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609600" y="2655518"/>
            <a:ext cx="7951788" cy="353233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6613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59223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096750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1800"/>
            </a:lvl2pPr>
            <a:lvl3pPr>
              <a:defRPr sz="1800"/>
            </a:lvl3pPr>
            <a:lvl5pPr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756025" y="6600825"/>
            <a:ext cx="1654175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1"/>
          </p:nvPr>
        </p:nvSpPr>
        <p:spPr>
          <a:xfrm>
            <a:off x="609600" y="6607175"/>
            <a:ext cx="1089025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74C3A4-9881-4D08-B72D-75063D51E101}" type="datetime1">
              <a:rPr lang="en-US"/>
              <a:pPr>
                <a:defRPr/>
              </a:pPr>
              <a:t>2/10/2017</a:t>
            </a:fld>
            <a:endParaRPr lang="en-US" alt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712075" y="6629400"/>
            <a:ext cx="838200" cy="2000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102CF83C-CD11-4319-8827-75C17BD8057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369768"/>
      </p:ext>
    </p:extLst>
  </p:cSld>
  <p:clrMapOvr>
    <a:masterClrMapping/>
  </p:clrMapOvr>
  <p:transition spd="med"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88856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3039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647689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587447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99785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343400"/>
            <a:ext cx="9144000" cy="25146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3715" y="346569"/>
            <a:ext cx="1484623" cy="247437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 bwMode="auto">
          <a:xfrm>
            <a:off x="0" y="1147763"/>
            <a:ext cx="8774810" cy="0"/>
          </a:xfrm>
          <a:prstGeom prst="line">
            <a:avLst/>
          </a:prstGeom>
          <a:solidFill>
            <a:schemeClr val="accent2"/>
          </a:solidFill>
          <a:ln w="28575" cap="sq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5398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12750" y="310896"/>
            <a:ext cx="6400800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dirty="0" smtClean="0"/>
          </a:p>
        </p:txBody>
      </p:sp>
      <p:sp>
        <p:nvSpPr>
          <p:cNvPr id="553987" name="Rectangle 3"/>
          <p:cNvSpPr>
            <a:spLocks noGrp="1" noChangeArrowheads="1"/>
          </p:cNvSpPr>
          <p:nvPr>
            <p:ph type="body" idx="1"/>
          </p:nvPr>
        </p:nvSpPr>
        <p:spPr bwMode="gray">
          <a:xfrm>
            <a:off x="412751" y="1504951"/>
            <a:ext cx="8316912" cy="4668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553996" name="Text Box 12"/>
          <p:cNvSpPr txBox="1">
            <a:spLocks noChangeArrowheads="1"/>
          </p:cNvSpPr>
          <p:nvPr userDrawn="1"/>
        </p:nvSpPr>
        <p:spPr bwMode="gray">
          <a:xfrm>
            <a:off x="412750" y="6557963"/>
            <a:ext cx="5600700" cy="3000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91440" tIns="45720" rIns="91440" bIns="45720"/>
          <a:lstStyle/>
          <a:p>
            <a:pPr algn="l">
              <a:spcBef>
                <a:spcPts val="900"/>
              </a:spcBef>
            </a:pPr>
            <a:r>
              <a:rPr lang="en-US" sz="1000" kern="1200" dirty="0" smtClean="0">
                <a:solidFill>
                  <a:schemeClr val="tx2"/>
                </a:solidFill>
                <a:latin typeface="Arial" charset="0"/>
                <a:ea typeface="+mn-ea"/>
                <a:cs typeface="+mn-cs"/>
              </a:rPr>
              <a:t>Company Confidential</a:t>
            </a:r>
          </a:p>
        </p:txBody>
      </p:sp>
      <p:sp>
        <p:nvSpPr>
          <p:cNvPr id="7" name="Rectangle 5"/>
          <p:cNvSpPr txBox="1">
            <a:spLocks noChangeArrowheads="1"/>
          </p:cNvSpPr>
          <p:nvPr/>
        </p:nvSpPr>
        <p:spPr bwMode="gray">
          <a:xfrm>
            <a:off x="7926388" y="6557963"/>
            <a:ext cx="803275" cy="30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320040" numCol="1" anchor="t" anchorCtr="0" compatLnSpc="1">
            <a:prstTxWarp prst="textNoShape">
              <a:avLst/>
            </a:prstTxWarp>
          </a:bodyPr>
          <a:lstStyle>
            <a:lvl1pPr algn="r" eaLnBrk="0" hangingPunct="0">
              <a:lnSpc>
                <a:spcPct val="100000"/>
              </a:lnSpc>
              <a:spcBef>
                <a:spcPct val="0"/>
              </a:spcBef>
              <a:defRPr sz="1000">
                <a:solidFill>
                  <a:schemeClr val="tx2"/>
                </a:solidFill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C78AFB4-C6FC-46C2-866E-1D035D18C51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1" r:id="rId2"/>
    <p:sldLayoutId id="2147483700" r:id="rId3"/>
    <p:sldLayoutId id="2147483713" r:id="rId4"/>
    <p:sldLayoutId id="2147483702" r:id="rId5"/>
    <p:sldLayoutId id="2147483715" r:id="rId6"/>
    <p:sldLayoutId id="2147483712" r:id="rId7"/>
    <p:sldLayoutId id="2147483704" r:id="rId8"/>
    <p:sldLayoutId id="214748370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</p:sldLayoutIdLst>
  <p:transition>
    <p:wipe dir="r"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0" i="0" u="none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9pPr>
    </p:titleStyle>
    <p:bodyStyle>
      <a:lvl1pPr marL="285750" indent="-285750" algn="l" rtl="0" eaLnBrk="1" fontAlgn="base" hangingPunct="1">
        <a:lnSpc>
          <a:spcPct val="95000"/>
        </a:lnSpc>
        <a:spcBef>
          <a:spcPts val="1200"/>
        </a:spcBef>
        <a:spcAft>
          <a:spcPct val="0"/>
        </a:spcAft>
        <a:buClr>
          <a:schemeClr val="accent2"/>
        </a:buClr>
        <a:buFont typeface="Arial Black" panose="020B0A04020102020204" pitchFamily="34" charset="0"/>
        <a:buChar char="&gt;"/>
        <a:defRPr sz="2000">
          <a:solidFill>
            <a:schemeClr val="tx2"/>
          </a:solidFill>
          <a:latin typeface="+mn-lt"/>
          <a:ea typeface="+mn-ea"/>
          <a:cs typeface="+mn-cs"/>
        </a:defRPr>
      </a:lvl1pPr>
      <a:lvl2pPr marL="571500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•"/>
        <a:defRPr sz="1800">
          <a:solidFill>
            <a:schemeClr val="tx2"/>
          </a:solidFill>
          <a:latin typeface="+mn-lt"/>
        </a:defRPr>
      </a:lvl2pPr>
      <a:lvl3pPr marL="857250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•"/>
        <a:defRPr sz="1600">
          <a:solidFill>
            <a:schemeClr val="tx2"/>
          </a:solidFill>
          <a:latin typeface="+mn-lt"/>
        </a:defRPr>
      </a:lvl3pPr>
      <a:lvl4pPr marL="1143000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•"/>
        <a:defRPr sz="1600">
          <a:solidFill>
            <a:schemeClr val="tx2"/>
          </a:solidFill>
          <a:latin typeface="+mn-lt"/>
        </a:defRPr>
      </a:lvl4pPr>
      <a:lvl5pPr marL="1485900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•"/>
        <a:defRPr sz="1600">
          <a:solidFill>
            <a:schemeClr val="tx2"/>
          </a:solidFill>
          <a:latin typeface="+mn-lt"/>
        </a:defRPr>
      </a:lvl5pPr>
      <a:lvl6pPr marL="2228850" indent="-228600" algn="l" rtl="0" eaLnBrk="1" fontAlgn="base" hangingPunct="1">
        <a:lnSpc>
          <a:spcPct val="95000"/>
        </a:lnSpc>
        <a:spcBef>
          <a:spcPct val="25000"/>
        </a:spcBef>
        <a:spcAft>
          <a:spcPct val="0"/>
        </a:spcAft>
        <a:buClr>
          <a:schemeClr val="accent1"/>
        </a:buClr>
        <a:buChar char="•"/>
        <a:defRPr sz="1600">
          <a:solidFill>
            <a:schemeClr val="tx1"/>
          </a:solidFill>
          <a:latin typeface="+mn-lt"/>
        </a:defRPr>
      </a:lvl6pPr>
      <a:lvl7pPr marL="2686050" indent="-228600" algn="l" rtl="0" eaLnBrk="1" fontAlgn="base" hangingPunct="1">
        <a:lnSpc>
          <a:spcPct val="95000"/>
        </a:lnSpc>
        <a:spcBef>
          <a:spcPct val="25000"/>
        </a:spcBef>
        <a:spcAft>
          <a:spcPct val="0"/>
        </a:spcAft>
        <a:buClr>
          <a:schemeClr val="accent1"/>
        </a:buClr>
        <a:buChar char="•"/>
        <a:defRPr sz="1600">
          <a:solidFill>
            <a:schemeClr val="tx1"/>
          </a:solidFill>
          <a:latin typeface="+mn-lt"/>
        </a:defRPr>
      </a:lvl7pPr>
      <a:lvl8pPr marL="3143250" indent="-228600" algn="l" rtl="0" eaLnBrk="1" fontAlgn="base" hangingPunct="1">
        <a:lnSpc>
          <a:spcPct val="95000"/>
        </a:lnSpc>
        <a:spcBef>
          <a:spcPct val="25000"/>
        </a:spcBef>
        <a:spcAft>
          <a:spcPct val="0"/>
        </a:spcAft>
        <a:buClr>
          <a:schemeClr val="accent1"/>
        </a:buClr>
        <a:buChar char="•"/>
        <a:defRPr sz="1600">
          <a:solidFill>
            <a:schemeClr val="tx1"/>
          </a:solidFill>
          <a:latin typeface="+mn-lt"/>
        </a:defRPr>
      </a:lvl8pPr>
      <a:lvl9pPr marL="3600450" indent="-228600" algn="l" rtl="0" eaLnBrk="1" fontAlgn="base" hangingPunct="1">
        <a:lnSpc>
          <a:spcPct val="95000"/>
        </a:lnSpc>
        <a:spcBef>
          <a:spcPct val="25000"/>
        </a:spcBef>
        <a:spcAft>
          <a:spcPct val="0"/>
        </a:spcAft>
        <a:buClr>
          <a:schemeClr val="accent1"/>
        </a:buClr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2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jpeg"/><Relationship Id="rId17" Type="http://schemas.openxmlformats.org/officeDocument/2006/relationships/image" Target="../media/image21.emf"/><Relationship Id="rId2" Type="http://schemas.openxmlformats.org/officeDocument/2006/relationships/notesSlide" Target="../notesSlides/notesSlide3.xml"/><Relationship Id="rId16" Type="http://schemas.openxmlformats.org/officeDocument/2006/relationships/slide" Target="slide3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jpeg"/><Relationship Id="rId11" Type="http://schemas.openxmlformats.org/officeDocument/2006/relationships/image" Target="../media/image17.jpeg"/><Relationship Id="rId5" Type="http://schemas.openxmlformats.org/officeDocument/2006/relationships/image" Target="../media/image11.jpeg"/><Relationship Id="rId15" Type="http://schemas.openxmlformats.org/officeDocument/2006/relationships/image" Target="../media/image20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slide" Target="slide3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emf"/><Relationship Id="rId4" Type="http://schemas.openxmlformats.org/officeDocument/2006/relationships/image" Target="../media/image2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27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5.emf"/><Relationship Id="rId4" Type="http://schemas.openxmlformats.org/officeDocument/2006/relationships/image" Target="../media/image23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3" Type="http://schemas.openxmlformats.org/officeDocument/2006/relationships/image" Target="../media/image29.png"/><Relationship Id="rId7" Type="http://schemas.openxmlformats.org/officeDocument/2006/relationships/image" Target="../media/image33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2.jpeg"/><Relationship Id="rId11" Type="http://schemas.openxmlformats.org/officeDocument/2006/relationships/image" Target="../media/image14.png"/><Relationship Id="rId5" Type="http://schemas.openxmlformats.org/officeDocument/2006/relationships/image" Target="../media/image31.emf"/><Relationship Id="rId10" Type="http://schemas.openxmlformats.org/officeDocument/2006/relationships/image" Target="../media/image13.png"/><Relationship Id="rId4" Type="http://schemas.openxmlformats.org/officeDocument/2006/relationships/image" Target="../media/image30.jpeg"/><Relationship Id="rId9" Type="http://schemas.openxmlformats.org/officeDocument/2006/relationships/image" Target="../media/image35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6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png"/><Relationship Id="rId5" Type="http://schemas.openxmlformats.org/officeDocument/2006/relationships/image" Target="../media/image37.jpeg"/><Relationship Id="rId10" Type="http://schemas.openxmlformats.org/officeDocument/2006/relationships/image" Target="../media/image39.jpeg"/><Relationship Id="rId4" Type="http://schemas.openxmlformats.org/officeDocument/2006/relationships/image" Target="../media/image10.png"/><Relationship Id="rId9" Type="http://schemas.openxmlformats.org/officeDocument/2006/relationships/image" Target="../media/image38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emf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3.emf"/><Relationship Id="rId5" Type="http://schemas.openxmlformats.org/officeDocument/2006/relationships/image" Target="../media/image42.emf"/><Relationship Id="rId4" Type="http://schemas.openxmlformats.org/officeDocument/2006/relationships/image" Target="../media/image41.png"/><Relationship Id="rId9" Type="http://schemas.openxmlformats.org/officeDocument/2006/relationships/image" Target="../media/image46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3.png"/><Relationship Id="rId5" Type="http://schemas.openxmlformats.org/officeDocument/2006/relationships/image" Target="../media/image52.wmf"/><Relationship Id="rId4" Type="http://schemas.openxmlformats.org/officeDocument/2006/relationships/oleObject" Target="../embeddings/oleObject2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55.wmf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54.wmf"/><Relationship Id="rId4" Type="http://schemas.openxmlformats.org/officeDocument/2006/relationships/oleObject" Target="../embeddings/oleObject3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7.emf"/><Relationship Id="rId5" Type="http://schemas.openxmlformats.org/officeDocument/2006/relationships/image" Target="../media/image46.emf"/><Relationship Id="rId4" Type="http://schemas.openxmlformats.org/officeDocument/2006/relationships/image" Target="../media/image42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60.png"/><Relationship Id="rId4" Type="http://schemas.openxmlformats.org/officeDocument/2006/relationships/image" Target="../media/image59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4.png"/><Relationship Id="rId5" Type="http://schemas.openxmlformats.org/officeDocument/2006/relationships/image" Target="../media/image63.jpeg"/><Relationship Id="rId4" Type="http://schemas.openxmlformats.org/officeDocument/2006/relationships/image" Target="../media/image6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8.emf"/><Relationship Id="rId5" Type="http://schemas.openxmlformats.org/officeDocument/2006/relationships/image" Target="../media/image67.emf"/><Relationship Id="rId4" Type="http://schemas.openxmlformats.org/officeDocument/2006/relationships/image" Target="../media/image66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7" Type="http://schemas.openxmlformats.org/officeDocument/2006/relationships/image" Target="../media/image8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1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9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6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0.png"/><Relationship Id="rId2" Type="http://schemas.openxmlformats.org/officeDocument/2006/relationships/image" Target="../media/image920.png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emf"/><Relationship Id="rId5" Type="http://schemas.openxmlformats.org/officeDocument/2006/relationships/image" Target="../media/image99.emf"/><Relationship Id="rId4" Type="http://schemas.openxmlformats.org/officeDocument/2006/relationships/image" Target="../media/image98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e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1.png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em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em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3.emf"/><Relationship Id="rId5" Type="http://schemas.openxmlformats.org/officeDocument/2006/relationships/image" Target="../media/image42.emf"/><Relationship Id="rId4" Type="http://schemas.openxmlformats.org/officeDocument/2006/relationships/image" Target="../media/image4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26.png"/><Relationship Id="rId4" Type="http://schemas.openxmlformats.org/officeDocument/2006/relationships/image" Target="../media/image12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2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emf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9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9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3.png"/><Relationship Id="rId5" Type="http://schemas.openxmlformats.org/officeDocument/2006/relationships/image" Target="../media/image128.png"/><Relationship Id="rId4" Type="http://schemas.openxmlformats.org/officeDocument/2006/relationships/image" Target="../media/image7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9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3.png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3" Type="http://schemas.openxmlformats.org/officeDocument/2006/relationships/image" Target="../media/image134.png"/><Relationship Id="rId7" Type="http://schemas.openxmlformats.org/officeDocument/2006/relationships/image" Target="../media/image138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7.png"/><Relationship Id="rId5" Type="http://schemas.openxmlformats.org/officeDocument/2006/relationships/image" Target="../media/image136.png"/><Relationship Id="rId4" Type="http://schemas.openxmlformats.org/officeDocument/2006/relationships/image" Target="../media/image135.jpe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3.png"/><Relationship Id="rId5" Type="http://schemas.openxmlformats.org/officeDocument/2006/relationships/image" Target="../media/image142.png"/><Relationship Id="rId4" Type="http://schemas.openxmlformats.org/officeDocument/2006/relationships/image" Target="../media/image1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848955"/>
            <a:ext cx="6400800" cy="64008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MACOM</a:t>
            </a:r>
            <a:br>
              <a:rPr lang="en-US" dirty="0" smtClean="0"/>
            </a:br>
            <a:r>
              <a:rPr lang="en-US" dirty="0" smtClean="0"/>
              <a:t>Diode Products</a:t>
            </a:r>
            <a:br>
              <a:rPr lang="en-US" dirty="0" smtClean="0"/>
            </a:br>
            <a:r>
              <a:rPr lang="en-US" dirty="0" smtClean="0"/>
              <a:t>rev 7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914400" y="3777321"/>
            <a:ext cx="4572000" cy="731520"/>
          </a:xfrm>
        </p:spPr>
        <p:txBody>
          <a:bodyPr/>
          <a:lstStyle/>
          <a:p>
            <a:r>
              <a:rPr lang="en-US" dirty="0" smtClean="0"/>
              <a:t>Joe Bukowski, Rick Cory</a:t>
            </a:r>
          </a:p>
          <a:p>
            <a:r>
              <a:rPr lang="en-US" dirty="0" smtClean="0"/>
              <a:t>1 August 2016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300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Week 1</a:t>
            </a:r>
            <a:r>
              <a:rPr lang="en-US" dirty="0"/>
              <a:t> </a:t>
            </a:r>
            <a:r>
              <a:rPr lang="en-US" dirty="0" smtClean="0"/>
              <a:t>- General </a:t>
            </a:r>
            <a:r>
              <a:rPr lang="en-US" dirty="0"/>
              <a:t>MACOM diode overview</a:t>
            </a:r>
          </a:p>
          <a:p>
            <a:r>
              <a:rPr lang="en-US" dirty="0"/>
              <a:t>Week </a:t>
            </a:r>
            <a:r>
              <a:rPr lang="en-US" dirty="0" smtClean="0"/>
              <a:t>2 - PIN </a:t>
            </a:r>
            <a:r>
              <a:rPr lang="en-US" dirty="0"/>
              <a:t>Diode and Limiter theory/application/products.</a:t>
            </a:r>
          </a:p>
          <a:p>
            <a:r>
              <a:rPr lang="en-US" dirty="0"/>
              <a:t>Week </a:t>
            </a:r>
            <a:r>
              <a:rPr lang="en-US" dirty="0" smtClean="0"/>
              <a:t>3 - Schottky </a:t>
            </a:r>
            <a:r>
              <a:rPr lang="en-US" dirty="0"/>
              <a:t>Diode and </a:t>
            </a:r>
            <a:r>
              <a:rPr lang="en-US" dirty="0" smtClean="0"/>
              <a:t>Limiter theory, applications &amp; products</a:t>
            </a:r>
            <a:r>
              <a:rPr lang="en-US" dirty="0"/>
              <a:t>.</a:t>
            </a:r>
          </a:p>
          <a:p>
            <a:r>
              <a:rPr lang="en-US" dirty="0"/>
              <a:t>Week </a:t>
            </a:r>
            <a:r>
              <a:rPr lang="en-US" dirty="0" smtClean="0"/>
              <a:t>4 - The </a:t>
            </a:r>
            <a:r>
              <a:rPr lang="en-US" dirty="0"/>
              <a:t>HMIC process, including process overview, products, and performance benefits.</a:t>
            </a:r>
          </a:p>
          <a:p>
            <a:r>
              <a:rPr lang="en-US" dirty="0"/>
              <a:t>Week </a:t>
            </a:r>
            <a:r>
              <a:rPr lang="en-US" dirty="0" smtClean="0"/>
              <a:t>5 - The </a:t>
            </a:r>
            <a:r>
              <a:rPr lang="en-US" dirty="0"/>
              <a:t>AlGaAs process, including process overview, products, and performance benefits. </a:t>
            </a:r>
          </a:p>
          <a:p>
            <a:r>
              <a:rPr lang="en-US" dirty="0"/>
              <a:t>Week </a:t>
            </a:r>
            <a:r>
              <a:rPr lang="en-US" dirty="0" smtClean="0"/>
              <a:t>6 - MACOM’s </a:t>
            </a:r>
            <a:r>
              <a:rPr lang="en-US" dirty="0"/>
              <a:t>diode/switch product roadmaps</a:t>
            </a:r>
          </a:p>
          <a:p>
            <a:r>
              <a:rPr lang="en-US" dirty="0"/>
              <a:t>Week </a:t>
            </a:r>
            <a:r>
              <a:rPr lang="en-US" dirty="0" smtClean="0"/>
              <a:t>7 - Comb </a:t>
            </a:r>
            <a:r>
              <a:rPr lang="en-US" dirty="0"/>
              <a:t>Generators including theory, products in development, and application.</a:t>
            </a:r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Diode Products Training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454683"/>
      </p:ext>
    </p:extLst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36795" y="422029"/>
            <a:ext cx="5247568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200" b="1" dirty="0" smtClean="0"/>
              <a:t>PRODUCT FAMILIES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530167" y="1488128"/>
            <a:ext cx="5793850" cy="5202791"/>
            <a:chOff x="2381814" y="1097009"/>
            <a:chExt cx="5793850" cy="5202791"/>
          </a:xfrm>
        </p:grpSpPr>
        <p:sp>
          <p:nvSpPr>
            <p:cNvPr id="30" name="Freeform 29"/>
            <p:cNvSpPr/>
            <p:nvPr/>
          </p:nvSpPr>
          <p:spPr>
            <a:xfrm>
              <a:off x="4423676" y="3066426"/>
              <a:ext cx="1674580" cy="1150965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18921E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b="1" kern="1200" dirty="0" smtClean="0"/>
                <a:t>Diode Products</a:t>
              </a:r>
              <a:endParaRPr lang="en-US" sz="2400" b="1" kern="1200" dirty="0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4540734" y="1097009"/>
              <a:ext cx="1371600" cy="1245435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18921E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b="1" kern="1200" dirty="0" smtClean="0"/>
                <a:t>PIN/NIP Diodes:</a:t>
              </a:r>
            </a:p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b="1" dirty="0" smtClean="0"/>
                <a:t>Switching</a:t>
              </a:r>
            </a:p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b="1" kern="1200" dirty="0" smtClean="0"/>
                <a:t>Attenuation</a:t>
              </a:r>
            </a:p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b="1" dirty="0" smtClean="0"/>
                <a:t>Limiting</a:t>
              </a:r>
              <a:endParaRPr lang="en-US" sz="1400" b="1" kern="1200" dirty="0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6804064" y="2027083"/>
              <a:ext cx="1371600" cy="1005840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18921E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tabLst>
                  <a:tab pos="1603375" algn="l"/>
                </a:tabLst>
              </a:pPr>
              <a:r>
                <a:rPr lang="en-US" sz="1200" b="1" kern="1200" dirty="0" smtClean="0"/>
                <a:t>Schottky Diodes:</a:t>
              </a:r>
            </a:p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tabLst>
                  <a:tab pos="1603375" algn="l"/>
                </a:tabLst>
              </a:pPr>
              <a:r>
                <a:rPr lang="en-US" sz="1200" b="1" dirty="0" smtClean="0"/>
                <a:t>Detection</a:t>
              </a:r>
            </a:p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tabLst>
                  <a:tab pos="1603375" algn="l"/>
                </a:tabLst>
              </a:pPr>
              <a:r>
                <a:rPr lang="en-US" sz="1200" b="1" kern="1200" dirty="0" smtClean="0"/>
                <a:t>Frequency Mixing</a:t>
              </a:r>
              <a:endParaRPr lang="en-US" sz="1200" b="1" kern="1200" dirty="0"/>
            </a:p>
          </p:txBody>
        </p:sp>
        <p:sp>
          <p:nvSpPr>
            <p:cNvPr id="36" name="Freeform 35"/>
            <p:cNvSpPr/>
            <p:nvPr/>
          </p:nvSpPr>
          <p:spPr>
            <a:xfrm>
              <a:off x="2381814" y="4156582"/>
              <a:ext cx="1371600" cy="1005840"/>
            </a:xfrm>
            <a:custGeom>
              <a:avLst/>
              <a:gdLst>
                <a:gd name="connsiteX0" fmla="*/ 0 w 1196197"/>
                <a:gd name="connsiteY0" fmla="*/ 85508 h 855077"/>
                <a:gd name="connsiteX1" fmla="*/ 25045 w 1196197"/>
                <a:gd name="connsiteY1" fmla="*/ 25045 h 855077"/>
                <a:gd name="connsiteX2" fmla="*/ 85508 w 1196197"/>
                <a:gd name="connsiteY2" fmla="*/ 0 h 855077"/>
                <a:gd name="connsiteX3" fmla="*/ 1110689 w 1196197"/>
                <a:gd name="connsiteY3" fmla="*/ 0 h 855077"/>
                <a:gd name="connsiteX4" fmla="*/ 1171152 w 1196197"/>
                <a:gd name="connsiteY4" fmla="*/ 25045 h 855077"/>
                <a:gd name="connsiteX5" fmla="*/ 1196197 w 1196197"/>
                <a:gd name="connsiteY5" fmla="*/ 85508 h 855077"/>
                <a:gd name="connsiteX6" fmla="*/ 1196197 w 1196197"/>
                <a:gd name="connsiteY6" fmla="*/ 769569 h 855077"/>
                <a:gd name="connsiteX7" fmla="*/ 1171152 w 1196197"/>
                <a:gd name="connsiteY7" fmla="*/ 830032 h 855077"/>
                <a:gd name="connsiteX8" fmla="*/ 1110689 w 1196197"/>
                <a:gd name="connsiteY8" fmla="*/ 855077 h 855077"/>
                <a:gd name="connsiteX9" fmla="*/ 85508 w 1196197"/>
                <a:gd name="connsiteY9" fmla="*/ 855077 h 855077"/>
                <a:gd name="connsiteX10" fmla="*/ 25045 w 1196197"/>
                <a:gd name="connsiteY10" fmla="*/ 830032 h 855077"/>
                <a:gd name="connsiteX11" fmla="*/ 0 w 1196197"/>
                <a:gd name="connsiteY11" fmla="*/ 769569 h 855077"/>
                <a:gd name="connsiteX12" fmla="*/ 0 w 1196197"/>
                <a:gd name="connsiteY12" fmla="*/ 85508 h 855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855077">
                  <a:moveTo>
                    <a:pt x="0" y="85508"/>
                  </a:moveTo>
                  <a:cubicBezTo>
                    <a:pt x="0" y="62830"/>
                    <a:pt x="9009" y="41081"/>
                    <a:pt x="25045" y="25045"/>
                  </a:cubicBezTo>
                  <a:cubicBezTo>
                    <a:pt x="41081" y="9009"/>
                    <a:pt x="62830" y="0"/>
                    <a:pt x="85508" y="0"/>
                  </a:cubicBezTo>
                  <a:lnTo>
                    <a:pt x="1110689" y="0"/>
                  </a:lnTo>
                  <a:cubicBezTo>
                    <a:pt x="1133367" y="0"/>
                    <a:pt x="1155116" y="9009"/>
                    <a:pt x="1171152" y="25045"/>
                  </a:cubicBezTo>
                  <a:cubicBezTo>
                    <a:pt x="1187188" y="41081"/>
                    <a:pt x="1196197" y="62830"/>
                    <a:pt x="1196197" y="85508"/>
                  </a:cubicBezTo>
                  <a:lnTo>
                    <a:pt x="1196197" y="769569"/>
                  </a:lnTo>
                  <a:cubicBezTo>
                    <a:pt x="1196197" y="792247"/>
                    <a:pt x="1187188" y="813996"/>
                    <a:pt x="1171152" y="830032"/>
                  </a:cubicBezTo>
                  <a:cubicBezTo>
                    <a:pt x="1155116" y="846068"/>
                    <a:pt x="1133367" y="855077"/>
                    <a:pt x="1110689" y="855077"/>
                  </a:cubicBezTo>
                  <a:lnTo>
                    <a:pt x="85508" y="855077"/>
                  </a:lnTo>
                  <a:cubicBezTo>
                    <a:pt x="62830" y="855077"/>
                    <a:pt x="41081" y="846068"/>
                    <a:pt x="25045" y="830032"/>
                  </a:cubicBezTo>
                  <a:cubicBezTo>
                    <a:pt x="9009" y="813996"/>
                    <a:pt x="0" y="792247"/>
                    <a:pt x="0" y="769569"/>
                  </a:cubicBezTo>
                  <a:lnTo>
                    <a:pt x="0" y="85508"/>
                  </a:lnTo>
                  <a:close/>
                </a:path>
              </a:pathLst>
            </a:custGeom>
            <a:solidFill>
              <a:srgbClr val="18921E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5204" tIns="35204" rIns="35204" bIns="35204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b="1" kern="1200" dirty="0" smtClean="0"/>
                <a:t>Attenuators</a:t>
              </a:r>
              <a:endParaRPr lang="en-US" sz="1600" b="1" kern="1200" dirty="0"/>
            </a:p>
          </p:txBody>
        </p:sp>
        <p:sp>
          <p:nvSpPr>
            <p:cNvPr id="38" name="Freeform 37"/>
            <p:cNvSpPr/>
            <p:nvPr/>
          </p:nvSpPr>
          <p:spPr>
            <a:xfrm>
              <a:off x="2381814" y="2009655"/>
              <a:ext cx="1371600" cy="1005840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18921E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b="1" kern="1200" dirty="0" smtClean="0"/>
                <a:t>Varactor Diodes:</a:t>
              </a:r>
            </a:p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b="1" dirty="0" smtClean="0"/>
                <a:t>Tuning</a:t>
              </a:r>
            </a:p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b="1" kern="1200" dirty="0" smtClean="0"/>
                <a:t>Phase Shifting</a:t>
              </a:r>
              <a:endParaRPr lang="en-US" sz="1200" b="1" kern="1200" dirty="0"/>
            </a:p>
          </p:txBody>
        </p:sp>
        <p:sp>
          <p:nvSpPr>
            <p:cNvPr id="40" name="Freeform 39"/>
            <p:cNvSpPr/>
            <p:nvPr/>
          </p:nvSpPr>
          <p:spPr>
            <a:xfrm>
              <a:off x="4534430" y="4952644"/>
              <a:ext cx="1371600" cy="1347156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18921E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b="1" kern="1200" dirty="0" smtClean="0"/>
                <a:t>Passive Devices</a:t>
              </a:r>
            </a:p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b="1" dirty="0" smtClean="0"/>
                <a:t>RF Chokes/Inductors</a:t>
              </a:r>
            </a:p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b="1" kern="1200" dirty="0" smtClean="0"/>
                <a:t>MNS Capacitors</a:t>
              </a:r>
            </a:p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b="1" dirty="0" smtClean="0"/>
                <a:t>Resistors</a:t>
              </a:r>
              <a:endParaRPr lang="en-US" sz="1200" b="1" kern="1200" dirty="0"/>
            </a:p>
          </p:txBody>
        </p:sp>
        <p:sp>
          <p:nvSpPr>
            <p:cNvPr id="42" name="Freeform 41"/>
            <p:cNvSpPr/>
            <p:nvPr/>
          </p:nvSpPr>
          <p:spPr>
            <a:xfrm>
              <a:off x="6804064" y="4149657"/>
              <a:ext cx="1371600" cy="1005840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18921E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b="1" kern="1200" dirty="0" smtClean="0"/>
                <a:t>Multiplier Diodes:</a:t>
              </a:r>
            </a:p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b="1" dirty="0" smtClean="0"/>
                <a:t>Frequency Multiplication</a:t>
              </a:r>
            </a:p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b="1" kern="1200" dirty="0" smtClean="0"/>
                <a:t>Waveshaping</a:t>
              </a:r>
              <a:endParaRPr lang="en-US" sz="1200" b="1" kern="1200" dirty="0"/>
            </a:p>
          </p:txBody>
        </p:sp>
        <p:cxnSp>
          <p:nvCxnSpPr>
            <p:cNvPr id="65" name="Straight Arrow Connector 64"/>
            <p:cNvCxnSpPr/>
            <p:nvPr/>
          </p:nvCxnSpPr>
          <p:spPr>
            <a:xfrm flipH="1" flipV="1">
              <a:off x="5235389" y="2447365"/>
              <a:ext cx="6304" cy="50286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/>
            <p:nvPr/>
          </p:nvCxnSpPr>
          <p:spPr>
            <a:xfrm flipH="1" flipV="1">
              <a:off x="3845859" y="2788024"/>
              <a:ext cx="448074" cy="27840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 flipV="1">
              <a:off x="6221263" y="2788024"/>
              <a:ext cx="448074" cy="27840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6221263" y="4156582"/>
              <a:ext cx="448074" cy="27840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 flipH="1">
              <a:off x="3845859" y="4156582"/>
              <a:ext cx="448074" cy="27840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 flipH="1">
              <a:off x="5220230" y="4333583"/>
              <a:ext cx="6304" cy="50286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28190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2164" y="126938"/>
            <a:ext cx="597869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b="1" dirty="0" smtClean="0"/>
              <a:t>PRODUCT CONFIGURATIONS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1321258" y="704290"/>
            <a:ext cx="6550523" cy="4240546"/>
            <a:chOff x="1312293" y="623612"/>
            <a:chExt cx="6550523" cy="4240546"/>
          </a:xfrm>
        </p:grpSpPr>
        <p:pic>
          <p:nvPicPr>
            <p:cNvPr id="73" name="Picture 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 rot="2262414">
              <a:off x="3938672" y="623612"/>
              <a:ext cx="741505" cy="602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5" name="Freeform 54"/>
            <p:cNvSpPr/>
            <p:nvPr/>
          </p:nvSpPr>
          <p:spPr>
            <a:xfrm>
              <a:off x="3745061" y="2282615"/>
              <a:ext cx="1162320" cy="900541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18921E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 dirty="0"/>
                <a:t>Discrete Device</a:t>
              </a:r>
            </a:p>
          </p:txBody>
        </p:sp>
        <p:grpSp>
          <p:nvGrpSpPr>
            <p:cNvPr id="93" name="Group 51"/>
            <p:cNvGrpSpPr/>
            <p:nvPr/>
          </p:nvGrpSpPr>
          <p:grpSpPr>
            <a:xfrm rot="5188313">
              <a:off x="1200824" y="1905375"/>
              <a:ext cx="1066813" cy="329043"/>
              <a:chOff x="2326737" y="1119150"/>
              <a:chExt cx="1089965" cy="332770"/>
            </a:xfrm>
          </p:grpSpPr>
          <p:pic>
            <p:nvPicPr>
              <p:cNvPr id="95" name="Picture 3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 rot="196511">
                <a:off x="2730144" y="1137595"/>
                <a:ext cx="323850" cy="3143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96" name="Picture 4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 rot="19677519">
                <a:off x="2326737" y="1119150"/>
                <a:ext cx="323850" cy="3143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97" name="Picture 2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 rot="21040387">
                <a:off x="3092852" y="1136284"/>
                <a:ext cx="323850" cy="3143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94" name="Freeform 93"/>
            <p:cNvSpPr/>
            <p:nvPr/>
          </p:nvSpPr>
          <p:spPr>
            <a:xfrm>
              <a:off x="2085071" y="1661384"/>
              <a:ext cx="1170788" cy="591399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18921E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50" b="1" dirty="0"/>
                <a:t>Bare Die</a:t>
              </a:r>
            </a:p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50" b="1" dirty="0"/>
                <a:t>(to 18 GHz)</a:t>
              </a:r>
            </a:p>
          </p:txBody>
        </p:sp>
        <p:grpSp>
          <p:nvGrpSpPr>
            <p:cNvPr id="57" name="Group 56"/>
            <p:cNvGrpSpPr/>
            <p:nvPr/>
          </p:nvGrpSpPr>
          <p:grpSpPr>
            <a:xfrm>
              <a:off x="5415394" y="1452353"/>
              <a:ext cx="2447422" cy="845500"/>
              <a:chOff x="7495028" y="4286137"/>
              <a:chExt cx="2500537" cy="855077"/>
            </a:xfrm>
          </p:grpSpPr>
          <p:pic>
            <p:nvPicPr>
              <p:cNvPr id="90" name="Picture 4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329096">
                <a:off x="9420243" y="4749811"/>
                <a:ext cx="575322" cy="249827"/>
              </a:xfrm>
              <a:prstGeom prst="rect">
                <a:avLst/>
              </a:prstGeom>
              <a:solidFill>
                <a:schemeClr val="folHlink">
                  <a:alpha val="94901"/>
                </a:schemeClr>
              </a:solidFill>
              <a:ln w="28575">
                <a:solidFill>
                  <a:schemeClr val="folHlink"/>
                </a:solidFill>
                <a:miter lim="800000"/>
                <a:headEnd/>
                <a:tailEnd/>
              </a:ln>
            </p:spPr>
          </p:pic>
          <p:pic>
            <p:nvPicPr>
              <p:cNvPr id="91" name="Picture 6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4729279">
                <a:off x="8846045" y="4646281"/>
                <a:ext cx="598631" cy="28366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92" name="Freeform 91"/>
              <p:cNvSpPr/>
              <p:nvPr/>
            </p:nvSpPr>
            <p:spPr>
              <a:xfrm>
                <a:off x="7495028" y="4286137"/>
                <a:ext cx="1196197" cy="855077"/>
              </a:xfrm>
              <a:custGeom>
                <a:avLst/>
                <a:gdLst>
                  <a:gd name="connsiteX0" fmla="*/ 0 w 1196197"/>
                  <a:gd name="connsiteY0" fmla="*/ 85508 h 855077"/>
                  <a:gd name="connsiteX1" fmla="*/ 25045 w 1196197"/>
                  <a:gd name="connsiteY1" fmla="*/ 25045 h 855077"/>
                  <a:gd name="connsiteX2" fmla="*/ 85508 w 1196197"/>
                  <a:gd name="connsiteY2" fmla="*/ 0 h 855077"/>
                  <a:gd name="connsiteX3" fmla="*/ 1110689 w 1196197"/>
                  <a:gd name="connsiteY3" fmla="*/ 0 h 855077"/>
                  <a:gd name="connsiteX4" fmla="*/ 1171152 w 1196197"/>
                  <a:gd name="connsiteY4" fmla="*/ 25045 h 855077"/>
                  <a:gd name="connsiteX5" fmla="*/ 1196197 w 1196197"/>
                  <a:gd name="connsiteY5" fmla="*/ 85508 h 855077"/>
                  <a:gd name="connsiteX6" fmla="*/ 1196197 w 1196197"/>
                  <a:gd name="connsiteY6" fmla="*/ 769569 h 855077"/>
                  <a:gd name="connsiteX7" fmla="*/ 1171152 w 1196197"/>
                  <a:gd name="connsiteY7" fmla="*/ 830032 h 855077"/>
                  <a:gd name="connsiteX8" fmla="*/ 1110689 w 1196197"/>
                  <a:gd name="connsiteY8" fmla="*/ 855077 h 855077"/>
                  <a:gd name="connsiteX9" fmla="*/ 85508 w 1196197"/>
                  <a:gd name="connsiteY9" fmla="*/ 855077 h 855077"/>
                  <a:gd name="connsiteX10" fmla="*/ 25045 w 1196197"/>
                  <a:gd name="connsiteY10" fmla="*/ 830032 h 855077"/>
                  <a:gd name="connsiteX11" fmla="*/ 0 w 1196197"/>
                  <a:gd name="connsiteY11" fmla="*/ 769569 h 855077"/>
                  <a:gd name="connsiteX12" fmla="*/ 0 w 1196197"/>
                  <a:gd name="connsiteY12" fmla="*/ 85508 h 8550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96197" h="855077">
                    <a:moveTo>
                      <a:pt x="0" y="85508"/>
                    </a:moveTo>
                    <a:cubicBezTo>
                      <a:pt x="0" y="62830"/>
                      <a:pt x="9009" y="41081"/>
                      <a:pt x="25045" y="25045"/>
                    </a:cubicBezTo>
                    <a:cubicBezTo>
                      <a:pt x="41081" y="9009"/>
                      <a:pt x="62830" y="0"/>
                      <a:pt x="85508" y="0"/>
                    </a:cubicBezTo>
                    <a:lnTo>
                      <a:pt x="1110689" y="0"/>
                    </a:lnTo>
                    <a:cubicBezTo>
                      <a:pt x="1133367" y="0"/>
                      <a:pt x="1155116" y="9009"/>
                      <a:pt x="1171152" y="25045"/>
                    </a:cubicBezTo>
                    <a:cubicBezTo>
                      <a:pt x="1187188" y="41081"/>
                      <a:pt x="1196197" y="62830"/>
                      <a:pt x="1196197" y="85508"/>
                    </a:cubicBezTo>
                    <a:lnTo>
                      <a:pt x="1196197" y="769569"/>
                    </a:lnTo>
                    <a:cubicBezTo>
                      <a:pt x="1196197" y="792247"/>
                      <a:pt x="1187188" y="813996"/>
                      <a:pt x="1171152" y="830032"/>
                    </a:cubicBezTo>
                    <a:cubicBezTo>
                      <a:pt x="1155116" y="846068"/>
                      <a:pt x="1133367" y="855077"/>
                      <a:pt x="1110689" y="855077"/>
                    </a:cubicBezTo>
                    <a:lnTo>
                      <a:pt x="85508" y="855077"/>
                    </a:lnTo>
                    <a:cubicBezTo>
                      <a:pt x="62830" y="855077"/>
                      <a:pt x="41081" y="846068"/>
                      <a:pt x="25045" y="830032"/>
                    </a:cubicBezTo>
                    <a:cubicBezTo>
                      <a:pt x="9009" y="813996"/>
                      <a:pt x="0" y="792247"/>
                      <a:pt x="0" y="769569"/>
                    </a:cubicBezTo>
                    <a:lnTo>
                      <a:pt x="0" y="85508"/>
                    </a:lnTo>
                    <a:close/>
                  </a:path>
                </a:pathLst>
              </a:custGeom>
              <a:solidFill>
                <a:srgbClr val="18921E"/>
              </a:solidFill>
            </p:spPr>
            <p:style>
              <a:lnRef idx="3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35204" tIns="35204" rIns="35204" bIns="35204" numCol="1" spcCol="1270" anchor="ctr" anchorCtr="0">
                <a:noAutofit/>
              </a:bodyPr>
              <a:lstStyle/>
              <a:p>
                <a:pPr algn="ctr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050" b="1" dirty="0"/>
                  <a:t>HMIC Discrete Surmount</a:t>
                </a:r>
              </a:p>
              <a:p>
                <a:pPr algn="ctr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050" b="1" dirty="0"/>
                  <a:t>(to 26.5GHz)</a:t>
                </a:r>
              </a:p>
            </p:txBody>
          </p:sp>
        </p:grpSp>
        <p:pic>
          <p:nvPicPr>
            <p:cNvPr id="87" name="Picture 21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 rot="19472443">
              <a:off x="4581674" y="4491237"/>
              <a:ext cx="651413" cy="372921"/>
            </a:xfrm>
            <a:prstGeom prst="rect">
              <a:avLst/>
            </a:prstGeom>
            <a:noFill/>
          </p:spPr>
        </p:pic>
        <p:pic>
          <p:nvPicPr>
            <p:cNvPr id="88" name="Picture 18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 rot="13393308">
              <a:off x="3480219" y="4562409"/>
              <a:ext cx="621609" cy="298326"/>
            </a:xfrm>
            <a:prstGeom prst="rect">
              <a:avLst/>
            </a:prstGeom>
            <a:noFill/>
          </p:spPr>
        </p:pic>
        <p:sp>
          <p:nvSpPr>
            <p:cNvPr id="89" name="Freeform 88"/>
            <p:cNvSpPr/>
            <p:nvPr/>
          </p:nvSpPr>
          <p:spPr>
            <a:xfrm>
              <a:off x="3705407" y="3682117"/>
              <a:ext cx="1170788" cy="693936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18921E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50" b="1" dirty="0"/>
                <a:t>Beam Lead/ Flip Chip</a:t>
              </a:r>
            </a:p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50" b="1" dirty="0"/>
                <a:t>(to 70+ GHz) </a:t>
              </a:r>
            </a:p>
          </p:txBody>
        </p:sp>
        <p:sp>
          <p:nvSpPr>
            <p:cNvPr id="81" name="Freeform 80"/>
            <p:cNvSpPr/>
            <p:nvPr/>
          </p:nvSpPr>
          <p:spPr>
            <a:xfrm>
              <a:off x="2076285" y="3115514"/>
              <a:ext cx="1170788" cy="591399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18921E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50" b="1" dirty="0"/>
                <a:t>MELF</a:t>
              </a:r>
            </a:p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50" b="1" dirty="0"/>
                <a:t>(to 1 GHz)</a:t>
              </a:r>
            </a:p>
          </p:txBody>
        </p:sp>
        <p:grpSp>
          <p:nvGrpSpPr>
            <p:cNvPr id="82" name="Group 47"/>
            <p:cNvGrpSpPr/>
            <p:nvPr/>
          </p:nvGrpSpPr>
          <p:grpSpPr>
            <a:xfrm>
              <a:off x="1312293" y="3079415"/>
              <a:ext cx="585127" cy="788221"/>
              <a:chOff x="6332180" y="4448034"/>
              <a:chExt cx="597826" cy="797149"/>
            </a:xfrm>
          </p:grpSpPr>
          <p:pic>
            <p:nvPicPr>
              <p:cNvPr id="83" name="Picture 5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8354126">
                <a:off x="6332180" y="4832458"/>
                <a:ext cx="536189" cy="4127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85" name="Picture 5"/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20963865">
                <a:off x="6407694" y="4448034"/>
                <a:ext cx="522312" cy="4020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75" name="Freeform 74"/>
            <p:cNvSpPr/>
            <p:nvPr/>
          </p:nvSpPr>
          <p:spPr>
            <a:xfrm>
              <a:off x="5405369" y="3124762"/>
              <a:ext cx="1170788" cy="641234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18921E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tabLst>
                  <a:tab pos="1603375" algn="l"/>
                </a:tabLst>
              </a:pPr>
              <a:r>
                <a:rPr lang="en-US" sz="1050" b="1" dirty="0"/>
                <a:t>Hermetic Packaged</a:t>
              </a:r>
            </a:p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tabLst>
                  <a:tab pos="1603375" algn="l"/>
                </a:tabLst>
              </a:pPr>
              <a:r>
                <a:rPr lang="en-US" sz="1050" b="1" dirty="0"/>
                <a:t>(to 12 GHz)</a:t>
              </a:r>
            </a:p>
          </p:txBody>
        </p:sp>
        <p:grpSp>
          <p:nvGrpSpPr>
            <p:cNvPr id="77" name="Group 50"/>
            <p:cNvGrpSpPr/>
            <p:nvPr/>
          </p:nvGrpSpPr>
          <p:grpSpPr>
            <a:xfrm rot="3921021">
              <a:off x="6218046" y="2981132"/>
              <a:ext cx="1597957" cy="860160"/>
              <a:chOff x="4772791" y="550602"/>
              <a:chExt cx="1632636" cy="869903"/>
            </a:xfrm>
          </p:grpSpPr>
          <p:pic>
            <p:nvPicPr>
              <p:cNvPr id="78" name="Picture 53" descr="1056 ceramic"/>
              <p:cNvPicPr>
                <a:picLocks noChangeAspect="1" noChangeArrowheads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72791" y="671481"/>
                <a:ext cx="700513" cy="350942"/>
              </a:xfrm>
              <a:prstGeom prst="rect">
                <a:avLst/>
              </a:prstGeom>
              <a:noFill/>
            </p:spPr>
          </p:pic>
          <p:pic>
            <p:nvPicPr>
              <p:cNvPr id="79" name="Picture 78" descr="1082 ceramic.jpg"/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5597905" y="550602"/>
                <a:ext cx="807522" cy="484761"/>
              </a:xfrm>
              <a:prstGeom prst="rect">
                <a:avLst/>
              </a:prstGeom>
            </p:spPr>
          </p:pic>
          <p:pic>
            <p:nvPicPr>
              <p:cNvPr id="80" name="Picture 18"/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8326268" flipH="1">
                <a:off x="5865108" y="1129729"/>
                <a:ext cx="512881" cy="290776"/>
              </a:xfrm>
              <a:prstGeom prst="rect">
                <a:avLst/>
              </a:prstGeom>
              <a:noFill/>
            </p:spPr>
          </p:pic>
        </p:grpSp>
        <p:cxnSp>
          <p:nvCxnSpPr>
            <p:cNvPr id="61" name="Straight Arrow Connector 60"/>
            <p:cNvCxnSpPr/>
            <p:nvPr/>
          </p:nvCxnSpPr>
          <p:spPr>
            <a:xfrm flipV="1">
              <a:off x="4290801" y="1901321"/>
              <a:ext cx="0" cy="28248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/>
            <p:nvPr/>
          </p:nvCxnSpPr>
          <p:spPr>
            <a:xfrm flipV="1">
              <a:off x="4935729" y="2133240"/>
              <a:ext cx="340010" cy="16598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Freeform 70"/>
            <p:cNvSpPr/>
            <p:nvPr/>
          </p:nvSpPr>
          <p:spPr>
            <a:xfrm>
              <a:off x="3764941" y="1224203"/>
              <a:ext cx="1170788" cy="591400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18921E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50" b="1" dirty="0"/>
                <a:t>Plastic</a:t>
              </a:r>
            </a:p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50" b="1" dirty="0"/>
                <a:t>(to 6 GHz)</a:t>
              </a:r>
            </a:p>
          </p:txBody>
        </p:sp>
        <p:cxnSp>
          <p:nvCxnSpPr>
            <p:cNvPr id="99" name="Straight Arrow Connector 98"/>
            <p:cNvCxnSpPr/>
            <p:nvPr/>
          </p:nvCxnSpPr>
          <p:spPr>
            <a:xfrm>
              <a:off x="4278543" y="3304136"/>
              <a:ext cx="0" cy="28248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/>
            <p:cNvCxnSpPr/>
            <p:nvPr/>
          </p:nvCxnSpPr>
          <p:spPr>
            <a:xfrm flipH="1" flipV="1">
              <a:off x="3322927" y="2126427"/>
              <a:ext cx="340010" cy="16598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/>
            <p:cNvCxnSpPr/>
            <p:nvPr/>
          </p:nvCxnSpPr>
          <p:spPr>
            <a:xfrm flipH="1">
              <a:off x="3322927" y="3204043"/>
              <a:ext cx="340010" cy="16598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/>
            <p:cNvCxnSpPr/>
            <p:nvPr/>
          </p:nvCxnSpPr>
          <p:spPr>
            <a:xfrm>
              <a:off x="4935729" y="3204043"/>
              <a:ext cx="340010" cy="16598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>
            <a:off x="1141136" y="5160572"/>
            <a:ext cx="6870265" cy="1323670"/>
            <a:chOff x="1454900" y="5296248"/>
            <a:chExt cx="6870265" cy="1323670"/>
          </a:xfrm>
        </p:grpSpPr>
        <p:pic>
          <p:nvPicPr>
            <p:cNvPr id="44" name="Picture 36">
              <a:hlinkClick r:id="rId14" action="ppaction://hlinksldjump"/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21040347">
              <a:off x="1454900" y="6069182"/>
              <a:ext cx="641373" cy="550736"/>
            </a:xfrm>
            <a:prstGeom prst="rect">
              <a:avLst/>
            </a:prstGeom>
            <a:noFill/>
            <a:ln w="38100">
              <a:solidFill>
                <a:srgbClr val="001522"/>
              </a:solidFill>
              <a:miter lim="800000"/>
              <a:headEnd/>
              <a:tailEnd/>
            </a:ln>
          </p:spPr>
        </p:pic>
        <p:pic>
          <p:nvPicPr>
            <p:cNvPr id="46" name="Picture 16">
              <a:hlinkClick r:id="rId16" action="ppaction://hlinksldjump"/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1803430">
              <a:off x="1509881" y="5296248"/>
              <a:ext cx="608383" cy="479449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/>
            </a:ln>
            <a:effectLst/>
          </p:spPr>
        </p:pic>
        <p:sp>
          <p:nvSpPr>
            <p:cNvPr id="48" name="Freeform 47"/>
            <p:cNvSpPr/>
            <p:nvPr/>
          </p:nvSpPr>
          <p:spPr>
            <a:xfrm>
              <a:off x="3823970" y="5479391"/>
              <a:ext cx="1698286" cy="952726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00206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b="1" dirty="0"/>
                <a:t>Integrated Solutions</a:t>
              </a:r>
            </a:p>
          </p:txBody>
        </p:sp>
        <p:sp>
          <p:nvSpPr>
            <p:cNvPr id="49" name="Freeform 48"/>
            <p:cNvSpPr/>
            <p:nvPr/>
          </p:nvSpPr>
          <p:spPr>
            <a:xfrm>
              <a:off x="2266708" y="5568913"/>
              <a:ext cx="1157811" cy="814217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00206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50" b="1" dirty="0"/>
                <a:t>HMIC,  </a:t>
              </a:r>
              <a:r>
                <a:rPr lang="en-US" sz="1050" b="1" dirty="0" smtClean="0"/>
                <a:t>AlGaAs</a:t>
              </a:r>
              <a:endParaRPr lang="en-US" sz="1050" b="1" dirty="0"/>
            </a:p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50" b="1" dirty="0"/>
                <a:t>(to 70+ GHz) </a:t>
              </a:r>
            </a:p>
          </p:txBody>
        </p:sp>
        <p:sp>
          <p:nvSpPr>
            <p:cNvPr id="50" name="Freeform 49"/>
            <p:cNvSpPr/>
            <p:nvPr/>
          </p:nvSpPr>
          <p:spPr>
            <a:xfrm>
              <a:off x="5893536" y="5568015"/>
              <a:ext cx="1354666" cy="788220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00206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50" b="1" dirty="0"/>
                <a:t>Hybrid Solutions</a:t>
              </a:r>
            </a:p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50" b="1" dirty="0"/>
                <a:t>Multichip Modules</a:t>
              </a:r>
            </a:p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50" b="1" dirty="0"/>
                <a:t>(to 8 GHz)</a:t>
              </a:r>
            </a:p>
          </p:txBody>
        </p:sp>
        <p:pic>
          <p:nvPicPr>
            <p:cNvPr id="53" name="Picture 5" descr="Untitled.png"/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09787" y="5671940"/>
              <a:ext cx="915378" cy="6033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98" name="Straight Arrow Connector 97"/>
            <p:cNvCxnSpPr/>
            <p:nvPr/>
          </p:nvCxnSpPr>
          <p:spPr>
            <a:xfrm>
              <a:off x="5551137" y="5967056"/>
              <a:ext cx="293852" cy="656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/>
            <p:cNvCxnSpPr/>
            <p:nvPr/>
          </p:nvCxnSpPr>
          <p:spPr>
            <a:xfrm flipH="1">
              <a:off x="3465389" y="5967056"/>
              <a:ext cx="293852" cy="656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09485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1426" y="234611"/>
            <a:ext cx="299388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b="1" dirty="0" smtClean="0"/>
              <a:t>DIODES &amp; PASSIVE DEVICES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1530167" y="1488128"/>
            <a:ext cx="5793850" cy="5202791"/>
            <a:chOff x="2381814" y="1097009"/>
            <a:chExt cx="5793850" cy="5202791"/>
          </a:xfrm>
        </p:grpSpPr>
        <p:sp>
          <p:nvSpPr>
            <p:cNvPr id="35" name="Freeform 34"/>
            <p:cNvSpPr/>
            <p:nvPr/>
          </p:nvSpPr>
          <p:spPr>
            <a:xfrm>
              <a:off x="4423676" y="3066426"/>
              <a:ext cx="1674580" cy="1150965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18921E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b="1" kern="1200" dirty="0" smtClean="0"/>
                <a:t>Diode Products</a:t>
              </a:r>
              <a:endParaRPr lang="en-US" sz="2400" b="1" kern="1200" dirty="0"/>
            </a:p>
          </p:txBody>
        </p:sp>
        <p:sp>
          <p:nvSpPr>
            <p:cNvPr id="36" name="Freeform 35"/>
            <p:cNvSpPr/>
            <p:nvPr/>
          </p:nvSpPr>
          <p:spPr>
            <a:xfrm>
              <a:off x="4540734" y="1097009"/>
              <a:ext cx="1371600" cy="1245435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18921E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b="1" kern="1200" dirty="0" smtClean="0"/>
                <a:t>PIN/NIP Diodes:</a:t>
              </a:r>
            </a:p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b="1" dirty="0" smtClean="0"/>
                <a:t>Switching</a:t>
              </a:r>
            </a:p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b="1" kern="1200" dirty="0" smtClean="0"/>
                <a:t>Attenuation</a:t>
              </a:r>
            </a:p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b="1" dirty="0" smtClean="0"/>
                <a:t>Limiting</a:t>
              </a:r>
              <a:endParaRPr lang="en-US" sz="1400" b="1" kern="1200" dirty="0"/>
            </a:p>
          </p:txBody>
        </p:sp>
        <p:sp>
          <p:nvSpPr>
            <p:cNvPr id="37" name="Freeform 36"/>
            <p:cNvSpPr/>
            <p:nvPr/>
          </p:nvSpPr>
          <p:spPr>
            <a:xfrm>
              <a:off x="6804064" y="2027083"/>
              <a:ext cx="1371600" cy="1005840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18921E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tabLst>
                  <a:tab pos="1603375" algn="l"/>
                </a:tabLst>
              </a:pPr>
              <a:r>
                <a:rPr lang="en-US" sz="1200" b="1" kern="1200" dirty="0" smtClean="0"/>
                <a:t>Schottky Diodes:</a:t>
              </a:r>
            </a:p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tabLst>
                  <a:tab pos="1603375" algn="l"/>
                </a:tabLst>
              </a:pPr>
              <a:r>
                <a:rPr lang="en-US" sz="1200" b="1" dirty="0" smtClean="0"/>
                <a:t>Detection</a:t>
              </a:r>
            </a:p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tabLst>
                  <a:tab pos="1603375" algn="l"/>
                </a:tabLst>
              </a:pPr>
              <a:r>
                <a:rPr lang="en-US" sz="1200" b="1" kern="1200" dirty="0" smtClean="0"/>
                <a:t>Frequency Mixing</a:t>
              </a:r>
              <a:endParaRPr lang="en-US" sz="1200" b="1" kern="1200" dirty="0"/>
            </a:p>
          </p:txBody>
        </p:sp>
        <p:sp>
          <p:nvSpPr>
            <p:cNvPr id="38" name="Freeform 37"/>
            <p:cNvSpPr/>
            <p:nvPr/>
          </p:nvSpPr>
          <p:spPr>
            <a:xfrm>
              <a:off x="2381814" y="4156582"/>
              <a:ext cx="1371600" cy="1005840"/>
            </a:xfrm>
            <a:custGeom>
              <a:avLst/>
              <a:gdLst>
                <a:gd name="connsiteX0" fmla="*/ 0 w 1196197"/>
                <a:gd name="connsiteY0" fmla="*/ 85508 h 855077"/>
                <a:gd name="connsiteX1" fmla="*/ 25045 w 1196197"/>
                <a:gd name="connsiteY1" fmla="*/ 25045 h 855077"/>
                <a:gd name="connsiteX2" fmla="*/ 85508 w 1196197"/>
                <a:gd name="connsiteY2" fmla="*/ 0 h 855077"/>
                <a:gd name="connsiteX3" fmla="*/ 1110689 w 1196197"/>
                <a:gd name="connsiteY3" fmla="*/ 0 h 855077"/>
                <a:gd name="connsiteX4" fmla="*/ 1171152 w 1196197"/>
                <a:gd name="connsiteY4" fmla="*/ 25045 h 855077"/>
                <a:gd name="connsiteX5" fmla="*/ 1196197 w 1196197"/>
                <a:gd name="connsiteY5" fmla="*/ 85508 h 855077"/>
                <a:gd name="connsiteX6" fmla="*/ 1196197 w 1196197"/>
                <a:gd name="connsiteY6" fmla="*/ 769569 h 855077"/>
                <a:gd name="connsiteX7" fmla="*/ 1171152 w 1196197"/>
                <a:gd name="connsiteY7" fmla="*/ 830032 h 855077"/>
                <a:gd name="connsiteX8" fmla="*/ 1110689 w 1196197"/>
                <a:gd name="connsiteY8" fmla="*/ 855077 h 855077"/>
                <a:gd name="connsiteX9" fmla="*/ 85508 w 1196197"/>
                <a:gd name="connsiteY9" fmla="*/ 855077 h 855077"/>
                <a:gd name="connsiteX10" fmla="*/ 25045 w 1196197"/>
                <a:gd name="connsiteY10" fmla="*/ 830032 h 855077"/>
                <a:gd name="connsiteX11" fmla="*/ 0 w 1196197"/>
                <a:gd name="connsiteY11" fmla="*/ 769569 h 855077"/>
                <a:gd name="connsiteX12" fmla="*/ 0 w 1196197"/>
                <a:gd name="connsiteY12" fmla="*/ 85508 h 855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855077">
                  <a:moveTo>
                    <a:pt x="0" y="85508"/>
                  </a:moveTo>
                  <a:cubicBezTo>
                    <a:pt x="0" y="62830"/>
                    <a:pt x="9009" y="41081"/>
                    <a:pt x="25045" y="25045"/>
                  </a:cubicBezTo>
                  <a:cubicBezTo>
                    <a:pt x="41081" y="9009"/>
                    <a:pt x="62830" y="0"/>
                    <a:pt x="85508" y="0"/>
                  </a:cubicBezTo>
                  <a:lnTo>
                    <a:pt x="1110689" y="0"/>
                  </a:lnTo>
                  <a:cubicBezTo>
                    <a:pt x="1133367" y="0"/>
                    <a:pt x="1155116" y="9009"/>
                    <a:pt x="1171152" y="25045"/>
                  </a:cubicBezTo>
                  <a:cubicBezTo>
                    <a:pt x="1187188" y="41081"/>
                    <a:pt x="1196197" y="62830"/>
                    <a:pt x="1196197" y="85508"/>
                  </a:cubicBezTo>
                  <a:lnTo>
                    <a:pt x="1196197" y="769569"/>
                  </a:lnTo>
                  <a:cubicBezTo>
                    <a:pt x="1196197" y="792247"/>
                    <a:pt x="1187188" y="813996"/>
                    <a:pt x="1171152" y="830032"/>
                  </a:cubicBezTo>
                  <a:cubicBezTo>
                    <a:pt x="1155116" y="846068"/>
                    <a:pt x="1133367" y="855077"/>
                    <a:pt x="1110689" y="855077"/>
                  </a:cubicBezTo>
                  <a:lnTo>
                    <a:pt x="85508" y="855077"/>
                  </a:lnTo>
                  <a:cubicBezTo>
                    <a:pt x="62830" y="855077"/>
                    <a:pt x="41081" y="846068"/>
                    <a:pt x="25045" y="830032"/>
                  </a:cubicBezTo>
                  <a:cubicBezTo>
                    <a:pt x="9009" y="813996"/>
                    <a:pt x="0" y="792247"/>
                    <a:pt x="0" y="769569"/>
                  </a:cubicBezTo>
                  <a:lnTo>
                    <a:pt x="0" y="85508"/>
                  </a:lnTo>
                  <a:close/>
                </a:path>
              </a:pathLst>
            </a:custGeom>
            <a:solidFill>
              <a:srgbClr val="18921E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5204" tIns="35204" rIns="35204" bIns="35204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b="1" kern="1200" dirty="0" smtClean="0"/>
                <a:t>Attenuators</a:t>
              </a:r>
              <a:endParaRPr lang="en-US" sz="1600" b="1" kern="1200" dirty="0"/>
            </a:p>
          </p:txBody>
        </p:sp>
        <p:sp>
          <p:nvSpPr>
            <p:cNvPr id="39" name="Freeform 38"/>
            <p:cNvSpPr/>
            <p:nvPr/>
          </p:nvSpPr>
          <p:spPr>
            <a:xfrm>
              <a:off x="2381814" y="2009655"/>
              <a:ext cx="1371600" cy="1005840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18921E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b="1" kern="1200" dirty="0" smtClean="0"/>
                <a:t>Varactor Diodes:</a:t>
              </a:r>
            </a:p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b="1" dirty="0" smtClean="0"/>
                <a:t>Tuning</a:t>
              </a:r>
            </a:p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b="1" kern="1200" dirty="0" smtClean="0"/>
                <a:t>Phase Shifting</a:t>
              </a:r>
              <a:endParaRPr lang="en-US" sz="1200" b="1" kern="1200" dirty="0"/>
            </a:p>
          </p:txBody>
        </p:sp>
        <p:sp>
          <p:nvSpPr>
            <p:cNvPr id="40" name="Freeform 39"/>
            <p:cNvSpPr/>
            <p:nvPr/>
          </p:nvSpPr>
          <p:spPr>
            <a:xfrm>
              <a:off x="4534430" y="4952644"/>
              <a:ext cx="1371600" cy="1347156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18921E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b="1" kern="1200" dirty="0" smtClean="0"/>
                <a:t>Passive Devices</a:t>
              </a:r>
            </a:p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b="1" dirty="0" smtClean="0"/>
                <a:t>RF Chokes/Inductors</a:t>
              </a:r>
            </a:p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b="1" kern="1200" dirty="0" smtClean="0"/>
                <a:t>MNS Capacitors</a:t>
              </a:r>
            </a:p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b="1" dirty="0" smtClean="0"/>
                <a:t>Resistors</a:t>
              </a:r>
              <a:endParaRPr lang="en-US" sz="1200" b="1" kern="1200" dirty="0"/>
            </a:p>
          </p:txBody>
        </p:sp>
        <p:sp>
          <p:nvSpPr>
            <p:cNvPr id="41" name="Freeform 40"/>
            <p:cNvSpPr/>
            <p:nvPr/>
          </p:nvSpPr>
          <p:spPr>
            <a:xfrm>
              <a:off x="6804064" y="4149657"/>
              <a:ext cx="1371600" cy="1005840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18921E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b="1" kern="1200" dirty="0" smtClean="0"/>
                <a:t>Multiplier Diodes:</a:t>
              </a:r>
            </a:p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b="1" dirty="0" smtClean="0"/>
                <a:t>Frequency Multiplication</a:t>
              </a:r>
            </a:p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b="1" kern="1200" dirty="0" smtClean="0"/>
                <a:t>Waveshaping</a:t>
              </a:r>
              <a:endParaRPr lang="en-US" sz="1200" b="1" kern="1200" dirty="0"/>
            </a:p>
          </p:txBody>
        </p:sp>
        <p:cxnSp>
          <p:nvCxnSpPr>
            <p:cNvPr id="42" name="Straight Arrow Connector 41"/>
            <p:cNvCxnSpPr/>
            <p:nvPr/>
          </p:nvCxnSpPr>
          <p:spPr>
            <a:xfrm flipH="1" flipV="1">
              <a:off x="5235389" y="2447365"/>
              <a:ext cx="6304" cy="50286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 flipH="1" flipV="1">
              <a:off x="3845859" y="2788024"/>
              <a:ext cx="448074" cy="27840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/>
            <p:nvPr/>
          </p:nvCxnSpPr>
          <p:spPr>
            <a:xfrm flipV="1">
              <a:off x="6221263" y="2788024"/>
              <a:ext cx="448074" cy="27840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>
              <a:off x="6221263" y="4156582"/>
              <a:ext cx="448074" cy="27840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/>
            <p:nvPr/>
          </p:nvCxnSpPr>
          <p:spPr>
            <a:xfrm flipH="1">
              <a:off x="3845859" y="4156582"/>
              <a:ext cx="448074" cy="27840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 flipH="1">
              <a:off x="5220230" y="4333583"/>
              <a:ext cx="6304" cy="50286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7891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hybrid coupler PIN VVA block diagram.em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17989" y="4239660"/>
            <a:ext cx="1273175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 descr="High isolation generic PIN SPDT.em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1642" y="4502766"/>
            <a:ext cx="3313113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7" descr="single stage limiter.em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2854" y="4502766"/>
            <a:ext cx="2425700" cy="132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PIN Diodes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 smtClean="0"/>
              <a:t>Switching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Attenuation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Receiver Protector Limiting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30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PIN Diodes		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3896" y="1226000"/>
            <a:ext cx="4050088" cy="5202232"/>
          </a:xfrm>
        </p:spPr>
        <p:txBody>
          <a:bodyPr>
            <a:normAutofit/>
          </a:bodyPr>
          <a:lstStyle/>
          <a:p>
            <a:r>
              <a:rPr lang="en-US" sz="2800" dirty="0"/>
              <a:t>PIN Diodes are current-controlled RF resistors</a:t>
            </a:r>
          </a:p>
          <a:p>
            <a:r>
              <a:rPr lang="en-US" sz="2800" dirty="0"/>
              <a:t>Primarily used in control circuits</a:t>
            </a:r>
          </a:p>
          <a:p>
            <a:pPr lvl="1"/>
            <a:r>
              <a:rPr lang="en-US" sz="2400" dirty="0"/>
              <a:t>Switches </a:t>
            </a:r>
          </a:p>
          <a:p>
            <a:pPr lvl="1"/>
            <a:r>
              <a:rPr lang="en-US" sz="2400" dirty="0"/>
              <a:t>Attenuators </a:t>
            </a:r>
          </a:p>
          <a:p>
            <a:pPr lvl="1"/>
            <a:r>
              <a:rPr lang="en-US" sz="2400" dirty="0" smtClean="0"/>
              <a:t>Limiters</a:t>
            </a:r>
            <a:endParaRPr lang="en-US" sz="2400" dirty="0"/>
          </a:p>
          <a:p>
            <a:r>
              <a:rPr lang="en-US" sz="2800" dirty="0" smtClean="0"/>
              <a:t>MACOM PIN </a:t>
            </a:r>
            <a:r>
              <a:rPr lang="en-US" sz="2800" dirty="0"/>
              <a:t>diodes </a:t>
            </a:r>
            <a:r>
              <a:rPr lang="en-US" sz="2800" dirty="0" smtClean="0"/>
              <a:t>can be made </a:t>
            </a:r>
            <a:r>
              <a:rPr lang="en-US" sz="2800" dirty="0"/>
              <a:t>from </a:t>
            </a:r>
            <a:r>
              <a:rPr lang="en-US" sz="2800" dirty="0" smtClean="0"/>
              <a:t>Si, GaAs or AlGaAs</a:t>
            </a:r>
            <a:endParaRPr lang="en-US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29785" y="1345487"/>
            <a:ext cx="3262675" cy="2852928"/>
          </a:xfrm>
          <a:prstGeom prst="rect">
            <a:avLst/>
          </a:prstGeom>
        </p:spPr>
      </p:pic>
      <p:graphicFrame>
        <p:nvGraphicFramePr>
          <p:cNvPr id="5" name="Object 1024"/>
          <p:cNvGraphicFramePr>
            <a:graphicFrameLocks noChangeAspect="1"/>
          </p:cNvGraphicFramePr>
          <p:nvPr>
            <p:extLst/>
          </p:nvPr>
        </p:nvGraphicFramePr>
        <p:xfrm>
          <a:off x="4056530" y="4221480"/>
          <a:ext cx="4828033" cy="19781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" name="Mathcad 6.0" r:id="rId5" imgW="3943080" imgH="2809800" progId="">
                  <p:embed/>
                </p:oleObj>
              </mc:Choice>
              <mc:Fallback>
                <p:oleObj name="Mathcad 6.0" r:id="rId5" imgW="3943080" imgH="28098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6530" y="4221480"/>
                        <a:ext cx="4828033" cy="19781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04122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PIN Diodes		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89652" y="1188610"/>
            <a:ext cx="4962323" cy="1293205"/>
          </a:xfrm>
        </p:spPr>
        <p:txBody>
          <a:bodyPr>
            <a:noAutofit/>
          </a:bodyPr>
          <a:lstStyle/>
          <a:p>
            <a:r>
              <a:rPr lang="en-US" dirty="0"/>
              <a:t>PIN Diodes </a:t>
            </a:r>
            <a:r>
              <a:rPr lang="en-US" dirty="0" smtClean="0"/>
              <a:t>used in switches typically have low capacitance and low series resistance</a:t>
            </a:r>
            <a:endParaRPr lang="en-US" dirty="0"/>
          </a:p>
          <a:p>
            <a:r>
              <a:rPr lang="en-US" dirty="0" smtClean="0"/>
              <a:t>I layer thickness and thermal resistance determine RF power handling</a:t>
            </a:r>
            <a:endParaRPr lang="en-US" dirty="0"/>
          </a:p>
        </p:txBody>
      </p:sp>
      <p:pic>
        <p:nvPicPr>
          <p:cNvPr id="4" name="Picture 5" descr="High isolation generic PIN SPDT.em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8137" y="1289341"/>
            <a:ext cx="3653228" cy="1512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 descr="hybrid coupler PIN VVA block diagram.em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83837" y="2776068"/>
            <a:ext cx="1395125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7" descr="single stage limiter.em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51583" y="4909171"/>
            <a:ext cx="2425700" cy="132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3"/>
          <p:cNvSpPr txBox="1">
            <a:spLocks noChangeArrowheads="1"/>
          </p:cNvSpPr>
          <p:nvPr/>
        </p:nvSpPr>
        <p:spPr bwMode="gray">
          <a:xfrm>
            <a:off x="318137" y="3247480"/>
            <a:ext cx="5446055" cy="1293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285750" indent="-285750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buFont typeface="Arial Black" panose="020B0A04020102020204" pitchFamily="34" charset="0"/>
              <a:buChar char="&gt;"/>
              <a:defRPr sz="2000" b="0" i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1500" indent="-2286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baseline="0">
                <a:solidFill>
                  <a:schemeClr val="tx2"/>
                </a:solidFill>
                <a:latin typeface="+mn-lt"/>
              </a:defRPr>
            </a:lvl2pPr>
            <a:lvl3pPr marL="857250" indent="-228600" algn="l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 b="0" i="0" baseline="0">
                <a:solidFill>
                  <a:schemeClr val="tx2"/>
                </a:solidFill>
                <a:latin typeface="+mn-lt"/>
              </a:defRPr>
            </a:lvl3pPr>
            <a:lvl4pPr marL="1143000" indent="-2286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  <a:latin typeface="+mn-lt"/>
              </a:defRPr>
            </a:lvl4pPr>
            <a:lvl5pPr marL="1485900" indent="-228600" algn="l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+mn-lt"/>
              </a:defRPr>
            </a:lvl5pPr>
            <a:lvl6pPr marL="2228850" indent="-228600" algn="l" rtl="0" eaLnBrk="1" fontAlgn="base" hangingPunct="1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Char char="•"/>
              <a:defRPr sz="1600">
                <a:solidFill>
                  <a:schemeClr val="tx1"/>
                </a:solidFill>
                <a:latin typeface="+mn-lt"/>
              </a:defRPr>
            </a:lvl6pPr>
            <a:lvl7pPr marL="2686050" indent="-228600" algn="l" rtl="0" eaLnBrk="1" fontAlgn="base" hangingPunct="1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Char char="•"/>
              <a:defRPr sz="1600">
                <a:solidFill>
                  <a:schemeClr val="tx1"/>
                </a:solidFill>
                <a:latin typeface="+mn-lt"/>
              </a:defRPr>
            </a:lvl7pPr>
            <a:lvl8pPr marL="3143250" indent="-228600" algn="l" rtl="0" eaLnBrk="1" fontAlgn="base" hangingPunct="1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Char char="•"/>
              <a:defRPr sz="1600">
                <a:solidFill>
                  <a:schemeClr val="tx1"/>
                </a:solidFill>
                <a:latin typeface="+mn-lt"/>
              </a:defRPr>
            </a:lvl8pPr>
            <a:lvl9pPr marL="3600450" indent="-228600" algn="l" rtl="0" eaLnBrk="1" fontAlgn="base" hangingPunct="1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Char char="•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dirty="0"/>
              <a:t>PIN Diodes used in attenuators typically have </a:t>
            </a:r>
          </a:p>
          <a:p>
            <a:pPr lvl="1" fontAlgn="auto">
              <a:spcAft>
                <a:spcPts val="0"/>
              </a:spcAft>
            </a:pPr>
            <a:r>
              <a:rPr lang="en-US" dirty="0"/>
              <a:t>low capacitance for low insertion loss</a:t>
            </a:r>
          </a:p>
          <a:p>
            <a:pPr lvl="1" fontAlgn="auto">
              <a:spcAft>
                <a:spcPts val="0"/>
              </a:spcAft>
            </a:pPr>
            <a:r>
              <a:rPr lang="en-US" dirty="0"/>
              <a:t>thick I layers for large available range of resistance and low distortion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gray">
          <a:xfrm>
            <a:off x="3505920" y="5104930"/>
            <a:ext cx="5446055" cy="1293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285750" indent="-285750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buFont typeface="Arial Black" panose="020B0A04020102020204" pitchFamily="34" charset="0"/>
              <a:buChar char="&gt;"/>
              <a:defRPr sz="2000" b="0" i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1500" indent="-2286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baseline="0">
                <a:solidFill>
                  <a:schemeClr val="tx2"/>
                </a:solidFill>
                <a:latin typeface="+mn-lt"/>
              </a:defRPr>
            </a:lvl2pPr>
            <a:lvl3pPr marL="857250" indent="-228600" algn="l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 b="0" i="0" baseline="0">
                <a:solidFill>
                  <a:schemeClr val="tx2"/>
                </a:solidFill>
                <a:latin typeface="+mn-lt"/>
              </a:defRPr>
            </a:lvl3pPr>
            <a:lvl4pPr marL="1143000" indent="-2286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  <a:latin typeface="+mn-lt"/>
              </a:defRPr>
            </a:lvl4pPr>
            <a:lvl5pPr marL="1485900" indent="-228600" algn="l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+mn-lt"/>
              </a:defRPr>
            </a:lvl5pPr>
            <a:lvl6pPr marL="2228850" indent="-228600" algn="l" rtl="0" eaLnBrk="1" fontAlgn="base" hangingPunct="1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Char char="•"/>
              <a:defRPr sz="1600">
                <a:solidFill>
                  <a:schemeClr val="tx1"/>
                </a:solidFill>
                <a:latin typeface="+mn-lt"/>
              </a:defRPr>
            </a:lvl6pPr>
            <a:lvl7pPr marL="2686050" indent="-228600" algn="l" rtl="0" eaLnBrk="1" fontAlgn="base" hangingPunct="1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Char char="•"/>
              <a:defRPr sz="1600">
                <a:solidFill>
                  <a:schemeClr val="tx1"/>
                </a:solidFill>
                <a:latin typeface="+mn-lt"/>
              </a:defRPr>
            </a:lvl7pPr>
            <a:lvl8pPr marL="3143250" indent="-228600" algn="l" rtl="0" eaLnBrk="1" fontAlgn="base" hangingPunct="1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Char char="•"/>
              <a:defRPr sz="1600">
                <a:solidFill>
                  <a:schemeClr val="tx1"/>
                </a:solidFill>
                <a:latin typeface="+mn-lt"/>
              </a:defRPr>
            </a:lvl8pPr>
            <a:lvl9pPr marL="3600450" indent="-228600" algn="l" rtl="0" eaLnBrk="1" fontAlgn="base" hangingPunct="1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Char char="•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dirty="0"/>
              <a:t>PIN Diodes used in limiters typically have low capacitance for low insertion loss</a:t>
            </a:r>
          </a:p>
          <a:p>
            <a:pPr fontAlgn="auto">
              <a:spcAft>
                <a:spcPts val="0"/>
              </a:spcAft>
            </a:pPr>
            <a:r>
              <a:rPr lang="en-US" dirty="0"/>
              <a:t>I layer thickness determines threshold level, recovery time and flat leakage</a:t>
            </a:r>
          </a:p>
        </p:txBody>
      </p:sp>
    </p:spTree>
    <p:extLst>
      <p:ext uri="{BB962C8B-B14F-4D97-AF65-F5344CB8AC3E}">
        <p14:creationId xmlns:p14="http://schemas.microsoft.com/office/powerpoint/2010/main" val="2585619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835" y="288365"/>
            <a:ext cx="3083859" cy="4572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PIN Diode Families</a:t>
            </a:r>
            <a:endParaRPr lang="en-US" dirty="0"/>
          </a:p>
        </p:txBody>
      </p:sp>
      <p:graphicFrame>
        <p:nvGraphicFramePr>
          <p:cNvPr id="5" name="Table Placeholder 4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2647926818"/>
              </p:ext>
            </p:extLst>
          </p:nvPr>
        </p:nvGraphicFramePr>
        <p:xfrm>
          <a:off x="627529" y="1198482"/>
          <a:ext cx="7988300" cy="52890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075"/>
                <a:gridCol w="1997075"/>
                <a:gridCol w="1997075"/>
                <a:gridCol w="1997075"/>
              </a:tblGrid>
              <a:tr h="48577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Si Discrete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Si HMIC™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GaAs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AlGaAs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084729">
                <a:tc>
                  <a:txBody>
                    <a:bodyPr/>
                    <a:lstStyle/>
                    <a:p>
                      <a:pPr marL="457200" lvl="1" indent="0">
                        <a:buFont typeface="Arial" panose="020B0604020202020204" pitchFamily="34" charset="0"/>
                        <a:buNone/>
                      </a:pPr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600" dirty="0" smtClean="0"/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107547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Wide operating frequency range, to</a:t>
                      </a:r>
                      <a:r>
                        <a:rPr lang="en-US" sz="1400" baseline="0" dirty="0" smtClean="0"/>
                        <a:t> 20 GHz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/>
                        <a:t>Excellent power handling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/>
                        <a:t>PIN and NIP diodes available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/>
                        <a:t>I layer: 2 – 300 µm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/>
                        <a:t>Available as: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/>
                        <a:t>Unpackaged chips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/>
                        <a:t>SMT packages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/>
                        <a:t>Ceramic Packages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/>
                        <a:t>Beam leads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Very Wide operating frequency range, to 30 GHz</a:t>
                      </a:r>
                    </a:p>
                    <a:p>
                      <a:pPr marL="285750" marR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 smtClean="0"/>
                        <a:t> </a:t>
                      </a:r>
                      <a:r>
                        <a:rPr lang="en-US" sz="1400" baseline="0" dirty="0" smtClean="0"/>
                        <a:t>I layer: 8 – 100 µm</a:t>
                      </a:r>
                      <a:endParaRPr lang="en-US" sz="1400" dirty="0" smtClean="0"/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Available as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Single junction devices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Multiple junction ICs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Wire-bondable or solderable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Wide operating frequency range, to</a:t>
                      </a:r>
                      <a:r>
                        <a:rPr lang="en-US" sz="1400" baseline="0" dirty="0" smtClean="0"/>
                        <a:t> 30 GHz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/>
                        <a:t>Good power handling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/>
                        <a:t>Available as: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/>
                        <a:t>Unpackaged chips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>
                          <a:solidFill>
                            <a:schemeClr val="tx1"/>
                          </a:solidFill>
                        </a:rPr>
                        <a:t>SMT packages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/>
                        <a:t>Ceramic Packages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/>
                        <a:t>Beam leads</a:t>
                      </a:r>
                      <a:endParaRPr lang="en-US" sz="1400" dirty="0" smtClean="0"/>
                    </a:p>
                    <a:p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Extremely Wide operating frequency range, to 100 GHz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Lower insertion loss than comparable Si or GaAs switches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/>
                        <a:t>I layer: 3 µm</a:t>
                      </a:r>
                      <a:endParaRPr lang="en-US" sz="1400" dirty="0" smtClean="0"/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Available as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Multiple junction ICs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Wire-bondable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358513">
            <a:off x="3821086" y="1862218"/>
            <a:ext cx="339264" cy="147190"/>
          </a:xfrm>
          <a:prstGeom prst="rect">
            <a:avLst/>
          </a:prstGeom>
          <a:solidFill>
            <a:schemeClr val="folHlink">
              <a:alpha val="94901"/>
            </a:schemeClr>
          </a:solidFill>
          <a:ln w="28575">
            <a:solidFill>
              <a:schemeClr val="folHlink"/>
            </a:solidFill>
            <a:miter lim="800000"/>
            <a:headEnd/>
            <a:tailEnd/>
          </a:ln>
        </p:spPr>
      </p:pic>
      <p:pic>
        <p:nvPicPr>
          <p:cNvPr id="8" name="Picture 2" descr="Varactor_crop_ro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9846674">
            <a:off x="5873120" y="2138816"/>
            <a:ext cx="300929" cy="300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4" descr="HeteroSP5T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59480" y="1822261"/>
            <a:ext cx="876282" cy="708446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9934200">
            <a:off x="2814576" y="1844234"/>
            <a:ext cx="779092" cy="664499"/>
          </a:xfrm>
          <a:prstGeom prst="rect">
            <a:avLst/>
          </a:prstGeom>
          <a:noFill/>
          <a:ln w="9525" algn="ctr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11" descr="201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9970" y="1987313"/>
            <a:ext cx="393943" cy="39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7" descr="pindiode chips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10954" y="1881784"/>
            <a:ext cx="406492" cy="499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8" descr="Beamlead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55511" y="1856498"/>
            <a:ext cx="556767" cy="655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466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62791" y="2186194"/>
            <a:ext cx="611658" cy="490936"/>
          </a:xfrm>
          <a:prstGeom prst="rect">
            <a:avLst/>
          </a:prstGeom>
          <a:noFill/>
        </p:spPr>
      </p:pic>
      <p:grpSp>
        <p:nvGrpSpPr>
          <p:cNvPr id="16" name="Group 15"/>
          <p:cNvGrpSpPr/>
          <p:nvPr/>
        </p:nvGrpSpPr>
        <p:grpSpPr>
          <a:xfrm>
            <a:off x="5219760" y="2069039"/>
            <a:ext cx="449650" cy="384761"/>
            <a:chOff x="939434" y="5386577"/>
            <a:chExt cx="716415" cy="750093"/>
          </a:xfrm>
        </p:grpSpPr>
        <p:pic>
          <p:nvPicPr>
            <p:cNvPr id="17" name="Picture 21"/>
            <p:cNvPicPr>
              <a:picLocks noChangeAspect="1" noChangeArrowheads="1"/>
            </p:cNvPicPr>
            <p:nvPr/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939434" y="5719945"/>
              <a:ext cx="716415" cy="416725"/>
            </a:xfrm>
            <a:prstGeom prst="rect">
              <a:avLst/>
            </a:prstGeom>
            <a:noFill/>
          </p:spPr>
        </p:pic>
        <p:pic>
          <p:nvPicPr>
            <p:cNvPr id="18" name="Picture 18"/>
            <p:cNvPicPr>
              <a:picLocks noChangeAspect="1" noChangeArrowheads="1"/>
            </p:cNvPicPr>
            <p:nvPr/>
          </p:nvPicPr>
          <p:blipFill>
            <a:blip r:embed="rId11" cstate="print"/>
            <a:srcRect/>
            <a:stretch>
              <a:fillRect/>
            </a:stretch>
          </p:blipFill>
          <p:spPr bwMode="auto">
            <a:xfrm rot="10800000">
              <a:off x="952450" y="5386577"/>
              <a:ext cx="683637" cy="333368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1549042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923826" y="1253766"/>
            <a:ext cx="7459073" cy="5273134"/>
            <a:chOff x="95292" y="80441"/>
            <a:chExt cx="8947484" cy="6601468"/>
          </a:xfrm>
        </p:grpSpPr>
        <p:sp>
          <p:nvSpPr>
            <p:cNvPr id="2" name="TextBox 1"/>
            <p:cNvSpPr txBox="1"/>
            <p:nvPr/>
          </p:nvSpPr>
          <p:spPr>
            <a:xfrm>
              <a:off x="1193024" y="80441"/>
              <a:ext cx="6741098" cy="3205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/>
                <a:t>RF Power and Frequency Performance vs Diode Type</a:t>
              </a:r>
            </a:p>
          </p:txBody>
        </p:sp>
        <p:pic>
          <p:nvPicPr>
            <p:cNvPr id="73" name="Picture 1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199305">
              <a:off x="1180257" y="3831585"/>
              <a:ext cx="725736" cy="5993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6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 rot="3265832">
              <a:off x="1430840" y="1273102"/>
              <a:ext cx="354203" cy="3418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1" name="Picture 6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1240928" y="2846049"/>
              <a:ext cx="661456" cy="3053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11" name="Group 10"/>
            <p:cNvGrpSpPr/>
            <p:nvPr/>
          </p:nvGrpSpPr>
          <p:grpSpPr>
            <a:xfrm>
              <a:off x="1181012" y="4975114"/>
              <a:ext cx="716415" cy="750093"/>
              <a:chOff x="939434" y="5386577"/>
              <a:chExt cx="716415" cy="750093"/>
            </a:xfrm>
          </p:grpSpPr>
          <p:pic>
            <p:nvPicPr>
              <p:cNvPr id="87" name="Picture 21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939434" y="5719945"/>
                <a:ext cx="716415" cy="416725"/>
              </a:xfrm>
              <a:prstGeom prst="rect">
                <a:avLst/>
              </a:prstGeom>
              <a:noFill/>
            </p:spPr>
          </p:pic>
          <p:pic>
            <p:nvPicPr>
              <p:cNvPr id="88" name="Picture 18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 rot="10800000">
                <a:off x="952450" y="5386577"/>
                <a:ext cx="683637" cy="333368"/>
              </a:xfrm>
              <a:prstGeom prst="rect">
                <a:avLst/>
              </a:prstGeom>
              <a:noFill/>
            </p:spPr>
          </p:pic>
        </p:grpSp>
        <p:sp>
          <p:nvSpPr>
            <p:cNvPr id="81" name="Freeform 80"/>
            <p:cNvSpPr/>
            <p:nvPr/>
          </p:nvSpPr>
          <p:spPr>
            <a:xfrm>
              <a:off x="2247807" y="2342872"/>
              <a:ext cx="826517" cy="306706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18921E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b="1" dirty="0" smtClean="0"/>
                <a:t>MELF</a:t>
              </a:r>
              <a:endParaRPr lang="en-US" sz="900" b="1" dirty="0"/>
            </a:p>
          </p:txBody>
        </p:sp>
        <p:pic>
          <p:nvPicPr>
            <p:cNvPr id="85" name="Picture 5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 rot="20963865">
              <a:off x="1166102" y="2198587"/>
              <a:ext cx="719951" cy="5688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" name="Picture 78" descr="1082 ceramic.jpg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537379">
              <a:off x="1197436" y="666514"/>
              <a:ext cx="883209" cy="527163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 rot="16200000">
              <a:off x="-990503" y="3175093"/>
              <a:ext cx="2458329" cy="2867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CW Incident Power (W)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00559" y="5119176"/>
              <a:ext cx="533400" cy="2895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0.1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292673" y="4006124"/>
              <a:ext cx="533400" cy="2895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1.0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44876" y="2868855"/>
              <a:ext cx="533400" cy="2895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10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224450" y="1834020"/>
              <a:ext cx="653543" cy="2895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100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300559" y="698158"/>
              <a:ext cx="533400" cy="2895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1k</a:t>
              </a:r>
            </a:p>
          </p:txBody>
        </p:sp>
        <p:grpSp>
          <p:nvGrpSpPr>
            <p:cNvPr id="27" name="Group 26"/>
            <p:cNvGrpSpPr/>
            <p:nvPr/>
          </p:nvGrpSpPr>
          <p:grpSpPr>
            <a:xfrm>
              <a:off x="701734" y="183357"/>
              <a:ext cx="368407" cy="6084469"/>
              <a:chOff x="716748" y="277222"/>
              <a:chExt cx="368407" cy="6084469"/>
            </a:xfrm>
          </p:grpSpPr>
          <p:cxnSp>
            <p:nvCxnSpPr>
              <p:cNvPr id="4" name="Straight Arrow Connector 3"/>
              <p:cNvCxnSpPr/>
              <p:nvPr/>
            </p:nvCxnSpPr>
            <p:spPr>
              <a:xfrm flipH="1" flipV="1">
                <a:off x="872521" y="277222"/>
                <a:ext cx="28431" cy="608446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" name="Group 20"/>
              <p:cNvGrpSpPr/>
              <p:nvPr/>
            </p:nvGrpSpPr>
            <p:grpSpPr>
              <a:xfrm>
                <a:off x="716748" y="984250"/>
                <a:ext cx="368407" cy="4399041"/>
                <a:chOff x="4163276" y="1029573"/>
                <a:chExt cx="368407" cy="4399041"/>
              </a:xfrm>
            </p:grpSpPr>
            <p:cxnSp>
              <p:nvCxnSpPr>
                <p:cNvPr id="17" name="Straight Connector 16"/>
                <p:cNvCxnSpPr/>
                <p:nvPr/>
              </p:nvCxnSpPr>
              <p:spPr>
                <a:xfrm>
                  <a:off x="4163276" y="5428614"/>
                  <a:ext cx="364067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0" name="Group 19"/>
                <p:cNvGrpSpPr/>
                <p:nvPr/>
              </p:nvGrpSpPr>
              <p:grpSpPr>
                <a:xfrm>
                  <a:off x="4163276" y="1029573"/>
                  <a:ext cx="364071" cy="1123176"/>
                  <a:chOff x="701144" y="929438"/>
                  <a:chExt cx="364071" cy="1123176"/>
                </a:xfrm>
              </p:grpSpPr>
              <p:cxnSp>
                <p:nvCxnSpPr>
                  <p:cNvPr id="52" name="Straight Connector 51"/>
                  <p:cNvCxnSpPr/>
                  <p:nvPr/>
                </p:nvCxnSpPr>
                <p:spPr>
                  <a:xfrm>
                    <a:off x="701144" y="2052614"/>
                    <a:ext cx="364067" cy="0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Straight Connector 52"/>
                  <p:cNvCxnSpPr/>
                  <p:nvPr/>
                </p:nvCxnSpPr>
                <p:spPr>
                  <a:xfrm>
                    <a:off x="701148" y="929438"/>
                    <a:ext cx="364067" cy="0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3" name="Group 62"/>
                <p:cNvGrpSpPr/>
                <p:nvPr/>
              </p:nvGrpSpPr>
              <p:grpSpPr>
                <a:xfrm>
                  <a:off x="4167612" y="3189528"/>
                  <a:ext cx="364071" cy="1123176"/>
                  <a:chOff x="701144" y="929438"/>
                  <a:chExt cx="364071" cy="1123176"/>
                </a:xfrm>
              </p:grpSpPr>
              <p:cxnSp>
                <p:nvCxnSpPr>
                  <p:cNvPr id="64" name="Straight Connector 63"/>
                  <p:cNvCxnSpPr/>
                  <p:nvPr/>
                </p:nvCxnSpPr>
                <p:spPr>
                  <a:xfrm>
                    <a:off x="701144" y="2052614"/>
                    <a:ext cx="364067" cy="0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" name="Straight Connector 64"/>
                  <p:cNvCxnSpPr/>
                  <p:nvPr/>
                </p:nvCxnSpPr>
                <p:spPr>
                  <a:xfrm>
                    <a:off x="701148" y="929438"/>
                    <a:ext cx="364067" cy="0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cxnSp>
          <p:nvCxnSpPr>
            <p:cNvPr id="43" name="Straight Arrow Connector 42"/>
            <p:cNvCxnSpPr/>
            <p:nvPr/>
          </p:nvCxnSpPr>
          <p:spPr>
            <a:xfrm flipV="1">
              <a:off x="883767" y="6248911"/>
              <a:ext cx="7235547" cy="1993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/>
            <p:cNvSpPr txBox="1"/>
            <p:nvPr/>
          </p:nvSpPr>
          <p:spPr>
            <a:xfrm>
              <a:off x="2228930" y="6392409"/>
              <a:ext cx="701513" cy="2895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0.01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3561420" y="6390464"/>
              <a:ext cx="533400" cy="2895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0.1</a:t>
              </a:r>
            </a:p>
          </p:txBody>
        </p:sp>
        <p:sp>
          <p:nvSpPr>
            <p:cNvPr id="109" name="Freeform 108"/>
            <p:cNvSpPr/>
            <p:nvPr/>
          </p:nvSpPr>
          <p:spPr>
            <a:xfrm>
              <a:off x="2252905" y="1770146"/>
              <a:ext cx="1278169" cy="371171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18921E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b="1" dirty="0" smtClean="0"/>
                <a:t>AlN in 3mm, 4mm DFN</a:t>
              </a:r>
              <a:endParaRPr lang="en-US" sz="900" b="1" dirty="0"/>
            </a:p>
          </p:txBody>
        </p:sp>
        <p:sp>
          <p:nvSpPr>
            <p:cNvPr id="110" name="Freeform 109"/>
            <p:cNvSpPr/>
            <p:nvPr/>
          </p:nvSpPr>
          <p:spPr>
            <a:xfrm>
              <a:off x="2247807" y="1251962"/>
              <a:ext cx="826517" cy="306706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18921E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b="1" dirty="0" smtClean="0"/>
                <a:t>Die</a:t>
              </a:r>
              <a:endParaRPr lang="en-US" sz="900" b="1" dirty="0"/>
            </a:p>
          </p:txBody>
        </p:sp>
        <p:sp>
          <p:nvSpPr>
            <p:cNvPr id="111" name="Freeform 110"/>
            <p:cNvSpPr/>
            <p:nvPr/>
          </p:nvSpPr>
          <p:spPr>
            <a:xfrm>
              <a:off x="2241875" y="770759"/>
              <a:ext cx="1032756" cy="306706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18921E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b="1" dirty="0" smtClean="0"/>
                <a:t>3KV Ceramic</a:t>
              </a:r>
              <a:endParaRPr lang="en-US" sz="900" b="1" dirty="0"/>
            </a:p>
          </p:txBody>
        </p:sp>
        <p:sp>
          <p:nvSpPr>
            <p:cNvPr id="112" name="Freeform 111"/>
            <p:cNvSpPr/>
            <p:nvPr/>
          </p:nvSpPr>
          <p:spPr>
            <a:xfrm>
              <a:off x="2241875" y="2846049"/>
              <a:ext cx="1036689" cy="306706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18921E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b="1" dirty="0" smtClean="0"/>
                <a:t>SURMOUNT</a:t>
              </a:r>
              <a:endParaRPr lang="en-US" sz="900" b="1" dirty="0"/>
            </a:p>
          </p:txBody>
        </p:sp>
        <p:sp>
          <p:nvSpPr>
            <p:cNvPr id="113" name="Freeform 112"/>
            <p:cNvSpPr/>
            <p:nvPr/>
          </p:nvSpPr>
          <p:spPr>
            <a:xfrm>
              <a:off x="2241875" y="3891628"/>
              <a:ext cx="1062399" cy="413408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18921E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b="1" dirty="0" smtClean="0"/>
                <a:t>SOD, SOT, Without AlN</a:t>
              </a:r>
              <a:endParaRPr lang="en-US" sz="900" b="1" dirty="0"/>
            </a:p>
          </p:txBody>
        </p:sp>
        <p:sp>
          <p:nvSpPr>
            <p:cNvPr id="114" name="Freeform 113"/>
            <p:cNvSpPr/>
            <p:nvPr/>
          </p:nvSpPr>
          <p:spPr>
            <a:xfrm>
              <a:off x="2245808" y="4990400"/>
              <a:ext cx="826517" cy="444524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18921E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b="1" dirty="0" smtClean="0"/>
                <a:t>Flip Chip, BL</a:t>
              </a:r>
              <a:endParaRPr lang="en-US" sz="900" b="1" dirty="0"/>
            </a:p>
          </p:txBody>
        </p:sp>
        <p:grpSp>
          <p:nvGrpSpPr>
            <p:cNvPr id="32" name="Group 31"/>
            <p:cNvGrpSpPr/>
            <p:nvPr/>
          </p:nvGrpSpPr>
          <p:grpSpPr>
            <a:xfrm>
              <a:off x="2480298" y="6072425"/>
              <a:ext cx="5325860" cy="364068"/>
              <a:chOff x="3625305" y="3329749"/>
              <a:chExt cx="5325860" cy="364068"/>
            </a:xfrm>
          </p:grpSpPr>
          <p:grpSp>
            <p:nvGrpSpPr>
              <p:cNvPr id="31" name="Group 30"/>
              <p:cNvGrpSpPr/>
              <p:nvPr/>
            </p:nvGrpSpPr>
            <p:grpSpPr>
              <a:xfrm>
                <a:off x="3625305" y="3329749"/>
                <a:ext cx="1304927" cy="364067"/>
                <a:chOff x="4076184" y="3134259"/>
                <a:chExt cx="1304927" cy="364067"/>
              </a:xfrm>
            </p:grpSpPr>
            <p:cxnSp>
              <p:nvCxnSpPr>
                <p:cNvPr id="67" name="Straight Connector 66"/>
                <p:cNvCxnSpPr/>
                <p:nvPr/>
              </p:nvCxnSpPr>
              <p:spPr>
                <a:xfrm rot="5400000">
                  <a:off x="3894150" y="3316293"/>
                  <a:ext cx="364067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Straight Connector 69"/>
                <p:cNvCxnSpPr/>
                <p:nvPr/>
              </p:nvCxnSpPr>
              <p:spPr>
                <a:xfrm rot="5400000">
                  <a:off x="5199077" y="3316293"/>
                  <a:ext cx="364067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2" name="Straight Connector 71"/>
              <p:cNvCxnSpPr/>
              <p:nvPr/>
            </p:nvCxnSpPr>
            <p:spPr>
              <a:xfrm rot="5400000">
                <a:off x="8769131" y="3511784"/>
                <a:ext cx="364067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2" name="Group 121"/>
              <p:cNvGrpSpPr/>
              <p:nvPr/>
            </p:nvGrpSpPr>
            <p:grpSpPr>
              <a:xfrm>
                <a:off x="6277425" y="3329750"/>
                <a:ext cx="1304927" cy="364067"/>
                <a:chOff x="4076184" y="3134259"/>
                <a:chExt cx="1304927" cy="364067"/>
              </a:xfrm>
            </p:grpSpPr>
            <p:cxnSp>
              <p:nvCxnSpPr>
                <p:cNvPr id="123" name="Straight Connector 122"/>
                <p:cNvCxnSpPr/>
                <p:nvPr/>
              </p:nvCxnSpPr>
              <p:spPr>
                <a:xfrm rot="5400000">
                  <a:off x="3894150" y="3316293"/>
                  <a:ext cx="364067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Straight Connector 123"/>
                <p:cNvCxnSpPr/>
                <p:nvPr/>
              </p:nvCxnSpPr>
              <p:spPr>
                <a:xfrm rot="5400000">
                  <a:off x="5199077" y="3316293"/>
                  <a:ext cx="364067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5" name="Group 34"/>
            <p:cNvGrpSpPr/>
            <p:nvPr/>
          </p:nvGrpSpPr>
          <p:grpSpPr>
            <a:xfrm>
              <a:off x="4910099" y="6061863"/>
              <a:ext cx="4132677" cy="618101"/>
              <a:chOff x="4930232" y="6124303"/>
              <a:chExt cx="4132677" cy="618101"/>
            </a:xfrm>
          </p:grpSpPr>
          <p:sp>
            <p:nvSpPr>
              <p:cNvPr id="104" name="TextBox 103"/>
              <p:cNvSpPr txBox="1"/>
              <p:nvPr/>
            </p:nvSpPr>
            <p:spPr>
              <a:xfrm>
                <a:off x="4930232" y="6434368"/>
                <a:ext cx="533400" cy="2895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smtClean="0"/>
                  <a:t>1.0</a:t>
                </a:r>
              </a:p>
            </p:txBody>
          </p:sp>
          <p:sp>
            <p:nvSpPr>
              <p:cNvPr id="105" name="TextBox 104"/>
              <p:cNvSpPr txBox="1"/>
              <p:nvPr/>
            </p:nvSpPr>
            <p:spPr>
              <a:xfrm>
                <a:off x="6234530" y="6430518"/>
                <a:ext cx="533400" cy="2895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smtClean="0"/>
                  <a:t>10</a:t>
                </a:r>
              </a:p>
            </p:txBody>
          </p:sp>
          <p:sp>
            <p:nvSpPr>
              <p:cNvPr id="106" name="TextBox 105"/>
              <p:cNvSpPr txBox="1"/>
              <p:nvPr/>
            </p:nvSpPr>
            <p:spPr>
              <a:xfrm>
                <a:off x="7580893" y="6452904"/>
                <a:ext cx="533400" cy="2895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smtClean="0"/>
                  <a:t>100</a:t>
                </a:r>
              </a:p>
            </p:txBody>
          </p:sp>
          <p:sp>
            <p:nvSpPr>
              <p:cNvPr id="108" name="TextBox 107"/>
              <p:cNvSpPr txBox="1"/>
              <p:nvPr/>
            </p:nvSpPr>
            <p:spPr>
              <a:xfrm>
                <a:off x="8138255" y="6124303"/>
                <a:ext cx="924654" cy="2895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smtClean="0"/>
                  <a:t>F (GHz)</a:t>
                </a:r>
              </a:p>
            </p:txBody>
          </p:sp>
        </p:grpSp>
        <p:cxnSp>
          <p:nvCxnSpPr>
            <p:cNvPr id="5" name="Straight Connector 4"/>
            <p:cNvCxnSpPr/>
            <p:nvPr/>
          </p:nvCxnSpPr>
          <p:spPr>
            <a:xfrm>
              <a:off x="958221" y="1173643"/>
              <a:ext cx="1426391" cy="0"/>
            </a:xfrm>
            <a:prstGeom prst="line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976151" y="1687485"/>
              <a:ext cx="5872881" cy="0"/>
            </a:xfrm>
            <a:prstGeom prst="line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 flipV="1">
              <a:off x="985111" y="2204504"/>
              <a:ext cx="5739961" cy="20866"/>
            </a:xfrm>
            <a:prstGeom prst="line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985116" y="2739228"/>
              <a:ext cx="4397831" cy="0"/>
            </a:xfrm>
            <a:prstGeom prst="line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 flipV="1">
              <a:off x="1006552" y="3307976"/>
              <a:ext cx="5932130" cy="4993"/>
            </a:xfrm>
            <a:prstGeom prst="line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>
              <a:off x="1006552" y="4465368"/>
              <a:ext cx="4397831" cy="0"/>
            </a:xfrm>
            <a:prstGeom prst="line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 flipV="1">
              <a:off x="986666" y="5798141"/>
              <a:ext cx="6418181" cy="31039"/>
            </a:xfrm>
            <a:prstGeom prst="line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80" name="TextBox 79"/>
            <p:cNvSpPr txBox="1"/>
            <p:nvPr/>
          </p:nvSpPr>
          <p:spPr>
            <a:xfrm>
              <a:off x="3292006" y="2853426"/>
              <a:ext cx="3135686" cy="2895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 smtClean="0"/>
                <a:t>Best Choice for SMT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3106220" y="1266687"/>
              <a:ext cx="4047611" cy="2895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 smtClean="0"/>
                <a:t>Best Choice for Wire Bonding </a:t>
              </a:r>
            </a:p>
          </p:txBody>
        </p:sp>
        <p:pic>
          <p:nvPicPr>
            <p:cNvPr id="8194" name="Picture 4" descr="http://cdn.macom.com/product_images/Product%20Image%20-%20MASW-011055.jp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17142" y="1770146"/>
              <a:ext cx="654991" cy="401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09448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84"/>
          <p:cNvSpPr txBox="1">
            <a:spLocks noChangeArrowheads="1"/>
          </p:cNvSpPr>
          <p:nvPr/>
        </p:nvSpPr>
        <p:spPr bwMode="auto">
          <a:xfrm>
            <a:off x="273047" y="166023"/>
            <a:ext cx="6178535" cy="812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sz="2400" b="1" dirty="0" smtClean="0"/>
              <a:t>Si PIN </a:t>
            </a:r>
            <a:r>
              <a:rPr lang="en-US" sz="2400" b="1" dirty="0"/>
              <a:t>DIODE SWITCH </a:t>
            </a:r>
            <a:r>
              <a:rPr lang="en-US" sz="2400" b="1" dirty="0" smtClean="0"/>
              <a:t>ELEMENT</a:t>
            </a:r>
          </a:p>
          <a:p>
            <a:endParaRPr lang="en-US" b="1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043" y="2705192"/>
            <a:ext cx="1767933" cy="116062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3421" y="2778966"/>
            <a:ext cx="1575407" cy="106675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017" y="4206952"/>
            <a:ext cx="1205906" cy="2286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2544" y="4216956"/>
            <a:ext cx="1205906" cy="762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5291" y="2551251"/>
            <a:ext cx="2117917" cy="131456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72017" y="5389532"/>
            <a:ext cx="12460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Series PIN Diode Element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1202" y="5419991"/>
            <a:ext cx="12460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Shunt PIN Diode Element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3245" y="5389531"/>
            <a:ext cx="19084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Series PIN Diode, Thermal-to-Ground Element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6041" y="2551251"/>
            <a:ext cx="2117917" cy="131456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61696" y="5419991"/>
            <a:ext cx="14368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Series-Shunt PIN Diode Element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81466" y="4150866"/>
            <a:ext cx="1243988" cy="9906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16499" y="4216956"/>
            <a:ext cx="1015500" cy="965200"/>
          </a:xfrm>
          <a:prstGeom prst="rect">
            <a:avLst/>
          </a:prstGeom>
        </p:spPr>
      </p:pic>
      <p:sp>
        <p:nvSpPr>
          <p:cNvPr id="13" name="TextBox 84"/>
          <p:cNvSpPr txBox="1">
            <a:spLocks noChangeArrowheads="1"/>
          </p:cNvSpPr>
          <p:nvPr/>
        </p:nvSpPr>
        <p:spPr bwMode="auto">
          <a:xfrm>
            <a:off x="273047" y="1324027"/>
            <a:ext cx="6178535" cy="1458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 smtClean="0"/>
              <a:t>Series, Shunt or Series-Shunt PIN Diodes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 smtClean="0"/>
              <a:t>SMT Plastic Package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 smtClean="0"/>
              <a:t>Medium Power Handling</a:t>
            </a:r>
          </a:p>
        </p:txBody>
      </p:sp>
    </p:spTree>
    <p:extLst>
      <p:ext uri="{BB962C8B-B14F-4D97-AF65-F5344CB8AC3E}">
        <p14:creationId xmlns:p14="http://schemas.microsoft.com/office/powerpoint/2010/main" val="1132657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3" name="Rectangle 4"/>
          <p:cNvSpPr>
            <a:spLocks noChangeArrowheads="1"/>
          </p:cNvSpPr>
          <p:nvPr/>
        </p:nvSpPr>
        <p:spPr bwMode="auto">
          <a:xfrm>
            <a:off x="136480" y="1185194"/>
            <a:ext cx="4148183" cy="500968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/>
          <a:lstStyle/>
          <a:p>
            <a:pPr marL="231775" indent="-231775" algn="l">
              <a:lnSpc>
                <a:spcPct val="120000"/>
              </a:lnSpc>
            </a:pPr>
            <a:r>
              <a:rPr lang="en-US" altLang="ko-KR" sz="2000" b="1" dirty="0" smtClean="0">
                <a:ea typeface="굴림" pitchFamily="34" charset="-127"/>
              </a:rPr>
              <a:t>Features</a:t>
            </a:r>
            <a:endParaRPr lang="en-US" altLang="ko-KR" sz="2000" b="1" dirty="0">
              <a:ea typeface="굴림" pitchFamily="34" charset="-127"/>
            </a:endParaRPr>
          </a:p>
          <a:p>
            <a:pPr marL="231775" indent="-231775" algn="l">
              <a:buFontTx/>
              <a:buChar char="•"/>
            </a:pPr>
            <a:r>
              <a:rPr lang="en-US" altLang="ko-KR" dirty="0">
                <a:ea typeface="굴림" pitchFamily="34" charset="-127"/>
              </a:rPr>
              <a:t>High Voltage Handling:</a:t>
            </a:r>
          </a:p>
          <a:p>
            <a:pPr marL="517525" lvl="1" algn="l">
              <a:buFontTx/>
              <a:buChar char="•"/>
            </a:pPr>
            <a:r>
              <a:rPr lang="en-US" altLang="ko-KR" dirty="0">
                <a:ea typeface="굴림" pitchFamily="34" charset="-127"/>
              </a:rPr>
              <a:t>   Up to </a:t>
            </a:r>
            <a:r>
              <a:rPr lang="en-US" altLang="ko-KR" dirty="0" smtClean="0">
                <a:ea typeface="굴림" pitchFamily="34" charset="-127"/>
              </a:rPr>
              <a:t>2000 V, 3000 V</a:t>
            </a:r>
            <a:endParaRPr lang="en-US" altLang="ko-KR" dirty="0">
              <a:ea typeface="굴림" pitchFamily="34" charset="-127"/>
            </a:endParaRPr>
          </a:p>
          <a:p>
            <a:pPr marL="231775" indent="-231775" algn="l">
              <a:buFontTx/>
              <a:buChar char="•"/>
            </a:pPr>
            <a:r>
              <a:rPr lang="en-US" altLang="ko-KR" dirty="0">
                <a:ea typeface="굴림" pitchFamily="34" charset="-127"/>
              </a:rPr>
              <a:t>Power Handling: </a:t>
            </a:r>
            <a:r>
              <a:rPr lang="en-US" altLang="ko-KR" dirty="0" smtClean="0">
                <a:ea typeface="굴림" pitchFamily="34" charset="-127"/>
              </a:rPr>
              <a:t>1 kW</a:t>
            </a:r>
            <a:endParaRPr lang="en-US" altLang="ko-KR" dirty="0">
              <a:ea typeface="굴림" pitchFamily="34" charset="-127"/>
            </a:endParaRPr>
          </a:p>
          <a:p>
            <a:pPr marL="231775" indent="-231775" algn="l">
              <a:buFontTx/>
              <a:buChar char="•"/>
            </a:pPr>
            <a:r>
              <a:rPr lang="en-US" altLang="ko-KR" dirty="0">
                <a:ea typeface="굴림" pitchFamily="34" charset="-127"/>
              </a:rPr>
              <a:t>Operate from </a:t>
            </a:r>
            <a:r>
              <a:rPr lang="en-US" altLang="ko-KR" dirty="0" smtClean="0">
                <a:ea typeface="굴림" pitchFamily="34" charset="-127"/>
              </a:rPr>
              <a:t>LF </a:t>
            </a:r>
            <a:r>
              <a:rPr lang="en-US" altLang="ko-KR" dirty="0">
                <a:ea typeface="굴림" pitchFamily="34" charset="-127"/>
              </a:rPr>
              <a:t>to 500 MHz</a:t>
            </a:r>
          </a:p>
          <a:p>
            <a:pPr marL="231775" indent="-231775" algn="l">
              <a:buFontTx/>
              <a:buChar char="•"/>
            </a:pPr>
            <a:r>
              <a:rPr lang="en-US" altLang="ko-KR" dirty="0" smtClean="0">
                <a:ea typeface="굴림" pitchFamily="34" charset="-127"/>
              </a:rPr>
              <a:t>Long Carrier Lifetime: 30 µs, </a:t>
            </a:r>
            <a:r>
              <a:rPr lang="en-US" altLang="ko-KR" dirty="0"/>
              <a:t>65 </a:t>
            </a:r>
            <a:r>
              <a:rPr lang="en-US" altLang="ko-KR" dirty="0" smtClean="0"/>
              <a:t>µs</a:t>
            </a:r>
            <a:endParaRPr lang="en-US" altLang="ko-KR" dirty="0" smtClean="0">
              <a:ea typeface="굴림" pitchFamily="34" charset="-127"/>
            </a:endParaRPr>
          </a:p>
          <a:p>
            <a:pPr marL="231775" indent="-231775" algn="l">
              <a:buFontTx/>
              <a:buChar char="•"/>
            </a:pPr>
            <a:r>
              <a:rPr lang="en-US" altLang="ko-KR" dirty="0" smtClean="0">
                <a:ea typeface="굴림" pitchFamily="34" charset="-127"/>
              </a:rPr>
              <a:t>Very Low Thermal Resistance: </a:t>
            </a:r>
          </a:p>
          <a:p>
            <a:pPr algn="l"/>
            <a:r>
              <a:rPr lang="en-US" altLang="ko-KR" dirty="0" smtClean="0">
                <a:ea typeface="굴림" pitchFamily="34" charset="-127"/>
              </a:rPr>
              <a:t>    3 </a:t>
            </a:r>
            <a:r>
              <a:rPr lang="en-US" altLang="ko-KR" dirty="0" smtClean="0">
                <a:ea typeface="굴림" pitchFamily="34" charset="-127"/>
                <a:sym typeface="Symbol" panose="05050102010706020507" pitchFamily="18" charset="2"/>
              </a:rPr>
              <a:t>C/W, </a:t>
            </a:r>
            <a:r>
              <a:rPr lang="en-US" altLang="ko-KR" dirty="0" smtClean="0"/>
              <a:t>4 </a:t>
            </a:r>
            <a:r>
              <a:rPr lang="en-US" altLang="ko-KR" dirty="0">
                <a:sym typeface="Symbol" panose="05050102010706020507" pitchFamily="18" charset="2"/>
              </a:rPr>
              <a:t></a:t>
            </a:r>
            <a:r>
              <a:rPr lang="en-US" altLang="ko-KR" dirty="0" smtClean="0">
                <a:sym typeface="Symbol" panose="05050102010706020507" pitchFamily="18" charset="2"/>
              </a:rPr>
              <a:t>C/W</a:t>
            </a:r>
          </a:p>
          <a:p>
            <a:pPr marL="231775" indent="-231775" algn="l">
              <a:buFontTx/>
              <a:buChar char="•"/>
            </a:pPr>
            <a:r>
              <a:rPr lang="en-US" altLang="ko-KR" dirty="0" smtClean="0">
                <a:ea typeface="굴림" pitchFamily="34" charset="-127"/>
                <a:sym typeface="Symbol" panose="05050102010706020507" pitchFamily="18" charset="2"/>
              </a:rPr>
              <a:t>Very Low Resistance: 0.1 </a:t>
            </a:r>
            <a:r>
              <a:rPr lang="el-GR" altLang="ko-KR" dirty="0" smtClean="0">
                <a:ea typeface="굴림" pitchFamily="34" charset="-127"/>
                <a:sym typeface="Symbol" panose="05050102010706020507" pitchFamily="18" charset="2"/>
              </a:rPr>
              <a:t>Ω</a:t>
            </a:r>
            <a:r>
              <a:rPr lang="en-US" altLang="ko-KR" dirty="0" smtClean="0">
                <a:ea typeface="굴림" pitchFamily="34" charset="-127"/>
                <a:sym typeface="Symbol" panose="05050102010706020507" pitchFamily="18" charset="2"/>
              </a:rPr>
              <a:t>, 0.15 </a:t>
            </a:r>
            <a:r>
              <a:rPr lang="el-GR" altLang="ko-KR" dirty="0">
                <a:sym typeface="Symbol" panose="05050102010706020507" pitchFamily="18" charset="2"/>
              </a:rPr>
              <a:t>Ω</a:t>
            </a:r>
            <a:endParaRPr lang="en-US" altLang="ko-KR" dirty="0">
              <a:ea typeface="굴림" pitchFamily="34" charset="-127"/>
            </a:endParaRPr>
          </a:p>
          <a:p>
            <a:pPr marL="231775" indent="-231775" algn="l">
              <a:buFontTx/>
              <a:buChar char="•"/>
            </a:pPr>
            <a:endParaRPr lang="en-US" altLang="ko-KR" sz="1600" dirty="0">
              <a:ea typeface="굴림" pitchFamily="34" charset="-127"/>
            </a:endParaRPr>
          </a:p>
          <a:p>
            <a:pPr marL="231775" indent="-231775" algn="l"/>
            <a:r>
              <a:rPr lang="en-US" altLang="ko-KR" sz="2000" b="1" dirty="0">
                <a:ea typeface="굴림" pitchFamily="34" charset="-127"/>
              </a:rPr>
              <a:t>Applications</a:t>
            </a:r>
          </a:p>
          <a:p>
            <a:pPr marL="231775" indent="-231775" algn="l">
              <a:buFontTx/>
              <a:buChar char="•"/>
            </a:pPr>
            <a:r>
              <a:rPr lang="en-US" altLang="ko-KR" sz="1600" dirty="0">
                <a:ea typeface="굴림" pitchFamily="34" charset="-127"/>
              </a:rPr>
              <a:t>High Power and High </a:t>
            </a:r>
            <a:r>
              <a:rPr lang="en-US" altLang="ko-KR" sz="1600" dirty="0" smtClean="0">
                <a:ea typeface="굴림" pitchFamily="34" charset="-127"/>
              </a:rPr>
              <a:t>Voltage Switching</a:t>
            </a:r>
          </a:p>
          <a:p>
            <a:pPr marL="231775" indent="-231775" algn="l">
              <a:buFontTx/>
              <a:buChar char="•"/>
            </a:pPr>
            <a:r>
              <a:rPr lang="en-US" altLang="ko-KR" sz="1600" dirty="0" smtClean="0">
                <a:ea typeface="굴림" pitchFamily="34" charset="-127"/>
              </a:rPr>
              <a:t>Plasma Etching Systems</a:t>
            </a:r>
          </a:p>
          <a:p>
            <a:pPr marL="231775" indent="-231775" algn="l">
              <a:buFontTx/>
              <a:buChar char="•"/>
            </a:pPr>
            <a:r>
              <a:rPr lang="en-US" altLang="ko-KR" sz="1600" dirty="0" smtClean="0">
                <a:ea typeface="굴림" pitchFamily="34" charset="-127"/>
              </a:rPr>
              <a:t>HF Radio Antenna Tuners</a:t>
            </a:r>
          </a:p>
          <a:p>
            <a:pPr marL="231775" indent="-231775" algn="l">
              <a:buFontTx/>
              <a:buChar char="•"/>
            </a:pPr>
            <a:endParaRPr lang="en-US" altLang="ko-KR" sz="1600" dirty="0">
              <a:ea typeface="굴림" pitchFamily="34" charset="-127"/>
            </a:endParaRPr>
          </a:p>
          <a:p>
            <a:pPr marL="231775" indent="-231775" algn="l"/>
            <a:endParaRPr lang="en-US" altLang="ko-KR" dirty="0">
              <a:ea typeface="굴림" pitchFamily="34" charset="-127"/>
            </a:endParaRPr>
          </a:p>
          <a:p>
            <a:pPr marL="231775" indent="-231775" algn="l">
              <a:buFontTx/>
              <a:buChar char="•"/>
            </a:pPr>
            <a:endParaRPr lang="en-US" altLang="ko-KR" dirty="0">
              <a:ea typeface="굴림" pitchFamily="34" charset="-127"/>
            </a:endParaRPr>
          </a:p>
          <a:p>
            <a:pPr marL="231775" indent="-231775" algn="l"/>
            <a:endParaRPr lang="en-US" altLang="ko-KR" sz="1600" dirty="0">
              <a:ea typeface="굴림" pitchFamily="34" charset="-127"/>
            </a:endParaRPr>
          </a:p>
        </p:txBody>
      </p:sp>
      <p:pic>
        <p:nvPicPr>
          <p:cNvPr id="75786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91238" y="1632701"/>
            <a:ext cx="928688" cy="909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5787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rot="-2249716">
            <a:off x="5868826" y="1610476"/>
            <a:ext cx="1273175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5788" name="Picture 10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605176" y="1629526"/>
            <a:ext cx="1046162" cy="985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5789" name="Rectangle 13"/>
          <p:cNvSpPr>
            <a:spLocks noGrp="1"/>
          </p:cNvSpPr>
          <p:nvPr>
            <p:ph type="title" idx="4294967295"/>
          </p:nvPr>
        </p:nvSpPr>
        <p:spPr>
          <a:xfrm>
            <a:off x="136480" y="126120"/>
            <a:ext cx="6540500" cy="547687"/>
          </a:xfrm>
        </p:spPr>
        <p:txBody>
          <a:bodyPr/>
          <a:lstStyle/>
          <a:p>
            <a:r>
              <a:rPr lang="en-US" dirty="0" smtClean="0"/>
              <a:t>Discrete Kilovolt </a:t>
            </a:r>
            <a:r>
              <a:rPr lang="en-US" dirty="0"/>
              <a:t>PIN Diodes</a:t>
            </a:r>
          </a:p>
        </p:txBody>
      </p:sp>
      <p:sp>
        <p:nvSpPr>
          <p:cNvPr id="75790" name="Oval 14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7535863" y="0"/>
            <a:ext cx="1608137" cy="903288"/>
          </a:xfrm>
          <a:prstGeom prst="ellipse">
            <a:avLst/>
          </a:prstGeom>
          <a:solidFill>
            <a:schemeClr val="bg1">
              <a:alpha val="0"/>
            </a:schemeClr>
          </a:soli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4622" y="2875199"/>
            <a:ext cx="3631171" cy="338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560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9184" y="109891"/>
            <a:ext cx="6543675" cy="552450"/>
          </a:xfrm>
        </p:spPr>
        <p:txBody>
          <a:bodyPr lIns="91440" tIns="45720" rIns="91440" bIns="45720" anchor="b">
            <a:normAutofit fontScale="90000"/>
          </a:bodyPr>
          <a:lstStyle/>
          <a:p>
            <a:pPr eaLnBrk="1" hangingPunct="1"/>
            <a:r>
              <a:rPr lang="en-US" dirty="0" smtClean="0"/>
              <a:t>Discrete High </a:t>
            </a:r>
            <a:r>
              <a:rPr lang="en-US" dirty="0"/>
              <a:t>Power MELF PIN Diodes</a:t>
            </a:r>
          </a:p>
        </p:txBody>
      </p:sp>
      <p:sp>
        <p:nvSpPr>
          <p:cNvPr id="67591" name="Text Box 7"/>
          <p:cNvSpPr txBox="1">
            <a:spLocks noChangeArrowheads="1"/>
          </p:cNvSpPr>
          <p:nvPr/>
        </p:nvSpPr>
        <p:spPr bwMode="auto">
          <a:xfrm>
            <a:off x="4803775" y="6073808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ea typeface="굴림" pitchFamily="34" charset="-127"/>
              </a:rPr>
              <a:t>Available in Tape &amp; Reel</a:t>
            </a:r>
            <a:endParaRPr lang="en-US" b="1" dirty="0">
              <a:solidFill>
                <a:schemeClr val="bg1"/>
              </a:solidFill>
              <a:ea typeface="굴림" pitchFamily="34" charset="-127"/>
            </a:endParaRPr>
          </a:p>
        </p:txBody>
      </p:sp>
      <p:sp>
        <p:nvSpPr>
          <p:cNvPr id="67598" name="Oval 14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7535863" y="0"/>
            <a:ext cx="1608137" cy="903288"/>
          </a:xfrm>
          <a:prstGeom prst="ellipse">
            <a:avLst/>
          </a:prstGeom>
          <a:solidFill>
            <a:schemeClr val="bg1">
              <a:alpha val="0"/>
            </a:schemeClr>
          </a:soli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7589" name="Rectangle 4"/>
          <p:cNvSpPr>
            <a:spLocks noChangeArrowheads="1"/>
          </p:cNvSpPr>
          <p:nvPr/>
        </p:nvSpPr>
        <p:spPr bwMode="auto">
          <a:xfrm>
            <a:off x="231008" y="1557196"/>
            <a:ext cx="4825085" cy="4999866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anchor="ctr"/>
          <a:lstStyle/>
          <a:p>
            <a:pPr algn="l"/>
            <a:r>
              <a:rPr lang="en-US" altLang="ko-KR" b="1" dirty="0" smtClean="0">
                <a:ea typeface="굴림" pitchFamily="34" charset="-127"/>
              </a:rPr>
              <a:t>Features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en-US" altLang="ko-KR" dirty="0" smtClean="0">
                <a:ea typeface="굴림" pitchFamily="34" charset="-127"/>
              </a:rPr>
              <a:t>High </a:t>
            </a:r>
            <a:r>
              <a:rPr lang="en-US" altLang="ko-KR" dirty="0">
                <a:ea typeface="굴림" pitchFamily="34" charset="-127"/>
              </a:rPr>
              <a:t>Voltage Handling: Up to </a:t>
            </a:r>
            <a:r>
              <a:rPr lang="en-US" altLang="ko-KR" dirty="0" smtClean="0">
                <a:ea typeface="굴림" pitchFamily="34" charset="-127"/>
              </a:rPr>
              <a:t>1100 V</a:t>
            </a:r>
            <a:endParaRPr lang="en-US" altLang="ko-KR" dirty="0">
              <a:ea typeface="굴림" pitchFamily="34" charset="-127"/>
            </a:endParaRPr>
          </a:p>
          <a:p>
            <a:pPr marL="457200" indent="-457200" algn="l">
              <a:buFont typeface="Wingdings" pitchFamily="2" charset="2"/>
              <a:buChar char="§"/>
            </a:pPr>
            <a:r>
              <a:rPr lang="en-US" altLang="ko-KR" dirty="0" smtClean="0">
                <a:ea typeface="굴림" pitchFamily="34" charset="-127"/>
              </a:rPr>
              <a:t>200+ W </a:t>
            </a:r>
            <a:r>
              <a:rPr lang="en-US" altLang="ko-KR" dirty="0">
                <a:ea typeface="굴림" pitchFamily="34" charset="-127"/>
              </a:rPr>
              <a:t>Power Handling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en-US" altLang="ko-KR" dirty="0" smtClean="0">
                <a:ea typeface="굴림" pitchFamily="34" charset="-127"/>
              </a:rPr>
              <a:t>Operate/Tunable </a:t>
            </a:r>
            <a:r>
              <a:rPr lang="en-US" altLang="ko-KR" dirty="0">
                <a:ea typeface="굴림" pitchFamily="34" charset="-127"/>
              </a:rPr>
              <a:t>from </a:t>
            </a:r>
            <a:r>
              <a:rPr lang="en-US" altLang="ko-KR" dirty="0" smtClean="0">
                <a:ea typeface="굴림" pitchFamily="34" charset="-127"/>
              </a:rPr>
              <a:t>LF </a:t>
            </a:r>
            <a:r>
              <a:rPr lang="en-US" altLang="ko-KR" dirty="0">
                <a:ea typeface="굴림" pitchFamily="34" charset="-127"/>
              </a:rPr>
              <a:t>to 2.5 GHz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en-US" altLang="ko-KR" dirty="0">
                <a:ea typeface="굴림" pitchFamily="34" charset="-127"/>
              </a:rPr>
              <a:t>Surface Mountable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en-US" altLang="ko-KR" dirty="0">
                <a:ea typeface="굴림" pitchFamily="34" charset="-127"/>
              </a:rPr>
              <a:t>Non-Magnetic Versions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en-US" altLang="ko-KR" dirty="0">
                <a:ea typeface="굴림" pitchFamily="34" charset="-127"/>
              </a:rPr>
              <a:t>Superior Heat Management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en-US" altLang="ko-KR" dirty="0">
                <a:ea typeface="굴림" pitchFamily="34" charset="-127"/>
              </a:rPr>
              <a:t>Low Series Resistance</a:t>
            </a:r>
          </a:p>
          <a:p>
            <a:pPr marL="457200" indent="-457200" algn="l"/>
            <a:endParaRPr lang="en-US" altLang="ko-KR" sz="1100" dirty="0">
              <a:ea typeface="굴림" pitchFamily="34" charset="-127"/>
            </a:endParaRPr>
          </a:p>
          <a:p>
            <a:pPr marL="457200" indent="-457200" algn="l"/>
            <a:r>
              <a:rPr lang="en-US" altLang="ko-KR" b="1" dirty="0">
                <a:ea typeface="굴림" pitchFamily="34" charset="-127"/>
              </a:rPr>
              <a:t>Applications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en-US" altLang="ko-KR" dirty="0">
                <a:ea typeface="굴림" pitchFamily="34" charset="-127"/>
              </a:rPr>
              <a:t>High Power Switches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en-US" altLang="ko-KR" dirty="0">
                <a:ea typeface="굴림" pitchFamily="34" charset="-127"/>
              </a:rPr>
              <a:t>Attenuators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en-US" altLang="ko-KR" dirty="0">
                <a:ea typeface="굴림" pitchFamily="34" charset="-127"/>
              </a:rPr>
              <a:t>Magnetic Resonance Imaging (MRI</a:t>
            </a:r>
            <a:r>
              <a:rPr lang="en-US" altLang="ko-KR" dirty="0" smtClean="0">
                <a:ea typeface="굴림" pitchFamily="34" charset="-127"/>
              </a:rPr>
              <a:t>) Receiver Protection</a:t>
            </a:r>
            <a:endParaRPr lang="en-US" altLang="ko-KR" dirty="0">
              <a:ea typeface="굴림" pitchFamily="34" charset="-127"/>
            </a:endParaRPr>
          </a:p>
          <a:p>
            <a:pPr marL="457200" indent="-457200" algn="l">
              <a:buFontTx/>
              <a:buChar char="•"/>
            </a:pPr>
            <a:endParaRPr lang="en-US" altLang="ko-KR" sz="1600" dirty="0">
              <a:latin typeface="Times New Roman" pitchFamily="18" charset="0"/>
              <a:ea typeface="굴림" pitchFamily="34" charset="-127"/>
            </a:endParaRPr>
          </a:p>
          <a:p>
            <a:pPr marL="457200" indent="-457200" algn="l">
              <a:buFontTx/>
              <a:buChar char="•"/>
            </a:pPr>
            <a:endParaRPr lang="en-US" altLang="ko-KR" dirty="0">
              <a:ea typeface="굴림" pitchFamily="34" charset="-127"/>
            </a:endParaRPr>
          </a:p>
        </p:txBody>
      </p:sp>
      <p:pic>
        <p:nvPicPr>
          <p:cNvPr id="67599" name="Picture 15" descr="MELFondime2">
            <a:hlinkClick r:id="" action="ppaction://noaction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06447" y="2195428"/>
            <a:ext cx="2247302" cy="2048645"/>
          </a:xfrm>
          <a:prstGeom prst="rect">
            <a:avLst/>
          </a:prstGeom>
          <a:noFill/>
          <a:ln w="222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5188549" y="4521395"/>
            <a:ext cx="32830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#1 Supplier of MELF PIN Diodes</a:t>
            </a:r>
          </a:p>
        </p:txBody>
      </p:sp>
    </p:spTree>
    <p:extLst>
      <p:ext uri="{BB962C8B-B14F-4D97-AF65-F5344CB8AC3E}">
        <p14:creationId xmlns:p14="http://schemas.microsoft.com/office/powerpoint/2010/main" val="3764591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240" y="183932"/>
            <a:ext cx="6061075" cy="363537"/>
          </a:xfrm>
        </p:spPr>
        <p:txBody>
          <a:bodyPr lIns="91440" tIns="45720" rIns="91440" bIns="45720" anchor="b">
            <a:noAutofit/>
          </a:bodyPr>
          <a:lstStyle/>
          <a:p>
            <a:r>
              <a:rPr lang="en-US" dirty="0" smtClean="0"/>
              <a:t>Discrete Diodes – Limiters</a:t>
            </a:r>
            <a:endParaRPr lang="en-US" dirty="0"/>
          </a:p>
        </p:txBody>
      </p:sp>
      <p:sp>
        <p:nvSpPr>
          <p:cNvPr id="187399" name="Rectangle 6"/>
          <p:cNvSpPr>
            <a:spLocks noChangeArrowheads="1"/>
          </p:cNvSpPr>
          <p:nvPr/>
        </p:nvSpPr>
        <p:spPr bwMode="auto">
          <a:xfrm>
            <a:off x="179537" y="1193399"/>
            <a:ext cx="4995778" cy="553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2000" dirty="0" smtClean="0">
                <a:ea typeface="굴림" pitchFamily="34" charset="-127"/>
              </a:rPr>
              <a:t> Limiter diodes can be thought of as RF-voltage-controlled variable attenuators</a:t>
            </a:r>
          </a:p>
          <a:p>
            <a:pPr lvl="1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2000" dirty="0" smtClean="0">
                <a:ea typeface="굴림" pitchFamily="34" charset="-127"/>
              </a:rPr>
              <a:t>When input signal is small, </a:t>
            </a:r>
          </a:p>
          <a:p>
            <a:pPr lvl="2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2000" dirty="0" smtClean="0">
                <a:ea typeface="굴림" pitchFamily="34" charset="-127"/>
              </a:rPr>
              <a:t>limiter diode impedance is high  </a:t>
            </a:r>
          </a:p>
          <a:p>
            <a:pPr lvl="2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2000" dirty="0" smtClean="0">
                <a:ea typeface="굴림" pitchFamily="34" charset="-127"/>
              </a:rPr>
              <a:t>RF signal is not attenuated</a:t>
            </a:r>
          </a:p>
          <a:p>
            <a:pPr lvl="1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2000" dirty="0" smtClean="0">
                <a:ea typeface="굴림" pitchFamily="34" charset="-127"/>
              </a:rPr>
              <a:t>When RF signal is large, </a:t>
            </a:r>
          </a:p>
          <a:p>
            <a:pPr lvl="2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2000" dirty="0" smtClean="0">
                <a:ea typeface="굴림" pitchFamily="34" charset="-127"/>
              </a:rPr>
              <a:t>it forces the diode’s impedance to be small</a:t>
            </a:r>
          </a:p>
          <a:p>
            <a:pPr lvl="2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2000" dirty="0" smtClean="0">
                <a:ea typeface="굴림" pitchFamily="34" charset="-127"/>
              </a:rPr>
              <a:t> which reflects the input signal back to its source</a:t>
            </a:r>
          </a:p>
          <a:p>
            <a:pPr lvl="1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2000" dirty="0" smtClean="0">
                <a:ea typeface="굴림" pitchFamily="34" charset="-127"/>
              </a:rPr>
              <a:t>No external control signal is required for the limiter to operate</a:t>
            </a:r>
          </a:p>
          <a:p>
            <a:pPr lvl="1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2000" dirty="0" smtClean="0">
                <a:ea typeface="굴림" pitchFamily="34" charset="-127"/>
              </a:rPr>
              <a:t>DC current return path (RF choke) is required</a:t>
            </a:r>
          </a:p>
          <a:p>
            <a:pPr lvl="1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2000" dirty="0" smtClean="0">
                <a:ea typeface="굴림" pitchFamily="34" charset="-127"/>
              </a:rPr>
              <a:t>Diode I layer thickness determines input power level at which the limiter “turns on” </a:t>
            </a:r>
          </a:p>
          <a:p>
            <a:pPr lvl="2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2000" dirty="0" smtClean="0">
                <a:ea typeface="굴림" pitchFamily="34" charset="-127"/>
              </a:rPr>
              <a:t>Threshold level = input 1 dB compression point</a:t>
            </a:r>
          </a:p>
        </p:txBody>
      </p:sp>
      <p:graphicFrame>
        <p:nvGraphicFramePr>
          <p:cNvPr id="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4129812"/>
              </p:ext>
            </p:extLst>
          </p:nvPr>
        </p:nvGraphicFramePr>
        <p:xfrm>
          <a:off x="5034845" y="2487505"/>
          <a:ext cx="3743325" cy="360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0" name="Mathcad 6.0" r:id="rId4" imgW="3743280" imgH="3609720" progId="">
                  <p:embed/>
                </p:oleObj>
              </mc:Choice>
              <mc:Fallback>
                <p:oleObj name="Mathcad 6.0" r:id="rId4" imgW="3743280" imgH="360972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4845" y="2487505"/>
                        <a:ext cx="3743325" cy="360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1906" y="1234931"/>
            <a:ext cx="3007555" cy="1338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250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240" y="183932"/>
            <a:ext cx="6061075" cy="363537"/>
          </a:xfrm>
        </p:spPr>
        <p:txBody>
          <a:bodyPr lIns="91440" tIns="45720" rIns="91440" bIns="45720" anchor="b">
            <a:noAutofit/>
          </a:bodyPr>
          <a:lstStyle/>
          <a:p>
            <a:r>
              <a:rPr lang="en-US" dirty="0" smtClean="0"/>
              <a:t>Discrete Diodes – Limiters</a:t>
            </a:r>
            <a:endParaRPr lang="en-US" dirty="0"/>
          </a:p>
        </p:txBody>
      </p:sp>
      <p:sp>
        <p:nvSpPr>
          <p:cNvPr id="187399" name="Rectangle 6"/>
          <p:cNvSpPr>
            <a:spLocks noChangeArrowheads="1"/>
          </p:cNvSpPr>
          <p:nvPr/>
        </p:nvSpPr>
        <p:spPr bwMode="auto">
          <a:xfrm>
            <a:off x="151158" y="1303838"/>
            <a:ext cx="4000104" cy="4970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2000" dirty="0" smtClean="0">
                <a:ea typeface="굴림" pitchFamily="34" charset="-127"/>
              </a:rPr>
              <a:t>Limiter diodes available </a:t>
            </a:r>
          </a:p>
          <a:p>
            <a:pPr lvl="1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2000" dirty="0" smtClean="0">
                <a:ea typeface="굴림" pitchFamily="34" charset="-127"/>
              </a:rPr>
              <a:t>Die Versions (to 20 GHz)</a:t>
            </a:r>
          </a:p>
          <a:p>
            <a:pPr lvl="1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2000" dirty="0" smtClean="0">
                <a:ea typeface="굴림" pitchFamily="34" charset="-127"/>
              </a:rPr>
              <a:t> Available in Ceramic &amp; Plastic Packages  (up to 12 GHz)</a:t>
            </a:r>
          </a:p>
          <a:p>
            <a:pPr marL="0" lvl="1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2000" dirty="0" smtClean="0">
                <a:ea typeface="굴림" pitchFamily="34" charset="-127"/>
              </a:rPr>
              <a:t>Low Capacitance</a:t>
            </a:r>
          </a:p>
          <a:p>
            <a:pPr marL="0" lvl="1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2000" dirty="0" smtClean="0">
                <a:ea typeface="굴림" pitchFamily="34" charset="-127"/>
              </a:rPr>
              <a:t>I layers from 2 µm to 40 </a:t>
            </a:r>
            <a:r>
              <a:rPr lang="en-US" altLang="ko-KR" sz="2000" dirty="0"/>
              <a:t>µm</a:t>
            </a:r>
            <a:endParaRPr lang="en-US" altLang="ko-KR" sz="2000" dirty="0">
              <a:ea typeface="굴림" pitchFamily="34" charset="-127"/>
            </a:endParaRPr>
          </a:p>
          <a:p>
            <a:pPr marL="0" lvl="1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2000" dirty="0">
                <a:ea typeface="굴림" pitchFamily="34" charset="-127"/>
              </a:rPr>
              <a:t> </a:t>
            </a:r>
            <a:r>
              <a:rPr lang="en-US" altLang="ko-KR" sz="2000" dirty="0" smtClean="0">
                <a:ea typeface="굴림" pitchFamily="34" charset="-127"/>
              </a:rPr>
              <a:t>Cascadable for Increased </a:t>
            </a:r>
            <a:r>
              <a:rPr lang="en-US" altLang="ko-KR" sz="2000" dirty="0">
                <a:ea typeface="굴림" pitchFamily="34" charset="-127"/>
              </a:rPr>
              <a:t>Power Handling and </a:t>
            </a:r>
            <a:r>
              <a:rPr lang="en-US" altLang="ko-KR" sz="2000" dirty="0" smtClean="0">
                <a:ea typeface="굴림" pitchFamily="34" charset="-127"/>
              </a:rPr>
              <a:t>Limiting</a:t>
            </a:r>
          </a:p>
          <a:p>
            <a:pPr marL="457200" lvl="2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2000" dirty="0" smtClean="0">
                <a:ea typeface="굴림" pitchFamily="34" charset="-127"/>
              </a:rPr>
              <a:t>Thinnest diode placed at output stage</a:t>
            </a:r>
          </a:p>
          <a:p>
            <a:pPr marL="914400" lvl="3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2000" dirty="0" smtClean="0">
                <a:ea typeface="굴림" pitchFamily="34" charset="-127"/>
              </a:rPr>
              <a:t>Determines threshold level, spike leakage</a:t>
            </a:r>
          </a:p>
          <a:p>
            <a:pPr marL="457200" lvl="2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2000" dirty="0" smtClean="0">
                <a:ea typeface="굴림" pitchFamily="34" charset="-127"/>
              </a:rPr>
              <a:t>Thickest diode placed at input stage</a:t>
            </a:r>
          </a:p>
          <a:p>
            <a:pPr marL="914400" lvl="3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2000" dirty="0" smtClean="0">
                <a:ea typeface="굴림" pitchFamily="34" charset="-127"/>
              </a:rPr>
              <a:t>Determines power handling, recovery time </a:t>
            </a:r>
            <a:endParaRPr lang="en-US" altLang="ko-KR" sz="2000" dirty="0">
              <a:ea typeface="굴림" pitchFamily="34" charset="-127"/>
            </a:endParaRPr>
          </a:p>
        </p:txBody>
      </p:sp>
      <p:grpSp>
        <p:nvGrpSpPr>
          <p:cNvPr id="6" name="Group 4"/>
          <p:cNvGrpSpPr>
            <a:grpSpLocks/>
          </p:cNvGrpSpPr>
          <p:nvPr/>
        </p:nvGrpSpPr>
        <p:grpSpPr bwMode="auto">
          <a:xfrm>
            <a:off x="4338581" y="1741442"/>
            <a:ext cx="4507499" cy="3453741"/>
            <a:chOff x="2880" y="1316"/>
            <a:chExt cx="2671" cy="1985"/>
          </a:xfrm>
        </p:grpSpPr>
        <p:graphicFrame>
          <p:nvGraphicFramePr>
            <p:cNvPr id="8" name="Object 5"/>
            <p:cNvGraphicFramePr>
              <a:graphicFrameLocks noChangeAspect="1"/>
            </p:cNvGraphicFramePr>
            <p:nvPr/>
          </p:nvGraphicFramePr>
          <p:xfrm>
            <a:off x="3060" y="1392"/>
            <a:ext cx="1335" cy="17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4" name="Mathcad" r:id="rId4" imgW="5153040" imgH="2800440" progId="Mathcad">
                    <p:embed/>
                  </p:oleObj>
                </mc:Choice>
                <mc:Fallback>
                  <p:oleObj name="Mathcad" r:id="rId4" imgW="5153040" imgH="2800440" progId="Mathcad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0" y="1392"/>
                          <a:ext cx="1335" cy="17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6"/>
            <p:cNvGraphicFramePr>
              <a:graphicFrameLocks noChangeAspect="1"/>
            </p:cNvGraphicFramePr>
            <p:nvPr/>
          </p:nvGraphicFramePr>
          <p:xfrm>
            <a:off x="3018" y="2160"/>
            <a:ext cx="2533" cy="6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5" name="VISIO" r:id="rId6" imgW="2555280" imgH="1043280" progId="Visio.Drawing.11">
                    <p:embed/>
                  </p:oleObj>
                </mc:Choice>
                <mc:Fallback>
                  <p:oleObj name="VISIO" r:id="rId6" imgW="2555280" imgH="1043280" progId="Visio.Drawing.11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8" y="2160"/>
                          <a:ext cx="2533" cy="6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" name="Group 7"/>
            <p:cNvGrpSpPr>
              <a:grpSpLocks/>
            </p:cNvGrpSpPr>
            <p:nvPr/>
          </p:nvGrpSpPr>
          <p:grpSpPr bwMode="auto">
            <a:xfrm>
              <a:off x="3710" y="2774"/>
              <a:ext cx="568" cy="264"/>
              <a:chOff x="3572" y="2324"/>
              <a:chExt cx="568" cy="264"/>
            </a:xfrm>
          </p:grpSpPr>
          <p:sp>
            <p:nvSpPr>
              <p:cNvPr id="15" name="Line 8"/>
              <p:cNvSpPr>
                <a:spLocks noChangeShapeType="1"/>
              </p:cNvSpPr>
              <p:nvPr/>
            </p:nvSpPr>
            <p:spPr bwMode="auto">
              <a:xfrm>
                <a:off x="3576" y="2324"/>
                <a:ext cx="0" cy="2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6" name="Line 9"/>
              <p:cNvSpPr>
                <a:spLocks noChangeShapeType="1"/>
              </p:cNvSpPr>
              <p:nvPr/>
            </p:nvSpPr>
            <p:spPr bwMode="auto">
              <a:xfrm>
                <a:off x="4140" y="2324"/>
                <a:ext cx="0" cy="2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7" name="Text Box 10"/>
              <p:cNvSpPr txBox="1">
                <a:spLocks noChangeArrowheads="1"/>
              </p:cNvSpPr>
              <p:nvPr/>
            </p:nvSpPr>
            <p:spPr bwMode="auto">
              <a:xfrm>
                <a:off x="3728" y="2380"/>
                <a:ext cx="268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200" dirty="0">
                    <a:latin typeface="Times New Roman" pitchFamily="18" charset="0"/>
                    <a:sym typeface="Symbol" pitchFamily="18" charset="2"/>
                  </a:rPr>
                  <a:t>/4</a:t>
                </a:r>
                <a:endParaRPr lang="en-US" sz="1200" dirty="0">
                  <a:latin typeface="Times New Roman" pitchFamily="18" charset="0"/>
                </a:endParaRPr>
              </a:p>
            </p:txBody>
          </p:sp>
          <p:sp>
            <p:nvSpPr>
              <p:cNvPr id="18" name="Line 11"/>
              <p:cNvSpPr>
                <a:spLocks noChangeShapeType="1"/>
              </p:cNvSpPr>
              <p:nvPr/>
            </p:nvSpPr>
            <p:spPr bwMode="auto">
              <a:xfrm>
                <a:off x="3956" y="2468"/>
                <a:ext cx="1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9" name="Line 12"/>
              <p:cNvSpPr>
                <a:spLocks noChangeShapeType="1"/>
              </p:cNvSpPr>
              <p:nvPr/>
            </p:nvSpPr>
            <p:spPr bwMode="auto">
              <a:xfrm flipH="1">
                <a:off x="3572" y="2468"/>
                <a:ext cx="1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11" name="AutoShape 13"/>
            <p:cNvSpPr>
              <a:spLocks/>
            </p:cNvSpPr>
            <p:nvPr/>
          </p:nvSpPr>
          <p:spPr bwMode="auto">
            <a:xfrm>
              <a:off x="4686" y="1316"/>
              <a:ext cx="738" cy="179"/>
            </a:xfrm>
            <a:prstGeom prst="borderCallout2">
              <a:avLst>
                <a:gd name="adj1" fmla="val 40222"/>
                <a:gd name="adj2" fmla="val -6505"/>
                <a:gd name="adj3" fmla="val 40222"/>
                <a:gd name="adj4" fmla="val -30083"/>
                <a:gd name="adj5" fmla="val 268713"/>
                <a:gd name="adj6" fmla="val -54472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r>
                <a:rPr lang="en-US" sz="1200" dirty="0">
                  <a:latin typeface="Times New Roman" pitchFamily="18" charset="0"/>
                </a:rPr>
                <a:t>I standing wave</a:t>
              </a:r>
              <a:endParaRPr lang="en-US" sz="1600" dirty="0">
                <a:latin typeface="Times New Roman" pitchFamily="18" charset="0"/>
              </a:endParaRPr>
            </a:p>
          </p:txBody>
        </p:sp>
        <p:sp>
          <p:nvSpPr>
            <p:cNvPr id="12" name="AutoShape 14"/>
            <p:cNvSpPr>
              <a:spLocks/>
            </p:cNvSpPr>
            <p:nvPr/>
          </p:nvSpPr>
          <p:spPr bwMode="auto">
            <a:xfrm>
              <a:off x="4680" y="1670"/>
              <a:ext cx="804" cy="179"/>
            </a:xfrm>
            <a:prstGeom prst="borderCallout2">
              <a:avLst>
                <a:gd name="adj1" fmla="val 40222"/>
                <a:gd name="adj2" fmla="val -5972"/>
                <a:gd name="adj3" fmla="val 40222"/>
                <a:gd name="adj4" fmla="val -30347"/>
                <a:gd name="adj5" fmla="val 249162"/>
                <a:gd name="adj6" fmla="val -63431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r>
                <a:rPr lang="en-US" sz="1200" dirty="0">
                  <a:latin typeface="Times New Roman" pitchFamily="18" charset="0"/>
                </a:rPr>
                <a:t>V standing wave</a:t>
              </a:r>
            </a:p>
          </p:txBody>
        </p:sp>
        <p:sp>
          <p:nvSpPr>
            <p:cNvPr id="13" name="AutoShape 15"/>
            <p:cNvSpPr>
              <a:spLocks/>
            </p:cNvSpPr>
            <p:nvPr/>
          </p:nvSpPr>
          <p:spPr bwMode="auto">
            <a:xfrm>
              <a:off x="4638" y="2892"/>
              <a:ext cx="576" cy="409"/>
            </a:xfrm>
            <a:prstGeom prst="borderCallout2">
              <a:avLst>
                <a:gd name="adj1" fmla="val 18750"/>
                <a:gd name="adj2" fmla="val -8333"/>
                <a:gd name="adj3" fmla="val 18750"/>
                <a:gd name="adj4" fmla="val -30384"/>
                <a:gd name="adj5" fmla="val -75000"/>
                <a:gd name="adj6" fmla="val -53125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r>
                <a:rPr lang="en-US" sz="1200" dirty="0">
                  <a:latin typeface="Times New Roman" pitchFamily="18" charset="0"/>
                </a:rPr>
                <a:t>Thin “clean-up” limiter</a:t>
              </a:r>
            </a:p>
          </p:txBody>
        </p:sp>
        <p:sp>
          <p:nvSpPr>
            <p:cNvPr id="14" name="AutoShape 16"/>
            <p:cNvSpPr>
              <a:spLocks/>
            </p:cNvSpPr>
            <p:nvPr/>
          </p:nvSpPr>
          <p:spPr bwMode="auto">
            <a:xfrm>
              <a:off x="2880" y="2891"/>
              <a:ext cx="576" cy="409"/>
            </a:xfrm>
            <a:prstGeom prst="borderCallout2">
              <a:avLst>
                <a:gd name="adj1" fmla="val 17602"/>
                <a:gd name="adj2" fmla="val 108333"/>
                <a:gd name="adj3" fmla="val 17602"/>
                <a:gd name="adj4" fmla="val 123093"/>
                <a:gd name="adj5" fmla="val -74574"/>
                <a:gd name="adj6" fmla="val 138542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r>
                <a:rPr lang="en-US" sz="1200" dirty="0">
                  <a:latin typeface="Times New Roman" pitchFamily="18" charset="0"/>
                </a:rPr>
                <a:t>Thick “coarse” limiter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60241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84"/>
          <p:cNvSpPr txBox="1">
            <a:spLocks noChangeArrowheads="1"/>
          </p:cNvSpPr>
          <p:nvPr/>
        </p:nvSpPr>
        <p:spPr bwMode="auto">
          <a:xfrm>
            <a:off x="247735" y="242331"/>
            <a:ext cx="6872188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sz="2400" b="1" dirty="0" smtClean="0"/>
              <a:t>Discrete Limiter Products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45235" y="1066800"/>
            <a:ext cx="1559945" cy="2933760"/>
          </a:xfrm>
          <a:prstGeom prst="rect">
            <a:avLst/>
          </a:prstGeom>
          <a:noFill/>
          <a:ln w="9525">
            <a:solidFill>
              <a:schemeClr val="tx1">
                <a:lumMod val="50000"/>
              </a:schemeClr>
            </a:solidFill>
            <a:miter lim="800000"/>
            <a:headEnd/>
            <a:tailEnd/>
          </a:ln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6631270" y="5116118"/>
            <a:ext cx="1205906" cy="2286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81717" y="4601451"/>
            <a:ext cx="1290918" cy="122697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5115" y="4601451"/>
            <a:ext cx="1639450" cy="12376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39610" y="5865994"/>
            <a:ext cx="19084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Schottky-Limiter-PIN Shunt Antiparallel Pair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72957" y="5865993"/>
            <a:ext cx="19084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Shunt Limiter PIN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9048" y="5865993"/>
            <a:ext cx="12503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Limiter PIN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6346" y="1431488"/>
            <a:ext cx="6054453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itchFamily="34" charset="0"/>
              <a:buChar char="•"/>
            </a:pPr>
            <a:r>
              <a:rPr lang="en-US" sz="2000" dirty="0"/>
              <a:t>Broadband Performance to 12 </a:t>
            </a:r>
            <a:r>
              <a:rPr lang="en-US" sz="2000" dirty="0" smtClean="0"/>
              <a:t>GHz and Higher</a:t>
            </a:r>
            <a:endParaRPr lang="en-US" sz="2000" dirty="0"/>
          </a:p>
          <a:p>
            <a:pPr algn="l">
              <a:buFont typeface="Arial" pitchFamily="34" charset="0"/>
              <a:buChar char="•"/>
            </a:pPr>
            <a:r>
              <a:rPr lang="en-US" sz="2000" dirty="0" smtClean="0"/>
              <a:t>Several </a:t>
            </a:r>
            <a:r>
              <a:rPr lang="en-US" sz="2000" dirty="0"/>
              <a:t>Packages </a:t>
            </a:r>
            <a:r>
              <a:rPr lang="en-US" sz="2000" dirty="0" smtClean="0"/>
              <a:t>Available Including</a:t>
            </a:r>
          </a:p>
          <a:p>
            <a:pPr lvl="1" algn="l">
              <a:buFont typeface="Arial" pitchFamily="34" charset="0"/>
              <a:buChar char="•"/>
            </a:pPr>
            <a:r>
              <a:rPr lang="en-US" sz="2000" dirty="0" smtClean="0"/>
              <a:t> </a:t>
            </a:r>
            <a:r>
              <a:rPr lang="en-US" sz="2000" dirty="0"/>
              <a:t>Low Inductance Shunt </a:t>
            </a:r>
            <a:r>
              <a:rPr lang="en-US" sz="2000" dirty="0" smtClean="0"/>
              <a:t>Configuration </a:t>
            </a:r>
            <a:r>
              <a:rPr lang="en-US" sz="2000" dirty="0"/>
              <a:t>Plastic 1.5 X 1.2 mm </a:t>
            </a:r>
            <a:r>
              <a:rPr lang="en-US" sz="2000" dirty="0" smtClean="0"/>
              <a:t>DFN</a:t>
            </a:r>
          </a:p>
          <a:p>
            <a:pPr lvl="1" algn="l">
              <a:buFont typeface="Arial" pitchFamily="34" charset="0"/>
              <a:buChar char="•"/>
            </a:pPr>
            <a:r>
              <a:rPr lang="en-US" sz="2000" dirty="0" smtClean="0"/>
              <a:t>Ceramic</a:t>
            </a:r>
          </a:p>
          <a:p>
            <a:pPr lvl="1" algn="l">
              <a:buFont typeface="Arial" pitchFamily="34" charset="0"/>
              <a:buChar char="•"/>
            </a:pPr>
            <a:r>
              <a:rPr lang="en-US" sz="2000" dirty="0" smtClean="0"/>
              <a:t>Chips</a:t>
            </a:r>
            <a:endParaRPr lang="en-US" sz="2000" dirty="0"/>
          </a:p>
          <a:p>
            <a:pPr algn="l">
              <a:buFont typeface="Arial" pitchFamily="34" charset="0"/>
              <a:buChar char="•"/>
            </a:pPr>
            <a:r>
              <a:rPr lang="en-US" sz="2000" dirty="0"/>
              <a:t> Cascadable</a:t>
            </a:r>
          </a:p>
          <a:p>
            <a:pPr algn="l"/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3029076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PIN Switches</a:t>
            </a:r>
            <a:endParaRPr lang="en-US" sz="36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Modules</a:t>
            </a:r>
            <a:br>
              <a:rPr lang="en-US" dirty="0"/>
            </a:br>
            <a:r>
              <a:rPr lang="en-US" dirty="0"/>
              <a:t>Single-Chip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389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/>
          </p:cNvSpPr>
          <p:nvPr>
            <p:ph type="title" idx="4294967295"/>
          </p:nvPr>
        </p:nvSpPr>
        <p:spPr>
          <a:xfrm>
            <a:off x="122831" y="276324"/>
            <a:ext cx="6933062" cy="547687"/>
          </a:xfrm>
        </p:spPr>
        <p:txBody>
          <a:bodyPr>
            <a:noAutofit/>
          </a:bodyPr>
          <a:lstStyle/>
          <a:p>
            <a:r>
              <a:rPr lang="en-US" dirty="0"/>
              <a:t>AlGaAs </a:t>
            </a:r>
            <a:r>
              <a:rPr lang="en-US" dirty="0" smtClean="0"/>
              <a:t>PIN Diode Switches </a:t>
            </a:r>
            <a:endParaRPr lang="en-US" dirty="0"/>
          </a:p>
        </p:txBody>
      </p:sp>
      <p:sp>
        <p:nvSpPr>
          <p:cNvPr id="17486" name="Rectangle 78"/>
          <p:cNvSpPr>
            <a:spLocks noChangeArrowheads="1"/>
          </p:cNvSpPr>
          <p:nvPr/>
        </p:nvSpPr>
        <p:spPr bwMode="auto">
          <a:xfrm>
            <a:off x="1371600" y="387350"/>
            <a:ext cx="55689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ctr" defTabSz="912813" eaLnBrk="0" hangingPunct="0"/>
            <a:endParaRPr lang="en-US" sz="2400" b="1" i="1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17487" name="Picture 79" descr="HeteroSP5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-1500514">
            <a:off x="6756400" y="3019891"/>
            <a:ext cx="1887538" cy="1525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488" name="Text Box 80"/>
          <p:cNvSpPr txBox="1">
            <a:spLocks noChangeArrowheads="1"/>
          </p:cNvSpPr>
          <p:nvPr/>
        </p:nvSpPr>
        <p:spPr bwMode="auto">
          <a:xfrm>
            <a:off x="7796213" y="4736722"/>
            <a:ext cx="8255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SP5T</a:t>
            </a:r>
          </a:p>
        </p:txBody>
      </p:sp>
      <p:sp>
        <p:nvSpPr>
          <p:cNvPr id="17489" name="Rectangle 81"/>
          <p:cNvSpPr>
            <a:spLocks noChangeArrowheads="1"/>
          </p:cNvSpPr>
          <p:nvPr/>
        </p:nvSpPr>
        <p:spPr bwMode="auto">
          <a:xfrm>
            <a:off x="375958" y="1287086"/>
            <a:ext cx="4566304" cy="335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rIns="45720"/>
          <a:lstStyle/>
          <a:p>
            <a:pPr marL="304800" indent="-304800" algn="l" defTabSz="912813" eaLnBrk="0" hangingPunct="0">
              <a:lnSpc>
                <a:spcPct val="110000"/>
              </a:lnSpc>
              <a:spcBef>
                <a:spcPct val="25000"/>
              </a:spcBef>
              <a:buClr>
                <a:schemeClr val="tx1"/>
              </a:buClr>
              <a:buFont typeface="Arial" charset="0"/>
              <a:buNone/>
            </a:pPr>
            <a:r>
              <a:rPr lang="en-US" sz="2400" b="1" i="1" dirty="0"/>
              <a:t>Product Offering</a:t>
            </a:r>
          </a:p>
          <a:p>
            <a:pPr marL="533400" lvl="1" indent="-304800" algn="l" defTabSz="912813" eaLnBrk="0" hangingPunct="0">
              <a:lnSpc>
                <a:spcPct val="110000"/>
              </a:lnSpc>
              <a:spcBef>
                <a:spcPct val="2500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000" dirty="0" smtClean="0"/>
              <a:t>SPST </a:t>
            </a:r>
            <a:r>
              <a:rPr lang="en-US" sz="2000" dirty="0"/>
              <a:t>to </a:t>
            </a:r>
            <a:r>
              <a:rPr lang="en-US" sz="2000" dirty="0" smtClean="0"/>
              <a:t>SP8T</a:t>
            </a:r>
            <a:endParaRPr lang="en-US" sz="2000" dirty="0"/>
          </a:p>
          <a:p>
            <a:pPr marL="304800" indent="-304800" algn="l" defTabSz="912813" eaLnBrk="0" hangingPunct="0">
              <a:lnSpc>
                <a:spcPct val="110000"/>
              </a:lnSpc>
              <a:spcBef>
                <a:spcPct val="25000"/>
              </a:spcBef>
              <a:buClr>
                <a:schemeClr val="tx1"/>
              </a:buClr>
            </a:pPr>
            <a:r>
              <a:rPr lang="en-US" sz="2400" b="1" i="1" dirty="0" smtClean="0"/>
              <a:t>Features</a:t>
            </a:r>
            <a:endParaRPr lang="en-US" sz="2400" b="1" i="1" dirty="0"/>
          </a:p>
          <a:p>
            <a:pPr marL="533400" lvl="1" indent="-304800" algn="l" defTabSz="912813" eaLnBrk="0" hangingPunct="0">
              <a:lnSpc>
                <a:spcPct val="110000"/>
              </a:lnSpc>
              <a:spcBef>
                <a:spcPct val="2500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en-US" dirty="0"/>
              <a:t>Operating Frequency = 50 MHz - 70 GHz</a:t>
            </a:r>
          </a:p>
          <a:p>
            <a:pPr marL="533400" lvl="1" indent="-304800" algn="l" defTabSz="912813" eaLnBrk="0" hangingPunct="0">
              <a:lnSpc>
                <a:spcPct val="110000"/>
              </a:lnSpc>
              <a:spcBef>
                <a:spcPct val="2500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en-US" dirty="0" smtClean="0"/>
              <a:t>Maximum </a:t>
            </a:r>
            <a:r>
              <a:rPr lang="en-US" dirty="0"/>
              <a:t>RF </a:t>
            </a:r>
            <a:r>
              <a:rPr lang="en-US" dirty="0" smtClean="0"/>
              <a:t>Average </a:t>
            </a:r>
            <a:r>
              <a:rPr lang="en-US" dirty="0"/>
              <a:t>Incident Power = 0.25 W </a:t>
            </a:r>
            <a:r>
              <a:rPr lang="en-US" dirty="0" smtClean="0"/>
              <a:t>CW</a:t>
            </a:r>
            <a:endParaRPr lang="en-US" dirty="0"/>
          </a:p>
          <a:p>
            <a:pPr marL="533400" lvl="1" indent="-304800" algn="l" defTabSz="912813" eaLnBrk="0" hangingPunct="0">
              <a:lnSpc>
                <a:spcPct val="110000"/>
              </a:lnSpc>
              <a:spcBef>
                <a:spcPct val="2500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en-US" dirty="0"/>
              <a:t>AlGaAs ~ 0.3 dB Lower IL (20 GHz) vs. GaAs &amp; Si Switches</a:t>
            </a:r>
          </a:p>
          <a:p>
            <a:pPr marL="533400" lvl="1" indent="-304800" algn="l" defTabSz="912813" eaLnBrk="0" hangingPunct="0">
              <a:lnSpc>
                <a:spcPct val="110000"/>
              </a:lnSpc>
              <a:spcBef>
                <a:spcPct val="2500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en-US" dirty="0" smtClean="0"/>
              <a:t>Very Low Insertion Loss</a:t>
            </a:r>
          </a:p>
          <a:p>
            <a:pPr marL="533400" lvl="1" indent="-304800" algn="l" defTabSz="912813" eaLnBrk="0" hangingPunct="0">
              <a:lnSpc>
                <a:spcPct val="110000"/>
              </a:lnSpc>
              <a:spcBef>
                <a:spcPct val="2500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en-US" dirty="0" smtClean="0"/>
              <a:t>Excellent Isolation</a:t>
            </a:r>
          </a:p>
          <a:p>
            <a:pPr marL="533400" lvl="1" indent="-304800" algn="l" defTabSz="912813" eaLnBrk="0" hangingPunct="0">
              <a:lnSpc>
                <a:spcPct val="110000"/>
              </a:lnSpc>
              <a:spcBef>
                <a:spcPct val="2500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en-US" dirty="0" smtClean="0"/>
              <a:t>Low Switching Time</a:t>
            </a:r>
            <a:endParaRPr lang="en-US" dirty="0"/>
          </a:p>
          <a:p>
            <a:pPr marL="304800" indent="-304800" algn="l" defTabSz="912813" eaLnBrk="0" hangingPunct="0">
              <a:lnSpc>
                <a:spcPct val="110000"/>
              </a:lnSpc>
              <a:spcBef>
                <a:spcPct val="25000"/>
              </a:spcBef>
              <a:buClr>
                <a:schemeClr val="tx1"/>
              </a:buClr>
              <a:buFont typeface="Wingdings" pitchFamily="2" charset="2"/>
              <a:buNone/>
            </a:pPr>
            <a:endParaRPr lang="en-US" b="1" i="1" dirty="0"/>
          </a:p>
        </p:txBody>
      </p:sp>
      <p:pic>
        <p:nvPicPr>
          <p:cNvPr id="17491" name="Picture 8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2033472">
            <a:off x="4999017" y="4696806"/>
            <a:ext cx="1665288" cy="1404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492" name="Text Box 84"/>
          <p:cNvSpPr txBox="1">
            <a:spLocks noChangeArrowheads="1"/>
          </p:cNvSpPr>
          <p:nvPr/>
        </p:nvSpPr>
        <p:spPr bwMode="auto">
          <a:xfrm>
            <a:off x="6738917" y="5531831"/>
            <a:ext cx="8096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SPST</a:t>
            </a:r>
          </a:p>
        </p:txBody>
      </p:sp>
      <p:pic>
        <p:nvPicPr>
          <p:cNvPr id="17493" name="Picture 8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 rot="882974">
            <a:off x="5264430" y="1581462"/>
            <a:ext cx="1666875" cy="1074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494" name="Text Box 86"/>
          <p:cNvSpPr txBox="1">
            <a:spLocks noChangeArrowheads="1"/>
          </p:cNvSpPr>
          <p:nvPr/>
        </p:nvSpPr>
        <p:spPr bwMode="auto">
          <a:xfrm>
            <a:off x="5393017" y="2694300"/>
            <a:ext cx="8255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SP2T</a:t>
            </a:r>
          </a:p>
        </p:txBody>
      </p:sp>
    </p:spTree>
    <p:extLst>
      <p:ext uri="{BB962C8B-B14F-4D97-AF65-F5344CB8AC3E}">
        <p14:creationId xmlns:p14="http://schemas.microsoft.com/office/powerpoint/2010/main" val="1141681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757" name="Rectangle 109"/>
          <p:cNvSpPr>
            <a:spLocks noGrp="1"/>
          </p:cNvSpPr>
          <p:nvPr>
            <p:ph type="title" idx="4294967295"/>
          </p:nvPr>
        </p:nvSpPr>
        <p:spPr>
          <a:xfrm>
            <a:off x="108143" y="244261"/>
            <a:ext cx="6489568" cy="771544"/>
          </a:xfrm>
        </p:spPr>
        <p:txBody>
          <a:bodyPr>
            <a:noAutofit/>
          </a:bodyPr>
          <a:lstStyle/>
          <a:p>
            <a:r>
              <a:rPr lang="en-US" sz="2400" dirty="0" smtClean="0"/>
              <a:t>AlGaAs </a:t>
            </a:r>
            <a:r>
              <a:rPr lang="en-US" sz="2400" dirty="0"/>
              <a:t>SP3T W Band </a:t>
            </a:r>
            <a:r>
              <a:rPr lang="en-US" sz="2400" dirty="0" smtClean="0"/>
              <a:t>Switch</a:t>
            </a:r>
            <a:r>
              <a:rPr lang="en-US" sz="2400" b="0" dirty="0" smtClean="0"/>
              <a:t/>
            </a:r>
            <a:br>
              <a:rPr lang="en-US" sz="2400" b="0" dirty="0" smtClean="0"/>
            </a:br>
            <a:r>
              <a:rPr lang="en-US" sz="2400" dirty="0" smtClean="0"/>
              <a:t>MASW-011029 </a:t>
            </a:r>
            <a:endParaRPr lang="en-US" sz="2400" dirty="0"/>
          </a:p>
        </p:txBody>
      </p:sp>
      <p:sp>
        <p:nvSpPr>
          <p:cNvPr id="3" name="Rectangle 2"/>
          <p:cNvSpPr/>
          <p:nvPr/>
        </p:nvSpPr>
        <p:spPr>
          <a:xfrm>
            <a:off x="108143" y="1146103"/>
            <a:ext cx="4401104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/>
              <a:t>Broadband Operating </a:t>
            </a:r>
            <a:r>
              <a:rPr lang="en-US" sz="2000" dirty="0" smtClean="0"/>
              <a:t>Frequency: 60 - 110 GHz</a:t>
            </a:r>
            <a:endParaRPr lang="en-US" sz="20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/>
              <a:t>Insertion </a:t>
            </a:r>
            <a:r>
              <a:rPr lang="en-US" sz="2000" dirty="0" smtClean="0"/>
              <a:t>Loss:1.3 </a:t>
            </a:r>
            <a:r>
              <a:rPr lang="en-US" sz="2000" dirty="0"/>
              <a:t>dB Typical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smtClean="0"/>
              <a:t>Isolation: 33 dB Typical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smtClean="0"/>
              <a:t>Silicon </a:t>
            </a:r>
            <a:r>
              <a:rPr lang="en-US" sz="2000" dirty="0"/>
              <a:t>Nitride Passivation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smtClean="0"/>
              <a:t>BCB </a:t>
            </a:r>
            <a:r>
              <a:rPr lang="en-US" sz="2000" dirty="0"/>
              <a:t>Scratch </a:t>
            </a:r>
            <a:r>
              <a:rPr lang="en-US" sz="2000" dirty="0" smtClean="0"/>
              <a:t>Protection</a:t>
            </a:r>
            <a:endParaRPr lang="en-US" sz="2000" dirty="0"/>
          </a:p>
        </p:txBody>
      </p:sp>
      <p:grpSp>
        <p:nvGrpSpPr>
          <p:cNvPr id="12" name="Group 11"/>
          <p:cNvGrpSpPr/>
          <p:nvPr/>
        </p:nvGrpSpPr>
        <p:grpSpPr>
          <a:xfrm>
            <a:off x="839536" y="3576918"/>
            <a:ext cx="7641076" cy="3031707"/>
            <a:chOff x="550096" y="3450209"/>
            <a:chExt cx="7052769" cy="2728110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0096" y="3450209"/>
              <a:ext cx="3512808" cy="2728110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62904" y="3450209"/>
              <a:ext cx="3539961" cy="2728110"/>
            </a:xfrm>
            <a:prstGeom prst="rect">
              <a:avLst/>
            </a:prstGeom>
          </p:spPr>
        </p:pic>
      </p:grpSp>
      <p:pic>
        <p:nvPicPr>
          <p:cNvPr id="1026" name="Picture 2" descr="http://4.bp.blogspot.com/_o74ruxv2td0/TNyrVavE64I/AAAAAAAAC5Y/kHFPrwddbRo/s1600/rcjFreescale77b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8977" y="1516160"/>
            <a:ext cx="2967208" cy="1508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4240364" y="2958433"/>
            <a:ext cx="1934193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Collision Avoidance Radar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6185" y="1523182"/>
            <a:ext cx="2142498" cy="14069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24820" y="3024491"/>
            <a:ext cx="1465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Passive Imaging</a:t>
            </a:r>
          </a:p>
        </p:txBody>
      </p:sp>
    </p:spTree>
    <p:extLst>
      <p:ext uri="{BB962C8B-B14F-4D97-AF65-F5344CB8AC3E}">
        <p14:creationId xmlns:p14="http://schemas.microsoft.com/office/powerpoint/2010/main" val="1514583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201705" y="308112"/>
            <a:ext cx="7719392" cy="533400"/>
          </a:xfrm>
        </p:spPr>
        <p:txBody>
          <a:bodyPr/>
          <a:lstStyle/>
          <a:p>
            <a:r>
              <a:rPr lang="en-US" dirty="0" smtClean="0"/>
              <a:t>Multichip Module High Power Switches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270200" y="1354669"/>
            <a:ext cx="5296882" cy="4640306"/>
          </a:xfrm>
        </p:spPr>
        <p:txBody>
          <a:bodyPr>
            <a:normAutofit/>
          </a:bodyPr>
          <a:lstStyle/>
          <a:p>
            <a:r>
              <a:rPr lang="en-US" dirty="0" smtClean="0"/>
              <a:t>Input power handling to 200 W CW, 1 kW peak</a:t>
            </a:r>
          </a:p>
          <a:p>
            <a:r>
              <a:rPr lang="en-US" dirty="0" smtClean="0"/>
              <a:t>Frequency Range: 20 MHz – 6 GHz in three bands</a:t>
            </a:r>
          </a:p>
          <a:p>
            <a:r>
              <a:rPr lang="en-US" dirty="0" smtClean="0"/>
              <a:t>Symmetric and Asymmetric Designs</a:t>
            </a:r>
          </a:p>
          <a:p>
            <a:r>
              <a:rPr lang="en-US" dirty="0" smtClean="0"/>
              <a:t>SP2T, SP3T, SP4T, SP6T</a:t>
            </a:r>
          </a:p>
        </p:txBody>
      </p:sp>
      <p:pic>
        <p:nvPicPr>
          <p:cNvPr id="9" name="Picture 10" descr="Untitled.png"/>
          <p:cNvPicPr>
            <a:picLocks noChangeAspect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6063722" y="2345269"/>
            <a:ext cx="1857375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20" descr="MSW2000 schematic.em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0" y="3569232"/>
            <a:ext cx="1754188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37465" y="3685125"/>
            <a:ext cx="1602295" cy="125570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732829" y="5174326"/>
            <a:ext cx="1266298" cy="149007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8972" y="4312978"/>
            <a:ext cx="1762125" cy="126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645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73424" y="139701"/>
            <a:ext cx="7720013" cy="5334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dirty="0" smtClean="0"/>
              <a:t>T/R Switch-Limiter Module </a:t>
            </a:r>
            <a:br>
              <a:rPr lang="en-US" dirty="0" smtClean="0"/>
            </a:br>
            <a:r>
              <a:rPr lang="en-US" dirty="0" smtClean="0"/>
              <a:t>MSWLM2420-242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2875" y="1201271"/>
            <a:ext cx="5214938" cy="518356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r>
              <a:rPr lang="en-US" sz="1800" b="1" dirty="0" smtClean="0"/>
              <a:t>Features</a:t>
            </a:r>
          </a:p>
          <a:p>
            <a:r>
              <a:rPr lang="en-US" sz="1800" dirty="0" smtClean="0"/>
              <a:t>Frequency Range: 2 – 4 GHz</a:t>
            </a:r>
          </a:p>
          <a:p>
            <a:pPr marL="174625" lvl="1" indent="-174625">
              <a:lnSpc>
                <a:spcPct val="90000"/>
              </a:lnSpc>
              <a:spcBef>
                <a:spcPts val="1200"/>
              </a:spcBef>
              <a:buClr>
                <a:schemeClr val="accent2"/>
              </a:buClr>
              <a:buFont typeface="Arial"/>
              <a:buChar char="•"/>
            </a:pPr>
            <a:r>
              <a:rPr lang="en-US" sz="1800" dirty="0" smtClean="0"/>
              <a:t>T/R switch with passive receiver protection detector/limiter</a:t>
            </a:r>
          </a:p>
          <a:p>
            <a:pPr marL="512763" lvl="2" indent="-174625">
              <a:lnSpc>
                <a:spcPct val="90000"/>
              </a:lnSpc>
              <a:spcBef>
                <a:spcPts val="1200"/>
              </a:spcBef>
            </a:pPr>
            <a:r>
              <a:rPr lang="en-US" sz="1800" dirty="0" smtClean="0"/>
              <a:t>Excellent </a:t>
            </a:r>
            <a:r>
              <a:rPr lang="en-US" sz="1800" dirty="0"/>
              <a:t>Rx path insertion loss with 2 W CW </a:t>
            </a:r>
            <a:r>
              <a:rPr lang="en-US" sz="1800" dirty="0" smtClean="0"/>
              <a:t>receiver protector limiter stage</a:t>
            </a:r>
            <a:endParaRPr lang="en-US" sz="1800" dirty="0"/>
          </a:p>
          <a:p>
            <a:r>
              <a:rPr lang="en-US" sz="1800" dirty="0" smtClean="0"/>
              <a:t>TX input power: 125 W CW, 200 W pk</a:t>
            </a:r>
          </a:p>
          <a:p>
            <a:pPr marL="174625" lvl="1" indent="-174625">
              <a:lnSpc>
                <a:spcPct val="90000"/>
              </a:lnSpc>
              <a:spcBef>
                <a:spcPts val="1200"/>
              </a:spcBef>
              <a:buClr>
                <a:schemeClr val="accent2"/>
              </a:buClr>
              <a:buFont typeface="Arial"/>
              <a:buChar char="•"/>
            </a:pPr>
            <a:r>
              <a:rPr lang="en-US" sz="1800" dirty="0" smtClean="0"/>
              <a:t>Packaged in 5 x 8 mm, low-thermal-resistance surface-mount module package</a:t>
            </a:r>
          </a:p>
          <a:p>
            <a:pPr marL="174625" lvl="1" indent="-174625">
              <a:lnSpc>
                <a:spcPct val="90000"/>
              </a:lnSpc>
              <a:spcBef>
                <a:spcPts val="1200"/>
              </a:spcBef>
              <a:buClr>
                <a:schemeClr val="accent2"/>
              </a:buClr>
              <a:buFont typeface="Arial"/>
              <a:buChar char="•"/>
            </a:pPr>
            <a:r>
              <a:rPr lang="en-US" dirty="0" smtClean="0"/>
              <a:t>Proven </a:t>
            </a:r>
            <a:r>
              <a:rPr lang="en-US" dirty="0"/>
              <a:t>performance in the field</a:t>
            </a:r>
          </a:p>
          <a:p>
            <a:pPr marL="0" indent="0">
              <a:buNone/>
            </a:pPr>
            <a:r>
              <a:rPr lang="en-US" sz="1800" b="1" dirty="0" smtClean="0"/>
              <a:t>Applications</a:t>
            </a:r>
            <a:endParaRPr lang="en-US" sz="1800" dirty="0" smtClean="0"/>
          </a:p>
          <a:p>
            <a:r>
              <a:rPr lang="en-US" dirty="0" smtClean="0"/>
              <a:t>Phased array radar T/R modules</a:t>
            </a:r>
          </a:p>
          <a:p>
            <a:r>
              <a:rPr lang="en-US" dirty="0" smtClean="0"/>
              <a:t>Radio transceiver </a:t>
            </a:r>
          </a:p>
          <a:p>
            <a:pPr lvl="1"/>
            <a:endParaRPr lang="en-US" sz="1400" dirty="0" smtClean="0"/>
          </a:p>
        </p:txBody>
      </p:sp>
      <p:pic>
        <p:nvPicPr>
          <p:cNvPr id="15367" name="Picture 12" descr="MSWLM2420-242.emf"/>
          <p:cNvPicPr>
            <a:picLocks noChangeAspect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5277410" y="1201271"/>
            <a:ext cx="3543300" cy="2236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10" descr="Untitled.png"/>
          <p:cNvPicPr>
            <a:picLocks noChangeAspect="1"/>
          </p:cNvPicPr>
          <p:nvPr/>
        </p:nvPicPr>
        <p:blipFill>
          <a:blip r:embed="rId4" cstate="screen"/>
          <a:srcRect/>
          <a:stretch>
            <a:fillRect/>
          </a:stretch>
        </p:blipFill>
        <p:spPr bwMode="auto">
          <a:xfrm>
            <a:off x="5940152" y="4077072"/>
            <a:ext cx="1857375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79299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757" name="Rectangle 109"/>
          <p:cNvSpPr>
            <a:spLocks noGrp="1"/>
          </p:cNvSpPr>
          <p:nvPr>
            <p:ph type="title" idx="4294967295"/>
          </p:nvPr>
        </p:nvSpPr>
        <p:spPr>
          <a:xfrm>
            <a:off x="89288" y="74579"/>
            <a:ext cx="6489568" cy="457200"/>
          </a:xfrm>
        </p:spPr>
        <p:txBody>
          <a:bodyPr>
            <a:noAutofit/>
          </a:bodyPr>
          <a:lstStyle/>
          <a:p>
            <a:r>
              <a:rPr lang="en-US" sz="2400" dirty="0" smtClean="0"/>
              <a:t>MASW-011036 </a:t>
            </a:r>
            <a:br>
              <a:rPr lang="en-US" sz="2400" dirty="0" smtClean="0"/>
            </a:br>
            <a:r>
              <a:rPr lang="en-US" sz="2400" dirty="0" smtClean="0"/>
              <a:t>Ka-Band </a:t>
            </a:r>
            <a:r>
              <a:rPr lang="en-US" sz="2400" dirty="0"/>
              <a:t>High Power </a:t>
            </a:r>
            <a:r>
              <a:rPr lang="en-US" sz="2400" dirty="0" smtClean="0"/>
              <a:t>Terminated AlGaAs SPDT </a:t>
            </a:r>
            <a:r>
              <a:rPr lang="en-US" sz="2400" dirty="0"/>
              <a:t>PIN </a:t>
            </a:r>
            <a:r>
              <a:rPr lang="en-US" sz="2400" dirty="0" smtClean="0"/>
              <a:t>Switch</a:t>
            </a:r>
            <a:endParaRPr lang="en-US" sz="2400" dirty="0"/>
          </a:p>
        </p:txBody>
      </p:sp>
      <p:sp>
        <p:nvSpPr>
          <p:cNvPr id="22" name="Rectangle 21"/>
          <p:cNvSpPr/>
          <p:nvPr/>
        </p:nvSpPr>
        <p:spPr>
          <a:xfrm>
            <a:off x="239889" y="1342647"/>
            <a:ext cx="4572000" cy="203748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smtClean="0"/>
              <a:t>Broadband Performance: </a:t>
            </a:r>
            <a:r>
              <a:rPr lang="en-US" sz="1600" dirty="0"/>
              <a:t>26 to 40 GHz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smtClean="0"/>
              <a:t>Low </a:t>
            </a:r>
            <a:r>
              <a:rPr lang="en-US" sz="1600" dirty="0"/>
              <a:t>Loss &lt;1 </a:t>
            </a:r>
            <a:r>
              <a:rPr lang="en-US" sz="1600" dirty="0" smtClean="0"/>
              <a:t>dB; High </a:t>
            </a:r>
            <a:r>
              <a:rPr lang="en-US" sz="1600" dirty="0"/>
              <a:t>Isolation &gt;38 dB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smtClean="0"/>
              <a:t>Up </a:t>
            </a:r>
            <a:r>
              <a:rPr lang="en-US" sz="1600" dirty="0"/>
              <a:t>to 13 W CW Power, </a:t>
            </a:r>
            <a:r>
              <a:rPr lang="en-US" sz="1600" dirty="0" smtClean="0"/>
              <a:t>85 °</a:t>
            </a:r>
            <a:r>
              <a:rPr lang="en-US" sz="1600" dirty="0"/>
              <a:t>C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smtClean="0"/>
              <a:t>Die </a:t>
            </a:r>
            <a:r>
              <a:rPr lang="en-US" sz="1600" dirty="0"/>
              <a:t>with </a:t>
            </a:r>
            <a:r>
              <a:rPr lang="en-US" sz="1600" dirty="0" smtClean="0"/>
              <a:t>G-S-G </a:t>
            </a:r>
            <a:r>
              <a:rPr lang="en-US" sz="1600" dirty="0"/>
              <a:t>RF Pads and DC Bias Pads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smtClean="0"/>
              <a:t>Includes </a:t>
            </a:r>
            <a:r>
              <a:rPr lang="en-US" sz="1600" dirty="0"/>
              <a:t>DC Blocks and RF Bias Networks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smtClean="0"/>
              <a:t>23 </a:t>
            </a:r>
            <a:r>
              <a:rPr lang="en-US" sz="1600" dirty="0"/>
              <a:t>dBm power handling in terminated port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249" y="1762663"/>
            <a:ext cx="1900237" cy="762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5205" y="1392611"/>
            <a:ext cx="1835884" cy="151793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006" y="3496452"/>
            <a:ext cx="3359563" cy="259289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5772" y="3380128"/>
            <a:ext cx="3438865" cy="265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981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757" name="Rectangle 109"/>
          <p:cNvSpPr>
            <a:spLocks noGrp="1"/>
          </p:cNvSpPr>
          <p:nvPr>
            <p:ph type="title" idx="4294967295"/>
          </p:nvPr>
        </p:nvSpPr>
        <p:spPr>
          <a:xfrm>
            <a:off x="108142" y="131140"/>
            <a:ext cx="6489568" cy="457200"/>
          </a:xfrm>
        </p:spPr>
        <p:txBody>
          <a:bodyPr>
            <a:noAutofit/>
          </a:bodyPr>
          <a:lstStyle/>
          <a:p>
            <a:r>
              <a:rPr lang="en-US" sz="2400" dirty="0" smtClean="0"/>
              <a:t>MASW-010646 </a:t>
            </a:r>
            <a:br>
              <a:rPr lang="en-US" sz="2400" dirty="0" smtClean="0"/>
            </a:br>
            <a:r>
              <a:rPr lang="en-US" sz="2400" dirty="0" smtClean="0"/>
              <a:t>Ka-Band </a:t>
            </a:r>
            <a:r>
              <a:rPr lang="en-US" sz="2400" dirty="0"/>
              <a:t>High Power Reflective </a:t>
            </a:r>
            <a:r>
              <a:rPr lang="en-US" sz="2400" dirty="0" smtClean="0"/>
              <a:t>AlGaAs SPDT </a:t>
            </a:r>
            <a:r>
              <a:rPr lang="en-US" sz="2400" dirty="0"/>
              <a:t>PIN </a:t>
            </a:r>
            <a:r>
              <a:rPr lang="en-US" sz="2400" dirty="0" smtClean="0"/>
              <a:t>Switch</a:t>
            </a:r>
            <a:endParaRPr lang="en-US" sz="2400" dirty="0"/>
          </a:p>
        </p:txBody>
      </p:sp>
      <p:sp>
        <p:nvSpPr>
          <p:cNvPr id="22" name="Rectangle 21"/>
          <p:cNvSpPr/>
          <p:nvPr/>
        </p:nvSpPr>
        <p:spPr>
          <a:xfrm>
            <a:off x="221959" y="1432291"/>
            <a:ext cx="4572000" cy="203748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Arial" panose="020B0604020202020204" pitchFamily="34" charset="0"/>
              </a:rPr>
              <a:t>Broadband Performance: </a:t>
            </a:r>
            <a:r>
              <a:rPr lang="en-US" sz="1600" dirty="0">
                <a:latin typeface="Arial" panose="020B0604020202020204" pitchFamily="34" charset="0"/>
              </a:rPr>
              <a:t>26 to 40 GHz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Arial" panose="020B0604020202020204" pitchFamily="34" charset="0"/>
              </a:rPr>
              <a:t>Low </a:t>
            </a:r>
            <a:r>
              <a:rPr lang="en-US" sz="1600" dirty="0">
                <a:latin typeface="Arial" panose="020B0604020202020204" pitchFamily="34" charset="0"/>
              </a:rPr>
              <a:t>Loss: 0.6 dB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Arial" panose="020B0604020202020204" pitchFamily="34" charset="0"/>
              </a:rPr>
              <a:t>High </a:t>
            </a:r>
            <a:r>
              <a:rPr lang="en-US" sz="1600" dirty="0">
                <a:latin typeface="Arial" panose="020B0604020202020204" pitchFamily="34" charset="0"/>
              </a:rPr>
              <a:t>Isolation: 32 dB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Arial" panose="020B0604020202020204" pitchFamily="34" charset="0"/>
              </a:rPr>
              <a:t>Up </a:t>
            </a:r>
            <a:r>
              <a:rPr lang="en-US" sz="1600" dirty="0">
                <a:latin typeface="Arial" panose="020B0604020202020204" pitchFamily="34" charset="0"/>
              </a:rPr>
              <a:t>to 13 W CW Power, </a:t>
            </a:r>
            <a:r>
              <a:rPr lang="en-US" sz="1600" dirty="0" smtClean="0">
                <a:latin typeface="Arial" panose="020B0604020202020204" pitchFamily="34" charset="0"/>
              </a:rPr>
              <a:t>85 °</a:t>
            </a:r>
            <a:r>
              <a:rPr lang="en-US" sz="1600" dirty="0">
                <a:latin typeface="Arial" panose="020B0604020202020204" pitchFamily="34" charset="0"/>
              </a:rPr>
              <a:t>C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Arial" panose="020B0604020202020204" pitchFamily="34" charset="0"/>
              </a:rPr>
              <a:t>Die </a:t>
            </a:r>
            <a:r>
              <a:rPr lang="en-US" sz="1600" dirty="0">
                <a:latin typeface="Arial" panose="020B0604020202020204" pitchFamily="34" charset="0"/>
              </a:rPr>
              <a:t>with </a:t>
            </a:r>
            <a:r>
              <a:rPr lang="en-US" sz="1600" dirty="0" smtClean="0">
                <a:latin typeface="Arial" panose="020B0604020202020204" pitchFamily="34" charset="0"/>
              </a:rPr>
              <a:t>G-S-G </a:t>
            </a:r>
            <a:r>
              <a:rPr lang="en-US" sz="1600" dirty="0">
                <a:latin typeface="Arial" panose="020B0604020202020204" pitchFamily="34" charset="0"/>
              </a:rPr>
              <a:t>RF Pads and DC Bias Pads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Arial" panose="020B0604020202020204" pitchFamily="34" charset="0"/>
              </a:rPr>
              <a:t>Includes </a:t>
            </a:r>
            <a:r>
              <a:rPr lang="en-US" sz="1600" dirty="0">
                <a:latin typeface="Arial" panose="020B0604020202020204" pitchFamily="34" charset="0"/>
              </a:rPr>
              <a:t>DC Blocks and RF Bias Networks</a:t>
            </a:r>
            <a:endParaRPr lang="en-US" sz="1600" dirty="0">
              <a:effectLst/>
              <a:latin typeface="Arial" panose="020B0604020202020204" pitchFamily="34" charset="0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127" y="3638379"/>
            <a:ext cx="3389078" cy="2632126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5412" y="3610711"/>
            <a:ext cx="3499976" cy="2757015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7084" y="1728955"/>
            <a:ext cx="1845497" cy="920248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0041" y="1608747"/>
            <a:ext cx="1869623" cy="1223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322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757" name="Rectangle 109"/>
          <p:cNvSpPr>
            <a:spLocks noGrp="1"/>
          </p:cNvSpPr>
          <p:nvPr>
            <p:ph type="title" idx="4294967295"/>
          </p:nvPr>
        </p:nvSpPr>
        <p:spPr>
          <a:xfrm>
            <a:off x="95536" y="381281"/>
            <a:ext cx="6489568" cy="457200"/>
          </a:xfrm>
        </p:spPr>
        <p:txBody>
          <a:bodyPr>
            <a:noAutofit/>
          </a:bodyPr>
          <a:lstStyle/>
          <a:p>
            <a:r>
              <a:rPr lang="en-US" sz="2400" dirty="0" smtClean="0"/>
              <a:t>X-Band </a:t>
            </a:r>
            <a:r>
              <a:rPr lang="en-US" sz="2400" dirty="0"/>
              <a:t>Terminated SPDT Switch  </a:t>
            </a:r>
            <a:br>
              <a:rPr lang="en-US" sz="2400" dirty="0"/>
            </a:br>
            <a:r>
              <a:rPr lang="en-US" sz="2400" dirty="0"/>
              <a:t>MASW-011071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073754">
            <a:off x="7940779" y="4038517"/>
            <a:ext cx="614150" cy="62573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0773" y="4724058"/>
            <a:ext cx="645034" cy="6509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52123" y="1159093"/>
            <a:ext cx="4572000" cy="292387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smtClean="0"/>
              <a:t>Low </a:t>
            </a:r>
            <a:r>
              <a:rPr lang="en-US" sz="2000" dirty="0"/>
              <a:t>Insertion Loss: 1 dB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smtClean="0"/>
              <a:t>High </a:t>
            </a:r>
            <a:r>
              <a:rPr lang="en-US" sz="2000" dirty="0"/>
              <a:t>Isolation: 38 dB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smtClean="0"/>
              <a:t>Integrated </a:t>
            </a:r>
            <a:r>
              <a:rPr lang="en-US" sz="2000" dirty="0"/>
              <a:t>Bias Network and Termination Circuit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smtClean="0"/>
              <a:t>Greater </a:t>
            </a:r>
            <a:r>
              <a:rPr lang="en-US" sz="2000" dirty="0"/>
              <a:t>than 20 W CW Power Handling @ </a:t>
            </a:r>
            <a:r>
              <a:rPr lang="en-US" sz="2000" dirty="0" smtClean="0"/>
              <a:t>70 °</a:t>
            </a:r>
            <a:r>
              <a:rPr lang="en-US" sz="2000" dirty="0"/>
              <a:t>C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smtClean="0"/>
              <a:t>Lead (Pb)-Free </a:t>
            </a:r>
            <a:r>
              <a:rPr lang="en-US" sz="2000" dirty="0"/>
              <a:t>7 </a:t>
            </a:r>
            <a:r>
              <a:rPr lang="en-US" sz="2000" dirty="0" smtClean="0"/>
              <a:t>x 7 mm </a:t>
            </a:r>
            <a:r>
              <a:rPr lang="en-US" sz="2000" dirty="0"/>
              <a:t>44-lead PQFN Package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632" y="4180789"/>
            <a:ext cx="3038475" cy="2286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0107" y="4104589"/>
            <a:ext cx="3048000" cy="2362200"/>
          </a:xfrm>
          <a:prstGeom prst="rect">
            <a:avLst/>
          </a:prstGeom>
        </p:spPr>
      </p:pic>
      <p:pic>
        <p:nvPicPr>
          <p:cNvPr id="2052" name="Picture 4" descr="http://media.komonews.com/images/070720_X_Band_Radar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14682" y="1271544"/>
            <a:ext cx="2833172" cy="2124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5534449" y="3435153"/>
            <a:ext cx="27134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Missile Defense, Weather Radar Systems</a:t>
            </a:r>
          </a:p>
        </p:txBody>
      </p:sp>
    </p:spTree>
    <p:extLst>
      <p:ext uri="{BB962C8B-B14F-4D97-AF65-F5344CB8AC3E}">
        <p14:creationId xmlns:p14="http://schemas.microsoft.com/office/powerpoint/2010/main" val="3981280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20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228539" y="1282520"/>
            <a:ext cx="5349875" cy="4918075"/>
          </a:xfrm>
          <a:noFill/>
        </p:spPr>
        <p:txBody>
          <a:bodyPr lIns="90488" tIns="44450" rIns="90488" bIns="44450">
            <a:noAutofit/>
          </a:bodyPr>
          <a:lstStyle/>
          <a:p>
            <a:pPr eaLnBrk="1" hangingPunct="1">
              <a:lnSpc>
                <a:spcPct val="80000"/>
              </a:lnSpc>
              <a:spcBef>
                <a:spcPct val="70000"/>
              </a:spcBef>
              <a:buFont typeface="Arial" charset="0"/>
              <a:buNone/>
            </a:pPr>
            <a:r>
              <a:rPr lang="en-US" b="1" i="1" dirty="0"/>
              <a:t>Products</a:t>
            </a:r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  <a:buClr>
                <a:schemeClr val="bg1"/>
              </a:buClr>
              <a:buFont typeface="Webdings" pitchFamily="18" charset="2"/>
              <a:buChar char="a"/>
            </a:pPr>
            <a:r>
              <a:rPr lang="en-US" sz="1600" dirty="0" smtClean="0"/>
              <a:t>MASW-001100-11900W (</a:t>
            </a:r>
            <a:r>
              <a:rPr lang="en-US" sz="1600" dirty="0"/>
              <a:t>SPST)</a:t>
            </a:r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  <a:buClr>
                <a:schemeClr val="bg1"/>
              </a:buClr>
              <a:buFont typeface="Webdings" pitchFamily="18" charset="2"/>
              <a:buChar char="a"/>
            </a:pPr>
            <a:r>
              <a:rPr lang="en-US" sz="1600" dirty="0"/>
              <a:t>MASW002100-11910W (SPDT)</a:t>
            </a:r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  <a:buClr>
                <a:schemeClr val="bg1"/>
              </a:buClr>
              <a:buFont typeface="Webdings" pitchFamily="18" charset="2"/>
              <a:buChar char="a"/>
            </a:pPr>
            <a:r>
              <a:rPr lang="en-US" sz="1600" dirty="0" smtClean="0"/>
              <a:t>MASW-003100-19220W (</a:t>
            </a:r>
            <a:r>
              <a:rPr lang="en-US" sz="1600" dirty="0"/>
              <a:t>SP3T)</a:t>
            </a:r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  <a:buClr>
                <a:schemeClr val="bg1"/>
              </a:buClr>
              <a:buFont typeface="Webdings" pitchFamily="18" charset="2"/>
              <a:buChar char="a"/>
            </a:pPr>
            <a:r>
              <a:rPr lang="en-US" sz="1600" dirty="0"/>
              <a:t>MASW-004100-11930W (SP4T) </a:t>
            </a:r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  <a:buClr>
                <a:schemeClr val="bg1"/>
              </a:buClr>
              <a:buFont typeface="Webdings" pitchFamily="18" charset="2"/>
              <a:buChar char="a"/>
            </a:pPr>
            <a:r>
              <a:rPr lang="en-US" sz="1600" dirty="0"/>
              <a:t>MASW-005100-11940W (SP5T)</a:t>
            </a:r>
          </a:p>
          <a:p>
            <a:pPr lvl="1" eaLnBrk="1" hangingPunct="1">
              <a:lnSpc>
                <a:spcPct val="60000"/>
              </a:lnSpc>
              <a:spcBef>
                <a:spcPct val="30000"/>
              </a:spcBef>
              <a:buClr>
                <a:schemeClr val="bg1"/>
              </a:buClr>
              <a:buFont typeface="Arial" charset="0"/>
              <a:buNone/>
            </a:pPr>
            <a:endParaRPr lang="en-US" sz="1600" b="1" dirty="0"/>
          </a:p>
          <a:p>
            <a:pPr>
              <a:lnSpc>
                <a:spcPct val="80000"/>
              </a:lnSpc>
              <a:spcBef>
                <a:spcPct val="70000"/>
              </a:spcBef>
              <a:buNone/>
            </a:pPr>
            <a:r>
              <a:rPr lang="en-US" b="1" i="1" dirty="0" smtClean="0"/>
              <a:t>Features</a:t>
            </a:r>
          </a:p>
          <a:p>
            <a:pPr lvl="1" eaLnBrk="1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Font typeface="Courier New" pitchFamily="49" charset="0"/>
              <a:buChar char="o"/>
            </a:pPr>
            <a:r>
              <a:rPr lang="en-US" sz="1600" dirty="0" smtClean="0"/>
              <a:t>Operating </a:t>
            </a:r>
            <a:r>
              <a:rPr lang="en-US" sz="1600" dirty="0"/>
              <a:t>Frequency </a:t>
            </a:r>
          </a:p>
          <a:p>
            <a:pPr lvl="2" eaLnBrk="1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ClrTx/>
              <a:buNone/>
            </a:pPr>
            <a:r>
              <a:rPr lang="en-US" dirty="0"/>
              <a:t>50 MHz – 30 GHz</a:t>
            </a:r>
          </a:p>
          <a:p>
            <a:pPr lvl="1" eaLnBrk="1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Font typeface="Courier New" pitchFamily="49" charset="0"/>
              <a:buChar char="o"/>
            </a:pPr>
            <a:r>
              <a:rPr lang="en-US" sz="1600" dirty="0"/>
              <a:t>Series-Shunt Configuration</a:t>
            </a:r>
          </a:p>
          <a:p>
            <a:pPr lvl="1" eaLnBrk="1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Font typeface="Courier New" pitchFamily="49" charset="0"/>
              <a:buChar char="o"/>
            </a:pPr>
            <a:r>
              <a:rPr lang="en-US" sz="1600" dirty="0"/>
              <a:t>High </a:t>
            </a:r>
            <a:r>
              <a:rPr lang="en-US" sz="1600" dirty="0" smtClean="0"/>
              <a:t>Isolation: &gt;</a:t>
            </a:r>
            <a:r>
              <a:rPr lang="en-US" sz="1600" dirty="0"/>
              <a:t>35 </a:t>
            </a:r>
            <a:r>
              <a:rPr lang="en-US" sz="1600" dirty="0" smtClean="0"/>
              <a:t>dB </a:t>
            </a:r>
            <a:endParaRPr lang="en-US" sz="1600" dirty="0"/>
          </a:p>
          <a:p>
            <a:pPr lvl="1" eaLnBrk="1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Font typeface="Courier New" pitchFamily="49" charset="0"/>
              <a:buChar char="o"/>
            </a:pPr>
            <a:r>
              <a:rPr lang="en-US" sz="1600" dirty="0"/>
              <a:t>Low </a:t>
            </a:r>
            <a:r>
              <a:rPr lang="en-US" sz="1600" dirty="0" smtClean="0"/>
              <a:t>Loss: &lt;</a:t>
            </a:r>
            <a:r>
              <a:rPr lang="en-US" sz="1600" dirty="0"/>
              <a:t>1.0 dB Insertion </a:t>
            </a:r>
            <a:r>
              <a:rPr lang="en-US" sz="1600" dirty="0" smtClean="0"/>
              <a:t>Loss</a:t>
            </a:r>
            <a:endParaRPr lang="en-US" sz="1600" dirty="0"/>
          </a:p>
          <a:p>
            <a:pPr lvl="1">
              <a:spcBef>
                <a:spcPct val="10000"/>
              </a:spcBef>
              <a:spcAft>
                <a:spcPct val="10000"/>
              </a:spcAft>
              <a:buFont typeface="Courier New" pitchFamily="49" charset="0"/>
              <a:buChar char="o"/>
            </a:pPr>
            <a:r>
              <a:rPr lang="en-US" sz="1600" dirty="0" smtClean="0"/>
              <a:t>Switching Time: 50 </a:t>
            </a:r>
            <a:r>
              <a:rPr lang="en-US" sz="1600" dirty="0"/>
              <a:t>ns </a:t>
            </a:r>
          </a:p>
          <a:p>
            <a:pPr lvl="1" eaLnBrk="1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Font typeface="Courier New" pitchFamily="49" charset="0"/>
              <a:buChar char="o"/>
            </a:pPr>
            <a:r>
              <a:rPr lang="en-US" sz="1600" dirty="0"/>
              <a:t>Max RF </a:t>
            </a:r>
            <a:r>
              <a:rPr lang="en-US" sz="1600" dirty="0" smtClean="0"/>
              <a:t>Incident Power:</a:t>
            </a:r>
            <a:endParaRPr lang="en-US" sz="1600" dirty="0"/>
          </a:p>
          <a:p>
            <a:pPr lvl="2" eaLnBrk="1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ClrTx/>
              <a:buNone/>
            </a:pPr>
            <a:r>
              <a:rPr lang="en-US" dirty="0"/>
              <a:t>&gt;6.0 W </a:t>
            </a:r>
            <a:r>
              <a:rPr lang="en-US" dirty="0" smtClean="0"/>
              <a:t>CW @ 2 GHz</a:t>
            </a:r>
            <a:endParaRPr lang="en-US" dirty="0"/>
          </a:p>
          <a:p>
            <a:pPr lvl="2" eaLnBrk="1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ClrTx/>
              <a:buNone/>
            </a:pPr>
            <a:r>
              <a:rPr lang="en-US" dirty="0"/>
              <a:t>2.0 W </a:t>
            </a:r>
            <a:r>
              <a:rPr lang="en-US" dirty="0" smtClean="0"/>
              <a:t>CW @ 22 GHz</a:t>
            </a:r>
            <a:endParaRPr lang="en-US" dirty="0"/>
          </a:p>
          <a:p>
            <a:pPr lvl="1" eaLnBrk="1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Font typeface="Courier New" pitchFamily="49" charset="0"/>
              <a:buChar char="o"/>
            </a:pPr>
            <a:r>
              <a:rPr lang="en-US" sz="1600" dirty="0"/>
              <a:t>RoHS Compliant </a:t>
            </a:r>
          </a:p>
        </p:txBody>
      </p:sp>
      <p:sp>
        <p:nvSpPr>
          <p:cNvPr id="188425" name="Rectangle 8"/>
          <p:cNvSpPr>
            <a:spLocks noGrp="1" noChangeArrowheads="1"/>
          </p:cNvSpPr>
          <p:nvPr>
            <p:ph type="title" idx="4294967295"/>
          </p:nvPr>
        </p:nvSpPr>
        <p:spPr>
          <a:xfrm>
            <a:off x="45628" y="351562"/>
            <a:ext cx="7194158" cy="349250"/>
          </a:xfrm>
        </p:spPr>
        <p:txBody>
          <a:bodyPr lIns="91440" tIns="45720" rIns="91440" bIns="45720" anchor="b">
            <a:noAutofit/>
          </a:bodyPr>
          <a:lstStyle/>
          <a:p>
            <a:r>
              <a:rPr lang="en-US" sz="2400" dirty="0" smtClean="0"/>
              <a:t>HMIC</a:t>
            </a:r>
            <a:r>
              <a:rPr lang="en-US" sz="2400" dirty="0" smtClean="0">
                <a:sym typeface="Symbol" panose="05050102010706020507" pitchFamily="18" charset="2"/>
              </a:rPr>
              <a:t></a:t>
            </a:r>
            <a:r>
              <a:rPr lang="en-US" sz="2400" dirty="0" smtClean="0"/>
              <a:t> Si PIN Switches</a:t>
            </a:r>
            <a:r>
              <a:rPr lang="en-US" sz="2400" dirty="0"/>
              <a:t>:</a:t>
            </a:r>
            <a:r>
              <a:rPr lang="en-US" sz="2400" dirty="0" smtClean="0"/>
              <a:t> </a:t>
            </a:r>
            <a:r>
              <a:rPr lang="en-US" sz="2400" dirty="0"/>
              <a:t>2 </a:t>
            </a:r>
            <a:r>
              <a:rPr lang="en-US" sz="2400" dirty="0" smtClean="0"/>
              <a:t>W, DC </a:t>
            </a:r>
            <a:r>
              <a:rPr lang="en-US" sz="2400" dirty="0"/>
              <a:t>– 26 GHz</a:t>
            </a:r>
          </a:p>
        </p:txBody>
      </p:sp>
      <p:sp>
        <p:nvSpPr>
          <p:cNvPr id="1246211" name="Rectangle 3"/>
          <p:cNvSpPr>
            <a:spLocks noChangeArrowheads="1"/>
          </p:cNvSpPr>
          <p:nvPr/>
        </p:nvSpPr>
        <p:spPr bwMode="auto">
          <a:xfrm>
            <a:off x="7327900" y="3100534"/>
            <a:ext cx="790575" cy="381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algn="ctr" eaLnBrk="0" hangingPunct="0"/>
            <a:r>
              <a:rPr lang="en-US" sz="1400" i="1" dirty="0"/>
              <a:t>SP5T </a:t>
            </a:r>
          </a:p>
        </p:txBody>
      </p:sp>
      <p:pic>
        <p:nvPicPr>
          <p:cNvPr id="18842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89650" y="3865563"/>
            <a:ext cx="2301875" cy="2301875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</p:spPr>
      </p:pic>
      <p:pic>
        <p:nvPicPr>
          <p:cNvPr id="18842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14913" y="1431925"/>
            <a:ext cx="2312987" cy="1973263"/>
          </a:xfrm>
          <a:prstGeom prst="rect">
            <a:avLst/>
          </a:prstGeom>
          <a:noFill/>
          <a:ln w="9525" algn="ctr">
            <a:solidFill>
              <a:schemeClr val="bg1"/>
            </a:solidFill>
            <a:miter lim="800000"/>
            <a:headEnd/>
            <a:tailEnd/>
          </a:ln>
        </p:spPr>
      </p:pic>
      <p:sp>
        <p:nvSpPr>
          <p:cNvPr id="1246214" name="Rectangle 6"/>
          <p:cNvSpPr>
            <a:spLocks noChangeArrowheads="1"/>
          </p:cNvSpPr>
          <p:nvPr/>
        </p:nvSpPr>
        <p:spPr bwMode="auto">
          <a:xfrm>
            <a:off x="4289425" y="5614988"/>
            <a:ext cx="1724025" cy="6651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algn="ctr" eaLnBrk="0" hangingPunct="0"/>
            <a:r>
              <a:rPr lang="en-US" sz="1400" i="1" dirty="0"/>
              <a:t>SP3T w/ Integrated Bias Network</a:t>
            </a:r>
          </a:p>
        </p:txBody>
      </p:sp>
    </p:spTree>
    <p:extLst>
      <p:ext uri="{BB962C8B-B14F-4D97-AF65-F5344CB8AC3E}">
        <p14:creationId xmlns:p14="http://schemas.microsoft.com/office/powerpoint/2010/main" val="1663865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/>
          </p:cNvSpPr>
          <p:nvPr>
            <p:ph type="title" idx="4294967295"/>
          </p:nvPr>
        </p:nvSpPr>
        <p:spPr>
          <a:xfrm>
            <a:off x="278582" y="563792"/>
            <a:ext cx="5842979" cy="457200"/>
          </a:xfrm>
        </p:spPr>
        <p:txBody>
          <a:bodyPr>
            <a:noAutofit/>
          </a:bodyPr>
          <a:lstStyle/>
          <a:p>
            <a:r>
              <a:rPr lang="en-US" dirty="0"/>
              <a:t>HMIC</a:t>
            </a:r>
            <a:r>
              <a:rPr lang="en-US" baseline="42000" dirty="0"/>
              <a:t>TM</a:t>
            </a:r>
            <a:r>
              <a:rPr lang="en-US" dirty="0"/>
              <a:t> </a:t>
            </a:r>
            <a:r>
              <a:rPr lang="en-US" dirty="0" smtClean="0"/>
              <a:t>Wire-Bondable Switches</a:t>
            </a:r>
            <a:endParaRPr lang="en-US" dirty="0"/>
          </a:p>
        </p:txBody>
      </p:sp>
      <p:sp>
        <p:nvSpPr>
          <p:cNvPr id="56459" name="Oval 2187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7535863" y="0"/>
            <a:ext cx="1608137" cy="903288"/>
          </a:xfrm>
          <a:prstGeom prst="ellipse">
            <a:avLst/>
          </a:prstGeom>
          <a:solidFill>
            <a:schemeClr val="bg1">
              <a:alpha val="0"/>
            </a:schemeClr>
          </a:soli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6517" name="Text Box 2245"/>
          <p:cNvSpPr txBox="1">
            <a:spLocks noChangeArrowheads="1"/>
          </p:cNvSpPr>
          <p:nvPr/>
        </p:nvSpPr>
        <p:spPr bwMode="auto">
          <a:xfrm>
            <a:off x="319768" y="1499981"/>
            <a:ext cx="5925786" cy="22960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spcBef>
                <a:spcPct val="35000"/>
              </a:spcBef>
            </a:pPr>
            <a:r>
              <a:rPr lang="en-US" sz="2800" dirty="0" smtClean="0"/>
              <a:t>Features</a:t>
            </a:r>
            <a:r>
              <a:rPr lang="en-US" sz="2400" dirty="0" smtClean="0"/>
              <a:t> </a:t>
            </a:r>
          </a:p>
          <a:p>
            <a:pPr algn="l">
              <a:lnSpc>
                <a:spcPct val="90000"/>
              </a:lnSpc>
              <a:spcBef>
                <a:spcPct val="35000"/>
              </a:spcBef>
              <a:buFont typeface="Wingdings" pitchFamily="2" charset="2"/>
              <a:buChar char="§"/>
            </a:pPr>
            <a:r>
              <a:rPr lang="en-US" sz="2000" dirty="0" smtClean="0"/>
              <a:t>SPST through </a:t>
            </a:r>
            <a:r>
              <a:rPr lang="en-US" sz="2000" dirty="0"/>
              <a:t>SP6T </a:t>
            </a:r>
            <a:endParaRPr lang="en-US" sz="2000" dirty="0" smtClean="0"/>
          </a:p>
          <a:p>
            <a:pPr algn="l">
              <a:lnSpc>
                <a:spcPct val="90000"/>
              </a:lnSpc>
              <a:spcBef>
                <a:spcPct val="35000"/>
              </a:spcBef>
              <a:buFont typeface="Wingdings" pitchFamily="2" charset="2"/>
              <a:buChar char="§"/>
            </a:pPr>
            <a:r>
              <a:rPr lang="en-US" sz="2000" dirty="0" smtClean="0"/>
              <a:t> Broadband Performance to 26 GHz</a:t>
            </a:r>
            <a:endParaRPr lang="en-US" sz="2000" dirty="0"/>
          </a:p>
          <a:p>
            <a:pPr algn="l">
              <a:lnSpc>
                <a:spcPct val="90000"/>
              </a:lnSpc>
              <a:spcBef>
                <a:spcPct val="35000"/>
              </a:spcBef>
              <a:buFont typeface="Wingdings" pitchFamily="2" charset="2"/>
              <a:buChar char="§"/>
            </a:pPr>
            <a:r>
              <a:rPr lang="en-US" sz="2000" dirty="0" smtClean="0"/>
              <a:t> Wire </a:t>
            </a:r>
            <a:r>
              <a:rPr lang="en-US" sz="2000" dirty="0"/>
              <a:t>/Ribbon Bond </a:t>
            </a:r>
            <a:r>
              <a:rPr lang="en-US" sz="2000" dirty="0" smtClean="0"/>
              <a:t>Connections</a:t>
            </a:r>
            <a:endParaRPr lang="en-US" sz="2000" dirty="0"/>
          </a:p>
          <a:p>
            <a:pPr algn="l">
              <a:lnSpc>
                <a:spcPct val="90000"/>
              </a:lnSpc>
              <a:spcBef>
                <a:spcPct val="35000"/>
              </a:spcBef>
              <a:buFont typeface="Wingdings" pitchFamily="2" charset="2"/>
              <a:buChar char="§"/>
            </a:pPr>
            <a:r>
              <a:rPr lang="en-US" sz="2000" dirty="0" smtClean="0"/>
              <a:t> Available With </a:t>
            </a:r>
            <a:r>
              <a:rPr lang="en-US" sz="2000" dirty="0"/>
              <a:t>or </a:t>
            </a:r>
            <a:r>
              <a:rPr lang="en-US" sz="2000" dirty="0" smtClean="0"/>
              <a:t>Without Integrated </a:t>
            </a:r>
            <a:r>
              <a:rPr lang="en-US" sz="2000" dirty="0"/>
              <a:t>Bias </a:t>
            </a:r>
            <a:r>
              <a:rPr lang="en-US" sz="2000" dirty="0" smtClean="0"/>
              <a:t>Networks 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877937" y="1322375"/>
            <a:ext cx="1885950" cy="2321857"/>
            <a:chOff x="512763" y="1322388"/>
            <a:chExt cx="1885950" cy="2321857"/>
          </a:xfrm>
        </p:grpSpPr>
        <p:grpSp>
          <p:nvGrpSpPr>
            <p:cNvPr id="3" name="Group 2221"/>
            <p:cNvGrpSpPr>
              <a:grpSpLocks/>
            </p:cNvGrpSpPr>
            <p:nvPr/>
          </p:nvGrpSpPr>
          <p:grpSpPr bwMode="auto">
            <a:xfrm rot="-1571532">
              <a:off x="512763" y="1322388"/>
              <a:ext cx="1790700" cy="1827212"/>
              <a:chOff x="83" y="1088"/>
              <a:chExt cx="1450" cy="1235"/>
            </a:xfrm>
          </p:grpSpPr>
          <p:sp>
            <p:nvSpPr>
              <p:cNvPr id="56462" name="Oval 2190"/>
              <p:cNvSpPr>
                <a:spLocks noChangeArrowheads="1"/>
              </p:cNvSpPr>
              <p:nvPr/>
            </p:nvSpPr>
            <p:spPr bwMode="auto">
              <a:xfrm>
                <a:off x="83" y="1088"/>
                <a:ext cx="1450" cy="1235"/>
              </a:xfrm>
              <a:prstGeom prst="ellipse">
                <a:avLst/>
              </a:prstGeom>
              <a:gradFill rotWithShape="1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pic>
            <p:nvPicPr>
              <p:cNvPr id="54200" name="Picture 1976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3156639">
                <a:off x="451" y="1333"/>
                <a:ext cx="670" cy="667"/>
              </a:xfrm>
              <a:prstGeom prst="rect">
                <a:avLst/>
              </a:prstGeom>
              <a:noFill/>
              <a:ln w="19050" algn="ctr">
                <a:solidFill>
                  <a:srgbClr val="800000"/>
                </a:solidFill>
                <a:miter lim="800000"/>
                <a:headEnd/>
                <a:tailEnd/>
              </a:ln>
              <a:effectLst/>
            </p:spPr>
          </p:pic>
        </p:grpSp>
        <p:sp>
          <p:nvSpPr>
            <p:cNvPr id="56521" name="Text Box 2249"/>
            <p:cNvSpPr txBox="1">
              <a:spLocks noChangeArrowheads="1"/>
            </p:cNvSpPr>
            <p:nvPr/>
          </p:nvSpPr>
          <p:spPr bwMode="auto">
            <a:xfrm>
              <a:off x="581025" y="3121025"/>
              <a:ext cx="1817688" cy="52322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dirty="0" smtClean="0"/>
                <a:t>SP3T with Bias </a:t>
              </a:r>
              <a:r>
                <a:rPr lang="en-US" sz="1400" dirty="0"/>
                <a:t>Network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981950" y="4198633"/>
            <a:ext cx="1817688" cy="2344722"/>
            <a:chOff x="557398" y="3818639"/>
            <a:chExt cx="1817688" cy="2344722"/>
          </a:xfrm>
        </p:grpSpPr>
        <p:grpSp>
          <p:nvGrpSpPr>
            <p:cNvPr id="15" name="Group 14"/>
            <p:cNvGrpSpPr/>
            <p:nvPr/>
          </p:nvGrpSpPr>
          <p:grpSpPr>
            <a:xfrm>
              <a:off x="600446" y="3818639"/>
              <a:ext cx="1668463" cy="1755775"/>
              <a:chOff x="600446" y="3818639"/>
              <a:chExt cx="1668463" cy="1755775"/>
            </a:xfrm>
          </p:grpSpPr>
          <p:sp>
            <p:nvSpPr>
              <p:cNvPr id="56485" name="Oval 2213"/>
              <p:cNvSpPr>
                <a:spLocks noChangeArrowheads="1"/>
              </p:cNvSpPr>
              <p:nvPr/>
            </p:nvSpPr>
            <p:spPr bwMode="auto">
              <a:xfrm rot="3912343">
                <a:off x="556790" y="3862295"/>
                <a:ext cx="1755775" cy="1668463"/>
              </a:xfrm>
              <a:prstGeom prst="ellipse">
                <a:avLst/>
              </a:prstGeom>
              <a:gradFill rotWithShape="1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pic>
            <p:nvPicPr>
              <p:cNvPr id="56448" name="Picture 2176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 rot="2488733">
                <a:off x="929238" y="4213381"/>
                <a:ext cx="1029247" cy="998376"/>
              </a:xfrm>
              <a:prstGeom prst="rect">
                <a:avLst/>
              </a:prstGeom>
              <a:noFill/>
              <a:ln w="15875">
                <a:solidFill>
                  <a:srgbClr val="993300"/>
                </a:solidFill>
                <a:miter lim="800000"/>
                <a:headEnd/>
                <a:tailEnd/>
              </a:ln>
            </p:spPr>
          </p:pic>
        </p:grpSp>
        <p:sp>
          <p:nvSpPr>
            <p:cNvPr id="56522" name="Text Box 2250"/>
            <p:cNvSpPr txBox="1">
              <a:spLocks noChangeArrowheads="1"/>
            </p:cNvSpPr>
            <p:nvPr/>
          </p:nvSpPr>
          <p:spPr bwMode="auto">
            <a:xfrm>
              <a:off x="557398" y="5640141"/>
              <a:ext cx="1817688" cy="52322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dirty="0" smtClean="0"/>
                <a:t>SP5T without </a:t>
              </a:r>
              <a:r>
                <a:rPr lang="en-US" sz="1400" dirty="0"/>
                <a:t>Bias Network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93724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757" name="Rectangle 109"/>
          <p:cNvSpPr>
            <a:spLocks noGrp="1"/>
          </p:cNvSpPr>
          <p:nvPr>
            <p:ph type="title" idx="4294967295"/>
          </p:nvPr>
        </p:nvSpPr>
        <p:spPr>
          <a:xfrm>
            <a:off x="95536" y="268159"/>
            <a:ext cx="5481638" cy="457200"/>
          </a:xfrm>
        </p:spPr>
        <p:txBody>
          <a:bodyPr>
            <a:noAutofit/>
          </a:bodyPr>
          <a:lstStyle/>
          <a:p>
            <a:r>
              <a:rPr lang="en-US" sz="2400" dirty="0" smtClean="0"/>
              <a:t>HMIC</a:t>
            </a:r>
            <a:r>
              <a:rPr lang="en-US" sz="2400" baseline="42000" dirty="0"/>
              <a:t>TM</a:t>
            </a:r>
            <a:r>
              <a:rPr lang="en-US" sz="2400" dirty="0" smtClean="0"/>
              <a:t> SP2T High Current </a:t>
            </a:r>
            <a:r>
              <a:rPr lang="en-US" sz="2400" i="1" dirty="0" smtClean="0"/>
              <a:t/>
            </a:r>
            <a:br>
              <a:rPr lang="en-US" sz="2400" i="1" dirty="0" smtClean="0"/>
            </a:br>
            <a:r>
              <a:rPr lang="en-US" sz="2400" dirty="0" smtClean="0"/>
              <a:t>MASW-011052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1102936"/>
            <a:ext cx="5797484" cy="2779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Broad Bandwidth: </a:t>
            </a:r>
            <a:r>
              <a:rPr lang="en-US" dirty="0"/>
              <a:t>Specified up to 18 </a:t>
            </a:r>
            <a:r>
              <a:rPr lang="en-US" dirty="0" smtClean="0"/>
              <a:t>GHz, Usable </a:t>
            </a:r>
            <a:r>
              <a:rPr lang="en-US" dirty="0"/>
              <a:t>up to 26 GHz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Integrated </a:t>
            </a:r>
            <a:r>
              <a:rPr lang="en-US" dirty="0"/>
              <a:t>Bias </a:t>
            </a:r>
            <a:r>
              <a:rPr lang="en-US" dirty="0" smtClean="0"/>
              <a:t>Network: High Bias Current  +/- 60 mA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Low </a:t>
            </a:r>
            <a:r>
              <a:rPr lang="en-US" dirty="0"/>
              <a:t>Insertion </a:t>
            </a:r>
            <a:r>
              <a:rPr lang="en-US" dirty="0" smtClean="0"/>
              <a:t>Loss/High </a:t>
            </a:r>
            <a:r>
              <a:rPr lang="en-US" dirty="0"/>
              <a:t>Isolation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Glass Encapsulation </a:t>
            </a:r>
            <a:r>
              <a:rPr lang="en-US" dirty="0"/>
              <a:t>Construction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RoHS Compliant </a:t>
            </a:r>
            <a:r>
              <a:rPr lang="en-US" dirty="0"/>
              <a:t>and </a:t>
            </a:r>
            <a:r>
              <a:rPr lang="en-US" dirty="0" smtClean="0"/>
              <a:t>260 °</a:t>
            </a:r>
            <a:r>
              <a:rPr lang="en-US" dirty="0"/>
              <a:t>C Reflow Compatible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3559499"/>
            <a:ext cx="4174832" cy="310158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229" y="3513111"/>
            <a:ext cx="3999795" cy="311532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976950" y="1527141"/>
            <a:ext cx="2600325" cy="192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07646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757" name="Rectangle 109"/>
          <p:cNvSpPr>
            <a:spLocks noGrp="1"/>
          </p:cNvSpPr>
          <p:nvPr>
            <p:ph type="title" idx="4294967295"/>
          </p:nvPr>
        </p:nvSpPr>
        <p:spPr>
          <a:xfrm>
            <a:off x="95536" y="466124"/>
            <a:ext cx="5481638" cy="457200"/>
          </a:xfrm>
        </p:spPr>
        <p:txBody>
          <a:bodyPr>
            <a:noAutofit/>
          </a:bodyPr>
          <a:lstStyle/>
          <a:p>
            <a:r>
              <a:rPr lang="en-US" sz="2400" dirty="0" smtClean="0"/>
              <a:t>HMIC</a:t>
            </a:r>
            <a:r>
              <a:rPr lang="en-US" sz="2400" baseline="42000" dirty="0"/>
              <a:t>TM</a:t>
            </a:r>
            <a:r>
              <a:rPr lang="en-US" sz="2400" dirty="0" smtClean="0"/>
              <a:t> SP3T High Current </a:t>
            </a:r>
            <a:r>
              <a:rPr lang="en-US" sz="2400" i="1" dirty="0" smtClean="0"/>
              <a:t/>
            </a:r>
            <a:br>
              <a:rPr lang="en-US" sz="2400" i="1" dirty="0" smtClean="0"/>
            </a:br>
            <a:r>
              <a:rPr lang="en-US" sz="2400" dirty="0" smtClean="0"/>
              <a:t>MASW-011053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1093509"/>
            <a:ext cx="5797484" cy="2779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Broad Bandwidth: </a:t>
            </a:r>
            <a:r>
              <a:rPr lang="en-US" dirty="0"/>
              <a:t>Specified up to 18 </a:t>
            </a:r>
            <a:r>
              <a:rPr lang="en-US" dirty="0" smtClean="0"/>
              <a:t>GHz, Usable </a:t>
            </a:r>
            <a:r>
              <a:rPr lang="en-US" dirty="0"/>
              <a:t>up to 26 GHz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Integrated </a:t>
            </a:r>
            <a:r>
              <a:rPr lang="en-US" dirty="0"/>
              <a:t>Bias </a:t>
            </a:r>
            <a:r>
              <a:rPr lang="en-US" dirty="0" smtClean="0"/>
              <a:t>Network: High Bias Current  +/- 60 mA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Low </a:t>
            </a:r>
            <a:r>
              <a:rPr lang="en-US" dirty="0"/>
              <a:t>Insertion </a:t>
            </a:r>
            <a:r>
              <a:rPr lang="en-US" dirty="0" smtClean="0"/>
              <a:t>Loss/High </a:t>
            </a:r>
            <a:r>
              <a:rPr lang="en-US" dirty="0"/>
              <a:t>Isolation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Glass Encapsulation </a:t>
            </a:r>
            <a:r>
              <a:rPr lang="en-US" dirty="0"/>
              <a:t>Construction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RoHS Compliant </a:t>
            </a:r>
            <a:r>
              <a:rPr lang="en-US" dirty="0"/>
              <a:t>and </a:t>
            </a:r>
            <a:r>
              <a:rPr lang="en-US" dirty="0" smtClean="0"/>
              <a:t>260 °</a:t>
            </a:r>
            <a:r>
              <a:rPr lang="en-US" dirty="0"/>
              <a:t>C Reflow Compatible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05826" y="1196705"/>
            <a:ext cx="2286000" cy="2309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3720" y="3532313"/>
            <a:ext cx="4009476" cy="309868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3503567"/>
            <a:ext cx="4085110" cy="311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043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Limiter Modules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757331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Content Placeholder 1"/>
          <p:cNvSpPr>
            <a:spLocks noGrp="1"/>
          </p:cNvSpPr>
          <p:nvPr>
            <p:ph idx="1"/>
          </p:nvPr>
        </p:nvSpPr>
        <p:spPr>
          <a:xfrm>
            <a:off x="293592" y="1299882"/>
            <a:ext cx="4504185" cy="5292829"/>
          </a:xfrm>
        </p:spPr>
        <p:txBody>
          <a:bodyPr>
            <a:noAutofit/>
          </a:bodyPr>
          <a:lstStyle/>
          <a:p>
            <a:r>
              <a:rPr lang="en-US" altLang="en-US" sz="1800" dirty="0" smtClean="0"/>
              <a:t>Industry-leading input power handling as high as </a:t>
            </a:r>
          </a:p>
          <a:p>
            <a:pPr lvl="1"/>
            <a:r>
              <a:rPr lang="en-US" altLang="en-US" dirty="0" smtClean="0"/>
              <a:t>300 W CW </a:t>
            </a:r>
          </a:p>
          <a:p>
            <a:pPr lvl="1"/>
            <a:r>
              <a:rPr lang="en-US" altLang="en-US" dirty="0" smtClean="0"/>
              <a:t>2 kW peak</a:t>
            </a:r>
          </a:p>
          <a:p>
            <a:r>
              <a:rPr lang="en-US" altLang="en-US" sz="1800" dirty="0" smtClean="0"/>
              <a:t>No external control signal or bias required</a:t>
            </a:r>
          </a:p>
          <a:p>
            <a:r>
              <a:rPr lang="en-US" altLang="en-US" sz="1800" dirty="0" smtClean="0"/>
              <a:t>Available as</a:t>
            </a:r>
          </a:p>
          <a:p>
            <a:pPr lvl="1"/>
            <a:r>
              <a:rPr lang="en-US" altLang="en-US" dirty="0" smtClean="0"/>
              <a:t>Single stage</a:t>
            </a:r>
          </a:p>
          <a:p>
            <a:pPr lvl="1"/>
            <a:r>
              <a:rPr lang="en-US" altLang="en-US" dirty="0" smtClean="0"/>
              <a:t>Dual stage</a:t>
            </a:r>
          </a:p>
          <a:p>
            <a:pPr lvl="1"/>
            <a:r>
              <a:rPr lang="en-US" altLang="en-US" dirty="0" smtClean="0"/>
              <a:t>Detector/limiter</a:t>
            </a:r>
          </a:p>
          <a:p>
            <a:r>
              <a:rPr lang="en-US" altLang="en-US" sz="1800" dirty="0" smtClean="0"/>
              <a:t>Available in VHF, UHF, L, S and C bands</a:t>
            </a:r>
          </a:p>
          <a:p>
            <a:r>
              <a:rPr lang="en-US" altLang="en-US" sz="1800" dirty="0" smtClean="0"/>
              <a:t>Packaged in low-thermal-resistance surface-mount hermetic or nonhermetic module packages</a:t>
            </a:r>
          </a:p>
          <a:p>
            <a:endParaRPr lang="en-US" altLang="en-US" sz="1800" dirty="0" smtClean="0"/>
          </a:p>
        </p:txBody>
      </p:sp>
      <p:sp>
        <p:nvSpPr>
          <p:cNvPr id="28675" name="Title 2"/>
          <p:cNvSpPr>
            <a:spLocks noGrp="1"/>
          </p:cNvSpPr>
          <p:nvPr>
            <p:ph type="title"/>
          </p:nvPr>
        </p:nvSpPr>
        <p:spPr>
          <a:xfrm>
            <a:off x="215152" y="274924"/>
            <a:ext cx="4500283" cy="516951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/>
              <a:t>High Power Limiter Modules</a:t>
            </a:r>
          </a:p>
        </p:txBody>
      </p:sp>
      <p:pic>
        <p:nvPicPr>
          <p:cNvPr id="28678" name="Picture 5" descr="Untitled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652714" y="4006289"/>
            <a:ext cx="2259013" cy="148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15435" y="1470212"/>
            <a:ext cx="391795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9884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Tuning Varactor Diodes</a:t>
            </a:r>
            <a:endParaRPr lang="en-US" sz="36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VCO</a:t>
            </a:r>
            <a:br>
              <a:rPr lang="en-US" dirty="0"/>
            </a:br>
            <a:r>
              <a:rPr lang="en-US" dirty="0"/>
              <a:t>Phase Shifter</a:t>
            </a:r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5921" y="4146636"/>
            <a:ext cx="2955419" cy="2039011"/>
          </a:xfrm>
          <a:prstGeom prst="rect">
            <a:avLst/>
          </a:prstGeom>
        </p:spPr>
      </p:pic>
      <p:pic>
        <p:nvPicPr>
          <p:cNvPr id="7" name="Picture 6" descr="phase shifter general schematic.em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72317" y="4290645"/>
            <a:ext cx="4113213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4324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915" y="134671"/>
            <a:ext cx="2913591" cy="519752"/>
          </a:xfrm>
        </p:spPr>
        <p:txBody>
          <a:bodyPr/>
          <a:lstStyle/>
          <a:p>
            <a:r>
              <a:rPr lang="en-US" dirty="0" smtClean="0"/>
              <a:t>Tuning Varactor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613" y="1655102"/>
            <a:ext cx="4085319" cy="3594970"/>
          </a:xfrm>
        </p:spPr>
        <p:txBody>
          <a:bodyPr>
            <a:noAutofit/>
          </a:bodyPr>
          <a:lstStyle/>
          <a:p>
            <a:r>
              <a:rPr lang="en-US" sz="2000" dirty="0" smtClean="0"/>
              <a:t>Tuning varactors are PN junction diodes which act as voltage-controlled variable capacitors</a:t>
            </a:r>
          </a:p>
          <a:p>
            <a:r>
              <a:rPr lang="en-US" sz="2000" dirty="0" smtClean="0"/>
              <a:t>The depletion region at the junction acts as the dielectric layer of a parallel plate capacitor</a:t>
            </a:r>
          </a:p>
          <a:p>
            <a:pPr lvl="1"/>
            <a:r>
              <a:rPr lang="en-US" sz="2000" dirty="0" smtClean="0"/>
              <a:t>Physically separates the P and the N layers, which act as the plates</a:t>
            </a:r>
          </a:p>
          <a:p>
            <a:r>
              <a:rPr lang="en-US" sz="2000" dirty="0" smtClean="0"/>
              <a:t>Reverse bias voltage magnitude controls the thickness of the dielectric layer, which controls the capacitance of the varactor</a:t>
            </a:r>
          </a:p>
          <a:p>
            <a:endParaRPr lang="en-US" sz="2000" dirty="0"/>
          </a:p>
        </p:txBody>
      </p:sp>
      <p:grpSp>
        <p:nvGrpSpPr>
          <p:cNvPr id="4" name="Group 3"/>
          <p:cNvGrpSpPr/>
          <p:nvPr/>
        </p:nvGrpSpPr>
        <p:grpSpPr>
          <a:xfrm>
            <a:off x="4941867" y="1462856"/>
            <a:ext cx="3789362" cy="2679700"/>
            <a:chOff x="4760913" y="2366963"/>
            <a:chExt cx="3789362" cy="2679700"/>
          </a:xfrm>
        </p:grpSpPr>
        <p:grpSp>
          <p:nvGrpSpPr>
            <p:cNvPr id="5" name="Group 4"/>
            <p:cNvGrpSpPr>
              <a:grpSpLocks/>
            </p:cNvGrpSpPr>
            <p:nvPr/>
          </p:nvGrpSpPr>
          <p:grpSpPr bwMode="auto">
            <a:xfrm>
              <a:off x="4760913" y="2894013"/>
              <a:ext cx="2447925" cy="1606550"/>
              <a:chOff x="3044" y="2160"/>
              <a:chExt cx="1711" cy="1012"/>
            </a:xfrm>
          </p:grpSpPr>
          <p:grpSp>
            <p:nvGrpSpPr>
              <p:cNvPr id="34" name="Group 5"/>
              <p:cNvGrpSpPr>
                <a:grpSpLocks/>
              </p:cNvGrpSpPr>
              <p:nvPr/>
            </p:nvGrpSpPr>
            <p:grpSpPr bwMode="auto">
              <a:xfrm>
                <a:off x="3044" y="2172"/>
                <a:ext cx="1711" cy="1000"/>
                <a:chOff x="3044" y="2172"/>
                <a:chExt cx="1711" cy="1000"/>
              </a:xfrm>
            </p:grpSpPr>
            <p:sp>
              <p:nvSpPr>
                <p:cNvPr id="37" name="Rectangle 6"/>
                <p:cNvSpPr>
                  <a:spLocks noChangeArrowheads="1"/>
                </p:cNvSpPr>
                <p:nvPr/>
              </p:nvSpPr>
              <p:spPr bwMode="auto">
                <a:xfrm>
                  <a:off x="3044" y="2172"/>
                  <a:ext cx="1711" cy="1000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38" name="Line 7"/>
                <p:cNvSpPr>
                  <a:spLocks noChangeShapeType="1"/>
                </p:cNvSpPr>
                <p:nvPr/>
              </p:nvSpPr>
              <p:spPr bwMode="auto">
                <a:xfrm>
                  <a:off x="3044" y="2672"/>
                  <a:ext cx="1711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35" name="Rectangle 8"/>
              <p:cNvSpPr>
                <a:spLocks noChangeArrowheads="1"/>
              </p:cNvSpPr>
              <p:nvPr/>
            </p:nvSpPr>
            <p:spPr bwMode="auto">
              <a:xfrm>
                <a:off x="3061" y="2160"/>
                <a:ext cx="166" cy="20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65088" tIns="31750" rIns="65088" bIns="31750">
                <a:spAutoFit/>
              </a:bodyPr>
              <a:lstStyle/>
              <a:p>
                <a:pPr defTabSz="447675"/>
                <a:r>
                  <a:rPr lang="en-US" sz="1700" dirty="0">
                    <a:latin typeface="Times New Roman" pitchFamily="18" charset="0"/>
                  </a:rPr>
                  <a:t>p</a:t>
                </a:r>
              </a:p>
            </p:txBody>
          </p:sp>
          <p:sp>
            <p:nvSpPr>
              <p:cNvPr id="36" name="Rectangle 9"/>
              <p:cNvSpPr>
                <a:spLocks noChangeArrowheads="1"/>
              </p:cNvSpPr>
              <p:nvPr/>
            </p:nvSpPr>
            <p:spPr bwMode="auto">
              <a:xfrm>
                <a:off x="3061" y="2967"/>
                <a:ext cx="166" cy="20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65088" tIns="31750" rIns="65088" bIns="31750">
                <a:spAutoFit/>
              </a:bodyPr>
              <a:lstStyle/>
              <a:p>
                <a:pPr defTabSz="447675"/>
                <a:r>
                  <a:rPr lang="en-US" sz="1700" dirty="0">
                    <a:latin typeface="Times New Roman" pitchFamily="18" charset="0"/>
                  </a:rPr>
                  <a:t>n</a:t>
                </a:r>
              </a:p>
            </p:txBody>
          </p:sp>
        </p:grpSp>
        <p:sp>
          <p:nvSpPr>
            <p:cNvPr id="6" name="Rectangle 10"/>
            <p:cNvSpPr>
              <a:spLocks noChangeArrowheads="1"/>
            </p:cNvSpPr>
            <p:nvPr/>
          </p:nvSpPr>
          <p:spPr bwMode="auto">
            <a:xfrm>
              <a:off x="4760913" y="3659188"/>
              <a:ext cx="2447925" cy="574675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" name="Rectangle 11"/>
            <p:cNvSpPr>
              <a:spLocks noChangeArrowheads="1"/>
            </p:cNvSpPr>
            <p:nvPr/>
          </p:nvSpPr>
          <p:spPr bwMode="auto">
            <a:xfrm>
              <a:off x="5321300" y="3802063"/>
              <a:ext cx="1538288" cy="32226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5088" tIns="31750" rIns="65088" bIns="31750">
              <a:spAutoFit/>
            </a:bodyPr>
            <a:lstStyle/>
            <a:p>
              <a:pPr defTabSz="447675"/>
              <a:r>
                <a:rPr lang="en-US" sz="1700" dirty="0">
                  <a:latin typeface="Times New Roman" pitchFamily="18" charset="0"/>
                </a:rPr>
                <a:t>depletion region</a:t>
              </a:r>
            </a:p>
          </p:txBody>
        </p:sp>
        <p:grpSp>
          <p:nvGrpSpPr>
            <p:cNvPr id="8" name="Group 12"/>
            <p:cNvGrpSpPr>
              <a:grpSpLocks/>
            </p:cNvGrpSpPr>
            <p:nvPr/>
          </p:nvGrpSpPr>
          <p:grpSpPr bwMode="auto">
            <a:xfrm>
              <a:off x="7308850" y="4240213"/>
              <a:ext cx="525463" cy="327025"/>
              <a:chOff x="4825" y="3008"/>
              <a:chExt cx="367" cy="206"/>
            </a:xfrm>
          </p:grpSpPr>
          <p:sp>
            <p:nvSpPr>
              <p:cNvPr id="31" name="Line 13"/>
              <p:cNvSpPr>
                <a:spLocks noChangeShapeType="1"/>
              </p:cNvSpPr>
              <p:nvPr/>
            </p:nvSpPr>
            <p:spPr bwMode="auto">
              <a:xfrm>
                <a:off x="4825" y="3008"/>
                <a:ext cx="36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32" name="Line 14"/>
              <p:cNvSpPr>
                <a:spLocks noChangeShapeType="1"/>
              </p:cNvSpPr>
              <p:nvPr/>
            </p:nvSpPr>
            <p:spPr bwMode="auto">
              <a:xfrm flipV="1">
                <a:off x="5009" y="3038"/>
                <a:ext cx="0" cy="17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33" name="Line 15"/>
              <p:cNvSpPr>
                <a:spLocks noChangeShapeType="1"/>
              </p:cNvSpPr>
              <p:nvPr/>
            </p:nvSpPr>
            <p:spPr bwMode="auto">
              <a:xfrm flipV="1">
                <a:off x="4981" y="3038"/>
                <a:ext cx="24" cy="7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9" name="Group 16"/>
            <p:cNvGrpSpPr>
              <a:grpSpLocks/>
            </p:cNvGrpSpPr>
            <p:nvPr/>
          </p:nvGrpSpPr>
          <p:grpSpPr bwMode="auto">
            <a:xfrm>
              <a:off x="7308850" y="3340100"/>
              <a:ext cx="525463" cy="312738"/>
              <a:chOff x="4825" y="2441"/>
              <a:chExt cx="367" cy="197"/>
            </a:xfrm>
          </p:grpSpPr>
          <p:sp>
            <p:nvSpPr>
              <p:cNvPr id="28" name="Line 17"/>
              <p:cNvSpPr>
                <a:spLocks noChangeShapeType="1"/>
              </p:cNvSpPr>
              <p:nvPr/>
            </p:nvSpPr>
            <p:spPr bwMode="auto">
              <a:xfrm>
                <a:off x="4825" y="2638"/>
                <a:ext cx="36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9" name="Line 18"/>
              <p:cNvSpPr>
                <a:spLocks noChangeShapeType="1"/>
              </p:cNvSpPr>
              <p:nvPr/>
            </p:nvSpPr>
            <p:spPr bwMode="auto">
              <a:xfrm>
                <a:off x="5009" y="2441"/>
                <a:ext cx="0" cy="1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30" name="Line 19"/>
              <p:cNvSpPr>
                <a:spLocks noChangeShapeType="1"/>
              </p:cNvSpPr>
              <p:nvPr/>
            </p:nvSpPr>
            <p:spPr bwMode="auto">
              <a:xfrm>
                <a:off x="4981" y="2542"/>
                <a:ext cx="24" cy="5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10" name="Rectangle 20"/>
            <p:cNvSpPr>
              <a:spLocks noChangeArrowheads="1"/>
            </p:cNvSpPr>
            <p:nvPr/>
          </p:nvSpPr>
          <p:spPr bwMode="auto">
            <a:xfrm>
              <a:off x="7424738" y="3802063"/>
              <a:ext cx="238125" cy="32226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5088" tIns="31750" rIns="65088" bIns="31750">
              <a:spAutoFit/>
            </a:bodyPr>
            <a:lstStyle/>
            <a:p>
              <a:pPr defTabSz="447675"/>
              <a:r>
                <a:rPr lang="en-US" sz="1700" dirty="0"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11" name="Line 21"/>
            <p:cNvSpPr>
              <a:spLocks noChangeShapeType="1"/>
            </p:cNvSpPr>
            <p:nvPr/>
          </p:nvSpPr>
          <p:spPr bwMode="auto">
            <a:xfrm flipV="1">
              <a:off x="5961063" y="2366963"/>
              <a:ext cx="0" cy="5461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2" name="Line 22"/>
            <p:cNvSpPr>
              <a:spLocks noChangeShapeType="1"/>
            </p:cNvSpPr>
            <p:nvPr/>
          </p:nvSpPr>
          <p:spPr bwMode="auto">
            <a:xfrm flipV="1">
              <a:off x="5961063" y="4500563"/>
              <a:ext cx="0" cy="5461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" name="Line 23"/>
            <p:cNvSpPr>
              <a:spLocks noChangeShapeType="1"/>
            </p:cNvSpPr>
            <p:nvPr/>
          </p:nvSpPr>
          <p:spPr bwMode="auto">
            <a:xfrm>
              <a:off x="5967413" y="5040313"/>
              <a:ext cx="24034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4" name="Line 24"/>
            <p:cNvSpPr>
              <a:spLocks noChangeShapeType="1"/>
            </p:cNvSpPr>
            <p:nvPr/>
          </p:nvSpPr>
          <p:spPr bwMode="auto">
            <a:xfrm>
              <a:off x="5967413" y="2373313"/>
              <a:ext cx="24034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5" name="Rectangle 25"/>
            <p:cNvSpPr>
              <a:spLocks noChangeArrowheads="1"/>
            </p:cNvSpPr>
            <p:nvPr/>
          </p:nvSpPr>
          <p:spPr bwMode="auto">
            <a:xfrm>
              <a:off x="7916863" y="3587750"/>
              <a:ext cx="285750" cy="32226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5088" tIns="31750" rIns="65088" bIns="31750">
              <a:spAutoFit/>
            </a:bodyPr>
            <a:lstStyle/>
            <a:p>
              <a:pPr defTabSz="447675"/>
              <a:r>
                <a:rPr lang="en-US" sz="1700" dirty="0">
                  <a:latin typeface="Times New Roman" pitchFamily="18" charset="0"/>
                </a:rPr>
                <a:t>V</a:t>
              </a:r>
            </a:p>
          </p:txBody>
        </p:sp>
        <p:grpSp>
          <p:nvGrpSpPr>
            <p:cNvPr id="16" name="Group 26"/>
            <p:cNvGrpSpPr>
              <a:grpSpLocks/>
            </p:cNvGrpSpPr>
            <p:nvPr/>
          </p:nvGrpSpPr>
          <p:grpSpPr bwMode="auto">
            <a:xfrm>
              <a:off x="8094663" y="2379663"/>
              <a:ext cx="455612" cy="2654300"/>
              <a:chOff x="5374" y="1836"/>
              <a:chExt cx="318" cy="1672"/>
            </a:xfrm>
          </p:grpSpPr>
          <p:grpSp>
            <p:nvGrpSpPr>
              <p:cNvPr id="20" name="Group 27"/>
              <p:cNvGrpSpPr>
                <a:grpSpLocks/>
              </p:cNvGrpSpPr>
              <p:nvPr/>
            </p:nvGrpSpPr>
            <p:grpSpPr bwMode="auto">
              <a:xfrm>
                <a:off x="5419" y="2638"/>
                <a:ext cx="273" cy="101"/>
                <a:chOff x="5419" y="2638"/>
                <a:chExt cx="273" cy="101"/>
              </a:xfrm>
            </p:grpSpPr>
            <p:sp>
              <p:nvSpPr>
                <p:cNvPr id="26" name="Line 28"/>
                <p:cNvSpPr>
                  <a:spLocks noChangeShapeType="1"/>
                </p:cNvSpPr>
                <p:nvPr/>
              </p:nvSpPr>
              <p:spPr bwMode="auto">
                <a:xfrm>
                  <a:off x="5481" y="2638"/>
                  <a:ext cx="14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27" name="Line 29"/>
                <p:cNvSpPr>
                  <a:spLocks noChangeShapeType="1"/>
                </p:cNvSpPr>
                <p:nvPr/>
              </p:nvSpPr>
              <p:spPr bwMode="auto">
                <a:xfrm>
                  <a:off x="5419" y="2739"/>
                  <a:ext cx="273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grpSp>
            <p:nvGrpSpPr>
              <p:cNvPr id="21" name="Group 30"/>
              <p:cNvGrpSpPr>
                <a:grpSpLocks/>
              </p:cNvGrpSpPr>
              <p:nvPr/>
            </p:nvGrpSpPr>
            <p:grpSpPr bwMode="auto">
              <a:xfrm>
                <a:off x="5571" y="1836"/>
                <a:ext cx="0" cy="1672"/>
                <a:chOff x="5571" y="1836"/>
                <a:chExt cx="0" cy="1672"/>
              </a:xfrm>
            </p:grpSpPr>
            <p:sp>
              <p:nvSpPr>
                <p:cNvPr id="24" name="Line 31"/>
                <p:cNvSpPr>
                  <a:spLocks noChangeShapeType="1"/>
                </p:cNvSpPr>
                <p:nvPr/>
              </p:nvSpPr>
              <p:spPr bwMode="auto">
                <a:xfrm>
                  <a:off x="5571" y="1836"/>
                  <a:ext cx="0" cy="79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25" name="Line 32"/>
                <p:cNvSpPr>
                  <a:spLocks noChangeShapeType="1"/>
                </p:cNvSpPr>
                <p:nvPr/>
              </p:nvSpPr>
              <p:spPr bwMode="auto">
                <a:xfrm>
                  <a:off x="5571" y="2743"/>
                  <a:ext cx="0" cy="765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22" name="Rectangle 33"/>
              <p:cNvSpPr>
                <a:spLocks noChangeArrowheads="1"/>
              </p:cNvSpPr>
              <p:nvPr/>
            </p:nvSpPr>
            <p:spPr bwMode="auto">
              <a:xfrm>
                <a:off x="5374" y="2396"/>
                <a:ext cx="141" cy="20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65088" tIns="31750" rIns="65088" bIns="31750">
                <a:spAutoFit/>
              </a:bodyPr>
              <a:lstStyle/>
              <a:p>
                <a:pPr defTabSz="447675"/>
                <a:r>
                  <a:rPr lang="en-US" sz="1700" dirty="0">
                    <a:latin typeface="Times New Roman" pitchFamily="18" charset="0"/>
                  </a:rPr>
                  <a:t>-</a:t>
                </a:r>
              </a:p>
            </p:txBody>
          </p:sp>
          <p:sp>
            <p:nvSpPr>
              <p:cNvPr id="23" name="Rectangle 34"/>
              <p:cNvSpPr>
                <a:spLocks noChangeArrowheads="1"/>
              </p:cNvSpPr>
              <p:nvPr/>
            </p:nvSpPr>
            <p:spPr bwMode="auto">
              <a:xfrm>
                <a:off x="5374" y="2765"/>
                <a:ext cx="176" cy="20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65088" tIns="31750" rIns="65088" bIns="31750">
                <a:spAutoFit/>
              </a:bodyPr>
              <a:lstStyle/>
              <a:p>
                <a:pPr defTabSz="447675"/>
                <a:r>
                  <a:rPr lang="en-US" sz="1700" dirty="0">
                    <a:latin typeface="Times New Roman" pitchFamily="18" charset="0"/>
                  </a:rPr>
                  <a:t>+</a:t>
                </a:r>
              </a:p>
            </p:txBody>
          </p:sp>
        </p:grpSp>
        <p:sp>
          <p:nvSpPr>
            <p:cNvPr id="17" name="Line 35"/>
            <p:cNvSpPr>
              <a:spLocks noChangeShapeType="1"/>
            </p:cNvSpPr>
            <p:nvPr/>
          </p:nvSpPr>
          <p:spPr bwMode="auto">
            <a:xfrm>
              <a:off x="4762500" y="3709988"/>
              <a:ext cx="24479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8" name="Text Box 36"/>
            <p:cNvSpPr txBox="1">
              <a:spLocks noChangeArrowheads="1"/>
            </p:cNvSpPr>
            <p:nvPr/>
          </p:nvSpPr>
          <p:spPr bwMode="auto">
            <a:xfrm>
              <a:off x="5080000" y="3030538"/>
              <a:ext cx="1947863" cy="8255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dirty="0">
                  <a:latin typeface="Arial" charset="0"/>
                </a:rPr>
                <a:t>+++++++++++++++++++++++++++++</a:t>
              </a:r>
            </a:p>
          </p:txBody>
        </p:sp>
        <p:sp>
          <p:nvSpPr>
            <p:cNvPr id="19" name="Text Box 37"/>
            <p:cNvSpPr txBox="1">
              <a:spLocks noChangeArrowheads="1"/>
            </p:cNvSpPr>
            <p:nvPr/>
          </p:nvSpPr>
          <p:spPr bwMode="auto">
            <a:xfrm>
              <a:off x="5037138" y="4133850"/>
              <a:ext cx="1976437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dirty="0">
                  <a:latin typeface="Arial" charset="0"/>
                </a:rPr>
                <a:t>- - - - - - - - - -</a:t>
              </a:r>
              <a:endParaRPr lang="en-US" dirty="0">
                <a:solidFill>
                  <a:schemeClr val="tx2"/>
                </a:solidFill>
                <a:latin typeface="Arial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5218092" y="4402906"/>
                <a:ext cx="2866757" cy="6914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</m:oMath>
                  </m:oMathPara>
                </a14:m>
                <a:endParaRPr lang="en-US" sz="2400" dirty="0" smtClean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8092" y="4402906"/>
                <a:ext cx="2866757" cy="69147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5685900" y="5468335"/>
                <a:ext cx="2070590" cy="1013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𝑟𝑒𝑓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𝜙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𝑟𝑒𝑓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𝜙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5900" y="5468335"/>
                <a:ext cx="2070590" cy="101329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970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Tuning Varactor Diodes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81000" y="4272285"/>
            <a:ext cx="8348389" cy="251011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 smtClean="0"/>
              <a:t>Large Variety of silicon (Si) and gallium arsenide (GaAs) tuning varactors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 smtClean="0"/>
              <a:t>Available as chips and in a wide variety of packages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 smtClean="0"/>
              <a:t>Si</a:t>
            </a:r>
          </a:p>
          <a:p>
            <a:pPr lvl="1">
              <a:spcBef>
                <a:spcPts val="0"/>
              </a:spcBef>
            </a:pPr>
            <a:r>
              <a:rPr lang="en-US" sz="1600" dirty="0" smtClean="0"/>
              <a:t>Abrupt junction</a:t>
            </a:r>
          </a:p>
          <a:p>
            <a:pPr lvl="1">
              <a:spcBef>
                <a:spcPts val="0"/>
              </a:spcBef>
            </a:pPr>
            <a:r>
              <a:rPr lang="en-US" sz="1600" dirty="0" smtClean="0"/>
              <a:t>Hyperabrupt junction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 smtClean="0"/>
              <a:t>GaAs</a:t>
            </a:r>
          </a:p>
          <a:p>
            <a:pPr lvl="1">
              <a:spcBef>
                <a:spcPts val="0"/>
              </a:spcBef>
            </a:pPr>
            <a:r>
              <a:rPr lang="en-US" sz="1600" dirty="0" smtClean="0"/>
              <a:t>Abrupt junction</a:t>
            </a:r>
          </a:p>
          <a:p>
            <a:pPr lvl="1">
              <a:spcBef>
                <a:spcPts val="0"/>
              </a:spcBef>
            </a:pPr>
            <a:r>
              <a:rPr lang="en-US" sz="1600" dirty="0" smtClean="0"/>
              <a:t>Constant Gamma hyperabrupt junction</a:t>
            </a:r>
            <a:endParaRPr lang="en-US" sz="1600" dirty="0"/>
          </a:p>
        </p:txBody>
      </p:sp>
      <p:graphicFrame>
        <p:nvGraphicFramePr>
          <p:cNvPr id="18" name="Chart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4003273"/>
              </p:ext>
            </p:extLst>
          </p:nvPr>
        </p:nvGraphicFramePr>
        <p:xfrm>
          <a:off x="736157" y="1186207"/>
          <a:ext cx="4933245" cy="31376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Line Callout 1 (No Border) 2"/>
          <p:cNvSpPr/>
          <p:nvPr/>
        </p:nvSpPr>
        <p:spPr>
          <a:xfrm>
            <a:off x="6383514" y="1620482"/>
            <a:ext cx="1716877" cy="312892"/>
          </a:xfrm>
          <a:prstGeom prst="callout1">
            <a:avLst>
              <a:gd name="adj1" fmla="val 64464"/>
              <a:gd name="adj2" fmla="val -29814"/>
              <a:gd name="adj3" fmla="val 129643"/>
              <a:gd name="adj4" fmla="val -68703"/>
            </a:avLst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>
                <a:ln w="0"/>
                <a:solidFill>
                  <a:schemeClr val="tx1"/>
                </a:solidFill>
              </a:rPr>
              <a:t>Si, GaAs Abrupt</a:t>
            </a:r>
            <a:endParaRPr lang="en-US" sz="1600" dirty="0">
              <a:ln w="0"/>
              <a:solidFill>
                <a:schemeClr val="tx1"/>
              </a:solidFill>
            </a:endParaRPr>
          </a:p>
        </p:txBody>
      </p:sp>
      <p:sp>
        <p:nvSpPr>
          <p:cNvPr id="13" name="Line Callout 1 (No Border) 12"/>
          <p:cNvSpPr/>
          <p:nvPr/>
        </p:nvSpPr>
        <p:spPr>
          <a:xfrm>
            <a:off x="6374552" y="1933374"/>
            <a:ext cx="1757082" cy="313764"/>
          </a:xfrm>
          <a:prstGeom prst="callout1">
            <a:avLst>
              <a:gd name="adj1" fmla="val 41607"/>
              <a:gd name="adj2" fmla="val -15786"/>
              <a:gd name="adj3" fmla="val 95359"/>
              <a:gd name="adj4" fmla="val -46740"/>
            </a:avLst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>
                <a:ln w="0"/>
                <a:solidFill>
                  <a:schemeClr val="tx1"/>
                </a:solidFill>
              </a:rPr>
              <a:t>GaAs </a:t>
            </a:r>
            <a:r>
              <a:rPr lang="en-US" sz="1600" dirty="0" smtClean="0">
                <a:ln w="0"/>
                <a:solidFill>
                  <a:schemeClr val="tx1"/>
                </a:solidFill>
                <a:sym typeface="Symbol" panose="05050102010706020507" pitchFamily="18" charset="2"/>
              </a:rPr>
              <a:t>=0.75</a:t>
            </a:r>
            <a:endParaRPr lang="en-US" sz="1600" dirty="0">
              <a:ln w="0"/>
              <a:solidFill>
                <a:schemeClr val="tx1"/>
              </a:solidFill>
            </a:endParaRPr>
          </a:p>
        </p:txBody>
      </p:sp>
      <p:sp>
        <p:nvSpPr>
          <p:cNvPr id="14" name="Line Callout 1 (No Border) 13"/>
          <p:cNvSpPr/>
          <p:nvPr/>
        </p:nvSpPr>
        <p:spPr>
          <a:xfrm>
            <a:off x="6374552" y="2247138"/>
            <a:ext cx="1757082" cy="313764"/>
          </a:xfrm>
          <a:prstGeom prst="callout1">
            <a:avLst>
              <a:gd name="adj1" fmla="val 35893"/>
              <a:gd name="adj2" fmla="val -15276"/>
              <a:gd name="adj3" fmla="val 75358"/>
              <a:gd name="adj4" fmla="val -46230"/>
            </a:avLst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>
                <a:ln w="0"/>
                <a:solidFill>
                  <a:schemeClr val="tx1"/>
                </a:solidFill>
              </a:rPr>
              <a:t>GaAs </a:t>
            </a:r>
            <a:r>
              <a:rPr lang="en-US" sz="1600" dirty="0" smtClean="0">
                <a:ln w="0"/>
                <a:solidFill>
                  <a:schemeClr val="tx1"/>
                </a:solidFill>
                <a:sym typeface="Symbol" panose="05050102010706020507" pitchFamily="18" charset="2"/>
              </a:rPr>
              <a:t>=1.0</a:t>
            </a:r>
            <a:endParaRPr lang="en-US" sz="1600" dirty="0">
              <a:ln w="0"/>
              <a:solidFill>
                <a:schemeClr val="tx1"/>
              </a:solidFill>
            </a:endParaRPr>
          </a:p>
        </p:txBody>
      </p:sp>
      <p:sp>
        <p:nvSpPr>
          <p:cNvPr id="15" name="Line Callout 1 (No Border) 14"/>
          <p:cNvSpPr/>
          <p:nvPr/>
        </p:nvSpPr>
        <p:spPr>
          <a:xfrm>
            <a:off x="6374552" y="2610209"/>
            <a:ext cx="1757082" cy="313764"/>
          </a:xfrm>
          <a:prstGeom prst="callout1">
            <a:avLst>
              <a:gd name="adj1" fmla="val 35893"/>
              <a:gd name="adj2" fmla="val -15276"/>
              <a:gd name="adj3" fmla="val 41073"/>
              <a:gd name="adj4" fmla="val -46230"/>
            </a:avLst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>
                <a:ln w="0"/>
                <a:solidFill>
                  <a:schemeClr val="tx1"/>
                </a:solidFill>
              </a:rPr>
              <a:t>GaAs </a:t>
            </a:r>
            <a:r>
              <a:rPr lang="en-US" sz="1600" dirty="0" smtClean="0">
                <a:ln w="0"/>
                <a:solidFill>
                  <a:schemeClr val="tx1"/>
                </a:solidFill>
                <a:sym typeface="Symbol" panose="05050102010706020507" pitchFamily="18" charset="2"/>
              </a:rPr>
              <a:t>=1.25</a:t>
            </a:r>
            <a:endParaRPr lang="en-US" sz="1600" dirty="0">
              <a:ln w="0"/>
              <a:solidFill>
                <a:schemeClr val="tx1"/>
              </a:solidFill>
            </a:endParaRPr>
          </a:p>
        </p:txBody>
      </p:sp>
      <p:sp>
        <p:nvSpPr>
          <p:cNvPr id="17" name="Line Callout 1 (No Border) 16"/>
          <p:cNvSpPr/>
          <p:nvPr/>
        </p:nvSpPr>
        <p:spPr>
          <a:xfrm>
            <a:off x="6374552" y="3331865"/>
            <a:ext cx="1757082" cy="313764"/>
          </a:xfrm>
          <a:prstGeom prst="callout1">
            <a:avLst>
              <a:gd name="adj1" fmla="val -6964"/>
              <a:gd name="adj2" fmla="val -15276"/>
              <a:gd name="adj3" fmla="val -67499"/>
              <a:gd name="adj4" fmla="val -47761"/>
            </a:avLst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>
                <a:ln w="0"/>
                <a:solidFill>
                  <a:schemeClr val="tx1"/>
                </a:solidFill>
              </a:rPr>
              <a:t>GaAs </a:t>
            </a:r>
            <a:r>
              <a:rPr lang="en-US" sz="1600" dirty="0" smtClean="0">
                <a:ln w="0"/>
                <a:solidFill>
                  <a:schemeClr val="tx1"/>
                </a:solidFill>
                <a:sym typeface="Symbol" panose="05050102010706020507" pitchFamily="18" charset="2"/>
              </a:rPr>
              <a:t>=1.5</a:t>
            </a:r>
            <a:endParaRPr lang="en-US" sz="1600" dirty="0">
              <a:ln w="0"/>
              <a:solidFill>
                <a:schemeClr val="tx1"/>
              </a:solidFill>
            </a:endParaRPr>
          </a:p>
        </p:txBody>
      </p:sp>
      <p:sp>
        <p:nvSpPr>
          <p:cNvPr id="16" name="Line Callout 1 (No Border) 15"/>
          <p:cNvSpPr/>
          <p:nvPr/>
        </p:nvSpPr>
        <p:spPr>
          <a:xfrm>
            <a:off x="6383515" y="2950865"/>
            <a:ext cx="1783978" cy="313764"/>
          </a:xfrm>
          <a:prstGeom prst="callout1">
            <a:avLst>
              <a:gd name="adj1" fmla="val -4107"/>
              <a:gd name="adj2" fmla="val -15871"/>
              <a:gd name="adj3" fmla="val -44643"/>
              <a:gd name="adj4" fmla="val -59419"/>
            </a:avLst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>
                <a:ln w="0"/>
                <a:solidFill>
                  <a:schemeClr val="tx1"/>
                </a:solidFill>
              </a:rPr>
              <a:t>Si Hyperabrupt</a:t>
            </a:r>
            <a:endParaRPr lang="en-US" sz="1600" dirty="0">
              <a:ln w="0"/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016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554" y="1844824"/>
            <a:ext cx="7315200" cy="640080"/>
          </a:xfrm>
        </p:spPr>
        <p:txBody>
          <a:bodyPr>
            <a:noAutofit/>
          </a:bodyPr>
          <a:lstStyle/>
          <a:p>
            <a:r>
              <a:rPr lang="en-US" sz="3200" dirty="0" smtClean="0"/>
              <a:t>Schottky Diodes</a:t>
            </a:r>
            <a:endParaRPr lang="en-US" sz="320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Si and GaAs</a:t>
            </a:r>
            <a:br>
              <a:rPr lang="en-US" dirty="0"/>
            </a:br>
            <a:r>
              <a:rPr lang="en-US" dirty="0"/>
              <a:t>Frequency Mixing</a:t>
            </a:r>
            <a:br>
              <a:rPr lang="en-US" dirty="0"/>
            </a:br>
            <a:r>
              <a:rPr lang="en-US" dirty="0"/>
              <a:t>Detection</a:t>
            </a:r>
          </a:p>
          <a:p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74556" y="4796416"/>
            <a:ext cx="2591438" cy="1184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6700" y="4655923"/>
            <a:ext cx="1281037" cy="128103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11058" y="4563013"/>
            <a:ext cx="2529162" cy="146217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190" y="4909541"/>
            <a:ext cx="1252915" cy="76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083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14390" y="333269"/>
            <a:ext cx="6983413" cy="544512"/>
          </a:xfrm>
        </p:spPr>
        <p:txBody>
          <a:bodyPr/>
          <a:lstStyle/>
          <a:p>
            <a:r>
              <a:rPr lang="en-US" dirty="0" smtClean="0"/>
              <a:t>GaAs Flip Chip Schottky Diodes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38729" y="1785984"/>
            <a:ext cx="3911929" cy="460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 smtClean="0"/>
              <a:t>Features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Available As: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Single Junction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Series Tees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Reverse Series Tees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Antiparallel </a:t>
            </a:r>
            <a:r>
              <a:rPr lang="en-US" dirty="0"/>
              <a:t>P</a:t>
            </a:r>
            <a:r>
              <a:rPr lang="en-US" dirty="0" smtClean="0"/>
              <a:t>airs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Unconnected Pairs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Low Series Resistance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Low Junction Capacitance</a:t>
            </a:r>
            <a:endParaRPr lang="en-US" dirty="0"/>
          </a:p>
          <a:p>
            <a:pPr algn="l"/>
            <a:endParaRPr lang="en-US" dirty="0" smtClean="0"/>
          </a:p>
          <a:p>
            <a:pPr algn="l"/>
            <a:r>
              <a:rPr lang="en-US" b="1" dirty="0" smtClean="0"/>
              <a:t>Applications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Mixer and Detector Applications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464" y="1441453"/>
            <a:ext cx="1561183" cy="171315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0651" y="2659328"/>
            <a:ext cx="1035843" cy="133984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3608" y="4255778"/>
            <a:ext cx="1160632" cy="1512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347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58291" y="323842"/>
            <a:ext cx="6015801" cy="583258"/>
          </a:xfrm>
        </p:spPr>
        <p:txBody>
          <a:bodyPr>
            <a:normAutofit/>
          </a:bodyPr>
          <a:lstStyle/>
          <a:p>
            <a:r>
              <a:rPr lang="en-US" dirty="0" smtClean="0"/>
              <a:t>GaAs Beamlead</a:t>
            </a:r>
            <a:r>
              <a:rPr lang="en-US" dirty="0"/>
              <a:t> </a:t>
            </a:r>
            <a:r>
              <a:rPr lang="en-US" dirty="0" smtClean="0"/>
              <a:t>Schottky Diodes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8896" y="2066127"/>
            <a:ext cx="2283000" cy="18774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7227" y="1273013"/>
            <a:ext cx="4284208" cy="524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 smtClean="0"/>
              <a:t>Features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Single Barrier Height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Frequency Range: DC – 40 GHz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Available as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Single Junction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2-, 4- and 6-Junction Series Tees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Antiparallel Pairs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4-, 8- and 12-Junction Ring Quad</a:t>
            </a: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Low </a:t>
            </a:r>
            <a:r>
              <a:rPr lang="en-US" dirty="0"/>
              <a:t>Series </a:t>
            </a:r>
            <a:r>
              <a:rPr lang="en-US" dirty="0" smtClean="0"/>
              <a:t>Resistance</a:t>
            </a: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Low Junction Capacitance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US" dirty="0" smtClean="0"/>
          </a:p>
          <a:p>
            <a:pPr algn="l"/>
            <a:r>
              <a:rPr lang="en-US" b="1" dirty="0" smtClean="0"/>
              <a:t>Applications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Mixer and Detector Applications</a:t>
            </a:r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633077">
            <a:off x="6200463" y="4631297"/>
            <a:ext cx="1073039" cy="3870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06112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/>
          </p:cNvSpPr>
          <p:nvPr>
            <p:ph type="title" idx="4294967295"/>
          </p:nvPr>
        </p:nvSpPr>
        <p:spPr>
          <a:xfrm>
            <a:off x="151113" y="271955"/>
            <a:ext cx="6540500" cy="547688"/>
          </a:xfrm>
        </p:spPr>
        <p:txBody>
          <a:bodyPr/>
          <a:lstStyle/>
          <a:p>
            <a:r>
              <a:rPr lang="en-US" dirty="0"/>
              <a:t>HMIC</a:t>
            </a:r>
            <a:r>
              <a:rPr lang="en-US" baseline="42000" dirty="0"/>
              <a:t>TM</a:t>
            </a:r>
            <a:r>
              <a:rPr lang="en-US" dirty="0"/>
              <a:t> Discrete </a:t>
            </a:r>
            <a:r>
              <a:rPr lang="en-US" dirty="0" smtClean="0"/>
              <a:t>Schottky Diodes</a:t>
            </a:r>
            <a:endParaRPr lang="en-US" dirty="0"/>
          </a:p>
        </p:txBody>
      </p:sp>
      <p:sp>
        <p:nvSpPr>
          <p:cNvPr id="50454" name="Oval 1302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7535863" y="0"/>
            <a:ext cx="1608137" cy="903288"/>
          </a:xfrm>
          <a:prstGeom prst="ellipse">
            <a:avLst/>
          </a:prstGeom>
          <a:solidFill>
            <a:schemeClr val="bg1">
              <a:alpha val="0"/>
            </a:schemeClr>
          </a:soli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50452" name="Picture 130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-1999023">
            <a:off x="7372212" y="2409281"/>
            <a:ext cx="998537" cy="384175"/>
          </a:xfrm>
          <a:prstGeom prst="rect">
            <a:avLst/>
          </a:prstGeom>
          <a:noFill/>
          <a:ln w="9525" algn="ctr">
            <a:pattFill prst="pct25">
              <a:fgClr>
                <a:schemeClr val="tx1"/>
              </a:fgClr>
              <a:bgClr>
                <a:schemeClr val="accent1"/>
              </a:bgClr>
            </a:pattFill>
            <a:miter lim="800000"/>
            <a:headEnd/>
            <a:tailEnd/>
          </a:ln>
          <a:effectLst/>
        </p:spPr>
      </p:pic>
      <p:pic>
        <p:nvPicPr>
          <p:cNvPr id="50455" name="Picture 130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-5726158">
            <a:off x="6488728" y="2526706"/>
            <a:ext cx="998537" cy="384175"/>
          </a:xfrm>
          <a:prstGeom prst="rect">
            <a:avLst/>
          </a:prstGeom>
          <a:noFill/>
          <a:ln w="9525" algn="ctr">
            <a:pattFill prst="pct25">
              <a:fgClr>
                <a:schemeClr val="tx1"/>
              </a:fgClr>
              <a:bgClr>
                <a:schemeClr val="accent1"/>
              </a:bgClr>
            </a:pattFill>
            <a:miter lim="800000"/>
            <a:headEnd/>
            <a:tailEnd/>
          </a:ln>
          <a:effectLst/>
        </p:spPr>
      </p:pic>
      <p:pic>
        <p:nvPicPr>
          <p:cNvPr id="50456" name="Picture 130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1126797">
            <a:off x="6756590" y="3454151"/>
            <a:ext cx="998538" cy="384175"/>
          </a:xfrm>
          <a:prstGeom prst="rect">
            <a:avLst/>
          </a:prstGeom>
          <a:noFill/>
          <a:ln w="9525" algn="ctr">
            <a:pattFill prst="pct25">
              <a:fgClr>
                <a:schemeClr val="tx1"/>
              </a:fgClr>
              <a:bgClr>
                <a:schemeClr val="accent1"/>
              </a:bgClr>
            </a:pattFill>
            <a:miter lim="800000"/>
            <a:headEnd/>
            <a:tailEnd/>
          </a:ln>
          <a:effectLst/>
        </p:spPr>
      </p:pic>
      <p:pic>
        <p:nvPicPr>
          <p:cNvPr id="50457" name="Picture 130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4543893">
            <a:off x="5662018" y="2426516"/>
            <a:ext cx="998538" cy="384175"/>
          </a:xfrm>
          <a:prstGeom prst="rect">
            <a:avLst/>
          </a:prstGeom>
          <a:noFill/>
          <a:ln w="9525" algn="ctr">
            <a:pattFill prst="pct25">
              <a:fgClr>
                <a:schemeClr val="tx1"/>
              </a:fgClr>
              <a:bgClr>
                <a:schemeClr val="accent1"/>
              </a:bgClr>
            </a:pattFill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414779" y="1395167"/>
            <a:ext cx="4677174" cy="51060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 smtClean="0"/>
              <a:t>Features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Surmount Single-Junction Si Schottky diodes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Low, Medium and High Barrier Heights Available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Frequency Range: DC – 30 GHz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Very Low Series Resistance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Very Low Junction Capacitance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Solderable – No Wire Bonds Required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/>
          </a:p>
          <a:p>
            <a:pPr algn="l"/>
            <a:r>
              <a:rPr lang="en-US" b="1" dirty="0" smtClean="0"/>
              <a:t>Applications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Mixers and Detectors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Receiver Protector Limiters</a:t>
            </a:r>
          </a:p>
          <a:p>
            <a:pPr algn="l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1238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Flip Chip Diodes</a:t>
            </a: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dirty="0" smtClean="0"/>
              <a:t>PIN </a:t>
            </a:r>
          </a:p>
          <a:p>
            <a:pPr>
              <a:spcBef>
                <a:spcPts val="0"/>
              </a:spcBef>
            </a:pPr>
            <a:r>
              <a:rPr lang="en-US" dirty="0" smtClean="0"/>
              <a:t>Schottky</a:t>
            </a:r>
          </a:p>
          <a:p>
            <a:pPr>
              <a:spcBef>
                <a:spcPts val="0"/>
              </a:spcBef>
            </a:pPr>
            <a:r>
              <a:rPr lang="en-US" dirty="0" smtClean="0"/>
              <a:t>Varactor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607562"/>
      </p:ext>
    </p:extLst>
  </p:cSld>
  <p:clrMapOvr>
    <a:masterClrMapping/>
  </p:clrMapOvr>
  <p:transition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8240" y="290144"/>
            <a:ext cx="6983413" cy="544512"/>
          </a:xfrm>
        </p:spPr>
        <p:txBody>
          <a:bodyPr/>
          <a:lstStyle/>
          <a:p>
            <a:r>
              <a:rPr lang="en-US" u="sng" dirty="0" smtClean="0"/>
              <a:t>Solderable</a:t>
            </a:r>
            <a:r>
              <a:rPr lang="en-US" dirty="0" smtClean="0"/>
              <a:t> Flip Chip Devices</a:t>
            </a:r>
            <a:endParaRPr lang="en-US" dirty="0"/>
          </a:p>
        </p:txBody>
      </p:sp>
      <p:pic>
        <p:nvPicPr>
          <p:cNvPr id="6" name="Picture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3624885">
            <a:off x="6179478" y="1882383"/>
            <a:ext cx="1447800" cy="723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7" name="Picture 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7874107">
            <a:off x="5442877" y="2517381"/>
            <a:ext cx="1447800" cy="723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8" name="Picture 7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9986890">
            <a:off x="6598577" y="2707882"/>
            <a:ext cx="1447800" cy="723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4667003" y="4491084"/>
          <a:ext cx="4156363" cy="2090875"/>
        </p:xfrm>
        <a:graphic>
          <a:graphicData uri="http://schemas.openxmlformats.org/drawingml/2006/table">
            <a:tbl>
              <a:tblPr>
                <a:effectLst>
                  <a:innerShdw blurRad="63500" dist="50800" dir="2700000">
                    <a:prstClr val="black">
                      <a:alpha val="50000"/>
                    </a:prstClr>
                  </a:innerShdw>
                </a:effectLst>
              </a:tblPr>
              <a:tblGrid>
                <a:gridCol w="1383797"/>
                <a:gridCol w="864009"/>
                <a:gridCol w="1908557"/>
              </a:tblGrid>
              <a:tr h="26207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Times New Roman"/>
                        </a:rPr>
                        <a:t>Parameter</a:t>
                      </a:r>
                      <a:endParaRPr lang="en-US" sz="1100" dirty="0">
                        <a:solidFill>
                          <a:schemeClr val="bg1"/>
                        </a:solidFill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Times New Roman"/>
                        </a:rPr>
                        <a:t>Units</a:t>
                      </a:r>
                      <a:endParaRPr lang="en-US" sz="1100" dirty="0">
                        <a:solidFill>
                          <a:schemeClr val="bg1"/>
                        </a:solidFill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Times New Roman"/>
                        </a:rPr>
                        <a:t>MAVR-000120-1141</a:t>
                      </a:r>
                      <a:endParaRPr lang="en-US" sz="1100" dirty="0">
                        <a:solidFill>
                          <a:schemeClr val="bg1"/>
                        </a:solidFill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Frequency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GHz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Up to </a:t>
                      </a: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30 GHz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Capacitance @ </a:t>
                      </a: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0 V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pF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1.1 pF Typical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Capacitance @ </a:t>
                      </a: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4 V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pF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0.30-0.40 pF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Capacitance @ </a:t>
                      </a: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10 V 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pF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0.14-0.20 pF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Gamma </a:t>
                      </a: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2-12 V 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-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0.9-1.1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Q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-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3000 min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Breakdown Voltage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V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20 V 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min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Size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mm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0.75 X 0.40 mm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/>
          </p:nvPr>
        </p:nvGraphicFramePr>
        <p:xfrm>
          <a:off x="405060" y="5081270"/>
          <a:ext cx="3905683" cy="1401481"/>
        </p:xfrm>
        <a:graphic>
          <a:graphicData uri="http://schemas.openxmlformats.org/drawingml/2006/table">
            <a:tbl>
              <a:tblPr>
                <a:effectLst>
                  <a:innerShdw blurRad="63500" dist="50800" dir="2700000">
                    <a:prstClr val="black">
                      <a:alpha val="50000"/>
                    </a:prstClr>
                  </a:innerShdw>
                </a:effectLst>
              </a:tblPr>
              <a:tblGrid>
                <a:gridCol w="1585803"/>
                <a:gridCol w="725309"/>
                <a:gridCol w="1594571"/>
              </a:tblGrid>
              <a:tr h="25848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+mn-lt"/>
                          <a:ea typeface="Calibri"/>
                          <a:cs typeface="Times New Roman"/>
                        </a:rPr>
                        <a:t>Parameter</a:t>
                      </a:r>
                      <a:endParaRPr lang="en-US" sz="1000" dirty="0">
                        <a:solidFill>
                          <a:schemeClr val="bg1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+mn-lt"/>
                          <a:ea typeface="Calibri"/>
                          <a:cs typeface="Times New Roman"/>
                        </a:rPr>
                        <a:t>Units</a:t>
                      </a:r>
                      <a:endParaRPr lang="en-US" sz="1000" dirty="0">
                        <a:solidFill>
                          <a:schemeClr val="bg1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  <a:latin typeface="+mn-lt"/>
                          <a:ea typeface="Calibri"/>
                          <a:cs typeface="Times New Roman"/>
                        </a:rPr>
                        <a:t>MADS-01317-1500</a:t>
                      </a:r>
                      <a:endParaRPr lang="en-US" sz="1000" dirty="0">
                        <a:solidFill>
                          <a:schemeClr val="bg1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Frequency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GHz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Up to </a:t>
                      </a: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80 GHz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Capacitance @ </a:t>
                      </a: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10 V 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pF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0.045 pF Typical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Series Resistance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-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4 </a:t>
                      </a: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  <a:sym typeface="Symbol"/>
                        </a:rPr>
                        <a:t> Typical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Breakdown Voltage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V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4.5 V 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min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Size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mm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0.75 X 0.40 mm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/>
          </p:nvPr>
        </p:nvGraphicFramePr>
        <p:xfrm>
          <a:off x="461962" y="3182588"/>
          <a:ext cx="3789403" cy="1400208"/>
        </p:xfrm>
        <a:graphic>
          <a:graphicData uri="http://schemas.openxmlformats.org/drawingml/2006/table">
            <a:tbl>
              <a:tblPr bandRow="1">
                <a:effectLst>
                  <a:innerShdw blurRad="63500" dist="50800" dir="2700000">
                    <a:prstClr val="black">
                      <a:alpha val="50000"/>
                    </a:prstClr>
                  </a:innerShdw>
                </a:effectLst>
              </a:tblPr>
              <a:tblGrid>
                <a:gridCol w="1538591"/>
                <a:gridCol w="732523"/>
                <a:gridCol w="1518289"/>
              </a:tblGrid>
              <a:tr h="25720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Times New Roman"/>
                        </a:rPr>
                        <a:t>Parameter</a:t>
                      </a:r>
                      <a:endParaRPr lang="en-US" sz="1100" dirty="0">
                        <a:solidFill>
                          <a:schemeClr val="bg1"/>
                        </a:solidFill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Times New Roman"/>
                        </a:rPr>
                        <a:t>Units</a:t>
                      </a:r>
                      <a:endParaRPr lang="en-US" sz="1100" dirty="0">
                        <a:solidFill>
                          <a:schemeClr val="bg1"/>
                        </a:solidFill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Times New Roman"/>
                        </a:rPr>
                        <a:t>MADP-000907-1402</a:t>
                      </a:r>
                      <a:endParaRPr lang="en-US" sz="1100" dirty="0">
                        <a:solidFill>
                          <a:schemeClr val="bg1"/>
                        </a:solidFill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Frequency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GHz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Up to </a:t>
                      </a: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30 GHz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Capacitance @ </a:t>
                      </a: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10 V 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pF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0.025 pF Typical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Series Resistance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-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7 </a:t>
                      </a: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  <a:sym typeface="Symbol"/>
                        </a:rPr>
                        <a:t> max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Breakdown Voltage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V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50 V 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min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Size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mm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0.67 X 0.35 mm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292064" y="1169514"/>
            <a:ext cx="5216085" cy="17943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Font typeface="Arial" pitchFamily="34" charset="0"/>
              <a:buChar char="•"/>
            </a:pPr>
            <a:r>
              <a:rPr lang="en-US" sz="1400" dirty="0" smtClean="0"/>
              <a:t> Ultra Low Capacitance</a:t>
            </a:r>
          </a:p>
          <a:p>
            <a:pPr algn="l">
              <a:buFont typeface="Arial" pitchFamily="34" charset="0"/>
              <a:buChar char="•"/>
            </a:pPr>
            <a:r>
              <a:rPr lang="en-US" sz="1400" dirty="0" smtClean="0"/>
              <a:t> Millimeter Wave Switching &amp; Cutoff Frequency</a:t>
            </a:r>
          </a:p>
          <a:p>
            <a:pPr algn="l">
              <a:buFont typeface="Arial" pitchFamily="34" charset="0"/>
              <a:buChar char="•"/>
            </a:pPr>
            <a:r>
              <a:rPr lang="en-US" sz="1400" dirty="0" smtClean="0"/>
              <a:t> Silicon Nitride Passivation</a:t>
            </a:r>
          </a:p>
          <a:p>
            <a:pPr algn="l">
              <a:buFont typeface="Arial" pitchFamily="34" charset="0"/>
              <a:buChar char="•"/>
            </a:pPr>
            <a:r>
              <a:rPr lang="en-US" sz="1400" dirty="0" smtClean="0"/>
              <a:t> Polyimide Scratch Protection</a:t>
            </a:r>
          </a:p>
          <a:p>
            <a:pPr algn="l">
              <a:buFont typeface="Arial" pitchFamily="34" charset="0"/>
              <a:buChar char="•"/>
            </a:pPr>
            <a:r>
              <a:rPr lang="en-US" sz="1400" dirty="0" smtClean="0"/>
              <a:t>Cu/Ni/Au Solderable Terminals</a:t>
            </a:r>
          </a:p>
          <a:p>
            <a:pPr algn="l">
              <a:buFont typeface="Arial" pitchFamily="34" charset="0"/>
              <a:buChar char="•"/>
            </a:pPr>
            <a:r>
              <a:rPr lang="en-US" sz="1400" dirty="0" smtClean="0"/>
              <a:t> RoHS Compliant</a:t>
            </a:r>
            <a:endParaRPr lang="en-US" sz="1400" dirty="0"/>
          </a:p>
        </p:txBody>
      </p:sp>
      <p:sp>
        <p:nvSpPr>
          <p:cNvPr id="16" name="TextBox 15"/>
          <p:cNvSpPr txBox="1"/>
          <p:nvPr/>
        </p:nvSpPr>
        <p:spPr>
          <a:xfrm>
            <a:off x="485849" y="2907050"/>
            <a:ext cx="3429000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PIN Diode - Switching  </a:t>
            </a:r>
            <a:endParaRPr lang="en-US"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379083" y="4667003"/>
            <a:ext cx="4025900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Schottky Diode – Mixer/Detector  </a:t>
            </a:r>
            <a:endParaRPr lang="en-US"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4672401" y="4092470"/>
            <a:ext cx="4023363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Varactor Diode – VCO/Phase Shifter  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11125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Passive Devices</a:t>
            </a: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dirty="0" smtClean="0"/>
              <a:t>HMIC™ Bias Networks</a:t>
            </a:r>
          </a:p>
          <a:p>
            <a:pPr>
              <a:spcBef>
                <a:spcPts val="0"/>
              </a:spcBef>
            </a:pPr>
            <a:r>
              <a:rPr lang="en-US" dirty="0" smtClean="0"/>
              <a:t>Attenuators</a:t>
            </a:r>
          </a:p>
          <a:p>
            <a:pPr>
              <a:spcBef>
                <a:spcPts val="0"/>
              </a:spcBef>
            </a:pPr>
            <a:r>
              <a:rPr lang="en-US" dirty="0" smtClean="0"/>
              <a:t>MNS </a:t>
            </a:r>
            <a:r>
              <a:rPr lang="en-US" dirty="0"/>
              <a:t>Capacitors</a:t>
            </a:r>
            <a:br>
              <a:rPr lang="en-US" dirty="0"/>
            </a:br>
            <a:r>
              <a:rPr lang="en-US" dirty="0"/>
              <a:t>Spiral Inductors</a:t>
            </a:r>
            <a:br>
              <a:rPr lang="en-US" dirty="0"/>
            </a:br>
            <a:r>
              <a:rPr lang="en-US" dirty="0"/>
              <a:t>Resistor Networks</a:t>
            </a:r>
          </a:p>
          <a:p>
            <a:pPr>
              <a:spcBef>
                <a:spcPts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13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/>
          </p:cNvSpPr>
          <p:nvPr>
            <p:ph type="title" idx="4294967295"/>
          </p:nvPr>
        </p:nvSpPr>
        <p:spPr>
          <a:xfrm>
            <a:off x="0" y="228270"/>
            <a:ext cx="7516813" cy="725487"/>
          </a:xfrm>
        </p:spPr>
        <p:txBody>
          <a:bodyPr>
            <a:normAutofit/>
          </a:bodyPr>
          <a:lstStyle/>
          <a:p>
            <a:r>
              <a:rPr lang="en-US" dirty="0" smtClean="0"/>
              <a:t>MABT-011000 2-18 GHz </a:t>
            </a:r>
            <a:br>
              <a:rPr lang="en-US" dirty="0" smtClean="0"/>
            </a:br>
            <a:r>
              <a:rPr lang="en-US" dirty="0"/>
              <a:t>HMIC</a:t>
            </a:r>
            <a:r>
              <a:rPr lang="en-US" baseline="42000" dirty="0"/>
              <a:t>TM</a:t>
            </a:r>
            <a:r>
              <a:rPr lang="en-US" dirty="0" smtClean="0"/>
              <a:t> Surmount Bias Network</a:t>
            </a:r>
          </a:p>
        </p:txBody>
      </p:sp>
      <p:pic>
        <p:nvPicPr>
          <p:cNvPr id="9" name="Picture 3" descr="C:\Users\ma043201\Documents\BiasNetwork\Single Series Cap Concept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6978" y="4881947"/>
            <a:ext cx="1507982" cy="156487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100825" y="1142527"/>
            <a:ext cx="4358244" cy="10033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itchFamily="34" charset="0"/>
              <a:buChar char="•"/>
            </a:pPr>
            <a:r>
              <a:rPr lang="en-US" sz="1600" dirty="0" smtClean="0"/>
              <a:t> HMIC™ Surmount Technology</a:t>
            </a:r>
          </a:p>
          <a:p>
            <a:pPr algn="l">
              <a:buFont typeface="Arial" pitchFamily="34" charset="0"/>
              <a:buChar char="•"/>
            </a:pPr>
            <a:r>
              <a:rPr lang="en-US" sz="1600" dirty="0" smtClean="0"/>
              <a:t> Broadband Performance 2 – 18 GHz </a:t>
            </a:r>
          </a:p>
          <a:p>
            <a:pPr algn="l">
              <a:buFont typeface="Arial" pitchFamily="34" charset="0"/>
              <a:buChar char="•"/>
            </a:pPr>
            <a:endParaRPr lang="en-US" sz="1600" dirty="0" smtClean="0"/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/>
          </p:nvPr>
        </p:nvGraphicFramePr>
        <p:xfrm>
          <a:off x="327551" y="1818176"/>
          <a:ext cx="3212934" cy="2880360"/>
        </p:xfrm>
        <a:graphic>
          <a:graphicData uri="http://schemas.openxmlformats.org/drawingml/2006/table">
            <a:tbl>
              <a:tblPr/>
              <a:tblGrid>
                <a:gridCol w="786268"/>
                <a:gridCol w="828464"/>
                <a:gridCol w="529060"/>
                <a:gridCol w="545593"/>
                <a:gridCol w="523549"/>
              </a:tblGrid>
              <a:tr h="2989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 smtClean="0">
                          <a:latin typeface="Arial"/>
                        </a:rPr>
                        <a:t>Parameter</a:t>
                      </a:r>
                      <a:endParaRPr lang="en-US" sz="105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 smtClean="0">
                          <a:latin typeface="Arial"/>
                        </a:rPr>
                        <a:t>Frequency (GHz)</a:t>
                      </a:r>
                      <a:endParaRPr lang="en-US" sz="105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 smtClean="0">
                          <a:latin typeface="Arial"/>
                        </a:rPr>
                        <a:t>Target Min</a:t>
                      </a:r>
                      <a:endParaRPr lang="en-US" sz="105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 smtClean="0">
                          <a:latin typeface="Arial"/>
                        </a:rPr>
                        <a:t>Target Avg</a:t>
                      </a:r>
                      <a:endParaRPr lang="en-US" sz="105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 smtClean="0">
                          <a:latin typeface="Arial"/>
                        </a:rPr>
                        <a:t>Target</a:t>
                      </a:r>
                      <a:r>
                        <a:rPr lang="en-US" sz="1050" b="1" i="0" u="none" strike="noStrike" baseline="0" dirty="0" smtClean="0">
                          <a:latin typeface="Arial"/>
                        </a:rPr>
                        <a:t> Max</a:t>
                      </a:r>
                      <a:endParaRPr lang="en-US" sz="105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9497">
                <a:tc rowSpan="4"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 smtClean="0">
                          <a:latin typeface="Arial"/>
                        </a:rPr>
                        <a:t>Insertion Loss</a:t>
                      </a:r>
                      <a:endParaRPr lang="en-US" sz="105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 smtClean="0">
                          <a:latin typeface="Arial"/>
                        </a:rPr>
                        <a:t>2</a:t>
                      </a:r>
                      <a:endParaRPr lang="en-US" sz="105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 smtClean="0">
                          <a:latin typeface="Arial"/>
                        </a:rPr>
                        <a:t>-</a:t>
                      </a:r>
                      <a:endParaRPr lang="en-US" sz="105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 smtClean="0">
                          <a:latin typeface="Arial"/>
                        </a:rPr>
                        <a:t>0.1</a:t>
                      </a:r>
                      <a:endParaRPr lang="en-US" sz="105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 smtClean="0">
                          <a:latin typeface="Arial"/>
                        </a:rPr>
                        <a:t>0.50</a:t>
                      </a:r>
                      <a:endParaRPr lang="en-US" sz="105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9497">
                <a:tc vMerge="1"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u="none" strike="noStrike" dirty="0" smtClean="0">
                          <a:latin typeface="+mn-lt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49497">
                <a:tc vMerge="1"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u="none" strike="noStrike" dirty="0" smtClean="0">
                          <a:latin typeface="+mn-lt"/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49497">
                <a:tc vMerge="1"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u="none" strike="noStrike" dirty="0" smtClean="0">
                          <a:latin typeface="+mn-lt"/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49497">
                <a:tc rowSpan="4"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u="none" strike="noStrike" dirty="0" smtClean="0">
                          <a:latin typeface="+mn-lt"/>
                        </a:rPr>
                        <a:t>RF – DC Isolation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 smtClean="0">
                          <a:latin typeface="Arial"/>
                        </a:rPr>
                        <a:t>2</a:t>
                      </a:r>
                      <a:endParaRPr lang="en-US" sz="105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u="none" strike="noStrike" dirty="0" smtClean="0">
                          <a:latin typeface="+mn-lt"/>
                        </a:rPr>
                        <a:t>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u="none" strike="noStrike" dirty="0" smtClean="0">
                          <a:latin typeface="+mn-lt"/>
                        </a:rPr>
                        <a:t>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u="none" strike="noStrike" dirty="0" smtClean="0"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9497">
                <a:tc vMerge="1"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u="none" strike="noStrike" dirty="0" smtClean="0">
                          <a:latin typeface="+mn-lt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49497">
                <a:tc vMerge="1"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u="none" strike="noStrike" dirty="0" smtClean="0">
                          <a:latin typeface="+mn-lt"/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49497">
                <a:tc vMerge="1"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u="none" strike="noStrike" dirty="0" smtClean="0">
                          <a:latin typeface="+mn-lt"/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49497">
                <a:tc rowSpan="4"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u="none" strike="noStrike" dirty="0" smtClean="0">
                          <a:latin typeface="+mn-lt"/>
                        </a:rPr>
                        <a:t>Input Return</a:t>
                      </a:r>
                      <a:r>
                        <a:rPr lang="en-US" sz="1050" b="1" i="0" u="none" strike="noStrike" baseline="0" dirty="0" smtClean="0">
                          <a:latin typeface="+mn-lt"/>
                        </a:rPr>
                        <a:t> Loss</a:t>
                      </a:r>
                      <a:endParaRPr lang="en-US" sz="1050" b="1" i="0" u="none" strike="noStrike" dirty="0" smtClean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 smtClean="0">
                          <a:latin typeface="Arial"/>
                        </a:rPr>
                        <a:t>2</a:t>
                      </a:r>
                      <a:endParaRPr lang="en-US" sz="105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 smtClean="0">
                          <a:latin typeface="Arial"/>
                        </a:rPr>
                        <a:t>15</a:t>
                      </a:r>
                      <a:endParaRPr lang="en-US" sz="105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 smtClean="0">
                          <a:latin typeface="Arial"/>
                        </a:rPr>
                        <a:t>17</a:t>
                      </a:r>
                      <a:endParaRPr lang="en-US" sz="105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 smtClean="0">
                          <a:latin typeface="Arial"/>
                        </a:rPr>
                        <a:t>-</a:t>
                      </a:r>
                      <a:endParaRPr lang="en-US" sz="105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9497">
                <a:tc vMerge="1"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u="none" strike="noStrike" dirty="0" smtClean="0">
                          <a:latin typeface="+mn-lt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49497">
                <a:tc vMerge="1"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u="none" strike="noStrike" dirty="0" smtClean="0">
                          <a:latin typeface="+mn-lt"/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49497">
                <a:tc vMerge="1"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u="none" strike="noStrike" dirty="0" smtClean="0">
                          <a:latin typeface="+mn-lt"/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49497">
                <a:tc rowSpan="4"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u="none" strike="noStrike" dirty="0" smtClean="0">
                          <a:latin typeface="+mn-lt"/>
                        </a:rPr>
                        <a:t>Output Return Loss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 smtClean="0">
                          <a:latin typeface="Arial"/>
                        </a:rPr>
                        <a:t>2</a:t>
                      </a:r>
                      <a:endParaRPr lang="en-US" sz="105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 smtClean="0">
                          <a:latin typeface="Arial"/>
                        </a:rPr>
                        <a:t>15</a:t>
                      </a:r>
                      <a:endParaRPr lang="en-US" sz="105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 smtClean="0">
                          <a:latin typeface="Arial"/>
                        </a:rPr>
                        <a:t>17</a:t>
                      </a:r>
                      <a:endParaRPr lang="en-US" sz="105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 smtClean="0">
                          <a:latin typeface="Arial"/>
                        </a:rPr>
                        <a:t>-</a:t>
                      </a:r>
                      <a:endParaRPr lang="en-US" sz="105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9497">
                <a:tc vMerge="1"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u="none" strike="noStrike" dirty="0" smtClean="0">
                          <a:latin typeface="+mn-lt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49497">
                <a:tc vMerge="1"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u="none" strike="noStrike" dirty="0" smtClean="0">
                          <a:latin typeface="+mn-lt"/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49497">
                <a:tc vMerge="1"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u="none" strike="noStrike" dirty="0" smtClean="0">
                          <a:latin typeface="+mn-lt"/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8679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16091" y="1203504"/>
            <a:ext cx="3188958" cy="2429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80" name="Picture 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645907" y="4017964"/>
            <a:ext cx="3188958" cy="234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4459069" y="6384466"/>
            <a:ext cx="38461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High current ±60mA; Voltage ±50V</a:t>
            </a:r>
          </a:p>
        </p:txBody>
      </p:sp>
      <p:pic>
        <p:nvPicPr>
          <p:cNvPr id="12" name="Content Placeholder 6" descr="HBN0218X1S Layout.PN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95132" y="4843465"/>
            <a:ext cx="1563273" cy="169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40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751" y="1435381"/>
            <a:ext cx="8316912" cy="4571880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ts val="600"/>
              </a:spcBef>
            </a:pPr>
            <a:r>
              <a:rPr lang="en-US" altLang="en-US" sz="2400" b="1" dirty="0">
                <a:latin typeface="Arial" panose="020B0604020202020204" pitchFamily="34" charset="0"/>
              </a:rPr>
              <a:t>Products: </a:t>
            </a:r>
          </a:p>
          <a:p>
            <a:pPr lvl="1">
              <a:lnSpc>
                <a:spcPct val="90000"/>
              </a:lnSpc>
              <a:spcBef>
                <a:spcPts val="600"/>
              </a:spcBef>
            </a:pPr>
            <a:r>
              <a:rPr lang="en-US" altLang="en-US" sz="2400" dirty="0">
                <a:latin typeface="Arial" panose="020B0604020202020204" pitchFamily="34" charset="0"/>
              </a:rPr>
              <a:t>Single Capacitors</a:t>
            </a:r>
          </a:p>
          <a:p>
            <a:pPr lvl="1">
              <a:lnSpc>
                <a:spcPct val="90000"/>
              </a:lnSpc>
              <a:spcBef>
                <a:spcPts val="600"/>
              </a:spcBef>
            </a:pPr>
            <a:r>
              <a:rPr lang="en-US" altLang="en-US" sz="2400" dirty="0">
                <a:latin typeface="Arial" panose="020B0604020202020204" pitchFamily="34" charset="0"/>
              </a:rPr>
              <a:t>Binary Capacitor Networks</a:t>
            </a:r>
          </a:p>
          <a:p>
            <a:pPr lvl="1">
              <a:lnSpc>
                <a:spcPct val="90000"/>
              </a:lnSpc>
              <a:spcBef>
                <a:spcPts val="600"/>
              </a:spcBef>
            </a:pPr>
            <a:r>
              <a:rPr lang="en-US" altLang="en-US" sz="2400" dirty="0">
                <a:latin typeface="Arial" panose="020B0604020202020204" pitchFamily="34" charset="0"/>
              </a:rPr>
              <a:t>C = 1 – 500 pF</a:t>
            </a:r>
            <a:endParaRPr lang="el-GR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spcBef>
                <a:spcPts val="600"/>
              </a:spcBef>
            </a:pPr>
            <a:r>
              <a:rPr lang="en-US" altLang="en-US" sz="2400" b="1" dirty="0">
                <a:latin typeface="Arial" panose="020B0604020202020204" pitchFamily="34" charset="0"/>
              </a:rPr>
              <a:t>Features: </a:t>
            </a:r>
          </a:p>
          <a:p>
            <a:pPr lvl="1">
              <a:lnSpc>
                <a:spcPct val="90000"/>
              </a:lnSpc>
              <a:spcBef>
                <a:spcPts val="600"/>
              </a:spcBef>
            </a:pPr>
            <a:r>
              <a:rPr lang="en-US" altLang="en-US" sz="2400" dirty="0">
                <a:latin typeface="Arial" panose="020B0604020202020204" pitchFamily="34" charset="0"/>
              </a:rPr>
              <a:t>Si</a:t>
            </a:r>
            <a:r>
              <a:rPr lang="en-US" altLang="en-US" sz="2400" b="1" baseline="-15000" dirty="0">
                <a:latin typeface="Arial" panose="020B0604020202020204" pitchFamily="34" charset="0"/>
              </a:rPr>
              <a:t>3</a:t>
            </a:r>
            <a:r>
              <a:rPr lang="en-US" altLang="en-US" sz="2400" dirty="0">
                <a:latin typeface="Arial" panose="020B0604020202020204" pitchFamily="34" charset="0"/>
              </a:rPr>
              <a:t>N</a:t>
            </a:r>
            <a:r>
              <a:rPr lang="en-US" altLang="en-US" sz="2400" b="1" baseline="-15000" dirty="0">
                <a:latin typeface="Arial" panose="020B0604020202020204" pitchFamily="34" charset="0"/>
              </a:rPr>
              <a:t>4</a:t>
            </a:r>
            <a:r>
              <a:rPr lang="en-US" altLang="en-US" sz="2400" dirty="0">
                <a:latin typeface="Arial" panose="020B0604020202020204" pitchFamily="34" charset="0"/>
              </a:rPr>
              <a:t> &amp; Si0</a:t>
            </a:r>
            <a:r>
              <a:rPr lang="en-US" altLang="en-US" sz="2400" b="1" baseline="-15000" dirty="0">
                <a:latin typeface="Arial" panose="020B0604020202020204" pitchFamily="34" charset="0"/>
              </a:rPr>
              <a:t>2</a:t>
            </a:r>
            <a:r>
              <a:rPr lang="en-US" altLang="en-US" sz="2400" dirty="0">
                <a:latin typeface="Arial" panose="020B0604020202020204" pitchFamily="34" charset="0"/>
              </a:rPr>
              <a:t> Capacitor Dielectrics provide Proven Reliability, Stability and Good Q &gt;30 @ 2 GHz</a:t>
            </a:r>
          </a:p>
          <a:p>
            <a:pPr lvl="1">
              <a:lnSpc>
                <a:spcPct val="90000"/>
              </a:lnSpc>
              <a:spcBef>
                <a:spcPts val="600"/>
              </a:spcBef>
            </a:pPr>
            <a:r>
              <a:rPr lang="en-US" altLang="en-US" sz="2400" dirty="0">
                <a:latin typeface="Arial" panose="020B0604020202020204" pitchFamily="34" charset="0"/>
              </a:rPr>
              <a:t>Compact Size &lt; 100 mil sq.</a:t>
            </a:r>
          </a:p>
          <a:p>
            <a:pPr marL="0" indent="0">
              <a:lnSpc>
                <a:spcPct val="90000"/>
              </a:lnSpc>
              <a:spcBef>
                <a:spcPts val="600"/>
              </a:spcBef>
            </a:pPr>
            <a:r>
              <a:rPr lang="en-US" altLang="en-US" sz="2400" b="1" dirty="0">
                <a:latin typeface="Arial" panose="020B0604020202020204" pitchFamily="34" charset="0"/>
              </a:rPr>
              <a:t>Applications:</a:t>
            </a:r>
            <a:r>
              <a:rPr lang="en-US" altLang="en-US" sz="2400" dirty="0">
                <a:latin typeface="Arial" panose="020B0604020202020204" pitchFamily="34" charset="0"/>
              </a:rPr>
              <a:t>  </a:t>
            </a:r>
          </a:p>
          <a:p>
            <a:pPr lvl="1">
              <a:lnSpc>
                <a:spcPct val="90000"/>
              </a:lnSpc>
              <a:spcBef>
                <a:spcPts val="600"/>
              </a:spcBef>
            </a:pPr>
            <a:r>
              <a:rPr lang="en-US" altLang="en-US" sz="2400" dirty="0">
                <a:latin typeface="Arial" panose="020B0604020202020204" pitchFamily="34" charset="0"/>
              </a:rPr>
              <a:t>Bias networks </a:t>
            </a:r>
          </a:p>
          <a:p>
            <a:pPr lvl="1">
              <a:lnSpc>
                <a:spcPct val="90000"/>
              </a:lnSpc>
              <a:spcBef>
                <a:spcPts val="600"/>
              </a:spcBef>
            </a:pPr>
            <a:r>
              <a:rPr lang="en-US" altLang="en-US" sz="2400" dirty="0" smtClean="0">
                <a:latin typeface="Arial" panose="020B0604020202020204" pitchFamily="34" charset="0"/>
              </a:rPr>
              <a:t>Filters </a:t>
            </a:r>
            <a:r>
              <a:rPr lang="en-US" altLang="en-US" sz="2400" dirty="0">
                <a:latin typeface="Arial" panose="020B0604020202020204" pitchFamily="34" charset="0"/>
              </a:rPr>
              <a:t>from </a:t>
            </a:r>
            <a:r>
              <a:rPr lang="en-US" altLang="en-US" sz="2400" dirty="0" smtClean="0">
                <a:latin typeface="Arial" panose="020B0604020202020204" pitchFamily="34" charset="0"/>
              </a:rPr>
              <a:t>DC - </a:t>
            </a:r>
            <a:r>
              <a:rPr lang="en-US" altLang="en-US" sz="2400" dirty="0">
                <a:latin typeface="Arial" panose="020B0604020202020204" pitchFamily="34" charset="0"/>
              </a:rPr>
              <a:t>40 GHz</a:t>
            </a:r>
            <a:r>
              <a:rPr lang="en-US" altLang="en-US" sz="2000" dirty="0">
                <a:latin typeface="Arial" panose="020B0604020202020204" pitchFamily="34" charset="0"/>
              </a:rPr>
              <a:t>                                                                                     </a:t>
            </a:r>
          </a:p>
          <a:p>
            <a:endParaRPr lang="en-US" sz="2800" dirty="0"/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 fontScale="90000"/>
          </a:bodyPr>
          <a:lstStyle/>
          <a:p>
            <a:r>
              <a:rPr lang="en-US" altLang="en-US" dirty="0" smtClean="0"/>
              <a:t>Thin Film Passive Products: Capacitors</a:t>
            </a:r>
          </a:p>
        </p:txBody>
      </p:sp>
    </p:spTree>
    <p:extLst>
      <p:ext uri="{BB962C8B-B14F-4D97-AF65-F5344CB8AC3E}">
        <p14:creationId xmlns:p14="http://schemas.microsoft.com/office/powerpoint/2010/main" val="2878716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90000"/>
              </a:lnSpc>
              <a:spcBef>
                <a:spcPct val="50000"/>
              </a:spcBef>
              <a:buClr>
                <a:srgbClr val="336699"/>
              </a:buClr>
            </a:pPr>
            <a:r>
              <a:rPr lang="en-US" altLang="en-US" b="1" dirty="0">
                <a:latin typeface="Arial" panose="020B0604020202020204" pitchFamily="34" charset="0"/>
              </a:rPr>
              <a:t>Products: </a:t>
            </a:r>
          </a:p>
          <a:p>
            <a:pPr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Surface Mount Inductors, </a:t>
            </a:r>
          </a:p>
          <a:p>
            <a:pPr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L = 5 - 300 nH</a:t>
            </a:r>
          </a:p>
          <a:p>
            <a:pPr marL="0" indent="0">
              <a:lnSpc>
                <a:spcPct val="90000"/>
              </a:lnSpc>
              <a:spcBef>
                <a:spcPct val="50000"/>
              </a:spcBef>
              <a:buClr>
                <a:srgbClr val="336699"/>
              </a:buClr>
            </a:pPr>
            <a:r>
              <a:rPr lang="en-US" altLang="en-US" b="1" dirty="0">
                <a:latin typeface="Arial" panose="020B0604020202020204" pitchFamily="34" charset="0"/>
              </a:rPr>
              <a:t>Features: </a:t>
            </a:r>
          </a:p>
          <a:p>
            <a:pPr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Surface Mount Spiral Inductors on Quartz </a:t>
            </a:r>
            <a:r>
              <a:rPr lang="en-US" altLang="en-US" dirty="0" smtClean="0">
                <a:latin typeface="Arial" panose="020B0604020202020204" pitchFamily="34" charset="0"/>
              </a:rPr>
              <a:t>                                Substrates</a:t>
            </a:r>
            <a:endParaRPr lang="en-US" altLang="en-US" dirty="0"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Q &gt; 50 @ 1 GHz.</a:t>
            </a:r>
          </a:p>
          <a:p>
            <a:pPr marL="0" indent="0">
              <a:buNone/>
            </a:pPr>
            <a:r>
              <a:rPr lang="en-US" altLang="en-US" dirty="0">
                <a:latin typeface="Arial" panose="020B0604020202020204" pitchFamily="34" charset="0"/>
              </a:rPr>
              <a:t>             </a:t>
            </a:r>
          </a:p>
          <a:p>
            <a:r>
              <a:rPr lang="en-US" altLang="en-US" b="1" dirty="0">
                <a:latin typeface="Arial" panose="020B0604020202020204" pitchFamily="34" charset="0"/>
              </a:rPr>
              <a:t>Applications:</a:t>
            </a:r>
            <a:r>
              <a:rPr lang="en-US" altLang="en-US" sz="1800" dirty="0">
                <a:latin typeface="Arial" panose="020B0604020202020204" pitchFamily="34" charset="0"/>
              </a:rPr>
              <a:t>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Bias networks</a:t>
            </a:r>
          </a:p>
          <a:p>
            <a:endParaRPr lang="en-US" dirty="0"/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 fontScale="90000"/>
          </a:bodyPr>
          <a:lstStyle/>
          <a:p>
            <a:r>
              <a:rPr lang="en-US" altLang="en-US" dirty="0" smtClean="0"/>
              <a:t>Thin Film Passive Products:</a:t>
            </a:r>
            <a:br>
              <a:rPr lang="en-US" altLang="en-US" dirty="0" smtClean="0"/>
            </a:br>
            <a:r>
              <a:rPr lang="en-US" altLang="en-US" dirty="0" smtClean="0"/>
              <a:t>Inductors</a:t>
            </a:r>
          </a:p>
        </p:txBody>
      </p:sp>
      <p:pic>
        <p:nvPicPr>
          <p:cNvPr id="30727" name="Picture 7" descr="AP_CS0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82235" y="1694329"/>
            <a:ext cx="3044489" cy="2837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1770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90000"/>
              </a:lnSpc>
              <a:spcBef>
                <a:spcPct val="50000"/>
              </a:spcBef>
              <a:buClr>
                <a:srgbClr val="336699"/>
              </a:buClr>
            </a:pPr>
            <a:r>
              <a:rPr lang="en-US" altLang="en-US" sz="1800" b="1" dirty="0">
                <a:latin typeface="Arial" panose="020B0604020202020204" pitchFamily="34" charset="0"/>
              </a:rPr>
              <a:t>Products: </a:t>
            </a:r>
          </a:p>
          <a:p>
            <a:pPr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DC – 20 GHz Attenuator Products.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l-GR" altLang="en-US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= 1 - 30 dB in 1 dB steps</a:t>
            </a:r>
          </a:p>
          <a:p>
            <a:pPr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Surface Mount Resistors &amp; Resistor Networks 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US" altLang="en-US" dirty="0">
                <a:latin typeface="Arial" panose="020B0604020202020204" pitchFamily="34" charset="0"/>
              </a:rPr>
              <a:t>R = 1</a:t>
            </a:r>
            <a:r>
              <a:rPr lang="el-GR" altLang="en-US" dirty="0">
                <a:latin typeface="Arial" panose="020B0604020202020204" pitchFamily="34" charset="0"/>
                <a:cs typeface="Arial" panose="020B0604020202020204" pitchFamily="34" charset="0"/>
              </a:rPr>
              <a:t> Ω</a:t>
            </a:r>
            <a:r>
              <a:rPr lang="en-US" altLang="en-US" dirty="0">
                <a:latin typeface="Arial" panose="020B0604020202020204" pitchFamily="34" charset="0"/>
              </a:rPr>
              <a:t> – 100 k</a:t>
            </a:r>
            <a:r>
              <a:rPr lang="el-GR" altLang="en-US" dirty="0">
                <a:latin typeface="Arial" panose="020B0604020202020204" pitchFamily="34" charset="0"/>
                <a:cs typeface="Arial" panose="020B0604020202020204" pitchFamily="34" charset="0"/>
              </a:rPr>
              <a:t>Ω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spcBef>
                <a:spcPct val="50000"/>
              </a:spcBef>
              <a:buClr>
                <a:srgbClr val="336699"/>
              </a:buClr>
            </a:pPr>
            <a:r>
              <a:rPr lang="en-US" altLang="en-US" sz="1800" b="1" dirty="0">
                <a:latin typeface="Arial" panose="020B0604020202020204" pitchFamily="34" charset="0"/>
              </a:rPr>
              <a:t>Features: </a:t>
            </a:r>
          </a:p>
          <a:p>
            <a:pPr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TCR of</a:t>
            </a:r>
            <a:r>
              <a:rPr lang="en-US" altLang="en-US" dirty="0"/>
              <a:t> </a:t>
            </a:r>
            <a:r>
              <a:rPr lang="en-US" altLang="en-US" sz="1800" dirty="0">
                <a:latin typeface="Arial" panose="020B0604020202020204" pitchFamily="34" charset="0"/>
              </a:rPr>
              <a:t>TaN Thin Film Resistors &lt; 100 ppm/º C.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 TCR of NiCr Thin Film Resistors &lt; 10 ppm/ºC.  </a:t>
            </a:r>
          </a:p>
          <a:p>
            <a:pPr marL="0" indent="0">
              <a:buNone/>
            </a:pPr>
            <a:r>
              <a:rPr lang="en-US" altLang="en-US" sz="1800" dirty="0" smtClean="0">
                <a:latin typeface="Arial" panose="020B0604020202020204" pitchFamily="34" charset="0"/>
              </a:rPr>
              <a:t>           </a:t>
            </a:r>
            <a:endParaRPr lang="en-US" altLang="en-US" sz="1800" dirty="0">
              <a:latin typeface="Arial" panose="020B0604020202020204" pitchFamily="34" charset="0"/>
            </a:endParaRPr>
          </a:p>
          <a:p>
            <a:r>
              <a:rPr lang="en-US" altLang="en-US" sz="1800" b="1" dirty="0">
                <a:latin typeface="Arial" panose="020B0604020202020204" pitchFamily="34" charset="0"/>
              </a:rPr>
              <a:t>Applications:</a:t>
            </a:r>
            <a:r>
              <a:rPr lang="en-US" altLang="en-US" sz="1800" dirty="0">
                <a:latin typeface="Arial" panose="020B0604020202020204" pitchFamily="34" charset="0"/>
              </a:rPr>
              <a:t>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RF Power Management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Bias networks</a:t>
            </a:r>
          </a:p>
          <a:p>
            <a:endParaRPr lang="en-US" dirty="0"/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 fontScale="90000"/>
          </a:bodyPr>
          <a:lstStyle/>
          <a:p>
            <a:r>
              <a:rPr lang="en-US" altLang="en-US" dirty="0" smtClean="0"/>
              <a:t>Thin Film Passive Products:</a:t>
            </a:r>
            <a:br>
              <a:rPr lang="en-US" altLang="en-US" dirty="0" smtClean="0"/>
            </a:br>
            <a:r>
              <a:rPr lang="en-US" altLang="en-US" dirty="0" smtClean="0"/>
              <a:t>Resistors &amp; Attenuators</a:t>
            </a:r>
          </a:p>
        </p:txBody>
      </p:sp>
      <p:pic>
        <p:nvPicPr>
          <p:cNvPr id="30726" name="Picture 6" descr="AP_CS0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713069" y="1426976"/>
            <a:ext cx="1447800" cy="1347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8" name="Picture 8" descr="AP_R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713069" y="2919600"/>
            <a:ext cx="1447800" cy="134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9" name="Picture 9" descr="AP_R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713069" y="4410636"/>
            <a:ext cx="1447800" cy="134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82295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1188554" y="2307865"/>
            <a:ext cx="7315200" cy="640080"/>
          </a:xfrm>
        </p:spPr>
        <p:txBody>
          <a:bodyPr/>
          <a:lstStyle/>
          <a:p>
            <a:r>
              <a:rPr lang="en-US" sz="4000" dirty="0" smtClean="0"/>
              <a:t>Thank You</a:t>
            </a:r>
            <a:endParaRPr lang="en-US" sz="4000" dirty="0"/>
          </a:p>
        </p:txBody>
      </p:sp>
      <p:sp>
        <p:nvSpPr>
          <p:cNvPr id="15" name="TextBox 14"/>
          <p:cNvSpPr txBox="1"/>
          <p:nvPr/>
        </p:nvSpPr>
        <p:spPr>
          <a:xfrm>
            <a:off x="1660880" y="554379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112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Appendix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60920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3" name="Rectangle 4"/>
          <p:cNvSpPr>
            <a:spLocks noChangeArrowheads="1"/>
          </p:cNvSpPr>
          <p:nvPr/>
        </p:nvSpPr>
        <p:spPr bwMode="auto">
          <a:xfrm>
            <a:off x="68240" y="1258769"/>
            <a:ext cx="4139519" cy="163506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/>
          <a:lstStyle/>
          <a:p>
            <a:pPr marL="231775" indent="-231775" algn="l">
              <a:buFont typeface="Wingdings" pitchFamily="2" charset="2"/>
              <a:buChar char="§"/>
            </a:pPr>
            <a:r>
              <a:rPr lang="en-US" altLang="ko-KR" sz="1000" b="1" dirty="0" smtClean="0">
                <a:ea typeface="굴림" pitchFamily="34" charset="-127"/>
              </a:rPr>
              <a:t>High </a:t>
            </a:r>
            <a:r>
              <a:rPr lang="en-US" altLang="ko-KR" sz="1000" b="1" dirty="0">
                <a:ea typeface="굴림" pitchFamily="34" charset="-127"/>
              </a:rPr>
              <a:t>Voltage Handling: </a:t>
            </a:r>
            <a:r>
              <a:rPr lang="en-US" altLang="ko-KR" sz="1000" b="1" dirty="0" smtClean="0">
                <a:ea typeface="굴림" pitchFamily="34" charset="-127"/>
              </a:rPr>
              <a:t>up to 1000 V</a:t>
            </a:r>
            <a:endParaRPr lang="en-US" altLang="ko-KR" sz="1000" b="1" dirty="0">
              <a:ea typeface="굴림" pitchFamily="34" charset="-127"/>
            </a:endParaRPr>
          </a:p>
          <a:p>
            <a:pPr marL="231775" indent="-231775" algn="l">
              <a:buFont typeface="Wingdings" pitchFamily="2" charset="2"/>
              <a:buChar char="§"/>
            </a:pPr>
            <a:r>
              <a:rPr lang="en-US" altLang="ko-KR" sz="1000" b="1" dirty="0">
                <a:ea typeface="굴림" pitchFamily="34" charset="-127"/>
              </a:rPr>
              <a:t>Power Handling: 200+ Watts</a:t>
            </a:r>
          </a:p>
          <a:p>
            <a:pPr marL="231775" indent="-231775" algn="l">
              <a:buFont typeface="Wingdings" pitchFamily="2" charset="2"/>
              <a:buChar char="§"/>
            </a:pPr>
            <a:r>
              <a:rPr lang="en-US" altLang="ko-KR" sz="1000" b="1" dirty="0">
                <a:ea typeface="굴림" pitchFamily="34" charset="-127"/>
              </a:rPr>
              <a:t>Operate from </a:t>
            </a:r>
            <a:r>
              <a:rPr lang="en-US" altLang="ko-KR" sz="1000" b="1" dirty="0" smtClean="0">
                <a:ea typeface="굴림" pitchFamily="34" charset="-127"/>
              </a:rPr>
              <a:t>LF </a:t>
            </a:r>
            <a:r>
              <a:rPr lang="en-US" altLang="ko-KR" sz="1000" b="1" dirty="0">
                <a:ea typeface="굴림" pitchFamily="34" charset="-127"/>
              </a:rPr>
              <a:t>to 18 GHz</a:t>
            </a:r>
          </a:p>
          <a:p>
            <a:pPr marL="231775" indent="-231775" algn="l">
              <a:buFont typeface="Wingdings" pitchFamily="2" charset="2"/>
              <a:buChar char="§"/>
            </a:pPr>
            <a:r>
              <a:rPr lang="en-US" altLang="ko-KR" sz="1000" b="1" dirty="0">
                <a:ea typeface="굴림" pitchFamily="34" charset="-127"/>
              </a:rPr>
              <a:t>Chip and </a:t>
            </a:r>
            <a:r>
              <a:rPr lang="en-US" altLang="ko-KR" sz="1000" b="1" dirty="0" smtClean="0">
                <a:ea typeface="굴림" pitchFamily="34" charset="-127"/>
              </a:rPr>
              <a:t>Wire Assembly</a:t>
            </a:r>
            <a:endParaRPr lang="en-US" altLang="ko-KR" sz="1000" b="1" dirty="0">
              <a:ea typeface="굴림" pitchFamily="34" charset="-127"/>
            </a:endParaRPr>
          </a:p>
          <a:p>
            <a:pPr marL="231775" indent="-231775" algn="l">
              <a:buFont typeface="Wingdings" pitchFamily="2" charset="2"/>
              <a:buChar char="§"/>
            </a:pPr>
            <a:r>
              <a:rPr lang="en-US" altLang="ko-KR" sz="1000" b="1" dirty="0">
                <a:ea typeface="굴림" pitchFamily="34" charset="-127"/>
              </a:rPr>
              <a:t>Low Series </a:t>
            </a:r>
            <a:r>
              <a:rPr lang="en-US" altLang="ko-KR" sz="1000" b="1" dirty="0" smtClean="0">
                <a:ea typeface="굴림" pitchFamily="34" charset="-127"/>
              </a:rPr>
              <a:t>Resistance</a:t>
            </a:r>
          </a:p>
          <a:p>
            <a:pPr marL="231775" indent="-231775" algn="l">
              <a:buFont typeface="Wingdings" pitchFamily="2" charset="2"/>
              <a:buChar char="§"/>
            </a:pPr>
            <a:r>
              <a:rPr lang="en-US" altLang="ko-KR" sz="1000" b="1" dirty="0" smtClean="0">
                <a:ea typeface="굴림" pitchFamily="34" charset="-127"/>
              </a:rPr>
              <a:t>Applications: Switching </a:t>
            </a:r>
            <a:r>
              <a:rPr lang="en-US" altLang="ko-KR" sz="1000" b="1" dirty="0">
                <a:ea typeface="굴림" pitchFamily="34" charset="-127"/>
              </a:rPr>
              <a:t>and Attenuating</a:t>
            </a:r>
          </a:p>
        </p:txBody>
      </p:sp>
      <p:sp>
        <p:nvSpPr>
          <p:cNvPr id="63496" name="Rectangle 8"/>
          <p:cNvSpPr>
            <a:spLocks noGrp="1"/>
          </p:cNvSpPr>
          <p:nvPr>
            <p:ph type="title" idx="4294967295"/>
          </p:nvPr>
        </p:nvSpPr>
        <p:spPr>
          <a:xfrm>
            <a:off x="68240" y="69587"/>
            <a:ext cx="6540500" cy="547687"/>
          </a:xfrm>
        </p:spPr>
        <p:txBody>
          <a:bodyPr>
            <a:normAutofit/>
          </a:bodyPr>
          <a:lstStyle/>
          <a:p>
            <a:r>
              <a:rPr lang="en-US" dirty="0"/>
              <a:t>Discrete Diodes – </a:t>
            </a:r>
            <a:r>
              <a:rPr lang="en-US" dirty="0" smtClean="0"/>
              <a:t>Si PIN </a:t>
            </a:r>
            <a:r>
              <a:rPr lang="en-US" dirty="0"/>
              <a:t>Chips</a:t>
            </a:r>
          </a:p>
        </p:txBody>
      </p:sp>
      <p:sp>
        <p:nvSpPr>
          <p:cNvPr id="63499" name="Oval 11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7526338" y="0"/>
            <a:ext cx="1608137" cy="903288"/>
          </a:xfrm>
          <a:prstGeom prst="ellipse">
            <a:avLst/>
          </a:prstGeom>
          <a:solidFill>
            <a:schemeClr val="bg1">
              <a:alpha val="0"/>
            </a:schemeClr>
          </a:soli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249391" y="2602944"/>
          <a:ext cx="8716478" cy="3848065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2700000">
                    <a:prstClr val="black">
                      <a:alpha val="50000"/>
                    </a:prstClr>
                  </a:innerShdw>
                </a:effectLst>
                <a:tableStyleId>{5C22544A-7EE6-4342-B048-85BDC9FD1C3A}</a:tableStyleId>
              </a:tblPr>
              <a:tblGrid>
                <a:gridCol w="1644963"/>
                <a:gridCol w="1229006"/>
                <a:gridCol w="1068405"/>
                <a:gridCol w="1114512"/>
                <a:gridCol w="1197684"/>
                <a:gridCol w="1396549"/>
                <a:gridCol w="1065359"/>
              </a:tblGrid>
              <a:tr h="590980">
                <a:tc>
                  <a:txBody>
                    <a:bodyPr/>
                    <a:lstStyle/>
                    <a:p>
                      <a:pPr algn="ctr">
                        <a:tabLst>
                          <a:tab pos="91440" algn="l"/>
                        </a:tabLst>
                      </a:pPr>
                      <a:r>
                        <a:rPr lang="en-US" sz="1050" dirty="0" smtClean="0"/>
                        <a:t>Part </a:t>
                      </a:r>
                    </a:p>
                    <a:p>
                      <a:pPr algn="ctr">
                        <a:tabLst>
                          <a:tab pos="91440" algn="l"/>
                        </a:tabLst>
                      </a:pPr>
                      <a:r>
                        <a:rPr lang="en-US" sz="1050" dirty="0" smtClean="0"/>
                        <a:t>Number</a:t>
                      </a:r>
                      <a:endParaRPr lang="en-US" sz="105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tabLst>
                          <a:tab pos="91440" algn="l"/>
                        </a:tabLst>
                      </a:pPr>
                      <a:r>
                        <a:rPr lang="en-US" sz="1050" dirty="0" smtClean="0"/>
                        <a:t>Breakdown Voltage (V)</a:t>
                      </a:r>
                      <a:endParaRPr lang="en-US" sz="1050" dirty="0"/>
                    </a:p>
                  </a:txBody>
                  <a:tcPr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91440" algn="l"/>
                        </a:tabLst>
                      </a:pPr>
                      <a:r>
                        <a:rPr lang="en-US" sz="1050" dirty="0" smtClean="0"/>
                        <a:t>Capacitance (pF)</a:t>
                      </a:r>
                      <a:endParaRPr lang="en-US" sz="1050" dirty="0"/>
                    </a:p>
                  </a:txBody>
                  <a:tcPr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91440" algn="l"/>
                        </a:tabLst>
                      </a:pPr>
                      <a:r>
                        <a:rPr lang="en-US" sz="1050" dirty="0" smtClean="0"/>
                        <a:t>Series Resistance (</a:t>
                      </a:r>
                      <a:r>
                        <a:rPr lang="en-US" sz="1050" dirty="0" smtClean="0">
                          <a:sym typeface="Symbol"/>
                        </a:rPr>
                        <a:t>)</a:t>
                      </a:r>
                      <a:endParaRPr lang="en-US" sz="1050" dirty="0"/>
                    </a:p>
                  </a:txBody>
                  <a:tcPr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91440" algn="l"/>
                        </a:tabLst>
                      </a:pPr>
                      <a:r>
                        <a:rPr lang="en-US" sz="1050" dirty="0" smtClean="0"/>
                        <a:t>Carrier Lifetime (</a:t>
                      </a:r>
                      <a:r>
                        <a:rPr lang="en-US" sz="1050" dirty="0" smtClean="0">
                          <a:sym typeface="Symbol"/>
                        </a:rPr>
                        <a:t>s)</a:t>
                      </a:r>
                      <a:endParaRPr lang="en-US" sz="1050" dirty="0"/>
                    </a:p>
                  </a:txBody>
                  <a:tcPr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91440" algn="l"/>
                        </a:tabLst>
                      </a:pPr>
                      <a:r>
                        <a:rPr lang="en-US" sz="1050" dirty="0" smtClean="0"/>
                        <a:t>Thermal Resistance</a:t>
                      </a:r>
                      <a:r>
                        <a:rPr lang="en-US" sz="1050" baseline="0" dirty="0" smtClean="0"/>
                        <a:t> (ºC/W)</a:t>
                      </a:r>
                      <a:endParaRPr lang="en-US" sz="1050" dirty="0" smtClean="0"/>
                    </a:p>
                  </a:txBody>
                  <a:tcPr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91440" algn="l"/>
                        </a:tabLst>
                      </a:pPr>
                      <a:r>
                        <a:rPr lang="en-US" sz="1050" dirty="0" smtClean="0"/>
                        <a:t>I-region</a:t>
                      </a:r>
                    </a:p>
                    <a:p>
                      <a:pPr algn="ctr">
                        <a:tabLst>
                          <a:tab pos="91440" algn="l"/>
                        </a:tabLst>
                      </a:pPr>
                      <a:r>
                        <a:rPr lang="en-US" sz="1050" dirty="0" smtClean="0"/>
                        <a:t>(</a:t>
                      </a:r>
                      <a:r>
                        <a:rPr lang="en-US" sz="1050" dirty="0" smtClean="0">
                          <a:sym typeface="Symbol"/>
                        </a:rPr>
                        <a:t>m)</a:t>
                      </a:r>
                      <a:endParaRPr lang="en-US" sz="1050" dirty="0" smtClean="0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566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MADP-000165-01340W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200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0.06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2.50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0.20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150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19</a:t>
                      </a:r>
                      <a:endParaRPr lang="en-US" sz="1000" dirty="0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1897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MA4P161-134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100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0.10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1.50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0.150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13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5590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MA47416-132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200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0.15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6.00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2.00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30.0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110</a:t>
                      </a:r>
                      <a:endParaRPr lang="en-US" sz="1000" dirty="0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408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MA47418-134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200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0.15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3.00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1.00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25.0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48</a:t>
                      </a:r>
                      <a:endParaRPr lang="en-US" sz="1000" dirty="0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721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MA4P203-134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100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0.15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1.50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0.150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75.0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13</a:t>
                      </a:r>
                      <a:endParaRPr lang="en-US" sz="1000" dirty="0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4284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MA4P303-134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200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0.15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1.50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0.20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85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19</a:t>
                      </a:r>
                      <a:endParaRPr lang="en-US" sz="1000" dirty="0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4284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MA4P404-132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250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0.20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0.70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0.60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30.0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28</a:t>
                      </a:r>
                      <a:endParaRPr lang="en-US" sz="1000" dirty="0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5388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MA4P504-132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500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0.20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0.60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1.00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35.0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44</a:t>
                      </a:r>
                      <a:endParaRPr lang="en-US" sz="1000" dirty="0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5079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MA4P604-131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1000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0.30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1.00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3.00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10.0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96</a:t>
                      </a:r>
                      <a:endParaRPr lang="en-US" sz="1000" dirty="0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292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MA4P505-131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500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0.35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0.45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2.00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14.0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96</a:t>
                      </a:r>
                      <a:endParaRPr lang="en-US" sz="1000" dirty="0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551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MA4P606-131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1000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0.60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0.70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4.00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8.0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96</a:t>
                      </a:r>
                      <a:endParaRPr lang="en-US" sz="1000" dirty="0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281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MA4P506-131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500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0.70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0.30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3.00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11.0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51</a:t>
                      </a:r>
                      <a:endParaRPr lang="en-US" sz="1000" dirty="0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4947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MA4P607-212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1000</a:t>
                      </a:r>
                      <a:endParaRPr lang="en-US" sz="1000" dirty="0"/>
                    </a:p>
                  </a:txBody>
                  <a:tcPr anchor="ctr"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1.30</a:t>
                      </a:r>
                      <a:endParaRPr lang="en-US" sz="1000" dirty="0"/>
                    </a:p>
                  </a:txBody>
                  <a:tcPr anchor="ctr"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0.40</a:t>
                      </a:r>
                      <a:endParaRPr lang="en-US" sz="1000" dirty="0"/>
                    </a:p>
                  </a:txBody>
                  <a:tcPr anchor="ctr"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5.00</a:t>
                      </a:r>
                      <a:endParaRPr lang="en-US" sz="1000" dirty="0"/>
                    </a:p>
                  </a:txBody>
                  <a:tcPr anchor="ctr"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4.0</a:t>
                      </a:r>
                      <a:endParaRPr lang="en-US" sz="1000" dirty="0"/>
                    </a:p>
                  </a:txBody>
                  <a:tcPr anchor="ctr"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125</a:t>
                      </a:r>
                      <a:endParaRPr lang="en-US" sz="1000" dirty="0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661036">
            <a:off x="6965664" y="1416625"/>
            <a:ext cx="832496" cy="883258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12289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rot="2521093">
            <a:off x="5472673" y="1434825"/>
            <a:ext cx="851270" cy="84686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34490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3" name="Rectangle 4"/>
          <p:cNvSpPr>
            <a:spLocks noChangeArrowheads="1"/>
          </p:cNvSpPr>
          <p:nvPr/>
        </p:nvSpPr>
        <p:spPr bwMode="auto">
          <a:xfrm>
            <a:off x="233785" y="1311064"/>
            <a:ext cx="4368718" cy="2251886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/>
          <a:lstStyle/>
          <a:p>
            <a:pPr marL="231775" indent="-231775" algn="l">
              <a:buFont typeface="Wingdings" pitchFamily="2" charset="2"/>
              <a:buChar char="§"/>
            </a:pPr>
            <a:r>
              <a:rPr lang="en-US" altLang="ko-KR" sz="1600" b="1" dirty="0" smtClean="0">
                <a:ea typeface="굴림" pitchFamily="34" charset="-127"/>
              </a:rPr>
              <a:t>High </a:t>
            </a:r>
            <a:r>
              <a:rPr lang="en-US" altLang="ko-KR" sz="1600" b="1" dirty="0">
                <a:ea typeface="굴림" pitchFamily="34" charset="-127"/>
              </a:rPr>
              <a:t>Voltage Handling: </a:t>
            </a:r>
            <a:r>
              <a:rPr lang="en-US" altLang="ko-KR" sz="1600" b="1" dirty="0" smtClean="0">
                <a:ea typeface="굴림" pitchFamily="34" charset="-127"/>
              </a:rPr>
              <a:t>up to 500 V</a:t>
            </a:r>
            <a:endParaRPr lang="en-US" altLang="ko-KR" sz="1600" b="1" dirty="0">
              <a:ea typeface="굴림" pitchFamily="34" charset="-127"/>
            </a:endParaRPr>
          </a:p>
          <a:p>
            <a:pPr marL="231775" indent="-231775" algn="l">
              <a:buFont typeface="Wingdings" pitchFamily="2" charset="2"/>
              <a:buChar char="§"/>
            </a:pPr>
            <a:r>
              <a:rPr lang="en-US" altLang="ko-KR" sz="1600" b="1" dirty="0">
                <a:ea typeface="굴림" pitchFamily="34" charset="-127"/>
              </a:rPr>
              <a:t>Power Handling: </a:t>
            </a:r>
            <a:r>
              <a:rPr lang="en-US" altLang="ko-KR" sz="1600" b="1" dirty="0" smtClean="0">
                <a:ea typeface="굴림" pitchFamily="34" charset="-127"/>
              </a:rPr>
              <a:t>50</a:t>
            </a:r>
            <a:r>
              <a:rPr lang="en-US" altLang="ko-KR" sz="1600" b="1" dirty="0">
                <a:ea typeface="굴림" pitchFamily="34" charset="-127"/>
              </a:rPr>
              <a:t>+ Watts</a:t>
            </a:r>
          </a:p>
          <a:p>
            <a:pPr marL="231775" indent="-231775" algn="l">
              <a:buFont typeface="Wingdings" pitchFamily="2" charset="2"/>
              <a:buChar char="§"/>
            </a:pPr>
            <a:r>
              <a:rPr lang="en-US" altLang="ko-KR" sz="1600" b="1" dirty="0">
                <a:ea typeface="굴림" pitchFamily="34" charset="-127"/>
              </a:rPr>
              <a:t>Operate from </a:t>
            </a:r>
            <a:r>
              <a:rPr lang="en-US" altLang="ko-KR" sz="1600" b="1" dirty="0" smtClean="0">
                <a:ea typeface="굴림" pitchFamily="34" charset="-127"/>
              </a:rPr>
              <a:t>LF </a:t>
            </a:r>
            <a:r>
              <a:rPr lang="en-US" altLang="ko-KR" sz="1600" b="1" dirty="0">
                <a:ea typeface="굴림" pitchFamily="34" charset="-127"/>
              </a:rPr>
              <a:t>to </a:t>
            </a:r>
            <a:r>
              <a:rPr lang="en-US" altLang="ko-KR" sz="1600" b="1" dirty="0" smtClean="0">
                <a:ea typeface="굴림" pitchFamily="34" charset="-127"/>
              </a:rPr>
              <a:t>12+ </a:t>
            </a:r>
            <a:r>
              <a:rPr lang="en-US" altLang="ko-KR" sz="1600" b="1" dirty="0">
                <a:ea typeface="굴림" pitchFamily="34" charset="-127"/>
              </a:rPr>
              <a:t>GHz</a:t>
            </a:r>
          </a:p>
          <a:p>
            <a:pPr marL="231775" indent="-231775" algn="l">
              <a:buFont typeface="Wingdings" pitchFamily="2" charset="2"/>
              <a:buChar char="§"/>
            </a:pPr>
            <a:r>
              <a:rPr lang="en-US" altLang="ko-KR" sz="1600" b="1" dirty="0">
                <a:ea typeface="굴림" pitchFamily="34" charset="-127"/>
              </a:rPr>
              <a:t>Chip and </a:t>
            </a:r>
            <a:r>
              <a:rPr lang="en-US" altLang="ko-KR" sz="1600" b="1" dirty="0" smtClean="0">
                <a:ea typeface="굴림" pitchFamily="34" charset="-127"/>
              </a:rPr>
              <a:t>Wire Assembly or Available in Packages</a:t>
            </a:r>
            <a:endParaRPr lang="en-US" altLang="ko-KR" sz="1600" b="1" dirty="0">
              <a:ea typeface="굴림" pitchFamily="34" charset="-127"/>
            </a:endParaRPr>
          </a:p>
          <a:p>
            <a:pPr marL="231775" indent="-231775" algn="l">
              <a:buFont typeface="Wingdings" pitchFamily="2" charset="2"/>
              <a:buChar char="§"/>
            </a:pPr>
            <a:r>
              <a:rPr lang="en-US" altLang="ko-KR" sz="1600" b="1" dirty="0">
                <a:ea typeface="굴림" pitchFamily="34" charset="-127"/>
              </a:rPr>
              <a:t>Low Series </a:t>
            </a:r>
            <a:r>
              <a:rPr lang="en-US" altLang="ko-KR" sz="1600" b="1" dirty="0" smtClean="0">
                <a:ea typeface="굴림" pitchFamily="34" charset="-127"/>
              </a:rPr>
              <a:t>Resistance</a:t>
            </a:r>
          </a:p>
          <a:p>
            <a:pPr marL="231775" indent="-231775" algn="l">
              <a:buFont typeface="Wingdings" pitchFamily="2" charset="2"/>
              <a:buChar char="§"/>
            </a:pPr>
            <a:r>
              <a:rPr lang="en-US" altLang="ko-KR" sz="1600" b="1" dirty="0" smtClean="0">
                <a:ea typeface="굴림" pitchFamily="34" charset="-127"/>
              </a:rPr>
              <a:t>Applications: Switching </a:t>
            </a:r>
            <a:r>
              <a:rPr lang="en-US" altLang="ko-KR" sz="1600" b="1" dirty="0">
                <a:ea typeface="굴림" pitchFamily="34" charset="-127"/>
              </a:rPr>
              <a:t>and Attenuating</a:t>
            </a:r>
          </a:p>
        </p:txBody>
      </p:sp>
      <p:sp>
        <p:nvSpPr>
          <p:cNvPr id="63496" name="Rectangle 8"/>
          <p:cNvSpPr>
            <a:spLocks noGrp="1"/>
          </p:cNvSpPr>
          <p:nvPr>
            <p:ph type="title" idx="4294967295"/>
          </p:nvPr>
        </p:nvSpPr>
        <p:spPr>
          <a:xfrm>
            <a:off x="68240" y="298184"/>
            <a:ext cx="6540500" cy="547687"/>
          </a:xfrm>
        </p:spPr>
        <p:txBody>
          <a:bodyPr>
            <a:normAutofit/>
          </a:bodyPr>
          <a:lstStyle/>
          <a:p>
            <a:r>
              <a:rPr lang="en-US" dirty="0"/>
              <a:t>Discrete Diodes – </a:t>
            </a:r>
            <a:r>
              <a:rPr lang="en-US" dirty="0" smtClean="0"/>
              <a:t>Si NIP </a:t>
            </a:r>
            <a:r>
              <a:rPr lang="en-US" dirty="0"/>
              <a:t>Chips</a:t>
            </a:r>
          </a:p>
        </p:txBody>
      </p:sp>
      <p:sp>
        <p:nvSpPr>
          <p:cNvPr id="63499" name="Oval 11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7526338" y="0"/>
            <a:ext cx="1608137" cy="903288"/>
          </a:xfrm>
          <a:prstGeom prst="ellipse">
            <a:avLst/>
          </a:prstGeom>
          <a:solidFill>
            <a:schemeClr val="bg1">
              <a:alpha val="0"/>
            </a:schemeClr>
          </a:soli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785" y="3639212"/>
            <a:ext cx="8632803" cy="2860978"/>
          </a:xfrm>
          <a:prstGeom prst="rect">
            <a:avLst/>
          </a:prstGeom>
        </p:spPr>
      </p:pic>
      <p:pic>
        <p:nvPicPr>
          <p:cNvPr id="9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rot="2521093">
            <a:off x="6555952" y="1607213"/>
            <a:ext cx="1047487" cy="104206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90412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25354" y="265517"/>
            <a:ext cx="6983413" cy="544512"/>
          </a:xfrm>
        </p:spPr>
        <p:txBody>
          <a:bodyPr/>
          <a:lstStyle/>
          <a:p>
            <a:r>
              <a:rPr lang="en-US" dirty="0" smtClean="0"/>
              <a:t>Si </a:t>
            </a:r>
            <a:r>
              <a:rPr lang="en-US" dirty="0"/>
              <a:t>Mesa </a:t>
            </a:r>
            <a:r>
              <a:rPr lang="en-US" dirty="0" smtClean="0"/>
              <a:t>Beamlead PIN Diodes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34445" y="1288694"/>
            <a:ext cx="4711710" cy="1505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9063" indent="-119063" algn="l">
              <a:buFont typeface="Wingdings" pitchFamily="2" charset="2"/>
              <a:buChar char="§"/>
            </a:pPr>
            <a:r>
              <a:rPr lang="en-US" dirty="0" smtClean="0"/>
              <a:t>Rugged Silicon-Glass Construction</a:t>
            </a:r>
          </a:p>
          <a:p>
            <a:pPr marL="119063" indent="-119063" algn="l">
              <a:buFont typeface="Wingdings" pitchFamily="2" charset="2"/>
              <a:buChar char="§"/>
            </a:pPr>
            <a:r>
              <a:rPr lang="en-US" dirty="0" smtClean="0"/>
              <a:t>Silicon Nitride Passivation</a:t>
            </a:r>
          </a:p>
          <a:p>
            <a:pPr marL="119063" indent="-119063" algn="l">
              <a:buFont typeface="Wingdings" pitchFamily="2" charset="2"/>
              <a:buChar char="§"/>
            </a:pPr>
            <a:r>
              <a:rPr lang="en-US" dirty="0" smtClean="0"/>
              <a:t>Low Parasitic Capacitance and Inductance</a:t>
            </a:r>
          </a:p>
          <a:p>
            <a:pPr algn="l"/>
            <a:endParaRPr lang="en-US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844" y="2611633"/>
            <a:ext cx="7705126" cy="409396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658" y="1312258"/>
            <a:ext cx="2495550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131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95536" y="107025"/>
            <a:ext cx="6983413" cy="544512"/>
          </a:xfrm>
        </p:spPr>
        <p:txBody>
          <a:bodyPr/>
          <a:lstStyle/>
          <a:p>
            <a:r>
              <a:rPr lang="en-US" dirty="0" smtClean="0"/>
              <a:t>Si Planar Beamlead PIN Diodes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77619" y="1248470"/>
            <a:ext cx="5259499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9063" indent="-119063" algn="l">
              <a:buFont typeface="Wingdings" pitchFamily="2" charset="2"/>
              <a:buChar char="§"/>
            </a:pPr>
            <a:r>
              <a:rPr lang="en-US" sz="2000" dirty="0" smtClean="0"/>
              <a:t>Rugged Silicon-Glass Construction</a:t>
            </a:r>
          </a:p>
          <a:p>
            <a:pPr marL="119063" indent="-119063" algn="l">
              <a:buFont typeface="Wingdings" pitchFamily="2" charset="2"/>
              <a:buChar char="§"/>
            </a:pPr>
            <a:r>
              <a:rPr lang="en-US" sz="2000" dirty="0" smtClean="0"/>
              <a:t>Silicon Nitride Passivation</a:t>
            </a:r>
          </a:p>
          <a:p>
            <a:pPr marL="119063" indent="-119063" algn="l">
              <a:buFont typeface="Wingdings" pitchFamily="2" charset="2"/>
              <a:buChar char="§"/>
            </a:pPr>
            <a:r>
              <a:rPr lang="en-US" sz="2000" dirty="0" smtClean="0"/>
              <a:t>Low Parasitic Capacitance and Inductance</a:t>
            </a:r>
          </a:p>
          <a:p>
            <a:pPr algn="l"/>
            <a:endParaRPr lang="en-US" sz="20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386" y="2747025"/>
            <a:ext cx="7886834" cy="347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767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64" name="Rectangle 16"/>
          <p:cNvSpPr>
            <a:spLocks noGrp="1"/>
          </p:cNvSpPr>
          <p:nvPr>
            <p:ph type="title" idx="4294967295"/>
          </p:nvPr>
        </p:nvSpPr>
        <p:spPr>
          <a:xfrm>
            <a:off x="119123" y="356933"/>
            <a:ext cx="6540500" cy="547688"/>
          </a:xfrm>
        </p:spPr>
        <p:txBody>
          <a:bodyPr/>
          <a:lstStyle/>
          <a:p>
            <a:r>
              <a:rPr lang="en-US" dirty="0"/>
              <a:t>Flip </a:t>
            </a:r>
            <a:r>
              <a:rPr lang="en-US" dirty="0" smtClean="0"/>
              <a:t>Chip Products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7422435"/>
              </p:ext>
            </p:extLst>
          </p:nvPr>
        </p:nvGraphicFramePr>
        <p:xfrm>
          <a:off x="549813" y="1932146"/>
          <a:ext cx="7584374" cy="1947223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2700000">
                    <a:prstClr val="black">
                      <a:alpha val="50000"/>
                    </a:prstClr>
                  </a:innerShdw>
                </a:effectLst>
                <a:tableStyleId>{5C22544A-7EE6-4342-B048-85BDC9FD1C3A}</a:tableStyleId>
              </a:tblPr>
              <a:tblGrid>
                <a:gridCol w="1249697"/>
                <a:gridCol w="1434999"/>
                <a:gridCol w="982521"/>
                <a:gridCol w="1063162"/>
                <a:gridCol w="646487"/>
                <a:gridCol w="1103754"/>
                <a:gridCol w="1103754"/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solidFill>
                            <a:schemeClr val="bg1"/>
                          </a:solidFill>
                        </a:rPr>
                        <a:t>PIN</a:t>
                      </a:r>
                    </a:p>
                    <a:p>
                      <a:pPr algn="ctr"/>
                      <a:r>
                        <a:rPr lang="en-US" sz="1100" dirty="0" smtClean="0">
                          <a:solidFill>
                            <a:schemeClr val="bg1"/>
                          </a:solidFill>
                        </a:rPr>
                        <a:t> Diodes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Configuration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Max Frequency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Breakdown Voltage Vb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Ct Max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Rs Typical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Material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1483">
                <a:tc vMerge="1"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(GHz)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(V)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(pf)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US" sz="1050" dirty="0" smtClean="0">
                          <a:solidFill>
                            <a:schemeClr val="bg1"/>
                          </a:solidFill>
                          <a:sym typeface="Symbol"/>
                        </a:rPr>
                        <a:t>)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</a:tr>
              <a:tr h="25842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MA4GP907</a:t>
                      </a:r>
                      <a:endParaRPr lang="en-US" sz="105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Single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40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45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0.025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4.2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GaAs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33482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MA4AGP907</a:t>
                      </a:r>
                      <a:endParaRPr lang="en-US" sz="105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Single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50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50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0.020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4.2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AlGaAs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32294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MA4FCP200</a:t>
                      </a:r>
                      <a:endParaRPr lang="en-US" sz="105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Single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40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50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0.015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2.8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HMIC 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0735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MA4FCP300</a:t>
                      </a:r>
                      <a:endParaRPr lang="en-US" sz="105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Single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30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70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0.025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2.6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HMIC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4293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MA4FCP305</a:t>
                      </a:r>
                      <a:endParaRPr lang="en-US" sz="105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Single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18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40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0.050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2.1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HMIC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244976"/>
              </p:ext>
            </p:extLst>
          </p:nvPr>
        </p:nvGraphicFramePr>
        <p:xfrm>
          <a:off x="549813" y="4064742"/>
          <a:ext cx="7635837" cy="1173677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2700000">
                    <a:prstClr val="black">
                      <a:alpha val="50000"/>
                    </a:prstClr>
                  </a:innerShdw>
                </a:effectLst>
                <a:tableStyleId>{5C22544A-7EE6-4342-B048-85BDC9FD1C3A}</a:tableStyleId>
              </a:tblPr>
              <a:tblGrid>
                <a:gridCol w="1034296"/>
                <a:gridCol w="1602029"/>
                <a:gridCol w="1080654"/>
                <a:gridCol w="1021279"/>
                <a:gridCol w="926275"/>
                <a:gridCol w="860059"/>
                <a:gridCol w="1111245"/>
              </a:tblGrid>
              <a:tr h="359823">
                <a:tc rowSpan="2"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solidFill>
                            <a:schemeClr val="bg1"/>
                          </a:solidFill>
                        </a:rPr>
                        <a:t>Varactor</a:t>
                      </a:r>
                      <a:r>
                        <a:rPr lang="en-US" sz="1100" baseline="0" dirty="0" smtClean="0">
                          <a:solidFill>
                            <a:schemeClr val="bg1"/>
                          </a:solidFill>
                        </a:rPr>
                        <a:t> Diodes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Configuration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Max Frequency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Breakdown Voltage Vb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Ct 4V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Gamma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Material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87630">
                <a:tc vMerge="1"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(GHz)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(V)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(pf)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</a:tr>
              <a:tr h="259277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MA46H146</a:t>
                      </a:r>
                      <a:endParaRPr lang="en-US" sz="105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Single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60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26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0.033-0.06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GaAs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33482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MA46H120</a:t>
                      </a:r>
                      <a:endParaRPr lang="en-US" sz="105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Single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60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15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0.20-0.40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0.5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GaAs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30544" y="1371998"/>
            <a:ext cx="3425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Low Capacitance Devices</a:t>
            </a: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27392" y="5388990"/>
            <a:ext cx="2147852" cy="1173148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8528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9184" y="109891"/>
            <a:ext cx="6543675" cy="552450"/>
          </a:xfrm>
        </p:spPr>
        <p:txBody>
          <a:bodyPr lIns="91440" tIns="45720" rIns="91440" bIns="45720" anchor="b">
            <a:normAutofit fontScale="90000"/>
          </a:bodyPr>
          <a:lstStyle/>
          <a:p>
            <a:pPr eaLnBrk="1" hangingPunct="1"/>
            <a:r>
              <a:rPr lang="en-US" dirty="0" smtClean="0"/>
              <a:t>Discrete High </a:t>
            </a:r>
            <a:r>
              <a:rPr lang="en-US" dirty="0"/>
              <a:t>Power MELF PIN Diodes</a:t>
            </a:r>
          </a:p>
        </p:txBody>
      </p:sp>
      <p:sp>
        <p:nvSpPr>
          <p:cNvPr id="67591" name="Text Box 7"/>
          <p:cNvSpPr txBox="1">
            <a:spLocks noChangeArrowheads="1"/>
          </p:cNvSpPr>
          <p:nvPr/>
        </p:nvSpPr>
        <p:spPr bwMode="auto">
          <a:xfrm>
            <a:off x="4803775" y="577215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ea typeface="굴림" pitchFamily="34" charset="-127"/>
              </a:rPr>
              <a:t>Available in Tape &amp; Reel</a:t>
            </a:r>
            <a:endParaRPr lang="en-US" b="1" dirty="0">
              <a:solidFill>
                <a:schemeClr val="bg1"/>
              </a:solidFill>
              <a:ea typeface="굴림" pitchFamily="34" charset="-127"/>
            </a:endParaRPr>
          </a:p>
        </p:txBody>
      </p:sp>
      <p:sp>
        <p:nvSpPr>
          <p:cNvPr id="67598" name="Oval 14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7535863" y="0"/>
            <a:ext cx="1608137" cy="903288"/>
          </a:xfrm>
          <a:prstGeom prst="ellipse">
            <a:avLst/>
          </a:prstGeom>
          <a:solidFill>
            <a:schemeClr val="bg1">
              <a:alpha val="0"/>
            </a:schemeClr>
          </a:soli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7589" name="Rectangle 4"/>
          <p:cNvSpPr>
            <a:spLocks noChangeArrowheads="1"/>
          </p:cNvSpPr>
          <p:nvPr/>
        </p:nvSpPr>
        <p:spPr bwMode="auto">
          <a:xfrm>
            <a:off x="109184" y="1571348"/>
            <a:ext cx="3693225" cy="329882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anchor="ctr"/>
          <a:lstStyle/>
          <a:p>
            <a:pPr marL="457200" indent="-457200" algn="l">
              <a:buFont typeface="Wingdings" pitchFamily="2" charset="2"/>
              <a:buChar char="§"/>
            </a:pPr>
            <a:r>
              <a:rPr lang="en-US" altLang="ko-KR" sz="1400" dirty="0" smtClean="0">
                <a:ea typeface="굴림" pitchFamily="34" charset="-127"/>
              </a:rPr>
              <a:t>High </a:t>
            </a:r>
            <a:r>
              <a:rPr lang="en-US" altLang="ko-KR" sz="1400" dirty="0">
                <a:ea typeface="굴림" pitchFamily="34" charset="-127"/>
              </a:rPr>
              <a:t>Voltage Handling: Up to </a:t>
            </a:r>
            <a:r>
              <a:rPr lang="en-US" altLang="ko-KR" sz="1400" b="1" dirty="0" smtClean="0">
                <a:ea typeface="굴림" pitchFamily="34" charset="-127"/>
              </a:rPr>
              <a:t>1100 V</a:t>
            </a:r>
            <a:endParaRPr lang="en-US" altLang="ko-KR" sz="1400" b="1" dirty="0">
              <a:ea typeface="굴림" pitchFamily="34" charset="-127"/>
            </a:endParaRPr>
          </a:p>
          <a:p>
            <a:pPr marL="457200" indent="-457200" algn="l">
              <a:buFont typeface="Wingdings" pitchFamily="2" charset="2"/>
              <a:buChar char="§"/>
            </a:pPr>
            <a:r>
              <a:rPr lang="en-US" altLang="ko-KR" sz="1400" b="1" dirty="0" smtClean="0">
                <a:ea typeface="굴림" pitchFamily="34" charset="-127"/>
              </a:rPr>
              <a:t>200+</a:t>
            </a:r>
            <a:r>
              <a:rPr lang="en-US" altLang="ko-KR" sz="1400" dirty="0" smtClean="0">
                <a:ea typeface="굴림" pitchFamily="34" charset="-127"/>
              </a:rPr>
              <a:t> W </a:t>
            </a:r>
            <a:r>
              <a:rPr lang="en-US" altLang="ko-KR" sz="1400" dirty="0">
                <a:ea typeface="굴림" pitchFamily="34" charset="-127"/>
              </a:rPr>
              <a:t>Power Handling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en-US" altLang="ko-KR" sz="1400" dirty="0" smtClean="0">
                <a:ea typeface="굴림" pitchFamily="34" charset="-127"/>
              </a:rPr>
              <a:t>Operate/Tunable </a:t>
            </a:r>
            <a:r>
              <a:rPr lang="en-US" altLang="ko-KR" sz="1400" dirty="0">
                <a:ea typeface="굴림" pitchFamily="34" charset="-127"/>
              </a:rPr>
              <a:t>from DC to 2.5 GHz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en-US" altLang="ko-KR" sz="1400" dirty="0">
                <a:ea typeface="굴림" pitchFamily="34" charset="-127"/>
              </a:rPr>
              <a:t>Surface Mountable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en-US" altLang="ko-KR" sz="1400" dirty="0">
                <a:ea typeface="굴림" pitchFamily="34" charset="-127"/>
              </a:rPr>
              <a:t>Non-Magnetic Versions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en-US" altLang="ko-KR" sz="1400" dirty="0">
                <a:ea typeface="굴림" pitchFamily="34" charset="-127"/>
              </a:rPr>
              <a:t>Superior Heat Management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en-US" altLang="ko-KR" sz="1400" dirty="0">
                <a:ea typeface="굴림" pitchFamily="34" charset="-127"/>
              </a:rPr>
              <a:t>Low Series Resistance</a:t>
            </a:r>
          </a:p>
          <a:p>
            <a:pPr marL="457200" indent="-457200" algn="l"/>
            <a:endParaRPr lang="en-US" altLang="ko-KR" sz="1000" dirty="0">
              <a:ea typeface="굴림" pitchFamily="34" charset="-127"/>
            </a:endParaRPr>
          </a:p>
          <a:p>
            <a:pPr marL="457200" indent="-457200" algn="l"/>
            <a:r>
              <a:rPr lang="en-US" altLang="ko-KR" sz="1400" b="1" dirty="0">
                <a:ea typeface="굴림" pitchFamily="34" charset="-127"/>
              </a:rPr>
              <a:t>Applications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en-US" altLang="ko-KR" sz="1400" dirty="0">
                <a:ea typeface="굴림" pitchFamily="34" charset="-127"/>
              </a:rPr>
              <a:t>High Power Switches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en-US" altLang="ko-KR" sz="1400" dirty="0">
                <a:ea typeface="굴림" pitchFamily="34" charset="-127"/>
              </a:rPr>
              <a:t>Attenuators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en-US" altLang="ko-KR" sz="1400" dirty="0">
                <a:ea typeface="굴림" pitchFamily="34" charset="-127"/>
              </a:rPr>
              <a:t>Magnetic Resonance Imaging (MRI)</a:t>
            </a:r>
          </a:p>
          <a:p>
            <a:pPr marL="457200" indent="-457200" algn="l">
              <a:buFontTx/>
              <a:buChar char="•"/>
            </a:pPr>
            <a:endParaRPr lang="en-US" altLang="ko-KR" sz="1200" dirty="0">
              <a:latin typeface="Times New Roman" pitchFamily="18" charset="0"/>
              <a:ea typeface="굴림" pitchFamily="34" charset="-127"/>
            </a:endParaRPr>
          </a:p>
          <a:p>
            <a:pPr marL="457200" indent="-457200" algn="l">
              <a:buFontTx/>
              <a:buChar char="•"/>
            </a:pPr>
            <a:endParaRPr lang="en-US" altLang="ko-KR" sz="1400" dirty="0">
              <a:ea typeface="굴림" pitchFamily="34" charset="-127"/>
            </a:endParaRPr>
          </a:p>
        </p:txBody>
      </p:sp>
      <p:pic>
        <p:nvPicPr>
          <p:cNvPr id="67599" name="Picture 15" descr="MELFondime2">
            <a:hlinkClick r:id="" action="ppaction://noaction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2607" y="4919869"/>
            <a:ext cx="1496581" cy="1364286"/>
          </a:xfrm>
          <a:prstGeom prst="rect">
            <a:avLst/>
          </a:prstGeom>
          <a:noFill/>
          <a:ln w="22225">
            <a:solidFill>
              <a:schemeClr val="tx1"/>
            </a:solidFill>
            <a:miter lim="800000"/>
            <a:headEnd/>
            <a:tailEnd/>
          </a:ln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3899139" y="876727"/>
          <a:ext cx="5080959" cy="4297680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2700000">
                    <a:prstClr val="black">
                      <a:alpha val="50000"/>
                    </a:prstClr>
                  </a:innerShdw>
                </a:effectLst>
                <a:tableStyleId>{5C22544A-7EE6-4342-B048-85BDC9FD1C3A}</a:tableStyleId>
              </a:tblPr>
              <a:tblGrid>
                <a:gridCol w="1362974"/>
                <a:gridCol w="793631"/>
                <a:gridCol w="836761"/>
                <a:gridCol w="759125"/>
                <a:gridCol w="603849"/>
                <a:gridCol w="724619"/>
              </a:tblGrid>
              <a:tr h="412592">
                <a:tc rowSpan="2">
                  <a:txBody>
                    <a:bodyPr/>
                    <a:lstStyle/>
                    <a:p>
                      <a:pPr algn="ctr"/>
                      <a:r>
                        <a:rPr lang="en-US" sz="900" dirty="0" smtClean="0">
                          <a:solidFill>
                            <a:schemeClr val="bg1"/>
                          </a:solidFill>
                        </a:rPr>
                        <a:t>Part Number</a:t>
                      </a:r>
                      <a:endParaRPr 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solidFill>
                            <a:schemeClr val="bg1"/>
                          </a:solidFill>
                        </a:rPr>
                        <a:t>Breakdown Voltage</a:t>
                      </a:r>
                      <a:endParaRPr 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solidFill>
                            <a:schemeClr val="bg1"/>
                          </a:solidFill>
                        </a:rPr>
                        <a:t>Total Capacitance</a:t>
                      </a:r>
                      <a:endParaRPr 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solidFill>
                            <a:schemeClr val="bg1"/>
                          </a:solidFill>
                        </a:rPr>
                        <a:t>Series Resistance</a:t>
                      </a:r>
                      <a:endParaRPr 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solidFill>
                            <a:schemeClr val="bg1"/>
                          </a:solidFill>
                        </a:rPr>
                        <a:t>Carrier</a:t>
                      </a:r>
                      <a:r>
                        <a:rPr lang="en-US" sz="800" baseline="0" dirty="0" smtClean="0">
                          <a:solidFill>
                            <a:schemeClr val="bg1"/>
                          </a:solidFill>
                        </a:rPr>
                        <a:t> Lifetime</a:t>
                      </a:r>
                      <a:endParaRPr 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solidFill>
                            <a:schemeClr val="bg1"/>
                          </a:solidFill>
                        </a:rPr>
                        <a:t>Thermal Resistance </a:t>
                      </a:r>
                      <a:r>
                        <a:rPr lang="en-US" sz="800" dirty="0" smtClean="0">
                          <a:solidFill>
                            <a:schemeClr val="bg1"/>
                          </a:solidFill>
                          <a:sym typeface="Symbol"/>
                        </a:rPr>
                        <a:t></a:t>
                      </a:r>
                      <a:endParaRPr 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2543">
                <a:tc vMerge="1"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solidFill>
                            <a:schemeClr val="bg1"/>
                          </a:solidFill>
                        </a:rPr>
                        <a:t>(V)</a:t>
                      </a:r>
                      <a:endParaRPr 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81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solidFill>
                            <a:schemeClr val="bg1"/>
                          </a:solidFill>
                        </a:rPr>
                        <a:t>(pF)</a:t>
                      </a:r>
                      <a:endParaRPr 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US" sz="800" dirty="0" smtClean="0">
                          <a:solidFill>
                            <a:schemeClr val="bg1"/>
                          </a:solidFill>
                          <a:sym typeface="Symbol"/>
                        </a:rPr>
                        <a:t>)</a:t>
                      </a:r>
                      <a:endParaRPr 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US" sz="800" dirty="0" smtClean="0">
                          <a:solidFill>
                            <a:schemeClr val="bg1"/>
                          </a:solidFill>
                          <a:sym typeface="Symbol"/>
                        </a:rPr>
                        <a:t>s)</a:t>
                      </a:r>
                      <a:endParaRPr 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solidFill>
                            <a:schemeClr val="bg1"/>
                          </a:solidFill>
                        </a:rPr>
                        <a:t>(ºC/W)</a:t>
                      </a:r>
                      <a:endParaRPr 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</a:tr>
              <a:tr h="19254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MA4P504-1072T</a:t>
                      </a:r>
                      <a:endParaRPr lang="en-US" sz="8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500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0.5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0.6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1.0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15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254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MA4PH236-1072T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200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0.5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3.00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1.5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25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254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MA4PH238-1072T</a:t>
                      </a:r>
                      <a:endParaRPr lang="en-US" sz="8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200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0.5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6.00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2.0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25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254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MA4P404-1072T</a:t>
                      </a:r>
                      <a:endParaRPr lang="en-US" sz="8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250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0.6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0.60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0.6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10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254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MA4P505-1072T</a:t>
                      </a:r>
                      <a:endParaRPr lang="en-US" sz="8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500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0.7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0.45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2.0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6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254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MA4P7006F-1072T</a:t>
                      </a:r>
                      <a:endParaRPr lang="en-US" sz="8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600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0.7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0.90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3.0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50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254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MA4P7417-1072T</a:t>
                      </a:r>
                      <a:endParaRPr lang="en-US" sz="8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800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0.7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0.80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6.5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13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254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MA4P7104F-1072T</a:t>
                      </a:r>
                      <a:endParaRPr lang="en-US" sz="8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400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1.0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0.50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2.5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50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254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MA4P506-1072T</a:t>
                      </a:r>
                      <a:endParaRPr lang="en-US" sz="8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500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1.0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0.30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3.0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10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254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MA4P1250-1072T</a:t>
                      </a:r>
                      <a:endParaRPr lang="en-US" sz="8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50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1.2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0.75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2.0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15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254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MA4PH235-1072T</a:t>
                      </a:r>
                      <a:endParaRPr lang="en-US" sz="8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35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1.2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0.50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0.3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20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254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MADP-000234-10720T</a:t>
                      </a:r>
                      <a:endParaRPr lang="en-US" sz="8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500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1.7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0.25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1.5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30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254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MA4P4301F-1091T</a:t>
                      </a:r>
                      <a:endParaRPr lang="en-US" sz="8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100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2.0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1.00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8.0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30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254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MA4P4306F-1091T</a:t>
                      </a:r>
                      <a:endParaRPr lang="en-US" sz="8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600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2.0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1.00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8.0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30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254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MA4P4006F-1091T</a:t>
                      </a:r>
                      <a:endParaRPr lang="en-US" sz="8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600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2.2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0.50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6.0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20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9230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MA4P1450-1091T</a:t>
                      </a:r>
                      <a:endParaRPr lang="en-US" sz="8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50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2.5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0.75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2.0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5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254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MA4P7418-1072T</a:t>
                      </a:r>
                      <a:endParaRPr lang="en-US" sz="8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1100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0.8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1.20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5.0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13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355674" y="5243710"/>
          <a:ext cx="5641678" cy="1493520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2700000">
                    <a:prstClr val="black">
                      <a:alpha val="50000"/>
                    </a:prstClr>
                  </a:innerShdw>
                </a:effectLst>
                <a:tableStyleId>{5C22544A-7EE6-4342-B048-85BDC9FD1C3A}</a:tableStyleId>
              </a:tblPr>
              <a:tblGrid>
                <a:gridCol w="577971"/>
                <a:gridCol w="1354347"/>
                <a:gridCol w="785004"/>
                <a:gridCol w="845389"/>
                <a:gridCol w="793630"/>
                <a:gridCol w="595223"/>
                <a:gridCol w="690114"/>
              </a:tblGrid>
              <a:tr h="197910">
                <a:tc rowSpan="7">
                  <a:txBody>
                    <a:bodyPr/>
                    <a:lstStyle/>
                    <a:p>
                      <a:pPr algn="ctr"/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Non</a:t>
                      </a:r>
                      <a:r>
                        <a:rPr lang="en-US" sz="1000" b="1" baseline="0" dirty="0" smtClean="0">
                          <a:solidFill>
                            <a:schemeClr val="bg1"/>
                          </a:solidFill>
                        </a:rPr>
                        <a:t> Magnetic Package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vert="vert27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>
                          <a:solidFill>
                            <a:schemeClr val="tx1"/>
                          </a:solidFill>
                        </a:rPr>
                        <a:t>MA4P7441F-1091T</a:t>
                      </a:r>
                      <a:endParaRPr 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>
                          <a:solidFill>
                            <a:schemeClr val="tx1"/>
                          </a:solidFill>
                        </a:rPr>
                        <a:t>2.2</a:t>
                      </a:r>
                      <a:endParaRPr 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>
                          <a:solidFill>
                            <a:schemeClr val="tx1"/>
                          </a:solidFill>
                        </a:rPr>
                        <a:t>0.50</a:t>
                      </a:r>
                      <a:endParaRPr 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910">
                <a:tc vMerge="1">
                  <a:txBody>
                    <a:bodyPr/>
                    <a:lstStyle/>
                    <a:p>
                      <a:pPr algn="ctr"/>
                      <a:endParaRPr lang="en-US" sz="800" b="0" dirty="0" smtClean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MA4P7446F-1091T</a:t>
                      </a: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600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2.2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0.50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18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6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7910">
                <a:tc vMerge="1"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MA4P7452F-1072T</a:t>
                      </a:r>
                      <a:endParaRPr lang="en-US" sz="800" b="0" dirty="0"/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150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0.7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0.90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9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15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7910">
                <a:tc vMerge="1"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MA4P7461F-1072T</a:t>
                      </a:r>
                      <a:endParaRPr lang="en-US" sz="800" b="0" dirty="0"/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100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1.0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0.50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6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15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7910">
                <a:tc vMerge="1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dirty="0" smtClean="0"/>
                        <a:t>MA4P7464F-1072T</a:t>
                      </a:r>
                      <a:endParaRPr lang="en-US" sz="800" b="0" dirty="0"/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400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0.8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0.60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4.5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20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7910">
                <a:tc vMerge="1"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MA4P7470F-1072T</a:t>
                      </a:r>
                      <a:endParaRPr lang="en-US" sz="800" b="0" dirty="0"/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800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0.7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0.80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6.5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13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7910">
                <a:tc vMerge="1"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MADP-000235-10720T</a:t>
                      </a:r>
                      <a:endParaRPr lang="en-US" sz="800" b="0" dirty="0"/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35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1.2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0.50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0.3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20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9184" y="6383547"/>
            <a:ext cx="3483429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 smtClean="0"/>
              <a:t>#1 Supplier of MELF PIN DIODES</a:t>
            </a:r>
          </a:p>
        </p:txBody>
      </p:sp>
    </p:spTree>
    <p:extLst>
      <p:ext uri="{BB962C8B-B14F-4D97-AF65-F5344CB8AC3E}">
        <p14:creationId xmlns:p14="http://schemas.microsoft.com/office/powerpoint/2010/main" val="222428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84"/>
          <p:cNvSpPr txBox="1">
            <a:spLocks noChangeArrowheads="1"/>
          </p:cNvSpPr>
          <p:nvPr/>
        </p:nvSpPr>
        <p:spPr bwMode="auto">
          <a:xfrm>
            <a:off x="5769387" y="1412699"/>
            <a:ext cx="3126136" cy="1692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smtClean="0"/>
              <a:t>Discrete Series PIN Diode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smtClean="0"/>
              <a:t>Plastic Package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smtClean="0"/>
              <a:t>Medium Power Handling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600" dirty="0" smtClean="0"/>
          </a:p>
          <a:p>
            <a:pPr algn="l">
              <a:buFont typeface="Arial" pitchFamily="34" charset="0"/>
              <a:buChar char="•"/>
            </a:pPr>
            <a:endParaRPr lang="en-US" sz="1600" dirty="0" smtClean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220725"/>
              </p:ext>
            </p:extLst>
          </p:nvPr>
        </p:nvGraphicFramePr>
        <p:xfrm>
          <a:off x="273047" y="1412699"/>
          <a:ext cx="5066599" cy="3272345"/>
        </p:xfrm>
        <a:graphic>
          <a:graphicData uri="http://schemas.openxmlformats.org/drawingml/2006/table">
            <a:tbl>
              <a:tblPr/>
              <a:tblGrid>
                <a:gridCol w="1163466"/>
                <a:gridCol w="364067"/>
                <a:gridCol w="524933"/>
                <a:gridCol w="306933"/>
                <a:gridCol w="451200"/>
                <a:gridCol w="451200"/>
                <a:gridCol w="451200"/>
                <a:gridCol w="451200"/>
                <a:gridCol w="451200"/>
                <a:gridCol w="451200"/>
              </a:tblGrid>
              <a:tr h="287439">
                <a:tc rowSpan="3"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Part</a:t>
                      </a:r>
                    </a:p>
                    <a:p>
                      <a:pPr algn="ctr" fontAlgn="t"/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Number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Rated</a:t>
                      </a:r>
                    </a:p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Power</a:t>
                      </a:r>
                    </a:p>
                    <a:p>
                      <a:pPr algn="ctr" fontAlgn="t"/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Max</a:t>
                      </a:r>
                    </a:p>
                    <a:p>
                      <a:pPr algn="ctr" fontAlgn="t"/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(W)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Frequency</a:t>
                      </a:r>
                    </a:p>
                    <a:p>
                      <a:pPr algn="ctr" fontAlgn="t"/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Maximum (GHz)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Insertion Loss</a:t>
                      </a:r>
                    </a:p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Typical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Isolation</a:t>
                      </a:r>
                    </a:p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Typical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Package</a:t>
                      </a:r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</a:tr>
              <a:tr h="143720">
                <a:tc vMerge="1">
                  <a:txBody>
                    <a:bodyPr/>
                    <a:lstStyle/>
                    <a:p>
                      <a:pPr algn="ctr" fontAlgn="t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7F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7F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7F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Frequency (GHz)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</a:rPr>
                        <a:t>Frequency (GHz)</a:t>
                      </a:r>
                      <a:endParaRPr lang="en-US" sz="800" dirty="0"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41306">
                <a:tc vMerge="1">
                  <a:txBody>
                    <a:bodyPr/>
                    <a:lstStyle/>
                    <a:p>
                      <a:pPr algn="ctr" fontAlgn="t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43720"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MSWSE-005-10S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3720"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MSWSE-005-15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503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3720"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MSWSE-010-15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503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3720"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MSWSE-010-15S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0402P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3720"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MSWSE-010-16S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0402P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3720"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MSWSE-020-05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503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3720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latin typeface="+mj-lt"/>
                          <a:cs typeface="Arial" pitchFamily="34" charset="0"/>
                        </a:rPr>
                        <a:t>MADP-010630-13920T</a:t>
                      </a:r>
                      <a:endParaRPr lang="en-US" sz="800" dirty="0">
                        <a:latin typeface="+mj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25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0.15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0.35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17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9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0805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3720"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MSWSE-020-10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503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3720">
                <a:tc>
                  <a:txBody>
                    <a:bodyPr/>
                    <a:lstStyle/>
                    <a:p>
                      <a:pPr marL="0" marR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latin typeface="+mj-lt"/>
                          <a:cs typeface="Arial" pitchFamily="34" charset="0"/>
                        </a:rPr>
                        <a:t>MADP-010631-13920T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40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0.05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0.08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7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0805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3720"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MSWSE-040-10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0805P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3720"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MSWSE-044-10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0805P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3720"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MSWSE-050-10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0805P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3720">
                <a:tc>
                  <a:txBody>
                    <a:bodyPr/>
                    <a:lstStyle/>
                    <a:p>
                      <a:pPr marL="0" marR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latin typeface="+mj-lt"/>
                          <a:cs typeface="Arial" pitchFamily="34" charset="0"/>
                        </a:rPr>
                        <a:t>MADP-010633-13920T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&gt;50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0.15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0.30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15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7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0805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3720"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MSWSE-050-17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0805P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3720"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MSWSER-070-10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3023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3720"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MSWSER-100-05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3023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836" y="2828796"/>
            <a:ext cx="1767933" cy="1160628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326341" y="4989107"/>
          <a:ext cx="5058133" cy="1553874"/>
        </p:xfrm>
        <a:graphic>
          <a:graphicData uri="http://schemas.openxmlformats.org/drawingml/2006/table">
            <a:tbl>
              <a:tblPr/>
              <a:tblGrid>
                <a:gridCol w="1163464"/>
                <a:gridCol w="347134"/>
                <a:gridCol w="533400"/>
                <a:gridCol w="311459"/>
                <a:gridCol w="450446"/>
                <a:gridCol w="450446"/>
                <a:gridCol w="450446"/>
                <a:gridCol w="450446"/>
                <a:gridCol w="450446"/>
                <a:gridCol w="450446"/>
              </a:tblGrid>
              <a:tr h="351558">
                <a:tc rowSpan="3"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Part</a:t>
                      </a:r>
                    </a:p>
                    <a:p>
                      <a:pPr algn="ctr" fontAlgn="t"/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Number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Rated</a:t>
                      </a:r>
                    </a:p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Power</a:t>
                      </a:r>
                    </a:p>
                    <a:p>
                      <a:pPr algn="ctr" fontAlgn="t"/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Max</a:t>
                      </a:r>
                    </a:p>
                    <a:p>
                      <a:pPr algn="ctr" fontAlgn="t"/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(W)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Frequency</a:t>
                      </a:r>
                    </a:p>
                    <a:p>
                      <a:pPr algn="ctr" fontAlgn="t"/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Maximum</a:t>
                      </a:r>
                    </a:p>
                    <a:p>
                      <a:pPr algn="ctr" fontAlgn="t"/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(GHz)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Insertion Loss</a:t>
                      </a:r>
                    </a:p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Typical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Isolation</a:t>
                      </a:r>
                    </a:p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Typical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Package*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</a:tr>
              <a:tr h="180066">
                <a:tc vMerge="1">
                  <a:txBody>
                    <a:bodyPr/>
                    <a:lstStyle/>
                    <a:p>
                      <a:pPr algn="ctr" fontAlgn="t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7F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7F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7F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Frequency (GHz)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</a:rPr>
                        <a:t>Frequency (GHz)</a:t>
                      </a:r>
                      <a:endParaRPr lang="en-US" sz="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80066">
                <a:tc vMerge="1">
                  <a:txBody>
                    <a:bodyPr/>
                    <a:lstStyle/>
                    <a:p>
                      <a:pPr algn="ctr" fontAlgn="t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80066"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MEST2G-010-20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66"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MEST2G-020-15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66"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MEST2G-050-45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2615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66"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MEST2G-050-80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2615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850"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MEST2G-010-20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3715" y="4423570"/>
            <a:ext cx="1676176" cy="113498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92475" y="4120381"/>
            <a:ext cx="1205906" cy="2286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92475" y="5731176"/>
            <a:ext cx="1205906" cy="762000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 fontAlgn="base"/>
            <a:r>
              <a:rPr lang="en-US" sz="2400" b="1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PIN DIODE SWITCH ELEMENT</a:t>
            </a:r>
            <a:endParaRPr lang="en-US" dirty="0" smtClean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212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246702" y="1842752"/>
          <a:ext cx="6770450" cy="3327722"/>
        </p:xfrm>
        <a:graphic>
          <a:graphicData uri="http://schemas.openxmlformats.org/drawingml/2006/table">
            <a:tbl>
              <a:tblPr/>
              <a:tblGrid>
                <a:gridCol w="1455986"/>
                <a:gridCol w="434848"/>
                <a:gridCol w="711520"/>
                <a:gridCol w="459578"/>
                <a:gridCol w="585549"/>
                <a:gridCol w="585549"/>
                <a:gridCol w="585549"/>
                <a:gridCol w="585549"/>
                <a:gridCol w="585549"/>
                <a:gridCol w="780773"/>
              </a:tblGrid>
              <a:tr h="536202">
                <a:tc rowSpan="3">
                  <a:txBody>
                    <a:bodyPr/>
                    <a:lstStyle/>
                    <a:p>
                      <a:pPr algn="ctr" fontAlgn="t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Part</a:t>
                      </a:r>
                    </a:p>
                    <a:p>
                      <a:pPr algn="ctr" fontAlgn="t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Number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t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Rated</a:t>
                      </a:r>
                    </a:p>
                    <a:p>
                      <a:pPr algn="ctr" fontAlgn="t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CW Power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ctr" fontAlgn="t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Max (W)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t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Frequency</a:t>
                      </a:r>
                    </a:p>
                    <a:p>
                      <a:pPr algn="ctr" fontAlgn="t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Maximum (GHz)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t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Insertion Loss</a:t>
                      </a:r>
                    </a:p>
                    <a:p>
                      <a:pPr algn="ctr" fontAlgn="t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Typical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t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Isolation</a:t>
                      </a:r>
                    </a:p>
                    <a:p>
                      <a:pPr algn="ctr" fontAlgn="t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Typical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t"/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Package*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</a:tr>
              <a:tr h="274640">
                <a:tc vMerge="1">
                  <a:txBody>
                    <a:bodyPr/>
                    <a:lstStyle/>
                    <a:p>
                      <a:pPr algn="ctr" fontAlgn="t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7F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7F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7F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t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Frequency (GHz)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</a:rPr>
                        <a:t>Frequency (GHz)</a:t>
                      </a:r>
                      <a:endParaRPr 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74640">
                <a:tc vMerge="1">
                  <a:txBody>
                    <a:bodyPr/>
                    <a:lstStyle/>
                    <a:p>
                      <a:pPr algn="ctr" fontAlgn="t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7464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MEST2G-025-10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25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CM32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64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MEST2G-080-25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CM27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64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MEST2G-100-20-CM33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16.5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CM33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64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MEST2G-150-10-CM30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15W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CM30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64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MEST2G-150-10-CM32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CM32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64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MEST2G-160-10-CM33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160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2.8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0.6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28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CM33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640">
                <a:tc>
                  <a:txBody>
                    <a:bodyPr/>
                    <a:lstStyle/>
                    <a:p>
                      <a:pPr algn="ctr" fontAlgn="t"/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AA"/>
                    </a:solidFill>
                  </a:tcPr>
                </a:tc>
              </a:tr>
              <a:tr h="31976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MADP-011037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&gt;125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16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3mm QFN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7328" y="5352247"/>
            <a:ext cx="1908414" cy="1274317"/>
          </a:xfrm>
          <a:prstGeom prst="rect">
            <a:avLst/>
          </a:prstGeom>
        </p:spPr>
      </p:pic>
      <p:sp>
        <p:nvSpPr>
          <p:cNvPr id="13" name="TextBox 84"/>
          <p:cNvSpPr txBox="1">
            <a:spLocks noChangeArrowheads="1"/>
          </p:cNvSpPr>
          <p:nvPr/>
        </p:nvSpPr>
        <p:spPr bwMode="auto">
          <a:xfrm>
            <a:off x="95862" y="1169738"/>
            <a:ext cx="7837903" cy="15050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Die mounted on thermally-conductive, electrically-insulating substrate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Very low thermal resistance for high-power handling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 smtClean="0"/>
          </a:p>
          <a:p>
            <a:pPr algn="l">
              <a:buFont typeface="Arial" pitchFamily="34" charset="0"/>
              <a:buChar char="•"/>
            </a:pPr>
            <a:endParaRPr lang="en-US" dirty="0" smtClean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5112" y="5210942"/>
            <a:ext cx="1498895" cy="141562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2115" y="5352247"/>
            <a:ext cx="1326481" cy="9377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95862" y="5820128"/>
            <a:ext cx="17242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CMxx Packages: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2984" y="5820128"/>
            <a:ext cx="17242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QFN Package: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 fontAlgn="base"/>
            <a:r>
              <a:rPr lang="en-US" sz="2400" b="1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PIN DIODE SWITCH ELEMENT</a:t>
            </a:r>
            <a:endParaRPr lang="en-US" dirty="0" smtClean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983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340661" y="3603810"/>
          <a:ext cx="8507503" cy="2648087"/>
        </p:xfrm>
        <a:graphic>
          <a:graphicData uri="http://schemas.openxmlformats.org/drawingml/2006/table">
            <a:tbl>
              <a:tblPr/>
              <a:tblGrid>
                <a:gridCol w="1688876"/>
                <a:gridCol w="757625"/>
                <a:gridCol w="920616"/>
                <a:gridCol w="594636"/>
                <a:gridCol w="757625"/>
                <a:gridCol w="757625"/>
                <a:gridCol w="757625"/>
                <a:gridCol w="757625"/>
                <a:gridCol w="757625"/>
                <a:gridCol w="757625"/>
              </a:tblGrid>
              <a:tr h="577508">
                <a:tc rowSpan="3">
                  <a:txBody>
                    <a:bodyPr/>
                    <a:lstStyle/>
                    <a:p>
                      <a:pPr algn="ctr" fontAlgn="t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Part</a:t>
                      </a:r>
                    </a:p>
                    <a:p>
                      <a:pPr algn="ctr" fontAlgn="t"/>
                      <a:r>
                        <a:rPr 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Number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t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Rated</a:t>
                      </a:r>
                    </a:p>
                    <a:p>
                      <a:pPr algn="ctr" fontAlgn="t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Power</a:t>
                      </a:r>
                    </a:p>
                    <a:p>
                      <a:pPr algn="ctr" fontAlgn="t"/>
                      <a:r>
                        <a:rPr 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Max</a:t>
                      </a:r>
                    </a:p>
                    <a:p>
                      <a:pPr algn="ctr" fontAlgn="t"/>
                      <a:r>
                        <a:rPr 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(W)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t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Frequency</a:t>
                      </a:r>
                    </a:p>
                    <a:p>
                      <a:pPr algn="ctr" fontAlgn="t"/>
                      <a:r>
                        <a:rPr 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Maximum</a:t>
                      </a:r>
                    </a:p>
                    <a:p>
                      <a:pPr algn="ctr" fontAlgn="t"/>
                      <a:r>
                        <a:rPr 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(GHz)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t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Insertion Loss</a:t>
                      </a:r>
                    </a:p>
                    <a:p>
                      <a:pPr algn="ctr" fontAlgn="t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Typical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t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Isolation</a:t>
                      </a:r>
                    </a:p>
                    <a:p>
                      <a:pPr algn="ctr" fontAlgn="t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Typical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t"/>
                      <a:r>
                        <a:rPr lang="en-US" sz="12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Package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</a:tr>
              <a:tr h="295797">
                <a:tc vMerge="1">
                  <a:txBody>
                    <a:bodyPr/>
                    <a:lstStyle/>
                    <a:p>
                      <a:pPr algn="ctr" fontAlgn="t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7F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7F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7F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t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Frequency (GHz)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Frequency (GHz)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95797">
                <a:tc vMerge="1">
                  <a:txBody>
                    <a:bodyPr/>
                    <a:lstStyle/>
                    <a:p>
                      <a:pPr algn="ctr" fontAlgn="t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9579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MSWSH-020-24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579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MSWSH-020-30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579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MSHSH-040-30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579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MSWSHC-040-40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2615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579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MSWSHB-020-30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0.13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84"/>
          <p:cNvSpPr txBox="1">
            <a:spLocks noChangeArrowheads="1"/>
          </p:cNvSpPr>
          <p:nvPr/>
        </p:nvSpPr>
        <p:spPr bwMode="auto">
          <a:xfrm>
            <a:off x="236807" y="1148054"/>
            <a:ext cx="8368929" cy="941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 smtClean="0"/>
              <a:t>Plastic Over-Mold Package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 smtClean="0"/>
              <a:t>Very Low Inductance Package for High Isolation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3355" y="2127593"/>
            <a:ext cx="2117917" cy="1314569"/>
          </a:xfrm>
          <a:prstGeom prst="rect">
            <a:avLst/>
          </a:prstGeom>
        </p:spPr>
      </p:pic>
      <p:pic>
        <p:nvPicPr>
          <p:cNvPr id="8" name="Picture 2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04484" y="2075615"/>
            <a:ext cx="1934536" cy="1314569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Shunt PIN Element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49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/>
          </p:cNvSpPr>
          <p:nvPr>
            <p:ph type="title" idx="4294967295"/>
          </p:nvPr>
        </p:nvSpPr>
        <p:spPr>
          <a:xfrm>
            <a:off x="109184" y="308265"/>
            <a:ext cx="6540500" cy="547688"/>
          </a:xfrm>
        </p:spPr>
        <p:txBody>
          <a:bodyPr/>
          <a:lstStyle/>
          <a:p>
            <a:r>
              <a:rPr lang="en-US" dirty="0"/>
              <a:t>HMIC</a:t>
            </a:r>
            <a:r>
              <a:rPr lang="en-US" baseline="42000" dirty="0"/>
              <a:t>TM</a:t>
            </a:r>
            <a:r>
              <a:rPr lang="en-US" dirty="0"/>
              <a:t> Discrete Diode Solution</a:t>
            </a:r>
          </a:p>
        </p:txBody>
      </p:sp>
      <p:sp>
        <p:nvSpPr>
          <p:cNvPr id="50454" name="Oval 1302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7535863" y="0"/>
            <a:ext cx="1608137" cy="903288"/>
          </a:xfrm>
          <a:prstGeom prst="ellipse">
            <a:avLst/>
          </a:prstGeom>
          <a:solidFill>
            <a:schemeClr val="bg1">
              <a:alpha val="0"/>
            </a:schemeClr>
          </a:soli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/>
          </p:nvPr>
        </p:nvGraphicFramePr>
        <p:xfrm>
          <a:off x="131978" y="1842004"/>
          <a:ext cx="8853522" cy="5044440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2700000">
                    <a:prstClr val="black">
                      <a:alpha val="50000"/>
                    </a:prstClr>
                  </a:innerShdw>
                </a:effectLst>
                <a:tableStyleId>{5C22544A-7EE6-4342-B048-85BDC9FD1C3A}</a:tableStyleId>
              </a:tblPr>
              <a:tblGrid>
                <a:gridCol w="1301635"/>
                <a:gridCol w="650817"/>
                <a:gridCol w="464869"/>
                <a:gridCol w="623347"/>
                <a:gridCol w="548640"/>
                <a:gridCol w="548640"/>
                <a:gridCol w="640080"/>
                <a:gridCol w="464869"/>
                <a:gridCol w="548640"/>
                <a:gridCol w="548640"/>
                <a:gridCol w="548640"/>
                <a:gridCol w="548640"/>
                <a:gridCol w="669130"/>
                <a:gridCol w="746935"/>
              </a:tblGrid>
              <a:tr h="221032">
                <a:tc rowSpan="2">
                  <a:txBody>
                    <a:bodyPr/>
                    <a:lstStyle/>
                    <a:p>
                      <a:pPr algn="ctr"/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Part Number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Size</a:t>
                      </a:r>
                    </a:p>
                    <a:p>
                      <a:pPr algn="ctr"/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(mils)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VB</a:t>
                      </a:r>
                    </a:p>
                    <a:p>
                      <a:pPr algn="ctr"/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(V)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aseline="0" dirty="0" smtClean="0"/>
                        <a:t>1 MHz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900" baseline="0" dirty="0" smtClean="0"/>
                        <a:t>100 MHz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aseline="0" dirty="0" smtClean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900" baseline="0" dirty="0" smtClean="0"/>
                        <a:t>1 GHz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aseline="0" dirty="0" smtClean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aseline="0" dirty="0" smtClean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Lifetime (ns)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Nominal 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I-region  (</a:t>
                      </a:r>
                      <a:r>
                        <a:rPr lang="en-US" sz="1000" b="1" dirty="0" smtClean="0">
                          <a:solidFill>
                            <a:schemeClr val="bg1"/>
                          </a:solidFill>
                          <a:sym typeface="Symbol"/>
                        </a:rPr>
                        <a:t>m)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42063">
                <a:tc vMerge="1"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Cj</a:t>
                      </a:r>
                    </a:p>
                    <a:p>
                      <a:pPr algn="ctr"/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40 V </a:t>
                      </a:r>
                    </a:p>
                    <a:p>
                      <a:pPr algn="ctr"/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(pF)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Rs</a:t>
                      </a:r>
                      <a:r>
                        <a:rPr lang="en-US" sz="1000" b="1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</a:p>
                    <a:p>
                      <a:pPr algn="ctr"/>
                      <a:r>
                        <a:rPr lang="en-US" sz="1000" b="1" baseline="0" dirty="0" smtClean="0">
                          <a:solidFill>
                            <a:schemeClr val="bg1"/>
                          </a:solidFill>
                        </a:rPr>
                        <a:t>10 mA</a:t>
                      </a:r>
                    </a:p>
                    <a:p>
                      <a:pPr algn="ctr"/>
                      <a:r>
                        <a:rPr lang="en-US" sz="1000" b="1" baseline="0" dirty="0" smtClean="0">
                          <a:solidFill>
                            <a:schemeClr val="bg1"/>
                          </a:solidFill>
                          <a:sym typeface="Symbol"/>
                        </a:rPr>
                        <a:t>()</a:t>
                      </a:r>
                      <a:endParaRPr lang="en-US" sz="1000" b="1" baseline="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Rs</a:t>
                      </a:r>
                      <a:r>
                        <a:rPr lang="en-US" sz="1000" b="1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</a:p>
                    <a:p>
                      <a:pPr algn="ctr"/>
                      <a:r>
                        <a:rPr lang="en-US" sz="1000" b="1" baseline="0" dirty="0" smtClean="0">
                          <a:solidFill>
                            <a:schemeClr val="bg1"/>
                          </a:solidFill>
                        </a:rPr>
                        <a:t>20 mA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baseline="0" dirty="0" smtClean="0">
                          <a:solidFill>
                            <a:schemeClr val="bg1"/>
                          </a:solidFill>
                          <a:sym typeface="Symbol"/>
                        </a:rPr>
                        <a:t>()</a:t>
                      </a:r>
                      <a:endParaRPr lang="en-US" sz="1000" b="1" baseline="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Rs</a:t>
                      </a:r>
                      <a:r>
                        <a:rPr lang="en-US" sz="1000" b="1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baseline="0" dirty="0" smtClean="0">
                          <a:solidFill>
                            <a:schemeClr val="bg1"/>
                          </a:solidFill>
                        </a:rPr>
                        <a:t>100 mA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baseline="0" dirty="0" smtClean="0">
                          <a:solidFill>
                            <a:schemeClr val="bg1"/>
                          </a:solidFill>
                          <a:sym typeface="Symbol"/>
                        </a:rPr>
                        <a:t>()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Cj</a:t>
                      </a:r>
                    </a:p>
                    <a:p>
                      <a:pPr algn="ctr"/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40 V </a:t>
                      </a:r>
                    </a:p>
                    <a:p>
                      <a:pPr algn="ctr"/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(pF)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Rs</a:t>
                      </a:r>
                      <a:r>
                        <a:rPr lang="en-US" sz="1000" b="1" baseline="0" dirty="0" smtClean="0">
                          <a:solidFill>
                            <a:schemeClr val="bg1"/>
                          </a:solidFill>
                        </a:rPr>
                        <a:t> 10 mA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baseline="0" dirty="0" smtClean="0">
                          <a:solidFill>
                            <a:schemeClr val="bg1"/>
                          </a:solidFill>
                          <a:sym typeface="Symbol"/>
                        </a:rPr>
                        <a:t>()</a:t>
                      </a:r>
                      <a:endParaRPr lang="en-US" sz="1000" b="1" baseline="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Rs</a:t>
                      </a:r>
                      <a:r>
                        <a:rPr lang="en-US" sz="1000" b="1" baseline="0" dirty="0" smtClean="0">
                          <a:solidFill>
                            <a:schemeClr val="bg1"/>
                          </a:solidFill>
                        </a:rPr>
                        <a:t> 20 mA </a:t>
                      </a:r>
                      <a:r>
                        <a:rPr lang="en-US" sz="1000" b="1" baseline="0" dirty="0" smtClean="0">
                          <a:solidFill>
                            <a:schemeClr val="bg1"/>
                          </a:solidFill>
                          <a:sym typeface="Symbol"/>
                        </a:rPr>
                        <a:t>()</a:t>
                      </a:r>
                      <a:endParaRPr lang="en-US" sz="1000" b="1" baseline="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Rs</a:t>
                      </a:r>
                      <a:r>
                        <a:rPr lang="en-US" sz="1000" b="1" baseline="0" dirty="0" smtClean="0">
                          <a:solidFill>
                            <a:schemeClr val="bg1"/>
                          </a:solidFill>
                        </a:rPr>
                        <a:t> 50 mA </a:t>
                      </a:r>
                      <a:r>
                        <a:rPr lang="en-US" sz="1000" b="1" baseline="0" dirty="0" smtClean="0">
                          <a:solidFill>
                            <a:schemeClr val="bg1"/>
                          </a:solidFill>
                          <a:sym typeface="Symbol"/>
                        </a:rPr>
                        <a:t>()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Rs</a:t>
                      </a:r>
                      <a:r>
                        <a:rPr lang="en-US" sz="1000" b="1" baseline="0" dirty="0" smtClean="0">
                          <a:solidFill>
                            <a:schemeClr val="bg1"/>
                          </a:solidFill>
                        </a:rPr>
                        <a:t> 70 mA </a:t>
                      </a:r>
                      <a:r>
                        <a:rPr lang="en-US" sz="1000" b="1" baseline="0" dirty="0" smtClean="0">
                          <a:solidFill>
                            <a:schemeClr val="bg1"/>
                          </a:solidFill>
                          <a:sym typeface="Symbol"/>
                        </a:rPr>
                        <a:t>()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MADP-042305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22 X 41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80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0.13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0.14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1.32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1.18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180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7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MADP-042405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22 X 41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80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0.57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0.58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0.62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0.58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255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7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MADP-042505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22 X 41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80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0.27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0.27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0.83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0.76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210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7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MADP-042905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22 X 41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80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0.06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0.06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3.14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2.6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140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7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MA4SPS302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23 X</a:t>
                      </a:r>
                      <a:r>
                        <a:rPr lang="en-US" sz="900" baseline="0" dirty="0" smtClean="0"/>
                        <a:t> 55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70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0.40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0.30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1.3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460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MA4SPS402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20 X 49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70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0.034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4.6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0.04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5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MADP-017015-1314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60 X 30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115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0.32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0.31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0.72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0.51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1300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15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MADP-030015-1314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60 X 30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115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0.79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0.78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0.49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0.38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1600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15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MADP-017025-1314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60 X 30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135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0.23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0.23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1.01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0.64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2300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25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MADP-030025-1314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60 X 30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135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0.50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0.50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0.65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0.45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2800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25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MA4SPS502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smtClean="0"/>
                        <a:t>23 X 57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smtClean="0"/>
                        <a:t>200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0.14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2.4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1.4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0.09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2800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50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MA4SPS552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smtClean="0"/>
                        <a:t>12 X 22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0.08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2.4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1.7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0.06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2500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50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MA4SPS421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smtClean="0"/>
                        <a:t>20 X 41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200</a:t>
                      </a:r>
                      <a:endParaRPr lang="en-US" sz="900" dirty="0"/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0.09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0.07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6.2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5000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MA4SPS422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smtClean="0"/>
                        <a:t>20 X 41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0.18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0.13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3.1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10000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MADP-042308-1306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smtClean="0"/>
                        <a:t>20 X 41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0.20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0.10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1.38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1.18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280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MADP-042408-1306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smtClean="0"/>
                        <a:t>20 X 41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0.50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0.37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0.67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0.61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380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MADP-042508-1306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smtClean="0"/>
                        <a:t>20 X 41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0.30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0.18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0.97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0.87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310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MADP-042908-1306 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smtClean="0"/>
                        <a:t>20 X 41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0.15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0.05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3.63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3.02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230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43731" y="1168446"/>
            <a:ext cx="4419921" cy="11172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 smtClean="0"/>
              <a:t>Surmount PIN diodes</a:t>
            </a:r>
          </a:p>
          <a:p>
            <a:pPr algn="l"/>
            <a:r>
              <a:rPr lang="en-US" dirty="0" smtClean="0"/>
              <a:t>Available I-region Thickness: 7 to 100 µm</a:t>
            </a:r>
          </a:p>
          <a:p>
            <a:pPr algn="l"/>
            <a:endParaRPr lang="en-US" dirty="0" smtClean="0"/>
          </a:p>
        </p:txBody>
      </p:sp>
      <p:pic>
        <p:nvPicPr>
          <p:cNvPr id="17" name="Picture 130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1630498">
            <a:off x="7407028" y="1309177"/>
            <a:ext cx="837825" cy="322343"/>
          </a:xfrm>
          <a:prstGeom prst="rect">
            <a:avLst/>
          </a:prstGeom>
          <a:noFill/>
          <a:ln w="9525" algn="ctr">
            <a:pattFill prst="pct25">
              <a:fgClr>
                <a:schemeClr val="tx1"/>
              </a:fgClr>
              <a:bgClr>
                <a:schemeClr val="accent1"/>
              </a:bgClr>
            </a:pattFill>
            <a:miter lim="800000"/>
            <a:headEnd/>
            <a:tailEnd/>
          </a:ln>
          <a:effectLst/>
        </p:spPr>
      </p:pic>
      <p:pic>
        <p:nvPicPr>
          <p:cNvPr id="18" name="Picture 130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8316774">
            <a:off x="5317589" y="1272855"/>
            <a:ext cx="744977" cy="286621"/>
          </a:xfrm>
          <a:prstGeom prst="rect">
            <a:avLst/>
          </a:prstGeom>
          <a:noFill/>
          <a:ln w="9525" algn="ctr">
            <a:pattFill prst="pct25">
              <a:fgClr>
                <a:schemeClr val="tx1"/>
              </a:fgClr>
              <a:bgClr>
                <a:schemeClr val="accent1"/>
              </a:bgClr>
            </a:pattFill>
            <a:miter lim="800000"/>
            <a:headEnd/>
            <a:tailEnd/>
          </a:ln>
          <a:effectLst/>
        </p:spPr>
      </p:pic>
      <p:pic>
        <p:nvPicPr>
          <p:cNvPr id="19" name="Picture 130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2389760">
            <a:off x="6319283" y="1225957"/>
            <a:ext cx="806358" cy="310236"/>
          </a:xfrm>
          <a:prstGeom prst="rect">
            <a:avLst/>
          </a:prstGeom>
          <a:noFill/>
          <a:ln w="9525" algn="ctr">
            <a:pattFill prst="pct25">
              <a:fgClr>
                <a:schemeClr val="tx1"/>
              </a:fgClr>
              <a:bgClr>
                <a:schemeClr val="accent1"/>
              </a:bgClr>
            </a:patt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223885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240" y="183932"/>
            <a:ext cx="6061075" cy="363537"/>
          </a:xfrm>
        </p:spPr>
        <p:txBody>
          <a:bodyPr lIns="91440" tIns="45720" rIns="91440" bIns="45720" anchor="b">
            <a:noAutofit/>
          </a:bodyPr>
          <a:lstStyle/>
          <a:p>
            <a:r>
              <a:rPr lang="en-US" dirty="0" smtClean="0"/>
              <a:t>Discrete Diodes – Limiters</a:t>
            </a:r>
            <a:endParaRPr lang="en-US" dirty="0"/>
          </a:p>
        </p:txBody>
      </p:sp>
      <p:sp>
        <p:nvSpPr>
          <p:cNvPr id="187399" name="Rectangle 6"/>
          <p:cNvSpPr>
            <a:spLocks noChangeArrowheads="1"/>
          </p:cNvSpPr>
          <p:nvPr/>
        </p:nvSpPr>
        <p:spPr bwMode="auto">
          <a:xfrm>
            <a:off x="213403" y="1221000"/>
            <a:ext cx="8503214" cy="116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1400" b="1" dirty="0" smtClean="0">
                <a:ea typeface="굴림" pitchFamily="34" charset="-127"/>
              </a:rPr>
              <a:t> Die Versions (to 20 GHz)</a:t>
            </a:r>
          </a:p>
          <a:p>
            <a:pPr marL="0" lvl="1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1400" b="1" dirty="0" smtClean="0">
                <a:ea typeface="굴림" pitchFamily="34" charset="-127"/>
              </a:rPr>
              <a:t> Available in Ceramic &amp; Plastic Packages  (up to 12 GHz)</a:t>
            </a:r>
          </a:p>
          <a:p>
            <a:pPr marL="0" lvl="1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1400" b="1" dirty="0" smtClean="0">
                <a:ea typeface="굴림" pitchFamily="34" charset="-127"/>
              </a:rPr>
              <a:t> </a:t>
            </a:r>
            <a:r>
              <a:rPr lang="en-US" altLang="ko-KR" sz="1400" b="1" dirty="0">
                <a:ea typeface="굴림" pitchFamily="34" charset="-127"/>
              </a:rPr>
              <a:t>Low </a:t>
            </a:r>
            <a:r>
              <a:rPr lang="en-US" altLang="ko-KR" sz="1400" b="1" dirty="0" smtClean="0">
                <a:ea typeface="굴림" pitchFamily="34" charset="-127"/>
              </a:rPr>
              <a:t>Capacitance</a:t>
            </a:r>
            <a:endParaRPr lang="en-US" altLang="ko-KR" sz="1400" b="1" dirty="0">
              <a:ea typeface="굴림" pitchFamily="34" charset="-127"/>
            </a:endParaRPr>
          </a:p>
          <a:p>
            <a:pPr marL="0" lvl="1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1400" b="1" dirty="0">
                <a:ea typeface="굴림" pitchFamily="34" charset="-127"/>
              </a:rPr>
              <a:t> </a:t>
            </a:r>
            <a:r>
              <a:rPr lang="en-US" altLang="ko-KR" sz="1400" b="1" dirty="0" smtClean="0">
                <a:ea typeface="굴림" pitchFamily="34" charset="-127"/>
              </a:rPr>
              <a:t>Cascadable for Increased </a:t>
            </a:r>
            <a:r>
              <a:rPr lang="en-US" altLang="ko-KR" sz="1400" b="1" dirty="0">
                <a:ea typeface="굴림" pitchFamily="34" charset="-127"/>
              </a:rPr>
              <a:t>Power Handling and </a:t>
            </a:r>
            <a:r>
              <a:rPr lang="en-US" altLang="ko-KR" sz="1400" b="1" dirty="0" smtClean="0">
                <a:ea typeface="굴림" pitchFamily="34" charset="-127"/>
              </a:rPr>
              <a:t>Limiting</a:t>
            </a:r>
          </a:p>
          <a:p>
            <a:pPr marL="0" lvl="1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1400" b="1" dirty="0" smtClean="0">
                <a:ea typeface="굴림" pitchFamily="34" charset="-127"/>
              </a:rPr>
              <a:t> Au-doped and non-Au-doped diodes available to optimize recovery time and flat leakage power</a:t>
            </a:r>
            <a:endParaRPr lang="en-US" altLang="ko-KR" sz="1400" b="1" dirty="0">
              <a:ea typeface="굴림" pitchFamily="34" charset="-127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317577" y="2450094"/>
          <a:ext cx="7968342" cy="4164263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2700000">
                    <a:prstClr val="black">
                      <a:alpha val="50000"/>
                    </a:prstClr>
                  </a:innerShdw>
                </a:effectLst>
                <a:tableStyleId>{5C22544A-7EE6-4342-B048-85BDC9FD1C3A}</a:tableStyleId>
              </a:tblPr>
              <a:tblGrid>
                <a:gridCol w="1371202"/>
                <a:gridCol w="489645"/>
                <a:gridCol w="484094"/>
                <a:gridCol w="788894"/>
                <a:gridCol w="749395"/>
                <a:gridCol w="712519"/>
                <a:gridCol w="795647"/>
                <a:gridCol w="866899"/>
                <a:gridCol w="819397"/>
                <a:gridCol w="890650"/>
              </a:tblGrid>
              <a:tr h="397604">
                <a:tc rowSpan="3"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Part Number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Min</a:t>
                      </a:r>
                    </a:p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V</a:t>
                      </a:r>
                      <a:r>
                        <a:rPr lang="en-US" sz="1050" b="1" baseline="-25000" dirty="0" smtClean="0">
                          <a:solidFill>
                            <a:schemeClr val="bg1"/>
                          </a:solidFill>
                        </a:rPr>
                        <a:t>B</a:t>
                      </a:r>
                      <a:endParaRPr lang="en-US" sz="1050" b="1" baseline="-25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Max</a:t>
                      </a:r>
                    </a:p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 V</a:t>
                      </a:r>
                      <a:r>
                        <a:rPr lang="en-US" sz="1050" b="1" baseline="-25000" dirty="0" smtClean="0">
                          <a:solidFill>
                            <a:schemeClr val="bg1"/>
                          </a:solidFill>
                        </a:rPr>
                        <a:t>B</a:t>
                      </a:r>
                      <a:endParaRPr lang="en-US" sz="1050" b="1" baseline="-25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Min       C</a:t>
                      </a:r>
                      <a:r>
                        <a:rPr lang="en-US" sz="1050" b="1" baseline="-25000" dirty="0" smtClean="0">
                          <a:solidFill>
                            <a:schemeClr val="bg1"/>
                          </a:solidFill>
                        </a:rPr>
                        <a:t>j</a:t>
                      </a:r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 @ 0 V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Max       C</a:t>
                      </a:r>
                      <a:r>
                        <a:rPr lang="en-US" sz="1050" b="1" baseline="-25000" dirty="0" smtClean="0">
                          <a:solidFill>
                            <a:schemeClr val="bg1"/>
                          </a:solidFill>
                        </a:rPr>
                        <a:t>j</a:t>
                      </a:r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 @ 0 V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Max</a:t>
                      </a:r>
                      <a:r>
                        <a:rPr lang="en-US" sz="1050" b="1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</a:p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Rs</a:t>
                      </a:r>
                    </a:p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@ 10 mA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050" b="1" dirty="0" smtClean="0"/>
                        <a:t>Nominal Characteristics</a:t>
                      </a:r>
                      <a:endParaRPr lang="en-US" sz="1050" b="1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</a:tr>
              <a:tr h="36308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Carrier Lifetime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Intrinsic</a:t>
                      </a:r>
                    </a:p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Region Thickness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Contact Diameter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Thermal Resistance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</a:tr>
              <a:tr h="265062">
                <a:tc vMerge="1"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V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V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pF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pF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  <a:sym typeface="Symbol"/>
                        </a:rPr>
                        <a:t>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  <a:sym typeface="Symbol"/>
                        </a:rPr>
                        <a:t>ns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  <a:sym typeface="Symbol"/>
                        </a:rPr>
                        <a:t>m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mils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ºC/W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</a:tr>
              <a:tr h="235317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MA4L011-134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0.08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0.18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2.10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1.2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175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32367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MA4L021-134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0.10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0.20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2.10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1.2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175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720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MA4L022-134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0.09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0.19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2.00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1.2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175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720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MADL-011009-0134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0.16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0.23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1.50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3.0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175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720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MA4L031-134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50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0.14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0.21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2.00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1.4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150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47857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MA4L032-134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50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0.13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0.20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2.50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1.5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150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720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MADL-011010-0134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50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0.17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0.24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1.50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3.0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150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720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MA4L062-134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60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75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0.07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0.15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2.50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4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1.5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150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720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MADL-011011-0134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60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75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0.05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0.17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2.30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4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3.0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150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720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MA4L101-134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100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0.15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2.00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90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13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3.5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32242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MADL-000301-0134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200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0.20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1.50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200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3.0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7095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MA4L401-134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250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0.30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1.20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800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4.5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7278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30888"/>
            <a:ext cx="7719392" cy="533400"/>
          </a:xfrm>
        </p:spPr>
        <p:txBody>
          <a:bodyPr>
            <a:normAutofit fontScale="90000"/>
          </a:bodyPr>
          <a:lstStyle/>
          <a:p>
            <a:r>
              <a:rPr lang="en-US" sz="2200" dirty="0" smtClean="0"/>
              <a:t>HMIC and </a:t>
            </a:r>
            <a:r>
              <a:rPr lang="en-US" sz="2200" dirty="0" err="1" smtClean="0"/>
              <a:t>AlGaAs</a:t>
            </a:r>
            <a:r>
              <a:rPr lang="en-US" sz="2200" dirty="0" smtClean="0"/>
              <a:t> MMIC Performance Comparison </a:t>
            </a:r>
            <a:r>
              <a:rPr lang="en-US" dirty="0"/>
              <a:t>		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104775" y="1019173"/>
          <a:ext cx="8963024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4750"/>
                <a:gridCol w="2752725"/>
                <a:gridCol w="2495549"/>
              </a:tblGrid>
              <a:tr h="351009">
                <a:tc>
                  <a:txBody>
                    <a:bodyPr/>
                    <a:lstStyle/>
                    <a:p>
                      <a:r>
                        <a:rPr lang="en-US" dirty="0" smtClean="0"/>
                        <a:t>Parameter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HMIC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AlGaAs</a:t>
                      </a:r>
                      <a:endParaRPr lang="en-US" dirty="0"/>
                    </a:p>
                  </a:txBody>
                  <a:tcPr/>
                </a:tc>
              </a:tr>
              <a:tr h="614265">
                <a:tc>
                  <a:txBody>
                    <a:bodyPr/>
                    <a:lstStyle/>
                    <a:p>
                      <a:r>
                        <a:rPr lang="en-US" dirty="0" smtClean="0"/>
                        <a:t>Products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Switches, Attenuators, Limiters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Switches</a:t>
                      </a:r>
                      <a:endParaRPr lang="en-US" dirty="0"/>
                    </a:p>
                  </a:txBody>
                  <a:tcPr/>
                </a:tc>
              </a:tr>
              <a:tr h="351009">
                <a:tc>
                  <a:txBody>
                    <a:bodyPr/>
                    <a:lstStyle/>
                    <a:p>
                      <a:r>
                        <a:rPr lang="en-US" dirty="0" smtClean="0"/>
                        <a:t>Medium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Silicon and Glass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Semi-Insulating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GaAs</a:t>
                      </a:r>
                      <a:endParaRPr lang="en-US" dirty="0"/>
                    </a:p>
                  </a:txBody>
                  <a:tcPr/>
                </a:tc>
              </a:tr>
              <a:tr h="351009">
                <a:tc>
                  <a:txBody>
                    <a:bodyPr/>
                    <a:lstStyle/>
                    <a:p>
                      <a:r>
                        <a:rPr lang="en-US" dirty="0" smtClean="0"/>
                        <a:t>Die Thickness (um)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</a:t>
                      </a:r>
                      <a:endParaRPr lang="en-US" dirty="0"/>
                    </a:p>
                  </a:txBody>
                  <a:tcPr/>
                </a:tc>
              </a:tr>
              <a:tr h="351009">
                <a:tc>
                  <a:txBody>
                    <a:bodyPr/>
                    <a:lstStyle/>
                    <a:p>
                      <a:r>
                        <a:rPr lang="en-US" dirty="0" smtClean="0"/>
                        <a:t>Intrinsic Length (um)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 to 100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  <a:tr h="351009">
                <a:tc>
                  <a:txBody>
                    <a:bodyPr/>
                    <a:lstStyle/>
                    <a:p>
                      <a:r>
                        <a:rPr lang="en-US" dirty="0" smtClean="0"/>
                        <a:t>I/O</a:t>
                      </a:r>
                      <a:r>
                        <a:rPr lang="en-US" baseline="0" dirty="0" smtClean="0"/>
                        <a:t> Connections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Wire Bondable and SMT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Wire Bondable Only</a:t>
                      </a:r>
                      <a:endParaRPr lang="en-US" dirty="0"/>
                    </a:p>
                  </a:txBody>
                  <a:tcPr/>
                </a:tc>
              </a:tr>
              <a:tr h="351009">
                <a:tc>
                  <a:txBody>
                    <a:bodyPr/>
                    <a:lstStyle/>
                    <a:p>
                      <a:r>
                        <a:rPr lang="en-US" dirty="0" smtClean="0"/>
                        <a:t>Passive R,L,C Integration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</a:tr>
              <a:tr h="351009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Breakdown Voltage (V)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 to 200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70</a:t>
                      </a:r>
                      <a:endParaRPr lang="en-US" dirty="0"/>
                    </a:p>
                  </a:txBody>
                  <a:tcPr/>
                </a:tc>
              </a:tr>
              <a:tr h="351009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F </a:t>
                      </a:r>
                      <a:r>
                        <a:rPr lang="en-US" baseline="0" dirty="0" smtClean="0"/>
                        <a:t>(GHz)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0.050 - 30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0.050 - 70</a:t>
                      </a:r>
                      <a:endParaRPr lang="en-US" dirty="0"/>
                    </a:p>
                  </a:txBody>
                  <a:tcPr/>
                </a:tc>
              </a:tr>
              <a:tr h="351009">
                <a:tc>
                  <a:txBody>
                    <a:bodyPr/>
                    <a:lstStyle/>
                    <a:p>
                      <a:r>
                        <a:rPr lang="en-US" dirty="0" smtClean="0"/>
                        <a:t>Insertion Loss at 10 GHz (SP4T)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0.45</a:t>
                      </a:r>
                      <a:endParaRPr lang="en-US" dirty="0"/>
                    </a:p>
                  </a:txBody>
                  <a:tcPr/>
                </a:tc>
              </a:tr>
              <a:tr h="351009">
                <a:tc>
                  <a:txBody>
                    <a:bodyPr/>
                    <a:lstStyle/>
                    <a:p>
                      <a:r>
                        <a:rPr lang="en-US" dirty="0" smtClean="0"/>
                        <a:t>Switching Speed (ns)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</a:tr>
              <a:tr h="351009">
                <a:tc>
                  <a:txBody>
                    <a:bodyPr/>
                    <a:lstStyle/>
                    <a:p>
                      <a:r>
                        <a:rPr lang="en-US" dirty="0" smtClean="0"/>
                        <a:t>IIP3 (</a:t>
                      </a:r>
                      <a:r>
                        <a:rPr lang="en-US" dirty="0" err="1" smtClean="0"/>
                        <a:t>dBm</a:t>
                      </a:r>
                      <a:r>
                        <a:rPr lang="en-US" dirty="0" smtClean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</a:tr>
              <a:tr h="515743">
                <a:tc>
                  <a:txBody>
                    <a:bodyPr/>
                    <a:lstStyle/>
                    <a:p>
                      <a:r>
                        <a:rPr lang="en-US" dirty="0" smtClean="0"/>
                        <a:t>CW Power Handling, @ 2 GHz (dBm)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+38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+23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5485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/>
          </p:nvPr>
        </p:nvGraphicFramePr>
        <p:xfrm>
          <a:off x="315913" y="974725"/>
          <a:ext cx="8229600" cy="5124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411756" name="Group 108"/>
          <p:cNvGraphicFramePr>
            <a:graphicFrameLocks noGrp="1"/>
          </p:cNvGraphicFramePr>
          <p:nvPr>
            <p:extLst/>
          </p:nvPr>
        </p:nvGraphicFramePr>
        <p:xfrm>
          <a:off x="611030" y="1206631"/>
          <a:ext cx="7863840" cy="4211872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2700000">
                    <a:prstClr val="black">
                      <a:alpha val="50000"/>
                    </a:prstClr>
                  </a:innerShdw>
                </a:effectLst>
                <a:tableStyleId>{3C2FFA5D-87B4-456A-9821-1D502468CF0F}</a:tableStyleId>
              </a:tblPr>
              <a:tblGrid>
                <a:gridCol w="914400"/>
                <a:gridCol w="1005840"/>
                <a:gridCol w="914400"/>
                <a:gridCol w="822960"/>
                <a:gridCol w="640080"/>
                <a:gridCol w="1005840"/>
                <a:gridCol w="548640"/>
                <a:gridCol w="1188720"/>
                <a:gridCol w="822960"/>
              </a:tblGrid>
              <a:tr h="7600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Topology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Frequency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(GHz)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Insertion Loss (dB)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Isolation (dB)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P</a:t>
                      </a:r>
                      <a:r>
                        <a:rPr kumimoji="0" lang="en-US" sz="1200" u="none" strike="noStrike" cap="none" normalizeH="0" baseline="-25000" dirty="0" smtClean="0">
                          <a:ln>
                            <a:noFill/>
                          </a:ln>
                          <a:effectLst/>
                        </a:rPr>
                        <a:t>1dB</a:t>
                      </a:r>
                      <a:r>
                        <a:rPr kumimoji="0" 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(dBm)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Reflective or Absorptive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Bias (mA)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Part Number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Package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SPST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0.05 - 18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 – 50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0.3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46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Reflective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MA4AGSW1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DIE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SPST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10-50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1.2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23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Absorptive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MA4AGSW1A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DIE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SP2T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0.05 - 18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 – 50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0.7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33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Reflective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MA4AGSW2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DIE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SP3T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0.05 - 18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 – 50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0.8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31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Reflective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MA4AGSW3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DIE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SP4T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0.05 - 18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 – 50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1.0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32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Reflective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MA4AGSW4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DIE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SP5T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0.05 - 18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 – 50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1.4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1.9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Reflective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MA4AGSW5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DIE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SP8T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0.05 - 18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18 - 50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1.5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2.0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32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Reflective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MA4AGSW8-1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DIE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11757" name="Rectangle 109"/>
          <p:cNvSpPr>
            <a:spLocks noGrp="1"/>
          </p:cNvSpPr>
          <p:nvPr>
            <p:ph type="title" idx="4294967295"/>
          </p:nvPr>
        </p:nvSpPr>
        <p:spPr>
          <a:xfrm>
            <a:off x="284377" y="355357"/>
            <a:ext cx="5481638" cy="457200"/>
          </a:xfrm>
        </p:spPr>
        <p:txBody>
          <a:bodyPr>
            <a:noAutofit/>
          </a:bodyPr>
          <a:lstStyle/>
          <a:p>
            <a:r>
              <a:rPr lang="en-US" sz="3200" dirty="0"/>
              <a:t>AlGaAs </a:t>
            </a:r>
            <a:r>
              <a:rPr lang="en-US" sz="3200" dirty="0" smtClean="0"/>
              <a:t>Products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94975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757" name="Rectangle 109"/>
          <p:cNvSpPr>
            <a:spLocks noGrp="1"/>
          </p:cNvSpPr>
          <p:nvPr>
            <p:ph type="title" idx="4294967295"/>
          </p:nvPr>
        </p:nvSpPr>
        <p:spPr>
          <a:xfrm>
            <a:off x="117569" y="47118"/>
            <a:ext cx="6489568" cy="457200"/>
          </a:xfrm>
        </p:spPr>
        <p:txBody>
          <a:bodyPr>
            <a:noAutofit/>
          </a:bodyPr>
          <a:lstStyle/>
          <a:p>
            <a:r>
              <a:rPr lang="en-US" sz="2400" dirty="0" smtClean="0"/>
              <a:t>MASW-011036 </a:t>
            </a:r>
            <a:br>
              <a:rPr lang="en-US" sz="2400" dirty="0" smtClean="0"/>
            </a:br>
            <a:r>
              <a:rPr lang="en-US" sz="2400" dirty="0" smtClean="0"/>
              <a:t>Ka-Band </a:t>
            </a:r>
            <a:r>
              <a:rPr lang="en-US" sz="2400" dirty="0"/>
              <a:t>High Power </a:t>
            </a:r>
            <a:r>
              <a:rPr lang="en-US" sz="2400" dirty="0" smtClean="0"/>
              <a:t>Terminated AlGaAs SPDT </a:t>
            </a:r>
            <a:r>
              <a:rPr lang="en-US" sz="2400" dirty="0"/>
              <a:t>PIN </a:t>
            </a:r>
            <a:r>
              <a:rPr lang="en-US" sz="2400" dirty="0" smtClean="0"/>
              <a:t>Switch</a:t>
            </a:r>
            <a:endParaRPr lang="en-US" sz="2400" dirty="0"/>
          </a:p>
        </p:txBody>
      </p:sp>
      <p:sp>
        <p:nvSpPr>
          <p:cNvPr id="22" name="Rectangle 21"/>
          <p:cNvSpPr/>
          <p:nvPr/>
        </p:nvSpPr>
        <p:spPr>
          <a:xfrm>
            <a:off x="248854" y="1132755"/>
            <a:ext cx="4572000" cy="179433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Broadband Performance: </a:t>
            </a:r>
            <a:r>
              <a:rPr lang="en-US" sz="1400" dirty="0"/>
              <a:t>26 to 40 GHz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Low </a:t>
            </a:r>
            <a:r>
              <a:rPr lang="en-US" sz="1400" dirty="0"/>
              <a:t>Loss &lt;1 </a:t>
            </a:r>
            <a:r>
              <a:rPr lang="en-US" sz="1400" dirty="0" smtClean="0"/>
              <a:t>dB; High </a:t>
            </a:r>
            <a:r>
              <a:rPr lang="en-US" sz="1400" dirty="0"/>
              <a:t>Isolation &gt;38 dB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Up </a:t>
            </a:r>
            <a:r>
              <a:rPr lang="en-US" sz="1400" dirty="0"/>
              <a:t>to 13 W CW Power, </a:t>
            </a:r>
            <a:r>
              <a:rPr lang="en-US" sz="1400" dirty="0" smtClean="0"/>
              <a:t>85 °</a:t>
            </a:r>
            <a:r>
              <a:rPr lang="en-US" sz="1400" dirty="0"/>
              <a:t>C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Die </a:t>
            </a:r>
            <a:r>
              <a:rPr lang="en-US" sz="1400" dirty="0"/>
              <a:t>with </a:t>
            </a:r>
            <a:r>
              <a:rPr lang="en-US" sz="1400" dirty="0" smtClean="0"/>
              <a:t>G-S-G </a:t>
            </a:r>
            <a:r>
              <a:rPr lang="en-US" sz="1400" dirty="0"/>
              <a:t>RF Pads and DC Bias Pads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Includes </a:t>
            </a:r>
            <a:r>
              <a:rPr lang="en-US" sz="1400" dirty="0"/>
              <a:t>DC Blocks and RF Bias Networks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23 </a:t>
            </a:r>
            <a:r>
              <a:rPr lang="en-US" sz="1400" dirty="0"/>
              <a:t>dBm power handling in terminated port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214" y="1755452"/>
            <a:ext cx="1900237" cy="762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3926" y="1246247"/>
            <a:ext cx="1835884" cy="15179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925" y="2872327"/>
            <a:ext cx="4973525" cy="342477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104" y="3259974"/>
            <a:ext cx="2010765" cy="155189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3740" y="4731026"/>
            <a:ext cx="2193972" cy="169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124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757" name="Rectangle 109"/>
          <p:cNvSpPr>
            <a:spLocks noGrp="1"/>
          </p:cNvSpPr>
          <p:nvPr>
            <p:ph type="title" idx="4294967295"/>
          </p:nvPr>
        </p:nvSpPr>
        <p:spPr>
          <a:xfrm>
            <a:off x="117569" y="-12517"/>
            <a:ext cx="6489568" cy="457200"/>
          </a:xfrm>
        </p:spPr>
        <p:txBody>
          <a:bodyPr>
            <a:noAutofit/>
          </a:bodyPr>
          <a:lstStyle/>
          <a:p>
            <a:r>
              <a:rPr lang="en-US" sz="2400" dirty="0" smtClean="0"/>
              <a:t>MASW-010646 </a:t>
            </a:r>
            <a:br>
              <a:rPr lang="en-US" sz="2400" dirty="0" smtClean="0"/>
            </a:br>
            <a:r>
              <a:rPr lang="en-US" sz="2400" dirty="0" smtClean="0"/>
              <a:t>Ka-Band </a:t>
            </a:r>
            <a:r>
              <a:rPr lang="en-US" sz="2400" dirty="0"/>
              <a:t>High Power Reflective </a:t>
            </a:r>
            <a:r>
              <a:rPr lang="en-US" sz="2400" dirty="0" smtClean="0"/>
              <a:t>AlGaAs SPDT </a:t>
            </a:r>
            <a:r>
              <a:rPr lang="en-US" sz="2400" dirty="0"/>
              <a:t>PIN </a:t>
            </a:r>
            <a:r>
              <a:rPr lang="en-US" sz="2400" dirty="0" smtClean="0"/>
              <a:t>Switch</a:t>
            </a:r>
            <a:endParaRPr lang="en-US" sz="2400" dirty="0"/>
          </a:p>
        </p:txBody>
      </p:sp>
      <p:sp>
        <p:nvSpPr>
          <p:cNvPr id="22" name="Rectangle 21"/>
          <p:cNvSpPr/>
          <p:nvPr/>
        </p:nvSpPr>
        <p:spPr>
          <a:xfrm>
            <a:off x="248853" y="1142694"/>
            <a:ext cx="4170771" cy="17943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</a:rPr>
              <a:t>Broadband Performance: </a:t>
            </a:r>
            <a:r>
              <a:rPr lang="en-US" sz="1400" dirty="0">
                <a:latin typeface="Arial" panose="020B0604020202020204" pitchFamily="34" charset="0"/>
              </a:rPr>
              <a:t>26 to 40 GHz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</a:rPr>
              <a:t>Low </a:t>
            </a:r>
            <a:r>
              <a:rPr lang="en-US" sz="1400" dirty="0">
                <a:latin typeface="Arial" panose="020B0604020202020204" pitchFamily="34" charset="0"/>
              </a:rPr>
              <a:t>Loss: 0.6 dB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</a:rPr>
              <a:t>High </a:t>
            </a:r>
            <a:r>
              <a:rPr lang="en-US" sz="1400" dirty="0">
                <a:latin typeface="Arial" panose="020B0604020202020204" pitchFamily="34" charset="0"/>
              </a:rPr>
              <a:t>Isolation: 32 dB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</a:rPr>
              <a:t>Up </a:t>
            </a:r>
            <a:r>
              <a:rPr lang="en-US" sz="1400" dirty="0">
                <a:latin typeface="Arial" panose="020B0604020202020204" pitchFamily="34" charset="0"/>
              </a:rPr>
              <a:t>to 13 W CW Power, </a:t>
            </a:r>
            <a:r>
              <a:rPr lang="en-US" sz="1400" dirty="0" smtClean="0">
                <a:latin typeface="Arial" panose="020B0604020202020204" pitchFamily="34" charset="0"/>
              </a:rPr>
              <a:t>85 °</a:t>
            </a:r>
            <a:r>
              <a:rPr lang="en-US" sz="1400" dirty="0">
                <a:latin typeface="Arial" panose="020B0604020202020204" pitchFamily="34" charset="0"/>
              </a:rPr>
              <a:t>C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</a:rPr>
              <a:t>Die </a:t>
            </a:r>
            <a:r>
              <a:rPr lang="en-US" sz="1400" dirty="0">
                <a:latin typeface="Arial" panose="020B0604020202020204" pitchFamily="34" charset="0"/>
              </a:rPr>
              <a:t>with </a:t>
            </a:r>
            <a:r>
              <a:rPr lang="en-US" sz="1400" dirty="0" smtClean="0">
                <a:latin typeface="Arial" panose="020B0604020202020204" pitchFamily="34" charset="0"/>
              </a:rPr>
              <a:t>G-S-G </a:t>
            </a:r>
            <a:r>
              <a:rPr lang="en-US" sz="1400" dirty="0">
                <a:latin typeface="Arial" panose="020B0604020202020204" pitchFamily="34" charset="0"/>
              </a:rPr>
              <a:t>RF Pads and DC Bias Pads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</a:rPr>
              <a:t>Includes </a:t>
            </a:r>
            <a:r>
              <a:rPr lang="en-US" sz="1400" dirty="0">
                <a:latin typeface="Arial" panose="020B0604020202020204" pitchFamily="34" charset="0"/>
              </a:rPr>
              <a:t>DC Blocks and RF Bias Networks</a:t>
            </a:r>
            <a:endParaRPr lang="en-US" sz="1400" dirty="0">
              <a:effectLst/>
              <a:latin typeface="Arial" panose="020B0604020202020204" pitchFamily="34" charset="0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7530" y="2594113"/>
            <a:ext cx="2392133" cy="1857849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7590" y="4665689"/>
            <a:ext cx="2524047" cy="1988252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7084" y="1311118"/>
            <a:ext cx="1845497" cy="920248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905" y="2982977"/>
            <a:ext cx="5175576" cy="3875339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0041" y="1210789"/>
            <a:ext cx="1869623" cy="1223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094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757" name="Rectangle 109"/>
          <p:cNvSpPr>
            <a:spLocks noGrp="1"/>
          </p:cNvSpPr>
          <p:nvPr>
            <p:ph type="title" idx="4294967295"/>
          </p:nvPr>
        </p:nvSpPr>
        <p:spPr>
          <a:xfrm>
            <a:off x="95535" y="326977"/>
            <a:ext cx="7368751" cy="457200"/>
          </a:xfrm>
        </p:spPr>
        <p:txBody>
          <a:bodyPr>
            <a:noAutofit/>
          </a:bodyPr>
          <a:lstStyle/>
          <a:p>
            <a:r>
              <a:rPr lang="en-US" sz="2000" dirty="0" smtClean="0"/>
              <a:t>HMIC</a:t>
            </a:r>
            <a:r>
              <a:rPr lang="en-US" sz="2000" baseline="42000" dirty="0"/>
              <a:t>TM</a:t>
            </a:r>
            <a:r>
              <a:rPr lang="en-US" sz="2000" dirty="0" smtClean="0"/>
              <a:t> SP2T  6-14 GHz  (Terminated SPDT)</a:t>
            </a:r>
            <a:br>
              <a:rPr lang="en-US" sz="2000" dirty="0" smtClean="0"/>
            </a:br>
            <a:r>
              <a:rPr lang="en-US" sz="2000" dirty="0" smtClean="0"/>
              <a:t>MASW-010647</a:t>
            </a:r>
            <a:endParaRPr lang="en-US" sz="2000" dirty="0"/>
          </a:p>
        </p:txBody>
      </p:sp>
      <p:sp>
        <p:nvSpPr>
          <p:cNvPr id="2" name="Rectangle 1"/>
          <p:cNvSpPr/>
          <p:nvPr/>
        </p:nvSpPr>
        <p:spPr>
          <a:xfrm>
            <a:off x="248853" y="1157973"/>
            <a:ext cx="4873053" cy="23975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</a:rPr>
              <a:t>X-Band Terminated SPDT switch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</a:rPr>
              <a:t>Wire-Bondable Bare Die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</a:rPr>
              <a:t>Low </a:t>
            </a:r>
            <a:r>
              <a:rPr lang="en-US" sz="1400" dirty="0">
                <a:latin typeface="Arial" panose="020B0604020202020204" pitchFamily="34" charset="0"/>
              </a:rPr>
              <a:t>Insertion </a:t>
            </a:r>
            <a:r>
              <a:rPr lang="en-US" sz="1400" dirty="0" smtClean="0">
                <a:latin typeface="Arial" panose="020B0604020202020204" pitchFamily="34" charset="0"/>
              </a:rPr>
              <a:t>Loss/ High </a:t>
            </a:r>
            <a:r>
              <a:rPr lang="en-US" sz="1400" dirty="0">
                <a:latin typeface="Arial" panose="020B0604020202020204" pitchFamily="34" charset="0"/>
              </a:rPr>
              <a:t>Isolation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All Shunt Design; Integrated Bias Network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</a:rPr>
              <a:t>Glass </a:t>
            </a:r>
            <a:r>
              <a:rPr lang="en-US" sz="1400" dirty="0">
                <a:latin typeface="Arial" panose="020B0604020202020204" pitchFamily="34" charset="0"/>
              </a:rPr>
              <a:t>Encapsulated Construction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</a:rPr>
              <a:t>Greater </a:t>
            </a:r>
            <a:r>
              <a:rPr lang="en-US" sz="1400" dirty="0">
                <a:latin typeface="Arial" panose="020B0604020202020204" pitchFamily="34" charset="0"/>
              </a:rPr>
              <a:t>than 20 W CW Power Handling @ </a:t>
            </a:r>
            <a:r>
              <a:rPr lang="en-US" sz="1400" dirty="0" smtClean="0">
                <a:latin typeface="Arial" panose="020B0604020202020204" pitchFamily="34" charset="0"/>
              </a:rPr>
              <a:t>85 °</a:t>
            </a:r>
            <a:r>
              <a:rPr lang="en-US" sz="1400" dirty="0">
                <a:latin typeface="Arial" panose="020B0604020202020204" pitchFamily="34" charset="0"/>
              </a:rPr>
              <a:t>C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</a:rPr>
              <a:t>Silicon </a:t>
            </a:r>
            <a:r>
              <a:rPr lang="en-US" sz="1400" dirty="0">
                <a:latin typeface="Arial" panose="020B0604020202020204" pitchFamily="34" charset="0"/>
              </a:rPr>
              <a:t>Nitride </a:t>
            </a:r>
            <a:r>
              <a:rPr lang="en-US" sz="1400" dirty="0" smtClean="0">
                <a:latin typeface="Arial" panose="020B0604020202020204" pitchFamily="34" charset="0"/>
              </a:rPr>
              <a:t>Passivation/Polymer </a:t>
            </a:r>
            <a:r>
              <a:rPr lang="en-US" sz="1400" dirty="0">
                <a:latin typeface="Arial" panose="020B0604020202020204" pitchFamily="34" charset="0"/>
              </a:rPr>
              <a:t>Scratch Protection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</a:rPr>
              <a:t>RoHS </a:t>
            </a:r>
            <a:r>
              <a:rPr lang="en-US" sz="1400" dirty="0">
                <a:latin typeface="Arial" panose="020B0604020202020204" pitchFamily="34" charset="0"/>
              </a:rPr>
              <a:t>Compliant</a:t>
            </a:r>
            <a:endParaRPr lang="en-US" sz="1400" dirty="0"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5894" y="1192045"/>
            <a:ext cx="3857854" cy="15675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91" y="3505410"/>
            <a:ext cx="5085285" cy="305564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9468" y="2635578"/>
            <a:ext cx="2382987" cy="191334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9468" y="4548925"/>
            <a:ext cx="2416974" cy="2012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620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/>
          </p:cNvSpPr>
          <p:nvPr>
            <p:ph type="title" idx="4294967295"/>
          </p:nvPr>
        </p:nvSpPr>
        <p:spPr>
          <a:xfrm>
            <a:off x="159625" y="134472"/>
            <a:ext cx="4427538" cy="1051346"/>
          </a:xfrm>
        </p:spPr>
        <p:txBody>
          <a:bodyPr vert="horz" lIns="0" anchor="ctr" anchorCtr="0">
            <a:normAutofit/>
          </a:bodyPr>
          <a:lstStyle/>
          <a:p>
            <a:r>
              <a:rPr lang="en-US" dirty="0"/>
              <a:t>HMIC</a:t>
            </a:r>
            <a:r>
              <a:rPr lang="en-US" baseline="42000" dirty="0"/>
              <a:t>TM</a:t>
            </a:r>
            <a:r>
              <a:rPr lang="en-US" dirty="0"/>
              <a:t> Package-less Surface Mountable </a:t>
            </a:r>
            <a:r>
              <a:rPr lang="en-US" dirty="0" smtClean="0"/>
              <a:t>Si PIN Diode Switches</a:t>
            </a:r>
            <a:endParaRPr lang="en-US" dirty="0"/>
          </a:p>
        </p:txBody>
      </p:sp>
      <p:graphicFrame>
        <p:nvGraphicFramePr>
          <p:cNvPr id="46552" name="Group 472"/>
          <p:cNvGraphicFramePr>
            <a:graphicFrameLocks noGrp="1"/>
          </p:cNvGraphicFramePr>
          <p:nvPr>
            <p:ph idx="4294967295"/>
            <p:extLst/>
          </p:nvPr>
        </p:nvGraphicFramePr>
        <p:xfrm>
          <a:off x="392711" y="3429000"/>
          <a:ext cx="8410632" cy="3096452"/>
        </p:xfrm>
        <a:graphic>
          <a:graphicData uri="http://schemas.openxmlformats.org/drawingml/2006/table">
            <a:tbl>
              <a:tblPr>
                <a:effectLst>
                  <a:innerShdw blurRad="63500" dist="50800" dir="2700000">
                    <a:prstClr val="black">
                      <a:alpha val="50000"/>
                    </a:prstClr>
                  </a:innerShdw>
                </a:effectLst>
              </a:tblPr>
              <a:tblGrid>
                <a:gridCol w="1274338"/>
                <a:gridCol w="1396407"/>
                <a:gridCol w="1152270"/>
                <a:gridCol w="1274338"/>
                <a:gridCol w="1274338"/>
                <a:gridCol w="2038941"/>
              </a:tblGrid>
              <a:tr h="741872"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Topology</a:t>
                      </a:r>
                    </a:p>
                  </a:txBody>
                  <a:tcPr anchor="ctr" horzOverflow="overflow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Frequency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Insertion Loss (dB)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Isolation (dB)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P</a:t>
                      </a:r>
                      <a:r>
                        <a:rPr kumimoji="0" lang="en-US" sz="18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0.1dB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 (dBm)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Part Number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SPDT</a:t>
                      </a:r>
                    </a:p>
                  </a:txBody>
                  <a:tcPr anchor="ctr" horzOverflow="overflow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6 GHz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13 GHz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20 GHz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0.6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0.9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1.2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45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31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25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36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MASW-002103-1363</a:t>
                      </a:r>
                      <a:endParaRPr kumimoji="0" lang="en-US" sz="1600" b="1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SP3T</a:t>
                      </a:r>
                    </a:p>
                  </a:txBody>
                  <a:tcPr anchor="ctr" horzOverflow="overflow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6 GHz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13 GHz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20 GHz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0.65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0.95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1.25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37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28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22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36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MASW-003103-1364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692150"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SP4T</a:t>
                      </a:r>
                    </a:p>
                  </a:txBody>
                  <a:tcPr anchor="ctr" horzOverflow="overflow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6 GHz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13 GHz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20 GHz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0.7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1.0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1.3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35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30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26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36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MASW-004103-1365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6538" name="Text Box 458"/>
          <p:cNvSpPr txBox="1">
            <a:spLocks noChangeArrowheads="1"/>
          </p:cNvSpPr>
          <p:nvPr/>
        </p:nvSpPr>
        <p:spPr bwMode="auto">
          <a:xfrm>
            <a:off x="276167" y="1254733"/>
            <a:ext cx="3823437" cy="172354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anchor="ctr" anchorCtr="0">
            <a:spAutoFit/>
          </a:bodyPr>
          <a:lstStyle/>
          <a:p>
            <a:pPr>
              <a:lnSpc>
                <a:spcPct val="75000"/>
              </a:lnSpc>
              <a:spcBef>
                <a:spcPct val="25000"/>
              </a:spcBef>
              <a:spcAft>
                <a:spcPct val="20000"/>
              </a:spcAft>
              <a:buFontTx/>
              <a:buChar char="•"/>
            </a:pPr>
            <a:r>
              <a:rPr lang="en-US" sz="2000" dirty="0" smtClean="0"/>
              <a:t> </a:t>
            </a:r>
            <a:r>
              <a:rPr lang="en-US" sz="2000" dirty="0"/>
              <a:t>Surface mount </a:t>
            </a:r>
            <a:r>
              <a:rPr lang="en-US" sz="2000" dirty="0" smtClean="0"/>
              <a:t>- </a:t>
            </a:r>
            <a:r>
              <a:rPr lang="en-US" sz="2000" dirty="0"/>
              <a:t>No wirebonds</a:t>
            </a:r>
          </a:p>
          <a:p>
            <a:pPr>
              <a:lnSpc>
                <a:spcPct val="75000"/>
              </a:lnSpc>
              <a:spcBef>
                <a:spcPct val="25000"/>
              </a:spcBef>
              <a:spcAft>
                <a:spcPct val="20000"/>
              </a:spcAft>
              <a:buFontTx/>
              <a:buChar char="•"/>
            </a:pPr>
            <a:r>
              <a:rPr lang="en-US" sz="2000" dirty="0"/>
              <a:t> </a:t>
            </a:r>
            <a:r>
              <a:rPr lang="en-US" sz="2000" dirty="0" smtClean="0"/>
              <a:t>Packageless - </a:t>
            </a:r>
            <a:r>
              <a:rPr lang="en-US" sz="2000" dirty="0"/>
              <a:t>Low </a:t>
            </a:r>
            <a:r>
              <a:rPr lang="en-US" sz="2000" dirty="0" smtClean="0"/>
              <a:t>parasitics</a:t>
            </a:r>
            <a:endParaRPr lang="en-US" sz="2000" dirty="0"/>
          </a:p>
          <a:p>
            <a:pPr>
              <a:lnSpc>
                <a:spcPct val="75000"/>
              </a:lnSpc>
              <a:spcBef>
                <a:spcPct val="25000"/>
              </a:spcBef>
              <a:spcAft>
                <a:spcPct val="20000"/>
              </a:spcAft>
              <a:buFontTx/>
              <a:buChar char="•"/>
            </a:pPr>
            <a:r>
              <a:rPr lang="en-US" sz="2000" dirty="0"/>
              <a:t> </a:t>
            </a:r>
            <a:r>
              <a:rPr lang="en-US" sz="2000" dirty="0" smtClean="0"/>
              <a:t>Series/Shunt multi-throw designs</a:t>
            </a:r>
            <a:endParaRPr lang="en-US" sz="2000" dirty="0"/>
          </a:p>
          <a:p>
            <a:pPr>
              <a:lnSpc>
                <a:spcPct val="75000"/>
              </a:lnSpc>
              <a:spcBef>
                <a:spcPct val="25000"/>
              </a:spcBef>
              <a:spcAft>
                <a:spcPct val="20000"/>
              </a:spcAft>
              <a:buFontTx/>
              <a:buChar char="•"/>
            </a:pPr>
            <a:r>
              <a:rPr lang="en-US" sz="2000" dirty="0"/>
              <a:t> High </a:t>
            </a:r>
            <a:r>
              <a:rPr lang="en-US" sz="2000" dirty="0" smtClean="0"/>
              <a:t>Power - 6 W incident</a:t>
            </a:r>
            <a:r>
              <a:rPr lang="en-US" sz="2400" dirty="0" smtClean="0"/>
              <a:t> </a:t>
            </a:r>
            <a:endParaRPr lang="en-US" sz="2000" dirty="0"/>
          </a:p>
        </p:txBody>
      </p:sp>
      <p:pic>
        <p:nvPicPr>
          <p:cNvPr id="46545" name="Picture 46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92099" y="1249064"/>
            <a:ext cx="1038225" cy="754062"/>
          </a:xfrm>
          <a:prstGeom prst="rect">
            <a:avLst/>
          </a:prstGeom>
          <a:noFill/>
        </p:spPr>
      </p:pic>
      <p:pic>
        <p:nvPicPr>
          <p:cNvPr id="46546" name="Picture 46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649062" y="1257001"/>
            <a:ext cx="965200" cy="774700"/>
          </a:xfrm>
          <a:prstGeom prst="rect">
            <a:avLst/>
          </a:prstGeom>
          <a:noFill/>
        </p:spPr>
      </p:pic>
      <p:pic>
        <p:nvPicPr>
          <p:cNvPr id="46547" name="Picture 46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185387" y="1333201"/>
            <a:ext cx="1036637" cy="719138"/>
          </a:xfrm>
          <a:prstGeom prst="rect">
            <a:avLst/>
          </a:prstGeom>
          <a:noFill/>
        </p:spPr>
      </p:pic>
      <p:pic>
        <p:nvPicPr>
          <p:cNvPr id="46548" name="Picture 46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647474" y="2165051"/>
            <a:ext cx="960438" cy="773113"/>
          </a:xfrm>
          <a:prstGeom prst="rect">
            <a:avLst/>
          </a:prstGeom>
          <a:noFill/>
        </p:spPr>
      </p:pic>
      <p:pic>
        <p:nvPicPr>
          <p:cNvPr id="46549" name="Picture 469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25437" y="2120601"/>
            <a:ext cx="1041400" cy="746125"/>
          </a:xfrm>
          <a:prstGeom prst="rect">
            <a:avLst/>
          </a:prstGeom>
          <a:noFill/>
        </p:spPr>
      </p:pic>
      <p:pic>
        <p:nvPicPr>
          <p:cNvPr id="46550" name="Picture 470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201262" y="2157114"/>
            <a:ext cx="1030287" cy="7175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66477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757" name="Rectangle 109"/>
          <p:cNvSpPr>
            <a:spLocks noGrp="1"/>
          </p:cNvSpPr>
          <p:nvPr>
            <p:ph type="title" idx="4294967295"/>
          </p:nvPr>
        </p:nvSpPr>
        <p:spPr>
          <a:xfrm>
            <a:off x="95536" y="217649"/>
            <a:ext cx="6489568" cy="457200"/>
          </a:xfrm>
        </p:spPr>
        <p:txBody>
          <a:bodyPr>
            <a:noAutofit/>
          </a:bodyPr>
          <a:lstStyle/>
          <a:p>
            <a:r>
              <a:rPr lang="en-US" sz="2400" dirty="0" smtClean="0"/>
              <a:t>HMIC™ Si PIN SP2T  6-14 GHz  </a:t>
            </a:r>
            <a:br>
              <a:rPr lang="en-US" sz="2400" dirty="0" smtClean="0"/>
            </a:br>
            <a:r>
              <a:rPr lang="en-US" sz="2400" dirty="0" smtClean="0"/>
              <a:t>MASW-011021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24427" y="1090881"/>
            <a:ext cx="5851870" cy="269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Specified </a:t>
            </a:r>
            <a:r>
              <a:rPr lang="en-US" sz="1400" dirty="0"/>
              <a:t>from 8 GHz to 12 GHz </a:t>
            </a:r>
            <a:r>
              <a:rPr lang="en-US" sz="1400" dirty="0" smtClean="0"/>
              <a:t>; Usable 6-14 GHz</a:t>
            </a:r>
            <a:endParaRPr lang="en-US" sz="1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Low </a:t>
            </a:r>
            <a:r>
              <a:rPr lang="en-US" sz="1400" dirty="0"/>
              <a:t>Insertion Loss </a:t>
            </a:r>
            <a:r>
              <a:rPr lang="en-US" sz="1400" dirty="0" smtClean="0"/>
              <a:t>/ High </a:t>
            </a:r>
            <a:r>
              <a:rPr lang="en-US" sz="1400" dirty="0"/>
              <a:t>Isolation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All Shunt Design; Integrated Bias Network</a:t>
            </a:r>
            <a:endParaRPr lang="en-US" sz="1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Surface </a:t>
            </a:r>
            <a:r>
              <a:rPr lang="en-US" sz="1400" dirty="0"/>
              <a:t>Mountable, Fully Monolithic Die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Glass </a:t>
            </a:r>
            <a:r>
              <a:rPr lang="en-US" sz="1400" dirty="0"/>
              <a:t>Encapsulated Construction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20 </a:t>
            </a:r>
            <a:r>
              <a:rPr lang="en-US" sz="1400" dirty="0"/>
              <a:t>W Pulsed Power Handling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Silicon </a:t>
            </a:r>
            <a:r>
              <a:rPr lang="en-US" sz="1400" dirty="0"/>
              <a:t>Nitride Passivation </a:t>
            </a:r>
            <a:r>
              <a:rPr lang="en-US" sz="1400" dirty="0" smtClean="0"/>
              <a:t>/ Polymer </a:t>
            </a:r>
            <a:r>
              <a:rPr lang="en-US" sz="1400" dirty="0"/>
              <a:t>Scratch Protection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RoHS </a:t>
            </a:r>
            <a:r>
              <a:rPr lang="en-US" sz="1400" dirty="0"/>
              <a:t>Compliant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400" dirty="0" smtClean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129" y="1283072"/>
            <a:ext cx="2086145" cy="114401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9504" y="2588045"/>
            <a:ext cx="2516956" cy="2031918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0778" y="4686965"/>
            <a:ext cx="2394408" cy="1910564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854" y="3464647"/>
            <a:ext cx="5548630" cy="306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543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0"/>
  <p:tag name="ISPRING_RESOURCE_PATHS_HASH_2" val="754e257bf4e67b6eda8b5226aec68fcba58438"/>
  <p:tag name="MMPROD_UIDATA" val="&lt;database version=&quot;11.0&quot;&gt;&lt;object type=&quot;1&quot; unique_id=&quot;10001&quot;&gt;&lt;object type=&quot;8&quot; unique_id=&quot;10222&quot;&gt;&lt;/object&gt;&lt;object type=&quot;2&quot; unique_id=&quot;10223&quot;&gt;&lt;object type=&quot;3&quot; unique_id=&quot;33884&quot;&gt;&lt;property id=&quot;20148&quot; value=&quot;5&quot;/&gt;&lt;property id=&quot;20300&quot; value=&quot;Slide 1 - &amp;quot;Click to Edit MACOM Title Slide  Arial Black 24pt&amp;quot;&quot;/&gt;&lt;property id=&quot;20307&quot; value=&quot;484&quot;/&gt;&lt;/object&gt;&lt;object type=&quot;3&quot; unique_id=&quot;33885&quot;&gt;&lt;property id=&quot;20148&quot; value=&quot;5&quot;/&gt;&lt;property id=&quot;20300&quot; value=&quot;Slide 2 - &amp;quot;Layout: Section Divider&amp;quot;&quot;/&gt;&lt;property id=&quot;20307&quot; value=&quot;503&quot;/&gt;&lt;/object&gt;&lt;object type=&quot;3&quot; unique_id=&quot;33886&quot;&gt;&lt;property id=&quot;20148&quot; value=&quot;5&quot;/&gt;&lt;property id=&quot;20300&quot; value=&quot;Slide 3 - &amp;quot;Title and Content, Arial Black 24pt&amp;quot;&quot;/&gt;&lt;property id=&quot;20307&quot; value=&quot;489&quot;/&gt;&lt;/object&gt;&lt;object type=&quot;3&quot; unique_id=&quot;33887&quot;&gt;&lt;property id=&quot;20148&quot; value=&quot;5&quot;/&gt;&lt;property id=&quot;20300&quot; value=&quot;Slide 4 - &amp;quot;Title and Content with Subhead&amp;quot;&quot;/&gt;&lt;property id=&quot;20307&quot; value=&quot;504&quot;/&gt;&lt;/object&gt;&lt;object type=&quot;3&quot; unique_id=&quot;33888&quot;&gt;&lt;property id=&quot;20148&quot; value=&quot;5&quot;/&gt;&lt;property id=&quot;20300&quot; value=&quot;Slide 5 - &amp;quot;Layout: Two Content, No subhead&amp;quot;&quot;/&gt;&lt;property id=&quot;20307&quot; value=&quot;490&quot;/&gt;&lt;/object&gt;&lt;object type=&quot;3&quot; unique_id=&quot;33889&quot;&gt;&lt;property id=&quot;20148&quot; value=&quot;5&quot;/&gt;&lt;property id=&quot;20300&quot; value=&quot;Slide 6 - &amp;quot;Layout: Two Content, with Subhead&amp;quot;&quot;/&gt;&lt;property id=&quot;20307&quot; value=&quot;505&quot;/&gt;&lt;/object&gt;&lt;object type=&quot;3&quot; unique_id=&quot;33890&quot;&gt;&lt;property id=&quot;20148&quot; value=&quot;5&quot;/&gt;&lt;property id=&quot;20300&quot; value=&quot;Slide 7 - &amp;quot;Layout: Comparison&amp;quot;&quot;/&gt;&lt;property id=&quot;20307&quot; value=&quot;506&quot;/&gt;&lt;/object&gt;&lt;object type=&quot;3&quot; unique_id=&quot;33891&quot;&gt;&lt;property id=&quot;20148&quot; value=&quot;5&quot;/&gt;&lt;property id=&quot;20300&quot; value=&quot;Slide 8 - &amp;quot;Color Scheme&amp;quot;&quot;/&gt;&lt;property id=&quot;20307&quot; value=&quot;491&quot;/&gt;&lt;/object&gt;&lt;object type=&quot;3&quot; unique_id=&quot;33892&quot;&gt;&lt;property id=&quot;20148&quot; value=&quot;5&quot;/&gt;&lt;property id=&quot;20300&quot; value=&quot;Slide 9 - &amp;quot;Default Settings&amp;quot;&quot;/&gt;&lt;property id=&quot;20307&quot; value=&quot;493&quot;/&gt;&lt;/object&gt;&lt;object type=&quot;3&quot; unique_id=&quot;33893&quot;&gt;&lt;property id=&quot;20148&quot; value=&quot;5&quot;/&gt;&lt;property id=&quot;20300&quot; value=&quot;Slide 10 - &amp;quot;Default Table Style&amp;quot;&quot;/&gt;&lt;property id=&quot;20307&quot; value=&quot;494&quot;/&gt;&lt;/object&gt;&lt;object type=&quot;3&quot; unique_id=&quot;33894&quot;&gt;&lt;property id=&quot;20148&quot; value=&quot;5&quot;/&gt;&lt;property id=&quot;20300&quot; value=&quot;Slide 11 - &amp;quot;Column Chart Sample&amp;quot;&quot;/&gt;&lt;property id=&quot;20307&quot; value=&quot;496&quot;/&gt;&lt;/object&gt;&lt;object type=&quot;3&quot; unique_id=&quot;33895&quot;&gt;&lt;property id=&quot;20148&quot; value=&quot;5&quot;/&gt;&lt;property id=&quot;20300&quot; value=&quot;Slide 12 - &amp;quot;Two Content  Column Chart Sample&amp;quot;&quot;/&gt;&lt;property id=&quot;20307&quot; value=&quot;495&quot;/&gt;&lt;/object&gt;&lt;object type=&quot;3&quot; unique_id=&quot;33896&quot;&gt;&lt;property id=&quot;20148&quot; value=&quot;5&quot;/&gt;&lt;property id=&quot;20300&quot; value=&quot;Slide 13 - &amp;quot;Line Chart Sample&amp;quot;&quot;/&gt;&lt;property id=&quot;20307&quot; value=&quot;501&quot;/&gt;&lt;/object&gt;&lt;object type=&quot;3&quot; unique_id=&quot;33897&quot;&gt;&lt;property id=&quot;20148&quot; value=&quot;5&quot;/&gt;&lt;property id=&quot;20300&quot; value=&quot;Slide 14 - &amp;quot;Two Content  Line Chart Sample&amp;quot;&quot;/&gt;&lt;property id=&quot;20307&quot; value=&quot;502&quot;/&gt;&lt;/object&gt;&lt;object type=&quot;3&quot; unique_id=&quot;33898&quot;&gt;&lt;property id=&quot;20148&quot; value=&quot;5&quot;/&gt;&lt;property id=&quot;20300&quot; value=&quot;Slide 15 - &amp;quot;Pie Chart Sample &amp;quot;&quot;/&gt;&lt;property id=&quot;20307&quot; value=&quot;499&quot;/&gt;&lt;/object&gt;&lt;object type=&quot;3&quot; unique_id=&quot;33899&quot;&gt;&lt;property id=&quot;20148&quot; value=&quot;5&quot;/&gt;&lt;property id=&quot;20300&quot; value=&quot;Slide 16 - &amp;quot;Two Content  Pie Chart Sample &amp;quot;&quot;/&gt;&lt;property id=&quot;20307&quot; value=&quot;500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PPT-2010-Template_LightDark">
  <a:themeElements>
    <a:clrScheme name="MACOM">
      <a:dk1>
        <a:sysClr val="windowText" lastClr="000000"/>
      </a:dk1>
      <a:lt1>
        <a:sysClr val="window" lastClr="FFFFFF"/>
      </a:lt1>
      <a:dk2>
        <a:srgbClr val="00243E"/>
      </a:dk2>
      <a:lt2>
        <a:srgbClr val="FFFFFF"/>
      </a:lt2>
      <a:accent1>
        <a:srgbClr val="005A84"/>
      </a:accent1>
      <a:accent2>
        <a:srgbClr val="0083C2"/>
      </a:accent2>
      <a:accent3>
        <a:srgbClr val="00A5B6"/>
      </a:accent3>
      <a:accent4>
        <a:srgbClr val="6C953C"/>
      </a:accent4>
      <a:accent5>
        <a:srgbClr val="8DC73F"/>
      </a:accent5>
      <a:accent6>
        <a:srgbClr val="DADA56"/>
      </a:accent6>
      <a:hlink>
        <a:srgbClr val="0083C2"/>
      </a:hlink>
      <a:folHlink>
        <a:srgbClr val="77B800"/>
      </a:folHlink>
    </a:clrScheme>
    <a:fontScheme name="MACOM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/>
        </a:solidFill>
        <a:ln w="12700" cap="sq" algn="ctr">
          <a:noFill/>
          <a:miter lim="800000"/>
          <a:headEnd/>
          <a:tailEnd/>
        </a:ln>
        <a:effectLst/>
      </a:spPr>
      <a:bodyPr wrap="square" lIns="0" rIns="0" rtlCol="0" anchor="ctr"/>
      <a:lstStyle>
        <a:defPPr algn="ctr">
          <a:spcBef>
            <a:spcPts val="600"/>
          </a:spcBef>
          <a:defRPr dirty="0" smtClean="0">
            <a:solidFill>
              <a:schemeClr val="bg1"/>
            </a:solidFill>
            <a:latin typeface="+mn-lt"/>
          </a:defRPr>
        </a:defPPr>
      </a:lstStyle>
    </a:spDef>
    <a:lnDef>
      <a:spPr bwMode="auto">
        <a:solidFill>
          <a:schemeClr val="accent2"/>
        </a:solidFill>
        <a:ln w="19050" cap="sq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 bwMode="auto">
        <a:noFill/>
        <a:ln w="12700" cap="sq" algn="ctr">
          <a:noFill/>
          <a:miter lim="800000"/>
          <a:headEnd/>
          <a:tailEnd/>
        </a:ln>
        <a:effectLst/>
      </a:spPr>
      <a:bodyPr wrap="square" rtlCol="0" anchor="ctr" anchorCtr="0">
        <a:noAutofit/>
      </a:bodyPr>
      <a:lstStyle>
        <a:defPPr>
          <a:spcBef>
            <a:spcPts val="900"/>
          </a:spcBef>
          <a:defRPr dirty="0" err="1" smtClean="0">
            <a:solidFill>
              <a:schemeClr val="tx2"/>
            </a:solidFill>
            <a:latin typeface="+mn-l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17388-MACOM2016-4x3-edit</Template>
  <TotalTime>584</TotalTime>
  <Words>4451</Words>
  <Application>Microsoft Office PowerPoint</Application>
  <PresentationFormat>On-screen Show (4:3)</PresentationFormat>
  <Paragraphs>1990</Paragraphs>
  <Slides>64</Slides>
  <Notes>59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64</vt:i4>
      </vt:variant>
    </vt:vector>
  </HeadingPairs>
  <TitlesOfParts>
    <vt:vector size="79" baseType="lpstr">
      <vt:lpstr>굴림</vt:lpstr>
      <vt:lpstr>Arial</vt:lpstr>
      <vt:lpstr>Arial Black</vt:lpstr>
      <vt:lpstr>Calibri</vt:lpstr>
      <vt:lpstr>Cambria Math</vt:lpstr>
      <vt:lpstr>Courier New</vt:lpstr>
      <vt:lpstr>Helvetica</vt:lpstr>
      <vt:lpstr>Symbol</vt:lpstr>
      <vt:lpstr>Times New Roman</vt:lpstr>
      <vt:lpstr>Webdings</vt:lpstr>
      <vt:lpstr>Wingdings</vt:lpstr>
      <vt:lpstr>PPT-2010-Template_LightDark</vt:lpstr>
      <vt:lpstr>Mathcad 6.0</vt:lpstr>
      <vt:lpstr>Mathcad</vt:lpstr>
      <vt:lpstr>VISIO</vt:lpstr>
      <vt:lpstr>MACOM Diode Products rev 7</vt:lpstr>
      <vt:lpstr>Diode Products Training</vt:lpstr>
      <vt:lpstr>PowerPoint Presentation</vt:lpstr>
      <vt:lpstr>PowerPoint Presentation</vt:lpstr>
      <vt:lpstr>PowerPoint Presentation</vt:lpstr>
      <vt:lpstr>PIN Diodes</vt:lpstr>
      <vt:lpstr>PIN Diodes  </vt:lpstr>
      <vt:lpstr>PIN Diodes  </vt:lpstr>
      <vt:lpstr>PIN Diode Families</vt:lpstr>
      <vt:lpstr>PowerPoint Presentation</vt:lpstr>
      <vt:lpstr>PowerPoint Presentation</vt:lpstr>
      <vt:lpstr>Discrete Kilovolt PIN Diodes</vt:lpstr>
      <vt:lpstr>Discrete High Power MELF PIN Diodes</vt:lpstr>
      <vt:lpstr>Discrete Diodes – Limiters</vt:lpstr>
      <vt:lpstr>Discrete Diodes – Limiters</vt:lpstr>
      <vt:lpstr>PowerPoint Presentation</vt:lpstr>
      <vt:lpstr>PIN Switches</vt:lpstr>
      <vt:lpstr>AlGaAs PIN Diode Switches </vt:lpstr>
      <vt:lpstr>AlGaAs SP3T W Band Switch MASW-011029 </vt:lpstr>
      <vt:lpstr>Multichip Module High Power Switches</vt:lpstr>
      <vt:lpstr>T/R Switch-Limiter Module  MSWLM2420-242</vt:lpstr>
      <vt:lpstr>MASW-011036  Ka-Band High Power Terminated AlGaAs SPDT PIN Switch</vt:lpstr>
      <vt:lpstr>MASW-010646  Ka-Band High Power Reflective AlGaAs SPDT PIN Switch</vt:lpstr>
      <vt:lpstr>X-Band Terminated SPDT Switch   MASW-011071</vt:lpstr>
      <vt:lpstr>HMIC Si PIN Switches: 2 W, DC – 26 GHz</vt:lpstr>
      <vt:lpstr>HMICTM Wire-Bondable Switches</vt:lpstr>
      <vt:lpstr>HMICTM SP2T High Current  MASW-011052</vt:lpstr>
      <vt:lpstr>HMICTM SP3T High Current  MASW-011053</vt:lpstr>
      <vt:lpstr>Limiter Modules</vt:lpstr>
      <vt:lpstr>High Power Limiter Modules</vt:lpstr>
      <vt:lpstr>Tuning Varactor Diodes</vt:lpstr>
      <vt:lpstr>Tuning Varactor</vt:lpstr>
      <vt:lpstr>Tuning Varactor Diodes</vt:lpstr>
      <vt:lpstr>Schottky Diodes</vt:lpstr>
      <vt:lpstr>GaAs Flip Chip Schottky Diodes</vt:lpstr>
      <vt:lpstr>GaAs Beamlead Schottky Diodes</vt:lpstr>
      <vt:lpstr>HMICTM Discrete Schottky Diodes</vt:lpstr>
      <vt:lpstr>Flip Chip Diodes</vt:lpstr>
      <vt:lpstr>Solderable Flip Chip Devices</vt:lpstr>
      <vt:lpstr>Passive Devices</vt:lpstr>
      <vt:lpstr>MABT-011000 2-18 GHz  HMICTM Surmount Bias Network</vt:lpstr>
      <vt:lpstr>Thin Film Passive Products: Capacitors</vt:lpstr>
      <vt:lpstr>Thin Film Passive Products: Inductors</vt:lpstr>
      <vt:lpstr>Thin Film Passive Products: Resistors &amp; Attenuators</vt:lpstr>
      <vt:lpstr>Thank You</vt:lpstr>
      <vt:lpstr>Appendix</vt:lpstr>
      <vt:lpstr>Discrete Diodes – Si PIN Chips</vt:lpstr>
      <vt:lpstr>Discrete Diodes – Si NIP Chips</vt:lpstr>
      <vt:lpstr>Si Mesa Beamlead PIN Diodes</vt:lpstr>
      <vt:lpstr>Si Planar Beamlead PIN Diodes</vt:lpstr>
      <vt:lpstr>Flip Chip Products</vt:lpstr>
      <vt:lpstr>Discrete High Power MELF PIN Diodes</vt:lpstr>
      <vt:lpstr>PIN DIODE SWITCH ELEMENT </vt:lpstr>
      <vt:lpstr>PIN DIODE SWITCH ELEMENT </vt:lpstr>
      <vt:lpstr>Shunt PIN Element</vt:lpstr>
      <vt:lpstr>HMICTM Discrete Diode Solution</vt:lpstr>
      <vt:lpstr>Discrete Diodes – Limiters</vt:lpstr>
      <vt:lpstr>HMIC and AlGaAs MMIC Performance Comparison   </vt:lpstr>
      <vt:lpstr>AlGaAs Products</vt:lpstr>
      <vt:lpstr>MASW-011036  Ka-Band High Power Terminated AlGaAs SPDT PIN Switch</vt:lpstr>
      <vt:lpstr>MASW-010646  Ka-Band High Power Reflective AlGaAs SPDT PIN Switch</vt:lpstr>
      <vt:lpstr>HMICTM SP2T  6-14 GHz  (Terminated SPDT) MASW-010647</vt:lpstr>
      <vt:lpstr>HMICTM Package-less Surface Mountable Si PIN Diode Switches</vt:lpstr>
      <vt:lpstr>HMIC™ Si PIN SP2T  6-14 GHz   MASW-011021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Click to Edit MACOM Title Slide  Arial Black 24pt</dc:title>
  <dc:creator>Megan Haley</dc:creator>
  <cp:lastModifiedBy>Rick Cory</cp:lastModifiedBy>
  <cp:revision>28</cp:revision>
  <cp:lastPrinted>2014-03-27T13:48:09Z</cp:lastPrinted>
  <dcterms:created xsi:type="dcterms:W3CDTF">2016-07-13T20:18:51Z</dcterms:created>
  <dcterms:modified xsi:type="dcterms:W3CDTF">2017-02-10T14:38:55Z</dcterms:modified>
</cp:coreProperties>
</file>