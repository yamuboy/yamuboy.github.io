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8" r:id="rId1"/>
  </p:sldMasterIdLst>
  <p:notesMasterIdLst>
    <p:notesMasterId r:id="rId89"/>
  </p:notesMasterIdLst>
  <p:handoutMasterIdLst>
    <p:handoutMasterId r:id="rId90"/>
  </p:handoutMasterIdLst>
  <p:sldIdLst>
    <p:sldId id="507" r:id="rId2"/>
    <p:sldId id="508" r:id="rId3"/>
    <p:sldId id="509" r:id="rId4"/>
    <p:sldId id="511" r:id="rId5"/>
    <p:sldId id="614" r:id="rId6"/>
    <p:sldId id="571" r:id="rId7"/>
    <p:sldId id="615" r:id="rId8"/>
    <p:sldId id="572" r:id="rId9"/>
    <p:sldId id="573" r:id="rId10"/>
    <p:sldId id="574" r:id="rId11"/>
    <p:sldId id="575" r:id="rId12"/>
    <p:sldId id="576" r:id="rId13"/>
    <p:sldId id="577" r:id="rId14"/>
    <p:sldId id="578" r:id="rId15"/>
    <p:sldId id="579" r:id="rId16"/>
    <p:sldId id="580" r:id="rId17"/>
    <p:sldId id="582" r:id="rId18"/>
    <p:sldId id="583" r:id="rId19"/>
    <p:sldId id="584" r:id="rId20"/>
    <p:sldId id="585" r:id="rId21"/>
    <p:sldId id="586" r:id="rId22"/>
    <p:sldId id="587" r:id="rId23"/>
    <p:sldId id="588" r:id="rId24"/>
    <p:sldId id="589" r:id="rId25"/>
    <p:sldId id="590" r:id="rId26"/>
    <p:sldId id="591" r:id="rId27"/>
    <p:sldId id="592" r:id="rId28"/>
    <p:sldId id="593" r:id="rId29"/>
    <p:sldId id="594" r:id="rId30"/>
    <p:sldId id="595" r:id="rId31"/>
    <p:sldId id="596" r:id="rId32"/>
    <p:sldId id="597" r:id="rId33"/>
    <p:sldId id="598" r:id="rId34"/>
    <p:sldId id="599" r:id="rId35"/>
    <p:sldId id="600" r:id="rId36"/>
    <p:sldId id="601" r:id="rId37"/>
    <p:sldId id="602" r:id="rId38"/>
    <p:sldId id="603" r:id="rId39"/>
    <p:sldId id="604" r:id="rId40"/>
    <p:sldId id="606" r:id="rId41"/>
    <p:sldId id="607" r:id="rId42"/>
    <p:sldId id="608" r:id="rId43"/>
    <p:sldId id="609" r:id="rId44"/>
    <p:sldId id="610" r:id="rId45"/>
    <p:sldId id="520" r:id="rId46"/>
    <p:sldId id="611" r:id="rId47"/>
    <p:sldId id="612" r:id="rId48"/>
    <p:sldId id="613" r:id="rId49"/>
    <p:sldId id="550" r:id="rId50"/>
    <p:sldId id="551" r:id="rId51"/>
    <p:sldId id="515" r:id="rId52"/>
    <p:sldId id="516" r:id="rId53"/>
    <p:sldId id="517" r:id="rId54"/>
    <p:sldId id="518" r:id="rId55"/>
    <p:sldId id="521" r:id="rId56"/>
    <p:sldId id="522" r:id="rId57"/>
    <p:sldId id="523" r:id="rId58"/>
    <p:sldId id="524" r:id="rId59"/>
    <p:sldId id="525" r:id="rId60"/>
    <p:sldId id="526" r:id="rId61"/>
    <p:sldId id="527" r:id="rId62"/>
    <p:sldId id="528" r:id="rId63"/>
    <p:sldId id="529" r:id="rId64"/>
    <p:sldId id="530" r:id="rId65"/>
    <p:sldId id="531" r:id="rId66"/>
    <p:sldId id="532" r:id="rId67"/>
    <p:sldId id="533" r:id="rId68"/>
    <p:sldId id="534" r:id="rId69"/>
    <p:sldId id="535" r:id="rId70"/>
    <p:sldId id="552" r:id="rId71"/>
    <p:sldId id="553" r:id="rId72"/>
    <p:sldId id="554" r:id="rId73"/>
    <p:sldId id="555" r:id="rId74"/>
    <p:sldId id="556" r:id="rId75"/>
    <p:sldId id="557" r:id="rId76"/>
    <p:sldId id="558" r:id="rId77"/>
    <p:sldId id="559" r:id="rId78"/>
    <p:sldId id="560" r:id="rId79"/>
    <p:sldId id="561" r:id="rId80"/>
    <p:sldId id="562" r:id="rId81"/>
    <p:sldId id="563" r:id="rId82"/>
    <p:sldId id="564" r:id="rId83"/>
    <p:sldId id="565" r:id="rId84"/>
    <p:sldId id="566" r:id="rId85"/>
    <p:sldId id="567" r:id="rId86"/>
    <p:sldId id="568" r:id="rId87"/>
    <p:sldId id="569" r:id="rId88"/>
  </p:sldIdLst>
  <p:sldSz cx="9144000" cy="6858000" type="screen4x3"/>
  <p:notesSz cx="7010400" cy="9296400"/>
  <p:custDataLst>
    <p:tags r:id="rId91"/>
  </p:custDataLst>
  <p:defaultTextStyle>
    <a:defPPr>
      <a:defRPr lang="en-US"/>
    </a:defPPr>
    <a:lvl1pPr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>
          <p15:clr>
            <a:srgbClr val="A4A3A4"/>
          </p15:clr>
        </p15:guide>
        <p15:guide id="2" orient="horz" pos="3889">
          <p15:clr>
            <a:srgbClr val="A4A3A4"/>
          </p15:clr>
        </p15:guide>
        <p15:guide id="3" orient="horz" pos="722">
          <p15:clr>
            <a:srgbClr val="A4A3A4"/>
          </p15:clr>
        </p15:guide>
        <p15:guide id="4" pos="2880">
          <p15:clr>
            <a:srgbClr val="A4A3A4"/>
          </p15:clr>
        </p15:guide>
        <p15:guide id="5" pos="260">
          <p15:clr>
            <a:srgbClr val="A4A3A4"/>
          </p15:clr>
        </p15:guide>
        <p15:guide id="6" pos="5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DDDDD"/>
    <a:srgbClr val="EAEAEA"/>
    <a:srgbClr val="C0C0C0"/>
    <a:srgbClr val="B2B2B2"/>
    <a:srgbClr val="FFFF66"/>
    <a:srgbClr val="3333CC"/>
    <a:srgbClr val="FF00CC"/>
    <a:srgbClr val="CBCBD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1" autoAdjust="0"/>
    <p:restoredTop sz="86375" autoAdjust="0"/>
  </p:normalViewPr>
  <p:slideViewPr>
    <p:cSldViewPr snapToGrid="0">
      <p:cViewPr varScale="1">
        <p:scale>
          <a:sx n="76" d="100"/>
          <a:sy n="76" d="100"/>
        </p:scale>
        <p:origin x="302" y="67"/>
      </p:cViewPr>
      <p:guideLst>
        <p:guide orient="horz" pos="948"/>
        <p:guide orient="horz" pos="3889"/>
        <p:guide orient="horz" pos="722"/>
        <p:guide pos="2880"/>
        <p:guide pos="260"/>
        <p:guide pos="549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-12278"/>
    </p:cViewPr>
  </p:sorterViewPr>
  <p:notesViewPr>
    <p:cSldViewPr snapToGrid="0">
      <p:cViewPr varScale="1">
        <p:scale>
          <a:sx n="97" d="100"/>
          <a:sy n="97" d="100"/>
        </p:scale>
        <p:origin x="-169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handoutMaster" Target="handoutMasters/handoutMaster1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307F97-8337-459C-8052-DEFA8E9BFD8F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0"/>
      <dgm:spPr/>
    </dgm:pt>
    <dgm:pt modelId="{E02E9C0D-9D04-41C2-B8E2-18B353D47237}" type="pres">
      <dgm:prSet presAssocID="{5A307F97-8337-459C-8052-DEFA8E9BFD8F}" presName="compositeShape" presStyleCnt="0">
        <dgm:presLayoutVars>
          <dgm:chMax val="7"/>
          <dgm:dir/>
          <dgm:resizeHandles val="exact"/>
        </dgm:presLayoutVars>
      </dgm:prSet>
      <dgm:spPr/>
    </dgm:pt>
  </dgm:ptLst>
  <dgm:cxnLst>
    <dgm:cxn modelId="{DDB3B989-73E1-44B6-908F-5BF0E0E80F9B}" type="presOf" srcId="{5A307F97-8337-459C-8052-DEFA8E9BFD8F}" destId="{E02E9C0D-9D04-41C2-B8E2-18B353D47237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3381-AFEF-490F-AA45-31EC49CF1500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BF31A-114D-494C-A5D5-F6526D175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6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A216A-1E3F-4AD2-B74F-855E5673142F}" type="datetimeFigureOut">
              <a:rPr lang="en-US" smtClean="0"/>
              <a:pPr/>
              <a:t>2/16/2017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13" y="4415133"/>
            <a:ext cx="5609574" cy="4183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FF-9304-4EE8-967B-56F816FBB8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3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9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52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45458D-F099-446B-9491-9F8E66648F69}" type="slidenum">
              <a:rPr lang="en-US" altLang="en-US"/>
              <a:pPr/>
              <a:t>6</a:t>
            </a:fld>
            <a:endParaRPr lang="en-US" alt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4430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569318-0185-43B6-A59A-E3522F749A89}" type="slidenum">
              <a:rPr lang="en-US" altLang="en-US"/>
              <a:pPr/>
              <a:t>8</a:t>
            </a:fld>
            <a:endParaRPr lang="en-US" alt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2390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41091D-329B-4A35-BD97-184FB1FA3BF5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79410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07D813-6239-48ED-B517-2D0F79F9844F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1714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959403-F549-489C-8C81-122FAB9C7D49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6381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071B40-9F98-469B-BB61-FB94C18A579D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0572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79B5E6-17D4-4D2E-83B5-D98040DFB041}" type="slidenum">
              <a:rPr lang="en-US" altLang="en-US"/>
              <a:pPr/>
              <a:t>13</a:t>
            </a:fld>
            <a:endParaRPr lang="en-US" altLang="en-US" dirty="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6337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1DA611-5952-4070-9801-C1B1997A9935}" type="slidenum">
              <a:rPr lang="en-US" altLang="en-US"/>
              <a:pPr/>
              <a:t>14</a:t>
            </a:fld>
            <a:endParaRPr lang="en-US" alt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7192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C058D0-9D05-4F40-A23D-39FF33A5F65A}" type="slidenum">
              <a:rPr lang="en-US" altLang="en-US"/>
              <a:pPr/>
              <a:t>15</a:t>
            </a:fld>
            <a:endParaRPr lang="en-US" alt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60045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AB9ADA-C7EC-457F-A3F9-86AA75894E45}" type="slidenum">
              <a:rPr lang="en-US" altLang="en-US"/>
              <a:pPr/>
              <a:t>16</a:t>
            </a:fld>
            <a:endParaRPr lang="en-US" altLang="en-US" dirty="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3365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1AE3CD-F3F3-4EA1-872A-6BDA643769D7}" type="slidenum">
              <a:rPr lang="en-US" altLang="en-US"/>
              <a:pPr/>
              <a:t>17</a:t>
            </a:fld>
            <a:endParaRPr lang="en-US" altLang="en-US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4887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F4E4FD-D0D7-42BB-B7EE-F1DFB9BA4801}" type="slidenum">
              <a:rPr lang="en-US" altLang="en-US"/>
              <a:pPr/>
              <a:t>18</a:t>
            </a:fld>
            <a:endParaRPr lang="en-US" altLang="en-US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4009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200598-0F66-4F88-94FD-787AF7B8A204}" type="slidenum">
              <a:rPr lang="en-US" altLang="en-US"/>
              <a:pPr/>
              <a:t>19</a:t>
            </a:fld>
            <a:endParaRPr lang="en-US" altLang="en-US" dirty="0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005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A30992-CF03-4269-AE86-2CD3FDF607BC}" type="slidenum">
              <a:rPr lang="en-US" altLang="en-US"/>
              <a:pPr/>
              <a:t>20</a:t>
            </a:fld>
            <a:endParaRPr lang="en-US" alt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6150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532A78-353A-4CED-85A6-0BE790465D80}" type="slidenum">
              <a:rPr lang="en-US" altLang="en-US"/>
              <a:pPr/>
              <a:t>21</a:t>
            </a:fld>
            <a:endParaRPr lang="en-US" altLang="en-US" dirty="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824420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454DFC-FC42-4716-A823-FD9C12A80A7F}" type="slidenum">
              <a:rPr lang="en-US" altLang="en-US"/>
              <a:pPr/>
              <a:t>22</a:t>
            </a:fld>
            <a:endParaRPr lang="en-US" altLang="en-US" dirty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1045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F43D00-CD57-40E4-ADA0-6AE13298FF6B}" type="slidenum">
              <a:rPr lang="en-US" altLang="en-US"/>
              <a:pPr/>
              <a:t>23</a:t>
            </a:fld>
            <a:endParaRPr lang="en-US" alt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40225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E035A5-5CBA-4657-B8F2-9713F4D69E4E}" type="slidenum">
              <a:rPr lang="en-US" altLang="en-US"/>
              <a:pPr/>
              <a:t>24</a:t>
            </a:fld>
            <a:endParaRPr lang="en-US" altLang="en-US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9480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22226A-73AA-4526-97CF-B06EAD5971A5}" type="slidenum">
              <a:rPr lang="en-US" altLang="en-US"/>
              <a:pPr/>
              <a:t>25</a:t>
            </a:fld>
            <a:endParaRPr lang="en-US" altLang="en-US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45095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24C78D-D384-427A-A46F-E9C2DAE79FB7}" type="slidenum">
              <a:rPr lang="en-US" altLang="en-US"/>
              <a:pPr/>
              <a:t>26</a:t>
            </a:fld>
            <a:endParaRPr lang="en-US" altLang="en-US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0950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041FF8-021B-46AF-8837-BA6CDC9D541E}" type="slidenum">
              <a:rPr lang="en-US" altLang="en-US"/>
              <a:pPr/>
              <a:t>27</a:t>
            </a:fld>
            <a:endParaRPr lang="en-US" altLang="en-US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82629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2C2E99-386D-4DE8-9857-A296828087E0}" type="slidenum">
              <a:rPr lang="en-US" altLang="en-US"/>
              <a:pPr/>
              <a:t>28</a:t>
            </a:fld>
            <a:endParaRPr lang="en-US" altLang="en-US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55452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4C8061-0E39-4432-A89B-4D6C687F2ECB}" type="slidenum">
              <a:rPr lang="en-US" altLang="en-US"/>
              <a:pPr/>
              <a:t>29</a:t>
            </a:fld>
            <a:endParaRPr lang="en-US" altLang="en-US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01471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E78259-03ED-4AC6-878C-30EA9F6C4FC8}" type="slidenum">
              <a:rPr lang="en-US" altLang="en-US"/>
              <a:pPr/>
              <a:t>30</a:t>
            </a:fld>
            <a:endParaRPr lang="en-US" altLang="en-US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40256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EAA678-C42B-48C2-8B63-C46B2BB7A791}" type="slidenum">
              <a:rPr lang="en-US" altLang="en-US"/>
              <a:pPr/>
              <a:t>31</a:t>
            </a:fld>
            <a:endParaRPr lang="en-US" altLang="en-US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542213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BE0F98-4B8B-4ABC-B097-A730255664FE}" type="slidenum">
              <a:rPr lang="en-US" altLang="en-US"/>
              <a:pPr/>
              <a:t>32</a:t>
            </a:fld>
            <a:endParaRPr lang="en-US" altLang="en-US" dirty="0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21166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141CA-68F0-4F7F-AC73-05A3AC0B9393}" type="slidenum">
              <a:rPr lang="en-US" altLang="en-US"/>
              <a:pPr/>
              <a:t>33</a:t>
            </a:fld>
            <a:endParaRPr lang="en-US" altLang="en-US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21095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3A5075-548C-421D-ADD2-842D9F4D9741}" type="slidenum">
              <a:rPr lang="en-US" altLang="en-US"/>
              <a:pPr/>
              <a:t>34</a:t>
            </a:fld>
            <a:endParaRPr lang="en-US" altLang="en-US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80975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CCC419-BF34-4040-8C4D-2DABF5C8945D}" type="slidenum">
              <a:rPr lang="en-US" altLang="en-US"/>
              <a:pPr/>
              <a:t>35</a:t>
            </a:fld>
            <a:endParaRPr lang="en-US" altLang="en-US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16479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B56DE7-2443-420E-B57D-A02553CB53AC}" type="slidenum">
              <a:rPr lang="en-US" altLang="en-US"/>
              <a:pPr/>
              <a:t>36</a:t>
            </a:fld>
            <a:endParaRPr lang="en-US" altLang="en-US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00421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674B41-301E-495D-B2DB-4B87857FFEC2}" type="slidenum">
              <a:rPr lang="en-US" altLang="en-US"/>
              <a:pPr/>
              <a:t>37</a:t>
            </a:fld>
            <a:endParaRPr lang="en-US" altLang="en-US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41195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B1AED1-7990-4203-966D-7A140B28B7C7}" type="slidenum">
              <a:rPr lang="en-US" altLang="en-US"/>
              <a:pPr/>
              <a:t>38</a:t>
            </a:fld>
            <a:endParaRPr lang="en-US" altLang="en-US" dirty="0"/>
          </a:p>
        </p:txBody>
      </p:sp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888175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27FE6-94BF-41F1-A0B7-105EA25906AF}" type="slidenum">
              <a:rPr lang="en-US" altLang="en-US"/>
              <a:pPr/>
              <a:t>39</a:t>
            </a:fld>
            <a:endParaRPr lang="en-US" altLang="en-US" dirty="0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275536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C770C5-10DC-4B0A-8E5B-B429123A5C81}" type="slidenum">
              <a:rPr lang="en-US" altLang="en-US"/>
              <a:pPr/>
              <a:t>40</a:t>
            </a:fld>
            <a:endParaRPr lang="en-US" altLang="en-US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88428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BE7C58-84F2-4EBE-A228-200E2C64067E}" type="slidenum">
              <a:rPr lang="en-US" altLang="en-US"/>
              <a:pPr/>
              <a:t>41</a:t>
            </a:fld>
            <a:endParaRPr lang="en-US" altLang="en-US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7690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54CCE5-C940-40A4-834B-1705B629A75E}" type="slidenum">
              <a:rPr lang="en-US" altLang="en-US"/>
              <a:pPr/>
              <a:t>42</a:t>
            </a:fld>
            <a:endParaRPr lang="en-US" altLang="en-US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71570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B83555-2B7A-4959-95E6-73E892E75FD6}" type="slidenum">
              <a:rPr lang="en-US" altLang="en-US"/>
              <a:pPr/>
              <a:t>43</a:t>
            </a:fld>
            <a:endParaRPr lang="en-US" altLang="en-US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64768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062942-68D4-4BBE-8065-052CB6EA1BFF}" type="slidenum">
              <a:rPr lang="en-US" altLang="en-US"/>
              <a:pPr/>
              <a:t>44</a:t>
            </a:fld>
            <a:endParaRPr lang="en-US" altLang="en-US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1344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867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874C4E-DA8F-4AE6-861B-2ACA35C47538}" type="slidenum">
              <a:rPr lang="en-US" altLang="en-US"/>
              <a:pPr/>
              <a:t>46</a:t>
            </a:fld>
            <a:endParaRPr lang="en-US" altLang="en-US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65366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4CE0C6-3A0F-4D34-93B2-7C759F4DACE2}" type="slidenum">
              <a:rPr lang="en-US" altLang="en-US"/>
              <a:pPr/>
              <a:t>47</a:t>
            </a:fld>
            <a:endParaRPr lang="en-US" altLang="en-US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86985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A9712B-EFFB-46DA-8CA9-7D076E943E1E}" type="slidenum">
              <a:rPr lang="en-US" altLang="en-US"/>
              <a:pPr/>
              <a:t>48</a:t>
            </a:fld>
            <a:endParaRPr lang="en-US" altLang="en-US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25428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943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671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472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1623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4F6294-66A6-4CB6-9234-BB5AAD59AFDD}" type="slidenum">
              <a:rPr lang="en-US"/>
              <a:pPr/>
              <a:t>53</a:t>
            </a:fld>
            <a:endParaRPr lang="en-US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6979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969F48-CC96-4A80-A99F-54442D22BF14}" type="slidenum">
              <a:rPr lang="en-US"/>
              <a:pPr/>
              <a:t>54</a:t>
            </a:fld>
            <a:endParaRPr lang="en-US" dirty="0"/>
          </a:p>
        </p:txBody>
      </p:sp>
      <p:sp>
        <p:nvSpPr>
          <p:cNvPr id="68610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555FE0D1-A828-4403-B117-A7E1A3148A08}" type="datetime4">
              <a:rPr lang="en-US" sz="1100">
                <a:solidFill>
                  <a:srgbClr val="FFFFFF"/>
                </a:solidFill>
              </a:rPr>
              <a:pPr algn="r" defTabSz="924236"/>
              <a:t>February 16,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698500"/>
            <a:ext cx="4643437" cy="3484563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676" y="4416099"/>
            <a:ext cx="5136092" cy="4182457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710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835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293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5471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558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46381A7-EA5E-4A6E-AE28-DD45E9CBCD93}" type="datetime1">
              <a:rPr lang="en-US" altLang="en-US" smtClean="0"/>
              <a:pPr>
                <a:defRPr/>
              </a:pPr>
              <a:t>2/16/2017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Proprietary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964F15-7C53-455E-8D1C-C75B528CFAF6}" type="slidenum">
              <a:rPr lang="en-US" altLang="en-US" smtClean="0"/>
              <a:pPr>
                <a:defRPr/>
              </a:pPr>
              <a:t>59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33315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48046C16-456D-409D-ABBD-B0BC6545C6C9}" type="datetime1">
              <a:rPr lang="en-US" altLang="en-US" smtClean="0"/>
              <a:pPr>
                <a:defRPr/>
              </a:pPr>
              <a:t>2/16/2017</a:t>
            </a:fld>
            <a:endParaRPr lang="en-US" altLang="en-US" dirty="0" smtClean="0"/>
          </a:p>
        </p:txBody>
      </p:sp>
      <p:sp>
        <p:nvSpPr>
          <p:cNvPr id="56323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85DB60-29CB-4AE4-9982-81E4F3AFE5F6}" type="slidenum">
              <a:rPr lang="en-US" altLang="en-US" smtClean="0"/>
              <a:pPr>
                <a:defRPr/>
              </a:pPr>
              <a:t>60</a:t>
            </a:fld>
            <a:endParaRPr lang="en-US" altLang="en-US" dirty="0" smtClean="0"/>
          </a:p>
        </p:txBody>
      </p:sp>
      <p:sp>
        <p:nvSpPr>
          <p:cNvPr id="501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8200" cy="3486150"/>
          </a:xfrm>
          <a:ln/>
        </p:spPr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2591" y="4416099"/>
            <a:ext cx="5145220" cy="4182457"/>
          </a:xfrm>
          <a:noFill/>
          <a:ln/>
        </p:spPr>
        <p:txBody>
          <a:bodyPr lIns="93134" tIns="46567" rIns="93134" bIns="46567"/>
          <a:lstStyle/>
          <a:p>
            <a:endParaRPr lang="en-US" dirty="0" smtClean="0">
              <a:latin typeface="Helvetic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11252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9910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227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027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DE6D96-5FE9-414A-9BA0-34288C82892E}" type="slidenum">
              <a:rPr lang="en-US"/>
              <a:pPr/>
              <a:t>64</a:t>
            </a:fld>
            <a:endParaRPr lang="en-US" dirty="0"/>
          </a:p>
        </p:txBody>
      </p:sp>
      <p:sp>
        <p:nvSpPr>
          <p:cNvPr id="189442" name="Rectangle 7"/>
          <p:cNvSpPr txBox="1">
            <a:spLocks noGrp="1" noChangeArrowheads="1"/>
          </p:cNvSpPr>
          <p:nvPr/>
        </p:nvSpPr>
        <p:spPr bwMode="auto">
          <a:xfrm>
            <a:off x="3970734" y="8830659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93" tIns="46047" rIns="92093" bIns="46047" anchor="b"/>
          <a:lstStyle/>
          <a:p>
            <a:pPr algn="r" defTabSz="921175"/>
            <a:fld id="{C866AB2D-8B55-4514-ABC4-C2F09F655434}" type="slidenum">
              <a:rPr lang="en-US" sz="1200"/>
              <a:pPr algn="r" defTabSz="921175"/>
              <a:t>64</a:t>
            </a:fld>
            <a:endParaRPr lang="en-US" sz="1200" dirty="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3995"/>
          </a:xfrm>
        </p:spPr>
        <p:txBody>
          <a:bodyPr lIns="92093" tIns="46047" rIns="92093" bIns="46047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7065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282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7575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725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620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57348" name="Date Placeholder 3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54EED8A-2D52-48FD-BE72-01578EF62C00}" type="datetime1">
              <a:rPr lang="en-US" altLang="en-US" sz="1200" smtClean="0">
                <a:latin typeface="Helvetica" panose="020B0604020202020204" pitchFamily="34" charset="0"/>
              </a:rPr>
              <a:pPr/>
              <a:t>2/16/2017</a:t>
            </a:fld>
            <a:endParaRPr lang="en-US" altLang="en-US" sz="1200" dirty="0" smtClean="0">
              <a:latin typeface="Helvetica" panose="020B0604020202020204" pitchFamily="34" charset="0"/>
            </a:endParaRP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5BAC90B-AF62-4DF2-AC93-432FEA4E0C2C}" type="slidenum">
              <a:rPr lang="en-US" altLang="en-US" sz="1200">
                <a:latin typeface="Helvetica" panose="020B0604020202020204" pitchFamily="34" charset="0"/>
              </a:rPr>
              <a:pPr/>
              <a:t>69</a:t>
            </a:fld>
            <a:endParaRPr lang="en-US" altLang="en-US" sz="12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63735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87F69C-BE21-4944-B9BC-055499F6CE41}" type="slidenum">
              <a:rPr lang="en-US"/>
              <a:pPr/>
              <a:t>70</a:t>
            </a:fld>
            <a:endParaRPr lang="en-US" dirty="0"/>
          </a:p>
        </p:txBody>
      </p:sp>
      <p:sp>
        <p:nvSpPr>
          <p:cNvPr id="64514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08416565-C470-4530-91D7-91DA49B1BCB5}" type="datetime4">
              <a:rPr lang="en-US" sz="1100">
                <a:solidFill>
                  <a:srgbClr val="FFFFFF"/>
                </a:solidFill>
              </a:rPr>
              <a:pPr algn="r" defTabSz="924236"/>
              <a:t>February 16,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3438" cy="3484563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5" y="4417634"/>
            <a:ext cx="5607711" cy="4180921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1722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87F69C-BE21-4944-B9BC-055499F6CE41}" type="slidenum">
              <a:rPr lang="en-US"/>
              <a:pPr/>
              <a:t>71</a:t>
            </a:fld>
            <a:endParaRPr lang="en-US" dirty="0"/>
          </a:p>
        </p:txBody>
      </p:sp>
      <p:sp>
        <p:nvSpPr>
          <p:cNvPr id="64514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08416565-C470-4530-91D7-91DA49B1BCB5}" type="datetime4">
              <a:rPr lang="en-US" sz="1100">
                <a:solidFill>
                  <a:srgbClr val="FFFFFF"/>
                </a:solidFill>
              </a:rPr>
              <a:pPr algn="r" defTabSz="924236"/>
              <a:t>February 16,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43438" cy="3484563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345" y="4417634"/>
            <a:ext cx="5607711" cy="4180921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4833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5934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6425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4464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969F48-CC96-4A80-A99F-54442D22BF14}" type="slidenum">
              <a:rPr lang="en-US"/>
              <a:pPr/>
              <a:t>75</a:t>
            </a:fld>
            <a:endParaRPr lang="en-US" dirty="0"/>
          </a:p>
        </p:txBody>
      </p:sp>
      <p:sp>
        <p:nvSpPr>
          <p:cNvPr id="68610" name="Rectangle 3"/>
          <p:cNvSpPr txBox="1">
            <a:spLocks noGrp="1" noChangeArrowheads="1"/>
          </p:cNvSpPr>
          <p:nvPr/>
        </p:nvSpPr>
        <p:spPr bwMode="auto">
          <a:xfrm>
            <a:off x="3970735" y="1"/>
            <a:ext cx="3039666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263" tIns="46132" rIns="92263" bIns="46132"/>
          <a:lstStyle/>
          <a:p>
            <a:pPr algn="r" defTabSz="924236"/>
            <a:fld id="{555FE0D1-A828-4403-B117-A7E1A3148A08}" type="datetime4">
              <a:rPr lang="en-US" sz="1100">
                <a:solidFill>
                  <a:srgbClr val="FFFFFF"/>
                </a:solidFill>
              </a:rPr>
              <a:pPr algn="r" defTabSz="924236"/>
              <a:t>February 16, 2017</a:t>
            </a:fld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698500"/>
            <a:ext cx="4643437" cy="3484563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676" y="4416099"/>
            <a:ext cx="5136092" cy="4182457"/>
          </a:xfrm>
        </p:spPr>
        <p:txBody>
          <a:bodyPr lIns="92263" tIns="46132" rIns="92263" bIns="46132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4024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939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31905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27482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746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4240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81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1391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8037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9703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6616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2386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430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0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231" y="930872"/>
            <a:ext cx="2817272" cy="739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943225"/>
            <a:ext cx="6400800" cy="640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MACOM Title Slide </a:t>
            </a:r>
            <a:br>
              <a:rPr lang="en-US" dirty="0" smtClean="0"/>
            </a:br>
            <a:r>
              <a:rPr lang="en-US" dirty="0" smtClean="0"/>
              <a:t>Arial Black 24pt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3749040"/>
            <a:ext cx="4572000" cy="731520"/>
          </a:xfrm>
        </p:spPr>
        <p:txBody>
          <a:bodyPr/>
          <a:lstStyle>
            <a:lvl1pPr marL="0" indent="0">
              <a:spcBef>
                <a:spcPts val="600"/>
              </a:spcBef>
              <a:buFontTx/>
              <a:buNone/>
              <a:defRPr sz="1800" baseline="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r>
              <a:rPr lang="en-US" dirty="0" smtClean="0"/>
              <a:t>Click to edit Subhead Arial 18pt</a:t>
            </a:r>
            <a:br>
              <a:rPr lang="en-US" dirty="0" smtClean="0"/>
            </a:br>
            <a:r>
              <a:rPr lang="en-US" dirty="0" smtClean="0"/>
              <a:t>Presenter Name and Date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2426"/>
            <a:ext cx="8766807" cy="27797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554" y="1920240"/>
            <a:ext cx="7315200" cy="64008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88554" y="2651760"/>
            <a:ext cx="7315200" cy="914400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8316913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1130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6400800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767298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12750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12750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6002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711383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4711383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38" y="4988742"/>
            <a:ext cx="6330615" cy="993474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banner 8 Jan_small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3575"/>
            <a:ext cx="9144000" cy="1792733"/>
          </a:xfrm>
          <a:prstGeom prst="rect">
            <a:avLst/>
          </a:prstGeom>
        </p:spPr>
      </p:pic>
      <p:pic>
        <p:nvPicPr>
          <p:cNvPr id="4" name="Picture 3" descr="MACOM wrdmrk 3025 TM Tag RFLT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250" y="1600200"/>
            <a:ext cx="344658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ullet List - Standar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19392" cy="5334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270" y="1059904"/>
            <a:ext cx="7726122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defRPr b="0" i="0" baseline="0"/>
            </a:lvl1pPr>
            <a:lvl2pPr>
              <a:lnSpc>
                <a:spcPct val="100000"/>
              </a:lnSpc>
              <a:spcBef>
                <a:spcPts val="600"/>
              </a:spcBef>
              <a:defRPr sz="1800" b="0" i="0" baseline="0"/>
            </a:lvl2pPr>
            <a:lvl3pPr>
              <a:lnSpc>
                <a:spcPct val="100000"/>
              </a:lnSpc>
              <a:defRPr b="0" i="0" baseline="0"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613525"/>
            <a:ext cx="13208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D7F74-350C-461C-A83B-C5017C8FC408}" type="datetime1">
              <a:rPr lang="en-US" altLang="en-US" smtClean="0"/>
              <a:pPr>
                <a:defRPr/>
              </a:pPr>
              <a:t>2/16/2017</a:t>
            </a:fld>
            <a:endParaRPr lang="en-US" altLang="en-US" dirty="0">
              <a:solidFill>
                <a:srgbClr val="003366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600200" y="6613525"/>
            <a:ext cx="609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BA18-6A16-43B4-BC6F-0B09B9E9A9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4864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200"/>
            <a:ext cx="8031163" cy="457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43025"/>
            <a:ext cx="7988300" cy="49006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45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Content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2106613"/>
            <a:ext cx="7951788" cy="41111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 – Arial 18pt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63113" y="6356350"/>
            <a:ext cx="39052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 dirty="0" smtClean="0"/>
              <a:t>#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Main Content Subhead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09600" y="2655518"/>
            <a:ext cx="7951788" cy="35323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6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922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67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800"/>
            </a:lvl2pPr>
            <a:lvl3pPr>
              <a:defRPr sz="1800"/>
            </a:lvl3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756025" y="6600825"/>
            <a:ext cx="165417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607175"/>
            <a:ext cx="1089025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4C3A4-9881-4D08-B72D-75063D51E101}" type="datetime1">
              <a:rPr lang="en-US"/>
              <a:pPr>
                <a:defRPr/>
              </a:pPr>
              <a:t>2/16/2017</a:t>
            </a:fld>
            <a:endParaRPr lang="en-US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12075" y="6629400"/>
            <a:ext cx="838200" cy="2000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02CF83C-CD11-4319-8827-75C17BD805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369768"/>
      </p:ext>
    </p:extLst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8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74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78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55626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00200"/>
            <a:ext cx="41529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10100" y="1600200"/>
            <a:ext cx="41529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3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0" y="1147763"/>
            <a:ext cx="8774810" cy="0"/>
          </a:xfrm>
          <a:prstGeom prst="line">
            <a:avLst/>
          </a:prstGeom>
          <a:solidFill>
            <a:schemeClr val="accent2"/>
          </a:solidFill>
          <a:ln w="28575" cap="sq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310896"/>
            <a:ext cx="64008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2751" y="1504951"/>
            <a:ext cx="8316912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53996" name="Text Box 12"/>
          <p:cNvSpPr txBox="1">
            <a:spLocks noChangeArrowheads="1"/>
          </p:cNvSpPr>
          <p:nvPr userDrawn="1"/>
        </p:nvSpPr>
        <p:spPr bwMode="gray">
          <a:xfrm>
            <a:off x="412750" y="6557963"/>
            <a:ext cx="5600700" cy="300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1440" tIns="45720" rIns="91440" bIns="45720"/>
          <a:lstStyle/>
          <a:p>
            <a:pPr algn="l">
              <a:spcBef>
                <a:spcPts val="900"/>
              </a:spcBef>
            </a:pPr>
            <a:r>
              <a:rPr lang="en-US" sz="1000" kern="1200" dirty="0" smtClean="0">
                <a:solidFill>
                  <a:schemeClr val="tx2"/>
                </a:solidFill>
                <a:latin typeface="Arial" charset="0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gray">
          <a:xfrm>
            <a:off x="7926388" y="6557963"/>
            <a:ext cx="803275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3200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8AFB4-C6FC-46C2-866E-1D035D18C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1" r:id="rId2"/>
    <p:sldLayoutId id="2147483700" r:id="rId3"/>
    <p:sldLayoutId id="2147483713" r:id="rId4"/>
    <p:sldLayoutId id="2147483702" r:id="rId5"/>
    <p:sldLayoutId id="2147483715" r:id="rId6"/>
    <p:sldLayoutId id="2147483712" r:id="rId7"/>
    <p:sldLayoutId id="2147483704" r:id="rId8"/>
    <p:sldLayoutId id="214748370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</p:sldLayoutIdLst>
  <p:transition>
    <p:wipe dir="r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 Black" panose="020B0A04020102020204" pitchFamily="34" charset="0"/>
        <a:buChar char="&gt;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tx2"/>
          </a:solidFill>
          <a:latin typeface="+mn-lt"/>
        </a:defRPr>
      </a:lvl2pPr>
      <a:lvl3pPr marL="85725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3pPr>
      <a:lvl4pPr marL="11430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4pPr>
      <a:lvl5pPr marL="14859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5pPr>
      <a:lvl6pPr marL="22288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17" Type="http://schemas.openxmlformats.org/officeDocument/2006/relationships/image" Target="../media/image21.emf"/><Relationship Id="rId2" Type="http://schemas.openxmlformats.org/officeDocument/2006/relationships/notesSlide" Target="../notesSlides/notesSlide3.xml"/><Relationship Id="rId16" Type="http://schemas.openxmlformats.org/officeDocument/2006/relationships/slide" Target="slide3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eg"/><Relationship Id="rId11" Type="http://schemas.openxmlformats.org/officeDocument/2006/relationships/image" Target="../media/image17.jpeg"/><Relationship Id="rId5" Type="http://schemas.openxmlformats.org/officeDocument/2006/relationships/image" Target="../media/image11.jpeg"/><Relationship Id="rId1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slide" Target="slide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emf"/><Relationship Id="rId4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jpeg"/><Relationship Id="rId11" Type="http://schemas.openxmlformats.org/officeDocument/2006/relationships/image" Target="../media/image14.png"/><Relationship Id="rId5" Type="http://schemas.openxmlformats.org/officeDocument/2006/relationships/image" Target="../media/image29.emf"/><Relationship Id="rId10" Type="http://schemas.openxmlformats.org/officeDocument/2006/relationships/image" Target="../media/image13.pn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1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2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3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49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50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3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56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24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6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61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27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2.wmf"/><Relationship Id="rId4" Type="http://schemas.openxmlformats.org/officeDocument/2006/relationships/oleObject" Target="../embeddings/oleObject29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7" Type="http://schemas.openxmlformats.org/officeDocument/2006/relationships/image" Target="../media/image64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63.wmf"/><Relationship Id="rId4" Type="http://schemas.openxmlformats.org/officeDocument/2006/relationships/oleObject" Target="../embeddings/oleObject30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66.jpeg"/><Relationship Id="rId10" Type="http://schemas.openxmlformats.org/officeDocument/2006/relationships/image" Target="../media/image68.jpeg"/><Relationship Id="rId4" Type="http://schemas.openxmlformats.org/officeDocument/2006/relationships/image" Target="../media/image10.png"/><Relationship Id="rId9" Type="http://schemas.openxmlformats.org/officeDocument/2006/relationships/image" Target="../media/image67.jpe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png"/><Relationship Id="rId9" Type="http://schemas.openxmlformats.org/officeDocument/2006/relationships/image" Target="../media/image75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2.emf"/><Relationship Id="rId5" Type="http://schemas.openxmlformats.org/officeDocument/2006/relationships/image" Target="../media/image75.emf"/><Relationship Id="rId4" Type="http://schemas.openxmlformats.org/officeDocument/2006/relationships/image" Target="../media/image71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5.png"/><Relationship Id="rId4" Type="http://schemas.openxmlformats.org/officeDocument/2006/relationships/image" Target="../media/image84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9.png"/><Relationship Id="rId5" Type="http://schemas.openxmlformats.org/officeDocument/2006/relationships/image" Target="../media/image88.jpeg"/><Relationship Id="rId4" Type="http://schemas.openxmlformats.org/officeDocument/2006/relationships/image" Target="../media/image8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emf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2.emf"/><Relationship Id="rId5" Type="http://schemas.openxmlformats.org/officeDocument/2006/relationships/image" Target="../media/image71.emf"/><Relationship Id="rId4" Type="http://schemas.openxmlformats.org/officeDocument/2006/relationships/image" Target="../media/image7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em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8.png"/><Relationship Id="rId5" Type="http://schemas.openxmlformats.org/officeDocument/2006/relationships/image" Target="../media/image133.png"/><Relationship Id="rId4" Type="http://schemas.openxmlformats.org/officeDocument/2006/relationships/image" Target="../media/image97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4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48955"/>
            <a:ext cx="6400800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MACOM</a:t>
            </a:r>
            <a:br>
              <a:rPr lang="en-US" dirty="0" smtClean="0"/>
            </a:br>
            <a:r>
              <a:rPr lang="en-US" dirty="0" smtClean="0"/>
              <a:t>Diode Products</a:t>
            </a:r>
            <a:br>
              <a:rPr lang="en-US" dirty="0" smtClean="0"/>
            </a:br>
            <a:r>
              <a:rPr lang="en-US" dirty="0" smtClean="0"/>
              <a:t>rev 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400" y="3777321"/>
            <a:ext cx="4572000" cy="731520"/>
          </a:xfrm>
        </p:spPr>
        <p:txBody>
          <a:bodyPr/>
          <a:lstStyle/>
          <a:p>
            <a:r>
              <a:rPr lang="en-US" dirty="0" smtClean="0"/>
              <a:t>Joe Bukowski, Rick Cory</a:t>
            </a:r>
          </a:p>
          <a:p>
            <a:r>
              <a:rPr lang="en-US" dirty="0" smtClean="0"/>
              <a:t>31 January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0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795" y="422029"/>
            <a:ext cx="52475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 smtClean="0"/>
              <a:t>PRODUCT FAMILIES</a:t>
            </a:r>
          </a:p>
        </p:txBody>
      </p:sp>
      <p:sp>
        <p:nvSpPr>
          <p:cNvPr id="30" name="Freeform 29"/>
          <p:cNvSpPr/>
          <p:nvPr/>
        </p:nvSpPr>
        <p:spPr>
          <a:xfrm>
            <a:off x="3572029" y="3457545"/>
            <a:ext cx="1674580" cy="115096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Diode Products</a:t>
            </a:r>
            <a:endParaRPr lang="en-US" sz="2400" b="1" kern="1200" dirty="0"/>
          </a:p>
        </p:txBody>
      </p:sp>
      <p:sp>
        <p:nvSpPr>
          <p:cNvPr id="32" name="Freeform 31"/>
          <p:cNvSpPr/>
          <p:nvPr/>
        </p:nvSpPr>
        <p:spPr>
          <a:xfrm>
            <a:off x="3689087" y="1488128"/>
            <a:ext cx="1371600" cy="124543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76200">
            <a:solidFill>
              <a:srgbClr val="FF0000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PIN/NIP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Switching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Attenuation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Limiting</a:t>
            </a:r>
            <a:endParaRPr lang="en-US" sz="1400" b="1" kern="1200" dirty="0"/>
          </a:p>
        </p:txBody>
      </p:sp>
      <p:sp>
        <p:nvSpPr>
          <p:cNvPr id="34" name="Freeform 33"/>
          <p:cNvSpPr/>
          <p:nvPr/>
        </p:nvSpPr>
        <p:spPr>
          <a:xfrm>
            <a:off x="5952417" y="2418202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Schottky Diodes: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dirty="0" smtClean="0"/>
              <a:t>Detection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Frequency Mixing</a:t>
            </a:r>
            <a:endParaRPr lang="en-US" sz="1200" b="1" kern="1200" dirty="0"/>
          </a:p>
        </p:txBody>
      </p:sp>
      <p:sp>
        <p:nvSpPr>
          <p:cNvPr id="36" name="Freeform 35"/>
          <p:cNvSpPr/>
          <p:nvPr/>
        </p:nvSpPr>
        <p:spPr>
          <a:xfrm>
            <a:off x="1530167" y="4547701"/>
            <a:ext cx="1371600" cy="1005840"/>
          </a:xfrm>
          <a:custGeom>
            <a:avLst/>
            <a:gdLst>
              <a:gd name="connsiteX0" fmla="*/ 0 w 1196197"/>
              <a:gd name="connsiteY0" fmla="*/ 85508 h 855077"/>
              <a:gd name="connsiteX1" fmla="*/ 25045 w 1196197"/>
              <a:gd name="connsiteY1" fmla="*/ 25045 h 855077"/>
              <a:gd name="connsiteX2" fmla="*/ 85508 w 1196197"/>
              <a:gd name="connsiteY2" fmla="*/ 0 h 855077"/>
              <a:gd name="connsiteX3" fmla="*/ 1110689 w 1196197"/>
              <a:gd name="connsiteY3" fmla="*/ 0 h 855077"/>
              <a:gd name="connsiteX4" fmla="*/ 1171152 w 1196197"/>
              <a:gd name="connsiteY4" fmla="*/ 25045 h 855077"/>
              <a:gd name="connsiteX5" fmla="*/ 1196197 w 1196197"/>
              <a:gd name="connsiteY5" fmla="*/ 85508 h 855077"/>
              <a:gd name="connsiteX6" fmla="*/ 1196197 w 1196197"/>
              <a:gd name="connsiteY6" fmla="*/ 769569 h 855077"/>
              <a:gd name="connsiteX7" fmla="*/ 1171152 w 1196197"/>
              <a:gd name="connsiteY7" fmla="*/ 830032 h 855077"/>
              <a:gd name="connsiteX8" fmla="*/ 1110689 w 1196197"/>
              <a:gd name="connsiteY8" fmla="*/ 855077 h 855077"/>
              <a:gd name="connsiteX9" fmla="*/ 85508 w 1196197"/>
              <a:gd name="connsiteY9" fmla="*/ 855077 h 855077"/>
              <a:gd name="connsiteX10" fmla="*/ 25045 w 1196197"/>
              <a:gd name="connsiteY10" fmla="*/ 830032 h 855077"/>
              <a:gd name="connsiteX11" fmla="*/ 0 w 1196197"/>
              <a:gd name="connsiteY11" fmla="*/ 769569 h 855077"/>
              <a:gd name="connsiteX12" fmla="*/ 0 w 1196197"/>
              <a:gd name="connsiteY12" fmla="*/ 85508 h 85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855077">
                <a:moveTo>
                  <a:pt x="0" y="85508"/>
                </a:moveTo>
                <a:cubicBezTo>
                  <a:pt x="0" y="62830"/>
                  <a:pt x="9009" y="41081"/>
                  <a:pt x="25045" y="25045"/>
                </a:cubicBezTo>
                <a:cubicBezTo>
                  <a:pt x="41081" y="9009"/>
                  <a:pt x="62830" y="0"/>
                  <a:pt x="85508" y="0"/>
                </a:cubicBezTo>
                <a:lnTo>
                  <a:pt x="1110689" y="0"/>
                </a:lnTo>
                <a:cubicBezTo>
                  <a:pt x="1133367" y="0"/>
                  <a:pt x="1155116" y="9009"/>
                  <a:pt x="1171152" y="25045"/>
                </a:cubicBezTo>
                <a:cubicBezTo>
                  <a:pt x="1187188" y="41081"/>
                  <a:pt x="1196197" y="62830"/>
                  <a:pt x="1196197" y="85508"/>
                </a:cubicBezTo>
                <a:lnTo>
                  <a:pt x="1196197" y="769569"/>
                </a:lnTo>
                <a:cubicBezTo>
                  <a:pt x="1196197" y="792247"/>
                  <a:pt x="1187188" y="813996"/>
                  <a:pt x="1171152" y="830032"/>
                </a:cubicBezTo>
                <a:cubicBezTo>
                  <a:pt x="1155116" y="846068"/>
                  <a:pt x="1133367" y="855077"/>
                  <a:pt x="1110689" y="855077"/>
                </a:cubicBezTo>
                <a:lnTo>
                  <a:pt x="85508" y="855077"/>
                </a:lnTo>
                <a:cubicBezTo>
                  <a:pt x="62830" y="855077"/>
                  <a:pt x="41081" y="846068"/>
                  <a:pt x="25045" y="830032"/>
                </a:cubicBezTo>
                <a:cubicBezTo>
                  <a:pt x="9009" y="813996"/>
                  <a:pt x="0" y="792247"/>
                  <a:pt x="0" y="769569"/>
                </a:cubicBezTo>
                <a:lnTo>
                  <a:pt x="0" y="85508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204" tIns="35204" rIns="35204" bIns="35204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/>
              <a:t>Attenuators</a:t>
            </a:r>
            <a:endParaRPr lang="en-US" sz="1600" b="1" kern="1200" dirty="0"/>
          </a:p>
        </p:txBody>
      </p:sp>
      <p:sp>
        <p:nvSpPr>
          <p:cNvPr id="38" name="Freeform 37"/>
          <p:cNvSpPr/>
          <p:nvPr/>
        </p:nvSpPr>
        <p:spPr>
          <a:xfrm>
            <a:off x="1530167" y="2400774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Varactor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Tuning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Phase Shifting</a:t>
            </a:r>
            <a:endParaRPr lang="en-US" sz="1200" b="1" kern="1200" dirty="0"/>
          </a:p>
        </p:txBody>
      </p:sp>
      <p:sp>
        <p:nvSpPr>
          <p:cNvPr id="40" name="Freeform 39"/>
          <p:cNvSpPr/>
          <p:nvPr/>
        </p:nvSpPr>
        <p:spPr>
          <a:xfrm>
            <a:off x="3682783" y="5343763"/>
            <a:ext cx="1371600" cy="134715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Passive Devices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RF Chokes/Inductors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MNS Capacitors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Resistors</a:t>
            </a:r>
            <a:endParaRPr lang="en-US" sz="1200" b="1" kern="1200" dirty="0"/>
          </a:p>
        </p:txBody>
      </p:sp>
      <p:sp>
        <p:nvSpPr>
          <p:cNvPr id="42" name="Freeform 41"/>
          <p:cNvSpPr/>
          <p:nvPr/>
        </p:nvSpPr>
        <p:spPr>
          <a:xfrm>
            <a:off x="5952417" y="4540776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Multiplier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Frequency Multiplication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Waveshaping</a:t>
            </a:r>
            <a:endParaRPr lang="en-US" sz="1200" b="1" kern="12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4383742" y="2838484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2994212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369616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69616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994212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368583" y="4724702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9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164" y="126938"/>
            <a:ext cx="5978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PRODUCT CONFIGURATIONS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321258" y="704290"/>
            <a:ext cx="6550523" cy="4240546"/>
            <a:chOff x="1312293" y="623612"/>
            <a:chExt cx="6550523" cy="4240546"/>
          </a:xfrm>
        </p:grpSpPr>
        <p:pic>
          <p:nvPicPr>
            <p:cNvPr id="73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2262414">
              <a:off x="3938672" y="623612"/>
              <a:ext cx="741505" cy="602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" name="Freeform 54"/>
            <p:cNvSpPr/>
            <p:nvPr/>
          </p:nvSpPr>
          <p:spPr>
            <a:xfrm>
              <a:off x="3745061" y="2282615"/>
              <a:ext cx="1162320" cy="900541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dirty="0"/>
                <a:t>Discrete Device</a:t>
              </a:r>
            </a:p>
          </p:txBody>
        </p:sp>
        <p:grpSp>
          <p:nvGrpSpPr>
            <p:cNvPr id="93" name="Group 51"/>
            <p:cNvGrpSpPr/>
            <p:nvPr/>
          </p:nvGrpSpPr>
          <p:grpSpPr>
            <a:xfrm rot="5188313">
              <a:off x="1200824" y="1905375"/>
              <a:ext cx="1066813" cy="329043"/>
              <a:chOff x="2326737" y="1119150"/>
              <a:chExt cx="1089965" cy="332770"/>
            </a:xfrm>
          </p:grpSpPr>
          <p:pic>
            <p:nvPicPr>
              <p:cNvPr id="95" name="Picture 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96511">
                <a:off x="2730144" y="1137595"/>
                <a:ext cx="323850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6" name="Picture 4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19677519">
                <a:off x="2326737" y="1119150"/>
                <a:ext cx="323850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97" name="Picture 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21040387">
                <a:off x="3092852" y="1136284"/>
                <a:ext cx="323850" cy="314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94" name="Freeform 93"/>
            <p:cNvSpPr/>
            <p:nvPr/>
          </p:nvSpPr>
          <p:spPr>
            <a:xfrm>
              <a:off x="2085071" y="1661384"/>
              <a:ext cx="1170788" cy="591399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Bare Die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18 GHz)</a:t>
              </a:r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5415394" y="1452353"/>
              <a:ext cx="2447422" cy="845500"/>
              <a:chOff x="7495028" y="4286137"/>
              <a:chExt cx="2500537" cy="855077"/>
            </a:xfrm>
          </p:grpSpPr>
          <p:pic>
            <p:nvPicPr>
              <p:cNvPr id="90" name="Picture 4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29096">
                <a:off x="9420243" y="4749811"/>
                <a:ext cx="575322" cy="249827"/>
              </a:xfrm>
              <a:prstGeom prst="rect">
                <a:avLst/>
              </a:prstGeom>
              <a:solidFill>
                <a:schemeClr val="folHlink">
                  <a:alpha val="94901"/>
                </a:schemeClr>
              </a:solidFill>
              <a:ln w="28575">
                <a:solidFill>
                  <a:schemeClr val="folHlink"/>
                </a:solidFill>
                <a:miter lim="800000"/>
                <a:headEnd/>
                <a:tailEnd/>
              </a:ln>
            </p:spPr>
          </p:pic>
          <p:pic>
            <p:nvPicPr>
              <p:cNvPr id="91" name="Picture 6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4729279">
                <a:off x="8846045" y="4646281"/>
                <a:ext cx="598631" cy="2836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2" name="Freeform 91"/>
              <p:cNvSpPr/>
              <p:nvPr/>
            </p:nvSpPr>
            <p:spPr>
              <a:xfrm>
                <a:off x="7495028" y="4286137"/>
                <a:ext cx="1196197" cy="855077"/>
              </a:xfrm>
              <a:custGeom>
                <a:avLst/>
                <a:gdLst>
                  <a:gd name="connsiteX0" fmla="*/ 0 w 1196197"/>
                  <a:gd name="connsiteY0" fmla="*/ 85508 h 855077"/>
                  <a:gd name="connsiteX1" fmla="*/ 25045 w 1196197"/>
                  <a:gd name="connsiteY1" fmla="*/ 25045 h 855077"/>
                  <a:gd name="connsiteX2" fmla="*/ 85508 w 1196197"/>
                  <a:gd name="connsiteY2" fmla="*/ 0 h 855077"/>
                  <a:gd name="connsiteX3" fmla="*/ 1110689 w 1196197"/>
                  <a:gd name="connsiteY3" fmla="*/ 0 h 855077"/>
                  <a:gd name="connsiteX4" fmla="*/ 1171152 w 1196197"/>
                  <a:gd name="connsiteY4" fmla="*/ 25045 h 855077"/>
                  <a:gd name="connsiteX5" fmla="*/ 1196197 w 1196197"/>
                  <a:gd name="connsiteY5" fmla="*/ 85508 h 855077"/>
                  <a:gd name="connsiteX6" fmla="*/ 1196197 w 1196197"/>
                  <a:gd name="connsiteY6" fmla="*/ 769569 h 855077"/>
                  <a:gd name="connsiteX7" fmla="*/ 1171152 w 1196197"/>
                  <a:gd name="connsiteY7" fmla="*/ 830032 h 855077"/>
                  <a:gd name="connsiteX8" fmla="*/ 1110689 w 1196197"/>
                  <a:gd name="connsiteY8" fmla="*/ 855077 h 855077"/>
                  <a:gd name="connsiteX9" fmla="*/ 85508 w 1196197"/>
                  <a:gd name="connsiteY9" fmla="*/ 855077 h 855077"/>
                  <a:gd name="connsiteX10" fmla="*/ 25045 w 1196197"/>
                  <a:gd name="connsiteY10" fmla="*/ 830032 h 855077"/>
                  <a:gd name="connsiteX11" fmla="*/ 0 w 1196197"/>
                  <a:gd name="connsiteY11" fmla="*/ 769569 h 855077"/>
                  <a:gd name="connsiteX12" fmla="*/ 0 w 1196197"/>
                  <a:gd name="connsiteY12" fmla="*/ 85508 h 855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96197" h="855077">
                    <a:moveTo>
                      <a:pt x="0" y="85508"/>
                    </a:moveTo>
                    <a:cubicBezTo>
                      <a:pt x="0" y="62830"/>
                      <a:pt x="9009" y="41081"/>
                      <a:pt x="25045" y="25045"/>
                    </a:cubicBezTo>
                    <a:cubicBezTo>
                      <a:pt x="41081" y="9009"/>
                      <a:pt x="62830" y="0"/>
                      <a:pt x="85508" y="0"/>
                    </a:cubicBezTo>
                    <a:lnTo>
                      <a:pt x="1110689" y="0"/>
                    </a:lnTo>
                    <a:cubicBezTo>
                      <a:pt x="1133367" y="0"/>
                      <a:pt x="1155116" y="9009"/>
                      <a:pt x="1171152" y="25045"/>
                    </a:cubicBezTo>
                    <a:cubicBezTo>
                      <a:pt x="1187188" y="41081"/>
                      <a:pt x="1196197" y="62830"/>
                      <a:pt x="1196197" y="85508"/>
                    </a:cubicBezTo>
                    <a:lnTo>
                      <a:pt x="1196197" y="769569"/>
                    </a:lnTo>
                    <a:cubicBezTo>
                      <a:pt x="1196197" y="792247"/>
                      <a:pt x="1187188" y="813996"/>
                      <a:pt x="1171152" y="830032"/>
                    </a:cubicBezTo>
                    <a:cubicBezTo>
                      <a:pt x="1155116" y="846068"/>
                      <a:pt x="1133367" y="855077"/>
                      <a:pt x="1110689" y="855077"/>
                    </a:cubicBezTo>
                    <a:lnTo>
                      <a:pt x="85508" y="855077"/>
                    </a:lnTo>
                    <a:cubicBezTo>
                      <a:pt x="62830" y="855077"/>
                      <a:pt x="41081" y="846068"/>
                      <a:pt x="25045" y="830032"/>
                    </a:cubicBezTo>
                    <a:cubicBezTo>
                      <a:pt x="9009" y="813996"/>
                      <a:pt x="0" y="792247"/>
                      <a:pt x="0" y="769569"/>
                    </a:cubicBezTo>
                    <a:lnTo>
                      <a:pt x="0" y="85508"/>
                    </a:lnTo>
                    <a:close/>
                  </a:path>
                </a:pathLst>
              </a:custGeom>
              <a:solidFill>
                <a:srgbClr val="18921E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204" tIns="35204" rIns="35204" bIns="35204" numCol="1" spcCol="1270" anchor="ctr" anchorCtr="0">
                <a:noAutofit/>
              </a:bodyPr>
              <a:lstStyle/>
              <a:p>
                <a:pPr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b="1" dirty="0"/>
                  <a:t>HMIC Discrete Surmount</a:t>
                </a:r>
              </a:p>
              <a:p>
                <a:pPr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b="1" dirty="0"/>
                  <a:t>(to 26.5GHz)</a:t>
                </a:r>
              </a:p>
            </p:txBody>
          </p:sp>
        </p:grpSp>
        <p:pic>
          <p:nvPicPr>
            <p:cNvPr id="87" name="Picture 21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 rot="19472443">
              <a:off x="4581674" y="4491237"/>
              <a:ext cx="651413" cy="372921"/>
            </a:xfrm>
            <a:prstGeom prst="rect">
              <a:avLst/>
            </a:prstGeom>
            <a:noFill/>
          </p:spPr>
        </p:pic>
        <p:pic>
          <p:nvPicPr>
            <p:cNvPr id="88" name="Picture 1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13393308">
              <a:off x="3480219" y="4562409"/>
              <a:ext cx="621609" cy="298326"/>
            </a:xfrm>
            <a:prstGeom prst="rect">
              <a:avLst/>
            </a:prstGeom>
            <a:noFill/>
          </p:spPr>
        </p:pic>
        <p:sp>
          <p:nvSpPr>
            <p:cNvPr id="89" name="Freeform 88"/>
            <p:cNvSpPr/>
            <p:nvPr/>
          </p:nvSpPr>
          <p:spPr>
            <a:xfrm>
              <a:off x="3705407" y="3682117"/>
              <a:ext cx="1170788" cy="69393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Beam Lead/ Flip Chip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70+ GHz) </a:t>
              </a:r>
            </a:p>
          </p:txBody>
        </p:sp>
        <p:sp>
          <p:nvSpPr>
            <p:cNvPr id="81" name="Freeform 80"/>
            <p:cNvSpPr/>
            <p:nvPr/>
          </p:nvSpPr>
          <p:spPr>
            <a:xfrm>
              <a:off x="2076285" y="3115514"/>
              <a:ext cx="1170788" cy="591399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MELF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1 GHz)</a:t>
              </a:r>
            </a:p>
          </p:txBody>
        </p:sp>
        <p:grpSp>
          <p:nvGrpSpPr>
            <p:cNvPr id="82" name="Group 47"/>
            <p:cNvGrpSpPr/>
            <p:nvPr/>
          </p:nvGrpSpPr>
          <p:grpSpPr>
            <a:xfrm>
              <a:off x="1312293" y="3079415"/>
              <a:ext cx="585127" cy="788221"/>
              <a:chOff x="6332180" y="4448034"/>
              <a:chExt cx="597826" cy="797149"/>
            </a:xfrm>
          </p:grpSpPr>
          <p:pic>
            <p:nvPicPr>
              <p:cNvPr id="83" name="Picture 5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354126">
                <a:off x="6332180" y="4832458"/>
                <a:ext cx="536189" cy="412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5" name="Picture 5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963865">
                <a:off x="6407694" y="4448034"/>
                <a:ext cx="522312" cy="4020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75" name="Freeform 74"/>
            <p:cNvSpPr/>
            <p:nvPr/>
          </p:nvSpPr>
          <p:spPr>
            <a:xfrm>
              <a:off x="5405369" y="3124762"/>
              <a:ext cx="1170788" cy="641234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050" b="1" dirty="0"/>
                <a:t>Hermetic Packaged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tabLst>
                  <a:tab pos="1603375" algn="l"/>
                </a:tabLst>
              </a:pPr>
              <a:r>
                <a:rPr lang="en-US" sz="1050" b="1" dirty="0"/>
                <a:t>(to 12 GHz)</a:t>
              </a:r>
            </a:p>
          </p:txBody>
        </p:sp>
        <p:grpSp>
          <p:nvGrpSpPr>
            <p:cNvPr id="77" name="Group 50"/>
            <p:cNvGrpSpPr/>
            <p:nvPr/>
          </p:nvGrpSpPr>
          <p:grpSpPr>
            <a:xfrm rot="3921021">
              <a:off x="6218046" y="2981132"/>
              <a:ext cx="1597957" cy="860160"/>
              <a:chOff x="4772791" y="550602"/>
              <a:chExt cx="1632636" cy="869903"/>
            </a:xfrm>
          </p:grpSpPr>
          <p:pic>
            <p:nvPicPr>
              <p:cNvPr id="78" name="Picture 53" descr="1056 ceramic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72791" y="671481"/>
                <a:ext cx="700513" cy="350942"/>
              </a:xfrm>
              <a:prstGeom prst="rect">
                <a:avLst/>
              </a:prstGeom>
              <a:noFill/>
            </p:spPr>
          </p:pic>
          <p:pic>
            <p:nvPicPr>
              <p:cNvPr id="79" name="Picture 78" descr="1082 ceramic.jpg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97905" y="550602"/>
                <a:ext cx="807522" cy="484761"/>
              </a:xfrm>
              <a:prstGeom prst="rect">
                <a:avLst/>
              </a:prstGeom>
            </p:spPr>
          </p:pic>
          <p:pic>
            <p:nvPicPr>
              <p:cNvPr id="80" name="Picture 18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8326268" flipH="1">
                <a:off x="5865108" y="1129729"/>
                <a:ext cx="512881" cy="290776"/>
              </a:xfrm>
              <a:prstGeom prst="rect">
                <a:avLst/>
              </a:prstGeom>
              <a:noFill/>
            </p:spPr>
          </p:pic>
        </p:grpSp>
        <p:cxnSp>
          <p:nvCxnSpPr>
            <p:cNvPr id="61" name="Straight Arrow Connector 60"/>
            <p:cNvCxnSpPr/>
            <p:nvPr/>
          </p:nvCxnSpPr>
          <p:spPr>
            <a:xfrm flipV="1">
              <a:off x="4290801" y="1901321"/>
              <a:ext cx="0" cy="2824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4935729" y="2133240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/>
            <p:cNvSpPr/>
            <p:nvPr/>
          </p:nvSpPr>
          <p:spPr>
            <a:xfrm>
              <a:off x="3764941" y="1224203"/>
              <a:ext cx="1170788" cy="59140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Plastic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6 GHz)</a:t>
              </a:r>
            </a:p>
          </p:txBody>
        </p:sp>
        <p:cxnSp>
          <p:nvCxnSpPr>
            <p:cNvPr id="99" name="Straight Arrow Connector 98"/>
            <p:cNvCxnSpPr/>
            <p:nvPr/>
          </p:nvCxnSpPr>
          <p:spPr>
            <a:xfrm>
              <a:off x="4278543" y="3304136"/>
              <a:ext cx="0" cy="2824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/>
            <p:nvPr/>
          </p:nvCxnSpPr>
          <p:spPr>
            <a:xfrm flipH="1" flipV="1">
              <a:off x="3322927" y="2126427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/>
            <p:nvPr/>
          </p:nvCxnSpPr>
          <p:spPr>
            <a:xfrm flipH="1">
              <a:off x="3322927" y="3204043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4935729" y="3204043"/>
              <a:ext cx="340010" cy="1659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141136" y="5160572"/>
            <a:ext cx="6870265" cy="1323670"/>
            <a:chOff x="1454900" y="5296248"/>
            <a:chExt cx="6870265" cy="1323670"/>
          </a:xfrm>
        </p:grpSpPr>
        <p:pic>
          <p:nvPicPr>
            <p:cNvPr id="44" name="Picture 36">
              <a:hlinkClick r:id="rId14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21040347">
              <a:off x="1454900" y="6069182"/>
              <a:ext cx="641373" cy="550736"/>
            </a:xfrm>
            <a:prstGeom prst="rect">
              <a:avLst/>
            </a:prstGeom>
            <a:noFill/>
            <a:ln w="38100">
              <a:solidFill>
                <a:srgbClr val="001522"/>
              </a:solidFill>
              <a:miter lim="800000"/>
              <a:headEnd/>
              <a:tailEnd/>
            </a:ln>
          </p:spPr>
        </p:pic>
        <p:pic>
          <p:nvPicPr>
            <p:cNvPr id="46" name="Picture 16">
              <a:hlinkClick r:id="rId16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803430">
              <a:off x="1509881" y="5296248"/>
              <a:ext cx="608383" cy="47944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/>
            </a:ln>
            <a:effectLst/>
          </p:spPr>
        </p:pic>
        <p:sp>
          <p:nvSpPr>
            <p:cNvPr id="48" name="Freeform 47"/>
            <p:cNvSpPr/>
            <p:nvPr/>
          </p:nvSpPr>
          <p:spPr>
            <a:xfrm>
              <a:off x="3823970" y="5479391"/>
              <a:ext cx="1698286" cy="95272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dirty="0"/>
                <a:t>Integrated Solutions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266708" y="5568913"/>
              <a:ext cx="1157811" cy="814217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HMIC,  </a:t>
              </a:r>
              <a:r>
                <a:rPr lang="en-US" sz="1050" b="1" dirty="0" smtClean="0"/>
                <a:t>AlGaAs</a:t>
              </a:r>
              <a:endParaRPr lang="en-US" sz="1050" b="1" dirty="0"/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70+ GHz) </a:t>
              </a:r>
            </a:p>
          </p:txBody>
        </p:sp>
        <p:sp>
          <p:nvSpPr>
            <p:cNvPr id="50" name="Freeform 49"/>
            <p:cNvSpPr/>
            <p:nvPr/>
          </p:nvSpPr>
          <p:spPr>
            <a:xfrm>
              <a:off x="5893536" y="5568015"/>
              <a:ext cx="1354666" cy="788220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00206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Hybrid Solutions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Multichip Modules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8 GHz)</a:t>
              </a:r>
            </a:p>
          </p:txBody>
        </p:sp>
        <p:pic>
          <p:nvPicPr>
            <p:cNvPr id="53" name="Picture 5" descr="Untitled.png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9787" y="5671940"/>
              <a:ext cx="915378" cy="603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8" name="Straight Arrow Connector 97"/>
            <p:cNvCxnSpPr/>
            <p:nvPr/>
          </p:nvCxnSpPr>
          <p:spPr>
            <a:xfrm>
              <a:off x="5551137" y="5967056"/>
              <a:ext cx="293852" cy="65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 flipH="1">
              <a:off x="3465389" y="5967056"/>
              <a:ext cx="293852" cy="65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94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ybrid coupler PIN VVA block diagram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17989" y="4239660"/>
            <a:ext cx="12731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High isolation generic PIN SPDT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1642" y="4502766"/>
            <a:ext cx="33131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single stage limiter.e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2854" y="4502766"/>
            <a:ext cx="2425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PIN Diodes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Switching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Attenuation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Receiver Protector Limiting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Diodes	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9652" y="1188610"/>
            <a:ext cx="4962323" cy="1293205"/>
          </a:xfrm>
        </p:spPr>
        <p:txBody>
          <a:bodyPr>
            <a:noAutofit/>
          </a:bodyPr>
          <a:lstStyle/>
          <a:p>
            <a:r>
              <a:rPr lang="en-US" dirty="0"/>
              <a:t>PIN Diodes </a:t>
            </a:r>
            <a:r>
              <a:rPr lang="en-US" dirty="0" smtClean="0"/>
              <a:t>used in switches typically have low capacitance and low series resistance</a:t>
            </a:r>
            <a:endParaRPr lang="en-US" dirty="0"/>
          </a:p>
          <a:p>
            <a:r>
              <a:rPr lang="en-US" dirty="0" smtClean="0"/>
              <a:t>I layer thickness and thermal resistance determine RF power handling</a:t>
            </a:r>
            <a:endParaRPr lang="en-US" dirty="0"/>
          </a:p>
        </p:txBody>
      </p:sp>
      <p:pic>
        <p:nvPicPr>
          <p:cNvPr id="4" name="Picture 5" descr="High isolation generic PIN SPDT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137" y="1289341"/>
            <a:ext cx="3653228" cy="151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hybrid coupler PIN VVA block diagram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83837" y="2776068"/>
            <a:ext cx="13951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 descr="single stage limiter.em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1583" y="4909171"/>
            <a:ext cx="2425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gray">
          <a:xfrm>
            <a:off x="318137" y="3247480"/>
            <a:ext cx="5446055" cy="1293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85750" indent="-285750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Font typeface="Arial Black" panose="020B0A04020102020204" pitchFamily="34" charset="0"/>
              <a:buChar char="&gt;"/>
              <a:defRPr sz="2000" b="0" i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baseline="0">
                <a:solidFill>
                  <a:schemeClr val="tx2"/>
                </a:solidFill>
                <a:latin typeface="+mn-lt"/>
              </a:defRPr>
            </a:lvl2pPr>
            <a:lvl3pPr marL="857250" indent="-22860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 baseline="0">
                <a:solidFill>
                  <a:schemeClr val="tx2"/>
                </a:solidFill>
                <a:latin typeface="+mn-lt"/>
              </a:defRPr>
            </a:lvl3pPr>
            <a:lvl4pPr marL="11430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4pPr>
            <a:lvl5pPr marL="1485900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n-lt"/>
              </a:defRPr>
            </a:lvl5pPr>
            <a:lvl6pPr marL="22288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PIN Diodes used in attenuators typically have 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low capacitance for low insertion loss</a:t>
            </a:r>
          </a:p>
          <a:p>
            <a:pPr lvl="1" fontAlgn="auto">
              <a:spcAft>
                <a:spcPts val="0"/>
              </a:spcAft>
            </a:pPr>
            <a:r>
              <a:rPr lang="en-US" dirty="0"/>
              <a:t>thick I layers for large available range of resistance and low distortion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gray">
          <a:xfrm>
            <a:off x="3505920" y="5104930"/>
            <a:ext cx="5446055" cy="1293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285750" indent="-285750" algn="l" rtl="0" eaLnBrk="1" fontAlgn="base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Font typeface="Arial Black" panose="020B0A04020102020204" pitchFamily="34" charset="0"/>
              <a:buChar char="&gt;"/>
              <a:defRPr sz="2000" b="0" i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15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baseline="0">
                <a:solidFill>
                  <a:schemeClr val="tx2"/>
                </a:solidFill>
                <a:latin typeface="+mn-lt"/>
              </a:defRPr>
            </a:lvl2pPr>
            <a:lvl3pPr marL="857250" indent="-228600" algn="l" rtl="0" eaLnBrk="1" fontAlgn="base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b="0" i="0" baseline="0">
                <a:solidFill>
                  <a:schemeClr val="tx2"/>
                </a:solidFill>
                <a:latin typeface="+mn-lt"/>
              </a:defRPr>
            </a:lvl3pPr>
            <a:lvl4pPr marL="1143000" indent="-22860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4pPr>
            <a:lvl5pPr marL="1485900" indent="-228600" algn="l" rtl="0" eaLnBrk="1" fontAlgn="base" hangingPunct="1">
              <a:lnSpc>
                <a:spcPct val="95000"/>
              </a:lnSpc>
              <a:spcBef>
                <a:spcPts val="800"/>
              </a:spcBef>
              <a:spcAft>
                <a:spcPct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n-lt"/>
              </a:defRPr>
            </a:lvl5pPr>
            <a:lvl6pPr marL="22288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1" fontAlgn="base" hangingPunct="1">
              <a:lnSpc>
                <a:spcPct val="95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PIN Diodes used in limiters typically have low capacitance for low insertion loss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I layer thickness determines threshold level, recovery time and flat leakage</a:t>
            </a:r>
          </a:p>
        </p:txBody>
      </p:sp>
    </p:spTree>
    <p:extLst>
      <p:ext uri="{BB962C8B-B14F-4D97-AF65-F5344CB8AC3E}">
        <p14:creationId xmlns:p14="http://schemas.microsoft.com/office/powerpoint/2010/main" val="372646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PIN Diodes	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114800"/>
          </a:xfrm>
        </p:spPr>
        <p:txBody>
          <a:bodyPr/>
          <a:lstStyle/>
          <a:p>
            <a:r>
              <a:rPr lang="en-US" altLang="en-US" sz="2800" dirty="0"/>
              <a:t>PIN Diodes are current-controlled RF resistors</a:t>
            </a:r>
          </a:p>
          <a:p>
            <a:r>
              <a:rPr lang="en-US" altLang="en-US" sz="2800" dirty="0"/>
              <a:t>Primarily used in control circuits</a:t>
            </a:r>
          </a:p>
          <a:p>
            <a:pPr lvl="1"/>
            <a:r>
              <a:rPr lang="en-US" altLang="en-US" sz="2400" dirty="0"/>
              <a:t>Switches </a:t>
            </a:r>
          </a:p>
          <a:p>
            <a:pPr lvl="1"/>
            <a:r>
              <a:rPr lang="en-US" altLang="en-US" sz="2400" dirty="0"/>
              <a:t>Attenuators </a:t>
            </a:r>
          </a:p>
          <a:p>
            <a:pPr lvl="1"/>
            <a:r>
              <a:rPr lang="en-US" altLang="en-US" sz="2400" dirty="0"/>
              <a:t>(Switched Transmission Line) Phase shifters</a:t>
            </a:r>
          </a:p>
          <a:p>
            <a:r>
              <a:rPr lang="en-US" altLang="en-US" sz="2800" dirty="0" smtClean="0"/>
              <a:t>MACOM </a:t>
            </a:r>
            <a:r>
              <a:rPr lang="en-US" altLang="en-US" sz="2800" dirty="0"/>
              <a:t>PIN diodes made from </a:t>
            </a:r>
            <a:r>
              <a:rPr lang="en-US" altLang="en-US" sz="2800" dirty="0" smtClean="0"/>
              <a:t>Si, GaAs or AlGaAs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398015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835" y="288365"/>
            <a:ext cx="3083859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PIN Diode Families</a:t>
            </a:r>
            <a:endParaRPr lang="en-US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/>
          </p:nvPr>
        </p:nvGraphicFramePr>
        <p:xfrm>
          <a:off x="627529" y="1198482"/>
          <a:ext cx="7988300" cy="5289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1997075"/>
                <a:gridCol w="1997075"/>
                <a:gridCol w="1997075"/>
              </a:tblGrid>
              <a:tr h="485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Si Discrete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Si HMIC™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GaAs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AlGaAs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84729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0754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Wide operating frequency range, to</a:t>
                      </a:r>
                      <a:r>
                        <a:rPr lang="en-US" sz="1400" baseline="0" dirty="0" smtClean="0"/>
                        <a:t> 20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Excellent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PIN and NIP diodes available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I layer: 2 – 300 µm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Beam leads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Very Wide operating frequency range, to 30 GHz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 </a:t>
                      </a:r>
                      <a:r>
                        <a:rPr lang="en-US" sz="1400" baseline="0" dirty="0" smtClean="0"/>
                        <a:t>I layer: 8 – 100 µm</a:t>
                      </a:r>
                      <a:endParaRPr lang="en-US" sz="1400" dirty="0" smtClean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Single junction devices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Wire-bondable or solderable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Wide operating frequency range, to</a:t>
                      </a:r>
                      <a:r>
                        <a:rPr lang="en-US" sz="1400" baseline="0" dirty="0" smtClean="0"/>
                        <a:t> 30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Good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Beam leads</a:t>
                      </a:r>
                      <a:endParaRPr lang="en-US" sz="1400" dirty="0" smtClean="0"/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Extremely Wide operating frequency range, to 100 GHz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Lower insertion loss than comparable Si or GaAs switches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/>
                        <a:t>I layer: 3 µm</a:t>
                      </a:r>
                      <a:endParaRPr lang="en-US" sz="1400" dirty="0" smtClean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Wire-bondable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358513">
            <a:off x="3821086" y="1862218"/>
            <a:ext cx="339264" cy="147190"/>
          </a:xfrm>
          <a:prstGeom prst="rect">
            <a:avLst/>
          </a:prstGeom>
          <a:solidFill>
            <a:schemeClr val="folHlink">
              <a:alpha val="94901"/>
            </a:schemeClr>
          </a:solidFill>
          <a:ln w="28575">
            <a:solidFill>
              <a:schemeClr val="folHlink"/>
            </a:solidFill>
            <a:miter lim="800000"/>
            <a:headEnd/>
            <a:tailEnd/>
          </a:ln>
        </p:spPr>
      </p:pic>
      <p:pic>
        <p:nvPicPr>
          <p:cNvPr id="8" name="Picture 2" descr="Varactor_crop_ro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846674">
            <a:off x="5873120" y="2138816"/>
            <a:ext cx="300929" cy="300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HeteroSP5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9480" y="1822261"/>
            <a:ext cx="876282" cy="708446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934200">
            <a:off x="2814576" y="1844234"/>
            <a:ext cx="779092" cy="664499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1" descr="201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970" y="1987313"/>
            <a:ext cx="393943" cy="39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 descr="pindiode chip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0954" y="1881784"/>
            <a:ext cx="406492" cy="49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 descr="Beamlea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5511" y="1856498"/>
            <a:ext cx="556767" cy="65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6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2791" y="2186194"/>
            <a:ext cx="611658" cy="490936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>
            <a:off x="5219760" y="2069039"/>
            <a:ext cx="449650" cy="384761"/>
            <a:chOff x="939434" y="5386577"/>
            <a:chExt cx="716415" cy="750093"/>
          </a:xfrm>
        </p:grpSpPr>
        <p:pic>
          <p:nvPicPr>
            <p:cNvPr id="17" name="Picture 21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939434" y="5719945"/>
              <a:ext cx="716415" cy="416725"/>
            </a:xfrm>
            <a:prstGeom prst="rect">
              <a:avLst/>
            </a:prstGeom>
            <a:noFill/>
          </p:spPr>
        </p:pic>
        <p:pic>
          <p:nvPicPr>
            <p:cNvPr id="18" name="Picture 18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 rot="10800000">
              <a:off x="952450" y="5386577"/>
              <a:ext cx="683637" cy="33336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8064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PIN Junction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042" y="1337007"/>
            <a:ext cx="7315200" cy="1447800"/>
          </a:xfrm>
        </p:spPr>
        <p:txBody>
          <a:bodyPr/>
          <a:lstStyle/>
          <a:p>
            <a:r>
              <a:rPr lang="en-US" altLang="en-US" sz="2400" dirty="0"/>
              <a:t>Consists of heavily doped P and N layers separated by undoped Intrinsic layer</a:t>
            </a:r>
          </a:p>
        </p:txBody>
      </p:sp>
      <p:sp>
        <p:nvSpPr>
          <p:cNvPr id="2" name="Line Callout 2 1"/>
          <p:cNvSpPr/>
          <p:nvPr/>
        </p:nvSpPr>
        <p:spPr bwMode="auto">
          <a:xfrm>
            <a:off x="6082747" y="2588263"/>
            <a:ext cx="666181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6543"/>
              <a:gd name="adj6" fmla="val -115297"/>
            </a:avLst>
          </a:prstGeom>
          <a:noFill/>
          <a:ln w="12700" cap="sq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lIns="0" rIns="0" rtlCol="0" anchor="ctr"/>
          <a:lstStyle/>
          <a:p>
            <a:pPr algn="ctr">
              <a:spcBef>
                <a:spcPts val="600"/>
              </a:spcBef>
            </a:pPr>
            <a:r>
              <a:rPr lang="en-US" dirty="0" smtClean="0">
                <a:latin typeface="+mn-lt"/>
              </a:rPr>
              <a:t>Anode</a:t>
            </a:r>
          </a:p>
        </p:txBody>
      </p:sp>
      <p:sp>
        <p:nvSpPr>
          <p:cNvPr id="12" name="Line Callout 2 11"/>
          <p:cNvSpPr/>
          <p:nvPr/>
        </p:nvSpPr>
        <p:spPr bwMode="auto">
          <a:xfrm>
            <a:off x="6415837" y="5025087"/>
            <a:ext cx="1027043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049"/>
              <a:gd name="adj6" fmla="val -48841"/>
            </a:avLst>
          </a:prstGeom>
          <a:noFill/>
          <a:ln w="12700" cap="sq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lIns="0" rIns="0" rtlCol="0" anchor="ctr"/>
          <a:lstStyle/>
          <a:p>
            <a:pPr algn="ctr">
              <a:spcBef>
                <a:spcPts val="600"/>
              </a:spcBef>
            </a:pPr>
            <a:r>
              <a:rPr lang="en-US" dirty="0" smtClean="0">
                <a:latin typeface="+mn-lt"/>
              </a:rPr>
              <a:t>Cathode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4941" y="2784807"/>
            <a:ext cx="3262675" cy="285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065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altLang="en-US" dirty="0"/>
              <a:t>PIN </a:t>
            </a:r>
            <a:r>
              <a:rPr lang="en-US" altLang="en-US" dirty="0" smtClean="0"/>
              <a:t>Doping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414655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/>
            <a:r>
              <a:rPr lang="en-US" altLang="en-US" sz="2400" dirty="0"/>
              <a:t>P layer is heavily doped with acceptor atoms (excess holes) to produce net positive charge</a:t>
            </a:r>
          </a:p>
          <a:p>
            <a:pPr marL="342900" indent="-342900"/>
            <a:r>
              <a:rPr lang="en-US" altLang="en-US" sz="2400" dirty="0"/>
              <a:t>I layer has very light donor doping</a:t>
            </a:r>
          </a:p>
          <a:p>
            <a:pPr marL="342900" indent="-342900"/>
            <a:r>
              <a:rPr lang="en-US" altLang="en-US" sz="2400" dirty="0"/>
              <a:t>N layer is heavily doped with donor atoms (excess electrons) to produce net negative charge</a:t>
            </a:r>
          </a:p>
        </p:txBody>
      </p:sp>
      <p:grpSp>
        <p:nvGrpSpPr>
          <p:cNvPr id="40974" name="Group 14"/>
          <p:cNvGrpSpPr>
            <a:grpSpLocks/>
          </p:cNvGrpSpPr>
          <p:nvPr/>
        </p:nvGrpSpPr>
        <p:grpSpPr bwMode="auto">
          <a:xfrm>
            <a:off x="4572000" y="1981200"/>
            <a:ext cx="2720975" cy="3429000"/>
            <a:chOff x="3024" y="1248"/>
            <a:chExt cx="1714" cy="2160"/>
          </a:xfrm>
        </p:grpSpPr>
        <p:sp>
          <p:nvSpPr>
            <p:cNvPr id="40964" name="Rectangle 4"/>
            <p:cNvSpPr>
              <a:spLocks noChangeArrowheads="1"/>
            </p:cNvSpPr>
            <p:nvPr/>
          </p:nvSpPr>
          <p:spPr bwMode="auto">
            <a:xfrm>
              <a:off x="3024" y="1262"/>
              <a:ext cx="1714" cy="21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0965" name="Line 5"/>
            <p:cNvSpPr>
              <a:spLocks noChangeShapeType="1"/>
            </p:cNvSpPr>
            <p:nvPr/>
          </p:nvSpPr>
          <p:spPr bwMode="auto">
            <a:xfrm>
              <a:off x="3024" y="1982"/>
              <a:ext cx="17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0967" name="Rectangle 7"/>
            <p:cNvSpPr>
              <a:spLocks noChangeArrowheads="1"/>
            </p:cNvSpPr>
            <p:nvPr/>
          </p:nvSpPr>
          <p:spPr bwMode="auto">
            <a:xfrm>
              <a:off x="3029" y="1248"/>
              <a:ext cx="21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0968" name="Rectangle 8"/>
            <p:cNvSpPr>
              <a:spLocks noChangeArrowheads="1"/>
            </p:cNvSpPr>
            <p:nvPr/>
          </p:nvSpPr>
          <p:spPr bwMode="auto">
            <a:xfrm>
              <a:off x="3024" y="3072"/>
              <a:ext cx="21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3216" y="1344"/>
              <a:ext cx="144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+++++++++++++++++++++++++++++++++++++++++++++++++++</a:t>
              </a:r>
            </a:p>
          </p:txBody>
        </p:sp>
        <p:sp>
          <p:nvSpPr>
            <p:cNvPr id="40970" name="Text Box 10"/>
            <p:cNvSpPr txBox="1">
              <a:spLocks noChangeArrowheads="1"/>
            </p:cNvSpPr>
            <p:nvPr/>
          </p:nvSpPr>
          <p:spPr bwMode="auto">
            <a:xfrm>
              <a:off x="3216" y="2784"/>
              <a:ext cx="144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- - - - - - - - - - - - - - - - - - - - - - - - - - - - - - - - - - - - - - - - - - - - - -  - - - -</a:t>
              </a:r>
            </a:p>
          </p:txBody>
        </p: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>
              <a:off x="3024" y="2784"/>
              <a:ext cx="17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0972" name="Rectangle 12"/>
            <p:cNvSpPr>
              <a:spLocks noChangeArrowheads="1"/>
            </p:cNvSpPr>
            <p:nvPr/>
          </p:nvSpPr>
          <p:spPr bwMode="auto">
            <a:xfrm>
              <a:off x="3024" y="2448"/>
              <a:ext cx="167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0973" name="Text Box 13"/>
            <p:cNvSpPr txBox="1">
              <a:spLocks noChangeArrowheads="1"/>
            </p:cNvSpPr>
            <p:nvPr/>
          </p:nvSpPr>
          <p:spPr bwMode="auto">
            <a:xfrm>
              <a:off x="3264" y="2160"/>
              <a:ext cx="144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-   -   -   -   -   -   -   -   - -   -   -   -   -   -   -   -   - -   -   -   -   -   -   -   -   -</a:t>
              </a:r>
            </a:p>
          </p:txBody>
        </p:sp>
      </p:grpSp>
      <p:sp>
        <p:nvSpPr>
          <p:cNvPr id="40975" name="AutoShape 15"/>
          <p:cNvSpPr>
            <a:spLocks/>
          </p:cNvSpPr>
          <p:nvPr/>
        </p:nvSpPr>
        <p:spPr bwMode="auto">
          <a:xfrm>
            <a:off x="7696200" y="3429000"/>
            <a:ext cx="1295400" cy="952500"/>
          </a:xfrm>
          <a:prstGeom prst="borderCallout1">
            <a:avLst>
              <a:gd name="adj1" fmla="val 12000"/>
              <a:gd name="adj2" fmla="val -5884"/>
              <a:gd name="adj3" fmla="val -19167"/>
              <a:gd name="adj4" fmla="val -2598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dirty="0"/>
              <a:t>pn</a:t>
            </a:r>
          </a:p>
          <a:p>
            <a:pPr algn="ctr"/>
            <a:r>
              <a:rPr lang="en-US" altLang="en-US" dirty="0"/>
              <a:t>junction</a:t>
            </a:r>
          </a:p>
        </p:txBody>
      </p:sp>
    </p:spTree>
    <p:extLst>
      <p:ext uri="{BB962C8B-B14F-4D97-AF65-F5344CB8AC3E}">
        <p14:creationId xmlns:p14="http://schemas.microsoft.com/office/powerpoint/2010/main" val="42177279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altLang="en-US" dirty="0"/>
              <a:t>Depletion Region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00200"/>
            <a:ext cx="3794125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400" dirty="0"/>
              <a:t>Charge carriers are attracted to each other</a:t>
            </a:r>
          </a:p>
          <a:p>
            <a:r>
              <a:rPr lang="en-US" altLang="en-US" sz="2400" dirty="0"/>
              <a:t>At the junction they recombine to form depletion region which has zero net charge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4724400" y="1930400"/>
            <a:ext cx="3384550" cy="33512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989" name="Line 5"/>
          <p:cNvSpPr>
            <a:spLocks noChangeShapeType="1"/>
          </p:cNvSpPr>
          <p:nvPr/>
        </p:nvSpPr>
        <p:spPr bwMode="auto">
          <a:xfrm>
            <a:off x="4724400" y="4519613"/>
            <a:ext cx="3384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990" name="Rectangle 6"/>
          <p:cNvSpPr>
            <a:spLocks noChangeArrowheads="1"/>
          </p:cNvSpPr>
          <p:nvPr/>
        </p:nvSpPr>
        <p:spPr bwMode="auto">
          <a:xfrm>
            <a:off x="4751388" y="1905000"/>
            <a:ext cx="3333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4730750" y="2862263"/>
            <a:ext cx="3378200" cy="44767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4724400" y="4748213"/>
            <a:ext cx="3333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5368925" y="2895600"/>
            <a:ext cx="21669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depletion region</a:t>
            </a:r>
          </a:p>
        </p:txBody>
      </p:sp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5187950" y="2024063"/>
            <a:ext cx="2286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Arial" panose="020B0604020202020204" pitchFamily="34" charset="0"/>
              </a:rPr>
              <a:t>+++++++++++++++++++++++++++++++++++++++++++++++++++</a:t>
            </a:r>
          </a:p>
        </p:txBody>
      </p:sp>
      <p:sp>
        <p:nvSpPr>
          <p:cNvPr id="41995" name="Line 11"/>
          <p:cNvSpPr>
            <a:spLocks noChangeShapeType="1"/>
          </p:cNvSpPr>
          <p:nvPr/>
        </p:nvSpPr>
        <p:spPr bwMode="auto">
          <a:xfrm flipV="1">
            <a:off x="4730750" y="2936875"/>
            <a:ext cx="338455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5257800" y="4595813"/>
            <a:ext cx="2286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Arial" panose="020B0604020202020204" pitchFamily="34" charset="0"/>
              </a:rPr>
              <a:t>- - - - - - - - - - - - - - - - - - - - - - - - - - - - - - - - - -</a:t>
            </a: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4724400" y="3962400"/>
            <a:ext cx="2651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5257800" y="3505200"/>
            <a:ext cx="2286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Arial" panose="020B0604020202020204" pitchFamily="34" charset="0"/>
              </a:rPr>
              <a:t>-   -   -   -   -   -   -   -   - -   -   -   -   -   -   -   -   - -   -   -   -   -   -   -   -   -</a:t>
            </a:r>
          </a:p>
        </p:txBody>
      </p:sp>
    </p:spTree>
    <p:extLst>
      <p:ext uri="{BB962C8B-B14F-4D97-AF65-F5344CB8AC3E}">
        <p14:creationId xmlns:p14="http://schemas.microsoft.com/office/powerpoint/2010/main" val="283650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Current-Controlled Resistor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772400" cy="4114800"/>
          </a:xfrm>
        </p:spPr>
        <p:txBody>
          <a:bodyPr/>
          <a:lstStyle/>
          <a:p>
            <a:r>
              <a:rPr lang="en-US" altLang="en-US" sz="2400" dirty="0"/>
              <a:t>Depletion region has zero net charge, which makes it an insulator</a:t>
            </a:r>
          </a:p>
          <a:p>
            <a:r>
              <a:rPr lang="en-US" altLang="en-US" sz="2400" dirty="0"/>
              <a:t>P layer is very heavily doped, making it a conductor and source of holes</a:t>
            </a:r>
          </a:p>
          <a:p>
            <a:r>
              <a:rPr lang="en-US" altLang="en-US" sz="2400" dirty="0"/>
              <a:t>N layer is very heavily doped, making it a conductor and source of electrons</a:t>
            </a:r>
          </a:p>
          <a:p>
            <a:r>
              <a:rPr lang="en-US" altLang="en-US" sz="2400" dirty="0"/>
              <a:t>I layer is very lightly doped, which makes it a resistor with high resistivity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975930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PIN Junction - Forward Bias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888" y="1408173"/>
            <a:ext cx="3890892" cy="4668837"/>
          </a:xfrm>
        </p:spPr>
        <p:txBody>
          <a:bodyPr/>
          <a:lstStyle/>
          <a:p>
            <a:r>
              <a:rPr lang="en-US" altLang="en-US" sz="2400" dirty="0"/>
              <a:t>Under forward bias</a:t>
            </a:r>
          </a:p>
          <a:p>
            <a:pPr lvl="1"/>
            <a:r>
              <a:rPr lang="en-US" altLang="en-US" sz="2000" dirty="0"/>
              <a:t>Holes are forced from the P layer into the I layer</a:t>
            </a:r>
          </a:p>
          <a:p>
            <a:pPr lvl="1"/>
            <a:r>
              <a:rPr lang="en-US" altLang="en-US" sz="2000" dirty="0"/>
              <a:t>Electrons are forced from the N layer into the I layer</a:t>
            </a:r>
          </a:p>
          <a:p>
            <a:r>
              <a:rPr lang="en-US" altLang="en-US" sz="2400" dirty="0"/>
              <a:t>Instantaneous population of </a:t>
            </a:r>
            <a:r>
              <a:rPr lang="en-US" altLang="en-US" sz="2400" dirty="0" smtClean="0"/>
              <a:t>free holes </a:t>
            </a:r>
            <a:r>
              <a:rPr lang="en-US" altLang="en-US" sz="2400" dirty="0"/>
              <a:t>and electrons in the I layer is increased</a:t>
            </a:r>
          </a:p>
          <a:p>
            <a:r>
              <a:rPr lang="en-US" altLang="en-US" sz="2400" dirty="0"/>
              <a:t>Instantaneous resistivity of the I layer is decreased, thereby temporarily decreasing I layer resistance</a:t>
            </a:r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4419600" y="2057400"/>
            <a:ext cx="4292600" cy="3810000"/>
            <a:chOff x="2784" y="1296"/>
            <a:chExt cx="2704" cy="24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784" y="1450"/>
              <a:ext cx="1662" cy="210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2784" y="3018"/>
              <a:ext cx="1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797" y="1434"/>
              <a:ext cx="21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784" y="3157"/>
              <a:ext cx="21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012" y="1507"/>
              <a:ext cx="112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+++++++++++++++++++++++++++++++++++++++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2787" y="2059"/>
              <a:ext cx="166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3046" y="3064"/>
              <a:ext cx="112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- - - - - - - - - - - - - - - - - - - - - - - - - - 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784" y="2681"/>
              <a:ext cx="167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046" y="2142"/>
              <a:ext cx="1123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-  +  - +    -  +  -  +  -  +  -  +  - +   -  +  -  +  -  +  -  +  --   +  -  +  -  +  - +  </a:t>
              </a: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3607" y="1296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3607" y="3558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607" y="3696"/>
              <a:ext cx="1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7" name="Group 16"/>
            <p:cNvGrpSpPr>
              <a:grpSpLocks/>
            </p:cNvGrpSpPr>
            <p:nvPr/>
          </p:nvGrpSpPr>
          <p:grpSpPr bwMode="auto">
            <a:xfrm>
              <a:off x="4655" y="1296"/>
              <a:ext cx="339" cy="2400"/>
              <a:chOff x="4848" y="1152"/>
              <a:chExt cx="435" cy="2496"/>
            </a:xfrm>
          </p:grpSpPr>
          <p:grpSp>
            <p:nvGrpSpPr>
              <p:cNvPr id="20" name="Group 17"/>
              <p:cNvGrpSpPr>
                <a:grpSpLocks/>
              </p:cNvGrpSpPr>
              <p:nvPr/>
            </p:nvGrpSpPr>
            <p:grpSpPr bwMode="auto">
              <a:xfrm>
                <a:off x="4848" y="2064"/>
                <a:ext cx="435" cy="683"/>
                <a:chOff x="4848" y="2064"/>
                <a:chExt cx="435" cy="683"/>
              </a:xfrm>
            </p:grpSpPr>
            <p:grpSp>
              <p:nvGrpSpPr>
                <p:cNvPr id="23" name="Group 18"/>
                <p:cNvGrpSpPr>
                  <a:grpSpLocks/>
                </p:cNvGrpSpPr>
                <p:nvPr/>
              </p:nvGrpSpPr>
              <p:grpSpPr bwMode="auto">
                <a:xfrm>
                  <a:off x="4848" y="2208"/>
                  <a:ext cx="384" cy="384"/>
                  <a:chOff x="4848" y="2208"/>
                  <a:chExt cx="384" cy="384"/>
                </a:xfrm>
              </p:grpSpPr>
              <p:sp>
                <p:nvSpPr>
                  <p:cNvPr id="26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0" y="22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27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2208"/>
                    <a:ext cx="384" cy="38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4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134" y="2064"/>
                  <a:ext cx="149" cy="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2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134" y="2448"/>
                  <a:ext cx="149" cy="2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latin typeface="Times New Roman" panose="02020603050405020304" pitchFamily="18" charset="0"/>
                    </a:rPr>
                    <a:t>-</a:t>
                  </a:r>
                </a:p>
              </p:txBody>
            </p:sp>
          </p:grpSp>
          <p:sp>
            <p:nvSpPr>
              <p:cNvPr id="21" name="Line 23"/>
              <p:cNvSpPr>
                <a:spLocks noChangeShapeType="1"/>
              </p:cNvSpPr>
              <p:nvPr/>
            </p:nvSpPr>
            <p:spPr bwMode="auto">
              <a:xfrm flipV="1">
                <a:off x="5040" y="115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2" name="Line 24"/>
              <p:cNvSpPr>
                <a:spLocks noChangeShapeType="1"/>
              </p:cNvSpPr>
              <p:nvPr/>
            </p:nvSpPr>
            <p:spPr bwMode="auto">
              <a:xfrm flipV="1">
                <a:off x="5040" y="259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8" name="Line 25"/>
            <p:cNvSpPr>
              <a:spLocks noChangeShapeType="1"/>
            </p:cNvSpPr>
            <p:nvPr/>
          </p:nvSpPr>
          <p:spPr bwMode="auto">
            <a:xfrm>
              <a:off x="3607" y="1296"/>
              <a:ext cx="1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Text Box 26"/>
            <p:cNvSpPr txBox="1">
              <a:spLocks noChangeArrowheads="1"/>
            </p:cNvSpPr>
            <p:nvPr/>
          </p:nvSpPr>
          <p:spPr bwMode="auto">
            <a:xfrm>
              <a:off x="4934" y="2256"/>
              <a:ext cx="55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dirty="0">
                  <a:latin typeface="Arial Narrow" panose="020B0606020202030204" pitchFamily="34" charset="0"/>
                </a:rPr>
                <a:t>Current</a:t>
              </a:r>
            </a:p>
            <a:p>
              <a:r>
                <a:rPr lang="en-US" altLang="en-US" sz="2000" dirty="0">
                  <a:latin typeface="Arial Narrow" panose="020B0606020202030204" pitchFamily="34" charset="0"/>
                </a:rPr>
                <a:t>Source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965598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r>
              <a:rPr lang="en-US" altLang="en-US" dirty="0"/>
              <a:t>I Layer Resistance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978269"/>
            <a:ext cx="3794125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 sz="2800" dirty="0"/>
              <a:t>R</a:t>
            </a:r>
            <a:r>
              <a:rPr lang="en-US" altLang="en-US" sz="2800" baseline="-25000" dirty="0"/>
              <a:t>I LAYER</a:t>
            </a:r>
            <a:r>
              <a:rPr lang="en-US" altLang="en-US" sz="2800" dirty="0"/>
              <a:t> = </a:t>
            </a:r>
            <a:r>
              <a:rPr lang="en-US" altLang="en-US" sz="2800" dirty="0">
                <a:sym typeface="Symbol" panose="05050102010706020507" pitchFamily="18" charset="2"/>
              </a:rPr>
              <a:t></a:t>
            </a:r>
            <a:r>
              <a:rPr lang="en-US" altLang="en-US" sz="2800" dirty="0">
                <a:sym typeface="r_symbol" pitchFamily="49" charset="2"/>
              </a:rPr>
              <a:t>L / A</a:t>
            </a:r>
          </a:p>
          <a:p>
            <a:pPr>
              <a:buFontTx/>
              <a:buNone/>
            </a:pPr>
            <a:r>
              <a:rPr lang="en-US" altLang="en-US" sz="2800" dirty="0"/>
              <a:t>    where</a:t>
            </a: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</a:t>
            </a:r>
            <a:r>
              <a:rPr lang="en-US" altLang="en-US" sz="2400" dirty="0">
                <a:sym typeface="r_symbol" pitchFamily="49" charset="2"/>
              </a:rPr>
              <a:t> is the instantaneous resistivity of the I layer</a:t>
            </a:r>
          </a:p>
          <a:p>
            <a:pPr lvl="1"/>
            <a:r>
              <a:rPr lang="en-US" altLang="en-US" sz="2400" dirty="0">
                <a:sym typeface="r_symbol" pitchFamily="49" charset="2"/>
              </a:rPr>
              <a:t>L is the thickness of the I layer</a:t>
            </a:r>
          </a:p>
          <a:p>
            <a:pPr lvl="1"/>
            <a:r>
              <a:rPr lang="en-US" altLang="en-US" sz="2400" dirty="0">
                <a:sym typeface="r_symbol" pitchFamily="49" charset="2"/>
              </a:rPr>
              <a:t>A is the area of the I layer</a:t>
            </a:r>
          </a:p>
          <a:p>
            <a:pPr lvl="1"/>
            <a:endParaRPr lang="en-US" altLang="en-US" sz="2400" dirty="0">
              <a:sym typeface="r_symbol" pitchFamily="49" charset="2"/>
            </a:endParaRPr>
          </a:p>
        </p:txBody>
      </p:sp>
      <p:grpSp>
        <p:nvGrpSpPr>
          <p:cNvPr id="45084" name="Group 28"/>
          <p:cNvGrpSpPr>
            <a:grpSpLocks/>
          </p:cNvGrpSpPr>
          <p:nvPr/>
        </p:nvGrpSpPr>
        <p:grpSpPr bwMode="auto">
          <a:xfrm>
            <a:off x="4419600" y="2057400"/>
            <a:ext cx="4292600" cy="3810000"/>
            <a:chOff x="2784" y="1296"/>
            <a:chExt cx="2704" cy="2400"/>
          </a:xfrm>
        </p:grpSpPr>
        <p:sp>
          <p:nvSpPr>
            <p:cNvPr id="45060" name="Rectangle 4"/>
            <p:cNvSpPr>
              <a:spLocks noChangeArrowheads="1"/>
            </p:cNvSpPr>
            <p:nvPr/>
          </p:nvSpPr>
          <p:spPr bwMode="auto">
            <a:xfrm>
              <a:off x="2784" y="1450"/>
              <a:ext cx="1662" cy="210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061" name="Line 5"/>
            <p:cNvSpPr>
              <a:spLocks noChangeShapeType="1"/>
            </p:cNvSpPr>
            <p:nvPr/>
          </p:nvSpPr>
          <p:spPr bwMode="auto">
            <a:xfrm>
              <a:off x="2784" y="3018"/>
              <a:ext cx="16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062" name="Rectangle 6"/>
            <p:cNvSpPr>
              <a:spLocks noChangeArrowheads="1"/>
            </p:cNvSpPr>
            <p:nvPr/>
          </p:nvSpPr>
          <p:spPr bwMode="auto">
            <a:xfrm>
              <a:off x="2797" y="1434"/>
              <a:ext cx="21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5063" name="Rectangle 7"/>
            <p:cNvSpPr>
              <a:spLocks noChangeArrowheads="1"/>
            </p:cNvSpPr>
            <p:nvPr/>
          </p:nvSpPr>
          <p:spPr bwMode="auto">
            <a:xfrm>
              <a:off x="2784" y="3157"/>
              <a:ext cx="210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45064" name="Text Box 8"/>
            <p:cNvSpPr txBox="1">
              <a:spLocks noChangeArrowheads="1"/>
            </p:cNvSpPr>
            <p:nvPr/>
          </p:nvSpPr>
          <p:spPr bwMode="auto">
            <a:xfrm>
              <a:off x="3012" y="1507"/>
              <a:ext cx="1122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+++++++++++++++++++++++++++++++++++++++</a:t>
              </a:r>
            </a:p>
          </p:txBody>
        </p:sp>
        <p:sp>
          <p:nvSpPr>
            <p:cNvPr id="45065" name="Line 9"/>
            <p:cNvSpPr>
              <a:spLocks noChangeShapeType="1"/>
            </p:cNvSpPr>
            <p:nvPr/>
          </p:nvSpPr>
          <p:spPr bwMode="auto">
            <a:xfrm flipV="1">
              <a:off x="2787" y="2059"/>
              <a:ext cx="166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066" name="Text Box 10"/>
            <p:cNvSpPr txBox="1">
              <a:spLocks noChangeArrowheads="1"/>
            </p:cNvSpPr>
            <p:nvPr/>
          </p:nvSpPr>
          <p:spPr bwMode="auto">
            <a:xfrm>
              <a:off x="3046" y="3064"/>
              <a:ext cx="1123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- - - - - - - - - - - - - - - - - - - - - - - - - - </a:t>
              </a:r>
            </a:p>
          </p:txBody>
        </p:sp>
        <p:sp>
          <p:nvSpPr>
            <p:cNvPr id="45067" name="Rectangle 11"/>
            <p:cNvSpPr>
              <a:spLocks noChangeArrowheads="1"/>
            </p:cNvSpPr>
            <p:nvPr/>
          </p:nvSpPr>
          <p:spPr bwMode="auto">
            <a:xfrm>
              <a:off x="2784" y="2681"/>
              <a:ext cx="167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5068" name="Text Box 12"/>
            <p:cNvSpPr txBox="1">
              <a:spLocks noChangeArrowheads="1"/>
            </p:cNvSpPr>
            <p:nvPr/>
          </p:nvSpPr>
          <p:spPr bwMode="auto">
            <a:xfrm>
              <a:off x="3046" y="2142"/>
              <a:ext cx="1123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Arial" panose="020B0604020202020204" pitchFamily="34" charset="0"/>
                </a:rPr>
                <a:t>-  +  - +    -  +  -  +  -  +  -  +  - +   -  +  -  +  -  +  -  +  --   +  -  +  -  +  - +  </a:t>
              </a:r>
            </a:p>
          </p:txBody>
        </p:sp>
        <p:sp>
          <p:nvSpPr>
            <p:cNvPr id="45069" name="Line 13"/>
            <p:cNvSpPr>
              <a:spLocks noChangeShapeType="1"/>
            </p:cNvSpPr>
            <p:nvPr/>
          </p:nvSpPr>
          <p:spPr bwMode="auto">
            <a:xfrm flipV="1">
              <a:off x="3607" y="1296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070" name="Line 14"/>
            <p:cNvSpPr>
              <a:spLocks noChangeShapeType="1"/>
            </p:cNvSpPr>
            <p:nvPr/>
          </p:nvSpPr>
          <p:spPr bwMode="auto">
            <a:xfrm flipV="1">
              <a:off x="3607" y="3558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071" name="Line 15"/>
            <p:cNvSpPr>
              <a:spLocks noChangeShapeType="1"/>
            </p:cNvSpPr>
            <p:nvPr/>
          </p:nvSpPr>
          <p:spPr bwMode="auto">
            <a:xfrm>
              <a:off x="3607" y="3696"/>
              <a:ext cx="1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45072" name="Group 16"/>
            <p:cNvGrpSpPr>
              <a:grpSpLocks/>
            </p:cNvGrpSpPr>
            <p:nvPr/>
          </p:nvGrpSpPr>
          <p:grpSpPr bwMode="auto">
            <a:xfrm>
              <a:off x="4655" y="1296"/>
              <a:ext cx="339" cy="2400"/>
              <a:chOff x="4848" y="1152"/>
              <a:chExt cx="435" cy="2496"/>
            </a:xfrm>
          </p:grpSpPr>
          <p:grpSp>
            <p:nvGrpSpPr>
              <p:cNvPr id="45073" name="Group 17"/>
              <p:cNvGrpSpPr>
                <a:grpSpLocks/>
              </p:cNvGrpSpPr>
              <p:nvPr/>
            </p:nvGrpSpPr>
            <p:grpSpPr bwMode="auto">
              <a:xfrm>
                <a:off x="4848" y="2064"/>
                <a:ext cx="435" cy="683"/>
                <a:chOff x="4848" y="2064"/>
                <a:chExt cx="435" cy="683"/>
              </a:xfrm>
            </p:grpSpPr>
            <p:grpSp>
              <p:nvGrpSpPr>
                <p:cNvPr id="45074" name="Group 18"/>
                <p:cNvGrpSpPr>
                  <a:grpSpLocks/>
                </p:cNvGrpSpPr>
                <p:nvPr/>
              </p:nvGrpSpPr>
              <p:grpSpPr bwMode="auto">
                <a:xfrm>
                  <a:off x="4848" y="2208"/>
                  <a:ext cx="384" cy="384"/>
                  <a:chOff x="4848" y="2208"/>
                  <a:chExt cx="384" cy="384"/>
                </a:xfrm>
              </p:grpSpPr>
              <p:sp>
                <p:nvSpPr>
                  <p:cNvPr id="45075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0" y="225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45076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848" y="2208"/>
                    <a:ext cx="384" cy="384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4507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134" y="2064"/>
                  <a:ext cx="149" cy="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  <p:sp>
              <p:nvSpPr>
                <p:cNvPr id="4507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134" y="2448"/>
                  <a:ext cx="149" cy="2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dirty="0">
                      <a:latin typeface="Times New Roman" panose="02020603050405020304" pitchFamily="18" charset="0"/>
                    </a:rPr>
                    <a:t>-</a:t>
                  </a:r>
                </a:p>
              </p:txBody>
            </p:sp>
          </p:grpSp>
          <p:sp>
            <p:nvSpPr>
              <p:cNvPr id="45079" name="Line 23"/>
              <p:cNvSpPr>
                <a:spLocks noChangeShapeType="1"/>
              </p:cNvSpPr>
              <p:nvPr/>
            </p:nvSpPr>
            <p:spPr bwMode="auto">
              <a:xfrm flipV="1">
                <a:off x="5040" y="115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5080" name="Line 24"/>
              <p:cNvSpPr>
                <a:spLocks noChangeShapeType="1"/>
              </p:cNvSpPr>
              <p:nvPr/>
            </p:nvSpPr>
            <p:spPr bwMode="auto">
              <a:xfrm flipV="1">
                <a:off x="5040" y="2592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45081" name="Line 25"/>
            <p:cNvSpPr>
              <a:spLocks noChangeShapeType="1"/>
            </p:cNvSpPr>
            <p:nvPr/>
          </p:nvSpPr>
          <p:spPr bwMode="auto">
            <a:xfrm>
              <a:off x="3607" y="1296"/>
              <a:ext cx="1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082" name="Text Box 26"/>
            <p:cNvSpPr txBox="1">
              <a:spLocks noChangeArrowheads="1"/>
            </p:cNvSpPr>
            <p:nvPr/>
          </p:nvSpPr>
          <p:spPr bwMode="auto">
            <a:xfrm>
              <a:off x="4934" y="2256"/>
              <a:ext cx="55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dirty="0">
                  <a:latin typeface="Arial Narrow" panose="020B0606020202030204" pitchFamily="34" charset="0"/>
                </a:rPr>
                <a:t>Current</a:t>
              </a:r>
            </a:p>
            <a:p>
              <a:r>
                <a:rPr lang="en-US" altLang="en-US" sz="2000" dirty="0">
                  <a:latin typeface="Arial Narrow" panose="020B0606020202030204" pitchFamily="34" charset="0"/>
                </a:rPr>
                <a:t>Source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5916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Resistance versus Bias Current</a:t>
            </a:r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185145"/>
              </p:ext>
            </p:extLst>
          </p:nvPr>
        </p:nvGraphicFramePr>
        <p:xfrm>
          <a:off x="326307" y="1378987"/>
          <a:ext cx="8141831" cy="3335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Mathcad 6.0" r:id="rId4" imgW="3943080" imgH="2809800" progId="Mathcad">
                  <p:embed/>
                </p:oleObj>
              </mc:Choice>
              <mc:Fallback>
                <p:oleObj name="Mathcad 6.0" r:id="rId4" imgW="3943080" imgH="280980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07" y="1378987"/>
                        <a:ext cx="8141831" cy="3335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Line 5"/>
          <p:cNvSpPr>
            <a:spLocks noChangeShapeType="1"/>
          </p:cNvSpPr>
          <p:nvPr/>
        </p:nvSpPr>
        <p:spPr bwMode="auto">
          <a:xfrm>
            <a:off x="2729396" y="45593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1762539" y="4640370"/>
            <a:ext cx="971274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Arial" panose="020B0604020202020204" pitchFamily="34" charset="0"/>
              </a:rPr>
              <a:t>Small carrier pop</a:t>
            </a:r>
            <a:r>
              <a:rPr lang="en-US" altLang="en-US" sz="16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7311886" y="45593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3061252" y="4826000"/>
            <a:ext cx="2856948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Arial" panose="020B0604020202020204" pitchFamily="34" charset="0"/>
              </a:rPr>
              <a:t>Increasing carrier population</a:t>
            </a:r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>
            <a:off x="5930900" y="4965700"/>
            <a:ext cx="52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7311886" y="4640370"/>
            <a:ext cx="1156252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Arial" panose="020B0604020202020204" pitchFamily="34" charset="0"/>
              </a:rPr>
              <a:t>Saturated carrier population</a:t>
            </a:r>
          </a:p>
        </p:txBody>
      </p:sp>
    </p:spTree>
    <p:extLst>
      <p:ext uri="{BB962C8B-B14F-4D97-AF65-F5344CB8AC3E}">
        <p14:creationId xmlns:p14="http://schemas.microsoft.com/office/powerpoint/2010/main" val="8546988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 Layer Resistance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751" y="1504951"/>
            <a:ext cx="3821319" cy="46688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800" dirty="0"/>
              <a:t>R</a:t>
            </a:r>
            <a:r>
              <a:rPr lang="en-US" altLang="en-US" sz="2800" baseline="-25000" dirty="0"/>
              <a:t>I Layer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</a:t>
            </a:r>
            <a:r>
              <a:rPr lang="en-US" altLang="en-US" sz="2800" dirty="0"/>
              <a:t> kI</a:t>
            </a:r>
            <a:r>
              <a:rPr lang="en-US" altLang="en-US" sz="2800" baseline="30000" dirty="0"/>
              <a:t>-</a:t>
            </a:r>
            <a:r>
              <a:rPr lang="en-US" altLang="en-US" sz="2800" baseline="30000" dirty="0">
                <a:sym typeface="Symbol" panose="05050102010706020507" pitchFamily="18" charset="2"/>
              </a:rPr>
              <a:t>  </a:t>
            </a:r>
          </a:p>
          <a:p>
            <a:pPr>
              <a:buFontTx/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where</a:t>
            </a:r>
          </a:p>
          <a:p>
            <a:pPr lvl="1"/>
            <a:r>
              <a:rPr lang="en-US" altLang="en-US" sz="2400" dirty="0"/>
              <a:t>k = series resistance at I = 1 mA</a:t>
            </a:r>
          </a:p>
          <a:p>
            <a:pPr lvl="1"/>
            <a:r>
              <a:rPr lang="en-US" altLang="en-US" sz="2400" dirty="0"/>
              <a:t>I is bias current expressed in mA</a:t>
            </a:r>
          </a:p>
          <a:p>
            <a:pPr lvl="1"/>
            <a:r>
              <a:rPr lang="en-US" altLang="en-US" sz="2400" dirty="0">
                <a:sym typeface="Symbol" panose="05050102010706020507" pitchFamily="18" charset="2"/>
              </a:rPr>
              <a:t></a:t>
            </a:r>
            <a:r>
              <a:rPr lang="en-US" altLang="en-US" sz="2400" dirty="0">
                <a:sym typeface="r_symbol" pitchFamily="49" charset="2"/>
              </a:rPr>
              <a:t> is the slope exponent of the R</a:t>
            </a:r>
            <a:r>
              <a:rPr lang="en-US" altLang="en-US" sz="2400" baseline="-25000" dirty="0">
                <a:sym typeface="r_symbol" pitchFamily="49" charset="2"/>
              </a:rPr>
              <a:t>S</a:t>
            </a:r>
            <a:r>
              <a:rPr lang="en-US" altLang="en-US" sz="2400" dirty="0">
                <a:sym typeface="r_symbol" pitchFamily="49" charset="2"/>
              </a:rPr>
              <a:t> vs. I </a:t>
            </a:r>
            <a:r>
              <a:rPr lang="en-US" altLang="en-US" sz="2400" dirty="0" smtClean="0">
                <a:sym typeface="r_symbol" pitchFamily="49" charset="2"/>
              </a:rPr>
              <a:t>curve</a:t>
            </a:r>
          </a:p>
          <a:p>
            <a:r>
              <a:rPr lang="en-US" altLang="en-US" sz="2600" dirty="0" smtClean="0">
                <a:sym typeface="r_symbol" pitchFamily="49" charset="2"/>
              </a:rPr>
              <a:t>Describes the straight-line portion of the curve only</a:t>
            </a:r>
            <a:endParaRPr lang="en-US" altLang="en-US" sz="2600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281496"/>
              </p:ext>
            </p:extLst>
          </p:nvPr>
        </p:nvGraphicFramePr>
        <p:xfrm>
          <a:off x="4691270" y="1456190"/>
          <a:ext cx="4075043" cy="4128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Mathcad 6.0" r:id="rId4" imgW="3943080" imgH="2809800" progId="Mathcad">
                  <p:embed/>
                </p:oleObj>
              </mc:Choice>
              <mc:Fallback>
                <p:oleObj name="Mathcad 6.0" r:id="rId4" imgW="3943080" imgH="280980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270" y="1456190"/>
                        <a:ext cx="4075043" cy="4128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748014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Simplified PIN Die Equivalent Circuit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1344" y="1417259"/>
            <a:ext cx="4678040" cy="4114800"/>
          </a:xfrm>
        </p:spPr>
        <p:txBody>
          <a:bodyPr/>
          <a:lstStyle/>
          <a:p>
            <a:r>
              <a:rPr lang="en-US" altLang="en-US" sz="2400" dirty="0"/>
              <a:t>L</a:t>
            </a:r>
            <a:r>
              <a:rPr lang="en-US" altLang="en-US" sz="2400" baseline="-25000" dirty="0"/>
              <a:t>S</a:t>
            </a:r>
            <a:r>
              <a:rPr lang="en-US" altLang="en-US" sz="2400" dirty="0"/>
              <a:t> is series inductance of die (typically 0.15 nH)</a:t>
            </a:r>
          </a:p>
          <a:p>
            <a:r>
              <a:rPr lang="en-US" altLang="en-US" sz="2400" dirty="0"/>
              <a:t>C</a:t>
            </a:r>
            <a:r>
              <a:rPr lang="en-US" altLang="en-US" sz="2400" baseline="-25000" dirty="0"/>
              <a:t>j</a:t>
            </a:r>
            <a:r>
              <a:rPr lang="en-US" altLang="en-US" sz="2400" dirty="0"/>
              <a:t> is junction capacitance</a:t>
            </a:r>
          </a:p>
          <a:p>
            <a:r>
              <a:rPr lang="en-US" altLang="en-US" sz="2400" dirty="0"/>
              <a:t>R</a:t>
            </a:r>
            <a:r>
              <a:rPr lang="en-US" altLang="en-US" sz="2400" baseline="-25000" dirty="0"/>
              <a:t>I Layer </a:t>
            </a:r>
            <a:r>
              <a:rPr lang="en-US" altLang="en-US" sz="2400" dirty="0"/>
              <a:t>is I layer resistance</a:t>
            </a:r>
          </a:p>
          <a:p>
            <a:r>
              <a:rPr lang="en-US" altLang="en-US" sz="2400" dirty="0"/>
              <a:t>R</a:t>
            </a:r>
            <a:r>
              <a:rPr lang="en-US" altLang="en-US" sz="2400" baseline="-25000" dirty="0"/>
              <a:t>SAT </a:t>
            </a:r>
            <a:r>
              <a:rPr lang="en-US" altLang="en-US" sz="2400" dirty="0"/>
              <a:t>is bulk resistance of P, I and N layers</a:t>
            </a:r>
          </a:p>
          <a:p>
            <a:r>
              <a:rPr lang="en-US" altLang="en-US" sz="2400" dirty="0"/>
              <a:t>R</a:t>
            </a:r>
            <a:r>
              <a:rPr lang="en-US" altLang="en-US" sz="2400" baseline="-25000" dirty="0"/>
              <a:t>P</a:t>
            </a:r>
            <a:r>
              <a:rPr lang="en-US" altLang="en-US" sz="2400" dirty="0"/>
              <a:t> is parallel resistance of I layer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309" y="1728409"/>
            <a:ext cx="3300376" cy="3492500"/>
          </a:xfrm>
          <a:prstGeom prst="rect">
            <a:avLst/>
          </a:prstGeom>
        </p:spPr>
      </p:pic>
      <p:graphicFrame>
        <p:nvGraphicFramePr>
          <p:cNvPr id="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939711"/>
              </p:ext>
            </p:extLst>
          </p:nvPr>
        </p:nvGraphicFramePr>
        <p:xfrm>
          <a:off x="824948" y="5056533"/>
          <a:ext cx="4479925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5" imgW="1574640" imgH="457200" progId="Equation.3">
                  <p:embed/>
                </p:oleObj>
              </mc:Choice>
              <mc:Fallback>
                <p:oleObj name="Equation" r:id="rId5" imgW="1574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948" y="5056533"/>
                        <a:ext cx="4479925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20054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Packaged PIN Equivalent Circuit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1" y="1600200"/>
            <a:ext cx="3511826" cy="3843338"/>
          </a:xfrm>
        </p:spPr>
        <p:txBody>
          <a:bodyPr/>
          <a:lstStyle/>
          <a:p>
            <a:pPr marL="342900" indent="-342900"/>
            <a:r>
              <a:rPr lang="en-US" altLang="en-US" sz="2400" dirty="0"/>
              <a:t>L</a:t>
            </a:r>
            <a:r>
              <a:rPr lang="en-US" altLang="en-US" sz="2400" baseline="-25000" dirty="0"/>
              <a:t>S</a:t>
            </a:r>
            <a:r>
              <a:rPr lang="en-US" altLang="en-US" sz="2400" dirty="0"/>
              <a:t> is series inductance of die &amp; package (typically 0.4 to 2 nH)</a:t>
            </a:r>
          </a:p>
          <a:p>
            <a:pPr marL="342900" indent="-342900"/>
            <a:r>
              <a:rPr lang="en-US" altLang="en-US" sz="2400" dirty="0"/>
              <a:t>C</a:t>
            </a:r>
            <a:r>
              <a:rPr lang="en-US" altLang="en-US" sz="2400" baseline="-25000" dirty="0"/>
              <a:t>pkg</a:t>
            </a:r>
            <a:r>
              <a:rPr lang="en-US" altLang="en-US" sz="2400" dirty="0"/>
              <a:t> is package capacitance (typically 0.13 to 1 pF)</a:t>
            </a:r>
          </a:p>
          <a:p>
            <a:pPr marL="342900" indent="-342900"/>
            <a:r>
              <a:rPr lang="en-US" altLang="en-US" sz="2400" dirty="0"/>
              <a:t>Other components are discussed in die equivalent circuit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940" y="2059057"/>
            <a:ext cx="463322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474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Minority Carrier Lifetime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229100" cy="4114800"/>
          </a:xfrm>
        </p:spPr>
        <p:txBody>
          <a:bodyPr/>
          <a:lstStyle/>
          <a:p>
            <a:pPr marL="342900" indent="-342900"/>
            <a:r>
              <a:rPr lang="en-US" altLang="en-US" sz="2400" dirty="0"/>
              <a:t>Minority carrier lifetime is defined as the mean time that a charge carrier exists in the diode before recombination occurs</a:t>
            </a:r>
          </a:p>
          <a:p>
            <a:pPr marL="342900" indent="-342900"/>
            <a:r>
              <a:rPr lang="en-US" altLang="en-US" sz="2400" dirty="0"/>
              <a:t>Symbols for Minority carrier lifetime</a:t>
            </a:r>
          </a:p>
          <a:p>
            <a:pPr marL="742950" lvl="1" indent="-285750"/>
            <a:r>
              <a:rPr lang="en-US" altLang="en-US" sz="2000" dirty="0"/>
              <a:t>T</a:t>
            </a:r>
            <a:r>
              <a:rPr lang="en-US" altLang="en-US" sz="2000" baseline="-25000" dirty="0"/>
              <a:t>L</a:t>
            </a:r>
            <a:r>
              <a:rPr lang="en-US" altLang="en-US" sz="2000" dirty="0"/>
              <a:t> </a:t>
            </a:r>
          </a:p>
          <a:p>
            <a:pPr marL="742950" lvl="1" indent="-285750"/>
            <a:r>
              <a:rPr lang="en-US" altLang="en-US" sz="2000" dirty="0">
                <a:sym typeface="Symbol" panose="05050102010706020507" pitchFamily="18" charset="2"/>
              </a:rPr>
              <a:t>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4906963" y="2641600"/>
            <a:ext cx="9080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Times New Roman" panose="02020603050405020304" pitchFamily="18" charset="0"/>
              </a:rPr>
              <a:t>Forward Bias</a:t>
            </a:r>
          </a:p>
        </p:txBody>
      </p:sp>
      <p:grpSp>
        <p:nvGrpSpPr>
          <p:cNvPr id="51205" name="Group 5"/>
          <p:cNvGrpSpPr>
            <a:grpSpLocks/>
          </p:cNvGrpSpPr>
          <p:nvPr/>
        </p:nvGrpSpPr>
        <p:grpSpPr bwMode="auto">
          <a:xfrm>
            <a:off x="4819650" y="2027238"/>
            <a:ext cx="3733800" cy="3338512"/>
            <a:chOff x="3099" y="1277"/>
            <a:chExt cx="2352" cy="2103"/>
          </a:xfrm>
        </p:grpSpPr>
        <p:graphicFrame>
          <p:nvGraphicFramePr>
            <p:cNvPr id="51206" name="Object 6"/>
            <p:cNvGraphicFramePr>
              <a:graphicFrameLocks noChangeAspect="1"/>
            </p:cNvGraphicFramePr>
            <p:nvPr/>
          </p:nvGraphicFramePr>
          <p:xfrm>
            <a:off x="3273" y="1277"/>
            <a:ext cx="2178" cy="1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7" name="Mathcad 6.0" r:id="rId4" imgW="3457440" imgH="2885760" progId="Mathcad">
                    <p:embed/>
                  </p:oleObj>
                </mc:Choice>
                <mc:Fallback>
                  <p:oleObj name="Mathcad 6.0" r:id="rId4" imgW="3457440" imgH="2885760" progId="Mathcad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" y="1277"/>
                          <a:ext cx="2178" cy="18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7" name="Text Box 7"/>
            <p:cNvSpPr txBox="1">
              <a:spLocks noChangeArrowheads="1"/>
            </p:cNvSpPr>
            <p:nvPr/>
          </p:nvSpPr>
          <p:spPr bwMode="auto">
            <a:xfrm>
              <a:off x="3099" y="2373"/>
              <a:ext cx="564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Times New Roman" panose="02020603050405020304" pitchFamily="18" charset="0"/>
                </a:rPr>
                <a:t>Reverse Bias</a:t>
              </a:r>
            </a:p>
          </p:txBody>
        </p:sp>
        <p:sp>
          <p:nvSpPr>
            <p:cNvPr id="51208" name="Line 8"/>
            <p:cNvSpPr>
              <a:spLocks noChangeShapeType="1"/>
            </p:cNvSpPr>
            <p:nvPr/>
          </p:nvSpPr>
          <p:spPr bwMode="auto">
            <a:xfrm>
              <a:off x="4192" y="2820"/>
              <a:ext cx="0" cy="5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209" name="Line 9"/>
            <p:cNvSpPr>
              <a:spLocks noChangeShapeType="1"/>
            </p:cNvSpPr>
            <p:nvPr/>
          </p:nvSpPr>
          <p:spPr bwMode="auto">
            <a:xfrm flipH="1">
              <a:off x="4552" y="2360"/>
              <a:ext cx="12" cy="10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210" name="Text Box 10"/>
            <p:cNvSpPr txBox="1">
              <a:spLocks noChangeArrowheads="1"/>
            </p:cNvSpPr>
            <p:nvPr/>
          </p:nvSpPr>
          <p:spPr bwMode="auto">
            <a:xfrm>
              <a:off x="4268" y="3168"/>
              <a:ext cx="26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dirty="0">
                  <a:latin typeface="Times New Roman" panose="02020603050405020304" pitchFamily="18" charset="0"/>
                </a:rPr>
                <a:t>T</a:t>
              </a:r>
              <a:r>
                <a:rPr lang="en-US" altLang="en-US" sz="1600" baseline="-25000" dirty="0">
                  <a:latin typeface="Times New Roman" panose="02020603050405020304" pitchFamily="18" charset="0"/>
                </a:rPr>
                <a:t>L</a:t>
              </a:r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11" name="Line 11"/>
            <p:cNvSpPr>
              <a:spLocks noChangeShapeType="1"/>
            </p:cNvSpPr>
            <p:nvPr/>
          </p:nvSpPr>
          <p:spPr bwMode="auto">
            <a:xfrm>
              <a:off x="3928" y="3280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212" name="Line 12"/>
            <p:cNvSpPr>
              <a:spLocks noChangeShapeType="1"/>
            </p:cNvSpPr>
            <p:nvPr/>
          </p:nvSpPr>
          <p:spPr bwMode="auto">
            <a:xfrm flipH="1">
              <a:off x="4548" y="3280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38372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Minority Carrier Lifetime -             </a:t>
            </a:r>
            <a:br>
              <a:rPr lang="en-US" altLang="en-US" sz="2600" dirty="0"/>
            </a:br>
            <a:r>
              <a:rPr lang="en-US" altLang="en-US" sz="2600" dirty="0"/>
              <a:t>So What?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400" dirty="0"/>
              <a:t>If the period of an RF signal is LESS than </a:t>
            </a:r>
            <a:r>
              <a:rPr lang="en-US" altLang="en-US" sz="2400" dirty="0">
                <a:sym typeface="Symbol" panose="05050102010706020507" pitchFamily="18" charset="2"/>
              </a:rPr>
              <a:t> AND the magnitude of the RF signal is relatively small, the PIN diode acts as a very linear resistor</a:t>
            </a:r>
          </a:p>
          <a:p>
            <a:pPr marL="342900" indent="-342900"/>
            <a:r>
              <a:rPr lang="en-US" altLang="en-US" sz="2400" dirty="0">
                <a:sym typeface="Symbol" panose="05050102010706020507" pitchFamily="18" charset="2"/>
              </a:rPr>
              <a:t>The </a:t>
            </a:r>
            <a:r>
              <a:rPr lang="en-US" altLang="en-US" sz="2400" dirty="0" smtClean="0">
                <a:sym typeface="Symbol" panose="05050102010706020507" pitchFamily="18" charset="2"/>
              </a:rPr>
              <a:t>net amount </a:t>
            </a:r>
            <a:r>
              <a:rPr lang="en-US" altLang="en-US" sz="2400" dirty="0">
                <a:sym typeface="Symbol" panose="05050102010706020507" pitchFamily="18" charset="2"/>
              </a:rPr>
              <a:t>of charge in the I layer is a primary determinant of the resistance produced by the diode</a:t>
            </a:r>
          </a:p>
          <a:p>
            <a:pPr marL="342900" indent="-342900"/>
            <a:r>
              <a:rPr lang="en-US" altLang="en-US" sz="2400" dirty="0">
                <a:sym typeface="Symbol" panose="05050102010706020507" pitchFamily="18" charset="2"/>
              </a:rPr>
              <a:t>The </a:t>
            </a:r>
            <a:r>
              <a:rPr lang="en-US" altLang="en-US" sz="2400" dirty="0" smtClean="0">
                <a:sym typeface="Symbol" panose="05050102010706020507" pitchFamily="18" charset="2"/>
              </a:rPr>
              <a:t>net amount </a:t>
            </a:r>
            <a:r>
              <a:rPr lang="en-US" altLang="en-US" sz="2400" dirty="0">
                <a:sym typeface="Symbol" panose="05050102010706020507" pitchFamily="18" charset="2"/>
              </a:rPr>
              <a:t>of charge in the I layer can be controlled by a low frequency (DC) bias </a:t>
            </a:r>
            <a:r>
              <a:rPr lang="en-US" altLang="en-US" sz="2400" dirty="0" smtClean="0">
                <a:sym typeface="Symbol" panose="05050102010706020507" pitchFamily="18" charset="2"/>
              </a:rPr>
              <a:t>current</a:t>
            </a:r>
          </a:p>
          <a:p>
            <a:pPr marL="0" indent="0">
              <a:buNone/>
            </a:pPr>
            <a:r>
              <a:rPr lang="en-US" altLang="en-US" sz="3200" dirty="0" smtClean="0">
                <a:sym typeface="Symbol" panose="05050102010706020507" pitchFamily="18" charset="2"/>
              </a:rPr>
              <a:t>BUT</a:t>
            </a:r>
            <a:endParaRPr lang="en-US" altLang="en-US" sz="3200" dirty="0">
              <a:sym typeface="Symbol" panose="05050102010706020507" pitchFamily="18" charset="2"/>
            </a:endParaRPr>
          </a:p>
          <a:p>
            <a:pPr marL="342900" indent="-342900"/>
            <a:r>
              <a:rPr lang="en-US" altLang="en-US" sz="2400" dirty="0">
                <a:sym typeface="Symbol" panose="05050102010706020507" pitchFamily="18" charset="2"/>
              </a:rPr>
              <a:t>If the </a:t>
            </a:r>
            <a:r>
              <a:rPr lang="en-US" altLang="en-US" sz="2400" dirty="0"/>
              <a:t>period of an RF signal is GREATER than </a:t>
            </a:r>
            <a:r>
              <a:rPr lang="en-US" altLang="en-US" sz="2400" dirty="0">
                <a:sym typeface="Symbol" panose="05050102010706020507" pitchFamily="18" charset="2"/>
              </a:rPr>
              <a:t> OR the magnitude of the RF signal is </a:t>
            </a:r>
            <a:r>
              <a:rPr lang="en-US" altLang="en-US" sz="2400" dirty="0" smtClean="0">
                <a:sym typeface="Symbol" panose="05050102010706020507" pitchFamily="18" charset="2"/>
              </a:rPr>
              <a:t>very </a:t>
            </a:r>
            <a:r>
              <a:rPr lang="en-US" altLang="en-US" sz="2400" dirty="0">
                <a:sym typeface="Symbol" panose="05050102010706020507" pitchFamily="18" charset="2"/>
              </a:rPr>
              <a:t>large, the diode rectifies</a:t>
            </a:r>
          </a:p>
        </p:txBody>
      </p:sp>
    </p:spTree>
    <p:extLst>
      <p:ext uri="{BB962C8B-B14F-4D97-AF65-F5344CB8AC3E}">
        <p14:creationId xmlns:p14="http://schemas.microsoft.com/office/powerpoint/2010/main" val="30628172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PIN Diode Applications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dirty="0"/>
              <a:t>Switch</a:t>
            </a:r>
          </a:p>
          <a:p>
            <a:endParaRPr lang="en-US" altLang="en-US" sz="3200" dirty="0"/>
          </a:p>
          <a:p>
            <a:r>
              <a:rPr lang="en-US" altLang="en-US" sz="3200" dirty="0"/>
              <a:t>Attenuator</a:t>
            </a:r>
          </a:p>
          <a:p>
            <a:endParaRPr lang="en-US" altLang="en-US" sz="3200" dirty="0"/>
          </a:p>
          <a:p>
            <a:r>
              <a:rPr lang="en-US" altLang="en-US" sz="3200" dirty="0"/>
              <a:t>Power Limiter</a:t>
            </a:r>
          </a:p>
        </p:txBody>
      </p:sp>
    </p:spTree>
    <p:extLst>
      <p:ext uri="{BB962C8B-B14F-4D97-AF65-F5344CB8AC3E}">
        <p14:creationId xmlns:p14="http://schemas.microsoft.com/office/powerpoint/2010/main" val="19022302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 dirty="0"/>
              <a:t>PIN Diode Switch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457700" cy="4114800"/>
          </a:xfrm>
        </p:spPr>
        <p:txBody>
          <a:bodyPr/>
          <a:lstStyle/>
          <a:p>
            <a:pPr marL="342900" indent="-342900"/>
            <a:r>
              <a:rPr lang="en-US" altLang="en-US" sz="2800" dirty="0"/>
              <a:t>The impedance of an ideal switch has two states</a:t>
            </a:r>
          </a:p>
          <a:p>
            <a:pPr marL="742950" lvl="1" indent="-285750"/>
            <a:r>
              <a:rPr lang="en-US" altLang="en-US" sz="2400" dirty="0"/>
              <a:t>short (0 </a:t>
            </a:r>
            <a:r>
              <a:rPr lang="en-US" altLang="en-US" sz="2400" dirty="0">
                <a:sym typeface="Symbol" panose="05050102010706020507" pitchFamily="18" charset="2"/>
              </a:rPr>
              <a:t>)</a:t>
            </a:r>
            <a:endParaRPr lang="en-US" altLang="en-US" sz="2400" dirty="0"/>
          </a:p>
          <a:p>
            <a:pPr marL="742950" lvl="1" indent="-285750"/>
            <a:r>
              <a:rPr lang="en-US" altLang="en-US" sz="2400" dirty="0"/>
              <a:t>open (</a:t>
            </a:r>
            <a:r>
              <a:rPr lang="en-US" altLang="en-US" sz="2400" dirty="0">
                <a:sym typeface="Symbol" panose="05050102010706020507" pitchFamily="18" charset="2"/>
              </a:rPr>
              <a:t> )</a:t>
            </a:r>
            <a:endParaRPr lang="en-US" altLang="en-US" sz="2400" dirty="0"/>
          </a:p>
          <a:p>
            <a:pPr marL="342900" indent="-342900"/>
            <a:r>
              <a:rPr lang="en-US" altLang="en-US" sz="2800" dirty="0"/>
              <a:t>A PIN diode comes very close - resistance can vary more than 4 orders of magnitude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5127625" y="2484438"/>
          <a:ext cx="2773363" cy="280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Mathcad 6.0" r:id="rId4" imgW="3943080" imgH="2809800" progId="Mathcad">
                  <p:embed/>
                </p:oleObj>
              </mc:Choice>
              <mc:Fallback>
                <p:oleObj name="Mathcad 6.0" r:id="rId4" imgW="3943080" imgH="280980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2484438"/>
                        <a:ext cx="2773363" cy="280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4586288" y="2568575"/>
            <a:ext cx="852487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Times New Roman" panose="02020603050405020304" pitchFamily="18" charset="0"/>
              </a:rPr>
              <a:t>Almost an open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7772400" y="4359275"/>
            <a:ext cx="8540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Times New Roman" panose="02020603050405020304" pitchFamily="18" charset="0"/>
              </a:rPr>
              <a:t>Almost a short</a:t>
            </a:r>
          </a:p>
        </p:txBody>
      </p:sp>
    </p:spTree>
    <p:extLst>
      <p:ext uri="{BB962C8B-B14F-4D97-AF65-F5344CB8AC3E}">
        <p14:creationId xmlns:p14="http://schemas.microsoft.com/office/powerpoint/2010/main" val="381797275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Desirable Properties - </a:t>
            </a:r>
            <a:br>
              <a:rPr lang="en-US" altLang="en-US" dirty="0"/>
            </a:br>
            <a:r>
              <a:rPr lang="en-US" altLang="en-US" dirty="0"/>
              <a:t>Switch PINs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Low capacitance </a:t>
            </a:r>
          </a:p>
          <a:p>
            <a:r>
              <a:rPr lang="en-US" altLang="en-US" sz="2800" dirty="0"/>
              <a:t>Wide range of resistance</a:t>
            </a:r>
          </a:p>
          <a:p>
            <a:r>
              <a:rPr lang="en-US" altLang="en-US" sz="2800" dirty="0"/>
              <a:t>Low minority carrier lifetime for fast switching</a:t>
            </a:r>
          </a:p>
          <a:p>
            <a:r>
              <a:rPr lang="en-US" altLang="en-US" sz="2800" dirty="0"/>
              <a:t>Sufficiently large breakdown voltage to handle RF signal and bias voltages</a:t>
            </a:r>
          </a:p>
          <a:p>
            <a:r>
              <a:rPr lang="en-US" altLang="en-US" sz="2800" dirty="0"/>
              <a:t>Small dC/dV for low distortion</a:t>
            </a:r>
          </a:p>
        </p:txBody>
      </p:sp>
    </p:spTree>
    <p:extLst>
      <p:ext uri="{BB962C8B-B14F-4D97-AF65-F5344CB8AC3E}">
        <p14:creationId xmlns:p14="http://schemas.microsoft.com/office/powerpoint/2010/main" val="9100100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PIN Switch </a:t>
            </a:r>
            <a:r>
              <a:rPr lang="en-US" altLang="en-US" dirty="0"/>
              <a:t>Topologies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6774" y="1619250"/>
            <a:ext cx="4350026" cy="4114800"/>
          </a:xfrm>
        </p:spPr>
        <p:txBody>
          <a:bodyPr/>
          <a:lstStyle/>
          <a:p>
            <a:pPr marL="342900" indent="-342900"/>
            <a:r>
              <a:rPr lang="en-US" altLang="en-US" sz="2800" dirty="0"/>
              <a:t>Two fundamental configurations</a:t>
            </a:r>
          </a:p>
          <a:p>
            <a:pPr marL="742950" lvl="1" indent="-285750"/>
            <a:r>
              <a:rPr lang="en-US" altLang="en-US" sz="2400" dirty="0"/>
              <a:t>Series diode</a:t>
            </a:r>
          </a:p>
          <a:p>
            <a:pPr marL="742950" lvl="1" indent="-285750"/>
            <a:r>
              <a:rPr lang="en-US" altLang="en-US" sz="2400" dirty="0"/>
              <a:t>Shunt diode</a:t>
            </a:r>
          </a:p>
          <a:p>
            <a:pPr marL="342900" indent="-342900"/>
            <a:r>
              <a:rPr lang="en-US" altLang="en-US" sz="2800" dirty="0"/>
              <a:t>All other switch configurations are combination of series and shunt</a:t>
            </a:r>
          </a:p>
          <a:p>
            <a:pPr marL="342900" indent="-342900"/>
            <a:r>
              <a:rPr lang="en-US" altLang="en-US" sz="2800" dirty="0"/>
              <a:t>Switches are reflective</a:t>
            </a:r>
          </a:p>
          <a:p>
            <a:pPr marL="342900" indent="-342900"/>
            <a:endParaRPr lang="en-US" altLang="en-US" sz="3600" dirty="0"/>
          </a:p>
        </p:txBody>
      </p:sp>
      <p:grpSp>
        <p:nvGrpSpPr>
          <p:cNvPr id="56324" name="Group 4"/>
          <p:cNvGrpSpPr>
            <a:grpSpLocks/>
          </p:cNvGrpSpPr>
          <p:nvPr/>
        </p:nvGrpSpPr>
        <p:grpSpPr bwMode="auto">
          <a:xfrm>
            <a:off x="5067300" y="1897063"/>
            <a:ext cx="2786063" cy="1033462"/>
            <a:chOff x="3192" y="1195"/>
            <a:chExt cx="1755" cy="651"/>
          </a:xfrm>
        </p:grpSpPr>
        <p:grpSp>
          <p:nvGrpSpPr>
            <p:cNvPr id="56325" name="Group 5"/>
            <p:cNvGrpSpPr>
              <a:grpSpLocks/>
            </p:cNvGrpSpPr>
            <p:nvPr/>
          </p:nvGrpSpPr>
          <p:grpSpPr bwMode="auto">
            <a:xfrm>
              <a:off x="4015" y="1195"/>
              <a:ext cx="932" cy="629"/>
              <a:chOff x="4015" y="1195"/>
              <a:chExt cx="932" cy="629"/>
            </a:xfrm>
          </p:grpSpPr>
          <p:grpSp>
            <p:nvGrpSpPr>
              <p:cNvPr id="56326" name="Group 6"/>
              <p:cNvGrpSpPr>
                <a:grpSpLocks/>
              </p:cNvGrpSpPr>
              <p:nvPr/>
            </p:nvGrpSpPr>
            <p:grpSpPr bwMode="auto">
              <a:xfrm>
                <a:off x="4015" y="1195"/>
                <a:ext cx="924" cy="345"/>
                <a:chOff x="2784" y="1344"/>
                <a:chExt cx="924" cy="345"/>
              </a:xfrm>
            </p:grpSpPr>
            <p:sp>
              <p:nvSpPr>
                <p:cNvPr id="56327" name="Line 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28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29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3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31" name="Line 1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32" name="Line 1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6333" name="Line 13"/>
              <p:cNvSpPr>
                <a:spLocks noChangeShapeType="1"/>
              </p:cNvSpPr>
              <p:nvPr/>
            </p:nvSpPr>
            <p:spPr bwMode="auto">
              <a:xfrm>
                <a:off x="4027" y="1824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56334" name="Text Box 14"/>
            <p:cNvSpPr txBox="1">
              <a:spLocks noChangeArrowheads="1"/>
            </p:cNvSpPr>
            <p:nvPr/>
          </p:nvSpPr>
          <p:spPr bwMode="auto">
            <a:xfrm>
              <a:off x="3192" y="1308"/>
              <a:ext cx="744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Series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Switch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335" name="Group 15"/>
          <p:cNvGrpSpPr>
            <a:grpSpLocks/>
          </p:cNvGrpSpPr>
          <p:nvPr/>
        </p:nvGrpSpPr>
        <p:grpSpPr bwMode="auto">
          <a:xfrm>
            <a:off x="5086350" y="4044950"/>
            <a:ext cx="2813050" cy="1466850"/>
            <a:chOff x="3204" y="2548"/>
            <a:chExt cx="1772" cy="924"/>
          </a:xfrm>
        </p:grpSpPr>
        <p:grpSp>
          <p:nvGrpSpPr>
            <p:cNvPr id="56336" name="Group 16"/>
            <p:cNvGrpSpPr>
              <a:grpSpLocks/>
            </p:cNvGrpSpPr>
            <p:nvPr/>
          </p:nvGrpSpPr>
          <p:grpSpPr bwMode="auto">
            <a:xfrm>
              <a:off x="4016" y="2548"/>
              <a:ext cx="960" cy="924"/>
              <a:chOff x="3824" y="2152"/>
              <a:chExt cx="960" cy="924"/>
            </a:xfrm>
          </p:grpSpPr>
          <p:sp>
            <p:nvSpPr>
              <p:cNvPr id="56337" name="Line 17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6338" name="Line 18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56339" name="Group 19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56340" name="Line 20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41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42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43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44" name="Line 24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6345" name="Line 25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56346" name="Text Box 26"/>
            <p:cNvSpPr txBox="1">
              <a:spLocks noChangeArrowheads="1"/>
            </p:cNvSpPr>
            <p:nvPr/>
          </p:nvSpPr>
          <p:spPr bwMode="auto">
            <a:xfrm>
              <a:off x="3204" y="2724"/>
              <a:ext cx="744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Shunt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Switch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90580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Series Switch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6262" y="1679575"/>
            <a:ext cx="4057650" cy="4114800"/>
          </a:xfrm>
        </p:spPr>
        <p:txBody>
          <a:bodyPr/>
          <a:lstStyle/>
          <a:p>
            <a:r>
              <a:rPr lang="en-US" altLang="en-US" sz="2800" dirty="0"/>
              <a:t>Isolation determined by capacitive reactance </a:t>
            </a:r>
          </a:p>
          <a:p>
            <a:pPr lvl="1"/>
            <a:r>
              <a:rPr lang="en-US" altLang="en-US" sz="2400" dirty="0"/>
              <a:t>Function of frequency</a:t>
            </a:r>
          </a:p>
          <a:p>
            <a:r>
              <a:rPr lang="en-US" altLang="en-US" sz="2800" dirty="0"/>
              <a:t>Insertion loss determined by resistance</a:t>
            </a:r>
          </a:p>
          <a:p>
            <a:pPr lvl="1"/>
            <a:r>
              <a:rPr lang="en-US" altLang="en-US" sz="2400" dirty="0"/>
              <a:t>Independent of frequency </a:t>
            </a:r>
          </a:p>
        </p:txBody>
      </p:sp>
      <p:grpSp>
        <p:nvGrpSpPr>
          <p:cNvPr id="57348" name="Group 4"/>
          <p:cNvGrpSpPr>
            <a:grpSpLocks/>
          </p:cNvGrpSpPr>
          <p:nvPr/>
        </p:nvGrpSpPr>
        <p:grpSpPr bwMode="auto">
          <a:xfrm>
            <a:off x="5257800" y="2259013"/>
            <a:ext cx="2786063" cy="1033462"/>
            <a:chOff x="3192" y="1195"/>
            <a:chExt cx="1755" cy="651"/>
          </a:xfrm>
        </p:grpSpPr>
        <p:grpSp>
          <p:nvGrpSpPr>
            <p:cNvPr id="57349" name="Group 5"/>
            <p:cNvGrpSpPr>
              <a:grpSpLocks/>
            </p:cNvGrpSpPr>
            <p:nvPr/>
          </p:nvGrpSpPr>
          <p:grpSpPr bwMode="auto">
            <a:xfrm>
              <a:off x="4015" y="1195"/>
              <a:ext cx="932" cy="629"/>
              <a:chOff x="4015" y="1195"/>
              <a:chExt cx="932" cy="629"/>
            </a:xfrm>
          </p:grpSpPr>
          <p:grpSp>
            <p:nvGrpSpPr>
              <p:cNvPr id="57350" name="Group 6"/>
              <p:cNvGrpSpPr>
                <a:grpSpLocks/>
              </p:cNvGrpSpPr>
              <p:nvPr/>
            </p:nvGrpSpPr>
            <p:grpSpPr bwMode="auto">
              <a:xfrm>
                <a:off x="4015" y="1195"/>
                <a:ext cx="924" cy="345"/>
                <a:chOff x="2784" y="1344"/>
                <a:chExt cx="924" cy="345"/>
              </a:xfrm>
            </p:grpSpPr>
            <p:sp>
              <p:nvSpPr>
                <p:cNvPr id="57351" name="Line 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352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353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354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355" name="Line 1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7356" name="Line 1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357" name="Line 13"/>
              <p:cNvSpPr>
                <a:spLocks noChangeShapeType="1"/>
              </p:cNvSpPr>
              <p:nvPr/>
            </p:nvSpPr>
            <p:spPr bwMode="auto">
              <a:xfrm>
                <a:off x="4027" y="1824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57358" name="Text Box 14"/>
            <p:cNvSpPr txBox="1">
              <a:spLocks noChangeArrowheads="1"/>
            </p:cNvSpPr>
            <p:nvPr/>
          </p:nvSpPr>
          <p:spPr bwMode="auto">
            <a:xfrm>
              <a:off x="3192" y="1308"/>
              <a:ext cx="744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Series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Switch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4778375" y="3736975"/>
          <a:ext cx="40703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Equation" r:id="rId4" imgW="1777680" imgH="241200" progId="Equation.3">
                  <p:embed/>
                </p:oleObj>
              </mc:Choice>
              <mc:Fallback>
                <p:oleObj name="Equation" r:id="rId4" imgW="1777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8375" y="3736975"/>
                        <a:ext cx="40703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5280025" y="4521200"/>
          <a:ext cx="30035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Equation" r:id="rId6" imgW="1295280" imgH="482400" progId="Equation.3">
                  <p:embed/>
                </p:oleObj>
              </mc:Choice>
              <mc:Fallback>
                <p:oleObj name="Equation" r:id="rId6" imgW="12952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025" y="4521200"/>
                        <a:ext cx="30035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71845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Shunt Switch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3719" y="1727200"/>
            <a:ext cx="4038600" cy="4114800"/>
          </a:xfrm>
        </p:spPr>
        <p:txBody>
          <a:bodyPr/>
          <a:lstStyle/>
          <a:p>
            <a:r>
              <a:rPr lang="en-US" altLang="en-US" sz="2800" dirty="0"/>
              <a:t>Insertion loss isolation determined by capacitive reactance</a:t>
            </a:r>
          </a:p>
          <a:p>
            <a:pPr lvl="1"/>
            <a:r>
              <a:rPr lang="en-US" altLang="en-US" sz="2800" dirty="0"/>
              <a:t>Function of frequency</a:t>
            </a:r>
          </a:p>
          <a:p>
            <a:r>
              <a:rPr lang="en-US" altLang="en-US" sz="2800" dirty="0"/>
              <a:t>Isolation determined by resistance</a:t>
            </a:r>
          </a:p>
          <a:p>
            <a:pPr lvl="1"/>
            <a:r>
              <a:rPr lang="en-US" altLang="en-US" sz="2800" dirty="0"/>
              <a:t>Independent of frequency</a:t>
            </a:r>
            <a:br>
              <a:rPr lang="en-US" altLang="en-US" sz="2800" dirty="0"/>
            </a:br>
            <a:endParaRPr lang="en-US" altLang="en-US" sz="2800" dirty="0"/>
          </a:p>
        </p:txBody>
      </p:sp>
      <p:grpSp>
        <p:nvGrpSpPr>
          <p:cNvPr id="58372" name="Group 4"/>
          <p:cNvGrpSpPr>
            <a:grpSpLocks/>
          </p:cNvGrpSpPr>
          <p:nvPr/>
        </p:nvGrpSpPr>
        <p:grpSpPr bwMode="auto">
          <a:xfrm>
            <a:off x="5314950" y="2025650"/>
            <a:ext cx="2813050" cy="1466850"/>
            <a:chOff x="3204" y="2548"/>
            <a:chExt cx="1772" cy="924"/>
          </a:xfrm>
        </p:grpSpPr>
        <p:grpSp>
          <p:nvGrpSpPr>
            <p:cNvPr id="58373" name="Group 5"/>
            <p:cNvGrpSpPr>
              <a:grpSpLocks/>
            </p:cNvGrpSpPr>
            <p:nvPr/>
          </p:nvGrpSpPr>
          <p:grpSpPr bwMode="auto">
            <a:xfrm>
              <a:off x="4016" y="2548"/>
              <a:ext cx="960" cy="924"/>
              <a:chOff x="3824" y="2152"/>
              <a:chExt cx="960" cy="924"/>
            </a:xfrm>
          </p:grpSpPr>
          <p:sp>
            <p:nvSpPr>
              <p:cNvPr id="58374" name="Line 6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8375" name="Line 7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58376" name="Group 8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58377" name="Line 9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378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37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38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381" name="Line 13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8382" name="Line 14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58383" name="Text Box 15"/>
            <p:cNvSpPr txBox="1">
              <a:spLocks noChangeArrowheads="1"/>
            </p:cNvSpPr>
            <p:nvPr/>
          </p:nvSpPr>
          <p:spPr bwMode="auto">
            <a:xfrm>
              <a:off x="3204" y="2724"/>
              <a:ext cx="744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Shunt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Switch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8384" name="Object 16"/>
          <p:cNvGraphicFramePr>
            <a:graphicFrameLocks noChangeAspect="1"/>
          </p:cNvGraphicFramePr>
          <p:nvPr/>
        </p:nvGraphicFramePr>
        <p:xfrm>
          <a:off x="5192713" y="3784600"/>
          <a:ext cx="34940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Equation" r:id="rId4" imgW="1485720" imgH="241200" progId="Equation.3">
                  <p:embed/>
                </p:oleObj>
              </mc:Choice>
              <mc:Fallback>
                <p:oleObj name="Equation" r:id="rId4" imgW="14857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3784600"/>
                        <a:ext cx="34940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5" name="Object 17"/>
          <p:cNvGraphicFramePr>
            <a:graphicFrameLocks noChangeAspect="1"/>
          </p:cNvGraphicFramePr>
          <p:nvPr/>
        </p:nvGraphicFramePr>
        <p:xfrm>
          <a:off x="5200650" y="4559300"/>
          <a:ext cx="34480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6" imgW="1485720" imgH="482400" progId="Equation.3">
                  <p:embed/>
                </p:oleObj>
              </mc:Choice>
              <mc:Fallback>
                <p:oleObj name="Equation" r:id="rId6" imgW="1485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650" y="4559300"/>
                        <a:ext cx="34480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0823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Series-Shunt Switch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270375" cy="4114800"/>
          </a:xfrm>
        </p:spPr>
        <p:txBody>
          <a:bodyPr/>
          <a:lstStyle/>
          <a:p>
            <a:r>
              <a:rPr lang="en-US" altLang="en-US" sz="2800" dirty="0"/>
              <a:t>Insertion loss and isolation determined by series and shunt diode combination</a:t>
            </a:r>
          </a:p>
          <a:p>
            <a:r>
              <a:rPr lang="en-US" altLang="en-US" sz="2800" dirty="0"/>
              <a:t>Insertion loss and isolation are functions </a:t>
            </a:r>
            <a:r>
              <a:rPr lang="en-US" altLang="en-US" sz="2800" dirty="0" smtClean="0"/>
              <a:t>of</a:t>
            </a:r>
          </a:p>
          <a:p>
            <a:pPr lvl="1"/>
            <a:r>
              <a:rPr lang="en-US" altLang="en-US" sz="2600" dirty="0" smtClean="0"/>
              <a:t>signal frequency</a:t>
            </a:r>
          </a:p>
          <a:p>
            <a:pPr lvl="1"/>
            <a:r>
              <a:rPr lang="en-US" altLang="en-US" sz="2600" dirty="0" smtClean="0"/>
              <a:t>diode resistance</a:t>
            </a:r>
            <a:endParaRPr lang="en-US" altLang="en-US" sz="2600" dirty="0"/>
          </a:p>
          <a:p>
            <a:endParaRPr lang="en-US" altLang="en-US" sz="2800" dirty="0"/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6164263" y="1763713"/>
            <a:ext cx="2382837" cy="1747837"/>
            <a:chOff x="3883" y="1111"/>
            <a:chExt cx="1501" cy="1101"/>
          </a:xfrm>
        </p:grpSpPr>
        <p:grpSp>
          <p:nvGrpSpPr>
            <p:cNvPr id="59397" name="Group 5"/>
            <p:cNvGrpSpPr>
              <a:grpSpLocks/>
            </p:cNvGrpSpPr>
            <p:nvPr/>
          </p:nvGrpSpPr>
          <p:grpSpPr bwMode="auto">
            <a:xfrm>
              <a:off x="3883" y="1111"/>
              <a:ext cx="924" cy="345"/>
              <a:chOff x="2784" y="1344"/>
              <a:chExt cx="924" cy="345"/>
            </a:xfrm>
          </p:grpSpPr>
          <p:sp>
            <p:nvSpPr>
              <p:cNvPr id="59398" name="Line 6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9399" name="Line 7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9400" name="Line 8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9401" name="Line 9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9402" name="Line 10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9403" name="Line 11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59404" name="Line 12"/>
            <p:cNvSpPr>
              <a:spLocks noChangeShapeType="1"/>
            </p:cNvSpPr>
            <p:nvPr/>
          </p:nvSpPr>
          <p:spPr bwMode="auto">
            <a:xfrm>
              <a:off x="3919" y="2208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59405" name="Group 13"/>
            <p:cNvGrpSpPr>
              <a:grpSpLocks/>
            </p:cNvGrpSpPr>
            <p:nvPr/>
          </p:nvGrpSpPr>
          <p:grpSpPr bwMode="auto">
            <a:xfrm>
              <a:off x="4424" y="1288"/>
              <a:ext cx="960" cy="924"/>
              <a:chOff x="3824" y="2152"/>
              <a:chExt cx="960" cy="924"/>
            </a:xfrm>
          </p:grpSpPr>
          <p:sp>
            <p:nvSpPr>
              <p:cNvPr id="59406" name="Line 14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59407" name="Line 15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59408" name="Group 16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59409" name="Line 1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410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41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412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413" name="Line 2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9414" name="Line 2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</p:grpSp>
      <p:graphicFrame>
        <p:nvGraphicFramePr>
          <p:cNvPr id="59415" name="Object 23"/>
          <p:cNvGraphicFramePr>
            <a:graphicFrameLocks noChangeAspect="1"/>
          </p:cNvGraphicFramePr>
          <p:nvPr/>
        </p:nvGraphicFramePr>
        <p:xfrm>
          <a:off x="5094288" y="3835400"/>
          <a:ext cx="33940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4" imgW="2361960" imgH="558720" progId="Equation.3">
                  <p:embed/>
                </p:oleObj>
              </mc:Choice>
              <mc:Fallback>
                <p:oleObj name="Equation" r:id="rId4" imgW="236196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288" y="3835400"/>
                        <a:ext cx="339407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6" name="Object 24"/>
          <p:cNvGraphicFramePr>
            <a:graphicFrameLocks noChangeAspect="1"/>
          </p:cNvGraphicFramePr>
          <p:nvPr/>
        </p:nvGraphicFramePr>
        <p:xfrm>
          <a:off x="4340225" y="4921250"/>
          <a:ext cx="419893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Equation" r:id="rId6" imgW="3213000" imgH="558720" progId="Equation.3">
                  <p:embed/>
                </p:oleObj>
              </mc:Choice>
              <mc:Fallback>
                <p:oleObj name="Equation" r:id="rId6" imgW="321300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225" y="4921250"/>
                        <a:ext cx="419893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7" name="Text Box 25"/>
          <p:cNvSpPr txBox="1">
            <a:spLocks noChangeArrowheads="1"/>
          </p:cNvSpPr>
          <p:nvPr/>
        </p:nvSpPr>
        <p:spPr bwMode="auto">
          <a:xfrm>
            <a:off x="5486400" y="2438400"/>
            <a:ext cx="129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dirty="0">
                <a:latin typeface="Times New Roman" panose="02020603050405020304" pitchFamily="18" charset="0"/>
              </a:rPr>
              <a:t>Series-Shunt</a:t>
            </a:r>
          </a:p>
        </p:txBody>
      </p:sp>
    </p:spTree>
    <p:extLst>
      <p:ext uri="{BB962C8B-B14F-4D97-AF65-F5344CB8AC3E}">
        <p14:creationId xmlns:p14="http://schemas.microsoft.com/office/powerpoint/2010/main" val="206787296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PIN Diode Attenuator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95450"/>
            <a:ext cx="4114800" cy="4114800"/>
          </a:xfrm>
        </p:spPr>
        <p:txBody>
          <a:bodyPr/>
          <a:lstStyle/>
          <a:p>
            <a:r>
              <a:rPr lang="en-US" altLang="en-US" sz="2400" dirty="0"/>
              <a:t>The ideal attenuator element </a:t>
            </a:r>
            <a:r>
              <a:rPr lang="en-US" altLang="en-US" sz="2400" dirty="0" smtClean="0"/>
              <a:t>requires a continuously-variable </a:t>
            </a:r>
            <a:r>
              <a:rPr lang="en-US" altLang="en-US" sz="2400" dirty="0"/>
              <a:t>impedance</a:t>
            </a:r>
          </a:p>
          <a:p>
            <a:r>
              <a:rPr lang="en-US" altLang="en-US" sz="2400" dirty="0"/>
              <a:t>A PIN diode has </a:t>
            </a:r>
            <a:r>
              <a:rPr lang="en-US" altLang="en-US" sz="2400" dirty="0" smtClean="0"/>
              <a:t>continuously-variable </a:t>
            </a:r>
            <a:r>
              <a:rPr lang="en-US" altLang="en-US" sz="2400" dirty="0"/>
              <a:t>impedance between R</a:t>
            </a:r>
            <a:r>
              <a:rPr lang="en-US" altLang="en-US" sz="2400" baseline="-25000" dirty="0"/>
              <a:t>p</a:t>
            </a:r>
            <a:r>
              <a:rPr lang="en-US" altLang="en-US" sz="2400" dirty="0"/>
              <a:t> and R</a:t>
            </a:r>
            <a:r>
              <a:rPr lang="en-US" altLang="en-US" sz="2400" baseline="-25000" dirty="0"/>
              <a:t>SAT</a:t>
            </a:r>
            <a:endParaRPr lang="en-US" altLang="en-US" sz="2400" dirty="0"/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5029200" y="2179638"/>
            <a:ext cx="3543300" cy="3373437"/>
            <a:chOff x="3168" y="1373"/>
            <a:chExt cx="2232" cy="2125"/>
          </a:xfrm>
        </p:grpSpPr>
        <p:sp>
          <p:nvSpPr>
            <p:cNvPr id="60421" name="Text Box 5"/>
            <p:cNvSpPr txBox="1">
              <a:spLocks noChangeArrowheads="1"/>
            </p:cNvSpPr>
            <p:nvPr/>
          </p:nvSpPr>
          <p:spPr bwMode="auto">
            <a:xfrm>
              <a:off x="5040" y="2556"/>
              <a:ext cx="360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>
                  <a:latin typeface="Times New Roman" panose="02020603050405020304" pitchFamily="18" charset="0"/>
                </a:rPr>
                <a:t>Low Z</a:t>
              </a:r>
            </a:p>
          </p:txBody>
        </p:sp>
        <p:grpSp>
          <p:nvGrpSpPr>
            <p:cNvPr id="60422" name="Group 6"/>
            <p:cNvGrpSpPr>
              <a:grpSpLocks/>
            </p:cNvGrpSpPr>
            <p:nvPr/>
          </p:nvGrpSpPr>
          <p:grpSpPr bwMode="auto">
            <a:xfrm>
              <a:off x="3168" y="1373"/>
              <a:ext cx="1989" cy="2125"/>
              <a:chOff x="3156" y="1241"/>
              <a:chExt cx="1989" cy="2125"/>
            </a:xfrm>
          </p:grpSpPr>
          <p:graphicFrame>
            <p:nvGraphicFramePr>
              <p:cNvPr id="60423" name="Object 7"/>
              <p:cNvGraphicFramePr>
                <a:graphicFrameLocks noChangeAspect="1"/>
              </p:cNvGraphicFramePr>
              <p:nvPr/>
            </p:nvGraphicFramePr>
            <p:xfrm>
              <a:off x="3398" y="1241"/>
              <a:ext cx="1747" cy="17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77" name="Mathcad 6.0" r:id="rId4" imgW="3943080" imgH="2809800" progId="Mathcad">
                      <p:embed/>
                    </p:oleObj>
                  </mc:Choice>
                  <mc:Fallback>
                    <p:oleObj name="Mathcad 6.0" r:id="rId4" imgW="3943080" imgH="2809800" progId="Mathcad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8" y="1241"/>
                            <a:ext cx="1747" cy="17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24" name="Text Box 8"/>
              <p:cNvSpPr txBox="1">
                <a:spLocks noChangeArrowheads="1"/>
              </p:cNvSpPr>
              <p:nvPr/>
            </p:nvSpPr>
            <p:spPr bwMode="auto">
              <a:xfrm>
                <a:off x="3156" y="1332"/>
                <a:ext cx="384" cy="3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High Z</a:t>
                </a:r>
              </a:p>
            </p:txBody>
          </p:sp>
          <p:grpSp>
            <p:nvGrpSpPr>
              <p:cNvPr id="60425" name="Group 9"/>
              <p:cNvGrpSpPr>
                <a:grpSpLocks/>
              </p:cNvGrpSpPr>
              <p:nvPr/>
            </p:nvGrpSpPr>
            <p:grpSpPr bwMode="auto">
              <a:xfrm>
                <a:off x="3900" y="3000"/>
                <a:ext cx="1032" cy="366"/>
                <a:chOff x="3900" y="3036"/>
                <a:chExt cx="1032" cy="366"/>
              </a:xfrm>
            </p:grpSpPr>
            <p:sp>
              <p:nvSpPr>
                <p:cNvPr id="60426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3984" y="3036"/>
                  <a:ext cx="876" cy="36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en-US" sz="1600" dirty="0">
                      <a:latin typeface="Times New Roman" panose="02020603050405020304" pitchFamily="18" charset="0"/>
                    </a:rPr>
                    <a:t>Continuously Variable Z </a:t>
                  </a:r>
                </a:p>
              </p:txBody>
            </p:sp>
            <p:sp>
              <p:nvSpPr>
                <p:cNvPr id="6042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900" y="3228"/>
                  <a:ext cx="1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0428" name="Line 12"/>
                <p:cNvSpPr>
                  <a:spLocks noChangeShapeType="1"/>
                </p:cNvSpPr>
                <p:nvPr/>
              </p:nvSpPr>
              <p:spPr bwMode="auto">
                <a:xfrm>
                  <a:off x="4752" y="3228"/>
                  <a:ext cx="1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0583587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Desirable Properties - </a:t>
            </a:r>
            <a:br>
              <a:rPr lang="en-US" altLang="en-US" dirty="0"/>
            </a:br>
            <a:r>
              <a:rPr lang="en-US" altLang="en-US" dirty="0"/>
              <a:t>Attenuator PIN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/>
              <a:t>Low capacitance</a:t>
            </a:r>
          </a:p>
          <a:p>
            <a:r>
              <a:rPr lang="en-US" altLang="en-US" sz="2800" dirty="0"/>
              <a:t>Wide range of resistance</a:t>
            </a:r>
          </a:p>
          <a:p>
            <a:r>
              <a:rPr lang="en-US" altLang="en-US" sz="2800" dirty="0"/>
              <a:t>Very predictable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curve</a:t>
            </a:r>
          </a:p>
          <a:p>
            <a:r>
              <a:rPr lang="en-US" altLang="en-US" sz="2800" dirty="0"/>
              <a:t>Large minority carrier lifetime for low distortion</a:t>
            </a:r>
          </a:p>
          <a:p>
            <a:r>
              <a:rPr lang="en-US" altLang="en-US" sz="2800" dirty="0"/>
              <a:t>Small dC/dV for low distortion</a:t>
            </a:r>
            <a:br>
              <a:rPr lang="en-US" altLang="en-US" sz="2800" dirty="0"/>
            </a:br>
            <a:endParaRPr lang="en-US" altLang="en-US" sz="2800" dirty="0"/>
          </a:p>
          <a:p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527343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Attenuator Topologies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5861" y="1371600"/>
            <a:ext cx="7772400" cy="4602163"/>
          </a:xfrm>
        </p:spPr>
        <p:txBody>
          <a:bodyPr/>
          <a:lstStyle/>
          <a:p>
            <a:r>
              <a:rPr lang="en-US" altLang="en-US" sz="2400" dirty="0"/>
              <a:t>Reflective</a:t>
            </a:r>
          </a:p>
          <a:p>
            <a:pPr lvl="1"/>
            <a:r>
              <a:rPr lang="en-US" altLang="en-US" sz="2000" dirty="0"/>
              <a:t>Single series or shunt diode</a:t>
            </a:r>
          </a:p>
          <a:p>
            <a:pPr lvl="1"/>
            <a:r>
              <a:rPr lang="en-US" altLang="en-US" sz="2000" dirty="0"/>
              <a:t>Reflects portion of input signal by creating impedance mismatch</a:t>
            </a:r>
          </a:p>
          <a:p>
            <a:r>
              <a:rPr lang="en-US" altLang="en-US" sz="2400" dirty="0"/>
              <a:t>Absorptive</a:t>
            </a:r>
          </a:p>
          <a:p>
            <a:pPr lvl="1"/>
            <a:r>
              <a:rPr lang="en-US" altLang="en-US" sz="2000" dirty="0"/>
              <a:t>Dissipates portion of input signal heat</a:t>
            </a:r>
          </a:p>
          <a:p>
            <a:pPr lvl="1"/>
            <a:r>
              <a:rPr lang="en-US" altLang="en-US" sz="2000" dirty="0"/>
              <a:t>Several topologies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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Tee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Bridged tee</a:t>
            </a:r>
          </a:p>
          <a:p>
            <a:pPr lvl="2"/>
            <a:r>
              <a:rPr lang="en-US" altLang="en-US" sz="1800" dirty="0">
                <a:sym typeface="Symbol" panose="05050102010706020507" pitchFamily="18" charset="2"/>
              </a:rPr>
              <a:t>Hybrid coupler</a:t>
            </a:r>
          </a:p>
          <a:p>
            <a:pPr lvl="3"/>
            <a:r>
              <a:rPr lang="en-US" altLang="en-US" sz="1800" dirty="0">
                <a:sym typeface="Symbol" panose="05050102010706020507" pitchFamily="18" charset="2"/>
              </a:rPr>
              <a:t>Series</a:t>
            </a:r>
          </a:p>
          <a:p>
            <a:pPr lvl="3"/>
            <a:r>
              <a:rPr lang="en-US" altLang="en-US" sz="2000" dirty="0">
                <a:sym typeface="Symbol" panose="05050102010706020507" pitchFamily="18" charset="2"/>
              </a:rPr>
              <a:t>Shunt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5539530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Series Attenuator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261" y="1905000"/>
            <a:ext cx="4152900" cy="3143250"/>
          </a:xfrm>
        </p:spPr>
        <p:txBody>
          <a:bodyPr/>
          <a:lstStyle/>
          <a:p>
            <a:r>
              <a:rPr lang="en-US" altLang="en-US" sz="2800" dirty="0"/>
              <a:t>Reflective</a:t>
            </a:r>
          </a:p>
          <a:p>
            <a:endParaRPr lang="en-US" altLang="en-US" sz="2800" dirty="0"/>
          </a:p>
          <a:p>
            <a:r>
              <a:rPr lang="en-US" altLang="en-US" sz="2800" dirty="0"/>
              <a:t>Requires diode with very large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at low I</a:t>
            </a:r>
            <a:r>
              <a:rPr lang="en-US" altLang="en-US" sz="2800" baseline="-25000" dirty="0"/>
              <a:t>BIAS</a:t>
            </a:r>
          </a:p>
          <a:p>
            <a:endParaRPr lang="en-US" altLang="en-US" sz="2800" baseline="-25000" dirty="0"/>
          </a:p>
          <a:p>
            <a:r>
              <a:rPr lang="en-US" altLang="en-US" sz="2800" dirty="0"/>
              <a:t>Requires diode with very small C</a:t>
            </a:r>
            <a:r>
              <a:rPr lang="en-US" altLang="en-US" sz="2800" baseline="-25000" dirty="0"/>
              <a:t>t</a:t>
            </a:r>
            <a:endParaRPr lang="en-US" altLang="en-US" sz="2800" dirty="0"/>
          </a:p>
        </p:txBody>
      </p:sp>
      <p:grpSp>
        <p:nvGrpSpPr>
          <p:cNvPr id="63492" name="Group 4"/>
          <p:cNvGrpSpPr>
            <a:grpSpLocks/>
          </p:cNvGrpSpPr>
          <p:nvPr/>
        </p:nvGrpSpPr>
        <p:grpSpPr bwMode="auto">
          <a:xfrm>
            <a:off x="5257800" y="2259013"/>
            <a:ext cx="2786063" cy="1033462"/>
            <a:chOff x="3312" y="1423"/>
            <a:chExt cx="1755" cy="651"/>
          </a:xfrm>
        </p:grpSpPr>
        <p:grpSp>
          <p:nvGrpSpPr>
            <p:cNvPr id="63493" name="Group 5"/>
            <p:cNvGrpSpPr>
              <a:grpSpLocks/>
            </p:cNvGrpSpPr>
            <p:nvPr/>
          </p:nvGrpSpPr>
          <p:grpSpPr bwMode="auto">
            <a:xfrm>
              <a:off x="4135" y="1423"/>
              <a:ext cx="932" cy="629"/>
              <a:chOff x="4015" y="1195"/>
              <a:chExt cx="932" cy="629"/>
            </a:xfrm>
          </p:grpSpPr>
          <p:grpSp>
            <p:nvGrpSpPr>
              <p:cNvPr id="63494" name="Group 6"/>
              <p:cNvGrpSpPr>
                <a:grpSpLocks/>
              </p:cNvGrpSpPr>
              <p:nvPr/>
            </p:nvGrpSpPr>
            <p:grpSpPr bwMode="auto">
              <a:xfrm>
                <a:off x="4015" y="1195"/>
                <a:ext cx="924" cy="345"/>
                <a:chOff x="2784" y="1344"/>
                <a:chExt cx="924" cy="345"/>
              </a:xfrm>
            </p:grpSpPr>
            <p:sp>
              <p:nvSpPr>
                <p:cNvPr id="63495" name="Line 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496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497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498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499" name="Line 1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3500" name="Line 1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3501" name="Line 13"/>
              <p:cNvSpPr>
                <a:spLocks noChangeShapeType="1"/>
              </p:cNvSpPr>
              <p:nvPr/>
            </p:nvSpPr>
            <p:spPr bwMode="auto">
              <a:xfrm>
                <a:off x="4027" y="1824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63502" name="Text Box 14"/>
            <p:cNvSpPr txBox="1">
              <a:spLocks noChangeArrowheads="1"/>
            </p:cNvSpPr>
            <p:nvPr/>
          </p:nvSpPr>
          <p:spPr bwMode="auto">
            <a:xfrm>
              <a:off x="3312" y="1536"/>
              <a:ext cx="852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Series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Attenuator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3503" name="Object 15"/>
          <p:cNvGraphicFramePr>
            <a:graphicFrameLocks noChangeAspect="1"/>
          </p:cNvGraphicFramePr>
          <p:nvPr/>
        </p:nvGraphicFramePr>
        <p:xfrm>
          <a:off x="5194300" y="4025900"/>
          <a:ext cx="3443288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4" imgW="1485720" imgH="482400" progId="Equation.3">
                  <p:embed/>
                </p:oleObj>
              </mc:Choice>
              <mc:Fallback>
                <p:oleObj name="Equation" r:id="rId4" imgW="1485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4025900"/>
                        <a:ext cx="3443288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60641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Shunt Attenuator 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249738" cy="4114800"/>
          </a:xfrm>
        </p:spPr>
        <p:txBody>
          <a:bodyPr/>
          <a:lstStyle/>
          <a:p>
            <a:r>
              <a:rPr lang="en-US" altLang="en-US" sz="2800" dirty="0"/>
              <a:t>Reflective</a:t>
            </a:r>
          </a:p>
          <a:p>
            <a:endParaRPr lang="en-US" altLang="en-US" sz="2800" dirty="0"/>
          </a:p>
          <a:p>
            <a:r>
              <a:rPr lang="en-US" altLang="en-US" sz="2800" dirty="0"/>
              <a:t>Reasonable attenuation versus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curve</a:t>
            </a:r>
          </a:p>
        </p:txBody>
      </p:sp>
      <p:grpSp>
        <p:nvGrpSpPr>
          <p:cNvPr id="64516" name="Group 4"/>
          <p:cNvGrpSpPr>
            <a:grpSpLocks/>
          </p:cNvGrpSpPr>
          <p:nvPr/>
        </p:nvGrpSpPr>
        <p:grpSpPr bwMode="auto">
          <a:xfrm>
            <a:off x="5314950" y="2025650"/>
            <a:ext cx="2813050" cy="1466850"/>
            <a:chOff x="3348" y="1276"/>
            <a:chExt cx="1772" cy="924"/>
          </a:xfrm>
        </p:grpSpPr>
        <p:grpSp>
          <p:nvGrpSpPr>
            <p:cNvPr id="64517" name="Group 5"/>
            <p:cNvGrpSpPr>
              <a:grpSpLocks/>
            </p:cNvGrpSpPr>
            <p:nvPr/>
          </p:nvGrpSpPr>
          <p:grpSpPr bwMode="auto">
            <a:xfrm>
              <a:off x="4160" y="1276"/>
              <a:ext cx="960" cy="924"/>
              <a:chOff x="3824" y="2152"/>
              <a:chExt cx="960" cy="924"/>
            </a:xfrm>
          </p:grpSpPr>
          <p:sp>
            <p:nvSpPr>
              <p:cNvPr id="64518" name="Line 6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4519" name="Line 7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64520" name="Group 8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64521" name="Line 9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52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52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52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525" name="Line 13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4526" name="Line 14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64527" name="Text Box 15"/>
            <p:cNvSpPr txBox="1">
              <a:spLocks noChangeArrowheads="1"/>
            </p:cNvSpPr>
            <p:nvPr/>
          </p:nvSpPr>
          <p:spPr bwMode="auto">
            <a:xfrm>
              <a:off x="3348" y="1452"/>
              <a:ext cx="816" cy="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Shunt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Times New Roman" panose="02020603050405020304" pitchFamily="18" charset="0"/>
                </a:rPr>
                <a:t>Attenuator</a:t>
              </a:r>
              <a:endParaRPr lang="en-US" altLang="en-US" sz="16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4528" name="Object 16"/>
          <p:cNvGraphicFramePr>
            <a:graphicFrameLocks noChangeAspect="1"/>
          </p:cNvGraphicFramePr>
          <p:nvPr/>
        </p:nvGraphicFramePr>
        <p:xfrm>
          <a:off x="4933950" y="4025900"/>
          <a:ext cx="34480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4" imgW="1485720" imgH="482400" progId="Equation.3">
                  <p:embed/>
                </p:oleObj>
              </mc:Choice>
              <mc:Fallback>
                <p:oleObj name="Equation" r:id="rId4" imgW="1485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950" y="4025900"/>
                        <a:ext cx="344805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920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 Attenuator</a:t>
            </a:r>
            <a:endParaRPr lang="en-US" altLang="en-US" dirty="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540250" cy="4114800"/>
          </a:xfrm>
        </p:spPr>
        <p:txBody>
          <a:bodyPr/>
          <a:lstStyle/>
          <a:p>
            <a:r>
              <a:rPr lang="en-US" altLang="en-US" sz="2800" dirty="0"/>
              <a:t>Matched (Absorptive)</a:t>
            </a:r>
          </a:p>
          <a:p>
            <a:r>
              <a:rPr lang="en-US" altLang="en-US" sz="2800" dirty="0"/>
              <a:t>The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of the shunt diodes must be identical</a:t>
            </a:r>
          </a:p>
          <a:p>
            <a:r>
              <a:rPr lang="en-US" altLang="en-US" sz="2800" dirty="0"/>
              <a:t>The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of the shunt and series  diodes must be “complementary” to maintain the desired input and output impedances</a:t>
            </a:r>
          </a:p>
        </p:txBody>
      </p:sp>
      <p:grpSp>
        <p:nvGrpSpPr>
          <p:cNvPr id="65540" name="Group 4"/>
          <p:cNvGrpSpPr>
            <a:grpSpLocks/>
          </p:cNvGrpSpPr>
          <p:nvPr/>
        </p:nvGrpSpPr>
        <p:grpSpPr bwMode="auto">
          <a:xfrm>
            <a:off x="5299075" y="1801813"/>
            <a:ext cx="3305175" cy="1738312"/>
            <a:chOff x="3290" y="1717"/>
            <a:chExt cx="2082" cy="1095"/>
          </a:xfrm>
        </p:grpSpPr>
        <p:grpSp>
          <p:nvGrpSpPr>
            <p:cNvPr id="65541" name="Group 5"/>
            <p:cNvGrpSpPr>
              <a:grpSpLocks/>
            </p:cNvGrpSpPr>
            <p:nvPr/>
          </p:nvGrpSpPr>
          <p:grpSpPr bwMode="auto">
            <a:xfrm>
              <a:off x="3835" y="1717"/>
              <a:ext cx="924" cy="345"/>
              <a:chOff x="2784" y="1344"/>
              <a:chExt cx="924" cy="345"/>
            </a:xfrm>
          </p:grpSpPr>
          <p:sp>
            <p:nvSpPr>
              <p:cNvPr id="65542" name="Line 6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43" name="Line 7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44" name="Line 8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45" name="Line 9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46" name="Line 10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47" name="Line 11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65548" name="Line 12"/>
            <p:cNvSpPr>
              <a:spLocks noChangeShapeType="1"/>
            </p:cNvSpPr>
            <p:nvPr/>
          </p:nvSpPr>
          <p:spPr bwMode="auto">
            <a:xfrm>
              <a:off x="3889" y="2808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65549" name="Group 13"/>
            <p:cNvGrpSpPr>
              <a:grpSpLocks/>
            </p:cNvGrpSpPr>
            <p:nvPr/>
          </p:nvGrpSpPr>
          <p:grpSpPr bwMode="auto">
            <a:xfrm>
              <a:off x="4412" y="1888"/>
              <a:ext cx="960" cy="924"/>
              <a:chOff x="3824" y="2152"/>
              <a:chExt cx="960" cy="924"/>
            </a:xfrm>
          </p:grpSpPr>
          <p:sp>
            <p:nvSpPr>
              <p:cNvPr id="65550" name="Line 14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51" name="Line 15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65552" name="Group 16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65553" name="Line 1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54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55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56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57" name="Line 2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58" name="Line 2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5559" name="Group 23"/>
            <p:cNvGrpSpPr>
              <a:grpSpLocks/>
            </p:cNvGrpSpPr>
            <p:nvPr/>
          </p:nvGrpSpPr>
          <p:grpSpPr bwMode="auto">
            <a:xfrm>
              <a:off x="3290" y="1888"/>
              <a:ext cx="960" cy="924"/>
              <a:chOff x="3824" y="2152"/>
              <a:chExt cx="960" cy="924"/>
            </a:xfrm>
          </p:grpSpPr>
          <p:sp>
            <p:nvSpPr>
              <p:cNvPr id="65560" name="Line 24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5561" name="Line 25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65562" name="Group 26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65563" name="Line 2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64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65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66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67" name="Line 3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5568" name="Line 3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7439257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 Attenuator Resistance vs. Attenuation</a:t>
            </a:r>
          </a:p>
        </p:txBody>
      </p:sp>
      <p:graphicFrame>
        <p:nvGraphicFramePr>
          <p:cNvPr id="66563" name="Object 3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3238125415"/>
              </p:ext>
            </p:extLst>
          </p:nvPr>
        </p:nvGraphicFramePr>
        <p:xfrm>
          <a:off x="865188" y="2359025"/>
          <a:ext cx="22987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Equation" r:id="rId4" imgW="1650960" imgH="838080" progId="Equation.3">
                  <p:embed/>
                </p:oleObj>
              </mc:Choice>
              <mc:Fallback>
                <p:oleObj name="Equation" r:id="rId4" imgW="16509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2359025"/>
                        <a:ext cx="22987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232833"/>
              </p:ext>
            </p:extLst>
          </p:nvPr>
        </p:nvGraphicFramePr>
        <p:xfrm>
          <a:off x="627900" y="4032250"/>
          <a:ext cx="4099675" cy="157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6" imgW="2082600" imgH="1143000" progId="Equation.3">
                  <p:embed/>
                </p:oleObj>
              </mc:Choice>
              <mc:Fallback>
                <p:oleObj name="Equation" r:id="rId6" imgW="20826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00" y="4032250"/>
                        <a:ext cx="4099675" cy="15734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4657725" y="2119313"/>
          <a:ext cx="3790950" cy="370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Mathcad 6.0" r:id="rId8" imgW="3219120" imgH="3143160" progId="Mathcad">
                  <p:embed/>
                </p:oleObj>
              </mc:Choice>
              <mc:Fallback>
                <p:oleObj name="Mathcad 6.0" r:id="rId8" imgW="3219120" imgH="314316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7725" y="2119313"/>
                        <a:ext cx="3790950" cy="370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51875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Tee Attenuator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684713" cy="4114800"/>
          </a:xfrm>
        </p:spPr>
        <p:txBody>
          <a:bodyPr/>
          <a:lstStyle/>
          <a:p>
            <a:r>
              <a:rPr lang="en-US" altLang="en-US" sz="2800" dirty="0"/>
              <a:t>Matched (Absorptive)</a:t>
            </a:r>
          </a:p>
          <a:p>
            <a:r>
              <a:rPr lang="en-US" altLang="en-US" sz="2800" dirty="0"/>
              <a:t>The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of the series diodes must be identical</a:t>
            </a:r>
          </a:p>
          <a:p>
            <a:r>
              <a:rPr lang="en-US" altLang="en-US" sz="2800" dirty="0"/>
              <a:t>The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of the shunt and series  diodes must be “complementary” in order to maintain the desired input and output impedances</a:t>
            </a:r>
            <a:br>
              <a:rPr lang="en-US" altLang="en-US" sz="2800" dirty="0"/>
            </a:br>
            <a:endParaRPr lang="en-US" altLang="en-US" sz="2800" dirty="0"/>
          </a:p>
        </p:txBody>
      </p:sp>
      <p:grpSp>
        <p:nvGrpSpPr>
          <p:cNvPr id="67588" name="Group 4"/>
          <p:cNvGrpSpPr>
            <a:grpSpLocks/>
          </p:cNvGrpSpPr>
          <p:nvPr/>
        </p:nvGrpSpPr>
        <p:grpSpPr bwMode="auto">
          <a:xfrm>
            <a:off x="5251450" y="2952750"/>
            <a:ext cx="3255963" cy="1743075"/>
            <a:chOff x="3317" y="2196"/>
            <a:chExt cx="2051" cy="1098"/>
          </a:xfrm>
        </p:grpSpPr>
        <p:grpSp>
          <p:nvGrpSpPr>
            <p:cNvPr id="67589" name="Group 5"/>
            <p:cNvGrpSpPr>
              <a:grpSpLocks/>
            </p:cNvGrpSpPr>
            <p:nvPr/>
          </p:nvGrpSpPr>
          <p:grpSpPr bwMode="auto">
            <a:xfrm>
              <a:off x="4444" y="2202"/>
              <a:ext cx="924" cy="345"/>
              <a:chOff x="2784" y="1344"/>
              <a:chExt cx="924" cy="345"/>
            </a:xfrm>
          </p:grpSpPr>
          <p:sp>
            <p:nvSpPr>
              <p:cNvPr id="67590" name="Line 6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591" name="Line 7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592" name="Line 8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593" name="Line 9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594" name="Line 10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595" name="Line 11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67596" name="Line 12"/>
            <p:cNvSpPr>
              <a:spLocks noChangeShapeType="1"/>
            </p:cNvSpPr>
            <p:nvPr/>
          </p:nvSpPr>
          <p:spPr bwMode="auto">
            <a:xfrm>
              <a:off x="3362" y="3289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67597" name="Group 13"/>
            <p:cNvGrpSpPr>
              <a:grpSpLocks/>
            </p:cNvGrpSpPr>
            <p:nvPr/>
          </p:nvGrpSpPr>
          <p:grpSpPr bwMode="auto">
            <a:xfrm>
              <a:off x="3856" y="2370"/>
              <a:ext cx="960" cy="924"/>
              <a:chOff x="3824" y="2152"/>
              <a:chExt cx="960" cy="924"/>
            </a:xfrm>
          </p:grpSpPr>
          <p:sp>
            <p:nvSpPr>
              <p:cNvPr id="67598" name="Line 14"/>
              <p:cNvSpPr>
                <a:spLocks noChangeShapeType="1"/>
              </p:cNvSpPr>
              <p:nvPr/>
            </p:nvSpPr>
            <p:spPr bwMode="auto">
              <a:xfrm>
                <a:off x="3824" y="215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599" name="Line 15"/>
              <p:cNvSpPr>
                <a:spLocks noChangeShapeType="1"/>
              </p:cNvSpPr>
              <p:nvPr/>
            </p:nvSpPr>
            <p:spPr bwMode="auto">
              <a:xfrm>
                <a:off x="3864" y="3072"/>
                <a:ext cx="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67600" name="Group 16"/>
              <p:cNvGrpSpPr>
                <a:grpSpLocks/>
              </p:cNvGrpSpPr>
              <p:nvPr/>
            </p:nvGrpSpPr>
            <p:grpSpPr bwMode="auto">
              <a:xfrm rot="5400000">
                <a:off x="3860" y="2441"/>
                <a:ext cx="924" cy="345"/>
                <a:chOff x="2784" y="1344"/>
                <a:chExt cx="924" cy="345"/>
              </a:xfrm>
            </p:grpSpPr>
            <p:sp>
              <p:nvSpPr>
                <p:cNvPr id="67601" name="Line 17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602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60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604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605" name="Line 21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7606" name="Line 22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7607" name="Group 23"/>
            <p:cNvGrpSpPr>
              <a:grpSpLocks/>
            </p:cNvGrpSpPr>
            <p:nvPr/>
          </p:nvGrpSpPr>
          <p:grpSpPr bwMode="auto">
            <a:xfrm>
              <a:off x="3317" y="2196"/>
              <a:ext cx="924" cy="345"/>
              <a:chOff x="2784" y="1344"/>
              <a:chExt cx="924" cy="345"/>
            </a:xfrm>
          </p:grpSpPr>
          <p:sp>
            <p:nvSpPr>
              <p:cNvPr id="67608" name="Line 24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609" name="Line 25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610" name="Line 26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611" name="Line 27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612" name="Line 28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7613" name="Line 29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67614" name="Line 30"/>
            <p:cNvSpPr>
              <a:spLocks noChangeShapeType="1"/>
            </p:cNvSpPr>
            <p:nvPr/>
          </p:nvSpPr>
          <p:spPr bwMode="auto">
            <a:xfrm>
              <a:off x="4392" y="3291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36751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Tee Attenuator Resistance vs. Attenuation</a:t>
            </a: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373617"/>
              </p:ext>
            </p:extLst>
          </p:nvPr>
        </p:nvGraphicFramePr>
        <p:xfrm>
          <a:off x="585788" y="2241550"/>
          <a:ext cx="2747962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4" imgW="1663560" imgH="838080" progId="Equation.3">
                  <p:embed/>
                </p:oleObj>
              </mc:Choice>
              <mc:Fallback>
                <p:oleObj name="Equation" r:id="rId4" imgW="166356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2241550"/>
                        <a:ext cx="2747962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577609"/>
              </p:ext>
            </p:extLst>
          </p:nvPr>
        </p:nvGraphicFramePr>
        <p:xfrm>
          <a:off x="584200" y="3790950"/>
          <a:ext cx="3956050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6" imgW="2247840" imgH="1650960" progId="Equation.3">
                  <p:embed/>
                </p:oleObj>
              </mc:Choice>
              <mc:Fallback>
                <p:oleObj name="Equation" r:id="rId6" imgW="2247840" imgH="1650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3790950"/>
                        <a:ext cx="3956050" cy="197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4257675" y="2181225"/>
          <a:ext cx="4186238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Mathcad 6.0" r:id="rId8" imgW="3524040" imgH="2838240" progId="Mathcad">
                  <p:embed/>
                </p:oleObj>
              </mc:Choice>
              <mc:Fallback>
                <p:oleObj name="Mathcad 6.0" r:id="rId8" imgW="3524040" imgH="283824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2181225"/>
                        <a:ext cx="4186238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22759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Bridged Tee Attenuator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516438" cy="4114800"/>
          </a:xfrm>
        </p:spPr>
        <p:txBody>
          <a:bodyPr/>
          <a:lstStyle/>
          <a:p>
            <a:r>
              <a:rPr lang="en-US" altLang="en-US" sz="2800" dirty="0"/>
              <a:t>Matched (Absorptive)</a:t>
            </a:r>
          </a:p>
          <a:p>
            <a:r>
              <a:rPr lang="en-US" altLang="en-US" sz="2800" dirty="0"/>
              <a:t>The 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of the shunt and series  diodes must be “complementary” to maintain the desired input and output impedances</a:t>
            </a:r>
          </a:p>
          <a:p>
            <a:r>
              <a:rPr lang="en-US" altLang="en-US" sz="2800" dirty="0"/>
              <a:t>Only 2 </a:t>
            </a:r>
            <a:r>
              <a:rPr lang="en-US" altLang="en-US" sz="2800" dirty="0" smtClean="0"/>
              <a:t>diodes </a:t>
            </a:r>
            <a:r>
              <a:rPr lang="en-US" altLang="en-US" sz="2800" dirty="0"/>
              <a:t>&amp; 2 </a:t>
            </a:r>
            <a:r>
              <a:rPr lang="en-US" altLang="en-US" sz="2800" dirty="0" smtClean="0"/>
              <a:t>resistors required</a:t>
            </a:r>
            <a:endParaRPr lang="en-US" altLang="en-US" sz="2800" dirty="0"/>
          </a:p>
        </p:txBody>
      </p:sp>
      <p:grpSp>
        <p:nvGrpSpPr>
          <p:cNvPr id="69636" name="Group 4"/>
          <p:cNvGrpSpPr>
            <a:grpSpLocks/>
          </p:cNvGrpSpPr>
          <p:nvPr/>
        </p:nvGrpSpPr>
        <p:grpSpPr bwMode="auto">
          <a:xfrm>
            <a:off x="5381625" y="2232025"/>
            <a:ext cx="2916238" cy="2463800"/>
            <a:chOff x="3390" y="1406"/>
            <a:chExt cx="1837" cy="1552"/>
          </a:xfrm>
        </p:grpSpPr>
        <p:sp>
          <p:nvSpPr>
            <p:cNvPr id="69637" name="Line 5"/>
            <p:cNvSpPr>
              <a:spLocks noChangeShapeType="1"/>
            </p:cNvSpPr>
            <p:nvPr/>
          </p:nvSpPr>
          <p:spPr bwMode="auto">
            <a:xfrm>
              <a:off x="3401" y="2953"/>
              <a:ext cx="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638" name="Line 6"/>
            <p:cNvSpPr>
              <a:spLocks noChangeShapeType="1"/>
            </p:cNvSpPr>
            <p:nvPr/>
          </p:nvSpPr>
          <p:spPr bwMode="auto">
            <a:xfrm>
              <a:off x="3887" y="2954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69639" name="Group 7"/>
            <p:cNvGrpSpPr>
              <a:grpSpLocks/>
            </p:cNvGrpSpPr>
            <p:nvPr/>
          </p:nvGrpSpPr>
          <p:grpSpPr bwMode="auto">
            <a:xfrm>
              <a:off x="4147" y="2034"/>
              <a:ext cx="384" cy="924"/>
              <a:chOff x="4147" y="2034"/>
              <a:chExt cx="384" cy="924"/>
            </a:xfrm>
          </p:grpSpPr>
          <p:sp>
            <p:nvSpPr>
              <p:cNvPr id="69640" name="Line 8"/>
              <p:cNvSpPr>
                <a:spLocks noChangeShapeType="1"/>
              </p:cNvSpPr>
              <p:nvPr/>
            </p:nvSpPr>
            <p:spPr bwMode="auto">
              <a:xfrm>
                <a:off x="4147" y="2034"/>
                <a:ext cx="384" cy="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69641" name="Group 9"/>
              <p:cNvGrpSpPr>
                <a:grpSpLocks/>
              </p:cNvGrpSpPr>
              <p:nvPr/>
            </p:nvGrpSpPr>
            <p:grpSpPr bwMode="auto">
              <a:xfrm rot="5400000">
                <a:off x="3883" y="2323"/>
                <a:ext cx="924" cy="345"/>
                <a:chOff x="2784" y="1344"/>
                <a:chExt cx="924" cy="345"/>
              </a:xfrm>
            </p:grpSpPr>
            <p:sp>
              <p:nvSpPr>
                <p:cNvPr id="69642" name="Line 10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43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4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4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46" name="Line 14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47" name="Line 15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69648" name="Group 16"/>
            <p:cNvGrpSpPr>
              <a:grpSpLocks/>
            </p:cNvGrpSpPr>
            <p:nvPr/>
          </p:nvGrpSpPr>
          <p:grpSpPr bwMode="auto">
            <a:xfrm>
              <a:off x="3853" y="1406"/>
              <a:ext cx="924" cy="345"/>
              <a:chOff x="2784" y="1344"/>
              <a:chExt cx="924" cy="345"/>
            </a:xfrm>
          </p:grpSpPr>
          <p:sp>
            <p:nvSpPr>
              <p:cNvPr id="69649" name="Line 17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50" name="Line 18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51" name="Line 19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52" name="Line 20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53" name="Line 21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54" name="Line 22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69655" name="Line 23"/>
            <p:cNvSpPr>
              <a:spLocks noChangeShapeType="1"/>
            </p:cNvSpPr>
            <p:nvPr/>
          </p:nvSpPr>
          <p:spPr bwMode="auto">
            <a:xfrm>
              <a:off x="4383" y="2955"/>
              <a:ext cx="8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69656" name="Group 24"/>
            <p:cNvGrpSpPr>
              <a:grpSpLocks/>
            </p:cNvGrpSpPr>
            <p:nvPr/>
          </p:nvGrpSpPr>
          <p:grpSpPr bwMode="auto">
            <a:xfrm>
              <a:off x="3711" y="1989"/>
              <a:ext cx="432" cy="93"/>
              <a:chOff x="3438" y="1950"/>
              <a:chExt cx="432" cy="93"/>
            </a:xfrm>
          </p:grpSpPr>
          <p:grpSp>
            <p:nvGrpSpPr>
              <p:cNvPr id="69657" name="Group 25"/>
              <p:cNvGrpSpPr>
                <a:grpSpLocks/>
              </p:cNvGrpSpPr>
              <p:nvPr/>
            </p:nvGrpSpPr>
            <p:grpSpPr bwMode="auto">
              <a:xfrm>
                <a:off x="3654" y="1950"/>
                <a:ext cx="180" cy="90"/>
                <a:chOff x="3654" y="1950"/>
                <a:chExt cx="180" cy="90"/>
              </a:xfrm>
            </p:grpSpPr>
            <p:sp>
              <p:nvSpPr>
                <p:cNvPr id="69658" name="Line 26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59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69660" name="Group 28"/>
              <p:cNvGrpSpPr>
                <a:grpSpLocks/>
              </p:cNvGrpSpPr>
              <p:nvPr/>
            </p:nvGrpSpPr>
            <p:grpSpPr bwMode="auto">
              <a:xfrm>
                <a:off x="3474" y="1950"/>
                <a:ext cx="180" cy="90"/>
                <a:chOff x="3654" y="1950"/>
                <a:chExt cx="180" cy="90"/>
              </a:xfrm>
            </p:grpSpPr>
            <p:sp>
              <p:nvSpPr>
                <p:cNvPr id="69661" name="Line 29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6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9663" name="Line 31"/>
              <p:cNvSpPr>
                <a:spLocks noChangeShapeType="1"/>
              </p:cNvSpPr>
              <p:nvPr/>
            </p:nvSpPr>
            <p:spPr bwMode="auto">
              <a:xfrm flipH="1" flipV="1">
                <a:off x="3438" y="1995"/>
                <a:ext cx="33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64" name="Line 32"/>
              <p:cNvSpPr>
                <a:spLocks noChangeShapeType="1"/>
              </p:cNvSpPr>
              <p:nvPr/>
            </p:nvSpPr>
            <p:spPr bwMode="auto">
              <a:xfrm flipV="1">
                <a:off x="3834" y="2001"/>
                <a:ext cx="36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69665" name="Group 33"/>
            <p:cNvGrpSpPr>
              <a:grpSpLocks/>
            </p:cNvGrpSpPr>
            <p:nvPr/>
          </p:nvGrpSpPr>
          <p:grpSpPr bwMode="auto">
            <a:xfrm>
              <a:off x="4527" y="1992"/>
              <a:ext cx="432" cy="93"/>
              <a:chOff x="3438" y="1950"/>
              <a:chExt cx="432" cy="93"/>
            </a:xfrm>
          </p:grpSpPr>
          <p:grpSp>
            <p:nvGrpSpPr>
              <p:cNvPr id="69666" name="Group 34"/>
              <p:cNvGrpSpPr>
                <a:grpSpLocks/>
              </p:cNvGrpSpPr>
              <p:nvPr/>
            </p:nvGrpSpPr>
            <p:grpSpPr bwMode="auto">
              <a:xfrm>
                <a:off x="3654" y="1950"/>
                <a:ext cx="180" cy="90"/>
                <a:chOff x="3654" y="1950"/>
                <a:chExt cx="180" cy="90"/>
              </a:xfrm>
            </p:grpSpPr>
            <p:sp>
              <p:nvSpPr>
                <p:cNvPr id="69667" name="Line 35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68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69669" name="Group 37"/>
              <p:cNvGrpSpPr>
                <a:grpSpLocks/>
              </p:cNvGrpSpPr>
              <p:nvPr/>
            </p:nvGrpSpPr>
            <p:grpSpPr bwMode="auto">
              <a:xfrm>
                <a:off x="3474" y="1950"/>
                <a:ext cx="180" cy="90"/>
                <a:chOff x="3654" y="1950"/>
                <a:chExt cx="180" cy="90"/>
              </a:xfrm>
            </p:grpSpPr>
            <p:sp>
              <p:nvSpPr>
                <p:cNvPr id="69670" name="Line 38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69671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69672" name="Line 40"/>
              <p:cNvSpPr>
                <a:spLocks noChangeShapeType="1"/>
              </p:cNvSpPr>
              <p:nvPr/>
            </p:nvSpPr>
            <p:spPr bwMode="auto">
              <a:xfrm flipH="1" flipV="1">
                <a:off x="3438" y="1995"/>
                <a:ext cx="33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69673" name="Line 41"/>
              <p:cNvSpPr>
                <a:spLocks noChangeShapeType="1"/>
              </p:cNvSpPr>
              <p:nvPr/>
            </p:nvSpPr>
            <p:spPr bwMode="auto">
              <a:xfrm flipV="1">
                <a:off x="3834" y="2001"/>
                <a:ext cx="36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69674" name="Line 42"/>
            <p:cNvSpPr>
              <a:spLocks noChangeShapeType="1"/>
            </p:cNvSpPr>
            <p:nvPr/>
          </p:nvSpPr>
          <p:spPr bwMode="auto">
            <a:xfrm flipH="1" flipV="1">
              <a:off x="3390" y="2035"/>
              <a:ext cx="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675" name="Line 43"/>
            <p:cNvSpPr>
              <a:spLocks noChangeShapeType="1"/>
            </p:cNvSpPr>
            <p:nvPr/>
          </p:nvSpPr>
          <p:spPr bwMode="auto">
            <a:xfrm flipH="1">
              <a:off x="4959" y="2043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676" name="Line 44"/>
            <p:cNvSpPr>
              <a:spLocks noChangeShapeType="1"/>
            </p:cNvSpPr>
            <p:nvPr/>
          </p:nvSpPr>
          <p:spPr bwMode="auto">
            <a:xfrm>
              <a:off x="3663" y="1578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677" name="Line 45"/>
            <p:cNvSpPr>
              <a:spLocks noChangeShapeType="1"/>
            </p:cNvSpPr>
            <p:nvPr/>
          </p:nvSpPr>
          <p:spPr bwMode="auto">
            <a:xfrm flipH="1">
              <a:off x="3663" y="1578"/>
              <a:ext cx="1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678" name="Line 46"/>
            <p:cNvSpPr>
              <a:spLocks noChangeShapeType="1"/>
            </p:cNvSpPr>
            <p:nvPr/>
          </p:nvSpPr>
          <p:spPr bwMode="auto">
            <a:xfrm>
              <a:off x="4983" y="1578"/>
              <a:ext cx="0" cy="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679" name="Line 47"/>
            <p:cNvSpPr>
              <a:spLocks noChangeShapeType="1"/>
            </p:cNvSpPr>
            <p:nvPr/>
          </p:nvSpPr>
          <p:spPr bwMode="auto">
            <a:xfrm flipH="1">
              <a:off x="4773" y="1575"/>
              <a:ext cx="20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9680" name="AutoShape 48"/>
          <p:cNvSpPr>
            <a:spLocks/>
          </p:cNvSpPr>
          <p:nvPr/>
        </p:nvSpPr>
        <p:spPr bwMode="auto">
          <a:xfrm>
            <a:off x="5715000" y="3492500"/>
            <a:ext cx="415925" cy="286232"/>
          </a:xfrm>
          <a:prstGeom prst="borderCallout2">
            <a:avLst>
              <a:gd name="adj1" fmla="val 25352"/>
              <a:gd name="adj2" fmla="val 118319"/>
              <a:gd name="adj3" fmla="val 25352"/>
              <a:gd name="adj4" fmla="val 136259"/>
              <a:gd name="adj5" fmla="val -63380"/>
              <a:gd name="adj6" fmla="val 1549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 dirty="0" smtClean="0">
                <a:latin typeface="Times New Roman" panose="02020603050405020304" pitchFamily="18" charset="0"/>
              </a:rPr>
              <a:t>Z</a:t>
            </a:r>
            <a:r>
              <a:rPr lang="en-US" altLang="en-US" sz="1400" baseline="-25000" dirty="0" smtClean="0">
                <a:latin typeface="Times New Roman" panose="02020603050405020304" pitchFamily="18" charset="0"/>
              </a:rPr>
              <a:t>0</a:t>
            </a:r>
            <a:endParaRPr lang="en-US" altLang="en-US" sz="1400" baseline="-25000" dirty="0">
              <a:latin typeface="Times New Roman" panose="02020603050405020304" pitchFamily="18" charset="0"/>
            </a:endParaRPr>
          </a:p>
        </p:txBody>
      </p:sp>
      <p:sp>
        <p:nvSpPr>
          <p:cNvPr id="69681" name="AutoShape 49"/>
          <p:cNvSpPr>
            <a:spLocks/>
          </p:cNvSpPr>
          <p:nvPr/>
        </p:nvSpPr>
        <p:spPr bwMode="auto">
          <a:xfrm>
            <a:off x="7715250" y="3482975"/>
            <a:ext cx="514350" cy="286232"/>
          </a:xfrm>
          <a:prstGeom prst="borderCallout2">
            <a:avLst>
              <a:gd name="adj1" fmla="val 25352"/>
              <a:gd name="adj2" fmla="val -14815"/>
              <a:gd name="adj3" fmla="val 25352"/>
              <a:gd name="adj4" fmla="val -31171"/>
              <a:gd name="adj5" fmla="val -63028"/>
              <a:gd name="adj6" fmla="val -4814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 dirty="0" smtClean="0">
                <a:latin typeface="Times New Roman" panose="02020603050405020304" pitchFamily="18" charset="0"/>
              </a:rPr>
              <a:t>Z</a:t>
            </a:r>
            <a:r>
              <a:rPr lang="en-US" altLang="en-US" sz="1400" baseline="-25000" dirty="0" smtClean="0">
                <a:latin typeface="Times New Roman" panose="02020603050405020304" pitchFamily="18" charset="0"/>
              </a:rPr>
              <a:t>0</a:t>
            </a:r>
            <a:endParaRPr lang="en-US" altLang="en-US" sz="1400" baseline="-25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619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Bridged Tee Attenuator Resistance vs. Attenuation</a:t>
            </a: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651692"/>
              </p:ext>
            </p:extLst>
          </p:nvPr>
        </p:nvGraphicFramePr>
        <p:xfrm>
          <a:off x="1098550" y="2320925"/>
          <a:ext cx="31146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6" name="Equation" r:id="rId4" imgW="1447560" imgH="482400" progId="Equation.3">
                  <p:embed/>
                </p:oleObj>
              </mc:Choice>
              <mc:Fallback>
                <p:oleObj name="Equation" r:id="rId4" imgW="1447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2320925"/>
                        <a:ext cx="3114675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330533"/>
              </p:ext>
            </p:extLst>
          </p:nvPr>
        </p:nvGraphicFramePr>
        <p:xfrm>
          <a:off x="1317625" y="3965575"/>
          <a:ext cx="2106613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6" imgW="850680" imgH="469800" progId="Equation.3">
                  <p:embed/>
                </p:oleObj>
              </mc:Choice>
              <mc:Fallback>
                <p:oleObj name="Equation" r:id="rId6" imgW="8506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3965575"/>
                        <a:ext cx="2106613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3990975" y="2085975"/>
          <a:ext cx="447040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Mathcad 6.0" r:id="rId8" imgW="3524040" imgH="2838240" progId="Mathcad">
                  <p:embed/>
                </p:oleObj>
              </mc:Choice>
              <mc:Fallback>
                <p:oleObj name="Mathcad 6.0" r:id="rId8" imgW="3524040" imgH="283824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2085975"/>
                        <a:ext cx="4470400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189069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Coupler Attenuator - Series Diodes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311650" cy="4114800"/>
          </a:xfrm>
        </p:spPr>
        <p:txBody>
          <a:bodyPr/>
          <a:lstStyle/>
          <a:p>
            <a:r>
              <a:rPr lang="en-US" altLang="en-US" sz="2800" dirty="0"/>
              <a:t>Absorptive</a:t>
            </a:r>
          </a:p>
          <a:p>
            <a:r>
              <a:rPr lang="en-US" altLang="en-US" sz="2800" dirty="0"/>
              <a:t>Requires hybrid coupler, two diodes, two resistors and capacitors</a:t>
            </a:r>
          </a:p>
          <a:p>
            <a:r>
              <a:rPr lang="en-US" altLang="en-US" sz="2800" dirty="0"/>
              <a:t>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for diodes must be matched</a:t>
            </a:r>
          </a:p>
        </p:txBody>
      </p:sp>
      <p:grpSp>
        <p:nvGrpSpPr>
          <p:cNvPr id="71684" name="Group 4"/>
          <p:cNvGrpSpPr>
            <a:grpSpLocks/>
          </p:cNvGrpSpPr>
          <p:nvPr/>
        </p:nvGrpSpPr>
        <p:grpSpPr bwMode="auto">
          <a:xfrm>
            <a:off x="5486400" y="2587625"/>
            <a:ext cx="2365375" cy="1450975"/>
            <a:chOff x="3744" y="1612"/>
            <a:chExt cx="1004" cy="914"/>
          </a:xfrm>
        </p:grpSpPr>
        <p:sp>
          <p:nvSpPr>
            <p:cNvPr id="71685" name="Rectangle 5"/>
            <p:cNvSpPr>
              <a:spLocks noChangeArrowheads="1"/>
            </p:cNvSpPr>
            <p:nvPr/>
          </p:nvSpPr>
          <p:spPr bwMode="auto">
            <a:xfrm>
              <a:off x="3744" y="1732"/>
              <a:ext cx="1004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1686" name="Group 6"/>
            <p:cNvGrpSpPr>
              <a:grpSpLocks/>
            </p:cNvGrpSpPr>
            <p:nvPr/>
          </p:nvGrpSpPr>
          <p:grpSpPr bwMode="auto">
            <a:xfrm>
              <a:off x="3948" y="1808"/>
              <a:ext cx="596" cy="520"/>
              <a:chOff x="3948" y="1808"/>
              <a:chExt cx="596" cy="520"/>
            </a:xfrm>
          </p:grpSpPr>
          <p:sp>
            <p:nvSpPr>
              <p:cNvPr id="71687" name="Line 7"/>
              <p:cNvSpPr>
                <a:spLocks noChangeShapeType="1"/>
              </p:cNvSpPr>
              <p:nvPr/>
            </p:nvSpPr>
            <p:spPr bwMode="auto">
              <a:xfrm>
                <a:off x="3952" y="1808"/>
                <a:ext cx="592" cy="5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688" name="Line 8"/>
              <p:cNvSpPr>
                <a:spLocks noChangeShapeType="1"/>
              </p:cNvSpPr>
              <p:nvPr/>
            </p:nvSpPr>
            <p:spPr bwMode="auto">
              <a:xfrm flipH="1">
                <a:off x="3948" y="1812"/>
                <a:ext cx="592" cy="5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1689" name="Line 9"/>
            <p:cNvSpPr>
              <a:spLocks noChangeShapeType="1"/>
            </p:cNvSpPr>
            <p:nvPr/>
          </p:nvSpPr>
          <p:spPr bwMode="auto">
            <a:xfrm flipV="1">
              <a:off x="3950" y="1612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90" name="Line 10"/>
            <p:cNvSpPr>
              <a:spLocks noChangeShapeType="1"/>
            </p:cNvSpPr>
            <p:nvPr/>
          </p:nvSpPr>
          <p:spPr bwMode="auto">
            <a:xfrm flipV="1">
              <a:off x="3948" y="2328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91" name="Line 11"/>
            <p:cNvSpPr>
              <a:spLocks noChangeShapeType="1"/>
            </p:cNvSpPr>
            <p:nvPr/>
          </p:nvSpPr>
          <p:spPr bwMode="auto">
            <a:xfrm flipV="1">
              <a:off x="4544" y="2330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692" name="Line 12"/>
            <p:cNvSpPr>
              <a:spLocks noChangeShapeType="1"/>
            </p:cNvSpPr>
            <p:nvPr/>
          </p:nvSpPr>
          <p:spPr bwMode="auto">
            <a:xfrm flipV="1">
              <a:off x="4538" y="1612"/>
              <a:ext cx="0" cy="1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71696" name="Group 16"/>
          <p:cNvGrpSpPr>
            <a:grpSpLocks/>
          </p:cNvGrpSpPr>
          <p:nvPr/>
        </p:nvGrpSpPr>
        <p:grpSpPr bwMode="auto">
          <a:xfrm>
            <a:off x="5835650" y="4037013"/>
            <a:ext cx="261938" cy="1582737"/>
            <a:chOff x="3668" y="2563"/>
            <a:chExt cx="165" cy="997"/>
          </a:xfrm>
        </p:grpSpPr>
        <p:grpSp>
          <p:nvGrpSpPr>
            <p:cNvPr id="71697" name="Group 17"/>
            <p:cNvGrpSpPr>
              <a:grpSpLocks/>
            </p:cNvGrpSpPr>
            <p:nvPr/>
          </p:nvGrpSpPr>
          <p:grpSpPr bwMode="auto">
            <a:xfrm rot="5400000">
              <a:off x="3469" y="2762"/>
              <a:ext cx="564" cy="165"/>
              <a:chOff x="2784" y="1344"/>
              <a:chExt cx="924" cy="345"/>
            </a:xfrm>
          </p:grpSpPr>
          <p:sp>
            <p:nvSpPr>
              <p:cNvPr id="71698" name="Line 18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699" name="Line 19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00" name="Line 20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01" name="Line 21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02" name="Line 22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03" name="Line 23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704" name="Group 24"/>
            <p:cNvGrpSpPr>
              <a:grpSpLocks/>
            </p:cNvGrpSpPr>
            <p:nvPr/>
          </p:nvGrpSpPr>
          <p:grpSpPr bwMode="auto">
            <a:xfrm rot="5400000">
              <a:off x="3607" y="3227"/>
              <a:ext cx="300" cy="69"/>
              <a:chOff x="3438" y="1950"/>
              <a:chExt cx="432" cy="93"/>
            </a:xfrm>
          </p:grpSpPr>
          <p:grpSp>
            <p:nvGrpSpPr>
              <p:cNvPr id="71705" name="Group 25"/>
              <p:cNvGrpSpPr>
                <a:grpSpLocks/>
              </p:cNvGrpSpPr>
              <p:nvPr/>
            </p:nvGrpSpPr>
            <p:grpSpPr bwMode="auto">
              <a:xfrm>
                <a:off x="3654" y="1950"/>
                <a:ext cx="180" cy="90"/>
                <a:chOff x="3654" y="1950"/>
                <a:chExt cx="180" cy="90"/>
              </a:xfrm>
            </p:grpSpPr>
            <p:sp>
              <p:nvSpPr>
                <p:cNvPr id="71706" name="Line 26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707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71708" name="Group 28"/>
              <p:cNvGrpSpPr>
                <a:grpSpLocks/>
              </p:cNvGrpSpPr>
              <p:nvPr/>
            </p:nvGrpSpPr>
            <p:grpSpPr bwMode="auto">
              <a:xfrm>
                <a:off x="3474" y="1950"/>
                <a:ext cx="180" cy="90"/>
                <a:chOff x="3654" y="1950"/>
                <a:chExt cx="180" cy="90"/>
              </a:xfrm>
            </p:grpSpPr>
            <p:sp>
              <p:nvSpPr>
                <p:cNvPr id="71709" name="Line 29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710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1711" name="Line 31"/>
              <p:cNvSpPr>
                <a:spLocks noChangeShapeType="1"/>
              </p:cNvSpPr>
              <p:nvPr/>
            </p:nvSpPr>
            <p:spPr bwMode="auto">
              <a:xfrm flipH="1" flipV="1">
                <a:off x="3438" y="1995"/>
                <a:ext cx="33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12" name="Line 32"/>
              <p:cNvSpPr>
                <a:spLocks noChangeShapeType="1"/>
              </p:cNvSpPr>
              <p:nvPr/>
            </p:nvSpPr>
            <p:spPr bwMode="auto">
              <a:xfrm flipV="1">
                <a:off x="3834" y="2001"/>
                <a:ext cx="36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713" name="Group 33"/>
            <p:cNvGrpSpPr>
              <a:grpSpLocks/>
            </p:cNvGrpSpPr>
            <p:nvPr/>
          </p:nvGrpSpPr>
          <p:grpSpPr bwMode="auto">
            <a:xfrm>
              <a:off x="3696" y="3408"/>
              <a:ext cx="108" cy="152"/>
              <a:chOff x="3696" y="3408"/>
              <a:chExt cx="108" cy="152"/>
            </a:xfrm>
          </p:grpSpPr>
          <p:sp>
            <p:nvSpPr>
              <p:cNvPr id="71714" name="Line 34"/>
              <p:cNvSpPr>
                <a:spLocks noChangeShapeType="1"/>
              </p:cNvSpPr>
              <p:nvPr/>
            </p:nvSpPr>
            <p:spPr bwMode="auto">
              <a:xfrm>
                <a:off x="3748" y="3408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15" name="Line 35"/>
              <p:cNvSpPr>
                <a:spLocks noChangeShapeType="1"/>
              </p:cNvSpPr>
              <p:nvPr/>
            </p:nvSpPr>
            <p:spPr bwMode="auto">
              <a:xfrm>
                <a:off x="3696" y="3492"/>
                <a:ext cx="1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16" name="Line 36"/>
              <p:cNvSpPr>
                <a:spLocks noChangeShapeType="1"/>
              </p:cNvSpPr>
              <p:nvPr/>
            </p:nvSpPr>
            <p:spPr bwMode="auto">
              <a:xfrm>
                <a:off x="3724" y="3532"/>
                <a:ext cx="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17" name="Line 37"/>
              <p:cNvSpPr>
                <a:spLocks noChangeShapeType="1"/>
              </p:cNvSpPr>
              <p:nvPr/>
            </p:nvSpPr>
            <p:spPr bwMode="auto">
              <a:xfrm>
                <a:off x="3748" y="3560"/>
                <a:ext cx="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71718" name="Group 38"/>
          <p:cNvGrpSpPr>
            <a:grpSpLocks/>
          </p:cNvGrpSpPr>
          <p:nvPr/>
        </p:nvGrpSpPr>
        <p:grpSpPr bwMode="auto">
          <a:xfrm>
            <a:off x="7243763" y="4044950"/>
            <a:ext cx="261937" cy="1582738"/>
            <a:chOff x="3668" y="2563"/>
            <a:chExt cx="165" cy="997"/>
          </a:xfrm>
        </p:grpSpPr>
        <p:grpSp>
          <p:nvGrpSpPr>
            <p:cNvPr id="71719" name="Group 39"/>
            <p:cNvGrpSpPr>
              <a:grpSpLocks/>
            </p:cNvGrpSpPr>
            <p:nvPr/>
          </p:nvGrpSpPr>
          <p:grpSpPr bwMode="auto">
            <a:xfrm rot="5400000">
              <a:off x="3469" y="2762"/>
              <a:ext cx="564" cy="165"/>
              <a:chOff x="2784" y="1344"/>
              <a:chExt cx="924" cy="345"/>
            </a:xfrm>
          </p:grpSpPr>
          <p:sp>
            <p:nvSpPr>
              <p:cNvPr id="71720" name="Line 40"/>
              <p:cNvSpPr>
                <a:spLocks noChangeShapeType="1"/>
              </p:cNvSpPr>
              <p:nvPr/>
            </p:nvSpPr>
            <p:spPr bwMode="auto">
              <a:xfrm>
                <a:off x="3165" y="1344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21" name="Line 41"/>
              <p:cNvSpPr>
                <a:spLocks noChangeShapeType="1"/>
              </p:cNvSpPr>
              <p:nvPr/>
            </p:nvSpPr>
            <p:spPr bwMode="auto">
              <a:xfrm flipH="1">
                <a:off x="3165" y="1515"/>
                <a:ext cx="171" cy="1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22" name="Line 42"/>
              <p:cNvSpPr>
                <a:spLocks noChangeShapeType="1"/>
              </p:cNvSpPr>
              <p:nvPr/>
            </p:nvSpPr>
            <p:spPr bwMode="auto">
              <a:xfrm flipV="1">
                <a:off x="3162" y="1344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23" name="Line 43"/>
              <p:cNvSpPr>
                <a:spLocks noChangeShapeType="1"/>
              </p:cNvSpPr>
              <p:nvPr/>
            </p:nvSpPr>
            <p:spPr bwMode="auto">
              <a:xfrm flipV="1">
                <a:off x="3336" y="1347"/>
                <a:ext cx="0" cy="3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24" name="Line 44"/>
              <p:cNvSpPr>
                <a:spLocks noChangeShapeType="1"/>
              </p:cNvSpPr>
              <p:nvPr/>
            </p:nvSpPr>
            <p:spPr bwMode="auto">
              <a:xfrm>
                <a:off x="3333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25" name="Line 45"/>
              <p:cNvSpPr>
                <a:spLocks noChangeShapeType="1"/>
              </p:cNvSpPr>
              <p:nvPr/>
            </p:nvSpPr>
            <p:spPr bwMode="auto">
              <a:xfrm>
                <a:off x="2784" y="1515"/>
                <a:ext cx="3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726" name="Group 46"/>
            <p:cNvGrpSpPr>
              <a:grpSpLocks/>
            </p:cNvGrpSpPr>
            <p:nvPr/>
          </p:nvGrpSpPr>
          <p:grpSpPr bwMode="auto">
            <a:xfrm rot="5400000">
              <a:off x="3607" y="3227"/>
              <a:ext cx="300" cy="69"/>
              <a:chOff x="3438" y="1950"/>
              <a:chExt cx="432" cy="93"/>
            </a:xfrm>
          </p:grpSpPr>
          <p:grpSp>
            <p:nvGrpSpPr>
              <p:cNvPr id="71727" name="Group 47"/>
              <p:cNvGrpSpPr>
                <a:grpSpLocks/>
              </p:cNvGrpSpPr>
              <p:nvPr/>
            </p:nvGrpSpPr>
            <p:grpSpPr bwMode="auto">
              <a:xfrm>
                <a:off x="3654" y="1950"/>
                <a:ext cx="180" cy="90"/>
                <a:chOff x="3654" y="1950"/>
                <a:chExt cx="180" cy="90"/>
              </a:xfrm>
            </p:grpSpPr>
            <p:sp>
              <p:nvSpPr>
                <p:cNvPr id="71728" name="Line 48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729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71730" name="Group 50"/>
              <p:cNvGrpSpPr>
                <a:grpSpLocks/>
              </p:cNvGrpSpPr>
              <p:nvPr/>
            </p:nvGrpSpPr>
            <p:grpSpPr bwMode="auto">
              <a:xfrm>
                <a:off x="3474" y="1950"/>
                <a:ext cx="180" cy="90"/>
                <a:chOff x="3654" y="1950"/>
                <a:chExt cx="180" cy="90"/>
              </a:xfrm>
            </p:grpSpPr>
            <p:sp>
              <p:nvSpPr>
                <p:cNvPr id="71731" name="Line 51"/>
                <p:cNvSpPr>
                  <a:spLocks noChangeShapeType="1"/>
                </p:cNvSpPr>
                <p:nvPr/>
              </p:nvSpPr>
              <p:spPr bwMode="auto">
                <a:xfrm>
                  <a:off x="374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1732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3654" y="1950"/>
                  <a:ext cx="90" cy="9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1733" name="Line 53"/>
              <p:cNvSpPr>
                <a:spLocks noChangeShapeType="1"/>
              </p:cNvSpPr>
              <p:nvPr/>
            </p:nvSpPr>
            <p:spPr bwMode="auto">
              <a:xfrm flipH="1" flipV="1">
                <a:off x="3438" y="1995"/>
                <a:ext cx="33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34" name="Line 54"/>
              <p:cNvSpPr>
                <a:spLocks noChangeShapeType="1"/>
              </p:cNvSpPr>
              <p:nvPr/>
            </p:nvSpPr>
            <p:spPr bwMode="auto">
              <a:xfrm flipV="1">
                <a:off x="3834" y="2001"/>
                <a:ext cx="36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1735" name="Group 55"/>
            <p:cNvGrpSpPr>
              <a:grpSpLocks/>
            </p:cNvGrpSpPr>
            <p:nvPr/>
          </p:nvGrpSpPr>
          <p:grpSpPr bwMode="auto">
            <a:xfrm>
              <a:off x="3696" y="3408"/>
              <a:ext cx="108" cy="152"/>
              <a:chOff x="3696" y="3408"/>
              <a:chExt cx="108" cy="152"/>
            </a:xfrm>
          </p:grpSpPr>
          <p:sp>
            <p:nvSpPr>
              <p:cNvPr id="71736" name="Line 56"/>
              <p:cNvSpPr>
                <a:spLocks noChangeShapeType="1"/>
              </p:cNvSpPr>
              <p:nvPr/>
            </p:nvSpPr>
            <p:spPr bwMode="auto">
              <a:xfrm>
                <a:off x="3748" y="3408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37" name="Line 57"/>
              <p:cNvSpPr>
                <a:spLocks noChangeShapeType="1"/>
              </p:cNvSpPr>
              <p:nvPr/>
            </p:nvSpPr>
            <p:spPr bwMode="auto">
              <a:xfrm>
                <a:off x="3696" y="3492"/>
                <a:ext cx="1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38" name="Line 58"/>
              <p:cNvSpPr>
                <a:spLocks noChangeShapeType="1"/>
              </p:cNvSpPr>
              <p:nvPr/>
            </p:nvSpPr>
            <p:spPr bwMode="auto">
              <a:xfrm>
                <a:off x="3724" y="3532"/>
                <a:ext cx="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1739" name="Line 59"/>
              <p:cNvSpPr>
                <a:spLocks noChangeShapeType="1"/>
              </p:cNvSpPr>
              <p:nvPr/>
            </p:nvSpPr>
            <p:spPr bwMode="auto">
              <a:xfrm>
                <a:off x="3748" y="3560"/>
                <a:ext cx="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71740" name="Group 60"/>
          <p:cNvGrpSpPr>
            <a:grpSpLocks/>
          </p:cNvGrpSpPr>
          <p:nvPr/>
        </p:nvGrpSpPr>
        <p:grpSpPr bwMode="auto">
          <a:xfrm>
            <a:off x="5283200" y="2463800"/>
            <a:ext cx="692150" cy="133350"/>
            <a:chOff x="3328" y="1552"/>
            <a:chExt cx="436" cy="84"/>
          </a:xfrm>
        </p:grpSpPr>
        <p:sp>
          <p:nvSpPr>
            <p:cNvPr id="71741" name="Line 61"/>
            <p:cNvSpPr>
              <a:spLocks noChangeShapeType="1"/>
            </p:cNvSpPr>
            <p:nvPr/>
          </p:nvSpPr>
          <p:spPr bwMode="auto">
            <a:xfrm flipH="1">
              <a:off x="3328" y="1552"/>
              <a:ext cx="4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742" name="Line 62"/>
            <p:cNvSpPr>
              <a:spLocks noChangeShapeType="1"/>
            </p:cNvSpPr>
            <p:nvPr/>
          </p:nvSpPr>
          <p:spPr bwMode="auto">
            <a:xfrm>
              <a:off x="3764" y="1552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71743" name="Group 63"/>
          <p:cNvGrpSpPr>
            <a:grpSpLocks/>
          </p:cNvGrpSpPr>
          <p:nvPr/>
        </p:nvGrpSpPr>
        <p:grpSpPr bwMode="auto">
          <a:xfrm flipH="1">
            <a:off x="7359650" y="2463800"/>
            <a:ext cx="692150" cy="133350"/>
            <a:chOff x="3328" y="1552"/>
            <a:chExt cx="436" cy="84"/>
          </a:xfrm>
        </p:grpSpPr>
        <p:sp>
          <p:nvSpPr>
            <p:cNvPr id="71744" name="Line 64"/>
            <p:cNvSpPr>
              <a:spLocks noChangeShapeType="1"/>
            </p:cNvSpPr>
            <p:nvPr/>
          </p:nvSpPr>
          <p:spPr bwMode="auto">
            <a:xfrm flipH="1">
              <a:off x="3328" y="1552"/>
              <a:ext cx="4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745" name="Line 65"/>
            <p:cNvSpPr>
              <a:spLocks noChangeShapeType="1"/>
            </p:cNvSpPr>
            <p:nvPr/>
          </p:nvSpPr>
          <p:spPr bwMode="auto">
            <a:xfrm>
              <a:off x="3764" y="1552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71746" name="Text Box 66"/>
          <p:cNvSpPr txBox="1">
            <a:spLocks noChangeArrowheads="1"/>
          </p:cNvSpPr>
          <p:nvPr/>
        </p:nvSpPr>
        <p:spPr bwMode="auto">
          <a:xfrm>
            <a:off x="5108575" y="1947863"/>
            <a:ext cx="5762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dirty="0">
                <a:latin typeface="Times New Roman" panose="02020603050405020304" pitchFamily="18" charset="0"/>
              </a:rPr>
              <a:t>Input</a:t>
            </a:r>
          </a:p>
        </p:txBody>
      </p:sp>
      <p:sp>
        <p:nvSpPr>
          <p:cNvPr id="71747" name="Text Box 67"/>
          <p:cNvSpPr txBox="1">
            <a:spLocks noChangeArrowheads="1"/>
          </p:cNvSpPr>
          <p:nvPr/>
        </p:nvSpPr>
        <p:spPr bwMode="auto">
          <a:xfrm>
            <a:off x="7473950" y="1976438"/>
            <a:ext cx="7080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dirty="0">
                <a:latin typeface="Times New Roman" panose="02020603050405020304" pitchFamily="18" charset="0"/>
              </a:rPr>
              <a:t>Output</a:t>
            </a:r>
          </a:p>
        </p:txBody>
      </p:sp>
      <p:sp>
        <p:nvSpPr>
          <p:cNvPr id="71748" name="Text Box 68"/>
          <p:cNvSpPr txBox="1">
            <a:spLocks noChangeArrowheads="1"/>
          </p:cNvSpPr>
          <p:nvPr/>
        </p:nvSpPr>
        <p:spPr bwMode="auto">
          <a:xfrm>
            <a:off x="5353050" y="4991100"/>
            <a:ext cx="514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Times New Roman" panose="02020603050405020304" pitchFamily="18" charset="0"/>
              </a:rPr>
              <a:t>Z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o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1749" name="Text Box 69"/>
          <p:cNvSpPr txBox="1">
            <a:spLocks noChangeArrowheads="1"/>
          </p:cNvSpPr>
          <p:nvPr/>
        </p:nvSpPr>
        <p:spPr bwMode="auto">
          <a:xfrm>
            <a:off x="6858000" y="4991100"/>
            <a:ext cx="514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>
                <a:latin typeface="Times New Roman" panose="02020603050405020304" pitchFamily="18" charset="0"/>
              </a:rPr>
              <a:t>Z</a:t>
            </a:r>
            <a:r>
              <a:rPr lang="en-US" altLang="en-US" sz="1600" baseline="-25000" dirty="0">
                <a:latin typeface="Times New Roman" panose="02020603050405020304" pitchFamily="18" charset="0"/>
              </a:rPr>
              <a:t>o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49278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Coupler Attenuator - Series Diodes R vs. Attenuation</a:t>
            </a:r>
          </a:p>
        </p:txBody>
      </p:sp>
      <p:graphicFrame>
        <p:nvGraphicFramePr>
          <p:cNvPr id="72707" name="Object 3"/>
          <p:cNvGraphicFramePr>
            <a:graphicFrameLocks noChangeAspect="1"/>
          </p:cNvGraphicFramePr>
          <p:nvPr/>
        </p:nvGraphicFramePr>
        <p:xfrm>
          <a:off x="4344988" y="1966913"/>
          <a:ext cx="4114800" cy="329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Mathcad 6.0" r:id="rId4" imgW="3504960" imgH="2804040" progId="Mathcad">
                  <p:embed/>
                </p:oleObj>
              </mc:Choice>
              <mc:Fallback>
                <p:oleObj name="Mathcad 6.0" r:id="rId4" imgW="3504960" imgH="280404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988" y="1966913"/>
                        <a:ext cx="4114800" cy="329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698085"/>
              </p:ext>
            </p:extLst>
          </p:nvPr>
        </p:nvGraphicFramePr>
        <p:xfrm>
          <a:off x="1535113" y="2768600"/>
          <a:ext cx="2085975" cy="133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6" imgW="774360" imgH="495000" progId="Equation.3">
                  <p:embed/>
                </p:oleObj>
              </mc:Choice>
              <mc:Fallback>
                <p:oleObj name="Equation" r:id="rId6" imgW="77436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2768600"/>
                        <a:ext cx="2085975" cy="133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533585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HIP3™ Variable Attenuators</a:t>
            </a:r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2286000" y="1981200"/>
          <a:ext cx="5133975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Mathcad" r:id="rId4" imgW="5133960" imgH="3600360" progId="Mathcad">
                  <p:embed/>
                </p:oleObj>
              </mc:Choice>
              <mc:Fallback>
                <p:oleObj name="Mathcad" r:id="rId4" imgW="5133960" imgH="360036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981200"/>
                        <a:ext cx="5133975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12171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Coupler Attenuator - Shunt Diodes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4311650" cy="4114800"/>
          </a:xfrm>
        </p:spPr>
        <p:txBody>
          <a:bodyPr/>
          <a:lstStyle/>
          <a:p>
            <a:r>
              <a:rPr lang="en-US" altLang="en-US" sz="2800" dirty="0"/>
              <a:t>Absorptive</a:t>
            </a:r>
          </a:p>
          <a:p>
            <a:r>
              <a:rPr lang="en-US" altLang="en-US" sz="2800" dirty="0"/>
              <a:t>Requires coupler, two diodes, two resistors and capacitors</a:t>
            </a:r>
          </a:p>
          <a:p>
            <a:r>
              <a:rPr lang="en-US" altLang="en-US" sz="2800" dirty="0"/>
              <a:t>R</a:t>
            </a:r>
            <a:r>
              <a:rPr lang="en-US" altLang="en-US" sz="2800" baseline="-25000" dirty="0"/>
              <a:t>S</a:t>
            </a:r>
            <a:r>
              <a:rPr lang="en-US" altLang="en-US" sz="2800" dirty="0"/>
              <a:t> vs. I</a:t>
            </a:r>
            <a:r>
              <a:rPr lang="en-US" altLang="en-US" sz="2800" baseline="-25000" dirty="0"/>
              <a:t>BIAS</a:t>
            </a:r>
            <a:r>
              <a:rPr lang="en-US" altLang="en-US" sz="2800" dirty="0"/>
              <a:t> for diodes must be matched</a:t>
            </a:r>
          </a:p>
        </p:txBody>
      </p:sp>
      <p:grpSp>
        <p:nvGrpSpPr>
          <p:cNvPr id="73732" name="Group 4"/>
          <p:cNvGrpSpPr>
            <a:grpSpLocks/>
          </p:cNvGrpSpPr>
          <p:nvPr/>
        </p:nvGrpSpPr>
        <p:grpSpPr bwMode="auto">
          <a:xfrm>
            <a:off x="4879975" y="2252663"/>
            <a:ext cx="3268663" cy="3228975"/>
            <a:chOff x="3218" y="1227"/>
            <a:chExt cx="2059" cy="2034"/>
          </a:xfrm>
        </p:grpSpPr>
        <p:grpSp>
          <p:nvGrpSpPr>
            <p:cNvPr id="73733" name="Group 5"/>
            <p:cNvGrpSpPr>
              <a:grpSpLocks/>
            </p:cNvGrpSpPr>
            <p:nvPr/>
          </p:nvGrpSpPr>
          <p:grpSpPr bwMode="auto">
            <a:xfrm>
              <a:off x="3456" y="1630"/>
              <a:ext cx="1490" cy="914"/>
              <a:chOff x="3744" y="1612"/>
              <a:chExt cx="1004" cy="914"/>
            </a:xfrm>
          </p:grpSpPr>
          <p:sp>
            <p:nvSpPr>
              <p:cNvPr id="73734" name="Rectangle 6"/>
              <p:cNvSpPr>
                <a:spLocks noChangeArrowheads="1"/>
              </p:cNvSpPr>
              <p:nvPr/>
            </p:nvSpPr>
            <p:spPr bwMode="auto">
              <a:xfrm>
                <a:off x="3744" y="1732"/>
                <a:ext cx="1004" cy="6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73735" name="Group 7"/>
              <p:cNvGrpSpPr>
                <a:grpSpLocks/>
              </p:cNvGrpSpPr>
              <p:nvPr/>
            </p:nvGrpSpPr>
            <p:grpSpPr bwMode="auto">
              <a:xfrm>
                <a:off x="3948" y="1808"/>
                <a:ext cx="596" cy="520"/>
                <a:chOff x="3948" y="1808"/>
                <a:chExt cx="596" cy="520"/>
              </a:xfrm>
            </p:grpSpPr>
            <p:sp>
              <p:nvSpPr>
                <p:cNvPr id="73736" name="Line 8"/>
                <p:cNvSpPr>
                  <a:spLocks noChangeShapeType="1"/>
                </p:cNvSpPr>
                <p:nvPr/>
              </p:nvSpPr>
              <p:spPr bwMode="auto">
                <a:xfrm>
                  <a:off x="3952" y="1808"/>
                  <a:ext cx="592" cy="5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37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3948" y="1812"/>
                  <a:ext cx="592" cy="5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738" name="Line 10"/>
              <p:cNvSpPr>
                <a:spLocks noChangeShapeType="1"/>
              </p:cNvSpPr>
              <p:nvPr/>
            </p:nvSpPr>
            <p:spPr bwMode="auto">
              <a:xfrm flipV="1">
                <a:off x="3950" y="1612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739" name="Line 11"/>
              <p:cNvSpPr>
                <a:spLocks noChangeShapeType="1"/>
              </p:cNvSpPr>
              <p:nvPr/>
            </p:nvSpPr>
            <p:spPr bwMode="auto">
              <a:xfrm flipV="1">
                <a:off x="3948" y="2328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740" name="Line 12"/>
              <p:cNvSpPr>
                <a:spLocks noChangeShapeType="1"/>
              </p:cNvSpPr>
              <p:nvPr/>
            </p:nvSpPr>
            <p:spPr bwMode="auto">
              <a:xfrm flipV="1">
                <a:off x="4544" y="2330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741" name="Line 13"/>
              <p:cNvSpPr>
                <a:spLocks noChangeShapeType="1"/>
              </p:cNvSpPr>
              <p:nvPr/>
            </p:nvSpPr>
            <p:spPr bwMode="auto">
              <a:xfrm flipV="1">
                <a:off x="4538" y="1612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3742" name="Group 14"/>
            <p:cNvGrpSpPr>
              <a:grpSpLocks/>
            </p:cNvGrpSpPr>
            <p:nvPr/>
          </p:nvGrpSpPr>
          <p:grpSpPr bwMode="auto">
            <a:xfrm>
              <a:off x="3328" y="1552"/>
              <a:ext cx="436" cy="84"/>
              <a:chOff x="3328" y="1552"/>
              <a:chExt cx="436" cy="84"/>
            </a:xfrm>
          </p:grpSpPr>
          <p:sp>
            <p:nvSpPr>
              <p:cNvPr id="73743" name="Line 15"/>
              <p:cNvSpPr>
                <a:spLocks noChangeShapeType="1"/>
              </p:cNvSpPr>
              <p:nvPr/>
            </p:nvSpPr>
            <p:spPr bwMode="auto">
              <a:xfrm flipH="1">
                <a:off x="3328" y="1552"/>
                <a:ext cx="4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744" name="Line 16"/>
              <p:cNvSpPr>
                <a:spLocks noChangeShapeType="1"/>
              </p:cNvSpPr>
              <p:nvPr/>
            </p:nvSpPr>
            <p:spPr bwMode="auto">
              <a:xfrm>
                <a:off x="3764" y="155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73745" name="Group 17"/>
            <p:cNvGrpSpPr>
              <a:grpSpLocks/>
            </p:cNvGrpSpPr>
            <p:nvPr/>
          </p:nvGrpSpPr>
          <p:grpSpPr bwMode="auto">
            <a:xfrm flipH="1">
              <a:off x="4636" y="1552"/>
              <a:ext cx="436" cy="84"/>
              <a:chOff x="3328" y="1552"/>
              <a:chExt cx="436" cy="84"/>
            </a:xfrm>
          </p:grpSpPr>
          <p:sp>
            <p:nvSpPr>
              <p:cNvPr id="73746" name="Line 18"/>
              <p:cNvSpPr>
                <a:spLocks noChangeShapeType="1"/>
              </p:cNvSpPr>
              <p:nvPr/>
            </p:nvSpPr>
            <p:spPr bwMode="auto">
              <a:xfrm flipH="1">
                <a:off x="3328" y="1552"/>
                <a:ext cx="4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747" name="Line 19"/>
              <p:cNvSpPr>
                <a:spLocks noChangeShapeType="1"/>
              </p:cNvSpPr>
              <p:nvPr/>
            </p:nvSpPr>
            <p:spPr bwMode="auto">
              <a:xfrm>
                <a:off x="3764" y="155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3748" name="Text Box 20"/>
            <p:cNvSpPr txBox="1">
              <a:spLocks noChangeArrowheads="1"/>
            </p:cNvSpPr>
            <p:nvPr/>
          </p:nvSpPr>
          <p:spPr bwMode="auto">
            <a:xfrm>
              <a:off x="3218" y="1227"/>
              <a:ext cx="36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400" dirty="0">
                  <a:latin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73749" name="Text Box 21"/>
            <p:cNvSpPr txBox="1">
              <a:spLocks noChangeArrowheads="1"/>
            </p:cNvSpPr>
            <p:nvPr/>
          </p:nvSpPr>
          <p:spPr bwMode="auto">
            <a:xfrm>
              <a:off x="4708" y="1245"/>
              <a:ext cx="4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400" dirty="0">
                  <a:latin typeface="Times New Roman" panose="02020603050405020304" pitchFamily="18" charset="0"/>
                </a:rPr>
                <a:t>Output</a:t>
              </a:r>
            </a:p>
          </p:txBody>
        </p:sp>
        <p:grpSp>
          <p:nvGrpSpPr>
            <p:cNvPr id="73750" name="Group 22"/>
            <p:cNvGrpSpPr>
              <a:grpSpLocks/>
            </p:cNvGrpSpPr>
            <p:nvPr/>
          </p:nvGrpSpPr>
          <p:grpSpPr bwMode="auto">
            <a:xfrm>
              <a:off x="3676" y="2543"/>
              <a:ext cx="716" cy="712"/>
              <a:chOff x="3676" y="2543"/>
              <a:chExt cx="716" cy="712"/>
            </a:xfrm>
          </p:grpSpPr>
          <p:grpSp>
            <p:nvGrpSpPr>
              <p:cNvPr id="73751" name="Group 23"/>
              <p:cNvGrpSpPr>
                <a:grpSpLocks/>
              </p:cNvGrpSpPr>
              <p:nvPr/>
            </p:nvGrpSpPr>
            <p:grpSpPr bwMode="auto">
              <a:xfrm rot="5400000">
                <a:off x="3477" y="2742"/>
                <a:ext cx="564" cy="165"/>
                <a:chOff x="2784" y="1344"/>
                <a:chExt cx="924" cy="345"/>
              </a:xfrm>
            </p:grpSpPr>
            <p:sp>
              <p:nvSpPr>
                <p:cNvPr id="73752" name="Line 24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53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54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55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56" name="Line 28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57" name="Line 29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73758" name="Group 30"/>
              <p:cNvGrpSpPr>
                <a:grpSpLocks/>
              </p:cNvGrpSpPr>
              <p:nvPr/>
            </p:nvGrpSpPr>
            <p:grpSpPr bwMode="auto">
              <a:xfrm rot="5400000">
                <a:off x="3891" y="2799"/>
                <a:ext cx="300" cy="69"/>
                <a:chOff x="3438" y="1950"/>
                <a:chExt cx="432" cy="93"/>
              </a:xfrm>
            </p:grpSpPr>
            <p:grpSp>
              <p:nvGrpSpPr>
                <p:cNvPr id="73759" name="Group 31"/>
                <p:cNvGrpSpPr>
                  <a:grpSpLocks/>
                </p:cNvGrpSpPr>
                <p:nvPr/>
              </p:nvGrpSpPr>
              <p:grpSpPr bwMode="auto">
                <a:xfrm>
                  <a:off x="3654" y="1950"/>
                  <a:ext cx="180" cy="90"/>
                  <a:chOff x="3654" y="1950"/>
                  <a:chExt cx="180" cy="90"/>
                </a:xfrm>
              </p:grpSpPr>
              <p:sp>
                <p:nvSpPr>
                  <p:cNvPr id="73760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73761" name="Line 3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73762" name="Group 34"/>
                <p:cNvGrpSpPr>
                  <a:grpSpLocks/>
                </p:cNvGrpSpPr>
                <p:nvPr/>
              </p:nvGrpSpPr>
              <p:grpSpPr bwMode="auto">
                <a:xfrm>
                  <a:off x="3474" y="1950"/>
                  <a:ext cx="180" cy="90"/>
                  <a:chOff x="3654" y="1950"/>
                  <a:chExt cx="180" cy="90"/>
                </a:xfrm>
              </p:grpSpPr>
              <p:sp>
                <p:nvSpPr>
                  <p:cNvPr id="73763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73764" name="Line 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3765" name="Line 37"/>
                <p:cNvSpPr>
                  <a:spLocks noChangeShapeType="1"/>
                </p:cNvSpPr>
                <p:nvPr/>
              </p:nvSpPr>
              <p:spPr bwMode="auto">
                <a:xfrm flipH="1" flipV="1">
                  <a:off x="3438" y="1995"/>
                  <a:ext cx="33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66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3834" y="2001"/>
                  <a:ext cx="36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73767" name="Group 39"/>
              <p:cNvGrpSpPr>
                <a:grpSpLocks/>
              </p:cNvGrpSpPr>
              <p:nvPr/>
            </p:nvGrpSpPr>
            <p:grpSpPr bwMode="auto">
              <a:xfrm>
                <a:off x="3851" y="3103"/>
                <a:ext cx="108" cy="152"/>
                <a:chOff x="3696" y="3408"/>
                <a:chExt cx="108" cy="152"/>
              </a:xfrm>
            </p:grpSpPr>
            <p:sp>
              <p:nvSpPr>
                <p:cNvPr id="73768" name="Line 40"/>
                <p:cNvSpPr>
                  <a:spLocks noChangeShapeType="1"/>
                </p:cNvSpPr>
                <p:nvPr/>
              </p:nvSpPr>
              <p:spPr bwMode="auto">
                <a:xfrm>
                  <a:off x="3748" y="3408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69" name="Line 41"/>
                <p:cNvSpPr>
                  <a:spLocks noChangeShapeType="1"/>
                </p:cNvSpPr>
                <p:nvPr/>
              </p:nvSpPr>
              <p:spPr bwMode="auto">
                <a:xfrm>
                  <a:off x="3696" y="3492"/>
                  <a:ext cx="1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70" name="Line 42"/>
                <p:cNvSpPr>
                  <a:spLocks noChangeShapeType="1"/>
                </p:cNvSpPr>
                <p:nvPr/>
              </p:nvSpPr>
              <p:spPr bwMode="auto">
                <a:xfrm>
                  <a:off x="3724" y="3532"/>
                  <a:ext cx="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71" name="Line 43"/>
                <p:cNvSpPr>
                  <a:spLocks noChangeShapeType="1"/>
                </p:cNvSpPr>
                <p:nvPr/>
              </p:nvSpPr>
              <p:spPr bwMode="auto">
                <a:xfrm>
                  <a:off x="3748" y="3560"/>
                  <a:ext cx="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772" name="Text Box 44"/>
              <p:cNvSpPr txBox="1">
                <a:spLocks noChangeArrowheads="1"/>
              </p:cNvSpPr>
              <p:nvPr/>
            </p:nvSpPr>
            <p:spPr bwMode="auto">
              <a:xfrm>
                <a:off x="4068" y="2700"/>
                <a:ext cx="3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aseline="-25000" dirty="0">
                    <a:latin typeface="Times New Roman" panose="02020603050405020304" pitchFamily="18" charset="0"/>
                  </a:rPr>
                  <a:t>o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773" name="Line 45"/>
              <p:cNvSpPr>
                <a:spLocks noChangeShapeType="1"/>
              </p:cNvSpPr>
              <p:nvPr/>
            </p:nvSpPr>
            <p:spPr bwMode="auto">
              <a:xfrm>
                <a:off x="3759" y="3102"/>
                <a:ext cx="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774" name="Line 46"/>
              <p:cNvSpPr>
                <a:spLocks noChangeShapeType="1"/>
              </p:cNvSpPr>
              <p:nvPr/>
            </p:nvSpPr>
            <p:spPr bwMode="auto">
              <a:xfrm>
                <a:off x="4035" y="2982"/>
                <a:ext cx="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73775" name="Group 47"/>
              <p:cNvGrpSpPr>
                <a:grpSpLocks/>
              </p:cNvGrpSpPr>
              <p:nvPr/>
            </p:nvGrpSpPr>
            <p:grpSpPr bwMode="auto">
              <a:xfrm flipV="1">
                <a:off x="3762" y="2556"/>
                <a:ext cx="276" cy="120"/>
                <a:chOff x="3780" y="2487"/>
                <a:chExt cx="276" cy="120"/>
              </a:xfrm>
            </p:grpSpPr>
            <p:sp>
              <p:nvSpPr>
                <p:cNvPr id="73776" name="Line 48"/>
                <p:cNvSpPr>
                  <a:spLocks noChangeShapeType="1"/>
                </p:cNvSpPr>
                <p:nvPr/>
              </p:nvSpPr>
              <p:spPr bwMode="auto">
                <a:xfrm>
                  <a:off x="3780" y="2607"/>
                  <a:ext cx="2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77" name="Line 49"/>
                <p:cNvSpPr>
                  <a:spLocks noChangeShapeType="1"/>
                </p:cNvSpPr>
                <p:nvPr/>
              </p:nvSpPr>
              <p:spPr bwMode="auto">
                <a:xfrm>
                  <a:off x="4056" y="2487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73778" name="Group 50"/>
            <p:cNvGrpSpPr>
              <a:grpSpLocks/>
            </p:cNvGrpSpPr>
            <p:nvPr/>
          </p:nvGrpSpPr>
          <p:grpSpPr bwMode="auto">
            <a:xfrm>
              <a:off x="4561" y="2549"/>
              <a:ext cx="716" cy="712"/>
              <a:chOff x="3676" y="2543"/>
              <a:chExt cx="716" cy="712"/>
            </a:xfrm>
          </p:grpSpPr>
          <p:grpSp>
            <p:nvGrpSpPr>
              <p:cNvPr id="73779" name="Group 51"/>
              <p:cNvGrpSpPr>
                <a:grpSpLocks/>
              </p:cNvGrpSpPr>
              <p:nvPr/>
            </p:nvGrpSpPr>
            <p:grpSpPr bwMode="auto">
              <a:xfrm rot="5400000">
                <a:off x="3477" y="2742"/>
                <a:ext cx="564" cy="165"/>
                <a:chOff x="2784" y="1344"/>
                <a:chExt cx="924" cy="345"/>
              </a:xfrm>
            </p:grpSpPr>
            <p:sp>
              <p:nvSpPr>
                <p:cNvPr id="73780" name="Line 52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81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82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83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84" name="Line 56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85" name="Line 57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73786" name="Group 58"/>
              <p:cNvGrpSpPr>
                <a:grpSpLocks/>
              </p:cNvGrpSpPr>
              <p:nvPr/>
            </p:nvGrpSpPr>
            <p:grpSpPr bwMode="auto">
              <a:xfrm rot="5400000">
                <a:off x="3891" y="2799"/>
                <a:ext cx="300" cy="69"/>
                <a:chOff x="3438" y="1950"/>
                <a:chExt cx="432" cy="93"/>
              </a:xfrm>
            </p:grpSpPr>
            <p:grpSp>
              <p:nvGrpSpPr>
                <p:cNvPr id="73787" name="Group 59"/>
                <p:cNvGrpSpPr>
                  <a:grpSpLocks/>
                </p:cNvGrpSpPr>
                <p:nvPr/>
              </p:nvGrpSpPr>
              <p:grpSpPr bwMode="auto">
                <a:xfrm>
                  <a:off x="3654" y="1950"/>
                  <a:ext cx="180" cy="90"/>
                  <a:chOff x="3654" y="1950"/>
                  <a:chExt cx="180" cy="90"/>
                </a:xfrm>
              </p:grpSpPr>
              <p:sp>
                <p:nvSpPr>
                  <p:cNvPr id="73788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73789" name="Line 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73790" name="Group 62"/>
                <p:cNvGrpSpPr>
                  <a:grpSpLocks/>
                </p:cNvGrpSpPr>
                <p:nvPr/>
              </p:nvGrpSpPr>
              <p:grpSpPr bwMode="auto">
                <a:xfrm>
                  <a:off x="3474" y="1950"/>
                  <a:ext cx="180" cy="90"/>
                  <a:chOff x="3654" y="1950"/>
                  <a:chExt cx="180" cy="90"/>
                </a:xfrm>
              </p:grpSpPr>
              <p:sp>
                <p:nvSpPr>
                  <p:cNvPr id="73791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74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  <p:sp>
                <p:nvSpPr>
                  <p:cNvPr id="73792" name="Line 6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54" y="1950"/>
                    <a:ext cx="90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73793" name="Line 65"/>
                <p:cNvSpPr>
                  <a:spLocks noChangeShapeType="1"/>
                </p:cNvSpPr>
                <p:nvPr/>
              </p:nvSpPr>
              <p:spPr bwMode="auto">
                <a:xfrm flipH="1" flipV="1">
                  <a:off x="3438" y="1995"/>
                  <a:ext cx="33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94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3834" y="2001"/>
                  <a:ext cx="36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73795" name="Group 67"/>
              <p:cNvGrpSpPr>
                <a:grpSpLocks/>
              </p:cNvGrpSpPr>
              <p:nvPr/>
            </p:nvGrpSpPr>
            <p:grpSpPr bwMode="auto">
              <a:xfrm>
                <a:off x="3851" y="3103"/>
                <a:ext cx="108" cy="152"/>
                <a:chOff x="3696" y="3408"/>
                <a:chExt cx="108" cy="152"/>
              </a:xfrm>
            </p:grpSpPr>
            <p:sp>
              <p:nvSpPr>
                <p:cNvPr id="73796" name="Line 68"/>
                <p:cNvSpPr>
                  <a:spLocks noChangeShapeType="1"/>
                </p:cNvSpPr>
                <p:nvPr/>
              </p:nvSpPr>
              <p:spPr bwMode="auto">
                <a:xfrm>
                  <a:off x="3748" y="3408"/>
                  <a:ext cx="0" cy="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97" name="Line 69"/>
                <p:cNvSpPr>
                  <a:spLocks noChangeShapeType="1"/>
                </p:cNvSpPr>
                <p:nvPr/>
              </p:nvSpPr>
              <p:spPr bwMode="auto">
                <a:xfrm>
                  <a:off x="3696" y="3492"/>
                  <a:ext cx="1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98" name="Line 70"/>
                <p:cNvSpPr>
                  <a:spLocks noChangeShapeType="1"/>
                </p:cNvSpPr>
                <p:nvPr/>
              </p:nvSpPr>
              <p:spPr bwMode="auto">
                <a:xfrm>
                  <a:off x="3724" y="3532"/>
                  <a:ext cx="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799" name="Line 71"/>
                <p:cNvSpPr>
                  <a:spLocks noChangeShapeType="1"/>
                </p:cNvSpPr>
                <p:nvPr/>
              </p:nvSpPr>
              <p:spPr bwMode="auto">
                <a:xfrm>
                  <a:off x="3748" y="3560"/>
                  <a:ext cx="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73800" name="Text Box 72"/>
              <p:cNvSpPr txBox="1">
                <a:spLocks noChangeArrowheads="1"/>
              </p:cNvSpPr>
              <p:nvPr/>
            </p:nvSpPr>
            <p:spPr bwMode="auto">
              <a:xfrm>
                <a:off x="4068" y="2700"/>
                <a:ext cx="32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Z</a:t>
                </a:r>
                <a:r>
                  <a:rPr lang="en-US" altLang="en-US" sz="1600" baseline="-25000" dirty="0">
                    <a:latin typeface="Times New Roman" panose="02020603050405020304" pitchFamily="18" charset="0"/>
                  </a:rPr>
                  <a:t>o</a:t>
                </a: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801" name="Line 73"/>
              <p:cNvSpPr>
                <a:spLocks noChangeShapeType="1"/>
              </p:cNvSpPr>
              <p:nvPr/>
            </p:nvSpPr>
            <p:spPr bwMode="auto">
              <a:xfrm>
                <a:off x="3759" y="3102"/>
                <a:ext cx="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3802" name="Line 74"/>
              <p:cNvSpPr>
                <a:spLocks noChangeShapeType="1"/>
              </p:cNvSpPr>
              <p:nvPr/>
            </p:nvSpPr>
            <p:spPr bwMode="auto">
              <a:xfrm>
                <a:off x="4035" y="2982"/>
                <a:ext cx="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73803" name="Group 75"/>
              <p:cNvGrpSpPr>
                <a:grpSpLocks/>
              </p:cNvGrpSpPr>
              <p:nvPr/>
            </p:nvGrpSpPr>
            <p:grpSpPr bwMode="auto">
              <a:xfrm flipV="1">
                <a:off x="3762" y="2556"/>
                <a:ext cx="276" cy="120"/>
                <a:chOff x="3780" y="2487"/>
                <a:chExt cx="276" cy="120"/>
              </a:xfrm>
            </p:grpSpPr>
            <p:sp>
              <p:nvSpPr>
                <p:cNvPr id="73804" name="Line 76"/>
                <p:cNvSpPr>
                  <a:spLocks noChangeShapeType="1"/>
                </p:cNvSpPr>
                <p:nvPr/>
              </p:nvSpPr>
              <p:spPr bwMode="auto">
                <a:xfrm>
                  <a:off x="3780" y="2607"/>
                  <a:ext cx="27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3805" name="Line 77"/>
                <p:cNvSpPr>
                  <a:spLocks noChangeShapeType="1"/>
                </p:cNvSpPr>
                <p:nvPr/>
              </p:nvSpPr>
              <p:spPr bwMode="auto">
                <a:xfrm>
                  <a:off x="4056" y="2487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388174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Hybrid Coupler Attenuator - Shunt Diodes R vs. Attenuation</a:t>
            </a:r>
          </a:p>
        </p:txBody>
      </p:sp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4572000" y="2082800"/>
          <a:ext cx="4083050" cy="326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Mathcad 6.0" r:id="rId4" imgW="3504960" imgH="2804040" progId="Mathcad">
                  <p:embed/>
                </p:oleObj>
              </mc:Choice>
              <mc:Fallback>
                <p:oleObj name="Mathcad 6.0" r:id="rId4" imgW="3504960" imgH="280404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82800"/>
                        <a:ext cx="4083050" cy="326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940989"/>
              </p:ext>
            </p:extLst>
          </p:nvPr>
        </p:nvGraphicFramePr>
        <p:xfrm>
          <a:off x="1290638" y="2686050"/>
          <a:ext cx="2682875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Equation" r:id="rId6" imgW="1193760" imgH="660240" progId="Equation.3">
                  <p:embed/>
                </p:oleObj>
              </mc:Choice>
              <mc:Fallback>
                <p:oleObj name="Equation" r:id="rId6" imgW="119376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2686050"/>
                        <a:ext cx="2682875" cy="148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363226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PIN Diode Limiters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75650" cy="4114800"/>
          </a:xfrm>
        </p:spPr>
        <p:txBody>
          <a:bodyPr/>
          <a:lstStyle/>
          <a:p>
            <a:r>
              <a:rPr lang="en-US" altLang="en-US" sz="2800" dirty="0"/>
              <a:t>Limiters are used to protect sensitive, delicate circuits such as low noise amplifiers and mixers from large input signals</a:t>
            </a:r>
          </a:p>
          <a:p>
            <a:r>
              <a:rPr lang="en-US" altLang="en-US" sz="2800" dirty="0"/>
              <a:t>PIN diode acts as an input-power-controlled variable resistance</a:t>
            </a:r>
          </a:p>
          <a:p>
            <a:r>
              <a:rPr lang="en-US" altLang="en-US" sz="2800" dirty="0"/>
              <a:t>Resistance is inversely proportional to incident power</a:t>
            </a:r>
          </a:p>
          <a:p>
            <a:r>
              <a:rPr lang="en-US" altLang="en-US" sz="2800" dirty="0"/>
              <a:t>As input power increases, so does impedance mismatch and transmission loss</a:t>
            </a:r>
          </a:p>
        </p:txBody>
      </p:sp>
    </p:spTree>
    <p:extLst>
      <p:ext uri="{BB962C8B-B14F-4D97-AF65-F5344CB8AC3E}">
        <p14:creationId xmlns:p14="http://schemas.microsoft.com/office/powerpoint/2010/main" val="39611163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Incident Power Controlled Variable Attenuator</a:t>
            </a:r>
          </a:p>
        </p:txBody>
      </p:sp>
      <p:grpSp>
        <p:nvGrpSpPr>
          <p:cNvPr id="76803" name="Group 3"/>
          <p:cNvGrpSpPr>
            <a:grpSpLocks/>
          </p:cNvGrpSpPr>
          <p:nvPr/>
        </p:nvGrpSpPr>
        <p:grpSpPr bwMode="auto">
          <a:xfrm>
            <a:off x="1457325" y="3095625"/>
            <a:ext cx="2649538" cy="1104900"/>
            <a:chOff x="3390" y="2034"/>
            <a:chExt cx="1837" cy="924"/>
          </a:xfrm>
        </p:grpSpPr>
        <p:sp>
          <p:nvSpPr>
            <p:cNvPr id="76804" name="Line 4"/>
            <p:cNvSpPr>
              <a:spLocks noChangeShapeType="1"/>
            </p:cNvSpPr>
            <p:nvPr/>
          </p:nvSpPr>
          <p:spPr bwMode="auto">
            <a:xfrm>
              <a:off x="3401" y="2953"/>
              <a:ext cx="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805" name="Line 5"/>
            <p:cNvSpPr>
              <a:spLocks noChangeShapeType="1"/>
            </p:cNvSpPr>
            <p:nvPr/>
          </p:nvSpPr>
          <p:spPr bwMode="auto">
            <a:xfrm>
              <a:off x="3887" y="2954"/>
              <a:ext cx="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6806" name="Group 6"/>
            <p:cNvGrpSpPr>
              <a:grpSpLocks/>
            </p:cNvGrpSpPr>
            <p:nvPr/>
          </p:nvGrpSpPr>
          <p:grpSpPr bwMode="auto">
            <a:xfrm>
              <a:off x="3703" y="2034"/>
              <a:ext cx="384" cy="924"/>
              <a:chOff x="4147" y="2034"/>
              <a:chExt cx="384" cy="924"/>
            </a:xfrm>
          </p:grpSpPr>
          <p:sp>
            <p:nvSpPr>
              <p:cNvPr id="76807" name="Line 7"/>
              <p:cNvSpPr>
                <a:spLocks noChangeShapeType="1"/>
              </p:cNvSpPr>
              <p:nvPr/>
            </p:nvSpPr>
            <p:spPr bwMode="auto">
              <a:xfrm>
                <a:off x="4147" y="2034"/>
                <a:ext cx="384" cy="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grpSp>
            <p:nvGrpSpPr>
              <p:cNvPr id="76808" name="Group 8"/>
              <p:cNvGrpSpPr>
                <a:grpSpLocks/>
              </p:cNvGrpSpPr>
              <p:nvPr/>
            </p:nvGrpSpPr>
            <p:grpSpPr bwMode="auto">
              <a:xfrm rot="5400000">
                <a:off x="3883" y="2323"/>
                <a:ext cx="924" cy="345"/>
                <a:chOff x="2784" y="1344"/>
                <a:chExt cx="924" cy="345"/>
              </a:xfrm>
            </p:grpSpPr>
            <p:sp>
              <p:nvSpPr>
                <p:cNvPr id="76809" name="Line 9"/>
                <p:cNvSpPr>
                  <a:spLocks noChangeShapeType="1"/>
                </p:cNvSpPr>
                <p:nvPr/>
              </p:nvSpPr>
              <p:spPr bwMode="auto">
                <a:xfrm>
                  <a:off x="3165" y="1344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810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3165" y="1515"/>
                  <a:ext cx="171" cy="1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81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162" y="1344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81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336" y="1347"/>
                  <a:ext cx="0" cy="3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813" name="Line 13"/>
                <p:cNvSpPr>
                  <a:spLocks noChangeShapeType="1"/>
                </p:cNvSpPr>
                <p:nvPr/>
              </p:nvSpPr>
              <p:spPr bwMode="auto">
                <a:xfrm>
                  <a:off x="3333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76814" name="Line 14"/>
                <p:cNvSpPr>
                  <a:spLocks noChangeShapeType="1"/>
                </p:cNvSpPr>
                <p:nvPr/>
              </p:nvSpPr>
              <p:spPr bwMode="auto">
                <a:xfrm>
                  <a:off x="2784" y="1515"/>
                  <a:ext cx="37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76815" name="Line 15"/>
            <p:cNvSpPr>
              <a:spLocks noChangeShapeType="1"/>
            </p:cNvSpPr>
            <p:nvPr/>
          </p:nvSpPr>
          <p:spPr bwMode="auto">
            <a:xfrm>
              <a:off x="4383" y="2955"/>
              <a:ext cx="8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816" name="Line 16"/>
            <p:cNvSpPr>
              <a:spLocks noChangeShapeType="1"/>
            </p:cNvSpPr>
            <p:nvPr/>
          </p:nvSpPr>
          <p:spPr bwMode="auto">
            <a:xfrm flipH="1" flipV="1">
              <a:off x="3390" y="2035"/>
              <a:ext cx="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817" name="Line 17"/>
            <p:cNvSpPr>
              <a:spLocks noChangeShapeType="1"/>
            </p:cNvSpPr>
            <p:nvPr/>
          </p:nvSpPr>
          <p:spPr bwMode="auto">
            <a:xfrm flipH="1">
              <a:off x="4959" y="2043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76818" name="Group 18"/>
            <p:cNvGrpSpPr>
              <a:grpSpLocks/>
            </p:cNvGrpSpPr>
            <p:nvPr/>
          </p:nvGrpSpPr>
          <p:grpSpPr bwMode="auto">
            <a:xfrm>
              <a:off x="4592" y="2158"/>
              <a:ext cx="92" cy="676"/>
              <a:chOff x="4256" y="1348"/>
              <a:chExt cx="92" cy="676"/>
            </a:xfrm>
          </p:grpSpPr>
          <p:sp>
            <p:nvSpPr>
              <p:cNvPr id="76819" name="Arc 19"/>
              <p:cNvSpPr>
                <a:spLocks/>
              </p:cNvSpPr>
              <p:nvPr/>
            </p:nvSpPr>
            <p:spPr bwMode="auto">
              <a:xfrm>
                <a:off x="4258" y="1443"/>
                <a:ext cx="86" cy="121"/>
              </a:xfrm>
              <a:custGeom>
                <a:avLst/>
                <a:gdLst>
                  <a:gd name="G0" fmla="+- 1449 0 0"/>
                  <a:gd name="G1" fmla="+- 21600 0 0"/>
                  <a:gd name="G2" fmla="+- 21600 0 0"/>
                  <a:gd name="T0" fmla="*/ 1449 w 23049"/>
                  <a:gd name="T1" fmla="*/ 0 h 43200"/>
                  <a:gd name="T2" fmla="*/ 0 w 23049"/>
                  <a:gd name="T3" fmla="*/ 43151 h 43200"/>
                  <a:gd name="T4" fmla="*/ 1449 w 2304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049" h="43200" fill="none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</a:path>
                  <a:path w="23049" h="43200" stroke="0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  <a:lnTo>
                      <a:pt x="1449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6820" name="Arc 20"/>
              <p:cNvSpPr>
                <a:spLocks/>
              </p:cNvSpPr>
              <p:nvPr/>
            </p:nvSpPr>
            <p:spPr bwMode="auto">
              <a:xfrm>
                <a:off x="4258" y="1563"/>
                <a:ext cx="86" cy="121"/>
              </a:xfrm>
              <a:custGeom>
                <a:avLst/>
                <a:gdLst>
                  <a:gd name="G0" fmla="+- 1449 0 0"/>
                  <a:gd name="G1" fmla="+- 21600 0 0"/>
                  <a:gd name="G2" fmla="+- 21600 0 0"/>
                  <a:gd name="T0" fmla="*/ 1449 w 23049"/>
                  <a:gd name="T1" fmla="*/ 0 h 43200"/>
                  <a:gd name="T2" fmla="*/ 0 w 23049"/>
                  <a:gd name="T3" fmla="*/ 43151 h 43200"/>
                  <a:gd name="T4" fmla="*/ 1449 w 2304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049" h="43200" fill="none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</a:path>
                  <a:path w="23049" h="43200" stroke="0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  <a:lnTo>
                      <a:pt x="1449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6821" name="Arc 21"/>
              <p:cNvSpPr>
                <a:spLocks/>
              </p:cNvSpPr>
              <p:nvPr/>
            </p:nvSpPr>
            <p:spPr bwMode="auto">
              <a:xfrm>
                <a:off x="4262" y="1687"/>
                <a:ext cx="86" cy="121"/>
              </a:xfrm>
              <a:custGeom>
                <a:avLst/>
                <a:gdLst>
                  <a:gd name="G0" fmla="+- 1449 0 0"/>
                  <a:gd name="G1" fmla="+- 21600 0 0"/>
                  <a:gd name="G2" fmla="+- 21600 0 0"/>
                  <a:gd name="T0" fmla="*/ 1449 w 23049"/>
                  <a:gd name="T1" fmla="*/ 0 h 43200"/>
                  <a:gd name="T2" fmla="*/ 0 w 23049"/>
                  <a:gd name="T3" fmla="*/ 43151 h 43200"/>
                  <a:gd name="T4" fmla="*/ 1449 w 2304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049" h="43200" fill="none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</a:path>
                  <a:path w="23049" h="43200" stroke="0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  <a:lnTo>
                      <a:pt x="1449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6822" name="Arc 22"/>
              <p:cNvSpPr>
                <a:spLocks/>
              </p:cNvSpPr>
              <p:nvPr/>
            </p:nvSpPr>
            <p:spPr bwMode="auto">
              <a:xfrm>
                <a:off x="4256" y="1807"/>
                <a:ext cx="86" cy="121"/>
              </a:xfrm>
              <a:custGeom>
                <a:avLst/>
                <a:gdLst>
                  <a:gd name="G0" fmla="+- 1449 0 0"/>
                  <a:gd name="G1" fmla="+- 21600 0 0"/>
                  <a:gd name="G2" fmla="+- 21600 0 0"/>
                  <a:gd name="T0" fmla="*/ 1449 w 23049"/>
                  <a:gd name="T1" fmla="*/ 0 h 43200"/>
                  <a:gd name="T2" fmla="*/ 0 w 23049"/>
                  <a:gd name="T3" fmla="*/ 43151 h 43200"/>
                  <a:gd name="T4" fmla="*/ 1449 w 23049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049" h="43200" fill="none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</a:path>
                  <a:path w="23049" h="43200" stroke="0" extrusionOk="0">
                    <a:moveTo>
                      <a:pt x="1448" y="0"/>
                    </a:moveTo>
                    <a:cubicBezTo>
                      <a:pt x="13378" y="0"/>
                      <a:pt x="23049" y="9670"/>
                      <a:pt x="23049" y="21600"/>
                    </a:cubicBezTo>
                    <a:cubicBezTo>
                      <a:pt x="23049" y="33529"/>
                      <a:pt x="13378" y="43200"/>
                      <a:pt x="1449" y="43200"/>
                    </a:cubicBezTo>
                    <a:cubicBezTo>
                      <a:pt x="965" y="43200"/>
                      <a:pt x="482" y="43183"/>
                      <a:pt x="-1" y="43151"/>
                    </a:cubicBezTo>
                    <a:lnTo>
                      <a:pt x="1449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6823" name="Line 23"/>
              <p:cNvSpPr>
                <a:spLocks noChangeShapeType="1"/>
              </p:cNvSpPr>
              <p:nvPr/>
            </p:nvSpPr>
            <p:spPr bwMode="auto">
              <a:xfrm>
                <a:off x="4260" y="19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76824" name="Line 24"/>
              <p:cNvSpPr>
                <a:spLocks noChangeShapeType="1"/>
              </p:cNvSpPr>
              <p:nvPr/>
            </p:nvSpPr>
            <p:spPr bwMode="auto">
              <a:xfrm>
                <a:off x="4260" y="134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76825" name="Line 25"/>
            <p:cNvSpPr>
              <a:spLocks noChangeShapeType="1"/>
            </p:cNvSpPr>
            <p:nvPr/>
          </p:nvSpPr>
          <p:spPr bwMode="auto">
            <a:xfrm>
              <a:off x="4092" y="2040"/>
              <a:ext cx="8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826" name="Line 26"/>
            <p:cNvSpPr>
              <a:spLocks noChangeShapeType="1"/>
            </p:cNvSpPr>
            <p:nvPr/>
          </p:nvSpPr>
          <p:spPr bwMode="auto">
            <a:xfrm flipH="1">
              <a:off x="4596" y="2748"/>
              <a:ext cx="0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827" name="Line 27"/>
            <p:cNvSpPr>
              <a:spLocks noChangeShapeType="1"/>
            </p:cNvSpPr>
            <p:nvPr/>
          </p:nvSpPr>
          <p:spPr bwMode="auto">
            <a:xfrm flipH="1">
              <a:off x="4596" y="2040"/>
              <a:ext cx="0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aphicFrame>
        <p:nvGraphicFramePr>
          <p:cNvPr id="76828" name="Object 28"/>
          <p:cNvGraphicFramePr>
            <a:graphicFrameLocks noChangeAspect="1"/>
          </p:cNvGraphicFramePr>
          <p:nvPr/>
        </p:nvGraphicFramePr>
        <p:xfrm>
          <a:off x="4572000" y="1928813"/>
          <a:ext cx="3743325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Mathcad 6.0" r:id="rId4" imgW="3743280" imgH="3609720" progId="Mathcad">
                  <p:embed/>
                </p:oleObj>
              </mc:Choice>
              <mc:Fallback>
                <p:oleObj name="Mathcad 6.0" r:id="rId4" imgW="3743280" imgH="3609720" progId="Mathcad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28813"/>
                        <a:ext cx="3743325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79965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151158" y="1303838"/>
            <a:ext cx="4000104" cy="4970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Limiter diodes available 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Die Versions (to 20 GHz)</a:t>
            </a:r>
          </a:p>
          <a:p>
            <a:pPr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 Available in Ceramic &amp; Plastic Packages  (up to 12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Low Capacitance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I layers from 2 µm to 40 </a:t>
            </a:r>
            <a:r>
              <a:rPr lang="en-US" altLang="ko-KR" sz="2000" dirty="0"/>
              <a:t>µm</a:t>
            </a:r>
            <a:endParaRPr lang="en-US" altLang="ko-KR" sz="2000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>
                <a:ea typeface="굴림" pitchFamily="34" charset="-127"/>
              </a:rPr>
              <a:t> </a:t>
            </a:r>
            <a:r>
              <a:rPr lang="en-US" altLang="ko-KR" sz="2000" dirty="0" smtClean="0">
                <a:ea typeface="굴림" pitchFamily="34" charset="-127"/>
              </a:rPr>
              <a:t>Cascadable for Increased </a:t>
            </a:r>
            <a:r>
              <a:rPr lang="en-US" altLang="ko-KR" sz="2000" dirty="0">
                <a:ea typeface="굴림" pitchFamily="34" charset="-127"/>
              </a:rPr>
              <a:t>Power Handling and </a:t>
            </a:r>
            <a:r>
              <a:rPr lang="en-US" altLang="ko-KR" sz="2000" dirty="0" smtClean="0">
                <a:ea typeface="굴림" pitchFamily="34" charset="-127"/>
              </a:rPr>
              <a:t>Limiting</a:t>
            </a:r>
          </a:p>
          <a:p>
            <a:pPr marL="457200"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Thinnest diode placed at output stage</a:t>
            </a:r>
          </a:p>
          <a:p>
            <a:pPr marL="914400" lvl="3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Determines threshold level, spike leakage</a:t>
            </a:r>
          </a:p>
          <a:p>
            <a:pPr marL="457200" lvl="2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Thickest diode placed at input stage</a:t>
            </a:r>
          </a:p>
          <a:p>
            <a:pPr marL="914400" lvl="3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2000" dirty="0" smtClean="0">
                <a:ea typeface="굴림" pitchFamily="34" charset="-127"/>
              </a:rPr>
              <a:t>Determines power handling, recovery time </a:t>
            </a:r>
            <a:endParaRPr lang="en-US" altLang="ko-KR" sz="2000" dirty="0">
              <a:ea typeface="굴림" pitchFamily="34" charset="-127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338581" y="1741442"/>
            <a:ext cx="4507499" cy="3453741"/>
            <a:chOff x="2880" y="1316"/>
            <a:chExt cx="2671" cy="1985"/>
          </a:xfrm>
        </p:grpSpPr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3060" y="1392"/>
            <a:ext cx="1335" cy="1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2" name="Mathcad" r:id="rId4" imgW="5153040" imgH="2800440" progId="Mathcad">
                    <p:embed/>
                  </p:oleObj>
                </mc:Choice>
                <mc:Fallback>
                  <p:oleObj name="Mathcad" r:id="rId4" imgW="5153040" imgH="2800440" progId="Mathcad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1392"/>
                          <a:ext cx="1335" cy="1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3018" y="2160"/>
            <a:ext cx="2533" cy="6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VISIO" r:id="rId6" imgW="2555280" imgH="1043280" progId="Visio.Drawing.11">
                    <p:embed/>
                  </p:oleObj>
                </mc:Choice>
                <mc:Fallback>
                  <p:oleObj name="VISIO" r:id="rId6" imgW="2555280" imgH="1043280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160"/>
                          <a:ext cx="2533" cy="6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" name="Group 7"/>
            <p:cNvGrpSpPr>
              <a:grpSpLocks/>
            </p:cNvGrpSpPr>
            <p:nvPr/>
          </p:nvGrpSpPr>
          <p:grpSpPr bwMode="auto">
            <a:xfrm>
              <a:off x="3710" y="2774"/>
              <a:ext cx="568" cy="264"/>
              <a:chOff x="3572" y="2324"/>
              <a:chExt cx="568" cy="264"/>
            </a:xfrm>
          </p:grpSpPr>
          <p:sp>
            <p:nvSpPr>
              <p:cNvPr id="15" name="Line 8"/>
              <p:cNvSpPr>
                <a:spLocks noChangeShapeType="1"/>
              </p:cNvSpPr>
              <p:nvPr/>
            </p:nvSpPr>
            <p:spPr bwMode="auto">
              <a:xfrm>
                <a:off x="3576" y="2324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>
                <a:off x="4140" y="2324"/>
                <a:ext cx="0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7" name="Text Box 10"/>
              <p:cNvSpPr txBox="1">
                <a:spLocks noChangeArrowheads="1"/>
              </p:cNvSpPr>
              <p:nvPr/>
            </p:nvSpPr>
            <p:spPr bwMode="auto">
              <a:xfrm>
                <a:off x="3728" y="2380"/>
                <a:ext cx="26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200" dirty="0">
                    <a:latin typeface="Times New Roman" pitchFamily="18" charset="0"/>
                    <a:sym typeface="Symbol" pitchFamily="18" charset="2"/>
                  </a:rPr>
                  <a:t>/4</a:t>
                </a:r>
                <a:endParaRPr lang="en-US" sz="1200" dirty="0">
                  <a:latin typeface="Times New Roman" pitchFamily="18" charset="0"/>
                </a:endParaRPr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3956" y="246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 flipH="1">
                <a:off x="3572" y="246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1" name="AutoShape 13"/>
            <p:cNvSpPr>
              <a:spLocks/>
            </p:cNvSpPr>
            <p:nvPr/>
          </p:nvSpPr>
          <p:spPr bwMode="auto">
            <a:xfrm>
              <a:off x="4686" y="1316"/>
              <a:ext cx="738" cy="179"/>
            </a:xfrm>
            <a:prstGeom prst="borderCallout2">
              <a:avLst>
                <a:gd name="adj1" fmla="val 40222"/>
                <a:gd name="adj2" fmla="val -6505"/>
                <a:gd name="adj3" fmla="val 40222"/>
                <a:gd name="adj4" fmla="val -30083"/>
                <a:gd name="adj5" fmla="val 268713"/>
                <a:gd name="adj6" fmla="val -5447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I standing wave</a:t>
              </a:r>
              <a:endParaRPr lang="en-US" sz="1600" dirty="0">
                <a:latin typeface="Times New Roman" pitchFamily="18" charset="0"/>
              </a:endParaRPr>
            </a:p>
          </p:txBody>
        </p:sp>
        <p:sp>
          <p:nvSpPr>
            <p:cNvPr id="12" name="AutoShape 14"/>
            <p:cNvSpPr>
              <a:spLocks/>
            </p:cNvSpPr>
            <p:nvPr/>
          </p:nvSpPr>
          <p:spPr bwMode="auto">
            <a:xfrm>
              <a:off x="4680" y="1670"/>
              <a:ext cx="804" cy="179"/>
            </a:xfrm>
            <a:prstGeom prst="borderCallout2">
              <a:avLst>
                <a:gd name="adj1" fmla="val 40222"/>
                <a:gd name="adj2" fmla="val -5972"/>
                <a:gd name="adj3" fmla="val 40222"/>
                <a:gd name="adj4" fmla="val -30347"/>
                <a:gd name="adj5" fmla="val 249162"/>
                <a:gd name="adj6" fmla="val -63431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V standing wave</a:t>
              </a:r>
            </a:p>
          </p:txBody>
        </p:sp>
        <p:sp>
          <p:nvSpPr>
            <p:cNvPr id="13" name="AutoShape 15"/>
            <p:cNvSpPr>
              <a:spLocks/>
            </p:cNvSpPr>
            <p:nvPr/>
          </p:nvSpPr>
          <p:spPr bwMode="auto">
            <a:xfrm>
              <a:off x="4638" y="2892"/>
              <a:ext cx="576" cy="409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0384"/>
                <a:gd name="adj5" fmla="val -75000"/>
                <a:gd name="adj6" fmla="val -53125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Thin “clean-up” limiter</a:t>
              </a:r>
            </a:p>
          </p:txBody>
        </p:sp>
        <p:sp>
          <p:nvSpPr>
            <p:cNvPr id="14" name="AutoShape 16"/>
            <p:cNvSpPr>
              <a:spLocks/>
            </p:cNvSpPr>
            <p:nvPr/>
          </p:nvSpPr>
          <p:spPr bwMode="auto">
            <a:xfrm>
              <a:off x="2880" y="2891"/>
              <a:ext cx="576" cy="409"/>
            </a:xfrm>
            <a:prstGeom prst="borderCallout2">
              <a:avLst>
                <a:gd name="adj1" fmla="val 17602"/>
                <a:gd name="adj2" fmla="val 108333"/>
                <a:gd name="adj3" fmla="val 17602"/>
                <a:gd name="adj4" fmla="val 123093"/>
                <a:gd name="adj5" fmla="val -74574"/>
                <a:gd name="adj6" fmla="val 13854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>
                  <a:latin typeface="Times New Roman" pitchFamily="18" charset="0"/>
                </a:rPr>
                <a:t>Thick “coarse” limiter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024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Output Waveform of Limiter</a:t>
            </a:r>
            <a:endParaRPr lang="en-US" altLang="en-US" sz="1700" dirty="0"/>
          </a:p>
        </p:txBody>
      </p:sp>
      <p:sp>
        <p:nvSpPr>
          <p:cNvPr id="77828" name="Line 4"/>
          <p:cNvSpPr>
            <a:spLocks noChangeShapeType="1"/>
          </p:cNvSpPr>
          <p:nvPr/>
        </p:nvSpPr>
        <p:spPr bwMode="auto">
          <a:xfrm>
            <a:off x="1706563" y="2125663"/>
            <a:ext cx="7937" cy="33067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>
            <a:off x="1714500" y="5432425"/>
            <a:ext cx="6232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0" name="Line 6"/>
          <p:cNvSpPr>
            <a:spLocks noChangeShapeType="1"/>
          </p:cNvSpPr>
          <p:nvPr/>
        </p:nvSpPr>
        <p:spPr bwMode="auto">
          <a:xfrm flipH="1" flipV="1">
            <a:off x="7748588" y="5349875"/>
            <a:ext cx="179387" cy="603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 flipH="1">
            <a:off x="7748588" y="5432425"/>
            <a:ext cx="179387" cy="58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 flipH="1">
            <a:off x="1617663" y="2125663"/>
            <a:ext cx="88900" cy="120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3" name="Line 9"/>
          <p:cNvSpPr>
            <a:spLocks noChangeShapeType="1"/>
          </p:cNvSpPr>
          <p:nvPr/>
        </p:nvSpPr>
        <p:spPr bwMode="auto">
          <a:xfrm>
            <a:off x="1706563" y="2125663"/>
            <a:ext cx="90487" cy="120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1411288" y="1789113"/>
            <a:ext cx="1785937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Transmitted Power</a:t>
            </a:r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4244975" y="5564188"/>
            <a:ext cx="1182688" cy="30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 Time (µs)</a:t>
            </a:r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77836" name="Line 12"/>
          <p:cNvSpPr>
            <a:spLocks noChangeShapeType="1"/>
          </p:cNvSpPr>
          <p:nvPr/>
        </p:nvSpPr>
        <p:spPr bwMode="auto">
          <a:xfrm flipV="1">
            <a:off x="1989138" y="2563813"/>
            <a:ext cx="457200" cy="28686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7" name="Line 13"/>
          <p:cNvSpPr>
            <a:spLocks noChangeShapeType="1"/>
          </p:cNvSpPr>
          <p:nvPr/>
        </p:nvSpPr>
        <p:spPr bwMode="auto">
          <a:xfrm>
            <a:off x="2446338" y="2563813"/>
            <a:ext cx="182562" cy="1557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8" name="Line 14"/>
          <p:cNvSpPr>
            <a:spLocks noChangeShapeType="1"/>
          </p:cNvSpPr>
          <p:nvPr/>
        </p:nvSpPr>
        <p:spPr bwMode="auto">
          <a:xfrm>
            <a:off x="2628900" y="4121150"/>
            <a:ext cx="21939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39" name="Line 15"/>
          <p:cNvSpPr>
            <a:spLocks noChangeShapeType="1"/>
          </p:cNvSpPr>
          <p:nvPr/>
        </p:nvSpPr>
        <p:spPr bwMode="auto">
          <a:xfrm>
            <a:off x="4822825" y="4121150"/>
            <a:ext cx="274638" cy="13112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0" name="Line 16"/>
          <p:cNvSpPr>
            <a:spLocks noChangeShapeType="1"/>
          </p:cNvSpPr>
          <p:nvPr/>
        </p:nvSpPr>
        <p:spPr bwMode="auto">
          <a:xfrm flipH="1">
            <a:off x="1804988" y="3465513"/>
            <a:ext cx="4587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1" name="Line 17"/>
          <p:cNvSpPr>
            <a:spLocks noChangeShapeType="1"/>
          </p:cNvSpPr>
          <p:nvPr/>
        </p:nvSpPr>
        <p:spPr bwMode="auto">
          <a:xfrm flipH="1">
            <a:off x="2536825" y="3465513"/>
            <a:ext cx="4587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2" name="Line 18"/>
          <p:cNvSpPr>
            <a:spLocks noChangeShapeType="1"/>
          </p:cNvSpPr>
          <p:nvPr/>
        </p:nvSpPr>
        <p:spPr bwMode="auto">
          <a:xfrm flipH="1" flipV="1">
            <a:off x="2079625" y="3384550"/>
            <a:ext cx="184150" cy="80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 flipH="1">
            <a:off x="2079625" y="3465513"/>
            <a:ext cx="184150" cy="82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4" name="Line 20"/>
          <p:cNvSpPr>
            <a:spLocks noChangeShapeType="1"/>
          </p:cNvSpPr>
          <p:nvPr/>
        </p:nvSpPr>
        <p:spPr bwMode="auto">
          <a:xfrm flipH="1">
            <a:off x="2536825" y="3384550"/>
            <a:ext cx="184150" cy="80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5" name="Line 21"/>
          <p:cNvSpPr>
            <a:spLocks noChangeShapeType="1"/>
          </p:cNvSpPr>
          <p:nvPr/>
        </p:nvSpPr>
        <p:spPr bwMode="auto">
          <a:xfrm flipH="1" flipV="1">
            <a:off x="2536825" y="3465513"/>
            <a:ext cx="184150" cy="82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7846" name="Rectangle 22"/>
          <p:cNvSpPr>
            <a:spLocks noChangeArrowheads="1"/>
          </p:cNvSpPr>
          <p:nvPr/>
        </p:nvSpPr>
        <p:spPr bwMode="auto">
          <a:xfrm>
            <a:off x="2994025" y="3384550"/>
            <a:ext cx="641350" cy="2460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r>
              <a:rPr lang="en-US" altLang="en-US" sz="1200" dirty="0">
                <a:latin typeface="Times New Roman" panose="02020603050405020304" pitchFamily="18" charset="0"/>
              </a:rPr>
              <a:t>T spike</a:t>
            </a:r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77847" name="AutoShape 23"/>
          <p:cNvSpPr>
            <a:spLocks/>
          </p:cNvSpPr>
          <p:nvPr/>
        </p:nvSpPr>
        <p:spPr bwMode="auto">
          <a:xfrm>
            <a:off x="3438525" y="2305050"/>
            <a:ext cx="1981200" cy="590550"/>
          </a:xfrm>
          <a:prstGeom prst="borderCallout2">
            <a:avLst>
              <a:gd name="adj1" fmla="val 19356"/>
              <a:gd name="adj2" fmla="val -3847"/>
              <a:gd name="adj3" fmla="val 19356"/>
              <a:gd name="adj4" fmla="val -26282"/>
              <a:gd name="adj5" fmla="val 44356"/>
              <a:gd name="adj6" fmla="val -495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Spike Peak Power</a:t>
            </a:r>
            <a:endParaRPr lang="en-US" altLang="en-US" sz="1000" dirty="0">
              <a:latin typeface="Times New Roman" panose="02020603050405020304" pitchFamily="18" charset="0"/>
            </a:endParaRPr>
          </a:p>
          <a:p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7848" name="AutoShape 24"/>
          <p:cNvSpPr>
            <a:spLocks/>
          </p:cNvSpPr>
          <p:nvPr/>
        </p:nvSpPr>
        <p:spPr bwMode="auto">
          <a:xfrm>
            <a:off x="5505450" y="3016250"/>
            <a:ext cx="914400" cy="590550"/>
          </a:xfrm>
          <a:prstGeom prst="borderCallout2">
            <a:avLst>
              <a:gd name="adj1" fmla="val 19356"/>
              <a:gd name="adj2" fmla="val -8333"/>
              <a:gd name="adj3" fmla="val 19356"/>
              <a:gd name="adj4" fmla="val -77259"/>
              <a:gd name="adj5" fmla="val 191398"/>
              <a:gd name="adj6" fmla="val -14895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Flat Leakage</a:t>
            </a:r>
          </a:p>
        </p:txBody>
      </p:sp>
      <p:sp>
        <p:nvSpPr>
          <p:cNvPr id="77849" name="AutoShape 25"/>
          <p:cNvSpPr>
            <a:spLocks/>
          </p:cNvSpPr>
          <p:nvPr/>
        </p:nvSpPr>
        <p:spPr bwMode="auto">
          <a:xfrm>
            <a:off x="5467350" y="3943350"/>
            <a:ext cx="1076325" cy="346075"/>
          </a:xfrm>
          <a:prstGeom prst="borderCallout2">
            <a:avLst>
              <a:gd name="adj1" fmla="val 33028"/>
              <a:gd name="adj2" fmla="val -7079"/>
              <a:gd name="adj3" fmla="val 33028"/>
              <a:gd name="adj4" fmla="val -28759"/>
              <a:gd name="adj5" fmla="val 173852"/>
              <a:gd name="adj6" fmla="val -5132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219153732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Limiter Recovery Waveform</a:t>
            </a:r>
            <a:endParaRPr lang="en-US" altLang="en-US" sz="2100" dirty="0"/>
          </a:p>
        </p:txBody>
      </p:sp>
      <p:sp>
        <p:nvSpPr>
          <p:cNvPr id="78851" name="Line 3"/>
          <p:cNvSpPr>
            <a:spLocks noChangeShapeType="1"/>
          </p:cNvSpPr>
          <p:nvPr/>
        </p:nvSpPr>
        <p:spPr bwMode="auto">
          <a:xfrm>
            <a:off x="2016125" y="2127250"/>
            <a:ext cx="0" cy="322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2" name="Line 4"/>
          <p:cNvSpPr>
            <a:spLocks noChangeShapeType="1"/>
          </p:cNvSpPr>
          <p:nvPr/>
        </p:nvSpPr>
        <p:spPr bwMode="auto">
          <a:xfrm>
            <a:off x="2016125" y="5353050"/>
            <a:ext cx="5484813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3" name="Line 5"/>
          <p:cNvSpPr>
            <a:spLocks noChangeShapeType="1"/>
          </p:cNvSpPr>
          <p:nvPr/>
        </p:nvSpPr>
        <p:spPr bwMode="auto">
          <a:xfrm flipH="1" flipV="1">
            <a:off x="7429500" y="5295900"/>
            <a:ext cx="152400" cy="58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4" name="Line 6"/>
          <p:cNvSpPr>
            <a:spLocks noChangeShapeType="1"/>
          </p:cNvSpPr>
          <p:nvPr/>
        </p:nvSpPr>
        <p:spPr bwMode="auto">
          <a:xfrm flipH="1">
            <a:off x="7429500" y="5353050"/>
            <a:ext cx="152400" cy="587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 flipH="1">
            <a:off x="1936750" y="2127250"/>
            <a:ext cx="85725" cy="115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>
            <a:off x="2016125" y="2127250"/>
            <a:ext cx="85725" cy="1158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7" name="Rectangle 9" descr="20%"/>
          <p:cNvSpPr>
            <a:spLocks noChangeArrowheads="1"/>
          </p:cNvSpPr>
          <p:nvPr/>
        </p:nvSpPr>
        <p:spPr bwMode="auto">
          <a:xfrm>
            <a:off x="2647950" y="3049588"/>
            <a:ext cx="1150938" cy="2305050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  <a:ln w="9525">
            <a:solidFill>
              <a:srgbClr val="000000"/>
            </a:solidFill>
            <a:prstDash val="lgDashDot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>
            <a:off x="3778250" y="4538663"/>
            <a:ext cx="3416300" cy="9525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59" name="Arc 11"/>
          <p:cNvSpPr>
            <a:spLocks/>
          </p:cNvSpPr>
          <p:nvPr/>
        </p:nvSpPr>
        <p:spPr bwMode="auto">
          <a:xfrm flipH="1">
            <a:off x="3798888" y="4548188"/>
            <a:ext cx="1824037" cy="8064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82"/>
              <a:gd name="T1" fmla="*/ 0 h 21600"/>
              <a:gd name="T2" fmla="*/ 21582 w 21582"/>
              <a:gd name="T3" fmla="*/ 20711 h 21600"/>
              <a:gd name="T4" fmla="*/ 0 w 21582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82" h="21600" fill="none" extrusionOk="0">
                <a:moveTo>
                  <a:pt x="-1" y="0"/>
                </a:moveTo>
                <a:cubicBezTo>
                  <a:pt x="11583" y="0"/>
                  <a:pt x="21104" y="9137"/>
                  <a:pt x="21581" y="20711"/>
                </a:cubicBezTo>
              </a:path>
              <a:path w="21582" h="21600" stroke="0" extrusionOk="0">
                <a:moveTo>
                  <a:pt x="-1" y="0"/>
                </a:moveTo>
                <a:cubicBezTo>
                  <a:pt x="11583" y="0"/>
                  <a:pt x="21104" y="9137"/>
                  <a:pt x="21581" y="20711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1779588" y="1839913"/>
            <a:ext cx="2106612" cy="23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r>
              <a:rPr lang="en-US" altLang="en-US" sz="1200" dirty="0">
                <a:latin typeface="Times New Roman" panose="02020603050405020304" pitchFamily="18" charset="0"/>
              </a:rPr>
              <a:t>  </a:t>
            </a:r>
            <a:r>
              <a:rPr lang="en-US" altLang="en-US" sz="1600" dirty="0">
                <a:latin typeface="Times New Roman" panose="02020603050405020304" pitchFamily="18" charset="0"/>
              </a:rPr>
              <a:t>Transmitted Power</a:t>
            </a:r>
            <a:r>
              <a:rPr lang="en-US" altLang="en-US" sz="1200" dirty="0">
                <a:latin typeface="Times New Roman" panose="02020603050405020304" pitchFamily="18" charset="0"/>
              </a:rPr>
              <a:t> </a:t>
            </a:r>
            <a:endParaRPr lang="en-US" altLang="en-US" sz="1000" dirty="0">
              <a:latin typeface="Times New Roman" panose="02020603050405020304" pitchFamily="18" charset="0"/>
            </a:endParaRPr>
          </a:p>
        </p:txBody>
      </p:sp>
      <p:sp>
        <p:nvSpPr>
          <p:cNvPr id="78861" name="Rectangle 13"/>
          <p:cNvSpPr>
            <a:spLocks noChangeArrowheads="1"/>
          </p:cNvSpPr>
          <p:nvPr/>
        </p:nvSpPr>
        <p:spPr bwMode="auto">
          <a:xfrm>
            <a:off x="5867400" y="5494338"/>
            <a:ext cx="1200150" cy="29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8100" tIns="38100" rIns="38100" bIns="38100"/>
          <a:lstStyle/>
          <a:p>
            <a:r>
              <a:rPr lang="en-US" altLang="en-US" sz="1200" dirty="0"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</a:rPr>
              <a:t>Time ( </a:t>
            </a:r>
            <a:r>
              <a:rPr lang="en-US" altLang="en-US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en-US" sz="1600" dirty="0">
                <a:latin typeface="Times New Roman" panose="02020603050405020304" pitchFamily="18" charset="0"/>
              </a:rPr>
              <a:t>s )</a:t>
            </a:r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>
            <a:off x="5626100" y="4546600"/>
            <a:ext cx="1441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8863" name="AutoShape 15"/>
          <p:cNvSpPr>
            <a:spLocks/>
          </p:cNvSpPr>
          <p:nvPr/>
        </p:nvSpPr>
        <p:spPr bwMode="auto">
          <a:xfrm>
            <a:off x="4914900" y="4730750"/>
            <a:ext cx="1917700" cy="590550"/>
          </a:xfrm>
          <a:prstGeom prst="borderCallout2">
            <a:avLst>
              <a:gd name="adj1" fmla="val 19356"/>
              <a:gd name="adj2" fmla="val -3972"/>
              <a:gd name="adj3" fmla="val 19356"/>
              <a:gd name="adj4" fmla="val -21190"/>
              <a:gd name="adj5" fmla="val 27958"/>
              <a:gd name="adj6" fmla="val -4039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3 dB point</a:t>
            </a:r>
          </a:p>
          <a:p>
            <a:r>
              <a:rPr lang="en-US" altLang="en-US" sz="1600" dirty="0">
                <a:latin typeface="Times New Roman" panose="02020603050405020304" pitchFamily="18" charset="0"/>
              </a:rPr>
              <a:t>for signal voltage</a:t>
            </a:r>
          </a:p>
        </p:txBody>
      </p:sp>
      <p:sp>
        <p:nvSpPr>
          <p:cNvPr id="78864" name="AutoShape 16"/>
          <p:cNvSpPr>
            <a:spLocks/>
          </p:cNvSpPr>
          <p:nvPr/>
        </p:nvSpPr>
        <p:spPr bwMode="auto">
          <a:xfrm>
            <a:off x="4943475" y="3346450"/>
            <a:ext cx="2800350" cy="590550"/>
          </a:xfrm>
          <a:prstGeom prst="borderCallout2">
            <a:avLst>
              <a:gd name="adj1" fmla="val 19356"/>
              <a:gd name="adj2" fmla="val -2722"/>
              <a:gd name="adj3" fmla="val 19356"/>
              <a:gd name="adj4" fmla="val -16778"/>
              <a:gd name="adj5" fmla="val 204301"/>
              <a:gd name="adj6" fmla="val -3129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100 % Low Power Recovery Ref  Signal</a:t>
            </a:r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78865" name="Line 17"/>
          <p:cNvSpPr>
            <a:spLocks noChangeShapeType="1"/>
          </p:cNvSpPr>
          <p:nvPr/>
        </p:nvSpPr>
        <p:spPr bwMode="auto">
          <a:xfrm flipH="1">
            <a:off x="2009775" y="4538663"/>
            <a:ext cx="628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>
            <a:off x="2647950" y="3048000"/>
            <a:ext cx="95250" cy="2281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8867" name="Line 19"/>
          <p:cNvSpPr>
            <a:spLocks noChangeShapeType="1"/>
          </p:cNvSpPr>
          <p:nvPr/>
        </p:nvSpPr>
        <p:spPr bwMode="auto">
          <a:xfrm>
            <a:off x="2743200" y="5324475"/>
            <a:ext cx="1057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8868" name="Line 20"/>
          <p:cNvSpPr>
            <a:spLocks noChangeShapeType="1"/>
          </p:cNvSpPr>
          <p:nvPr/>
        </p:nvSpPr>
        <p:spPr bwMode="auto">
          <a:xfrm flipH="1" flipV="1">
            <a:off x="2647950" y="3048000"/>
            <a:ext cx="1588" cy="1481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8869" name="AutoShape 21"/>
          <p:cNvSpPr>
            <a:spLocks/>
          </p:cNvSpPr>
          <p:nvPr/>
        </p:nvSpPr>
        <p:spPr bwMode="auto">
          <a:xfrm>
            <a:off x="4953000" y="2257425"/>
            <a:ext cx="2047875" cy="346075"/>
          </a:xfrm>
          <a:prstGeom prst="borderCallout2">
            <a:avLst>
              <a:gd name="adj1" fmla="val 33028"/>
              <a:gd name="adj2" fmla="val -3722"/>
              <a:gd name="adj3" fmla="val 33028"/>
              <a:gd name="adj4" fmla="val -29769"/>
              <a:gd name="adj5" fmla="val 227523"/>
              <a:gd name="adj6" fmla="val -5674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</a:rPr>
              <a:t>RF High Power Pulse</a:t>
            </a:r>
          </a:p>
        </p:txBody>
      </p:sp>
    </p:spTree>
    <p:extLst>
      <p:ext uri="{BB962C8B-B14F-4D97-AF65-F5344CB8AC3E}">
        <p14:creationId xmlns:p14="http://schemas.microsoft.com/office/powerpoint/2010/main" val="399341716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9650" y="1638300"/>
            <a:ext cx="7772400" cy="4114800"/>
          </a:xfrm>
        </p:spPr>
        <p:txBody>
          <a:bodyPr/>
          <a:lstStyle/>
          <a:p>
            <a:r>
              <a:rPr lang="en-US" altLang="en-US" sz="2800" dirty="0"/>
              <a:t>PIN diodes are </a:t>
            </a:r>
            <a:r>
              <a:rPr lang="en-US" altLang="en-US" sz="2800" dirty="0" smtClean="0"/>
              <a:t>low-frequency-current-controlled </a:t>
            </a:r>
            <a:r>
              <a:rPr lang="en-US" altLang="en-US" sz="2800" dirty="0"/>
              <a:t>RF/microwave resistors</a:t>
            </a:r>
          </a:p>
          <a:p>
            <a:endParaRPr lang="en-US" altLang="en-US" sz="2800" dirty="0"/>
          </a:p>
          <a:p>
            <a:r>
              <a:rPr lang="en-US" altLang="en-US" sz="2800" dirty="0"/>
              <a:t>PIN diodes are used in switches, attenuators and power limiters</a:t>
            </a:r>
          </a:p>
          <a:p>
            <a:endParaRPr lang="en-US" altLang="en-US" sz="2800" dirty="0"/>
          </a:p>
          <a:p>
            <a:r>
              <a:rPr lang="en-US" altLang="en-US" sz="2800" dirty="0" smtClean="0"/>
              <a:t>MACOM </a:t>
            </a:r>
            <a:r>
              <a:rPr lang="en-US" altLang="en-US" sz="2800" dirty="0"/>
              <a:t>PIN diodes are made from </a:t>
            </a:r>
            <a:r>
              <a:rPr lang="en-US" altLang="en-US" sz="2800" dirty="0" smtClean="0"/>
              <a:t>Si, GaAs or AlGaAs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297751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188554" y="2307865"/>
            <a:ext cx="7315200" cy="640080"/>
          </a:xfrm>
        </p:spPr>
        <p:txBody>
          <a:bodyPr/>
          <a:lstStyle/>
          <a:p>
            <a:r>
              <a:rPr lang="en-US" sz="4000" dirty="0" smtClean="0"/>
              <a:t>Thank You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60880" y="554379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Appendix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92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23826" y="1253766"/>
            <a:ext cx="7459073" cy="5273134"/>
            <a:chOff x="95292" y="80441"/>
            <a:chExt cx="8947484" cy="6601468"/>
          </a:xfrm>
        </p:grpSpPr>
        <p:sp>
          <p:nvSpPr>
            <p:cNvPr id="2" name="TextBox 1"/>
            <p:cNvSpPr txBox="1"/>
            <p:nvPr/>
          </p:nvSpPr>
          <p:spPr>
            <a:xfrm>
              <a:off x="1193024" y="80441"/>
              <a:ext cx="6741098" cy="320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/>
                <a:t>RF Power and Frequency Performance vs Diode Type</a:t>
              </a:r>
            </a:p>
          </p:txBody>
        </p:sp>
        <p:pic>
          <p:nvPicPr>
            <p:cNvPr id="73" name="Picture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99305">
              <a:off x="1180257" y="3831585"/>
              <a:ext cx="725736" cy="5993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3265832">
              <a:off x="1430840" y="1273102"/>
              <a:ext cx="354203" cy="3418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1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240928" y="2846049"/>
              <a:ext cx="661456" cy="305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1" name="Group 10"/>
            <p:cNvGrpSpPr/>
            <p:nvPr/>
          </p:nvGrpSpPr>
          <p:grpSpPr>
            <a:xfrm>
              <a:off x="1181012" y="4975114"/>
              <a:ext cx="716415" cy="750093"/>
              <a:chOff x="939434" y="5386577"/>
              <a:chExt cx="716415" cy="750093"/>
            </a:xfrm>
          </p:grpSpPr>
          <p:pic>
            <p:nvPicPr>
              <p:cNvPr id="87" name="Picture 21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939434" y="5719945"/>
                <a:ext cx="716415" cy="416725"/>
              </a:xfrm>
              <a:prstGeom prst="rect">
                <a:avLst/>
              </a:prstGeom>
              <a:noFill/>
            </p:spPr>
          </p:pic>
          <p:pic>
            <p:nvPicPr>
              <p:cNvPr id="88" name="Picture 18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 rot="10800000">
                <a:off x="952450" y="5386577"/>
                <a:ext cx="683637" cy="333368"/>
              </a:xfrm>
              <a:prstGeom prst="rect">
                <a:avLst/>
              </a:prstGeom>
              <a:noFill/>
            </p:spPr>
          </p:pic>
        </p:grpSp>
        <p:sp>
          <p:nvSpPr>
            <p:cNvPr id="81" name="Freeform 80"/>
            <p:cNvSpPr/>
            <p:nvPr/>
          </p:nvSpPr>
          <p:spPr>
            <a:xfrm>
              <a:off x="2247807" y="2342872"/>
              <a:ext cx="826517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MELF</a:t>
              </a:r>
              <a:endParaRPr lang="en-US" sz="900" b="1" dirty="0"/>
            </a:p>
          </p:txBody>
        </p:sp>
        <p:pic>
          <p:nvPicPr>
            <p:cNvPr id="85" name="Picture 5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20963865">
              <a:off x="1166102" y="2198587"/>
              <a:ext cx="719951" cy="568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9" name="Picture 78" descr="1082 ceramic.jp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537379">
              <a:off x="1197436" y="666514"/>
              <a:ext cx="883209" cy="527163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 rot="16200000">
              <a:off x="-990503" y="3175093"/>
              <a:ext cx="2458329" cy="286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CW Incident Power (W)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00559" y="5119176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0.1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92673" y="4006124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1.0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44876" y="2868855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24450" y="1834020"/>
              <a:ext cx="653543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100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0559" y="698158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1k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701734" y="183357"/>
              <a:ext cx="368407" cy="6084469"/>
              <a:chOff x="716748" y="277222"/>
              <a:chExt cx="368407" cy="6084469"/>
            </a:xfrm>
          </p:grpSpPr>
          <p:cxnSp>
            <p:nvCxnSpPr>
              <p:cNvPr id="4" name="Straight Arrow Connector 3"/>
              <p:cNvCxnSpPr/>
              <p:nvPr/>
            </p:nvCxnSpPr>
            <p:spPr>
              <a:xfrm flipH="1" flipV="1">
                <a:off x="872521" y="277222"/>
                <a:ext cx="28431" cy="60844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up 20"/>
              <p:cNvGrpSpPr/>
              <p:nvPr/>
            </p:nvGrpSpPr>
            <p:grpSpPr>
              <a:xfrm>
                <a:off x="716748" y="984250"/>
                <a:ext cx="368407" cy="4399041"/>
                <a:chOff x="4163276" y="1029573"/>
                <a:chExt cx="368407" cy="4399041"/>
              </a:xfrm>
            </p:grpSpPr>
            <p:cxnSp>
              <p:nvCxnSpPr>
                <p:cNvPr id="17" name="Straight Connector 16"/>
                <p:cNvCxnSpPr/>
                <p:nvPr/>
              </p:nvCxnSpPr>
              <p:spPr>
                <a:xfrm>
                  <a:off x="4163276" y="5428614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" name="Group 19"/>
                <p:cNvGrpSpPr/>
                <p:nvPr/>
              </p:nvGrpSpPr>
              <p:grpSpPr>
                <a:xfrm>
                  <a:off x="4163276" y="1029573"/>
                  <a:ext cx="364071" cy="1123176"/>
                  <a:chOff x="701144" y="929438"/>
                  <a:chExt cx="364071" cy="1123176"/>
                </a:xfrm>
              </p:grpSpPr>
              <p:cxnSp>
                <p:nvCxnSpPr>
                  <p:cNvPr id="52" name="Straight Connector 51"/>
                  <p:cNvCxnSpPr/>
                  <p:nvPr/>
                </p:nvCxnSpPr>
                <p:spPr>
                  <a:xfrm>
                    <a:off x="701144" y="2052614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/>
                  <p:cNvCxnSpPr/>
                  <p:nvPr/>
                </p:nvCxnSpPr>
                <p:spPr>
                  <a:xfrm>
                    <a:off x="701148" y="929438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3" name="Group 62"/>
                <p:cNvGrpSpPr/>
                <p:nvPr/>
              </p:nvGrpSpPr>
              <p:grpSpPr>
                <a:xfrm>
                  <a:off x="4167612" y="3189528"/>
                  <a:ext cx="364071" cy="1123176"/>
                  <a:chOff x="701144" y="929438"/>
                  <a:chExt cx="364071" cy="1123176"/>
                </a:xfrm>
              </p:grpSpPr>
              <p:cxnSp>
                <p:nvCxnSpPr>
                  <p:cNvPr id="64" name="Straight Connector 63"/>
                  <p:cNvCxnSpPr/>
                  <p:nvPr/>
                </p:nvCxnSpPr>
                <p:spPr>
                  <a:xfrm>
                    <a:off x="701144" y="2052614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/>
                  <p:cNvCxnSpPr/>
                  <p:nvPr/>
                </p:nvCxnSpPr>
                <p:spPr>
                  <a:xfrm>
                    <a:off x="701148" y="929438"/>
                    <a:ext cx="364067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43" name="Straight Arrow Connector 42"/>
            <p:cNvCxnSpPr/>
            <p:nvPr/>
          </p:nvCxnSpPr>
          <p:spPr>
            <a:xfrm flipV="1">
              <a:off x="883767" y="6248911"/>
              <a:ext cx="7235547" cy="199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2228930" y="6392409"/>
              <a:ext cx="701513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0.01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561420" y="6390464"/>
              <a:ext cx="533400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0.1</a:t>
              </a: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2252905" y="1770146"/>
              <a:ext cx="1278169" cy="371171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AlN in 3mm, 4mm DFN</a:t>
              </a:r>
              <a:endParaRPr lang="en-US" sz="900" b="1" dirty="0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2247807" y="1251962"/>
              <a:ext cx="826517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Die</a:t>
              </a:r>
              <a:endParaRPr lang="en-US" sz="900" b="1" dirty="0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2241875" y="770759"/>
              <a:ext cx="1032756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3KV Ceramic</a:t>
              </a:r>
              <a:endParaRPr lang="en-US" sz="900" b="1" dirty="0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2241875" y="2846049"/>
              <a:ext cx="1036689" cy="306706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SURMOUNT</a:t>
              </a:r>
              <a:endParaRPr lang="en-US" sz="900" b="1" dirty="0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2241875" y="3891628"/>
              <a:ext cx="1062399" cy="413408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SOD, SOT, Without AlN</a:t>
              </a:r>
              <a:endParaRPr lang="en-US" sz="900" b="1" dirty="0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2245808" y="4990400"/>
              <a:ext cx="826517" cy="444524"/>
            </a:xfrm>
            <a:custGeom>
              <a:avLst/>
              <a:gdLst>
                <a:gd name="connsiteX0" fmla="*/ 0 w 1196197"/>
                <a:gd name="connsiteY0" fmla="*/ 59810 h 598098"/>
                <a:gd name="connsiteX1" fmla="*/ 17518 w 1196197"/>
                <a:gd name="connsiteY1" fmla="*/ 17518 h 598098"/>
                <a:gd name="connsiteX2" fmla="*/ 59810 w 1196197"/>
                <a:gd name="connsiteY2" fmla="*/ 0 h 598098"/>
                <a:gd name="connsiteX3" fmla="*/ 1136387 w 1196197"/>
                <a:gd name="connsiteY3" fmla="*/ 0 h 598098"/>
                <a:gd name="connsiteX4" fmla="*/ 1178679 w 1196197"/>
                <a:gd name="connsiteY4" fmla="*/ 17518 h 598098"/>
                <a:gd name="connsiteX5" fmla="*/ 1196197 w 1196197"/>
                <a:gd name="connsiteY5" fmla="*/ 59810 h 598098"/>
                <a:gd name="connsiteX6" fmla="*/ 1196197 w 1196197"/>
                <a:gd name="connsiteY6" fmla="*/ 538288 h 598098"/>
                <a:gd name="connsiteX7" fmla="*/ 1178679 w 1196197"/>
                <a:gd name="connsiteY7" fmla="*/ 580580 h 598098"/>
                <a:gd name="connsiteX8" fmla="*/ 1136387 w 1196197"/>
                <a:gd name="connsiteY8" fmla="*/ 598098 h 598098"/>
                <a:gd name="connsiteX9" fmla="*/ 59810 w 1196197"/>
                <a:gd name="connsiteY9" fmla="*/ 598098 h 598098"/>
                <a:gd name="connsiteX10" fmla="*/ 17518 w 1196197"/>
                <a:gd name="connsiteY10" fmla="*/ 580580 h 598098"/>
                <a:gd name="connsiteX11" fmla="*/ 0 w 1196197"/>
                <a:gd name="connsiteY11" fmla="*/ 538288 h 598098"/>
                <a:gd name="connsiteX12" fmla="*/ 0 w 1196197"/>
                <a:gd name="connsiteY12" fmla="*/ 59810 h 5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598098">
                  <a:moveTo>
                    <a:pt x="0" y="59810"/>
                  </a:moveTo>
                  <a:cubicBezTo>
                    <a:pt x="0" y="43947"/>
                    <a:pt x="6301" y="28734"/>
                    <a:pt x="17518" y="17518"/>
                  </a:cubicBezTo>
                  <a:cubicBezTo>
                    <a:pt x="28735" y="6301"/>
                    <a:pt x="43947" y="0"/>
                    <a:pt x="59810" y="0"/>
                  </a:cubicBezTo>
                  <a:lnTo>
                    <a:pt x="1136387" y="0"/>
                  </a:lnTo>
                  <a:cubicBezTo>
                    <a:pt x="1152250" y="0"/>
                    <a:pt x="1167463" y="6301"/>
                    <a:pt x="1178679" y="17518"/>
                  </a:cubicBezTo>
                  <a:cubicBezTo>
                    <a:pt x="1189896" y="28735"/>
                    <a:pt x="1196197" y="43947"/>
                    <a:pt x="1196197" y="59810"/>
                  </a:cubicBezTo>
                  <a:lnTo>
                    <a:pt x="1196197" y="538288"/>
                  </a:lnTo>
                  <a:cubicBezTo>
                    <a:pt x="1196197" y="554151"/>
                    <a:pt x="1189896" y="569364"/>
                    <a:pt x="1178679" y="580580"/>
                  </a:cubicBezTo>
                  <a:cubicBezTo>
                    <a:pt x="1167462" y="591797"/>
                    <a:pt x="1152250" y="598098"/>
                    <a:pt x="1136387" y="598098"/>
                  </a:cubicBezTo>
                  <a:lnTo>
                    <a:pt x="59810" y="598098"/>
                  </a:lnTo>
                  <a:cubicBezTo>
                    <a:pt x="43947" y="598098"/>
                    <a:pt x="28734" y="591797"/>
                    <a:pt x="17518" y="580580"/>
                  </a:cubicBezTo>
                  <a:cubicBezTo>
                    <a:pt x="6301" y="569363"/>
                    <a:pt x="0" y="554151"/>
                    <a:pt x="0" y="538288"/>
                  </a:cubicBezTo>
                  <a:lnTo>
                    <a:pt x="0" y="59810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678" tIns="27678" rIns="27678" bIns="27678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b="1" dirty="0" smtClean="0"/>
                <a:t>Flip Chip, BL</a:t>
              </a:r>
              <a:endParaRPr lang="en-US" sz="900" b="1" dirty="0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2480298" y="6072425"/>
              <a:ext cx="5325860" cy="364068"/>
              <a:chOff x="3625305" y="3329749"/>
              <a:chExt cx="5325860" cy="364068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3625305" y="3329749"/>
                <a:ext cx="1304927" cy="364067"/>
                <a:chOff x="4076184" y="3134259"/>
                <a:chExt cx="1304927" cy="364067"/>
              </a:xfrm>
            </p:grpSpPr>
            <p:cxnSp>
              <p:nvCxnSpPr>
                <p:cNvPr id="67" name="Straight Connector 66"/>
                <p:cNvCxnSpPr/>
                <p:nvPr/>
              </p:nvCxnSpPr>
              <p:spPr>
                <a:xfrm rot="5400000">
                  <a:off x="3894150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rot="5400000">
                  <a:off x="5199077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2" name="Straight Connector 71"/>
              <p:cNvCxnSpPr/>
              <p:nvPr/>
            </p:nvCxnSpPr>
            <p:spPr>
              <a:xfrm rot="5400000">
                <a:off x="8769131" y="3511784"/>
                <a:ext cx="36406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2" name="Group 121"/>
              <p:cNvGrpSpPr/>
              <p:nvPr/>
            </p:nvGrpSpPr>
            <p:grpSpPr>
              <a:xfrm>
                <a:off x="6277425" y="3329750"/>
                <a:ext cx="1304927" cy="364067"/>
                <a:chOff x="4076184" y="3134259"/>
                <a:chExt cx="1304927" cy="364067"/>
              </a:xfrm>
            </p:grpSpPr>
            <p:cxnSp>
              <p:nvCxnSpPr>
                <p:cNvPr id="123" name="Straight Connector 122"/>
                <p:cNvCxnSpPr/>
                <p:nvPr/>
              </p:nvCxnSpPr>
              <p:spPr>
                <a:xfrm rot="5400000">
                  <a:off x="3894150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rot="5400000">
                  <a:off x="5199077" y="3316293"/>
                  <a:ext cx="364067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5" name="Group 34"/>
            <p:cNvGrpSpPr/>
            <p:nvPr/>
          </p:nvGrpSpPr>
          <p:grpSpPr>
            <a:xfrm>
              <a:off x="4910099" y="6061863"/>
              <a:ext cx="4132677" cy="618101"/>
              <a:chOff x="4930232" y="6124303"/>
              <a:chExt cx="4132677" cy="618101"/>
            </a:xfrm>
          </p:grpSpPr>
          <p:sp>
            <p:nvSpPr>
              <p:cNvPr id="104" name="TextBox 103"/>
              <p:cNvSpPr txBox="1"/>
              <p:nvPr/>
            </p:nvSpPr>
            <p:spPr>
              <a:xfrm>
                <a:off x="4930232" y="6434368"/>
                <a:ext cx="533400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1.0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6234530" y="6430518"/>
                <a:ext cx="533400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10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7580893" y="6452904"/>
                <a:ext cx="533400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100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8138255" y="6124303"/>
                <a:ext cx="924654" cy="28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smtClean="0"/>
                  <a:t>F (GHz)</a:t>
                </a:r>
              </a:p>
            </p:txBody>
          </p:sp>
        </p:grpSp>
        <p:cxnSp>
          <p:nvCxnSpPr>
            <p:cNvPr id="5" name="Straight Connector 4"/>
            <p:cNvCxnSpPr/>
            <p:nvPr/>
          </p:nvCxnSpPr>
          <p:spPr>
            <a:xfrm>
              <a:off x="958221" y="1173643"/>
              <a:ext cx="142639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976151" y="1687485"/>
              <a:ext cx="587288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V="1">
              <a:off x="985111" y="2204504"/>
              <a:ext cx="5739961" cy="20866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985116" y="2739228"/>
              <a:ext cx="439783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V="1">
              <a:off x="1006552" y="3307976"/>
              <a:ext cx="5932130" cy="4993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006552" y="4465368"/>
              <a:ext cx="4397831" cy="0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986666" y="5798141"/>
              <a:ext cx="6418181" cy="31039"/>
            </a:xfrm>
            <a:prstGeom prst="line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3292006" y="2853426"/>
              <a:ext cx="3135686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/>
                <a:t>Best Choice for SMT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106220" y="1266687"/>
              <a:ext cx="4047611" cy="289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/>
                <a:t>Best Choice for Wire Bonding </a:t>
              </a:r>
            </a:p>
          </p:txBody>
        </p:sp>
        <p:pic>
          <p:nvPicPr>
            <p:cNvPr id="8194" name="Picture 4" descr="http://cdn.macom.com/product_images/Product%20Image%20-%20MASW-011055.jp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7142" y="1770146"/>
              <a:ext cx="654991" cy="401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944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4"/>
          <p:cNvSpPr txBox="1">
            <a:spLocks noChangeArrowheads="1"/>
          </p:cNvSpPr>
          <p:nvPr/>
        </p:nvSpPr>
        <p:spPr bwMode="auto">
          <a:xfrm>
            <a:off x="273047" y="166023"/>
            <a:ext cx="6178535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 smtClean="0"/>
              <a:t>Si PIN </a:t>
            </a:r>
            <a:r>
              <a:rPr lang="en-US" sz="2400" b="1" dirty="0"/>
              <a:t>DIODE SWITCH </a:t>
            </a:r>
            <a:r>
              <a:rPr lang="en-US" sz="2400" b="1" dirty="0" smtClean="0"/>
              <a:t>ELEMENT</a:t>
            </a:r>
          </a:p>
          <a:p>
            <a:endParaRPr lang="en-US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43" y="2705192"/>
            <a:ext cx="1767933" cy="11606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421" y="2778966"/>
            <a:ext cx="1575407" cy="10667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017" y="4206952"/>
            <a:ext cx="1205906" cy="22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2544" y="4216956"/>
            <a:ext cx="1205906" cy="762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291" y="2551251"/>
            <a:ext cx="2117917" cy="1314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2017" y="5389532"/>
            <a:ext cx="124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Series PIN Diode Element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202" y="5419991"/>
            <a:ext cx="124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Shunt PIN Diode Element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3245" y="5389531"/>
            <a:ext cx="1908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Series PIN Diode, Thermal-to-Ground Element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041" y="2551251"/>
            <a:ext cx="2117917" cy="13145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61696" y="5419991"/>
            <a:ext cx="1436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Series-Shunt PIN Diode Element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1466" y="4150866"/>
            <a:ext cx="1243988" cy="990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6499" y="4216956"/>
            <a:ext cx="1015500" cy="965200"/>
          </a:xfrm>
          <a:prstGeom prst="rect">
            <a:avLst/>
          </a:prstGeom>
        </p:spPr>
      </p:pic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273047" y="1324027"/>
            <a:ext cx="6178535" cy="145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Series, Shunt or Series-Shunt PIN Diodes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SMT Plastic Package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Medium Power Handling</a:t>
            </a:r>
          </a:p>
        </p:txBody>
      </p:sp>
    </p:spTree>
    <p:extLst>
      <p:ext uri="{BB962C8B-B14F-4D97-AF65-F5344CB8AC3E}">
        <p14:creationId xmlns:p14="http://schemas.microsoft.com/office/powerpoint/2010/main" val="113265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3" name="Rectangle 4"/>
          <p:cNvSpPr>
            <a:spLocks noChangeArrowheads="1"/>
          </p:cNvSpPr>
          <p:nvPr/>
        </p:nvSpPr>
        <p:spPr bwMode="auto">
          <a:xfrm>
            <a:off x="136480" y="1185194"/>
            <a:ext cx="4148183" cy="500968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marL="231775" indent="-231775" algn="l">
              <a:lnSpc>
                <a:spcPct val="120000"/>
              </a:lnSpc>
            </a:pPr>
            <a:r>
              <a:rPr lang="en-US" altLang="ko-KR" sz="2000" b="1" dirty="0" smtClean="0">
                <a:ea typeface="굴림" pitchFamily="34" charset="-127"/>
              </a:rPr>
              <a:t>Features</a:t>
            </a:r>
            <a:endParaRPr lang="en-US" altLang="ko-KR" sz="2000" b="1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High Voltage Handling:</a:t>
            </a:r>
          </a:p>
          <a:p>
            <a:pPr marL="517525" lvl="1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   Up to </a:t>
            </a:r>
            <a:r>
              <a:rPr lang="en-US" altLang="ko-KR" dirty="0" smtClean="0">
                <a:ea typeface="굴림" pitchFamily="34" charset="-127"/>
              </a:rPr>
              <a:t>2000 V, 3000 V</a:t>
            </a:r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Power Handling: </a:t>
            </a:r>
            <a:r>
              <a:rPr lang="en-US" altLang="ko-KR" dirty="0" smtClean="0">
                <a:ea typeface="굴림" pitchFamily="34" charset="-127"/>
              </a:rPr>
              <a:t>1 kW</a:t>
            </a:r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>
                <a:ea typeface="굴림" pitchFamily="34" charset="-127"/>
              </a:rPr>
              <a:t>Operate from </a:t>
            </a:r>
            <a:r>
              <a:rPr lang="en-US" altLang="ko-KR" dirty="0" smtClean="0">
                <a:ea typeface="굴림" pitchFamily="34" charset="-127"/>
              </a:rPr>
              <a:t>LF </a:t>
            </a:r>
            <a:r>
              <a:rPr lang="en-US" altLang="ko-KR" dirty="0">
                <a:ea typeface="굴림" pitchFamily="34" charset="-127"/>
              </a:rPr>
              <a:t>to 500 MHz</a:t>
            </a:r>
          </a:p>
          <a:p>
            <a:pPr marL="231775" indent="-231775" algn="l">
              <a:buFontTx/>
              <a:buChar char="•"/>
            </a:pPr>
            <a:r>
              <a:rPr lang="en-US" altLang="ko-KR" dirty="0" smtClean="0">
                <a:ea typeface="굴림" pitchFamily="34" charset="-127"/>
              </a:rPr>
              <a:t>Long Carrier Lifetime: 30 µs, </a:t>
            </a:r>
            <a:r>
              <a:rPr lang="en-US" altLang="ko-KR" dirty="0"/>
              <a:t>65 </a:t>
            </a:r>
            <a:r>
              <a:rPr lang="en-US" altLang="ko-KR" dirty="0" smtClean="0"/>
              <a:t>µs</a:t>
            </a:r>
            <a:endParaRPr lang="en-US" altLang="ko-KR" dirty="0" smtClean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r>
              <a:rPr lang="en-US" altLang="ko-KR" dirty="0" smtClean="0">
                <a:ea typeface="굴림" pitchFamily="34" charset="-127"/>
              </a:rPr>
              <a:t>Very Low Thermal Resistance: </a:t>
            </a:r>
          </a:p>
          <a:p>
            <a:pPr algn="l"/>
            <a:r>
              <a:rPr lang="en-US" altLang="ko-KR" dirty="0" smtClean="0">
                <a:ea typeface="굴림" pitchFamily="34" charset="-127"/>
              </a:rPr>
              <a:t>    3 </a:t>
            </a:r>
            <a:r>
              <a:rPr lang="en-US" altLang="ko-KR" dirty="0" smtClean="0">
                <a:ea typeface="굴림" pitchFamily="34" charset="-127"/>
                <a:sym typeface="Symbol" panose="05050102010706020507" pitchFamily="18" charset="2"/>
              </a:rPr>
              <a:t>C/W, </a:t>
            </a:r>
            <a:r>
              <a:rPr lang="en-US" altLang="ko-KR" dirty="0" smtClean="0"/>
              <a:t>4 </a:t>
            </a:r>
            <a:r>
              <a:rPr lang="en-US" altLang="ko-KR" dirty="0">
                <a:sym typeface="Symbol" panose="05050102010706020507" pitchFamily="18" charset="2"/>
              </a:rPr>
              <a:t></a:t>
            </a:r>
            <a:r>
              <a:rPr lang="en-US" altLang="ko-KR" dirty="0" smtClean="0">
                <a:sym typeface="Symbol" panose="05050102010706020507" pitchFamily="18" charset="2"/>
              </a:rPr>
              <a:t>C/W</a:t>
            </a:r>
          </a:p>
          <a:p>
            <a:pPr marL="231775" indent="-231775" algn="l">
              <a:buFontTx/>
              <a:buChar char="•"/>
            </a:pPr>
            <a:r>
              <a:rPr lang="en-US" altLang="ko-KR" dirty="0" smtClean="0">
                <a:ea typeface="굴림" pitchFamily="34" charset="-127"/>
                <a:sym typeface="Symbol" panose="05050102010706020507" pitchFamily="18" charset="2"/>
              </a:rPr>
              <a:t>Very Low Resistance: 0.1 </a:t>
            </a:r>
            <a:r>
              <a:rPr lang="el-GR" altLang="ko-KR" dirty="0" smtClean="0">
                <a:ea typeface="굴림" pitchFamily="34" charset="-127"/>
                <a:sym typeface="Symbol" panose="05050102010706020507" pitchFamily="18" charset="2"/>
              </a:rPr>
              <a:t>Ω</a:t>
            </a:r>
            <a:r>
              <a:rPr lang="en-US" altLang="ko-KR" dirty="0" smtClean="0">
                <a:ea typeface="굴림" pitchFamily="34" charset="-127"/>
                <a:sym typeface="Symbol" panose="05050102010706020507" pitchFamily="18" charset="2"/>
              </a:rPr>
              <a:t>, 0.15 </a:t>
            </a:r>
            <a:r>
              <a:rPr lang="el-GR" altLang="ko-KR" dirty="0">
                <a:sym typeface="Symbol" panose="05050102010706020507" pitchFamily="18" charset="2"/>
              </a:rPr>
              <a:t>Ω</a:t>
            </a:r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endParaRPr lang="en-US" altLang="ko-KR" sz="1600" dirty="0">
              <a:ea typeface="굴림" pitchFamily="34" charset="-127"/>
            </a:endParaRPr>
          </a:p>
          <a:p>
            <a:pPr marL="231775" indent="-231775" algn="l"/>
            <a:r>
              <a:rPr lang="en-US" altLang="ko-KR" sz="2000" b="1" dirty="0">
                <a:ea typeface="굴림" pitchFamily="34" charset="-127"/>
              </a:rPr>
              <a:t>Applications</a:t>
            </a:r>
          </a:p>
          <a:p>
            <a:pPr marL="231775" indent="-231775" algn="l">
              <a:buFontTx/>
              <a:buChar char="•"/>
            </a:pPr>
            <a:r>
              <a:rPr lang="en-US" altLang="ko-KR" sz="1600" dirty="0">
                <a:ea typeface="굴림" pitchFamily="34" charset="-127"/>
              </a:rPr>
              <a:t>High Power and High </a:t>
            </a:r>
            <a:r>
              <a:rPr lang="en-US" altLang="ko-KR" sz="1600" dirty="0" smtClean="0">
                <a:ea typeface="굴림" pitchFamily="34" charset="-127"/>
              </a:rPr>
              <a:t>Voltage Switching</a:t>
            </a:r>
          </a:p>
          <a:p>
            <a:pPr marL="231775" indent="-231775" algn="l">
              <a:buFontTx/>
              <a:buChar char="•"/>
            </a:pPr>
            <a:r>
              <a:rPr lang="en-US" altLang="ko-KR" sz="1600" dirty="0" smtClean="0">
                <a:ea typeface="굴림" pitchFamily="34" charset="-127"/>
              </a:rPr>
              <a:t>Plasma Etching Systems</a:t>
            </a:r>
          </a:p>
          <a:p>
            <a:pPr marL="231775" indent="-231775" algn="l">
              <a:buFontTx/>
              <a:buChar char="•"/>
            </a:pPr>
            <a:r>
              <a:rPr lang="en-US" altLang="ko-KR" sz="1600" dirty="0" smtClean="0">
                <a:ea typeface="굴림" pitchFamily="34" charset="-127"/>
              </a:rPr>
              <a:t>HF Radio Antenna Tuners</a:t>
            </a:r>
          </a:p>
          <a:p>
            <a:pPr marL="231775" indent="-231775" algn="l">
              <a:buFontTx/>
              <a:buChar char="•"/>
            </a:pPr>
            <a:endParaRPr lang="en-US" altLang="ko-KR" sz="1600" dirty="0">
              <a:ea typeface="굴림" pitchFamily="34" charset="-127"/>
            </a:endParaRPr>
          </a:p>
          <a:p>
            <a:pPr marL="231775" indent="-231775" algn="l"/>
            <a:endParaRPr lang="en-US" altLang="ko-KR" dirty="0">
              <a:ea typeface="굴림" pitchFamily="34" charset="-127"/>
            </a:endParaRPr>
          </a:p>
          <a:p>
            <a:pPr marL="231775" indent="-231775" algn="l">
              <a:buFontTx/>
              <a:buChar char="•"/>
            </a:pPr>
            <a:endParaRPr lang="en-US" altLang="ko-KR" dirty="0">
              <a:ea typeface="굴림" pitchFamily="34" charset="-127"/>
            </a:endParaRPr>
          </a:p>
          <a:p>
            <a:pPr marL="231775" indent="-231775" algn="l"/>
            <a:endParaRPr lang="en-US" altLang="ko-KR" sz="1600" dirty="0">
              <a:ea typeface="굴림" pitchFamily="34" charset="-127"/>
            </a:endParaRPr>
          </a:p>
        </p:txBody>
      </p:sp>
      <p:pic>
        <p:nvPicPr>
          <p:cNvPr id="7578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238" y="1632701"/>
            <a:ext cx="928688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7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-2249716">
            <a:off x="5868826" y="1610476"/>
            <a:ext cx="1273175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8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05176" y="1629526"/>
            <a:ext cx="1046162" cy="98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5789" name="Rectangle 13"/>
          <p:cNvSpPr>
            <a:spLocks noGrp="1"/>
          </p:cNvSpPr>
          <p:nvPr>
            <p:ph type="title" idx="4294967295"/>
          </p:nvPr>
        </p:nvSpPr>
        <p:spPr>
          <a:xfrm>
            <a:off x="136480" y="126120"/>
            <a:ext cx="6540500" cy="547687"/>
          </a:xfrm>
        </p:spPr>
        <p:txBody>
          <a:bodyPr/>
          <a:lstStyle/>
          <a:p>
            <a:r>
              <a:rPr lang="en-US" dirty="0" smtClean="0"/>
              <a:t>Discrete Kilovolt </a:t>
            </a:r>
            <a:r>
              <a:rPr lang="en-US" dirty="0"/>
              <a:t>PIN Diodes</a:t>
            </a:r>
          </a:p>
        </p:txBody>
      </p:sp>
      <p:sp>
        <p:nvSpPr>
          <p:cNvPr id="75790" name="Oval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622" y="2875199"/>
            <a:ext cx="3631171" cy="338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6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9184" y="109891"/>
            <a:ext cx="6543675" cy="552450"/>
          </a:xfrm>
        </p:spPr>
        <p:txBody>
          <a:bodyPr lIns="91440" tIns="45720" rIns="91440" bIns="45720" anchor="b">
            <a:normAutofit fontScale="90000"/>
          </a:bodyPr>
          <a:lstStyle/>
          <a:p>
            <a:pPr eaLnBrk="1" hangingPunct="1"/>
            <a:r>
              <a:rPr lang="en-US" dirty="0" smtClean="0"/>
              <a:t>Discrete High </a:t>
            </a:r>
            <a:r>
              <a:rPr lang="en-US" dirty="0"/>
              <a:t>Power MELF PIN Diodes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4803775" y="6073808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ea typeface="굴림" pitchFamily="34" charset="-127"/>
              </a:rPr>
              <a:t>Available in Tape &amp; Reel</a:t>
            </a:r>
            <a:endParaRPr lang="en-US" b="1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67598" name="Oval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231008" y="1557196"/>
            <a:ext cx="4825085" cy="499986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lang="en-US" altLang="ko-KR" b="1" dirty="0" smtClean="0">
                <a:ea typeface="굴림" pitchFamily="34" charset="-127"/>
              </a:rPr>
              <a:t>Features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 smtClean="0">
                <a:ea typeface="굴림" pitchFamily="34" charset="-127"/>
              </a:rPr>
              <a:t>High </a:t>
            </a:r>
            <a:r>
              <a:rPr lang="en-US" altLang="ko-KR" dirty="0">
                <a:ea typeface="굴림" pitchFamily="34" charset="-127"/>
              </a:rPr>
              <a:t>Voltage Handling: Up to </a:t>
            </a:r>
            <a:r>
              <a:rPr lang="en-US" altLang="ko-KR" dirty="0" smtClean="0">
                <a:ea typeface="굴림" pitchFamily="34" charset="-127"/>
              </a:rPr>
              <a:t>1100 V</a:t>
            </a:r>
            <a:endParaRPr lang="en-US" altLang="ko-KR" dirty="0">
              <a:ea typeface="굴림" pitchFamily="34" charset="-127"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 smtClean="0">
                <a:ea typeface="굴림" pitchFamily="34" charset="-127"/>
              </a:rPr>
              <a:t>200+ W </a:t>
            </a:r>
            <a:r>
              <a:rPr lang="en-US" altLang="ko-KR" dirty="0">
                <a:ea typeface="굴림" pitchFamily="34" charset="-127"/>
              </a:rPr>
              <a:t>Power Handling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 smtClean="0">
                <a:ea typeface="굴림" pitchFamily="34" charset="-127"/>
              </a:rPr>
              <a:t>Operate/Tunable </a:t>
            </a:r>
            <a:r>
              <a:rPr lang="en-US" altLang="ko-KR" dirty="0">
                <a:ea typeface="굴림" pitchFamily="34" charset="-127"/>
              </a:rPr>
              <a:t>from </a:t>
            </a:r>
            <a:r>
              <a:rPr lang="en-US" altLang="ko-KR" dirty="0" smtClean="0">
                <a:ea typeface="굴림" pitchFamily="34" charset="-127"/>
              </a:rPr>
              <a:t>LF </a:t>
            </a:r>
            <a:r>
              <a:rPr lang="en-US" altLang="ko-KR" dirty="0">
                <a:ea typeface="굴림" pitchFamily="34" charset="-127"/>
              </a:rPr>
              <a:t>to 2.5 GHz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Surface Mountable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Non-Magnetic Versions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Superior Heat Management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Low Series Resistance</a:t>
            </a:r>
          </a:p>
          <a:p>
            <a:pPr marL="457200" indent="-457200" algn="l"/>
            <a:endParaRPr lang="en-US" altLang="ko-KR" sz="1100" dirty="0">
              <a:ea typeface="굴림" pitchFamily="34" charset="-127"/>
            </a:endParaRPr>
          </a:p>
          <a:p>
            <a:pPr marL="457200" indent="-457200" algn="l"/>
            <a:r>
              <a:rPr lang="en-US" altLang="ko-KR" b="1" dirty="0">
                <a:ea typeface="굴림" pitchFamily="34" charset="-127"/>
              </a:rPr>
              <a:t>Applications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High Power Switches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Attenuators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dirty="0">
                <a:ea typeface="굴림" pitchFamily="34" charset="-127"/>
              </a:rPr>
              <a:t>Magnetic Resonance Imaging (MRI</a:t>
            </a:r>
            <a:r>
              <a:rPr lang="en-US" altLang="ko-KR" dirty="0" smtClean="0">
                <a:ea typeface="굴림" pitchFamily="34" charset="-127"/>
              </a:rPr>
              <a:t>) Receiver Protection</a:t>
            </a:r>
            <a:endParaRPr lang="en-US" altLang="ko-KR" dirty="0">
              <a:ea typeface="굴림" pitchFamily="34" charset="-127"/>
            </a:endParaRPr>
          </a:p>
          <a:p>
            <a:pPr marL="457200" indent="-457200" algn="l">
              <a:buFontTx/>
              <a:buChar char="•"/>
            </a:pPr>
            <a:endParaRPr lang="en-US" altLang="ko-KR" sz="1600" dirty="0">
              <a:latin typeface="Times New Roman" pitchFamily="18" charset="0"/>
              <a:ea typeface="굴림" pitchFamily="34" charset="-127"/>
            </a:endParaRPr>
          </a:p>
          <a:p>
            <a:pPr marL="457200" indent="-457200" algn="l">
              <a:buFontTx/>
              <a:buChar char="•"/>
            </a:pPr>
            <a:endParaRPr lang="en-US" altLang="ko-KR" dirty="0">
              <a:ea typeface="굴림" pitchFamily="34" charset="-127"/>
            </a:endParaRPr>
          </a:p>
        </p:txBody>
      </p:sp>
      <p:pic>
        <p:nvPicPr>
          <p:cNvPr id="67599" name="Picture 15" descr="MELFondime2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6447" y="2195428"/>
            <a:ext cx="2247302" cy="2048645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188549" y="4521395"/>
            <a:ext cx="3283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#1 Supplier of MELF PIN Diodes</a:t>
            </a:r>
          </a:p>
        </p:txBody>
      </p:sp>
    </p:spTree>
    <p:extLst>
      <p:ext uri="{BB962C8B-B14F-4D97-AF65-F5344CB8AC3E}">
        <p14:creationId xmlns:p14="http://schemas.microsoft.com/office/powerpoint/2010/main" val="376459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4"/>
          <p:cNvSpPr txBox="1">
            <a:spLocks noChangeArrowheads="1"/>
          </p:cNvSpPr>
          <p:nvPr/>
        </p:nvSpPr>
        <p:spPr bwMode="auto">
          <a:xfrm>
            <a:off x="247735" y="242331"/>
            <a:ext cx="6872188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2400" b="1" dirty="0" smtClean="0"/>
              <a:t>Discrete Limiter Products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5235" y="1066800"/>
            <a:ext cx="1559945" cy="2933760"/>
          </a:xfrm>
          <a:prstGeom prst="rect">
            <a:avLst/>
          </a:prstGeom>
          <a:noFill/>
          <a:ln w="9525">
            <a:solidFill>
              <a:schemeClr val="tx1">
                <a:lumMod val="50000"/>
              </a:schemeClr>
            </a:solidFill>
            <a:miter lim="800000"/>
            <a:headEnd/>
            <a:tailEnd/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631270" y="5116118"/>
            <a:ext cx="1205906" cy="228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1717" y="4601451"/>
            <a:ext cx="1290918" cy="122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115" y="4601451"/>
            <a:ext cx="1639450" cy="12376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9610" y="5865994"/>
            <a:ext cx="1908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Schottky-Limiter-PIN Shunt Antiparallel 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2957" y="5865993"/>
            <a:ext cx="1908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Shunt Limiter PIN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9048" y="5865993"/>
            <a:ext cx="1250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Limiter PIN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6346" y="1431488"/>
            <a:ext cx="605445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2000" dirty="0"/>
              <a:t>Broadband Performance to 12 </a:t>
            </a:r>
            <a:r>
              <a:rPr lang="en-US" sz="2000" dirty="0" smtClean="0"/>
              <a:t>GHz and Higher</a:t>
            </a:r>
            <a:endParaRPr lang="en-US" sz="2000" dirty="0"/>
          </a:p>
          <a:p>
            <a:pPr algn="l">
              <a:buFont typeface="Arial" pitchFamily="34" charset="0"/>
              <a:buChar char="•"/>
            </a:pPr>
            <a:r>
              <a:rPr lang="en-US" sz="2000" dirty="0" smtClean="0"/>
              <a:t>Several </a:t>
            </a:r>
            <a:r>
              <a:rPr lang="en-US" sz="2000" dirty="0"/>
              <a:t>Packages </a:t>
            </a:r>
            <a:r>
              <a:rPr lang="en-US" sz="2000" dirty="0" smtClean="0"/>
              <a:t>Available Including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Low Inductance Shunt </a:t>
            </a:r>
            <a:r>
              <a:rPr lang="en-US" sz="2000" dirty="0" smtClean="0"/>
              <a:t>Configuration </a:t>
            </a:r>
            <a:r>
              <a:rPr lang="en-US" sz="2000" dirty="0"/>
              <a:t>Plastic 1.5 X 1.2 mm </a:t>
            </a:r>
            <a:r>
              <a:rPr lang="en-US" sz="2000" dirty="0" smtClean="0"/>
              <a:t>DFN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Ceramic</a:t>
            </a:r>
          </a:p>
          <a:p>
            <a:pPr lvl="1" algn="l">
              <a:buFont typeface="Arial" pitchFamily="34" charset="0"/>
              <a:buChar char="•"/>
            </a:pPr>
            <a:r>
              <a:rPr lang="en-US" sz="2000" dirty="0" smtClean="0"/>
              <a:t>Chips</a:t>
            </a:r>
            <a:endParaRPr lang="en-US" sz="2000" dirty="0"/>
          </a:p>
          <a:p>
            <a:pPr algn="l">
              <a:buFont typeface="Arial" pitchFamily="34" charset="0"/>
              <a:buChar char="•"/>
            </a:pPr>
            <a:r>
              <a:rPr lang="en-US" sz="2000" dirty="0"/>
              <a:t> Cascadable</a:t>
            </a:r>
          </a:p>
          <a:p>
            <a:pPr algn="l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907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PIN Switches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Modules</a:t>
            </a:r>
            <a:br>
              <a:rPr lang="en-US" dirty="0"/>
            </a:br>
            <a:r>
              <a:rPr lang="en-US" dirty="0"/>
              <a:t>Single-Chip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8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22831" y="276324"/>
            <a:ext cx="6933062" cy="547687"/>
          </a:xfrm>
        </p:spPr>
        <p:txBody>
          <a:bodyPr>
            <a:noAutofit/>
          </a:bodyPr>
          <a:lstStyle/>
          <a:p>
            <a:r>
              <a:rPr lang="en-US" dirty="0"/>
              <a:t>AlGaAs </a:t>
            </a:r>
            <a:r>
              <a:rPr lang="en-US" dirty="0" smtClean="0"/>
              <a:t>PIN Diode Switches </a:t>
            </a:r>
            <a:endParaRPr lang="en-US" dirty="0"/>
          </a:p>
        </p:txBody>
      </p:sp>
      <p:sp>
        <p:nvSpPr>
          <p:cNvPr id="17486" name="Rectangle 78"/>
          <p:cNvSpPr>
            <a:spLocks noChangeArrowheads="1"/>
          </p:cNvSpPr>
          <p:nvPr/>
        </p:nvSpPr>
        <p:spPr bwMode="auto">
          <a:xfrm>
            <a:off x="1371600" y="387350"/>
            <a:ext cx="55689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defTabSz="912813" eaLnBrk="0" hangingPunct="0"/>
            <a:endParaRPr lang="en-US" sz="2400" b="1" i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7487" name="Picture 79" descr="HeteroSP5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1500514">
            <a:off x="6756400" y="3019891"/>
            <a:ext cx="1887538" cy="1525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88" name="Text Box 80"/>
          <p:cNvSpPr txBox="1">
            <a:spLocks noChangeArrowheads="1"/>
          </p:cNvSpPr>
          <p:nvPr/>
        </p:nvSpPr>
        <p:spPr bwMode="auto">
          <a:xfrm>
            <a:off x="7796213" y="4736722"/>
            <a:ext cx="825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SP5T</a:t>
            </a:r>
          </a:p>
        </p:txBody>
      </p:sp>
      <p:sp>
        <p:nvSpPr>
          <p:cNvPr id="17489" name="Rectangle 81"/>
          <p:cNvSpPr>
            <a:spLocks noChangeArrowheads="1"/>
          </p:cNvSpPr>
          <p:nvPr/>
        </p:nvSpPr>
        <p:spPr bwMode="auto">
          <a:xfrm>
            <a:off x="375958" y="1287086"/>
            <a:ext cx="4566304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45720"/>
          <a:lstStyle/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Arial" charset="0"/>
              <a:buNone/>
            </a:pPr>
            <a:r>
              <a:rPr lang="en-US" sz="2400" b="1" i="1" dirty="0"/>
              <a:t>Product Offering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000" dirty="0" smtClean="0"/>
              <a:t>SPST </a:t>
            </a:r>
            <a:r>
              <a:rPr lang="en-US" sz="2000" dirty="0"/>
              <a:t>to </a:t>
            </a:r>
            <a:r>
              <a:rPr lang="en-US" sz="2000" dirty="0" smtClean="0"/>
              <a:t>SP8T</a:t>
            </a:r>
            <a:endParaRPr lang="en-US" sz="2000" dirty="0"/>
          </a:p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</a:pPr>
            <a:r>
              <a:rPr lang="en-US" sz="2400" b="1" i="1" dirty="0" smtClean="0"/>
              <a:t>Features</a:t>
            </a:r>
            <a:endParaRPr lang="en-US" sz="2400" b="1" i="1" dirty="0"/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/>
              <a:t>Operating Frequency = 50 MHz - 70 GHz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Maximum </a:t>
            </a:r>
            <a:r>
              <a:rPr lang="en-US" dirty="0"/>
              <a:t>RF </a:t>
            </a:r>
            <a:r>
              <a:rPr lang="en-US" dirty="0" smtClean="0"/>
              <a:t>Average </a:t>
            </a:r>
            <a:r>
              <a:rPr lang="en-US" dirty="0"/>
              <a:t>Incident Power = 0.25 W </a:t>
            </a:r>
            <a:r>
              <a:rPr lang="en-US" dirty="0" smtClean="0"/>
              <a:t>CW</a:t>
            </a:r>
            <a:endParaRPr lang="en-US" dirty="0"/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/>
              <a:t>AlGaAs ~ 0.3 dB Lower IL (20 GHz) vs. GaAs &amp; Si Switches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Very Low Insertion Loss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Excellent Isolation</a:t>
            </a:r>
          </a:p>
          <a:p>
            <a:pPr marL="533400" lvl="1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Char char="§"/>
            </a:pPr>
            <a:r>
              <a:rPr lang="en-US" dirty="0" smtClean="0"/>
              <a:t>Low Switching Time</a:t>
            </a:r>
            <a:endParaRPr lang="en-US" dirty="0"/>
          </a:p>
          <a:p>
            <a:pPr marL="304800" indent="-304800" algn="l" defTabSz="912813" eaLnBrk="0" hangingPunct="0">
              <a:lnSpc>
                <a:spcPct val="110000"/>
              </a:lnSpc>
              <a:spcBef>
                <a:spcPct val="250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b="1" i="1" dirty="0"/>
          </a:p>
        </p:txBody>
      </p:sp>
      <p:pic>
        <p:nvPicPr>
          <p:cNvPr id="17491" name="Picture 8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033472">
            <a:off x="4999017" y="4696806"/>
            <a:ext cx="1665288" cy="140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92" name="Text Box 84"/>
          <p:cNvSpPr txBox="1">
            <a:spLocks noChangeArrowheads="1"/>
          </p:cNvSpPr>
          <p:nvPr/>
        </p:nvSpPr>
        <p:spPr bwMode="auto">
          <a:xfrm>
            <a:off x="6738917" y="5531831"/>
            <a:ext cx="809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SPST</a:t>
            </a:r>
          </a:p>
        </p:txBody>
      </p:sp>
      <p:pic>
        <p:nvPicPr>
          <p:cNvPr id="17493" name="Picture 8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882974">
            <a:off x="5264430" y="1581462"/>
            <a:ext cx="1666875" cy="107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94" name="Text Box 86"/>
          <p:cNvSpPr txBox="1">
            <a:spLocks noChangeArrowheads="1"/>
          </p:cNvSpPr>
          <p:nvPr/>
        </p:nvSpPr>
        <p:spPr bwMode="auto">
          <a:xfrm>
            <a:off x="5393017" y="2694300"/>
            <a:ext cx="8255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SP2T</a:t>
            </a:r>
          </a:p>
        </p:txBody>
      </p:sp>
    </p:spTree>
    <p:extLst>
      <p:ext uri="{BB962C8B-B14F-4D97-AF65-F5344CB8AC3E}">
        <p14:creationId xmlns:p14="http://schemas.microsoft.com/office/powerpoint/2010/main" val="114168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08143" y="244261"/>
            <a:ext cx="6489568" cy="771544"/>
          </a:xfrm>
        </p:spPr>
        <p:txBody>
          <a:bodyPr>
            <a:noAutofit/>
          </a:bodyPr>
          <a:lstStyle/>
          <a:p>
            <a:r>
              <a:rPr lang="en-US" sz="2400" dirty="0" smtClean="0"/>
              <a:t>AlGaAs </a:t>
            </a:r>
            <a:r>
              <a:rPr lang="en-US" sz="2400" dirty="0"/>
              <a:t>SP3T W Band </a:t>
            </a:r>
            <a:r>
              <a:rPr lang="en-US" sz="2400" dirty="0" smtClean="0"/>
              <a:t>Switch</a:t>
            </a:r>
            <a:r>
              <a:rPr lang="en-US" sz="2400" b="0" dirty="0" smtClean="0"/>
              <a:t/>
            </a:r>
            <a:br>
              <a:rPr lang="en-US" sz="2400" b="0" dirty="0" smtClean="0"/>
            </a:br>
            <a:r>
              <a:rPr lang="en-US" sz="2400" dirty="0" smtClean="0"/>
              <a:t>MASW-011029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08143" y="1146103"/>
            <a:ext cx="440110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Broadband Operating </a:t>
            </a:r>
            <a:r>
              <a:rPr lang="en-US" sz="2000" dirty="0" smtClean="0"/>
              <a:t>Frequency: 60 - 110 GHz</a:t>
            </a:r>
            <a:endParaRPr lang="en-US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Insertion </a:t>
            </a:r>
            <a:r>
              <a:rPr lang="en-US" sz="2000" dirty="0" smtClean="0"/>
              <a:t>Loss:1.3 </a:t>
            </a:r>
            <a:r>
              <a:rPr lang="en-US" sz="2000" dirty="0"/>
              <a:t>dB Typical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Isolation: 33 dB Typical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Silicon </a:t>
            </a:r>
            <a:r>
              <a:rPr lang="en-US" sz="2000" dirty="0"/>
              <a:t>Nitride Passivation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BCB </a:t>
            </a:r>
            <a:r>
              <a:rPr lang="en-US" sz="2000" dirty="0"/>
              <a:t>Scratch </a:t>
            </a:r>
            <a:r>
              <a:rPr lang="en-US" sz="2000" dirty="0" smtClean="0"/>
              <a:t>Protection</a:t>
            </a: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839536" y="3576918"/>
            <a:ext cx="7641076" cy="3031707"/>
            <a:chOff x="550096" y="3450209"/>
            <a:chExt cx="7052769" cy="272811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0096" y="3450209"/>
              <a:ext cx="3512808" cy="272811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2904" y="3450209"/>
              <a:ext cx="3539961" cy="2728110"/>
            </a:xfrm>
            <a:prstGeom prst="rect">
              <a:avLst/>
            </a:prstGeom>
          </p:spPr>
        </p:pic>
      </p:grpSp>
      <p:pic>
        <p:nvPicPr>
          <p:cNvPr id="1026" name="Picture 2" descr="http://4.bp.blogspot.com/_o74ruxv2td0/TNyrVavE64I/AAAAAAAAC5Y/kHFPrwddbRo/s1600/rcjFreescale77b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8977" y="1516160"/>
            <a:ext cx="2967208" cy="150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240364" y="2958433"/>
            <a:ext cx="193419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Collision Avoidance Radar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185" y="1523182"/>
            <a:ext cx="2142498" cy="1406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24820" y="3024491"/>
            <a:ext cx="1465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Passive Imaging</a:t>
            </a:r>
          </a:p>
        </p:txBody>
      </p:sp>
    </p:spTree>
    <p:extLst>
      <p:ext uri="{BB962C8B-B14F-4D97-AF65-F5344CB8AC3E}">
        <p14:creationId xmlns:p14="http://schemas.microsoft.com/office/powerpoint/2010/main" val="151458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705" y="308112"/>
            <a:ext cx="7719392" cy="533400"/>
          </a:xfrm>
        </p:spPr>
        <p:txBody>
          <a:bodyPr/>
          <a:lstStyle/>
          <a:p>
            <a:r>
              <a:rPr lang="en-US" dirty="0" smtClean="0"/>
              <a:t>Multichip Module High Power Switches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70200" y="1354669"/>
            <a:ext cx="5296882" cy="4640306"/>
          </a:xfrm>
        </p:spPr>
        <p:txBody>
          <a:bodyPr>
            <a:normAutofit/>
          </a:bodyPr>
          <a:lstStyle/>
          <a:p>
            <a:r>
              <a:rPr lang="en-US" dirty="0" smtClean="0"/>
              <a:t>Input power handling to 200 W CW, 1 kW peak</a:t>
            </a:r>
          </a:p>
          <a:p>
            <a:r>
              <a:rPr lang="en-US" dirty="0" smtClean="0"/>
              <a:t>Frequency Range: 20 MHz – 6 GHz in three bands</a:t>
            </a:r>
          </a:p>
          <a:p>
            <a:r>
              <a:rPr lang="en-US" dirty="0" smtClean="0"/>
              <a:t>Symmetric and Asymmetric Designs</a:t>
            </a:r>
          </a:p>
          <a:p>
            <a:r>
              <a:rPr lang="en-US" dirty="0" smtClean="0"/>
              <a:t>SP2T, SP3T, SP4T, SP6T</a:t>
            </a:r>
          </a:p>
        </p:txBody>
      </p:sp>
      <p:pic>
        <p:nvPicPr>
          <p:cNvPr id="9" name="Picture 10" descr="Untitled.pn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063722" y="2345269"/>
            <a:ext cx="18573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0" descr="MSW2000 schematic.em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3569232"/>
            <a:ext cx="17541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7465" y="3685125"/>
            <a:ext cx="1602295" cy="125570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732829" y="5174326"/>
            <a:ext cx="1266298" cy="14900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8972" y="4312978"/>
            <a:ext cx="17621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424" y="139701"/>
            <a:ext cx="7720013" cy="533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 smtClean="0"/>
              <a:t>T/R Switch-Limiter Module </a:t>
            </a:r>
            <a:br>
              <a:rPr lang="en-US" dirty="0" smtClean="0"/>
            </a:br>
            <a:r>
              <a:rPr lang="en-US" dirty="0" smtClean="0"/>
              <a:t>MSWLM2420-242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2875" y="1201271"/>
            <a:ext cx="5214938" cy="5183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1800" b="1" dirty="0" smtClean="0"/>
              <a:t>Features</a:t>
            </a:r>
          </a:p>
          <a:p>
            <a:r>
              <a:rPr lang="en-US" sz="1800" dirty="0" smtClean="0"/>
              <a:t>Frequency Range: 2 – 4 GHz</a:t>
            </a:r>
          </a:p>
          <a:p>
            <a:pPr marL="174625" lvl="1" indent="-174625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/>
              <a:buChar char="•"/>
            </a:pPr>
            <a:r>
              <a:rPr lang="en-US" sz="1800" dirty="0" smtClean="0"/>
              <a:t>T/R switch with passive receiver protection detector/limiter</a:t>
            </a:r>
          </a:p>
          <a:p>
            <a:pPr marL="512763" lvl="2" indent="-174625">
              <a:lnSpc>
                <a:spcPct val="90000"/>
              </a:lnSpc>
              <a:spcBef>
                <a:spcPts val="1200"/>
              </a:spcBef>
            </a:pPr>
            <a:r>
              <a:rPr lang="en-US" sz="1800" dirty="0" smtClean="0"/>
              <a:t>Excellent </a:t>
            </a:r>
            <a:r>
              <a:rPr lang="en-US" sz="1800" dirty="0"/>
              <a:t>Rx path insertion loss with 2 W CW </a:t>
            </a:r>
            <a:r>
              <a:rPr lang="en-US" sz="1800" dirty="0" smtClean="0"/>
              <a:t>receiver protector limiter stage</a:t>
            </a:r>
            <a:endParaRPr lang="en-US" sz="1800" dirty="0"/>
          </a:p>
          <a:p>
            <a:r>
              <a:rPr lang="en-US" sz="1800" dirty="0" smtClean="0"/>
              <a:t>TX input power: 125 W CW, 200 W pk</a:t>
            </a:r>
          </a:p>
          <a:p>
            <a:pPr marL="174625" lvl="1" indent="-174625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/>
              <a:buChar char="•"/>
            </a:pPr>
            <a:r>
              <a:rPr lang="en-US" sz="1800" dirty="0" smtClean="0"/>
              <a:t>Packaged in 5 x 8 mm, low-thermal-resistance surface-mount module package</a:t>
            </a:r>
          </a:p>
          <a:p>
            <a:pPr marL="174625" lvl="1" indent="-174625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Font typeface="Arial"/>
              <a:buChar char="•"/>
            </a:pPr>
            <a:r>
              <a:rPr lang="en-US" dirty="0" smtClean="0"/>
              <a:t>Proven </a:t>
            </a:r>
            <a:r>
              <a:rPr lang="en-US" dirty="0"/>
              <a:t>performance in the field</a:t>
            </a:r>
          </a:p>
          <a:p>
            <a:pPr marL="0" indent="0">
              <a:buNone/>
            </a:pPr>
            <a:r>
              <a:rPr lang="en-US" sz="1800" b="1" dirty="0" smtClean="0"/>
              <a:t>Applications</a:t>
            </a:r>
            <a:endParaRPr lang="en-US" sz="1800" dirty="0" smtClean="0"/>
          </a:p>
          <a:p>
            <a:r>
              <a:rPr lang="en-US" dirty="0" smtClean="0"/>
              <a:t>Phased array radar T/R modules</a:t>
            </a:r>
          </a:p>
          <a:p>
            <a:r>
              <a:rPr lang="en-US" dirty="0" smtClean="0"/>
              <a:t>Radio transceiver </a:t>
            </a:r>
          </a:p>
          <a:p>
            <a:pPr lvl="1"/>
            <a:endParaRPr lang="en-US" sz="1400" dirty="0" smtClean="0"/>
          </a:p>
        </p:txBody>
      </p:sp>
      <p:pic>
        <p:nvPicPr>
          <p:cNvPr id="15367" name="Picture 12" descr="MSWLM2420-242.emf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277410" y="1201271"/>
            <a:ext cx="3543300" cy="22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0" descr="Untitled.png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5940152" y="4077072"/>
            <a:ext cx="1857375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7929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89288" y="74579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MASW-011036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</a:t>
            </a:r>
            <a:r>
              <a:rPr lang="en-US" sz="2400" dirty="0" smtClean="0"/>
              <a:t>Terminated 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39889" y="1342647"/>
            <a:ext cx="4572000" cy="20374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Broadband Performance: </a:t>
            </a:r>
            <a:r>
              <a:rPr lang="en-US" sz="1600" dirty="0"/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Low </a:t>
            </a:r>
            <a:r>
              <a:rPr lang="en-US" sz="1600" dirty="0"/>
              <a:t>Loss &lt;1 </a:t>
            </a:r>
            <a:r>
              <a:rPr lang="en-US" sz="1600" dirty="0" smtClean="0"/>
              <a:t>dB; High </a:t>
            </a:r>
            <a:r>
              <a:rPr lang="en-US" sz="1600" dirty="0"/>
              <a:t>Isolation &gt;38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Up </a:t>
            </a:r>
            <a:r>
              <a:rPr lang="en-US" sz="1600" dirty="0"/>
              <a:t>to 13 W CW Power, </a:t>
            </a:r>
            <a:r>
              <a:rPr lang="en-US" sz="1600" dirty="0" smtClean="0"/>
              <a:t>85 °</a:t>
            </a:r>
            <a:r>
              <a:rPr lang="en-US" sz="16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Die </a:t>
            </a:r>
            <a:r>
              <a:rPr lang="en-US" sz="1600" dirty="0"/>
              <a:t>with </a:t>
            </a:r>
            <a:r>
              <a:rPr lang="en-US" sz="1600" dirty="0" smtClean="0"/>
              <a:t>G-S-G </a:t>
            </a:r>
            <a:r>
              <a:rPr lang="en-US" sz="1600" dirty="0"/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Includes </a:t>
            </a:r>
            <a:r>
              <a:rPr lang="en-US" sz="1600" dirty="0"/>
              <a:t>DC Blocks and RF Bias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23 </a:t>
            </a:r>
            <a:r>
              <a:rPr lang="en-US" sz="1600" dirty="0"/>
              <a:t>dBm power handling in terminated 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249" y="1762663"/>
            <a:ext cx="1900237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205" y="1392611"/>
            <a:ext cx="1835884" cy="15179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06" y="3496452"/>
            <a:ext cx="3359563" cy="25928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772" y="3380128"/>
            <a:ext cx="3438865" cy="265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98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08142" y="131140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MASW-010646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Reflective </a:t>
            </a:r>
            <a:r>
              <a:rPr lang="en-US" sz="2400" dirty="0" smtClean="0"/>
              <a:t>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21959" y="1432291"/>
            <a:ext cx="4572000" cy="203748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Broadband Performance: </a:t>
            </a:r>
            <a:r>
              <a:rPr lang="en-US" sz="1600" dirty="0">
                <a:latin typeface="Arial" panose="020B0604020202020204" pitchFamily="34" charset="0"/>
              </a:rPr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Low </a:t>
            </a:r>
            <a:r>
              <a:rPr lang="en-US" sz="1600" dirty="0">
                <a:latin typeface="Arial" panose="020B0604020202020204" pitchFamily="34" charset="0"/>
              </a:rPr>
              <a:t>Loss: 0.6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High </a:t>
            </a:r>
            <a:r>
              <a:rPr lang="en-US" sz="1600" dirty="0">
                <a:latin typeface="Arial" panose="020B0604020202020204" pitchFamily="34" charset="0"/>
              </a:rPr>
              <a:t>Isolation: 32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Up </a:t>
            </a:r>
            <a:r>
              <a:rPr lang="en-US" sz="1600" dirty="0">
                <a:latin typeface="Arial" panose="020B0604020202020204" pitchFamily="34" charset="0"/>
              </a:rPr>
              <a:t>to 13 W CW Power, </a:t>
            </a:r>
            <a:r>
              <a:rPr lang="en-US" sz="1600" dirty="0" smtClean="0">
                <a:latin typeface="Arial" panose="020B0604020202020204" pitchFamily="34" charset="0"/>
              </a:rPr>
              <a:t>85 °</a:t>
            </a:r>
            <a:r>
              <a:rPr lang="en-US" sz="1600" dirty="0">
                <a:latin typeface="Arial" panose="020B0604020202020204" pitchFamily="34" charset="0"/>
              </a:rPr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Die </a:t>
            </a:r>
            <a:r>
              <a:rPr lang="en-US" sz="1600" dirty="0">
                <a:latin typeface="Arial" panose="020B0604020202020204" pitchFamily="34" charset="0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</a:rPr>
              <a:t>G-S-G </a:t>
            </a:r>
            <a:r>
              <a:rPr lang="en-US" sz="1600" dirty="0">
                <a:latin typeface="Arial" panose="020B0604020202020204" pitchFamily="34" charset="0"/>
              </a:rPr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</a:rPr>
              <a:t>Includes </a:t>
            </a:r>
            <a:r>
              <a:rPr lang="en-US" sz="1600" dirty="0">
                <a:latin typeface="Arial" panose="020B0604020202020204" pitchFamily="34" charset="0"/>
              </a:rPr>
              <a:t>DC Blocks and RF Bias Networks</a:t>
            </a:r>
            <a:endParaRPr lang="en-US" sz="16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7" y="3638379"/>
            <a:ext cx="3389078" cy="263212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12" y="3610711"/>
            <a:ext cx="3499976" cy="275701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84" y="1728955"/>
            <a:ext cx="1845497" cy="92024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041" y="1608747"/>
            <a:ext cx="1869623" cy="12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2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381281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X-Band </a:t>
            </a:r>
            <a:r>
              <a:rPr lang="en-US" sz="2400" dirty="0"/>
              <a:t>Terminated SPDT Switch  </a:t>
            </a:r>
            <a:br>
              <a:rPr lang="en-US" sz="2400" dirty="0"/>
            </a:br>
            <a:r>
              <a:rPr lang="en-US" sz="2400" dirty="0"/>
              <a:t>MASW-011071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73754">
            <a:off x="7940779" y="4038517"/>
            <a:ext cx="614150" cy="6257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73" y="4724058"/>
            <a:ext cx="645034" cy="650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123" y="1159093"/>
            <a:ext cx="4572000" cy="29238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Low </a:t>
            </a:r>
            <a:r>
              <a:rPr lang="en-US" sz="2000" dirty="0"/>
              <a:t>Insertion Loss: 1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High </a:t>
            </a:r>
            <a:r>
              <a:rPr lang="en-US" sz="2000" dirty="0"/>
              <a:t>Isolation: 38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Integrated </a:t>
            </a:r>
            <a:r>
              <a:rPr lang="en-US" sz="2000" dirty="0"/>
              <a:t>Bias Network and Termination Circuit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Greater </a:t>
            </a:r>
            <a:r>
              <a:rPr lang="en-US" sz="2000" dirty="0"/>
              <a:t>than 20 W CW Power Handling @ </a:t>
            </a:r>
            <a:r>
              <a:rPr lang="en-US" sz="2000" dirty="0" smtClean="0"/>
              <a:t>70 °</a:t>
            </a:r>
            <a:r>
              <a:rPr lang="en-US" sz="20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Lead (Pb)-Free </a:t>
            </a:r>
            <a:r>
              <a:rPr lang="en-US" sz="2000" dirty="0"/>
              <a:t>7 </a:t>
            </a:r>
            <a:r>
              <a:rPr lang="en-US" sz="2000" dirty="0" smtClean="0"/>
              <a:t>x 7 mm </a:t>
            </a:r>
            <a:r>
              <a:rPr lang="en-US" sz="2000" dirty="0"/>
              <a:t>44-lead PQFN Package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32" y="4180789"/>
            <a:ext cx="3038475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107" y="4104589"/>
            <a:ext cx="3048000" cy="2362200"/>
          </a:xfrm>
          <a:prstGeom prst="rect">
            <a:avLst/>
          </a:prstGeom>
        </p:spPr>
      </p:pic>
      <p:pic>
        <p:nvPicPr>
          <p:cNvPr id="2052" name="Picture 4" descr="http://media.komonews.com/images/070720_X_Band_Radar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4682" y="1271544"/>
            <a:ext cx="2833172" cy="21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34449" y="3435153"/>
            <a:ext cx="271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Missile Defense, Weather Radar Systems</a:t>
            </a:r>
          </a:p>
        </p:txBody>
      </p:sp>
    </p:spTree>
    <p:extLst>
      <p:ext uri="{BB962C8B-B14F-4D97-AF65-F5344CB8AC3E}">
        <p14:creationId xmlns:p14="http://schemas.microsoft.com/office/powerpoint/2010/main" val="39812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28539" y="1282520"/>
            <a:ext cx="5349875" cy="4918075"/>
          </a:xfrm>
          <a:noFill/>
        </p:spPr>
        <p:txBody>
          <a:bodyPr lIns="90488" tIns="44450" rIns="90488" bIns="44450">
            <a:noAutofit/>
          </a:bodyPr>
          <a:lstStyle/>
          <a:p>
            <a:pPr eaLnBrk="1" hangingPunct="1">
              <a:lnSpc>
                <a:spcPct val="80000"/>
              </a:lnSpc>
              <a:spcBef>
                <a:spcPct val="70000"/>
              </a:spcBef>
              <a:buFont typeface="Arial" charset="0"/>
              <a:buNone/>
            </a:pPr>
            <a:r>
              <a:rPr lang="en-US" b="1" i="1" dirty="0"/>
              <a:t>Products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 smtClean="0"/>
              <a:t>MASW-001100-11900W (</a:t>
            </a:r>
            <a:r>
              <a:rPr lang="en-US" sz="1600" dirty="0"/>
              <a:t>SPST)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MASW002100-11910W (SPDT)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 smtClean="0"/>
              <a:t>MASW-003100-19220W (</a:t>
            </a:r>
            <a:r>
              <a:rPr lang="en-US" sz="1600" dirty="0"/>
              <a:t>SP3T)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MASW-004100-11930W (SP4T) 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MASW-005100-11940W (SP5T)</a:t>
            </a:r>
          </a:p>
          <a:p>
            <a:pPr lvl="1" eaLnBrk="1" hangingPunct="1">
              <a:lnSpc>
                <a:spcPct val="60000"/>
              </a:lnSpc>
              <a:spcBef>
                <a:spcPct val="30000"/>
              </a:spcBef>
              <a:buClr>
                <a:schemeClr val="bg1"/>
              </a:buClr>
              <a:buFont typeface="Arial" charset="0"/>
              <a:buNone/>
            </a:pPr>
            <a:endParaRPr lang="en-US" sz="1600" b="1" dirty="0"/>
          </a:p>
          <a:p>
            <a:pPr>
              <a:lnSpc>
                <a:spcPct val="80000"/>
              </a:lnSpc>
              <a:spcBef>
                <a:spcPct val="70000"/>
              </a:spcBef>
              <a:buNone/>
            </a:pPr>
            <a:r>
              <a:rPr lang="en-US" b="1" i="1" dirty="0" smtClean="0"/>
              <a:t>Features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 smtClean="0"/>
              <a:t>Operating </a:t>
            </a:r>
            <a:r>
              <a:rPr lang="en-US" sz="1600" dirty="0"/>
              <a:t>Frequency </a:t>
            </a:r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50 MHz – 30 GHz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Series-Shunt Configuration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High </a:t>
            </a:r>
            <a:r>
              <a:rPr lang="en-US" sz="1600" dirty="0" smtClean="0"/>
              <a:t>Isolation: &gt;</a:t>
            </a:r>
            <a:r>
              <a:rPr lang="en-US" sz="1600" dirty="0"/>
              <a:t>35 </a:t>
            </a:r>
            <a:r>
              <a:rPr lang="en-US" sz="1600" dirty="0" smtClean="0"/>
              <a:t>dB </a:t>
            </a:r>
            <a:endParaRPr lang="en-US" sz="1600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Low </a:t>
            </a:r>
            <a:r>
              <a:rPr lang="en-US" sz="1600" dirty="0" smtClean="0"/>
              <a:t>Loss: &lt;</a:t>
            </a:r>
            <a:r>
              <a:rPr lang="en-US" sz="1600" dirty="0"/>
              <a:t>1.0 dB Insertion </a:t>
            </a:r>
            <a:r>
              <a:rPr lang="en-US" sz="1600" dirty="0" smtClean="0"/>
              <a:t>Loss</a:t>
            </a:r>
            <a:endParaRPr lang="en-US" sz="1600" dirty="0"/>
          </a:p>
          <a:p>
            <a:pPr lvl="1"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 smtClean="0"/>
              <a:t>Switching Time: 50 </a:t>
            </a:r>
            <a:r>
              <a:rPr lang="en-US" sz="1600" dirty="0"/>
              <a:t>ns 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Max RF </a:t>
            </a:r>
            <a:r>
              <a:rPr lang="en-US" sz="1600" dirty="0" smtClean="0"/>
              <a:t>Incident Power:</a:t>
            </a:r>
            <a:endParaRPr lang="en-US" sz="1600" dirty="0"/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&gt;6.0 W </a:t>
            </a:r>
            <a:r>
              <a:rPr lang="en-US" dirty="0" smtClean="0"/>
              <a:t>CW @ 2 GHz</a:t>
            </a:r>
            <a:endParaRPr lang="en-US" dirty="0"/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2.0 W </a:t>
            </a:r>
            <a:r>
              <a:rPr lang="en-US" dirty="0" smtClean="0"/>
              <a:t>CW @ 22 GHz</a:t>
            </a:r>
            <a:endParaRPr lang="en-US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RoHS Compliant </a:t>
            </a:r>
          </a:p>
        </p:txBody>
      </p:sp>
      <p:sp>
        <p:nvSpPr>
          <p:cNvPr id="18842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628" y="351562"/>
            <a:ext cx="7194158" cy="349250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dirty="0" smtClean="0">
                <a:sym typeface="Symbol" panose="05050102010706020507" pitchFamily="18" charset="2"/>
              </a:rPr>
              <a:t></a:t>
            </a:r>
            <a:r>
              <a:rPr lang="en-US" sz="2400" dirty="0" smtClean="0"/>
              <a:t> Si PIN Switches</a:t>
            </a:r>
            <a:r>
              <a:rPr lang="en-US" sz="2400" dirty="0"/>
              <a:t>:</a:t>
            </a:r>
            <a:r>
              <a:rPr lang="en-US" sz="2400" dirty="0" smtClean="0"/>
              <a:t> </a:t>
            </a:r>
            <a:r>
              <a:rPr lang="en-US" sz="2400" dirty="0"/>
              <a:t>2 </a:t>
            </a:r>
            <a:r>
              <a:rPr lang="en-US" sz="2400" dirty="0" smtClean="0"/>
              <a:t>W, DC </a:t>
            </a:r>
            <a:r>
              <a:rPr lang="en-US" sz="2400" dirty="0"/>
              <a:t>– 26 GHz</a:t>
            </a:r>
          </a:p>
        </p:txBody>
      </p:sp>
      <p:sp>
        <p:nvSpPr>
          <p:cNvPr id="1246211" name="Rectangle 3"/>
          <p:cNvSpPr>
            <a:spLocks noChangeArrowheads="1"/>
          </p:cNvSpPr>
          <p:nvPr/>
        </p:nvSpPr>
        <p:spPr bwMode="auto">
          <a:xfrm>
            <a:off x="7327900" y="3100534"/>
            <a:ext cx="790575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ctr" eaLnBrk="0" hangingPunct="0"/>
            <a:r>
              <a:rPr lang="en-US" sz="1400" i="1" dirty="0"/>
              <a:t>SP5T </a:t>
            </a:r>
          </a:p>
        </p:txBody>
      </p:sp>
      <p:pic>
        <p:nvPicPr>
          <p:cNvPr id="18842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9650" y="3865563"/>
            <a:ext cx="2301875" cy="23018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18842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4913" y="1431925"/>
            <a:ext cx="2312987" cy="1973263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1246214" name="Rectangle 6"/>
          <p:cNvSpPr>
            <a:spLocks noChangeArrowheads="1"/>
          </p:cNvSpPr>
          <p:nvPr/>
        </p:nvSpPr>
        <p:spPr bwMode="auto">
          <a:xfrm>
            <a:off x="4289425" y="5614988"/>
            <a:ext cx="1724025" cy="665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ctr" eaLnBrk="0" hangingPunct="0"/>
            <a:r>
              <a:rPr lang="en-US" sz="1400" i="1" dirty="0"/>
              <a:t>SP3T w/ Integrated Bias Network</a:t>
            </a:r>
          </a:p>
        </p:txBody>
      </p:sp>
    </p:spTree>
    <p:extLst>
      <p:ext uri="{BB962C8B-B14F-4D97-AF65-F5344CB8AC3E}">
        <p14:creationId xmlns:p14="http://schemas.microsoft.com/office/powerpoint/2010/main" val="166386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>
          <a:xfrm>
            <a:off x="278582" y="563792"/>
            <a:ext cx="5842979" cy="457200"/>
          </a:xfrm>
        </p:spPr>
        <p:txBody>
          <a:bodyPr>
            <a:noAutofit/>
          </a:bodyPr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</a:t>
            </a:r>
            <a:r>
              <a:rPr lang="en-US" dirty="0" smtClean="0"/>
              <a:t>Wire-Bondable Switches</a:t>
            </a:r>
            <a:endParaRPr lang="en-US" dirty="0"/>
          </a:p>
        </p:txBody>
      </p:sp>
      <p:sp>
        <p:nvSpPr>
          <p:cNvPr id="56459" name="Oval 218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517" name="Text Box 2245"/>
          <p:cNvSpPr txBox="1">
            <a:spLocks noChangeArrowheads="1"/>
          </p:cNvSpPr>
          <p:nvPr/>
        </p:nvSpPr>
        <p:spPr bwMode="auto">
          <a:xfrm>
            <a:off x="319768" y="1499981"/>
            <a:ext cx="5925786" cy="22960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800" dirty="0" smtClean="0"/>
              <a:t>Features</a:t>
            </a:r>
            <a:r>
              <a:rPr lang="en-US" sz="2400" dirty="0" smtClean="0"/>
              <a:t> 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SPST through </a:t>
            </a:r>
            <a:r>
              <a:rPr lang="en-US" sz="2000" dirty="0"/>
              <a:t>SP6T </a:t>
            </a:r>
            <a:endParaRPr lang="en-US" sz="2000" dirty="0" smtClean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Broadband Performance to 26 GHz</a:t>
            </a:r>
            <a:endParaRPr lang="en-US" sz="2000" dirty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Wire </a:t>
            </a:r>
            <a:r>
              <a:rPr lang="en-US" sz="2000" dirty="0"/>
              <a:t>/Ribbon Bond </a:t>
            </a:r>
            <a:r>
              <a:rPr lang="en-US" sz="2000" dirty="0" smtClean="0"/>
              <a:t>Connections</a:t>
            </a:r>
            <a:endParaRPr lang="en-US" sz="2000" dirty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Available With </a:t>
            </a:r>
            <a:r>
              <a:rPr lang="en-US" sz="2000" dirty="0"/>
              <a:t>or </a:t>
            </a:r>
            <a:r>
              <a:rPr lang="en-US" sz="2000" dirty="0" smtClean="0"/>
              <a:t>Without Integrated </a:t>
            </a:r>
            <a:r>
              <a:rPr lang="en-US" sz="2000" dirty="0"/>
              <a:t>Bias </a:t>
            </a:r>
            <a:r>
              <a:rPr lang="en-US" sz="2000" dirty="0" smtClean="0"/>
              <a:t>Networks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877937" y="1322375"/>
            <a:ext cx="1885950" cy="2321857"/>
            <a:chOff x="512763" y="1322388"/>
            <a:chExt cx="1885950" cy="2321857"/>
          </a:xfrm>
        </p:grpSpPr>
        <p:grpSp>
          <p:nvGrpSpPr>
            <p:cNvPr id="3" name="Group 2221"/>
            <p:cNvGrpSpPr>
              <a:grpSpLocks/>
            </p:cNvGrpSpPr>
            <p:nvPr/>
          </p:nvGrpSpPr>
          <p:grpSpPr bwMode="auto">
            <a:xfrm rot="-1571532">
              <a:off x="512763" y="1322388"/>
              <a:ext cx="1790700" cy="1827212"/>
              <a:chOff x="83" y="1088"/>
              <a:chExt cx="1450" cy="1235"/>
            </a:xfrm>
          </p:grpSpPr>
          <p:sp>
            <p:nvSpPr>
              <p:cNvPr id="56462" name="Oval 2190"/>
              <p:cNvSpPr>
                <a:spLocks noChangeArrowheads="1"/>
              </p:cNvSpPr>
              <p:nvPr/>
            </p:nvSpPr>
            <p:spPr bwMode="auto">
              <a:xfrm>
                <a:off x="83" y="1088"/>
                <a:ext cx="1450" cy="1235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pic>
            <p:nvPicPr>
              <p:cNvPr id="54200" name="Picture 197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156639">
                <a:off x="451" y="1333"/>
                <a:ext cx="670" cy="667"/>
              </a:xfrm>
              <a:prstGeom prst="rect">
                <a:avLst/>
              </a:prstGeom>
              <a:noFill/>
              <a:ln w="19050" algn="ctr">
                <a:solidFill>
                  <a:srgbClr val="800000"/>
                </a:solidFill>
                <a:miter lim="800000"/>
                <a:headEnd/>
                <a:tailEnd/>
              </a:ln>
              <a:effectLst/>
            </p:spPr>
          </p:pic>
        </p:grpSp>
        <p:sp>
          <p:nvSpPr>
            <p:cNvPr id="56521" name="Text Box 2249"/>
            <p:cNvSpPr txBox="1">
              <a:spLocks noChangeArrowheads="1"/>
            </p:cNvSpPr>
            <p:nvPr/>
          </p:nvSpPr>
          <p:spPr bwMode="auto">
            <a:xfrm>
              <a:off x="581025" y="3121025"/>
              <a:ext cx="1817688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 smtClean="0"/>
                <a:t>SP3T with Bias </a:t>
              </a:r>
              <a:r>
                <a:rPr lang="en-US" sz="1400" dirty="0"/>
                <a:t>Network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81950" y="4198633"/>
            <a:ext cx="1817688" cy="2344722"/>
            <a:chOff x="557398" y="3818639"/>
            <a:chExt cx="1817688" cy="2344722"/>
          </a:xfrm>
        </p:grpSpPr>
        <p:grpSp>
          <p:nvGrpSpPr>
            <p:cNvPr id="15" name="Group 14"/>
            <p:cNvGrpSpPr/>
            <p:nvPr/>
          </p:nvGrpSpPr>
          <p:grpSpPr>
            <a:xfrm>
              <a:off x="600446" y="3818639"/>
              <a:ext cx="1668463" cy="1755775"/>
              <a:chOff x="600446" y="3818639"/>
              <a:chExt cx="1668463" cy="1755775"/>
            </a:xfrm>
          </p:grpSpPr>
          <p:sp>
            <p:nvSpPr>
              <p:cNvPr id="56485" name="Oval 2213"/>
              <p:cNvSpPr>
                <a:spLocks noChangeArrowheads="1"/>
              </p:cNvSpPr>
              <p:nvPr/>
            </p:nvSpPr>
            <p:spPr bwMode="auto">
              <a:xfrm rot="3912343">
                <a:off x="556790" y="3862295"/>
                <a:ext cx="1755775" cy="1668463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pic>
            <p:nvPicPr>
              <p:cNvPr id="56448" name="Picture 217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2488733">
                <a:off x="929238" y="4213381"/>
                <a:ext cx="1029247" cy="998376"/>
              </a:xfrm>
              <a:prstGeom prst="rect">
                <a:avLst/>
              </a:prstGeom>
              <a:noFill/>
              <a:ln w="15875">
                <a:solidFill>
                  <a:srgbClr val="993300"/>
                </a:solidFill>
                <a:miter lim="800000"/>
                <a:headEnd/>
                <a:tailEnd/>
              </a:ln>
            </p:spPr>
          </p:pic>
        </p:grpSp>
        <p:sp>
          <p:nvSpPr>
            <p:cNvPr id="56522" name="Text Box 2250"/>
            <p:cNvSpPr txBox="1">
              <a:spLocks noChangeArrowheads="1"/>
            </p:cNvSpPr>
            <p:nvPr/>
          </p:nvSpPr>
          <p:spPr bwMode="auto">
            <a:xfrm>
              <a:off x="557398" y="5640141"/>
              <a:ext cx="1817688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 smtClean="0"/>
                <a:t>SP5T without </a:t>
              </a:r>
              <a:r>
                <a:rPr lang="en-US" sz="1400" dirty="0"/>
                <a:t>Bias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72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268159"/>
            <a:ext cx="548163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aseline="42000" dirty="0"/>
              <a:t>TM</a:t>
            </a:r>
            <a:r>
              <a:rPr lang="en-US" sz="2400" dirty="0" smtClean="0"/>
              <a:t> SP2T High Current 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dirty="0" smtClean="0"/>
              <a:t>MASW-011052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102936"/>
            <a:ext cx="5797484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Broad Bandwidth: </a:t>
            </a:r>
            <a:r>
              <a:rPr lang="en-US" dirty="0"/>
              <a:t>Specified up to 18 </a:t>
            </a:r>
            <a:r>
              <a:rPr lang="en-US" dirty="0" smtClean="0"/>
              <a:t>GHz, Usable </a:t>
            </a:r>
            <a:r>
              <a:rPr lang="en-US" dirty="0"/>
              <a:t>up to 26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Integrated </a:t>
            </a:r>
            <a:r>
              <a:rPr lang="en-US" dirty="0"/>
              <a:t>Bias </a:t>
            </a:r>
            <a:r>
              <a:rPr lang="en-US" dirty="0" smtClean="0"/>
              <a:t>Network: High Bias Current  +/- 60 mA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Insertion </a:t>
            </a:r>
            <a:r>
              <a:rPr lang="en-US" dirty="0" smtClean="0"/>
              <a:t>Loss/High </a:t>
            </a:r>
            <a:r>
              <a:rPr lang="en-US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Glass Encapsulation </a:t>
            </a:r>
            <a:r>
              <a:rPr lang="en-US" dirty="0"/>
              <a:t>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RoHS Compliant </a:t>
            </a:r>
            <a:r>
              <a:rPr lang="en-US" dirty="0"/>
              <a:t>and </a:t>
            </a:r>
            <a:r>
              <a:rPr lang="en-US" dirty="0" smtClean="0"/>
              <a:t>260 °</a:t>
            </a:r>
            <a:r>
              <a:rPr lang="en-US" dirty="0"/>
              <a:t>C Reflow Compatible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59499"/>
            <a:ext cx="4174832" cy="31015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" y="3513111"/>
            <a:ext cx="3999795" cy="311532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76950" y="1527141"/>
            <a:ext cx="260032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764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466124"/>
            <a:ext cx="548163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aseline="42000" dirty="0"/>
              <a:t>TM</a:t>
            </a:r>
            <a:r>
              <a:rPr lang="en-US" sz="2400" dirty="0" smtClean="0"/>
              <a:t> SP3T High Current 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dirty="0" smtClean="0"/>
              <a:t>MASW-011053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93509"/>
            <a:ext cx="5797484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Broad Bandwidth: </a:t>
            </a:r>
            <a:r>
              <a:rPr lang="en-US" dirty="0"/>
              <a:t>Specified up to 18 </a:t>
            </a:r>
            <a:r>
              <a:rPr lang="en-US" dirty="0" smtClean="0"/>
              <a:t>GHz, Usable </a:t>
            </a:r>
            <a:r>
              <a:rPr lang="en-US" dirty="0"/>
              <a:t>up to 26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Integrated </a:t>
            </a:r>
            <a:r>
              <a:rPr lang="en-US" dirty="0"/>
              <a:t>Bias </a:t>
            </a:r>
            <a:r>
              <a:rPr lang="en-US" dirty="0" smtClean="0"/>
              <a:t>Network: High Bias Current  +/- 60 mA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Insertion </a:t>
            </a:r>
            <a:r>
              <a:rPr lang="en-US" dirty="0" smtClean="0"/>
              <a:t>Loss/High </a:t>
            </a:r>
            <a:r>
              <a:rPr lang="en-US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Glass Encapsulation </a:t>
            </a:r>
            <a:r>
              <a:rPr lang="en-US" dirty="0"/>
              <a:t>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RoHS Compliant </a:t>
            </a:r>
            <a:r>
              <a:rPr lang="en-US" dirty="0"/>
              <a:t>and </a:t>
            </a:r>
            <a:r>
              <a:rPr lang="en-US" dirty="0" smtClean="0"/>
              <a:t>260 °</a:t>
            </a:r>
            <a:r>
              <a:rPr lang="en-US" dirty="0"/>
              <a:t>C Reflow Compatible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05826" y="1196705"/>
            <a:ext cx="228600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720" y="3532313"/>
            <a:ext cx="4009476" cy="30986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3503567"/>
            <a:ext cx="4085110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4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Limiter Modules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5733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293592" y="1299882"/>
            <a:ext cx="4504185" cy="5292829"/>
          </a:xfrm>
        </p:spPr>
        <p:txBody>
          <a:bodyPr>
            <a:noAutofit/>
          </a:bodyPr>
          <a:lstStyle/>
          <a:p>
            <a:r>
              <a:rPr lang="en-US" altLang="en-US" sz="1800" dirty="0" smtClean="0"/>
              <a:t>Industry-leading input power handling as high as </a:t>
            </a:r>
          </a:p>
          <a:p>
            <a:pPr lvl="1"/>
            <a:r>
              <a:rPr lang="en-US" altLang="en-US" dirty="0" smtClean="0"/>
              <a:t>300 W CW </a:t>
            </a:r>
          </a:p>
          <a:p>
            <a:pPr lvl="1"/>
            <a:r>
              <a:rPr lang="en-US" altLang="en-US" dirty="0" smtClean="0"/>
              <a:t>2 kW peak</a:t>
            </a:r>
          </a:p>
          <a:p>
            <a:r>
              <a:rPr lang="en-US" altLang="en-US" sz="1800" dirty="0" smtClean="0"/>
              <a:t>No external control signal or bias required</a:t>
            </a:r>
          </a:p>
          <a:p>
            <a:r>
              <a:rPr lang="en-US" altLang="en-US" sz="1800" dirty="0" smtClean="0"/>
              <a:t>Available as</a:t>
            </a:r>
          </a:p>
          <a:p>
            <a:pPr lvl="1"/>
            <a:r>
              <a:rPr lang="en-US" altLang="en-US" dirty="0" smtClean="0"/>
              <a:t>Single stage</a:t>
            </a:r>
          </a:p>
          <a:p>
            <a:pPr lvl="1"/>
            <a:r>
              <a:rPr lang="en-US" altLang="en-US" dirty="0" smtClean="0"/>
              <a:t>Dual stage</a:t>
            </a:r>
          </a:p>
          <a:p>
            <a:pPr lvl="1"/>
            <a:r>
              <a:rPr lang="en-US" altLang="en-US" dirty="0" smtClean="0"/>
              <a:t>Detector/limiter</a:t>
            </a:r>
          </a:p>
          <a:p>
            <a:r>
              <a:rPr lang="en-US" altLang="en-US" sz="1800" dirty="0" smtClean="0"/>
              <a:t>Available in VHF, UHF, L, S and C bands</a:t>
            </a:r>
          </a:p>
          <a:p>
            <a:r>
              <a:rPr lang="en-US" altLang="en-US" sz="1800" dirty="0" smtClean="0"/>
              <a:t>Packaged in low-thermal-resistance surface-mount hermetic or nonhermetic module packages</a:t>
            </a:r>
          </a:p>
          <a:p>
            <a:endParaRPr lang="en-US" altLang="en-US" sz="1800" dirty="0" smtClean="0"/>
          </a:p>
        </p:txBody>
      </p:sp>
      <p:sp>
        <p:nvSpPr>
          <p:cNvPr id="28675" name="Title 2"/>
          <p:cNvSpPr>
            <a:spLocks noGrp="1"/>
          </p:cNvSpPr>
          <p:nvPr>
            <p:ph type="title"/>
          </p:nvPr>
        </p:nvSpPr>
        <p:spPr>
          <a:xfrm>
            <a:off x="215152" y="274924"/>
            <a:ext cx="4500283" cy="516951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High Power Limiter Modules</a:t>
            </a:r>
          </a:p>
        </p:txBody>
      </p:sp>
      <p:pic>
        <p:nvPicPr>
          <p:cNvPr id="28678" name="Picture 5" descr="Untitl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52714" y="4006289"/>
            <a:ext cx="2259013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5435" y="1470212"/>
            <a:ext cx="39179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88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68240" y="1258769"/>
            <a:ext cx="4139519" cy="163506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 smtClean="0">
                <a:ea typeface="굴림" pitchFamily="34" charset="-127"/>
              </a:rPr>
              <a:t>High </a:t>
            </a:r>
            <a:r>
              <a:rPr lang="en-US" altLang="ko-KR" sz="1000" b="1" dirty="0">
                <a:ea typeface="굴림" pitchFamily="34" charset="-127"/>
              </a:rPr>
              <a:t>Voltage Handling: </a:t>
            </a:r>
            <a:r>
              <a:rPr lang="en-US" altLang="ko-KR" sz="1000" b="1" dirty="0" smtClean="0">
                <a:ea typeface="굴림" pitchFamily="34" charset="-127"/>
              </a:rPr>
              <a:t>up to 1000 V</a:t>
            </a:r>
            <a:endParaRPr lang="en-US" altLang="ko-KR" sz="10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Power Handling: 200+ Watts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Operate from </a:t>
            </a:r>
            <a:r>
              <a:rPr lang="en-US" altLang="ko-KR" sz="1000" b="1" dirty="0" smtClean="0">
                <a:ea typeface="굴림" pitchFamily="34" charset="-127"/>
              </a:rPr>
              <a:t>LF </a:t>
            </a:r>
            <a:r>
              <a:rPr lang="en-US" altLang="ko-KR" sz="1000" b="1" dirty="0">
                <a:ea typeface="굴림" pitchFamily="34" charset="-127"/>
              </a:rPr>
              <a:t>to 18 GHz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Chip and </a:t>
            </a:r>
            <a:r>
              <a:rPr lang="en-US" altLang="ko-KR" sz="1000" b="1" dirty="0" smtClean="0">
                <a:ea typeface="굴림" pitchFamily="34" charset="-127"/>
              </a:rPr>
              <a:t>Wire Assembly</a:t>
            </a:r>
            <a:endParaRPr lang="en-US" altLang="ko-KR" sz="10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>
                <a:ea typeface="굴림" pitchFamily="34" charset="-127"/>
              </a:rPr>
              <a:t>Low Series </a:t>
            </a:r>
            <a:r>
              <a:rPr lang="en-US" altLang="ko-KR" sz="1000" b="1" dirty="0" smtClean="0">
                <a:ea typeface="굴림" pitchFamily="34" charset="-127"/>
              </a:rPr>
              <a:t>Resistance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000" b="1" dirty="0" smtClean="0">
                <a:ea typeface="굴림" pitchFamily="34" charset="-127"/>
              </a:rPr>
              <a:t>Applications: Switching </a:t>
            </a:r>
            <a:r>
              <a:rPr lang="en-US" altLang="ko-KR" sz="1000" b="1" dirty="0">
                <a:ea typeface="굴림" pitchFamily="34" charset="-127"/>
              </a:rPr>
              <a:t>and Attenuating</a:t>
            </a:r>
          </a:p>
        </p:txBody>
      </p:sp>
      <p:sp>
        <p:nvSpPr>
          <p:cNvPr id="63496" name="Rectangle 8"/>
          <p:cNvSpPr>
            <a:spLocks noGrp="1"/>
          </p:cNvSpPr>
          <p:nvPr>
            <p:ph type="title" idx="4294967295"/>
          </p:nvPr>
        </p:nvSpPr>
        <p:spPr>
          <a:xfrm>
            <a:off x="68240" y="69587"/>
            <a:ext cx="6540500" cy="547687"/>
          </a:xfrm>
        </p:spPr>
        <p:txBody>
          <a:bodyPr>
            <a:normAutofit/>
          </a:bodyPr>
          <a:lstStyle/>
          <a:p>
            <a:r>
              <a:rPr lang="en-US" dirty="0"/>
              <a:t>Discrete Diodes – </a:t>
            </a:r>
            <a:r>
              <a:rPr lang="en-US" dirty="0" smtClean="0"/>
              <a:t>Si PIN </a:t>
            </a:r>
            <a:r>
              <a:rPr lang="en-US" dirty="0"/>
              <a:t>Chips</a:t>
            </a:r>
          </a:p>
        </p:txBody>
      </p:sp>
      <p:sp>
        <p:nvSpPr>
          <p:cNvPr id="63499" name="Oval 1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26338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249391" y="2602944"/>
          <a:ext cx="8716478" cy="3848065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644963"/>
                <a:gridCol w="1229006"/>
                <a:gridCol w="1068405"/>
                <a:gridCol w="1114512"/>
                <a:gridCol w="1197684"/>
                <a:gridCol w="1396549"/>
                <a:gridCol w="1065359"/>
              </a:tblGrid>
              <a:tr h="590980"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Part </a:t>
                      </a:r>
                    </a:p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Number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Breakdown Voltage (V)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Capacitance (pF)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Series Resistance (</a:t>
                      </a:r>
                      <a:r>
                        <a:rPr lang="en-US" sz="1050" dirty="0" smtClean="0">
                          <a:sym typeface="Symbol"/>
                        </a:rPr>
                        <a:t>)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Carrier Lifetime (</a:t>
                      </a:r>
                      <a:r>
                        <a:rPr lang="en-US" sz="1050" dirty="0" smtClean="0">
                          <a:sym typeface="Symbol"/>
                        </a:rPr>
                        <a:t>s)</a:t>
                      </a:r>
                      <a:endParaRPr lang="en-US" sz="1050" dirty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Thermal Resistance</a:t>
                      </a:r>
                      <a:r>
                        <a:rPr lang="en-US" sz="1050" baseline="0" dirty="0" smtClean="0"/>
                        <a:t> (ºC/W)</a:t>
                      </a:r>
                      <a:endParaRPr lang="en-US" sz="1050" dirty="0" smtClean="0"/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I-region</a:t>
                      </a:r>
                    </a:p>
                    <a:p>
                      <a:pPr algn="ctr">
                        <a:tabLst>
                          <a:tab pos="91440" algn="l"/>
                        </a:tabLst>
                      </a:pPr>
                      <a:r>
                        <a:rPr lang="en-US" sz="1050" dirty="0" smtClean="0"/>
                        <a:t>(</a:t>
                      </a:r>
                      <a:r>
                        <a:rPr lang="en-US" sz="1050" dirty="0" smtClean="0">
                          <a:sym typeface="Symbol"/>
                        </a:rPr>
                        <a:t>m)</a:t>
                      </a:r>
                      <a:endParaRPr lang="en-US" sz="1050" dirty="0" smtClean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566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MADP-000165-01340W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0.06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19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1897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MA4P161-134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13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59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MA47416-132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6.00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30.0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110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0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MA47418-134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25.0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48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721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MA4P203-134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75.0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13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28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MA4P303-134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85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19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28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MA4P404-132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250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0.70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0.60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30.0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28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38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MA4P504-132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0.60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35.0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44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07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MA4P604-131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96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29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MA4P505-131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0.35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0.45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14.0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96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551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MA4P606-131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0.60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0.70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8.0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96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281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MA4P506-131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0.70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3.00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11.0</a:t>
                      </a:r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51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24947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MA4P607-212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1000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1.30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0.40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5.00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4.0</a:t>
                      </a:r>
                      <a:endParaRPr lang="en-US" sz="10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91440" algn="l"/>
                        </a:tabLst>
                      </a:pPr>
                      <a:r>
                        <a:rPr lang="en-US" sz="1000" dirty="0" smtClean="0"/>
                        <a:t>125</a:t>
                      </a:r>
                      <a:endParaRPr lang="en-US" sz="100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661036">
            <a:off x="6965664" y="1416625"/>
            <a:ext cx="832496" cy="88325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521093">
            <a:off x="5472673" y="1434825"/>
            <a:ext cx="851270" cy="84686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449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233785" y="1311064"/>
            <a:ext cx="4368718" cy="22518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/>
          <a:lstStyle/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 smtClean="0">
                <a:ea typeface="굴림" pitchFamily="34" charset="-127"/>
              </a:rPr>
              <a:t>High </a:t>
            </a:r>
            <a:r>
              <a:rPr lang="en-US" altLang="ko-KR" sz="1600" b="1" dirty="0">
                <a:ea typeface="굴림" pitchFamily="34" charset="-127"/>
              </a:rPr>
              <a:t>Voltage Handling: </a:t>
            </a:r>
            <a:r>
              <a:rPr lang="en-US" altLang="ko-KR" sz="1600" b="1" dirty="0" smtClean="0">
                <a:ea typeface="굴림" pitchFamily="34" charset="-127"/>
              </a:rPr>
              <a:t>up to 500 V</a:t>
            </a:r>
            <a:endParaRPr lang="en-US" altLang="ko-KR" sz="16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Power Handling: </a:t>
            </a:r>
            <a:r>
              <a:rPr lang="en-US" altLang="ko-KR" sz="1600" b="1" dirty="0" smtClean="0">
                <a:ea typeface="굴림" pitchFamily="34" charset="-127"/>
              </a:rPr>
              <a:t>50</a:t>
            </a:r>
            <a:r>
              <a:rPr lang="en-US" altLang="ko-KR" sz="1600" b="1" dirty="0">
                <a:ea typeface="굴림" pitchFamily="34" charset="-127"/>
              </a:rPr>
              <a:t>+ Watts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Operate from </a:t>
            </a:r>
            <a:r>
              <a:rPr lang="en-US" altLang="ko-KR" sz="1600" b="1" dirty="0" smtClean="0">
                <a:ea typeface="굴림" pitchFamily="34" charset="-127"/>
              </a:rPr>
              <a:t>LF </a:t>
            </a:r>
            <a:r>
              <a:rPr lang="en-US" altLang="ko-KR" sz="1600" b="1" dirty="0">
                <a:ea typeface="굴림" pitchFamily="34" charset="-127"/>
              </a:rPr>
              <a:t>to </a:t>
            </a:r>
            <a:r>
              <a:rPr lang="en-US" altLang="ko-KR" sz="1600" b="1" dirty="0" smtClean="0">
                <a:ea typeface="굴림" pitchFamily="34" charset="-127"/>
              </a:rPr>
              <a:t>12+ </a:t>
            </a:r>
            <a:r>
              <a:rPr lang="en-US" altLang="ko-KR" sz="1600" b="1" dirty="0">
                <a:ea typeface="굴림" pitchFamily="34" charset="-127"/>
              </a:rPr>
              <a:t>GHz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Chip and </a:t>
            </a:r>
            <a:r>
              <a:rPr lang="en-US" altLang="ko-KR" sz="1600" b="1" dirty="0" smtClean="0">
                <a:ea typeface="굴림" pitchFamily="34" charset="-127"/>
              </a:rPr>
              <a:t>Wire Assembly or Available in Packages</a:t>
            </a:r>
            <a:endParaRPr lang="en-US" altLang="ko-KR" sz="1600" b="1" dirty="0">
              <a:ea typeface="굴림" pitchFamily="34" charset="-127"/>
            </a:endParaRP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>
                <a:ea typeface="굴림" pitchFamily="34" charset="-127"/>
              </a:rPr>
              <a:t>Low Series </a:t>
            </a:r>
            <a:r>
              <a:rPr lang="en-US" altLang="ko-KR" sz="1600" b="1" dirty="0" smtClean="0">
                <a:ea typeface="굴림" pitchFamily="34" charset="-127"/>
              </a:rPr>
              <a:t>Resistance</a:t>
            </a:r>
          </a:p>
          <a:p>
            <a:pPr marL="231775" indent="-231775" algn="l">
              <a:buFont typeface="Wingdings" pitchFamily="2" charset="2"/>
              <a:buChar char="§"/>
            </a:pPr>
            <a:r>
              <a:rPr lang="en-US" altLang="ko-KR" sz="1600" b="1" dirty="0" smtClean="0">
                <a:ea typeface="굴림" pitchFamily="34" charset="-127"/>
              </a:rPr>
              <a:t>Applications: Switching </a:t>
            </a:r>
            <a:r>
              <a:rPr lang="en-US" altLang="ko-KR" sz="1600" b="1" dirty="0">
                <a:ea typeface="굴림" pitchFamily="34" charset="-127"/>
              </a:rPr>
              <a:t>and Attenuating</a:t>
            </a:r>
          </a:p>
        </p:txBody>
      </p:sp>
      <p:sp>
        <p:nvSpPr>
          <p:cNvPr id="63496" name="Rectangle 8"/>
          <p:cNvSpPr>
            <a:spLocks noGrp="1"/>
          </p:cNvSpPr>
          <p:nvPr>
            <p:ph type="title" idx="4294967295"/>
          </p:nvPr>
        </p:nvSpPr>
        <p:spPr>
          <a:xfrm>
            <a:off x="68240" y="298184"/>
            <a:ext cx="6540500" cy="547687"/>
          </a:xfrm>
        </p:spPr>
        <p:txBody>
          <a:bodyPr>
            <a:normAutofit/>
          </a:bodyPr>
          <a:lstStyle/>
          <a:p>
            <a:r>
              <a:rPr lang="en-US" dirty="0"/>
              <a:t>Discrete Diodes – </a:t>
            </a:r>
            <a:r>
              <a:rPr lang="en-US" dirty="0" smtClean="0"/>
              <a:t>Si NIP </a:t>
            </a:r>
            <a:r>
              <a:rPr lang="en-US" dirty="0"/>
              <a:t>Chips</a:t>
            </a:r>
          </a:p>
        </p:txBody>
      </p:sp>
      <p:sp>
        <p:nvSpPr>
          <p:cNvPr id="63499" name="Oval 11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26338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5" y="3639212"/>
            <a:ext cx="8632803" cy="2860978"/>
          </a:xfrm>
          <a:prstGeom prst="rect">
            <a:avLst/>
          </a:prstGeom>
        </p:spPr>
      </p:pic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521093">
            <a:off x="6555952" y="1607213"/>
            <a:ext cx="1047487" cy="104206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041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5354" y="265517"/>
            <a:ext cx="6983413" cy="544512"/>
          </a:xfrm>
        </p:spPr>
        <p:txBody>
          <a:bodyPr/>
          <a:lstStyle/>
          <a:p>
            <a:r>
              <a:rPr lang="en-US" dirty="0" smtClean="0"/>
              <a:t>Si </a:t>
            </a:r>
            <a:r>
              <a:rPr lang="en-US" dirty="0"/>
              <a:t>Mesa </a:t>
            </a:r>
            <a:r>
              <a:rPr lang="en-US" dirty="0" smtClean="0"/>
              <a:t>Beamlead PIN Diodes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4445" y="1288694"/>
            <a:ext cx="4711710" cy="150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Rugged Silicon-Glass Construction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Silicon Nitride Passivation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Low Parasitic Capacitance and Inductance</a:t>
            </a:r>
          </a:p>
          <a:p>
            <a:pPr algn="l"/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4" y="2611633"/>
            <a:ext cx="7705126" cy="40939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658" y="1312258"/>
            <a:ext cx="24955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3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536" y="107025"/>
            <a:ext cx="6983413" cy="544512"/>
          </a:xfrm>
        </p:spPr>
        <p:txBody>
          <a:bodyPr/>
          <a:lstStyle/>
          <a:p>
            <a:r>
              <a:rPr lang="en-US" dirty="0" smtClean="0"/>
              <a:t>Si Planar Beamlead PIN Diodes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7619" y="1248470"/>
            <a:ext cx="52594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Rugged Silicon-Glass Construction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Silicon Nitride Passivation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Low Parasitic Capacitance and Inductance</a:t>
            </a:r>
          </a:p>
          <a:p>
            <a:pPr algn="l"/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86" y="2747025"/>
            <a:ext cx="7886834" cy="34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6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4" name="Rectangle 16"/>
          <p:cNvSpPr>
            <a:spLocks noGrp="1"/>
          </p:cNvSpPr>
          <p:nvPr>
            <p:ph type="title" idx="4294967295"/>
          </p:nvPr>
        </p:nvSpPr>
        <p:spPr>
          <a:xfrm>
            <a:off x="119123" y="356933"/>
            <a:ext cx="6540500" cy="547688"/>
          </a:xfrm>
        </p:spPr>
        <p:txBody>
          <a:bodyPr/>
          <a:lstStyle/>
          <a:p>
            <a:r>
              <a:rPr lang="en-US" dirty="0"/>
              <a:t>Flip </a:t>
            </a:r>
            <a:r>
              <a:rPr lang="en-US" dirty="0" smtClean="0"/>
              <a:t>Chip Products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22435"/>
              </p:ext>
            </p:extLst>
          </p:nvPr>
        </p:nvGraphicFramePr>
        <p:xfrm>
          <a:off x="549813" y="1932146"/>
          <a:ext cx="7584374" cy="194722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49697"/>
                <a:gridCol w="1434999"/>
                <a:gridCol w="982521"/>
                <a:gridCol w="1063162"/>
                <a:gridCol w="646487"/>
                <a:gridCol w="1103754"/>
                <a:gridCol w="1103754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PIN</a:t>
                      </a:r>
                    </a:p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Max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Rs Typical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1483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050" dirty="0" smtClean="0">
                          <a:solidFill>
                            <a:schemeClr val="bg1"/>
                          </a:solidFill>
                          <a:sym typeface="Symbol"/>
                        </a:rPr>
                        <a:t>)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842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MA4AGP907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AlGaAs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9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MA4FCP200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 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735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30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70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429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MA4FCP305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44976"/>
              </p:ext>
            </p:extLst>
          </p:nvPr>
        </p:nvGraphicFramePr>
        <p:xfrm>
          <a:off x="549813" y="4064742"/>
          <a:ext cx="7635837" cy="117367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034296"/>
                <a:gridCol w="1602029"/>
                <a:gridCol w="1080654"/>
                <a:gridCol w="1021279"/>
                <a:gridCol w="926275"/>
                <a:gridCol w="860059"/>
                <a:gridCol w="1111245"/>
              </a:tblGrid>
              <a:tr h="359823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Varactor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4V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Gamma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7630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927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MA46H146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0.033-0.06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MA46H120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0.20-0.40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0544" y="1371998"/>
            <a:ext cx="3425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Low Capacitance Devices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7392" y="5388990"/>
            <a:ext cx="2147852" cy="117314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52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9184" y="109891"/>
            <a:ext cx="6543675" cy="552450"/>
          </a:xfrm>
        </p:spPr>
        <p:txBody>
          <a:bodyPr lIns="91440" tIns="45720" rIns="91440" bIns="45720" anchor="b">
            <a:normAutofit fontScale="90000"/>
          </a:bodyPr>
          <a:lstStyle/>
          <a:p>
            <a:pPr eaLnBrk="1" hangingPunct="1"/>
            <a:r>
              <a:rPr lang="en-US" dirty="0" smtClean="0"/>
              <a:t>Discrete High </a:t>
            </a:r>
            <a:r>
              <a:rPr lang="en-US" dirty="0"/>
              <a:t>Power MELF PIN Diodes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4803775" y="5772150"/>
            <a:ext cx="2895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ea typeface="굴림" pitchFamily="34" charset="-127"/>
              </a:rPr>
              <a:t>Available in Tape &amp; Reel</a:t>
            </a:r>
            <a:endParaRPr lang="en-US" b="1" dirty="0">
              <a:solidFill>
                <a:schemeClr val="bg1"/>
              </a:solidFill>
              <a:ea typeface="굴림" pitchFamily="34" charset="-127"/>
            </a:endParaRPr>
          </a:p>
        </p:txBody>
      </p:sp>
      <p:sp>
        <p:nvSpPr>
          <p:cNvPr id="67598" name="Oval 14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109184" y="1571348"/>
            <a:ext cx="3693225" cy="32988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 smtClean="0">
                <a:ea typeface="굴림" pitchFamily="34" charset="-127"/>
              </a:rPr>
              <a:t>High </a:t>
            </a:r>
            <a:r>
              <a:rPr lang="en-US" altLang="ko-KR" sz="1400" dirty="0">
                <a:ea typeface="굴림" pitchFamily="34" charset="-127"/>
              </a:rPr>
              <a:t>Voltage Handling: Up to </a:t>
            </a:r>
            <a:r>
              <a:rPr lang="en-US" altLang="ko-KR" sz="1400" b="1" dirty="0" smtClean="0">
                <a:ea typeface="굴림" pitchFamily="34" charset="-127"/>
              </a:rPr>
              <a:t>1100 V</a:t>
            </a:r>
            <a:endParaRPr lang="en-US" altLang="ko-KR" sz="1400" b="1" dirty="0">
              <a:ea typeface="굴림" pitchFamily="34" charset="-127"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200+</a:t>
            </a:r>
            <a:r>
              <a:rPr lang="en-US" altLang="ko-KR" sz="1400" dirty="0" smtClean="0">
                <a:ea typeface="굴림" pitchFamily="34" charset="-127"/>
              </a:rPr>
              <a:t> W </a:t>
            </a:r>
            <a:r>
              <a:rPr lang="en-US" altLang="ko-KR" sz="1400" dirty="0">
                <a:ea typeface="굴림" pitchFamily="34" charset="-127"/>
              </a:rPr>
              <a:t>Power Handling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 smtClean="0">
                <a:ea typeface="굴림" pitchFamily="34" charset="-127"/>
              </a:rPr>
              <a:t>Operate/Tunable </a:t>
            </a:r>
            <a:r>
              <a:rPr lang="en-US" altLang="ko-KR" sz="1400" dirty="0">
                <a:ea typeface="굴림" pitchFamily="34" charset="-127"/>
              </a:rPr>
              <a:t>from DC to 2.5 GHz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Surface Mountable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Non-Magnetic Versions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Superior Heat Management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Low Series Resistance</a:t>
            </a:r>
          </a:p>
          <a:p>
            <a:pPr marL="457200" indent="-457200" algn="l"/>
            <a:endParaRPr lang="en-US" altLang="ko-KR" sz="1000" dirty="0">
              <a:ea typeface="굴림" pitchFamily="34" charset="-127"/>
            </a:endParaRPr>
          </a:p>
          <a:p>
            <a:pPr marL="457200" indent="-457200" algn="l"/>
            <a:r>
              <a:rPr lang="en-US" altLang="ko-KR" sz="1400" b="1" dirty="0">
                <a:ea typeface="굴림" pitchFamily="34" charset="-127"/>
              </a:rPr>
              <a:t>Applications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High Power Switches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Attenuators</a:t>
            </a: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altLang="ko-KR" sz="1400" dirty="0">
                <a:ea typeface="굴림" pitchFamily="34" charset="-127"/>
              </a:rPr>
              <a:t>Magnetic Resonance Imaging (MRI)</a:t>
            </a:r>
          </a:p>
          <a:p>
            <a:pPr marL="457200" indent="-457200" algn="l">
              <a:buFontTx/>
              <a:buChar char="•"/>
            </a:pPr>
            <a:endParaRPr lang="en-US" altLang="ko-KR" sz="1200" dirty="0">
              <a:latin typeface="Times New Roman" pitchFamily="18" charset="0"/>
              <a:ea typeface="굴림" pitchFamily="34" charset="-127"/>
            </a:endParaRPr>
          </a:p>
          <a:p>
            <a:pPr marL="457200" indent="-457200" algn="l">
              <a:buFontTx/>
              <a:buChar char="•"/>
            </a:pPr>
            <a:endParaRPr lang="en-US" altLang="ko-KR" sz="1400" dirty="0">
              <a:ea typeface="굴림" pitchFamily="34" charset="-127"/>
            </a:endParaRPr>
          </a:p>
        </p:txBody>
      </p:sp>
      <p:pic>
        <p:nvPicPr>
          <p:cNvPr id="67599" name="Picture 15" descr="MELFondime2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607" y="4919869"/>
            <a:ext cx="1496581" cy="1364286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3899139" y="876727"/>
          <a:ext cx="5080959" cy="429768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62974"/>
                <a:gridCol w="793631"/>
                <a:gridCol w="836761"/>
                <a:gridCol w="759125"/>
                <a:gridCol w="603849"/>
                <a:gridCol w="724619"/>
              </a:tblGrid>
              <a:tr h="412592">
                <a:tc rowSpan="2">
                  <a:txBody>
                    <a:bodyPr/>
                    <a:lstStyle/>
                    <a:p>
                      <a:pPr algn="ctr"/>
                      <a:r>
                        <a:rPr lang="en-US" sz="900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Breakdown Voltage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Total Capacitance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Series Resistance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Carrier</a:t>
                      </a:r>
                      <a:r>
                        <a:rPr lang="en-US" sz="800" baseline="0" dirty="0" smtClean="0">
                          <a:solidFill>
                            <a:schemeClr val="bg1"/>
                          </a:solidFill>
                        </a:rPr>
                        <a:t> Lifetime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Thermal Resistance 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sym typeface="Symbol"/>
                        </a:rPr>
                        <a:t>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sym typeface="Symbol"/>
                        </a:rPr>
                        <a:t>)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800" dirty="0" smtClean="0">
                          <a:solidFill>
                            <a:schemeClr val="bg1"/>
                          </a:solidFill>
                          <a:sym typeface="Symbol"/>
                        </a:rPr>
                        <a:t>s)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solidFill>
                            <a:schemeClr val="bg1"/>
                          </a:solidFill>
                        </a:rPr>
                        <a:t>(ºC/W)</a:t>
                      </a:r>
                      <a:endParaRPr lang="en-US" sz="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MA4P504-1072T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MA4PH236-1072T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MA4PH238-1072T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MA4P404-1072T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MA4P505-1072T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0.45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MA4P7006F-1072T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0.90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MA4P7417-1072T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800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0.80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13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MA4P7104F-1072T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400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MA4P506-1072T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MA4P1250-1072T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1.2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MA4PH235-1072T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1.2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0.3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MADP-000234-10720T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1.7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0.25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MA4P4301F-1091T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8.0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MA4P4306F-1091T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8.0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30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MA4P4006F-1091T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2.2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6.0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923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MA4P1450-1091T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0.75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2.0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254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MA4P7418-1072T</a:t>
                      </a:r>
                      <a:endParaRPr lang="en-US" sz="8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1100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0.8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1.20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5.0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13</a:t>
                      </a:r>
                      <a:endParaRPr lang="en-US" sz="80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355674" y="5243710"/>
          <a:ext cx="5641678" cy="149352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577971"/>
                <a:gridCol w="1354347"/>
                <a:gridCol w="785004"/>
                <a:gridCol w="845389"/>
                <a:gridCol w="793630"/>
                <a:gridCol w="595223"/>
                <a:gridCol w="690114"/>
              </a:tblGrid>
              <a:tr h="197910">
                <a:tc rowSpan="7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Non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Magnetic Package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MA4P7441F-1091T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2.2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 smtClean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MA4P7446F-1091T</a:t>
                      </a: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2.2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18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MA4P7452F-1072T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0.7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0.90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9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MA4P7461F-1072T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1.0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 smtClean="0"/>
                        <a:t>MA4P7464F-1072T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400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0.8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0.60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4.5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20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MA4P7470F-1072T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800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0.7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0.80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6.5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13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910"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MADP-000235-10720T</a:t>
                      </a:r>
                      <a:endParaRPr lang="en-US" sz="800" b="0" dirty="0"/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35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1.2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0.50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0.3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 smtClean="0"/>
                        <a:t>20</a:t>
                      </a:r>
                      <a:endParaRPr lang="en-US" sz="800" b="0" dirty="0"/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184" y="6383547"/>
            <a:ext cx="3483429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 smtClean="0"/>
              <a:t>#1 Supplier of MELF PIN DIODES</a:t>
            </a:r>
          </a:p>
        </p:txBody>
      </p:sp>
    </p:spTree>
    <p:extLst>
      <p:ext uri="{BB962C8B-B14F-4D97-AF65-F5344CB8AC3E}">
        <p14:creationId xmlns:p14="http://schemas.microsoft.com/office/powerpoint/2010/main" val="22242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5769387" y="1412699"/>
            <a:ext cx="3126136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Discrete Series PIN Diode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Plastic Package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smtClean="0"/>
              <a:t>Medium 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algn="l">
              <a:buFont typeface="Arial" pitchFamily="34" charset="0"/>
              <a:buChar char="•"/>
            </a:pPr>
            <a:endParaRPr lang="en-US" sz="1600" dirty="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20725"/>
              </p:ext>
            </p:extLst>
          </p:nvPr>
        </p:nvGraphicFramePr>
        <p:xfrm>
          <a:off x="273047" y="1412699"/>
          <a:ext cx="5066599" cy="3272345"/>
        </p:xfrm>
        <a:graphic>
          <a:graphicData uri="http://schemas.openxmlformats.org/drawingml/2006/table">
            <a:tbl>
              <a:tblPr/>
              <a:tblGrid>
                <a:gridCol w="1163466"/>
                <a:gridCol w="364067"/>
                <a:gridCol w="524933"/>
                <a:gridCol w="306933"/>
                <a:gridCol w="451200"/>
                <a:gridCol w="451200"/>
                <a:gridCol w="451200"/>
                <a:gridCol w="451200"/>
                <a:gridCol w="451200"/>
                <a:gridCol w="451200"/>
              </a:tblGrid>
              <a:tr h="287439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Power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(W)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Maximum (GHz)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Package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143720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</a:rPr>
                        <a:t>Frequency (GHz)</a:t>
                      </a:r>
                      <a:endParaRPr lang="en-US" sz="800" dirty="0"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41306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MSWSE-005-10S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MSWSE-005-15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MSWSE-010-15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MSWSE-010-15S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0402P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MSWSE-010-16S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0402P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MSWSE-020-05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+mj-lt"/>
                          <a:cs typeface="Arial" pitchFamily="34" charset="0"/>
                        </a:rPr>
                        <a:t>MADP-010630-13920T</a:t>
                      </a:r>
                      <a:endParaRPr lang="en-US" sz="800" dirty="0">
                        <a:latin typeface="+mj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9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MSWSE-020-10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+mj-lt"/>
                          <a:cs typeface="Arial" pitchFamily="34" charset="0"/>
                        </a:rPr>
                        <a:t>MADP-010631-13920T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0.08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MSWSE-040-10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MSWSE-044-10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MSWSE-050-10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+mj-lt"/>
                          <a:cs typeface="Arial" pitchFamily="34" charset="0"/>
                        </a:rPr>
                        <a:t>MADP-010633-13920T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&gt;50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0.30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0805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MSWSE-050-17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0805P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MSWSER-070-10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3023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7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MSWSER-100-05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3023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36" y="2828796"/>
            <a:ext cx="1767933" cy="116062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26341" y="4989107"/>
          <a:ext cx="5058133" cy="1553874"/>
        </p:xfrm>
        <a:graphic>
          <a:graphicData uri="http://schemas.openxmlformats.org/drawingml/2006/table">
            <a:tbl>
              <a:tblPr/>
              <a:tblGrid>
                <a:gridCol w="1163464"/>
                <a:gridCol w="347134"/>
                <a:gridCol w="533400"/>
                <a:gridCol w="311459"/>
                <a:gridCol w="450446"/>
                <a:gridCol w="450446"/>
                <a:gridCol w="450446"/>
                <a:gridCol w="450446"/>
                <a:gridCol w="450446"/>
                <a:gridCol w="450446"/>
              </a:tblGrid>
              <a:tr h="351558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Power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(W)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</a:t>
                      </a:r>
                    </a:p>
                    <a:p>
                      <a:pPr algn="ctr" fontAlgn="t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(GHz)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Package*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180066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Frequency (GHz)</a:t>
                      </a:r>
                      <a:endParaRPr lang="en-US" sz="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0066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MEST2G-010-20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MEST2G-020-15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MEST2G-050-45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66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MEST2G-050-80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50"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MEST2G-010-20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715" y="4423570"/>
            <a:ext cx="1676176" cy="113498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475" y="4120381"/>
            <a:ext cx="1205906" cy="22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475" y="5731176"/>
            <a:ext cx="1205906" cy="762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fontAlgn="base"/>
            <a:r>
              <a:rPr lang="en-US" sz="2400" b="1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PIN DIODE SWITCH ELEMENT</a:t>
            </a:r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1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46702" y="1842752"/>
          <a:ext cx="6770450" cy="3327722"/>
        </p:xfrm>
        <a:graphic>
          <a:graphicData uri="http://schemas.openxmlformats.org/drawingml/2006/table">
            <a:tbl>
              <a:tblPr/>
              <a:tblGrid>
                <a:gridCol w="1455986"/>
                <a:gridCol w="434848"/>
                <a:gridCol w="711520"/>
                <a:gridCol w="459578"/>
                <a:gridCol w="585549"/>
                <a:gridCol w="585549"/>
                <a:gridCol w="585549"/>
                <a:gridCol w="585549"/>
                <a:gridCol w="585549"/>
                <a:gridCol w="780773"/>
              </a:tblGrid>
              <a:tr h="536202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 Power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 (W)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 (GHz)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Package*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274640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Frequency (GHz)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4640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MEST2G-025-10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MEST2G-080-25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MEST2G-100-20-CM33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MEST2G-150-10-CM30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15W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MEST2G-150-10-CM32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MEST2G-160-10-CM33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CM33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640"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AA"/>
                    </a:solidFill>
                  </a:tcPr>
                </a:tc>
              </a:tr>
              <a:tr h="3197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MADP-011037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&gt;125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3mm QFN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328" y="5352247"/>
            <a:ext cx="1908414" cy="1274317"/>
          </a:xfrm>
          <a:prstGeom prst="rect">
            <a:avLst/>
          </a:prstGeom>
        </p:spPr>
      </p:pic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95862" y="1169738"/>
            <a:ext cx="7837903" cy="1505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Die mounted on thermally-conductive, electrically-insulating substrate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Very low thermal resistance for high-power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algn="l">
              <a:buFont typeface="Arial" pitchFamily="34" charset="0"/>
              <a:buChar char="•"/>
            </a:pPr>
            <a:endParaRPr lang="en-US" dirty="0" smtClean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12" y="5210942"/>
            <a:ext cx="1498895" cy="141562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2115" y="5352247"/>
            <a:ext cx="1326481" cy="9377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5862" y="5820128"/>
            <a:ext cx="172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CMxx Packages: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2984" y="5820128"/>
            <a:ext cx="1724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QFN Package: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fontAlgn="base"/>
            <a:r>
              <a:rPr lang="en-US" sz="2400" b="1" kern="12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PIN DIODE SWITCH ELEMENT</a:t>
            </a:r>
            <a:endParaRPr lang="en-US" dirty="0" smtClean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98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40661" y="3603810"/>
          <a:ext cx="8507503" cy="2648087"/>
        </p:xfrm>
        <a:graphic>
          <a:graphicData uri="http://schemas.openxmlformats.org/drawingml/2006/table">
            <a:tbl>
              <a:tblPr/>
              <a:tblGrid>
                <a:gridCol w="1688876"/>
                <a:gridCol w="757625"/>
                <a:gridCol w="920616"/>
                <a:gridCol w="594636"/>
                <a:gridCol w="757625"/>
                <a:gridCol w="757625"/>
                <a:gridCol w="757625"/>
                <a:gridCol w="757625"/>
                <a:gridCol w="757625"/>
                <a:gridCol w="757625"/>
              </a:tblGrid>
              <a:tr h="577508"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Number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Rated</a:t>
                      </a:r>
                    </a:p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Power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(W)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</a:t>
                      </a:r>
                    </a:p>
                    <a:p>
                      <a:pPr algn="ctr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(GHz)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Insertion Loss</a:t>
                      </a:r>
                    </a:p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Isolation</a:t>
                      </a:r>
                    </a:p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Typical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Package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</a:tr>
              <a:tr h="295797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7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Frequency (GHz)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5797"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MSWSH-020-24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MSWSH-020-30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MSHSH-040-30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MSWSHC-040-40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7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MSWSHB-020-30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84"/>
          <p:cNvSpPr txBox="1">
            <a:spLocks noChangeArrowheads="1"/>
          </p:cNvSpPr>
          <p:nvPr/>
        </p:nvSpPr>
        <p:spPr bwMode="auto">
          <a:xfrm>
            <a:off x="236807" y="1148054"/>
            <a:ext cx="8368929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Plastic Over-Mold Package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 smtClean="0"/>
              <a:t>Very Low Inductance Package for High Isolation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355" y="2127593"/>
            <a:ext cx="2117917" cy="1314569"/>
          </a:xfrm>
          <a:prstGeom prst="rect">
            <a:avLst/>
          </a:prstGeom>
        </p:spPr>
      </p:pic>
      <p:pic>
        <p:nvPicPr>
          <p:cNvPr id="8" name="Picture 2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4484" y="2075615"/>
            <a:ext cx="1934536" cy="131456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Shunt PIN Element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09184" y="308265"/>
            <a:ext cx="6540500" cy="547688"/>
          </a:xfrm>
        </p:spPr>
        <p:txBody>
          <a:bodyPr/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Discrete Diode Solution</a:t>
            </a:r>
          </a:p>
        </p:txBody>
      </p:sp>
      <p:sp>
        <p:nvSpPr>
          <p:cNvPr id="50454" name="Oval 130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131978" y="1842004"/>
          <a:ext cx="8853522" cy="504444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01635"/>
                <a:gridCol w="650817"/>
                <a:gridCol w="464869"/>
                <a:gridCol w="623347"/>
                <a:gridCol w="548640"/>
                <a:gridCol w="548640"/>
                <a:gridCol w="640080"/>
                <a:gridCol w="464869"/>
                <a:gridCol w="548640"/>
                <a:gridCol w="548640"/>
                <a:gridCol w="548640"/>
                <a:gridCol w="548640"/>
                <a:gridCol w="669130"/>
                <a:gridCol w="746935"/>
              </a:tblGrid>
              <a:tr h="221032"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(mils)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VB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 MHz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100 MHz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 GHz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Lifetime (ns)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Nominal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I-region  (</a:t>
                      </a:r>
                      <a:r>
                        <a:rPr lang="en-US" sz="100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2063"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Cj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40 V 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10 mA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20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100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Cj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40 V 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10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20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50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70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MADP-042305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MADP-042405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MADP-042505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0.83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MADP-042905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3.14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140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MA4SPS302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 X</a:t>
                      </a:r>
                      <a:r>
                        <a:rPr lang="en-US" sz="900" baseline="0" dirty="0" smtClean="0"/>
                        <a:t> 55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460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 X 49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0.034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4.6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MADP-017015-1314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MADP-030015-1314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1600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MADP-017025-1314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1.01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MADP-030025-1314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MA4SPS502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23 X 57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MA4SPS552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12 X 22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MA4SPS421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6.2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MA4SPS422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MADP-042308-1306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MADP-042408-1306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MADP-042508-1306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0.97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0.87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MADP-042908-1306 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3.63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3.02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43731" y="1168446"/>
            <a:ext cx="4419921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Surmount PIN diodes</a:t>
            </a:r>
          </a:p>
          <a:p>
            <a:pPr algn="l"/>
            <a:r>
              <a:rPr lang="en-US" dirty="0" smtClean="0"/>
              <a:t>Available I-region Thickness: 7 to 100 µm</a:t>
            </a:r>
          </a:p>
          <a:p>
            <a:pPr algn="l"/>
            <a:endParaRPr lang="en-US" dirty="0" smtClean="0"/>
          </a:p>
        </p:txBody>
      </p:sp>
      <p:pic>
        <p:nvPicPr>
          <p:cNvPr id="17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630498">
            <a:off x="7407028" y="1309177"/>
            <a:ext cx="837825" cy="322343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18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316774">
            <a:off x="5317589" y="1272855"/>
            <a:ext cx="744977" cy="286621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19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2389760">
            <a:off x="6319283" y="1225957"/>
            <a:ext cx="806358" cy="310236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388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240" y="183932"/>
            <a:ext cx="6061075" cy="363537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dirty="0" smtClean="0"/>
              <a:t>Discrete Diodes – Limiters</a:t>
            </a:r>
            <a:endParaRPr lang="en-US" dirty="0"/>
          </a:p>
        </p:txBody>
      </p:sp>
      <p:sp>
        <p:nvSpPr>
          <p:cNvPr id="187399" name="Rectangle 6"/>
          <p:cNvSpPr>
            <a:spLocks noChangeArrowheads="1"/>
          </p:cNvSpPr>
          <p:nvPr/>
        </p:nvSpPr>
        <p:spPr bwMode="auto">
          <a:xfrm>
            <a:off x="213403" y="1221000"/>
            <a:ext cx="850321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Die Versions (to 20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Available in Ceramic &amp; Plastic Packages  (up to 12 GHz)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</a:t>
            </a:r>
            <a:r>
              <a:rPr lang="en-US" altLang="ko-KR" sz="1400" b="1" dirty="0">
                <a:ea typeface="굴림" pitchFamily="34" charset="-127"/>
              </a:rPr>
              <a:t>Low </a:t>
            </a:r>
            <a:r>
              <a:rPr lang="en-US" altLang="ko-KR" sz="1400" b="1" dirty="0" smtClean="0">
                <a:ea typeface="굴림" pitchFamily="34" charset="-127"/>
              </a:rPr>
              <a:t>Capacitance</a:t>
            </a:r>
            <a:endParaRPr lang="en-US" altLang="ko-KR" sz="1400" b="1" dirty="0">
              <a:ea typeface="굴림" pitchFamily="34" charset="-127"/>
            </a:endParaRP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>
                <a:ea typeface="굴림" pitchFamily="34" charset="-127"/>
              </a:rPr>
              <a:t> </a:t>
            </a:r>
            <a:r>
              <a:rPr lang="en-US" altLang="ko-KR" sz="1400" b="1" dirty="0" smtClean="0">
                <a:ea typeface="굴림" pitchFamily="34" charset="-127"/>
              </a:rPr>
              <a:t>Cascadable for Increased </a:t>
            </a:r>
            <a:r>
              <a:rPr lang="en-US" altLang="ko-KR" sz="1400" b="1" dirty="0">
                <a:ea typeface="굴림" pitchFamily="34" charset="-127"/>
              </a:rPr>
              <a:t>Power Handling and </a:t>
            </a:r>
            <a:r>
              <a:rPr lang="en-US" altLang="ko-KR" sz="1400" b="1" dirty="0" smtClean="0">
                <a:ea typeface="굴림" pitchFamily="34" charset="-127"/>
              </a:rPr>
              <a:t>Limiting</a:t>
            </a:r>
          </a:p>
          <a:p>
            <a:pPr marL="0" lvl="1" algn="l">
              <a:lnSpc>
                <a:spcPct val="80000"/>
              </a:lnSpc>
              <a:spcBef>
                <a:spcPct val="25000"/>
              </a:spcBef>
              <a:buFont typeface="Wingdings" pitchFamily="2" charset="2"/>
              <a:buChar char="§"/>
            </a:pPr>
            <a:r>
              <a:rPr lang="en-US" altLang="ko-KR" sz="1400" b="1" dirty="0" smtClean="0">
                <a:ea typeface="굴림" pitchFamily="34" charset="-127"/>
              </a:rPr>
              <a:t> Au-doped and non-Au-doped diodes available to optimize recovery time and flat leakage power</a:t>
            </a:r>
            <a:endParaRPr lang="en-US" altLang="ko-KR" sz="1400" b="1" dirty="0">
              <a:ea typeface="굴림" pitchFamily="34" charset="-127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17577" y="2450094"/>
          <a:ext cx="7968342" cy="416426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71202"/>
                <a:gridCol w="489645"/>
                <a:gridCol w="484094"/>
                <a:gridCol w="788894"/>
                <a:gridCol w="749395"/>
                <a:gridCol w="712519"/>
                <a:gridCol w="795647"/>
                <a:gridCol w="866899"/>
                <a:gridCol w="819397"/>
                <a:gridCol w="890650"/>
              </a:tblGrid>
              <a:tr h="397604">
                <a:tc rowSpan="3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V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en-US" sz="105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Min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       C</a:t>
                      </a:r>
                      <a:r>
                        <a:rPr lang="en-US" sz="1050" b="1" baseline="-25000" dirty="0" smtClean="0">
                          <a:solidFill>
                            <a:schemeClr val="bg1"/>
                          </a:solidFill>
                        </a:rPr>
                        <a:t>j</a:t>
                      </a:r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 @ 0 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Max</a:t>
                      </a:r>
                      <a:r>
                        <a:rPr lang="en-US" sz="105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@ 10 mA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50" b="1" dirty="0" smtClean="0"/>
                        <a:t>Nominal Characteristics</a:t>
                      </a:r>
                      <a:endParaRPr lang="en-US" sz="1050" b="1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</a:tr>
              <a:tr h="3630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Carrier Lifetime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Intrinsic</a:t>
                      </a:r>
                    </a:p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Region Thickness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Contact Diameter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Thermal Resistance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65062">
                <a:tc vMerge="1"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V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pF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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ns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mils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smtClean="0">
                          <a:solidFill>
                            <a:schemeClr val="bg1"/>
                          </a:solidFill>
                        </a:rPr>
                        <a:t>ºC/W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3531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MA4L011-134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0.18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36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MA4L021-134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MA4L022-134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0.19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MADL-011009-0134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0.16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MA4L031-134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0.21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4785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MA4L032-134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MADL-011010-0134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MA4L062-134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MADL-011011-0134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60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75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0.05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0.17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720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MA4L101-134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0.15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2.00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90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13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4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MADL-000301-0134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3.0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7095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MA4L401-134</a:t>
                      </a:r>
                      <a:endParaRPr lang="en-US" sz="10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0.30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1.20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800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4.5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/>
                        <a:t>25</a:t>
                      </a:r>
                      <a:endParaRPr lang="en-US" sz="1000" dirty="0"/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27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0888"/>
            <a:ext cx="7719392" cy="5334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>HMIC and AlGaAs MMIC Performance Comparison </a:t>
            </a:r>
            <a:r>
              <a:rPr lang="en-US" dirty="0"/>
              <a:t>		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04775" y="1019173"/>
          <a:ext cx="896302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/>
                <a:gridCol w="2752725"/>
                <a:gridCol w="2495549"/>
              </a:tblGrid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HMIC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AlGaAs</a:t>
                      </a:r>
                      <a:endParaRPr lang="en-US" dirty="0"/>
                    </a:p>
                  </a:txBody>
                  <a:tcPr/>
                </a:tc>
              </a:tr>
              <a:tr h="61426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Switches, Attenuators, Limiters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Silicon and Glass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Semi-Insulating</a:t>
                      </a:r>
                      <a:r>
                        <a:rPr lang="en-US" baseline="0" dirty="0" smtClean="0"/>
                        <a:t> GaAs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Die Thickness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Intrinsic Length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to 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I/O</a:t>
                      </a:r>
                      <a:r>
                        <a:rPr lang="en-US" baseline="0" dirty="0" smtClean="0"/>
                        <a:t> Connections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and SMT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Only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Passive R,L,C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Breakdown 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to 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 </a:t>
                      </a:r>
                      <a:r>
                        <a:rPr lang="en-US" baseline="0" dirty="0" smtClean="0"/>
                        <a:t>(GHz)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Loss at 10 GHz (SP4T)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Switching Speed (ns)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IIP3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515743">
                <a:tc>
                  <a:txBody>
                    <a:bodyPr/>
                    <a:lstStyle/>
                    <a:p>
                      <a:r>
                        <a:rPr lang="en-US" dirty="0" smtClean="0"/>
                        <a:t>CW Power Handling, @ 2 GHz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+23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48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/>
          </p:nvPr>
        </p:nvGraphicFramePr>
        <p:xfrm>
          <a:off x="315913" y="974725"/>
          <a:ext cx="8229600" cy="512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11756" name="Group 108"/>
          <p:cNvGraphicFramePr>
            <a:graphicFrameLocks noGrp="1"/>
          </p:cNvGraphicFramePr>
          <p:nvPr>
            <p:extLst/>
          </p:nvPr>
        </p:nvGraphicFramePr>
        <p:xfrm>
          <a:off x="611030" y="1206631"/>
          <a:ext cx="7863840" cy="4211872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{3C2FFA5D-87B4-456A-9821-1D502468CF0F}</a:tableStyleId>
              </a:tblPr>
              <a:tblGrid>
                <a:gridCol w="914400"/>
                <a:gridCol w="1005840"/>
                <a:gridCol w="914400"/>
                <a:gridCol w="822960"/>
                <a:gridCol w="640080"/>
                <a:gridCol w="1005840"/>
                <a:gridCol w="548640"/>
                <a:gridCol w="1188720"/>
                <a:gridCol w="822960"/>
              </a:tblGrid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Topology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Frequency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(GHz)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Insertion Loss (dB)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Isolation (dB)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</a:t>
                      </a:r>
                      <a:r>
                        <a:rPr kumimoji="0" lang="en-US" sz="1200" u="none" strike="noStrike" cap="none" normalizeH="0" baseline="-25000" dirty="0" smtClean="0">
                          <a:ln>
                            <a:noFill/>
                          </a:ln>
                          <a:effectLst/>
                        </a:rPr>
                        <a:t>1dB</a:t>
                      </a: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(dBm)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 or Absorptive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Bias (mA)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Part Number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Package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SPST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46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SPST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10-50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Absorptive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MA4AGSW1A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SP2T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0.7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SP3T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0.8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MA4AGSW3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SP4T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MA4AGSW4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SP5T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–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1.9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MA4AGSW5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SP8T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0.05 - 18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18 - 50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2.0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32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Reflective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MA4AGSW8-1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1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DIE</a:t>
                      </a:r>
                      <a:endParaRPr kumimoji="0" 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anchorCtr="1" horzOverflow="overflow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BEAF">
                        <a:alpha val="4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284377" y="355357"/>
            <a:ext cx="5481638" cy="457200"/>
          </a:xfrm>
        </p:spPr>
        <p:txBody>
          <a:bodyPr>
            <a:noAutofit/>
          </a:bodyPr>
          <a:lstStyle/>
          <a:p>
            <a:r>
              <a:rPr lang="en-US" sz="3200" dirty="0"/>
              <a:t>AlGaAs </a:t>
            </a:r>
            <a:r>
              <a:rPr lang="en-US" sz="3200" dirty="0" smtClean="0"/>
              <a:t>Products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97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17569" y="47118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MASW-011036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</a:t>
            </a:r>
            <a:r>
              <a:rPr lang="en-US" sz="2400" dirty="0" smtClean="0"/>
              <a:t>Terminated 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48854" y="1132755"/>
            <a:ext cx="4572000" cy="17943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Broadband Performance: </a:t>
            </a:r>
            <a:r>
              <a:rPr lang="en-US" sz="1400" dirty="0"/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Low </a:t>
            </a:r>
            <a:r>
              <a:rPr lang="en-US" sz="1400" dirty="0"/>
              <a:t>Loss &lt;1 </a:t>
            </a:r>
            <a:r>
              <a:rPr lang="en-US" sz="1400" dirty="0" smtClean="0"/>
              <a:t>dB; High </a:t>
            </a:r>
            <a:r>
              <a:rPr lang="en-US" sz="1400" dirty="0"/>
              <a:t>Isolation &gt;38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Up </a:t>
            </a:r>
            <a:r>
              <a:rPr lang="en-US" sz="1400" dirty="0"/>
              <a:t>to 13 W CW Power, </a:t>
            </a:r>
            <a:r>
              <a:rPr lang="en-US" sz="1400" dirty="0" smtClean="0"/>
              <a:t>85 °</a:t>
            </a:r>
            <a:r>
              <a:rPr lang="en-US" sz="14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Die </a:t>
            </a:r>
            <a:r>
              <a:rPr lang="en-US" sz="1400" dirty="0"/>
              <a:t>with </a:t>
            </a:r>
            <a:r>
              <a:rPr lang="en-US" sz="1400" dirty="0" smtClean="0"/>
              <a:t>G-S-G </a:t>
            </a:r>
            <a:r>
              <a:rPr lang="en-US" sz="1400" dirty="0"/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Includes </a:t>
            </a:r>
            <a:r>
              <a:rPr lang="en-US" sz="1400" dirty="0"/>
              <a:t>DC Blocks and RF Bias Networks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23 </a:t>
            </a:r>
            <a:r>
              <a:rPr lang="en-US" sz="1400" dirty="0"/>
              <a:t>dBm power handling in terminated 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214" y="1755452"/>
            <a:ext cx="1900237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926" y="1246247"/>
            <a:ext cx="1835884" cy="1517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5" y="2872327"/>
            <a:ext cx="4973525" cy="34247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04" y="3259974"/>
            <a:ext cx="2010765" cy="15518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740" y="4731026"/>
            <a:ext cx="2193972" cy="169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2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117569" y="-12517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MASW-010646 </a:t>
            </a:r>
            <a:br>
              <a:rPr lang="en-US" sz="2400" dirty="0" smtClean="0"/>
            </a:br>
            <a:r>
              <a:rPr lang="en-US" sz="2400" dirty="0" smtClean="0"/>
              <a:t>Ka-Band </a:t>
            </a:r>
            <a:r>
              <a:rPr lang="en-US" sz="2400" dirty="0"/>
              <a:t>High Power Reflective </a:t>
            </a:r>
            <a:r>
              <a:rPr lang="en-US" sz="2400" dirty="0" smtClean="0"/>
              <a:t>AlGaAs SPDT </a:t>
            </a:r>
            <a:r>
              <a:rPr lang="en-US" sz="2400" dirty="0"/>
              <a:t>PIN </a:t>
            </a:r>
            <a:r>
              <a:rPr lang="en-US" sz="2400" dirty="0" smtClean="0"/>
              <a:t>Switch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48853" y="1142694"/>
            <a:ext cx="4170771" cy="1794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Broadband Performance: </a:t>
            </a:r>
            <a:r>
              <a:rPr lang="en-US" sz="1400" dirty="0">
                <a:latin typeface="Arial" panose="020B0604020202020204" pitchFamily="34" charset="0"/>
              </a:rPr>
              <a:t>26 to 40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Low </a:t>
            </a:r>
            <a:r>
              <a:rPr lang="en-US" sz="1400" dirty="0">
                <a:latin typeface="Arial" panose="020B0604020202020204" pitchFamily="34" charset="0"/>
              </a:rPr>
              <a:t>Loss: 0.6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High </a:t>
            </a:r>
            <a:r>
              <a:rPr lang="en-US" sz="1400" dirty="0">
                <a:latin typeface="Arial" panose="020B0604020202020204" pitchFamily="34" charset="0"/>
              </a:rPr>
              <a:t>Isolation: 32 dB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Up </a:t>
            </a:r>
            <a:r>
              <a:rPr lang="en-US" sz="1400" dirty="0">
                <a:latin typeface="Arial" panose="020B0604020202020204" pitchFamily="34" charset="0"/>
              </a:rPr>
              <a:t>to 13 W CW Power, </a:t>
            </a:r>
            <a:r>
              <a:rPr lang="en-US" sz="1400" dirty="0" smtClean="0">
                <a:latin typeface="Arial" panose="020B0604020202020204" pitchFamily="34" charset="0"/>
              </a:rPr>
              <a:t>85 °</a:t>
            </a:r>
            <a:r>
              <a:rPr lang="en-US" sz="1400" dirty="0">
                <a:latin typeface="Arial" panose="020B0604020202020204" pitchFamily="34" charset="0"/>
              </a:rPr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Die </a:t>
            </a:r>
            <a:r>
              <a:rPr lang="en-US" sz="1400" dirty="0">
                <a:latin typeface="Arial" panose="020B0604020202020204" pitchFamily="34" charset="0"/>
              </a:rPr>
              <a:t>with </a:t>
            </a:r>
            <a:r>
              <a:rPr lang="en-US" sz="1400" dirty="0" smtClean="0">
                <a:latin typeface="Arial" panose="020B0604020202020204" pitchFamily="34" charset="0"/>
              </a:rPr>
              <a:t>G-S-G </a:t>
            </a:r>
            <a:r>
              <a:rPr lang="en-US" sz="1400" dirty="0">
                <a:latin typeface="Arial" panose="020B0604020202020204" pitchFamily="34" charset="0"/>
              </a:rPr>
              <a:t>RF Pads and DC Bias Pads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Includes </a:t>
            </a:r>
            <a:r>
              <a:rPr lang="en-US" sz="1400" dirty="0">
                <a:latin typeface="Arial" panose="020B0604020202020204" pitchFamily="34" charset="0"/>
              </a:rPr>
              <a:t>DC Blocks and RF Bias Networks</a:t>
            </a:r>
            <a:endParaRPr lang="en-US" sz="14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530" y="2594113"/>
            <a:ext cx="2392133" cy="185784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590" y="4665689"/>
            <a:ext cx="2524047" cy="198825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084" y="1311118"/>
            <a:ext cx="1845497" cy="92024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905" y="2982977"/>
            <a:ext cx="5175576" cy="387533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041" y="1210789"/>
            <a:ext cx="1869623" cy="122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9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5" y="326977"/>
            <a:ext cx="7368751" cy="457200"/>
          </a:xfrm>
        </p:spPr>
        <p:txBody>
          <a:bodyPr>
            <a:noAutofit/>
          </a:bodyPr>
          <a:lstStyle/>
          <a:p>
            <a:r>
              <a:rPr lang="en-US" sz="2000" dirty="0" smtClean="0"/>
              <a:t>HMIC</a:t>
            </a:r>
            <a:r>
              <a:rPr lang="en-US" sz="2000" baseline="42000" dirty="0"/>
              <a:t>TM</a:t>
            </a:r>
            <a:r>
              <a:rPr lang="en-US" sz="2000" dirty="0" smtClean="0"/>
              <a:t> SP2T  6-14 GHz  (Terminated SPDT)</a:t>
            </a:r>
            <a:br>
              <a:rPr lang="en-US" sz="2000" dirty="0" smtClean="0"/>
            </a:br>
            <a:r>
              <a:rPr lang="en-US" sz="2000" dirty="0" smtClean="0"/>
              <a:t>MASW-010647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248853" y="1157973"/>
            <a:ext cx="4873053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X-Band Terminated SPDT switch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Wire-Bondable Bare Die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Low </a:t>
            </a:r>
            <a:r>
              <a:rPr lang="en-US" sz="1400" dirty="0">
                <a:latin typeface="Arial" panose="020B0604020202020204" pitchFamily="34" charset="0"/>
              </a:rPr>
              <a:t>Insertion </a:t>
            </a:r>
            <a:r>
              <a:rPr lang="en-US" sz="1400" dirty="0" smtClean="0">
                <a:latin typeface="Arial" panose="020B0604020202020204" pitchFamily="34" charset="0"/>
              </a:rPr>
              <a:t>Loss/ High </a:t>
            </a:r>
            <a:r>
              <a:rPr lang="en-US" sz="1400" dirty="0">
                <a:latin typeface="Arial" panose="020B0604020202020204" pitchFamily="34" charset="0"/>
              </a:rPr>
              <a:t>Isolation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All Shunt Design; Integrated Bias Network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Glass </a:t>
            </a:r>
            <a:r>
              <a:rPr lang="en-US" sz="1400" dirty="0">
                <a:latin typeface="Arial" panose="020B0604020202020204" pitchFamily="34" charset="0"/>
              </a:rPr>
              <a:t>Encapsulated 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Greater </a:t>
            </a:r>
            <a:r>
              <a:rPr lang="en-US" sz="1400" dirty="0">
                <a:latin typeface="Arial" panose="020B0604020202020204" pitchFamily="34" charset="0"/>
              </a:rPr>
              <a:t>than 20 W CW Power Handling @ </a:t>
            </a:r>
            <a:r>
              <a:rPr lang="en-US" sz="1400" dirty="0" smtClean="0">
                <a:latin typeface="Arial" panose="020B0604020202020204" pitchFamily="34" charset="0"/>
              </a:rPr>
              <a:t>85 °</a:t>
            </a:r>
            <a:r>
              <a:rPr lang="en-US" sz="1400" dirty="0">
                <a:latin typeface="Arial" panose="020B0604020202020204" pitchFamily="34" charset="0"/>
              </a:rPr>
              <a:t>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Silicon </a:t>
            </a:r>
            <a:r>
              <a:rPr lang="en-US" sz="1400" dirty="0">
                <a:latin typeface="Arial" panose="020B0604020202020204" pitchFamily="34" charset="0"/>
              </a:rPr>
              <a:t>Nitride </a:t>
            </a:r>
            <a:r>
              <a:rPr lang="en-US" sz="1400" dirty="0" smtClean="0">
                <a:latin typeface="Arial" panose="020B0604020202020204" pitchFamily="34" charset="0"/>
              </a:rPr>
              <a:t>Passivation/Polymer </a:t>
            </a:r>
            <a:r>
              <a:rPr lang="en-US" sz="1400" dirty="0">
                <a:latin typeface="Arial" panose="020B0604020202020204" pitchFamily="34" charset="0"/>
              </a:rPr>
              <a:t>Scratch Protection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RoHS </a:t>
            </a:r>
            <a:r>
              <a:rPr lang="en-US" sz="1400" dirty="0">
                <a:latin typeface="Arial" panose="020B0604020202020204" pitchFamily="34" charset="0"/>
              </a:rPr>
              <a:t>Compliant</a:t>
            </a:r>
            <a:endParaRPr lang="en-US" sz="14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94" y="1192045"/>
            <a:ext cx="3857854" cy="15675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" y="3505410"/>
            <a:ext cx="5085285" cy="30556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468" y="2635578"/>
            <a:ext cx="2382987" cy="19133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468" y="4548925"/>
            <a:ext cx="2416974" cy="20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2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159625" y="134472"/>
            <a:ext cx="4427538" cy="1051346"/>
          </a:xfrm>
        </p:spPr>
        <p:txBody>
          <a:bodyPr vert="horz" lIns="0" anchor="ctr" anchorCtr="0">
            <a:normAutofit/>
          </a:bodyPr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Package-less Surface Mountable </a:t>
            </a:r>
            <a:r>
              <a:rPr lang="en-US" dirty="0" smtClean="0"/>
              <a:t>Si PIN Diode Switches</a:t>
            </a:r>
            <a:endParaRPr lang="en-US" dirty="0"/>
          </a:p>
        </p:txBody>
      </p:sp>
      <p:graphicFrame>
        <p:nvGraphicFramePr>
          <p:cNvPr id="46552" name="Group 472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392711" y="3429000"/>
          <a:ext cx="8410632" cy="3096452"/>
        </p:xfrm>
        <a:graphic>
          <a:graphicData uri="http://schemas.openxmlformats.org/drawingml/2006/table">
            <a:tbl>
              <a:tblPr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274338"/>
                <a:gridCol w="1396407"/>
                <a:gridCol w="1152270"/>
                <a:gridCol w="1274338"/>
                <a:gridCol w="1274338"/>
                <a:gridCol w="2038941"/>
              </a:tblGrid>
              <a:tr h="741872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Topology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Frequency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Insertion Loss (dB)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Isolation (dB)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0.1dB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 (dBm)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Part Number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SPDT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0.6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0.9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45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31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MASW-002103-1363</a:t>
                      </a:r>
                      <a:endParaRPr kumimoji="0" lang="en-US" sz="16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SP3T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0.65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0.95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37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28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MASW-003103-1364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SP4T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0.7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1.0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30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MASW-004103-1365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538" name="Text Box 458"/>
          <p:cNvSpPr txBox="1">
            <a:spLocks noChangeArrowheads="1"/>
          </p:cNvSpPr>
          <p:nvPr/>
        </p:nvSpPr>
        <p:spPr bwMode="auto">
          <a:xfrm>
            <a:off x="276167" y="1254733"/>
            <a:ext cx="3823437" cy="17235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anchor="ctr" anchorCtr="0">
            <a:spAutoFit/>
          </a:bodyPr>
          <a:lstStyle/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Surface mount </a:t>
            </a:r>
            <a:r>
              <a:rPr lang="en-US" sz="2000" dirty="0" smtClean="0"/>
              <a:t>- </a:t>
            </a:r>
            <a:r>
              <a:rPr lang="en-US" sz="2000" dirty="0"/>
              <a:t>No wirebonds</a:t>
            </a:r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Packageless - </a:t>
            </a:r>
            <a:r>
              <a:rPr lang="en-US" sz="2000" dirty="0"/>
              <a:t>Low </a:t>
            </a:r>
            <a:r>
              <a:rPr lang="en-US" sz="2000" dirty="0" smtClean="0"/>
              <a:t>parasitics</a:t>
            </a:r>
            <a:endParaRPr lang="en-US" sz="2000" dirty="0"/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Series/Shunt multi-throw designs</a:t>
            </a:r>
            <a:endParaRPr lang="en-US" sz="2000" dirty="0"/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High </a:t>
            </a:r>
            <a:r>
              <a:rPr lang="en-US" sz="2000" dirty="0" smtClean="0"/>
              <a:t>Power - 6 W incident</a:t>
            </a:r>
            <a:r>
              <a:rPr lang="en-US" sz="2400" dirty="0" smtClean="0"/>
              <a:t> </a:t>
            </a:r>
            <a:endParaRPr lang="en-US" sz="2000" dirty="0"/>
          </a:p>
        </p:txBody>
      </p:sp>
      <p:pic>
        <p:nvPicPr>
          <p:cNvPr id="46545" name="Picture 46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099" y="1249064"/>
            <a:ext cx="1038225" cy="754062"/>
          </a:xfrm>
          <a:prstGeom prst="rect">
            <a:avLst/>
          </a:prstGeom>
          <a:noFill/>
        </p:spPr>
      </p:pic>
      <p:pic>
        <p:nvPicPr>
          <p:cNvPr id="46546" name="Picture 46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9062" y="1257001"/>
            <a:ext cx="965200" cy="774700"/>
          </a:xfrm>
          <a:prstGeom prst="rect">
            <a:avLst/>
          </a:prstGeom>
          <a:noFill/>
        </p:spPr>
      </p:pic>
      <p:pic>
        <p:nvPicPr>
          <p:cNvPr id="46547" name="Picture 46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85387" y="1333201"/>
            <a:ext cx="1036637" cy="719138"/>
          </a:xfrm>
          <a:prstGeom prst="rect">
            <a:avLst/>
          </a:prstGeom>
          <a:noFill/>
        </p:spPr>
      </p:pic>
      <p:pic>
        <p:nvPicPr>
          <p:cNvPr id="46548" name="Picture 46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47474" y="2165051"/>
            <a:ext cx="960438" cy="773113"/>
          </a:xfrm>
          <a:prstGeom prst="rect">
            <a:avLst/>
          </a:prstGeom>
          <a:noFill/>
        </p:spPr>
      </p:pic>
      <p:pic>
        <p:nvPicPr>
          <p:cNvPr id="46549" name="Picture 46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5437" y="2120601"/>
            <a:ext cx="1041400" cy="746125"/>
          </a:xfrm>
          <a:prstGeom prst="rect">
            <a:avLst/>
          </a:prstGeom>
          <a:noFill/>
        </p:spPr>
      </p:pic>
      <p:pic>
        <p:nvPicPr>
          <p:cNvPr id="46550" name="Picture 47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01262" y="2157114"/>
            <a:ext cx="1030287" cy="717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64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217649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HMIC™ Si PIN SP2T  6-14 GHz  </a:t>
            </a:r>
            <a:br>
              <a:rPr lang="en-US" sz="2400" dirty="0" smtClean="0"/>
            </a:br>
            <a:r>
              <a:rPr lang="en-US" sz="2400" dirty="0" smtClean="0"/>
              <a:t>MASW-011021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4427" y="1090881"/>
            <a:ext cx="5851870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Specified </a:t>
            </a:r>
            <a:r>
              <a:rPr lang="en-US" sz="1400" dirty="0"/>
              <a:t>from 8 GHz to 12 GHz </a:t>
            </a:r>
            <a:r>
              <a:rPr lang="en-US" sz="1400" dirty="0" smtClean="0"/>
              <a:t>; Usable 6-14 GHz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Low </a:t>
            </a:r>
            <a:r>
              <a:rPr lang="en-US" sz="1400" dirty="0"/>
              <a:t>Insertion Loss </a:t>
            </a:r>
            <a:r>
              <a:rPr lang="en-US" sz="1400" dirty="0" smtClean="0"/>
              <a:t>/ High </a:t>
            </a:r>
            <a:r>
              <a:rPr lang="en-US" sz="1400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All Shunt Design; Integrated Bias Network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Surface </a:t>
            </a:r>
            <a:r>
              <a:rPr lang="en-US" sz="1400" dirty="0"/>
              <a:t>Mountable, Fully Monolithic Die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Glass </a:t>
            </a:r>
            <a:r>
              <a:rPr lang="en-US" sz="1400" dirty="0"/>
              <a:t>Encapsulated Construction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20 </a:t>
            </a:r>
            <a:r>
              <a:rPr lang="en-US" sz="1400" dirty="0"/>
              <a:t>W Pulsed 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Silicon </a:t>
            </a:r>
            <a:r>
              <a:rPr lang="en-US" sz="1400" dirty="0"/>
              <a:t>Nitride Passivation </a:t>
            </a:r>
            <a:r>
              <a:rPr lang="en-US" sz="1400" dirty="0" smtClean="0"/>
              <a:t>/ Polymer </a:t>
            </a:r>
            <a:r>
              <a:rPr lang="en-US" sz="1400" dirty="0"/>
              <a:t>Scratch Protection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RoHS </a:t>
            </a:r>
            <a:r>
              <a:rPr lang="en-US" sz="1400" dirty="0"/>
              <a:t>Compliant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29" y="1283072"/>
            <a:ext cx="2086145" cy="11440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04" y="2588045"/>
            <a:ext cx="2516956" cy="203191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778" y="4686965"/>
            <a:ext cx="2394408" cy="19105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54" y="3464647"/>
            <a:ext cx="5548630" cy="306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4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ISPRING_RESOURCE_PATHS_HASH_2" val="754e257bf4e67b6eda8b5226aec68fcba58438"/>
  <p:tag name="MMPROD_UIDATA" val="&lt;database version=&quot;11.0&quot;&gt;&lt;object type=&quot;1&quot; unique_id=&quot;10001&quot;&gt;&lt;object type=&quot;8&quot; unique_id=&quot;10222&quot;&gt;&lt;/object&gt;&lt;object type=&quot;2&quot; unique_id=&quot;10223&quot;&gt;&lt;object type=&quot;3&quot; unique_id=&quot;33884&quot;&gt;&lt;property id=&quot;20148&quot; value=&quot;5&quot;/&gt;&lt;property id=&quot;20300&quot; value=&quot;Slide 1 - &amp;quot;Click to Edit MACOM Title Slide  Arial Black 24pt&amp;quot;&quot;/&gt;&lt;property id=&quot;20307&quot; value=&quot;484&quot;/&gt;&lt;/object&gt;&lt;object type=&quot;3&quot; unique_id=&quot;33885&quot;&gt;&lt;property id=&quot;20148&quot; value=&quot;5&quot;/&gt;&lt;property id=&quot;20300&quot; value=&quot;Slide 2 - &amp;quot;Layout: Section Divider&amp;quot;&quot;/&gt;&lt;property id=&quot;20307&quot; value=&quot;503&quot;/&gt;&lt;/object&gt;&lt;object type=&quot;3&quot; unique_id=&quot;33886&quot;&gt;&lt;property id=&quot;20148&quot; value=&quot;5&quot;/&gt;&lt;property id=&quot;20300&quot; value=&quot;Slide 3 - &amp;quot;Title and Content, Arial Black 24pt&amp;quot;&quot;/&gt;&lt;property id=&quot;20307&quot; value=&quot;489&quot;/&gt;&lt;/object&gt;&lt;object type=&quot;3&quot; unique_id=&quot;33887&quot;&gt;&lt;property id=&quot;20148&quot; value=&quot;5&quot;/&gt;&lt;property id=&quot;20300&quot; value=&quot;Slide 4 - &amp;quot;Title and Content with Subhead&amp;quot;&quot;/&gt;&lt;property id=&quot;20307&quot; value=&quot;504&quot;/&gt;&lt;/object&gt;&lt;object type=&quot;3&quot; unique_id=&quot;33888&quot;&gt;&lt;property id=&quot;20148&quot; value=&quot;5&quot;/&gt;&lt;property id=&quot;20300&quot; value=&quot;Slide 5 - &amp;quot;Layout: Two Content, No subhead&amp;quot;&quot;/&gt;&lt;property id=&quot;20307&quot; value=&quot;490&quot;/&gt;&lt;/object&gt;&lt;object type=&quot;3&quot; unique_id=&quot;33889&quot;&gt;&lt;property id=&quot;20148&quot; value=&quot;5&quot;/&gt;&lt;property id=&quot;20300&quot; value=&quot;Slide 6 - &amp;quot;Layout: Two Content, with Subhead&amp;quot;&quot;/&gt;&lt;property id=&quot;20307&quot; value=&quot;505&quot;/&gt;&lt;/object&gt;&lt;object type=&quot;3&quot; unique_id=&quot;33890&quot;&gt;&lt;property id=&quot;20148&quot; value=&quot;5&quot;/&gt;&lt;property id=&quot;20300&quot; value=&quot;Slide 7 - &amp;quot;Layout: Comparison&amp;quot;&quot;/&gt;&lt;property id=&quot;20307&quot; value=&quot;506&quot;/&gt;&lt;/object&gt;&lt;object type=&quot;3&quot; unique_id=&quot;33891&quot;&gt;&lt;property id=&quot;20148&quot; value=&quot;5&quot;/&gt;&lt;property id=&quot;20300&quot; value=&quot;Slide 8 - &amp;quot;Color Scheme&amp;quot;&quot;/&gt;&lt;property id=&quot;20307&quot; value=&quot;491&quot;/&gt;&lt;/object&gt;&lt;object type=&quot;3&quot; unique_id=&quot;33892&quot;&gt;&lt;property id=&quot;20148&quot; value=&quot;5&quot;/&gt;&lt;property id=&quot;20300&quot; value=&quot;Slide 9 - &amp;quot;Default Settings&amp;quot;&quot;/&gt;&lt;property id=&quot;20307&quot; value=&quot;493&quot;/&gt;&lt;/object&gt;&lt;object type=&quot;3&quot; unique_id=&quot;33893&quot;&gt;&lt;property id=&quot;20148&quot; value=&quot;5&quot;/&gt;&lt;property id=&quot;20300&quot; value=&quot;Slide 10 - &amp;quot;Default Table Style&amp;quot;&quot;/&gt;&lt;property id=&quot;20307&quot; value=&quot;494&quot;/&gt;&lt;/object&gt;&lt;object type=&quot;3&quot; unique_id=&quot;33894&quot;&gt;&lt;property id=&quot;20148&quot; value=&quot;5&quot;/&gt;&lt;property id=&quot;20300&quot; value=&quot;Slide 11 - &amp;quot;Column Chart Sample&amp;quot;&quot;/&gt;&lt;property id=&quot;20307&quot; value=&quot;496&quot;/&gt;&lt;/object&gt;&lt;object type=&quot;3&quot; unique_id=&quot;33895&quot;&gt;&lt;property id=&quot;20148&quot; value=&quot;5&quot;/&gt;&lt;property id=&quot;20300&quot; value=&quot;Slide 12 - &amp;quot;Two Content  Column Chart Sample&amp;quot;&quot;/&gt;&lt;property id=&quot;20307&quot; value=&quot;495&quot;/&gt;&lt;/object&gt;&lt;object type=&quot;3&quot; unique_id=&quot;33896&quot;&gt;&lt;property id=&quot;20148&quot; value=&quot;5&quot;/&gt;&lt;property id=&quot;20300&quot; value=&quot;Slide 13 - &amp;quot;Line Chart Sample&amp;quot;&quot;/&gt;&lt;property id=&quot;20307&quot; value=&quot;501&quot;/&gt;&lt;/object&gt;&lt;object type=&quot;3&quot; unique_id=&quot;33897&quot;&gt;&lt;property id=&quot;20148&quot; value=&quot;5&quot;/&gt;&lt;property id=&quot;20300&quot; value=&quot;Slide 14 - &amp;quot;Two Content  Line Chart Sample&amp;quot;&quot;/&gt;&lt;property id=&quot;20307&quot; value=&quot;502&quot;/&gt;&lt;/object&gt;&lt;object type=&quot;3&quot; unique_id=&quot;33898&quot;&gt;&lt;property id=&quot;20148&quot; value=&quot;5&quot;/&gt;&lt;property id=&quot;20300&quot; value=&quot;Slide 15 - &amp;quot;Pie Chart Sample &amp;quot;&quot;/&gt;&lt;property id=&quot;20307&quot; value=&quot;499&quot;/&gt;&lt;/object&gt;&lt;object type=&quot;3&quot; unique_id=&quot;33899&quot;&gt;&lt;property id=&quot;20148&quot; value=&quot;5&quot;/&gt;&lt;property id=&quot;20300&quot; value=&quot;Slide 16 - &amp;quot;Two Content  Pie Chart Sample &amp;quot;&quot;/&gt;&lt;property id=&quot;20307&quot; value=&quot;50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PT-2010-Template_LightDark">
  <a:themeElements>
    <a:clrScheme name="MACOM">
      <a:dk1>
        <a:sysClr val="windowText" lastClr="000000"/>
      </a:dk1>
      <a:lt1>
        <a:sysClr val="window" lastClr="FFFFFF"/>
      </a:lt1>
      <a:dk2>
        <a:srgbClr val="00243E"/>
      </a:dk2>
      <a:lt2>
        <a:srgbClr val="FFFFFF"/>
      </a:lt2>
      <a:accent1>
        <a:srgbClr val="005A84"/>
      </a:accent1>
      <a:accent2>
        <a:srgbClr val="0083C2"/>
      </a:accent2>
      <a:accent3>
        <a:srgbClr val="00A5B6"/>
      </a:accent3>
      <a:accent4>
        <a:srgbClr val="6C953C"/>
      </a:accent4>
      <a:accent5>
        <a:srgbClr val="8DC73F"/>
      </a:accent5>
      <a:accent6>
        <a:srgbClr val="DADA56"/>
      </a:accent6>
      <a:hlink>
        <a:srgbClr val="0083C2"/>
      </a:hlink>
      <a:folHlink>
        <a:srgbClr val="77B800"/>
      </a:folHlink>
    </a:clrScheme>
    <a:fontScheme name="MAC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2700" cap="sq" algn="ctr">
          <a:noFill/>
          <a:miter lim="800000"/>
          <a:headEnd/>
          <a:tailEnd/>
        </a:ln>
        <a:effectLst/>
      </a:spPr>
      <a:bodyPr wrap="square" lIns="0" rIns="0" rtlCol="0" anchor="ctr"/>
      <a:lstStyle>
        <a:defPPr algn="ctr">
          <a:spcBef>
            <a:spcPts val="600"/>
          </a:spcBef>
          <a:defRPr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12700" cap="sq" algn="ctr">
          <a:noFill/>
          <a:miter lim="800000"/>
          <a:headEnd/>
          <a:tailEnd/>
        </a:ln>
        <a:effectLst/>
      </a:spPr>
      <a:bodyPr wrap="square" rtlCol="0" anchor="ctr" anchorCtr="0">
        <a:noAutofit/>
      </a:bodyPr>
      <a:lstStyle>
        <a:defPPr>
          <a:spcBef>
            <a:spcPts val="900"/>
          </a:spcBef>
          <a:defRPr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17388-MACOM2016-4x3-edit</Template>
  <TotalTime>786</TotalTime>
  <Words>5003</Words>
  <Application>Microsoft Office PowerPoint</Application>
  <PresentationFormat>On-screen Show (4:3)</PresentationFormat>
  <Paragraphs>1990</Paragraphs>
  <Slides>87</Slides>
  <Notes>86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87</vt:i4>
      </vt:variant>
    </vt:vector>
  </HeadingPairs>
  <TitlesOfParts>
    <vt:vector size="104" baseType="lpstr">
      <vt:lpstr>굴림</vt:lpstr>
      <vt:lpstr>Arial</vt:lpstr>
      <vt:lpstr>Arial Black</vt:lpstr>
      <vt:lpstr>Arial Narrow</vt:lpstr>
      <vt:lpstr>Calibri</vt:lpstr>
      <vt:lpstr>Courier New</vt:lpstr>
      <vt:lpstr>Helvetica</vt:lpstr>
      <vt:lpstr>r_symbol</vt:lpstr>
      <vt:lpstr>Symbol</vt:lpstr>
      <vt:lpstr>Times New Roman</vt:lpstr>
      <vt:lpstr>Webdings</vt:lpstr>
      <vt:lpstr>Wingdings</vt:lpstr>
      <vt:lpstr>PPT-2010-Template_LightDark</vt:lpstr>
      <vt:lpstr>Mathcad 6.0</vt:lpstr>
      <vt:lpstr>Equation</vt:lpstr>
      <vt:lpstr>Mathcad</vt:lpstr>
      <vt:lpstr>VISIO</vt:lpstr>
      <vt:lpstr>MACOM Diode Products rev 0</vt:lpstr>
      <vt:lpstr>PowerPoint Presentation</vt:lpstr>
      <vt:lpstr>PowerPoint Presentation</vt:lpstr>
      <vt:lpstr>PIN Diodes</vt:lpstr>
      <vt:lpstr>PIN Diodes  </vt:lpstr>
      <vt:lpstr>PIN Diodes  </vt:lpstr>
      <vt:lpstr>PIN Diode Families</vt:lpstr>
      <vt:lpstr>PIN Junction</vt:lpstr>
      <vt:lpstr>PIN Doping</vt:lpstr>
      <vt:lpstr>Depletion Region</vt:lpstr>
      <vt:lpstr>Current-Controlled Resistor</vt:lpstr>
      <vt:lpstr>PIN Junction - Forward Bias</vt:lpstr>
      <vt:lpstr>I Layer Resistance</vt:lpstr>
      <vt:lpstr>Resistance versus Bias Current</vt:lpstr>
      <vt:lpstr>I Layer Resistance</vt:lpstr>
      <vt:lpstr>Simplified PIN Die Equivalent Circuit</vt:lpstr>
      <vt:lpstr>Packaged PIN Equivalent Circuit</vt:lpstr>
      <vt:lpstr>Minority Carrier Lifetime</vt:lpstr>
      <vt:lpstr>Minority Carrier Lifetime -              So What?</vt:lpstr>
      <vt:lpstr>PIN Diode Applications</vt:lpstr>
      <vt:lpstr>PIN Diode Switch</vt:lpstr>
      <vt:lpstr>Desirable Properties -  Switch PINs</vt:lpstr>
      <vt:lpstr>PIN Switch Topologies</vt:lpstr>
      <vt:lpstr>Series Switch</vt:lpstr>
      <vt:lpstr>Shunt Switch</vt:lpstr>
      <vt:lpstr>Series-Shunt Switch</vt:lpstr>
      <vt:lpstr>PIN Diode Attenuator</vt:lpstr>
      <vt:lpstr>Desirable Properties -  Attenuator PIN</vt:lpstr>
      <vt:lpstr>Attenuator Topologies</vt:lpstr>
      <vt:lpstr>Series Attenuator</vt:lpstr>
      <vt:lpstr>Shunt Attenuator </vt:lpstr>
      <vt:lpstr> Attenuator</vt:lpstr>
      <vt:lpstr> Attenuator Resistance vs. Attenuation</vt:lpstr>
      <vt:lpstr>Tee Attenuator</vt:lpstr>
      <vt:lpstr>Tee Attenuator Resistance vs. Attenuation</vt:lpstr>
      <vt:lpstr>Bridged Tee Attenuator</vt:lpstr>
      <vt:lpstr>Bridged Tee Attenuator Resistance vs. Attenuation</vt:lpstr>
      <vt:lpstr>Hybrid Coupler Attenuator - Series Diodes</vt:lpstr>
      <vt:lpstr>Hybrid Coupler Attenuator - Series Diodes R vs. Attenuation</vt:lpstr>
      <vt:lpstr>HIP3™ Variable Attenuators</vt:lpstr>
      <vt:lpstr>Hybrid Coupler Attenuator - Shunt Diodes</vt:lpstr>
      <vt:lpstr>Hybrid Coupler Attenuator - Shunt Diodes R vs. Attenuation</vt:lpstr>
      <vt:lpstr>PIN Diode Limiters</vt:lpstr>
      <vt:lpstr>Incident Power Controlled Variable Attenuator</vt:lpstr>
      <vt:lpstr>Discrete Diodes – Limiters</vt:lpstr>
      <vt:lpstr>Output Waveform of Limiter</vt:lpstr>
      <vt:lpstr> Limiter Recovery Waveform</vt:lpstr>
      <vt:lpstr>Summary</vt:lpstr>
      <vt:lpstr>Thank You</vt:lpstr>
      <vt:lpstr>Appendix</vt:lpstr>
      <vt:lpstr>PowerPoint Presentation</vt:lpstr>
      <vt:lpstr>PowerPoint Presentation</vt:lpstr>
      <vt:lpstr>Discrete Kilovolt PIN Diodes</vt:lpstr>
      <vt:lpstr>Discrete High Power MELF PIN Diodes</vt:lpstr>
      <vt:lpstr>PowerPoint Presentation</vt:lpstr>
      <vt:lpstr>PIN Switches</vt:lpstr>
      <vt:lpstr>AlGaAs PIN Diode Switches </vt:lpstr>
      <vt:lpstr>AlGaAs SP3T W Band Switch MASW-011029 </vt:lpstr>
      <vt:lpstr>Multichip Module High Power Switches</vt:lpstr>
      <vt:lpstr>T/R Switch-Limiter Module  MSWLM2420-242</vt:lpstr>
      <vt:lpstr>MASW-011036  Ka-Band High Power Terminated AlGaAs SPDT PIN Switch</vt:lpstr>
      <vt:lpstr>MASW-010646  Ka-Band High Power Reflective AlGaAs SPDT PIN Switch</vt:lpstr>
      <vt:lpstr>X-Band Terminated SPDT Switch   MASW-011071</vt:lpstr>
      <vt:lpstr>HMIC Si PIN Switches: 2 W, DC – 26 GHz</vt:lpstr>
      <vt:lpstr>HMICTM Wire-Bondable Switches</vt:lpstr>
      <vt:lpstr>HMICTM SP2T High Current  MASW-011052</vt:lpstr>
      <vt:lpstr>HMICTM SP3T High Current  MASW-011053</vt:lpstr>
      <vt:lpstr>Limiter Modules</vt:lpstr>
      <vt:lpstr>High Power Limiter Modules</vt:lpstr>
      <vt:lpstr>Discrete Diodes – Si PIN Chips</vt:lpstr>
      <vt:lpstr>Discrete Diodes – Si NIP Chips</vt:lpstr>
      <vt:lpstr>Si Mesa Beamlead PIN Diodes</vt:lpstr>
      <vt:lpstr>Si Planar Beamlead PIN Diodes</vt:lpstr>
      <vt:lpstr>Flip Chip Products</vt:lpstr>
      <vt:lpstr>Discrete High Power MELF PIN Diodes</vt:lpstr>
      <vt:lpstr>PIN DIODE SWITCH ELEMENT </vt:lpstr>
      <vt:lpstr>PIN DIODE SWITCH ELEMENT </vt:lpstr>
      <vt:lpstr>Shunt PIN Element</vt:lpstr>
      <vt:lpstr>HMICTM Discrete Diode Solution</vt:lpstr>
      <vt:lpstr>Discrete Diodes – Limiters</vt:lpstr>
      <vt:lpstr>HMIC and AlGaAs MMIC Performance Comparison   </vt:lpstr>
      <vt:lpstr>AlGaAs Products</vt:lpstr>
      <vt:lpstr>MASW-011036  Ka-Band High Power Terminated AlGaAs SPDT PIN Switch</vt:lpstr>
      <vt:lpstr>MASW-010646  Ka-Band High Power Reflective AlGaAs SPDT PIN Switch</vt:lpstr>
      <vt:lpstr>HMICTM SP2T  6-14 GHz  (Terminated SPDT) MASW-010647</vt:lpstr>
      <vt:lpstr>HMICTM Package-less Surface Mountable Si PIN Diode Switches</vt:lpstr>
      <vt:lpstr>HMIC™ Si PIN SP2T  6-14 GHz   MASW-011021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MACOM Title Slide  Arial Black 24pt</dc:title>
  <dc:creator>Megan Haley</dc:creator>
  <cp:lastModifiedBy>Rick Cory</cp:lastModifiedBy>
  <cp:revision>38</cp:revision>
  <cp:lastPrinted>2014-03-27T13:48:09Z</cp:lastPrinted>
  <dcterms:created xsi:type="dcterms:W3CDTF">2016-07-13T20:18:51Z</dcterms:created>
  <dcterms:modified xsi:type="dcterms:W3CDTF">2017-02-16T15:39:23Z</dcterms:modified>
</cp:coreProperties>
</file>