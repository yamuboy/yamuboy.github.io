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98" r:id="rId1"/>
  </p:sldMasterIdLst>
  <p:notesMasterIdLst>
    <p:notesMasterId r:id="rId40"/>
  </p:notesMasterIdLst>
  <p:handoutMasterIdLst>
    <p:handoutMasterId r:id="rId41"/>
  </p:handoutMasterIdLst>
  <p:sldIdLst>
    <p:sldId id="507" r:id="rId2"/>
    <p:sldId id="508" r:id="rId3"/>
    <p:sldId id="509" r:id="rId4"/>
    <p:sldId id="572" r:id="rId5"/>
    <p:sldId id="602" r:id="rId6"/>
    <p:sldId id="601" r:id="rId7"/>
    <p:sldId id="573" r:id="rId8"/>
    <p:sldId id="574" r:id="rId9"/>
    <p:sldId id="575" r:id="rId10"/>
    <p:sldId id="576" r:id="rId11"/>
    <p:sldId id="600" r:id="rId12"/>
    <p:sldId id="578" r:id="rId13"/>
    <p:sldId id="579" r:id="rId14"/>
    <p:sldId id="580" r:id="rId15"/>
    <p:sldId id="581" r:id="rId16"/>
    <p:sldId id="582" r:id="rId17"/>
    <p:sldId id="583" r:id="rId18"/>
    <p:sldId id="584" r:id="rId19"/>
    <p:sldId id="585" r:id="rId20"/>
    <p:sldId id="586" r:id="rId21"/>
    <p:sldId id="587" r:id="rId22"/>
    <p:sldId id="588" r:id="rId23"/>
    <p:sldId id="589" r:id="rId24"/>
    <p:sldId id="590" r:id="rId25"/>
    <p:sldId id="591" r:id="rId26"/>
    <p:sldId id="592" r:id="rId27"/>
    <p:sldId id="593" r:id="rId28"/>
    <p:sldId id="594" r:id="rId29"/>
    <p:sldId id="595" r:id="rId30"/>
    <p:sldId id="596" r:id="rId31"/>
    <p:sldId id="597" r:id="rId32"/>
    <p:sldId id="598" r:id="rId33"/>
    <p:sldId id="599" r:id="rId34"/>
    <p:sldId id="539" r:id="rId35"/>
    <p:sldId id="540" r:id="rId36"/>
    <p:sldId id="541" r:id="rId37"/>
    <p:sldId id="542" r:id="rId38"/>
    <p:sldId id="550" r:id="rId39"/>
  </p:sldIdLst>
  <p:sldSz cx="9144000" cy="6858000" type="screen4x3"/>
  <p:notesSz cx="7010400" cy="9296400"/>
  <p:custDataLst>
    <p:tags r:id="rId42"/>
  </p:custDataLst>
  <p:defaultTex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948">
          <p15:clr>
            <a:srgbClr val="A4A3A4"/>
          </p15:clr>
        </p15:guide>
        <p15:guide id="2" orient="horz" pos="3889">
          <p15:clr>
            <a:srgbClr val="A4A3A4"/>
          </p15:clr>
        </p15:guide>
        <p15:guide id="3" orient="horz" pos="722">
          <p15:clr>
            <a:srgbClr val="A4A3A4"/>
          </p15:clr>
        </p15:guide>
        <p15:guide id="4" pos="2880">
          <p15:clr>
            <a:srgbClr val="A4A3A4"/>
          </p15:clr>
        </p15:guide>
        <p15:guide id="5" pos="260">
          <p15:clr>
            <a:srgbClr val="A4A3A4"/>
          </p15:clr>
        </p15:guide>
        <p15:guide id="6" pos="5499">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EAEAEA"/>
    <a:srgbClr val="000000"/>
    <a:srgbClr val="C0C0C0"/>
    <a:srgbClr val="B2B2B2"/>
    <a:srgbClr val="FFFF66"/>
    <a:srgbClr val="3333CC"/>
    <a:srgbClr val="FF00CC"/>
    <a:srgbClr val="CBCBDF"/>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7" autoAdjust="0"/>
    <p:restoredTop sz="86457" autoAdjust="0"/>
  </p:normalViewPr>
  <p:slideViewPr>
    <p:cSldViewPr snapToGrid="0">
      <p:cViewPr varScale="1">
        <p:scale>
          <a:sx n="49" d="100"/>
          <a:sy n="49" d="100"/>
        </p:scale>
        <p:origin x="53" y="662"/>
      </p:cViewPr>
      <p:guideLst>
        <p:guide orient="horz" pos="948"/>
        <p:guide orient="horz" pos="3889"/>
        <p:guide orient="horz" pos="722"/>
        <p:guide pos="2880"/>
        <p:guide pos="260"/>
        <p:guide pos="5499"/>
      </p:guideLst>
    </p:cSldViewPr>
  </p:slideViewPr>
  <p:outlineViewPr>
    <p:cViewPr>
      <p:scale>
        <a:sx n="33" d="100"/>
        <a:sy n="33" d="100"/>
      </p:scale>
      <p:origin x="0" y="-91"/>
    </p:cViewPr>
  </p:outlineViewPr>
  <p:notesTextViewPr>
    <p:cViewPr>
      <p:scale>
        <a:sx n="100" d="100"/>
        <a:sy n="100" d="100"/>
      </p:scale>
      <p:origin x="0" y="0"/>
    </p:cViewPr>
  </p:notesTextViewPr>
  <p:sorterViewPr>
    <p:cViewPr varScale="1">
      <p:scale>
        <a:sx n="1" d="1"/>
        <a:sy n="1" d="1"/>
      </p:scale>
      <p:origin x="0" y="0"/>
    </p:cViewPr>
  </p:sorterViewPr>
  <p:notesViewPr>
    <p:cSldViewPr snapToGrid="0">
      <p:cViewPr varScale="1">
        <p:scale>
          <a:sx n="97" d="100"/>
          <a:sy n="97" d="100"/>
        </p:scale>
        <p:origin x="-1698" y="-9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8258" cy="4644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576" y="1"/>
            <a:ext cx="3038258" cy="464492"/>
          </a:xfrm>
          <a:prstGeom prst="rect">
            <a:avLst/>
          </a:prstGeom>
        </p:spPr>
        <p:txBody>
          <a:bodyPr vert="horz" lIns="91440" tIns="45720" rIns="91440" bIns="45720" rtlCol="0"/>
          <a:lstStyle>
            <a:lvl1pPr algn="r">
              <a:defRPr sz="1200"/>
            </a:lvl1pPr>
          </a:lstStyle>
          <a:p>
            <a:fld id="{9E623381-AFEF-490F-AA45-31EC49CF1500}" type="datetimeFigureOut">
              <a:rPr lang="en-US" smtClean="0"/>
              <a:pPr/>
              <a:t>3/3/2017</a:t>
            </a:fld>
            <a:endParaRPr lang="en-US"/>
          </a:p>
        </p:txBody>
      </p:sp>
      <p:sp>
        <p:nvSpPr>
          <p:cNvPr id="4" name="Footer Placeholder 3"/>
          <p:cNvSpPr>
            <a:spLocks noGrp="1"/>
          </p:cNvSpPr>
          <p:nvPr>
            <p:ph type="ftr" sz="quarter" idx="2"/>
          </p:nvPr>
        </p:nvSpPr>
        <p:spPr>
          <a:xfrm>
            <a:off x="1" y="8830268"/>
            <a:ext cx="3038258" cy="46449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576" y="8830268"/>
            <a:ext cx="3038258" cy="464492"/>
          </a:xfrm>
          <a:prstGeom prst="rect">
            <a:avLst/>
          </a:prstGeom>
        </p:spPr>
        <p:txBody>
          <a:bodyPr vert="horz" lIns="91440" tIns="45720" rIns="91440" bIns="45720" rtlCol="0" anchor="b"/>
          <a:lstStyle>
            <a:lvl1pPr algn="r">
              <a:defRPr sz="1200"/>
            </a:lvl1pPr>
          </a:lstStyle>
          <a:p>
            <a:fld id="{D35BF31A-114D-494C-A5D5-F6526D175277}" type="slidenum">
              <a:rPr lang="en-US" smtClean="0"/>
              <a:pPr/>
              <a:t>‹#›</a:t>
            </a:fld>
            <a:endParaRPr lang="en-US"/>
          </a:p>
        </p:txBody>
      </p:sp>
    </p:spTree>
    <p:extLst>
      <p:ext uri="{BB962C8B-B14F-4D97-AF65-F5344CB8AC3E}">
        <p14:creationId xmlns:p14="http://schemas.microsoft.com/office/powerpoint/2010/main" val="34048669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8258" cy="4644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576" y="1"/>
            <a:ext cx="3038258" cy="464492"/>
          </a:xfrm>
          <a:prstGeom prst="rect">
            <a:avLst/>
          </a:prstGeom>
        </p:spPr>
        <p:txBody>
          <a:bodyPr vert="horz" lIns="91440" tIns="45720" rIns="91440" bIns="45720" rtlCol="0"/>
          <a:lstStyle>
            <a:lvl1pPr algn="r">
              <a:defRPr sz="1200"/>
            </a:lvl1pPr>
          </a:lstStyle>
          <a:p>
            <a:fld id="{E0CA216A-1E3F-4AD2-B74F-855E5673142F}" type="datetimeFigureOut">
              <a:rPr lang="en-US" smtClean="0"/>
              <a:pPr/>
              <a:t>3/3/2017</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0413" y="4415133"/>
            <a:ext cx="5609574" cy="418370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8830268"/>
            <a:ext cx="3038258" cy="4644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576" y="8830268"/>
            <a:ext cx="3038258" cy="464492"/>
          </a:xfrm>
          <a:prstGeom prst="rect">
            <a:avLst/>
          </a:prstGeom>
        </p:spPr>
        <p:txBody>
          <a:bodyPr vert="horz" lIns="91440" tIns="45720" rIns="91440" bIns="45720" rtlCol="0" anchor="b"/>
          <a:lstStyle>
            <a:lvl1pPr algn="r">
              <a:defRPr sz="1200"/>
            </a:lvl1pPr>
          </a:lstStyle>
          <a:p>
            <a:fld id="{3DA09BFF-9304-4EE8-967B-56F816FBB8C1}" type="slidenum">
              <a:rPr lang="en-US" smtClean="0"/>
              <a:pPr/>
              <a:t>‹#›</a:t>
            </a:fld>
            <a:endParaRPr lang="en-US"/>
          </a:p>
        </p:txBody>
      </p:sp>
    </p:spTree>
    <p:extLst>
      <p:ext uri="{BB962C8B-B14F-4D97-AF65-F5344CB8AC3E}">
        <p14:creationId xmlns:p14="http://schemas.microsoft.com/office/powerpoint/2010/main" val="1504738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9E985CD-0FB1-4244-87CC-A8D8BA843764}" type="slidenum">
              <a:rPr lang="en-US" smtClean="0"/>
              <a:pPr>
                <a:defRPr/>
              </a:pPr>
              <a:t>1</a:t>
            </a:fld>
            <a:endParaRPr lang="en-US" dirty="0"/>
          </a:p>
        </p:txBody>
      </p:sp>
    </p:spTree>
    <p:extLst>
      <p:ext uri="{BB962C8B-B14F-4D97-AF65-F5344CB8AC3E}">
        <p14:creationId xmlns:p14="http://schemas.microsoft.com/office/powerpoint/2010/main" val="1248489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9E985CD-0FB1-4244-87CC-A8D8BA843764}" type="slidenum">
              <a:rPr lang="en-US" smtClean="0"/>
              <a:pPr>
                <a:defRPr/>
              </a:pPr>
              <a:t>2</a:t>
            </a:fld>
            <a:endParaRPr lang="en-US" dirty="0"/>
          </a:p>
        </p:txBody>
      </p:sp>
    </p:spTree>
    <p:extLst>
      <p:ext uri="{BB962C8B-B14F-4D97-AF65-F5344CB8AC3E}">
        <p14:creationId xmlns:p14="http://schemas.microsoft.com/office/powerpoint/2010/main" val="2333199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9E985CD-0FB1-4244-87CC-A8D8BA843764}" type="slidenum">
              <a:rPr lang="en-US" smtClean="0"/>
              <a:pPr>
                <a:defRPr/>
              </a:pPr>
              <a:t>3</a:t>
            </a:fld>
            <a:endParaRPr lang="en-US" dirty="0"/>
          </a:p>
        </p:txBody>
      </p:sp>
    </p:spTree>
    <p:extLst>
      <p:ext uri="{BB962C8B-B14F-4D97-AF65-F5344CB8AC3E}">
        <p14:creationId xmlns:p14="http://schemas.microsoft.com/office/powerpoint/2010/main" val="2684737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DD51BD8-4D3B-45ED-9F87-07044384BF88}" type="slidenum">
              <a:rPr lang="en-US" altLang="en-US" sz="1200"/>
              <a:pPr/>
              <a:t>4</a:t>
            </a:fld>
            <a:endParaRPr lang="en-US" altLang="en-US" sz="1200"/>
          </a:p>
        </p:txBody>
      </p:sp>
      <p:sp>
        <p:nvSpPr>
          <p:cNvPr id="34819" name="Rectangle 2"/>
          <p:cNvSpPr>
            <a:spLocks noGrp="1" noRot="1" noChangeAspect="1" noChangeArrowheads="1" noTextEdit="1"/>
          </p:cNvSpPr>
          <p:nvPr>
            <p:ph type="sldImg"/>
          </p:nvPr>
        </p:nvSpPr>
        <p:spPr>
          <a:xfrm>
            <a:off x="1141413" y="682625"/>
            <a:ext cx="4578350" cy="3433763"/>
          </a:xfrm>
          <a:ln w="12700" cap="flat">
            <a:solidFill>
              <a:schemeClr val="tx1"/>
            </a:solidFill>
          </a:ln>
        </p:spPr>
      </p:sp>
      <p:sp>
        <p:nvSpPr>
          <p:cNvPr id="34820" name="Rectangle 3"/>
          <p:cNvSpPr>
            <a:spLocks noGrp="1" noChangeArrowheads="1"/>
          </p:cNvSpPr>
          <p:nvPr>
            <p:ph type="body" idx="1"/>
          </p:nvPr>
        </p:nvSpPr>
        <p:spPr>
          <a:xfrm>
            <a:off x="914400" y="4343400"/>
            <a:ext cx="5029200" cy="41163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1694436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58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871C963-879F-413C-8B71-94BA63965E3B}" type="slidenum">
              <a:rPr lang="en-US" altLang="en-US" sz="1200"/>
              <a:pPr/>
              <a:t>7</a:t>
            </a:fld>
            <a:endParaRPr lang="en-US" altLang="en-US" sz="1200"/>
          </a:p>
        </p:txBody>
      </p:sp>
    </p:spTree>
    <p:extLst>
      <p:ext uri="{BB962C8B-B14F-4D97-AF65-F5344CB8AC3E}">
        <p14:creationId xmlns:p14="http://schemas.microsoft.com/office/powerpoint/2010/main" val="3824196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6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624DCDA-7D3B-437A-8249-95D6D239620B}" type="slidenum">
              <a:rPr lang="en-US" altLang="en-US" sz="1200"/>
              <a:pPr/>
              <a:t>8</a:t>
            </a:fld>
            <a:endParaRPr lang="en-US" altLang="en-US" sz="1200"/>
          </a:p>
        </p:txBody>
      </p:sp>
    </p:spTree>
    <p:extLst>
      <p:ext uri="{BB962C8B-B14F-4D97-AF65-F5344CB8AC3E}">
        <p14:creationId xmlns:p14="http://schemas.microsoft.com/office/powerpoint/2010/main" val="11193219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7356514-3829-435C-9EED-2F8370C8B82C}" type="slidenum">
              <a:rPr lang="en-US" altLang="en-US" sz="1200"/>
              <a:pPr/>
              <a:t>9</a:t>
            </a:fld>
            <a:endParaRPr lang="en-US" altLang="en-US" sz="1200"/>
          </a:p>
        </p:txBody>
      </p:sp>
    </p:spTree>
    <p:extLst>
      <p:ext uri="{BB962C8B-B14F-4D97-AF65-F5344CB8AC3E}">
        <p14:creationId xmlns:p14="http://schemas.microsoft.com/office/powerpoint/2010/main" val="36471617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90A53D6-4C85-4EBB-AA3F-03C02B21D5DF}" type="slidenum">
              <a:rPr lang="en-US" altLang="en-US" sz="1200"/>
              <a:pPr/>
              <a:t>10</a:t>
            </a:fld>
            <a:endParaRPr lang="en-US" altLang="en-US" sz="1200"/>
          </a:p>
        </p:txBody>
      </p:sp>
    </p:spTree>
    <p:extLst>
      <p:ext uri="{BB962C8B-B14F-4D97-AF65-F5344CB8AC3E}">
        <p14:creationId xmlns:p14="http://schemas.microsoft.com/office/powerpoint/2010/main" val="63244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444E96D-7884-41E0-8955-1417C140257D}" type="slidenum">
              <a:rPr lang="en-US" altLang="en-US" sz="1200"/>
              <a:pPr/>
              <a:t>11</a:t>
            </a:fld>
            <a:endParaRPr lang="en-US" altLang="en-US" sz="1200"/>
          </a:p>
        </p:txBody>
      </p:sp>
    </p:spTree>
    <p:extLst>
      <p:ext uri="{BB962C8B-B14F-4D97-AF65-F5344CB8AC3E}">
        <p14:creationId xmlns:p14="http://schemas.microsoft.com/office/powerpoint/2010/main" val="158694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350F536-842D-44C5-A679-0FBB553CCC2C}" type="slidenum">
              <a:rPr lang="en-US" altLang="en-US" sz="1200"/>
              <a:pPr/>
              <a:t>12</a:t>
            </a:fld>
            <a:endParaRPr lang="en-US" altLang="en-US" sz="1200"/>
          </a:p>
        </p:txBody>
      </p:sp>
    </p:spTree>
    <p:extLst>
      <p:ext uri="{BB962C8B-B14F-4D97-AF65-F5344CB8AC3E}">
        <p14:creationId xmlns:p14="http://schemas.microsoft.com/office/powerpoint/2010/main" val="39828285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8215DD1-7538-4E11-990F-47CD75305673}" type="slidenum">
              <a:rPr lang="en-US" altLang="en-US" sz="1200"/>
              <a:pPr/>
              <a:t>13</a:t>
            </a:fld>
            <a:endParaRPr lang="en-US" altLang="en-US" sz="1200"/>
          </a:p>
        </p:txBody>
      </p:sp>
    </p:spTree>
    <p:extLst>
      <p:ext uri="{BB962C8B-B14F-4D97-AF65-F5344CB8AC3E}">
        <p14:creationId xmlns:p14="http://schemas.microsoft.com/office/powerpoint/2010/main" val="35034759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43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FE8DD87-9B52-4EF1-BF5F-CAFC60593610}" type="slidenum">
              <a:rPr lang="en-US" altLang="en-US" sz="1200"/>
              <a:pPr/>
              <a:t>14</a:t>
            </a:fld>
            <a:endParaRPr lang="en-US" altLang="en-US" sz="1200"/>
          </a:p>
        </p:txBody>
      </p:sp>
    </p:spTree>
    <p:extLst>
      <p:ext uri="{BB962C8B-B14F-4D97-AF65-F5344CB8AC3E}">
        <p14:creationId xmlns:p14="http://schemas.microsoft.com/office/powerpoint/2010/main" val="1779472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FAAA436-6041-4CB7-8AA8-576C5DE96EBC}" type="slidenum">
              <a:rPr lang="en-US" altLang="en-US" sz="1200"/>
              <a:pPr/>
              <a:t>15</a:t>
            </a:fld>
            <a:endParaRPr lang="en-US" altLang="en-US" sz="1200"/>
          </a:p>
        </p:txBody>
      </p:sp>
    </p:spTree>
    <p:extLst>
      <p:ext uri="{BB962C8B-B14F-4D97-AF65-F5344CB8AC3E}">
        <p14:creationId xmlns:p14="http://schemas.microsoft.com/office/powerpoint/2010/main" val="10400359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1B7AB0B-A52C-4353-938E-D5735C300201}" type="slidenum">
              <a:rPr lang="en-US" altLang="en-US" sz="1200"/>
              <a:pPr/>
              <a:t>16</a:t>
            </a:fld>
            <a:endParaRPr lang="en-US" altLang="en-US" sz="1200"/>
          </a:p>
        </p:txBody>
      </p:sp>
    </p:spTree>
    <p:extLst>
      <p:ext uri="{BB962C8B-B14F-4D97-AF65-F5344CB8AC3E}">
        <p14:creationId xmlns:p14="http://schemas.microsoft.com/office/powerpoint/2010/main" val="12428429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7ED495A-7788-48FD-B877-15E2118ADD80}" type="slidenum">
              <a:rPr lang="en-US" altLang="en-US" sz="1200"/>
              <a:pPr/>
              <a:t>17</a:t>
            </a:fld>
            <a:endParaRPr lang="en-US" altLang="en-US" sz="1200"/>
          </a:p>
        </p:txBody>
      </p:sp>
      <p:sp>
        <p:nvSpPr>
          <p:cNvPr id="46083" name="Rectangle 2"/>
          <p:cNvSpPr>
            <a:spLocks noGrp="1" noRot="1" noChangeAspect="1" noChangeArrowheads="1" noTextEdit="1"/>
          </p:cNvSpPr>
          <p:nvPr>
            <p:ph type="sldImg"/>
          </p:nvPr>
        </p:nvSpPr>
        <p:spPr>
          <a:xfrm>
            <a:off x="1141413" y="682625"/>
            <a:ext cx="4578350" cy="3433763"/>
          </a:xfrm>
          <a:ln w="12700" cap="flat">
            <a:solidFill>
              <a:schemeClr val="tx1"/>
            </a:solidFill>
          </a:ln>
        </p:spPr>
      </p:sp>
      <p:sp>
        <p:nvSpPr>
          <p:cNvPr id="46084" name="Rectangle 3"/>
          <p:cNvSpPr>
            <a:spLocks noGrp="1" noChangeArrowheads="1"/>
          </p:cNvSpPr>
          <p:nvPr>
            <p:ph type="body" idx="1"/>
          </p:nvPr>
        </p:nvSpPr>
        <p:spPr>
          <a:xfrm>
            <a:off x="914400" y="4343400"/>
            <a:ext cx="5029200" cy="41163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dirty="0" smtClean="0"/>
          </a:p>
        </p:txBody>
      </p:sp>
    </p:spTree>
    <p:extLst>
      <p:ext uri="{BB962C8B-B14F-4D97-AF65-F5344CB8AC3E}">
        <p14:creationId xmlns:p14="http://schemas.microsoft.com/office/powerpoint/2010/main" val="18192486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D059148-AD56-48B8-ABCD-E726B400E37C}" type="slidenum">
              <a:rPr lang="en-US" altLang="en-US" sz="1200"/>
              <a:pPr/>
              <a:t>18</a:t>
            </a:fld>
            <a:endParaRPr lang="en-US" altLang="en-US" sz="1200"/>
          </a:p>
        </p:txBody>
      </p:sp>
    </p:spTree>
    <p:extLst>
      <p:ext uri="{BB962C8B-B14F-4D97-AF65-F5344CB8AC3E}">
        <p14:creationId xmlns:p14="http://schemas.microsoft.com/office/powerpoint/2010/main" val="16703283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BA1985E-958B-44A5-8AFD-47A2B9DCE46C}" type="slidenum">
              <a:rPr lang="en-US" altLang="en-US" sz="1200"/>
              <a:pPr/>
              <a:t>19</a:t>
            </a:fld>
            <a:endParaRPr lang="en-US" altLang="en-US" sz="1200"/>
          </a:p>
        </p:txBody>
      </p:sp>
    </p:spTree>
    <p:extLst>
      <p:ext uri="{BB962C8B-B14F-4D97-AF65-F5344CB8AC3E}">
        <p14:creationId xmlns:p14="http://schemas.microsoft.com/office/powerpoint/2010/main" val="973795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0F53580-87C0-4F21-A5F0-E80BAB9C8E7E}" type="slidenum">
              <a:rPr lang="en-US" altLang="en-US" sz="1200"/>
              <a:pPr/>
              <a:t>20</a:t>
            </a:fld>
            <a:endParaRPr lang="en-US" altLang="en-US" sz="1200"/>
          </a:p>
        </p:txBody>
      </p:sp>
    </p:spTree>
    <p:extLst>
      <p:ext uri="{BB962C8B-B14F-4D97-AF65-F5344CB8AC3E}">
        <p14:creationId xmlns:p14="http://schemas.microsoft.com/office/powerpoint/2010/main" val="22315735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CA86018-B665-42BF-AE38-05192311F00B}" type="slidenum">
              <a:rPr lang="en-US" altLang="en-US" sz="1200"/>
              <a:pPr/>
              <a:t>21</a:t>
            </a:fld>
            <a:endParaRPr lang="en-US" altLang="en-US" sz="1200"/>
          </a:p>
        </p:txBody>
      </p:sp>
    </p:spTree>
    <p:extLst>
      <p:ext uri="{BB962C8B-B14F-4D97-AF65-F5344CB8AC3E}">
        <p14:creationId xmlns:p14="http://schemas.microsoft.com/office/powerpoint/2010/main" val="18999030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730880F-5C7B-460E-8ACB-B31AF01FA5B2}" type="slidenum">
              <a:rPr lang="en-US" altLang="en-US" sz="1200"/>
              <a:pPr/>
              <a:t>22</a:t>
            </a:fld>
            <a:endParaRPr lang="en-US" altLang="en-US" sz="1200"/>
          </a:p>
        </p:txBody>
      </p:sp>
    </p:spTree>
    <p:extLst>
      <p:ext uri="{BB962C8B-B14F-4D97-AF65-F5344CB8AC3E}">
        <p14:creationId xmlns:p14="http://schemas.microsoft.com/office/powerpoint/2010/main" val="635635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73A2DAF-242E-43D9-A05B-EE87D4D9E939}" type="slidenum">
              <a:rPr lang="en-US" altLang="en-US" sz="1200"/>
              <a:pPr/>
              <a:t>23</a:t>
            </a:fld>
            <a:endParaRPr lang="en-US" altLang="en-US" sz="1200"/>
          </a:p>
        </p:txBody>
      </p:sp>
    </p:spTree>
    <p:extLst>
      <p:ext uri="{BB962C8B-B14F-4D97-AF65-F5344CB8AC3E}">
        <p14:creationId xmlns:p14="http://schemas.microsoft.com/office/powerpoint/2010/main" val="15660045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FDA2C34-08ED-48FB-A69C-9978EBC65B61}" type="slidenum">
              <a:rPr lang="en-US" altLang="en-US" sz="1200"/>
              <a:pPr/>
              <a:t>24</a:t>
            </a:fld>
            <a:endParaRPr lang="en-US" altLang="en-US" sz="1200"/>
          </a:p>
        </p:txBody>
      </p:sp>
    </p:spTree>
    <p:extLst>
      <p:ext uri="{BB962C8B-B14F-4D97-AF65-F5344CB8AC3E}">
        <p14:creationId xmlns:p14="http://schemas.microsoft.com/office/powerpoint/2010/main" val="22863026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7A6547E-87C7-4BA7-93D2-44EBEBED762D}" type="slidenum">
              <a:rPr lang="en-US" altLang="en-US" sz="1200"/>
              <a:pPr/>
              <a:t>25</a:t>
            </a:fld>
            <a:endParaRPr lang="en-US" altLang="en-US" sz="1200"/>
          </a:p>
        </p:txBody>
      </p:sp>
    </p:spTree>
    <p:extLst>
      <p:ext uri="{BB962C8B-B14F-4D97-AF65-F5344CB8AC3E}">
        <p14:creationId xmlns:p14="http://schemas.microsoft.com/office/powerpoint/2010/main" val="35646212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CC00178-A7EB-4611-A177-D17A61E4D48C}" type="slidenum">
              <a:rPr lang="en-US" altLang="en-US" sz="1200"/>
              <a:pPr/>
              <a:t>26</a:t>
            </a:fld>
            <a:endParaRPr lang="en-US" altLang="en-US" sz="1200"/>
          </a:p>
        </p:txBody>
      </p:sp>
    </p:spTree>
    <p:extLst>
      <p:ext uri="{BB962C8B-B14F-4D97-AF65-F5344CB8AC3E}">
        <p14:creationId xmlns:p14="http://schemas.microsoft.com/office/powerpoint/2010/main" val="35104944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56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1A8CCDE-8A78-4ADD-925B-C2DE93394C3D}" type="slidenum">
              <a:rPr lang="en-US" altLang="en-US" sz="1200"/>
              <a:pPr/>
              <a:t>27</a:t>
            </a:fld>
            <a:endParaRPr lang="en-US" altLang="en-US" sz="1200"/>
          </a:p>
        </p:txBody>
      </p:sp>
    </p:spTree>
    <p:extLst>
      <p:ext uri="{BB962C8B-B14F-4D97-AF65-F5344CB8AC3E}">
        <p14:creationId xmlns:p14="http://schemas.microsoft.com/office/powerpoint/2010/main" val="2733172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473FEAB-D972-4D1A-B2CC-EEF8C84B4A09}" type="slidenum">
              <a:rPr lang="en-US" altLang="en-US" sz="1200"/>
              <a:pPr/>
              <a:t>28</a:t>
            </a:fld>
            <a:endParaRPr lang="en-US" altLang="en-US" sz="1200"/>
          </a:p>
        </p:txBody>
      </p:sp>
    </p:spTree>
    <p:extLst>
      <p:ext uri="{BB962C8B-B14F-4D97-AF65-F5344CB8AC3E}">
        <p14:creationId xmlns:p14="http://schemas.microsoft.com/office/powerpoint/2010/main" val="5202780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227C8E7-7564-497A-91BC-2760733DBBCD}" type="slidenum">
              <a:rPr lang="en-US" altLang="en-US" sz="1200"/>
              <a:pPr/>
              <a:t>29</a:t>
            </a:fld>
            <a:endParaRPr lang="en-US" altLang="en-US" sz="1200"/>
          </a:p>
        </p:txBody>
      </p:sp>
    </p:spTree>
    <p:extLst>
      <p:ext uri="{BB962C8B-B14F-4D97-AF65-F5344CB8AC3E}">
        <p14:creationId xmlns:p14="http://schemas.microsoft.com/office/powerpoint/2010/main" val="30679203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D5635C6-DFB3-4C45-BBA0-650C79F7A219}" type="slidenum">
              <a:rPr lang="en-US" altLang="en-US" sz="1200"/>
              <a:pPr/>
              <a:t>30</a:t>
            </a:fld>
            <a:endParaRPr lang="en-US" altLang="en-US" sz="1200"/>
          </a:p>
        </p:txBody>
      </p:sp>
    </p:spTree>
    <p:extLst>
      <p:ext uri="{BB962C8B-B14F-4D97-AF65-F5344CB8AC3E}">
        <p14:creationId xmlns:p14="http://schemas.microsoft.com/office/powerpoint/2010/main" val="4881185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0664577-2E74-431C-A5D2-CAB94C224175}" type="slidenum">
              <a:rPr lang="en-US" altLang="en-US" sz="1200"/>
              <a:pPr/>
              <a:t>31</a:t>
            </a:fld>
            <a:endParaRPr lang="en-US" altLang="en-US" sz="1200"/>
          </a:p>
        </p:txBody>
      </p:sp>
    </p:spTree>
    <p:extLst>
      <p:ext uri="{BB962C8B-B14F-4D97-AF65-F5344CB8AC3E}">
        <p14:creationId xmlns:p14="http://schemas.microsoft.com/office/powerpoint/2010/main" val="33173607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D972F62-3B5F-4C61-84DB-167FE2C59437}" type="slidenum">
              <a:rPr lang="en-US" altLang="en-US" sz="1200"/>
              <a:pPr/>
              <a:t>32</a:t>
            </a:fld>
            <a:endParaRPr lang="en-US" altLang="en-US" sz="1200"/>
          </a:p>
        </p:txBody>
      </p:sp>
    </p:spTree>
    <p:extLst>
      <p:ext uri="{BB962C8B-B14F-4D97-AF65-F5344CB8AC3E}">
        <p14:creationId xmlns:p14="http://schemas.microsoft.com/office/powerpoint/2010/main" val="41940513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148A75D-07C6-440E-8529-8FE90F58C67E}" type="slidenum">
              <a:rPr lang="en-US" altLang="en-US" sz="1200"/>
              <a:pPr/>
              <a:t>33</a:t>
            </a:fld>
            <a:endParaRPr lang="en-US" altLang="en-US" sz="1200"/>
          </a:p>
        </p:txBody>
      </p:sp>
    </p:spTree>
    <p:extLst>
      <p:ext uri="{BB962C8B-B14F-4D97-AF65-F5344CB8AC3E}">
        <p14:creationId xmlns:p14="http://schemas.microsoft.com/office/powerpoint/2010/main" val="24261806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9E985CD-0FB1-4244-87CC-A8D8BA843764}" type="slidenum">
              <a:rPr lang="en-US" smtClean="0"/>
              <a:pPr>
                <a:defRPr/>
              </a:pPr>
              <a:t>34</a:t>
            </a:fld>
            <a:endParaRPr lang="en-US" dirty="0"/>
          </a:p>
        </p:txBody>
      </p:sp>
    </p:spTree>
    <p:extLst>
      <p:ext uri="{BB962C8B-B14F-4D97-AF65-F5344CB8AC3E}">
        <p14:creationId xmlns:p14="http://schemas.microsoft.com/office/powerpoint/2010/main" val="17810536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9E985CD-0FB1-4244-87CC-A8D8BA843764}" type="slidenum">
              <a:rPr lang="en-US" smtClean="0"/>
              <a:pPr>
                <a:defRPr/>
              </a:pPr>
              <a:t>35</a:t>
            </a:fld>
            <a:endParaRPr lang="en-US" dirty="0"/>
          </a:p>
        </p:txBody>
      </p:sp>
    </p:spTree>
    <p:extLst>
      <p:ext uri="{BB962C8B-B14F-4D97-AF65-F5344CB8AC3E}">
        <p14:creationId xmlns:p14="http://schemas.microsoft.com/office/powerpoint/2010/main" val="40344220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9E985CD-0FB1-4244-87CC-A8D8BA843764}" type="slidenum">
              <a:rPr lang="en-US" smtClean="0"/>
              <a:pPr>
                <a:defRPr/>
              </a:pPr>
              <a:t>36</a:t>
            </a:fld>
            <a:endParaRPr lang="en-US" dirty="0"/>
          </a:p>
        </p:txBody>
      </p:sp>
    </p:spTree>
    <p:extLst>
      <p:ext uri="{BB962C8B-B14F-4D97-AF65-F5344CB8AC3E}">
        <p14:creationId xmlns:p14="http://schemas.microsoft.com/office/powerpoint/2010/main" val="7585953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9E985CD-0FB1-4244-87CC-A8D8BA843764}" type="slidenum">
              <a:rPr lang="en-US" smtClean="0"/>
              <a:pPr>
                <a:defRPr/>
              </a:pPr>
              <a:t>37</a:t>
            </a:fld>
            <a:endParaRPr lang="en-US" dirty="0"/>
          </a:p>
        </p:txBody>
      </p:sp>
    </p:spTree>
    <p:extLst>
      <p:ext uri="{BB962C8B-B14F-4D97-AF65-F5344CB8AC3E}">
        <p14:creationId xmlns:p14="http://schemas.microsoft.com/office/powerpoint/2010/main" val="40655900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9E985CD-0FB1-4244-87CC-A8D8BA843764}" type="slidenum">
              <a:rPr lang="en-US" smtClean="0"/>
              <a:pPr>
                <a:defRPr/>
              </a:pPr>
              <a:t>38</a:t>
            </a:fld>
            <a:endParaRPr lang="en-US" dirty="0"/>
          </a:p>
        </p:txBody>
      </p:sp>
    </p:spTree>
    <p:extLst>
      <p:ext uri="{BB962C8B-B14F-4D97-AF65-F5344CB8AC3E}">
        <p14:creationId xmlns:p14="http://schemas.microsoft.com/office/powerpoint/2010/main" val="28509943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074231" y="930872"/>
            <a:ext cx="2817272" cy="739980"/>
          </a:xfrm>
          <a:prstGeom prst="rect">
            <a:avLst/>
          </a:prstGeom>
        </p:spPr>
      </p:pic>
      <p:sp>
        <p:nvSpPr>
          <p:cNvPr id="2" name="Title 1"/>
          <p:cNvSpPr>
            <a:spLocks noGrp="1"/>
          </p:cNvSpPr>
          <p:nvPr>
            <p:ph type="title" hasCustomPrompt="1"/>
          </p:nvPr>
        </p:nvSpPr>
        <p:spPr>
          <a:xfrm>
            <a:off x="914400" y="2943225"/>
            <a:ext cx="6400800" cy="640080"/>
          </a:xfrm>
        </p:spPr>
        <p:txBody>
          <a:bodyPr/>
          <a:lstStyle>
            <a:lvl1pPr>
              <a:defRPr>
                <a:solidFill>
                  <a:schemeClr val="bg1"/>
                </a:solidFill>
              </a:defRPr>
            </a:lvl1pPr>
          </a:lstStyle>
          <a:p>
            <a:r>
              <a:rPr lang="en-US" dirty="0" smtClean="0"/>
              <a:t>Click to Edit MACOM Title Slide </a:t>
            </a:r>
            <a:br>
              <a:rPr lang="en-US" dirty="0" smtClean="0"/>
            </a:br>
            <a:r>
              <a:rPr lang="en-US" dirty="0" smtClean="0"/>
              <a:t>Arial Black 24pt</a:t>
            </a:r>
            <a:endParaRPr lang="en-US" dirty="0"/>
          </a:p>
        </p:txBody>
      </p:sp>
      <p:sp>
        <p:nvSpPr>
          <p:cNvPr id="5" name="Text Placeholder 4"/>
          <p:cNvSpPr>
            <a:spLocks noGrp="1"/>
          </p:cNvSpPr>
          <p:nvPr>
            <p:ph type="body" sz="quarter" idx="10" hasCustomPrompt="1"/>
          </p:nvPr>
        </p:nvSpPr>
        <p:spPr>
          <a:xfrm>
            <a:off x="914400" y="3749040"/>
            <a:ext cx="4572000" cy="731520"/>
          </a:xfrm>
        </p:spPr>
        <p:txBody>
          <a:bodyPr/>
          <a:lstStyle>
            <a:lvl1pPr marL="0" indent="0">
              <a:spcBef>
                <a:spcPts val="600"/>
              </a:spcBef>
              <a:buFontTx/>
              <a:buNone/>
              <a:defRPr sz="1800" baseline="0">
                <a:solidFill>
                  <a:schemeClr val="bg1"/>
                </a:solidFill>
              </a:defRPr>
            </a:lvl1pPr>
            <a:lvl2pPr marL="400050" indent="0">
              <a:buFontTx/>
              <a:buNone/>
              <a:defRPr/>
            </a:lvl2pPr>
            <a:lvl3pPr marL="800100" indent="0">
              <a:buFontTx/>
              <a:buNone/>
              <a:defRPr/>
            </a:lvl3pPr>
            <a:lvl4pPr marL="1143000" indent="0">
              <a:buFontTx/>
              <a:buNone/>
              <a:defRPr/>
            </a:lvl4pPr>
            <a:lvl5pPr marL="1543050" indent="0">
              <a:buFontTx/>
              <a:buNone/>
              <a:defRPr/>
            </a:lvl5pPr>
          </a:lstStyle>
          <a:p>
            <a:r>
              <a:rPr lang="en-US" dirty="0" smtClean="0"/>
              <a:t>Click to edit Subhead Arial 18pt</a:t>
            </a:r>
            <a:br>
              <a:rPr lang="en-US" dirty="0" smtClean="0"/>
            </a:br>
            <a:r>
              <a:rPr lang="en-US" dirty="0" smtClean="0"/>
              <a:t>Presenter Name and Date</a:t>
            </a:r>
          </a:p>
        </p:txBody>
      </p:sp>
    </p:spTree>
  </p:cSld>
  <p:clrMapOvr>
    <a:masterClrMapping/>
  </p:clrMapOvr>
  <p:transition>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4343400"/>
            <a:ext cx="9144000" cy="2514600"/>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1342426"/>
            <a:ext cx="8766807" cy="2779776"/>
          </a:xfrm>
          <a:prstGeom prst="rect">
            <a:avLst/>
          </a:prstGeom>
        </p:spPr>
      </p:pic>
      <p:pic>
        <p:nvPicPr>
          <p:cNvPr id="8" name="Picture 7"/>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7313715" y="346569"/>
            <a:ext cx="1484623" cy="247437"/>
          </a:xfrm>
          <a:prstGeom prst="rect">
            <a:avLst/>
          </a:prstGeom>
        </p:spPr>
      </p:pic>
      <p:sp>
        <p:nvSpPr>
          <p:cNvPr id="4" name="Title 3"/>
          <p:cNvSpPr>
            <a:spLocks noGrp="1"/>
          </p:cNvSpPr>
          <p:nvPr>
            <p:ph type="title"/>
          </p:nvPr>
        </p:nvSpPr>
        <p:spPr>
          <a:xfrm>
            <a:off x="1188554" y="1920240"/>
            <a:ext cx="7315200" cy="640080"/>
          </a:xfrm>
        </p:spPr>
        <p:txBody>
          <a:bodyPr anchor="b" anchorCtr="0"/>
          <a:lstStyle>
            <a:lvl1pPr>
              <a:defRPr>
                <a:solidFill>
                  <a:schemeClr val="bg1"/>
                </a:soli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a:xfrm>
            <a:off x="1188554" y="2651760"/>
            <a:ext cx="7315200" cy="914400"/>
          </a:xfrm>
        </p:spPr>
        <p:txBody>
          <a:bodyPr/>
          <a:lstStyle>
            <a:lvl1pPr marL="0" indent="0">
              <a:buFontTx/>
              <a:buNone/>
              <a:defRPr sz="1800">
                <a:solidFill>
                  <a:schemeClr val="bg1"/>
                </a:solidFill>
              </a:defRPr>
            </a:lvl1pPr>
            <a:lvl2pPr marL="400050" indent="0">
              <a:buFontTx/>
              <a:buNone/>
              <a:defRPr/>
            </a:lvl2pPr>
            <a:lvl3pPr marL="800100" indent="0">
              <a:buFontTx/>
              <a:buNone/>
              <a:defRPr/>
            </a:lvl3pPr>
            <a:lvl4pPr marL="1143000" indent="0">
              <a:buFontTx/>
              <a:buNone/>
              <a:defRPr/>
            </a:lvl4pPr>
            <a:lvl5pPr marL="1543050" indent="0">
              <a:buFontTx/>
              <a:buNone/>
              <a:defRPr/>
            </a:lvl5pPr>
          </a:lstStyle>
          <a:p>
            <a:pPr lvl="0"/>
            <a:r>
              <a:rPr lang="en-US" smtClean="0"/>
              <a:t>Click to edit Master text styles</a:t>
            </a:r>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itle 3"/>
          <p:cNvSpPr>
            <a:spLocks noGrp="1"/>
          </p:cNvSpPr>
          <p:nvPr>
            <p:ph type="title"/>
          </p:nvPr>
        </p:nvSpPr>
        <p:spPr/>
        <p:txBody>
          <a:bodyPr/>
          <a:lstStyle/>
          <a:p>
            <a:r>
              <a:rPr lang="en-US" smtClean="0"/>
              <a:t>Click to edit Master title style</a:t>
            </a:r>
            <a:endParaRPr lang="en-US" dirty="0"/>
          </a:p>
        </p:txBody>
      </p:sp>
    </p:spTree>
  </p:cSld>
  <p:clrMapOvr>
    <a:masterClrMapping/>
  </p:clrMapOvr>
  <p:transition>
    <p:wipe dir="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with Subhead">
    <p:spTree>
      <p:nvGrpSpPr>
        <p:cNvPr id="1" name=""/>
        <p:cNvGrpSpPr/>
        <p:nvPr/>
      </p:nvGrpSpPr>
      <p:grpSpPr>
        <a:xfrm>
          <a:off x="0" y="0"/>
          <a:ext cx="0" cy="0"/>
          <a:chOff x="0" y="0"/>
          <a:chExt cx="0" cy="0"/>
        </a:xfrm>
      </p:grpSpPr>
      <p:sp>
        <p:nvSpPr>
          <p:cNvPr id="3" name="Content Placeholder 2"/>
          <p:cNvSpPr>
            <a:spLocks noGrp="1"/>
          </p:cNvSpPr>
          <p:nvPr>
            <p:ph idx="1"/>
          </p:nvPr>
        </p:nvSpPr>
        <p:spPr bwMode="gray"/>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itle 3"/>
          <p:cNvSpPr>
            <a:spLocks noGrp="1"/>
          </p:cNvSpPr>
          <p:nvPr>
            <p:ph type="title"/>
          </p:nvPr>
        </p:nvSpPr>
        <p:spPr>
          <a:xfrm>
            <a:off x="412750" y="310896"/>
            <a:ext cx="6400800" cy="365760"/>
          </a:xfrm>
        </p:spPr>
        <p:txBody>
          <a:bodyPr/>
          <a:lstStyle>
            <a:lvl1pPr>
              <a:defRPr b="0"/>
            </a:lvl1pPr>
          </a:lstStyle>
          <a:p>
            <a:r>
              <a:rPr lang="en-US" smtClean="0"/>
              <a:t>Click to edit Master title style</a:t>
            </a:r>
            <a:endParaRPr lang="en-US" dirty="0"/>
          </a:p>
        </p:txBody>
      </p:sp>
      <p:sp>
        <p:nvSpPr>
          <p:cNvPr id="5" name="Text Placeholder 2"/>
          <p:cNvSpPr>
            <a:spLocks noGrp="1"/>
          </p:cNvSpPr>
          <p:nvPr>
            <p:ph type="body" idx="11"/>
          </p:nvPr>
        </p:nvSpPr>
        <p:spPr bwMode="gray">
          <a:xfrm>
            <a:off x="412749" y="676275"/>
            <a:ext cx="8316913" cy="365760"/>
          </a:xfrm>
        </p:spPr>
        <p:txBody>
          <a:bodyPr anchor="t" anchorCtr="0"/>
          <a:lstStyle>
            <a:lvl1pPr marL="0" indent="0">
              <a:lnSpc>
                <a:spcPct val="95000"/>
              </a:lnSpc>
              <a:spcBef>
                <a:spcPts val="0"/>
              </a:spcBef>
              <a:buNone/>
              <a:defRPr sz="1800" b="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extLst>
      <p:ext uri="{BB962C8B-B14F-4D97-AF65-F5344CB8AC3E}">
        <p14:creationId xmlns:p14="http://schemas.microsoft.com/office/powerpoint/2010/main" val="2416113055"/>
      </p:ext>
    </p:extLst>
  </p:cSld>
  <p:clrMapOvr>
    <a:masterClrMapping/>
  </p:clrMapOvr>
  <p:transition>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bwMode="gray">
          <a:xfrm>
            <a:off x="412750" y="1504951"/>
            <a:ext cx="4018280" cy="4668838"/>
          </a:xfrm>
        </p:spPr>
        <p:txBody>
          <a:bodyPr/>
          <a:lstStyle>
            <a:lvl1pPr>
              <a:spcBef>
                <a:spcPts val="1200"/>
              </a:spcBef>
              <a:defRPr sz="2000"/>
            </a:lvl1pPr>
            <a:lvl2pPr>
              <a:spcBef>
                <a:spcPts val="800"/>
              </a:spcBef>
              <a:defRPr sz="1800"/>
            </a:lvl2pPr>
            <a:lvl3pPr>
              <a:spcBef>
                <a:spcPts val="800"/>
              </a:spcBef>
              <a:defRPr sz="1600"/>
            </a:lvl3pPr>
            <a:lvl4pPr marL="1143000" indent="-228600">
              <a:spcBef>
                <a:spcPts val="800"/>
              </a:spcBef>
              <a:defRPr sz="1600"/>
            </a:lvl4pPr>
            <a:lvl5pPr marL="1485900" indent="-228600">
              <a:spcBef>
                <a:spcPts val="800"/>
              </a:spcBef>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bwMode="gray">
          <a:xfrm>
            <a:off x="4711383" y="1504951"/>
            <a:ext cx="4018280" cy="4668838"/>
          </a:xfrm>
        </p:spPr>
        <p:txBody>
          <a:bodyPr/>
          <a:lstStyle>
            <a:lvl1pPr>
              <a:spcBef>
                <a:spcPts val="1200"/>
              </a:spcBef>
              <a:defRPr sz="2000"/>
            </a:lvl1pPr>
            <a:lvl2pPr>
              <a:spcBef>
                <a:spcPts val="800"/>
              </a:spcBef>
              <a:defRPr sz="1800"/>
            </a:lvl2pPr>
            <a:lvl3pPr>
              <a:spcBef>
                <a:spcPts val="800"/>
              </a:spcBef>
              <a:defRPr sz="1600"/>
            </a:lvl3pPr>
            <a:lvl4pPr marL="1143000" indent="-228600">
              <a:spcBef>
                <a:spcPts val="800"/>
              </a:spcBef>
              <a:defRPr sz="1600"/>
            </a:lvl4pPr>
            <a:lvl5pPr marL="1485900" indent="-228600">
              <a:spcBef>
                <a:spcPts val="800"/>
              </a:spcBef>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dirty="0"/>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with Subhead">
    <p:spTree>
      <p:nvGrpSpPr>
        <p:cNvPr id="1" name=""/>
        <p:cNvGrpSpPr/>
        <p:nvPr/>
      </p:nvGrpSpPr>
      <p:grpSpPr>
        <a:xfrm>
          <a:off x="0" y="0"/>
          <a:ext cx="0" cy="0"/>
          <a:chOff x="0" y="0"/>
          <a:chExt cx="0" cy="0"/>
        </a:xfrm>
      </p:grpSpPr>
      <p:sp>
        <p:nvSpPr>
          <p:cNvPr id="3" name="Content Placeholder 2"/>
          <p:cNvSpPr>
            <a:spLocks noGrp="1"/>
          </p:cNvSpPr>
          <p:nvPr>
            <p:ph sz="half" idx="1"/>
          </p:nvPr>
        </p:nvSpPr>
        <p:spPr bwMode="gray">
          <a:xfrm>
            <a:off x="412750" y="1504951"/>
            <a:ext cx="4018280" cy="4668838"/>
          </a:xfrm>
        </p:spPr>
        <p:txBody>
          <a:bodyPr/>
          <a:lstStyle>
            <a:lvl1pPr>
              <a:spcBef>
                <a:spcPts val="1200"/>
              </a:spcBef>
              <a:defRPr sz="2000"/>
            </a:lvl1pPr>
            <a:lvl2pPr>
              <a:spcBef>
                <a:spcPts val="800"/>
              </a:spcBef>
              <a:defRPr sz="1800"/>
            </a:lvl2pPr>
            <a:lvl3pPr>
              <a:spcBef>
                <a:spcPts val="800"/>
              </a:spcBef>
              <a:defRPr sz="1600"/>
            </a:lvl3pPr>
            <a:lvl4pPr marL="1143000" indent="-228600">
              <a:spcBef>
                <a:spcPts val="800"/>
              </a:spcBef>
              <a:defRPr sz="1600"/>
            </a:lvl4pPr>
            <a:lvl5pPr marL="1485900" indent="-228600">
              <a:spcBef>
                <a:spcPts val="800"/>
              </a:spcBef>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bwMode="gray">
          <a:xfrm>
            <a:off x="4711383" y="1504951"/>
            <a:ext cx="4018280" cy="4668838"/>
          </a:xfrm>
        </p:spPr>
        <p:txBody>
          <a:bodyPr/>
          <a:lstStyle>
            <a:lvl1pPr>
              <a:spcBef>
                <a:spcPts val="1200"/>
              </a:spcBef>
              <a:defRPr sz="2000"/>
            </a:lvl1pPr>
            <a:lvl2pPr>
              <a:spcBef>
                <a:spcPts val="800"/>
              </a:spcBef>
              <a:defRPr sz="1800"/>
            </a:lvl2pPr>
            <a:lvl3pPr>
              <a:spcBef>
                <a:spcPts val="800"/>
              </a:spcBef>
              <a:defRPr sz="1600"/>
            </a:lvl3pPr>
            <a:lvl4pPr marL="1143000" indent="-228600">
              <a:spcBef>
                <a:spcPts val="800"/>
              </a:spcBef>
              <a:defRPr sz="1600"/>
            </a:lvl4pPr>
            <a:lvl5pPr marL="1485900" indent="-228600">
              <a:spcBef>
                <a:spcPts val="800"/>
              </a:spcBef>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Title 1"/>
          <p:cNvSpPr>
            <a:spLocks noGrp="1"/>
          </p:cNvSpPr>
          <p:nvPr>
            <p:ph type="title"/>
          </p:nvPr>
        </p:nvSpPr>
        <p:spPr>
          <a:xfrm>
            <a:off x="412750" y="310896"/>
            <a:ext cx="6400800" cy="365760"/>
          </a:xfrm>
        </p:spPr>
        <p:txBody>
          <a:bodyPr/>
          <a:lstStyle/>
          <a:p>
            <a:r>
              <a:rPr lang="en-US" smtClean="0"/>
              <a:t>Click to edit Master title style</a:t>
            </a:r>
            <a:endParaRPr lang="en-US" dirty="0"/>
          </a:p>
        </p:txBody>
      </p:sp>
      <p:sp>
        <p:nvSpPr>
          <p:cNvPr id="5" name="Text Placeholder 2"/>
          <p:cNvSpPr>
            <a:spLocks noGrp="1"/>
          </p:cNvSpPr>
          <p:nvPr>
            <p:ph type="body" idx="11"/>
          </p:nvPr>
        </p:nvSpPr>
        <p:spPr bwMode="gray">
          <a:xfrm>
            <a:off x="412749" y="676275"/>
            <a:ext cx="6400800" cy="365760"/>
          </a:xfrm>
        </p:spPr>
        <p:txBody>
          <a:bodyPr anchor="t" anchorCtr="0"/>
          <a:lstStyle>
            <a:lvl1pPr marL="0" indent="0">
              <a:lnSpc>
                <a:spcPct val="95000"/>
              </a:lnSpc>
              <a:spcBef>
                <a:spcPts val="0"/>
              </a:spcBef>
              <a:buNone/>
              <a:defRPr sz="1800" b="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extLst>
      <p:ext uri="{BB962C8B-B14F-4D97-AF65-F5344CB8AC3E}">
        <p14:creationId xmlns:p14="http://schemas.microsoft.com/office/powerpoint/2010/main" val="2897672987"/>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ext Placeholder 2"/>
          <p:cNvSpPr>
            <a:spLocks noGrp="1"/>
          </p:cNvSpPr>
          <p:nvPr>
            <p:ph type="body" idx="1"/>
          </p:nvPr>
        </p:nvSpPr>
        <p:spPr bwMode="gray">
          <a:xfrm>
            <a:off x="412750" y="1504950"/>
            <a:ext cx="4018280" cy="640080"/>
          </a:xfrm>
          <a:noFill/>
          <a:ln w="9525">
            <a:noFill/>
            <a:miter lim="800000"/>
            <a:headEnd/>
            <a:tailEnd/>
          </a:ln>
          <a:effectLst/>
        </p:spPr>
        <p:txBody>
          <a:bodyPr vert="horz" wrap="square" lIns="0" tIns="0" rIns="0" bIns="0" numCol="1" anchor="t" anchorCtr="0" compatLnSpc="1">
            <a:prstTxWarp prst="textNoShape">
              <a:avLst/>
            </a:prstTxWarp>
          </a:bodyPr>
          <a:lstStyle>
            <a:lvl1pPr marL="285750" indent="-285750">
              <a:spcBef>
                <a:spcPts val="0"/>
              </a:spcBef>
              <a:buNone/>
              <a:defRPr lang="en-US" sz="1800" b="1" dirty="0" smtClean="0">
                <a:latin typeface="+mj-lt"/>
              </a:defRPr>
            </a:lvl1pPr>
          </a:lstStyle>
          <a:p>
            <a:pPr marL="0" lvl="0" indent="0"/>
            <a:r>
              <a:rPr lang="en-US" smtClean="0"/>
              <a:t>Click to edit Master text styles</a:t>
            </a:r>
          </a:p>
        </p:txBody>
      </p:sp>
      <p:sp>
        <p:nvSpPr>
          <p:cNvPr id="5" name="Content Placeholder 3"/>
          <p:cNvSpPr>
            <a:spLocks noGrp="1"/>
          </p:cNvSpPr>
          <p:nvPr>
            <p:ph sz="half" idx="2"/>
          </p:nvPr>
        </p:nvSpPr>
        <p:spPr bwMode="gray">
          <a:xfrm>
            <a:off x="412750" y="2126744"/>
            <a:ext cx="4018280" cy="4047044"/>
          </a:xfrm>
        </p:spPr>
        <p:txBody>
          <a:bodyPr/>
          <a:lstStyle>
            <a:lvl1pPr>
              <a:spcBef>
                <a:spcPts val="1200"/>
              </a:spcBef>
              <a:defRPr sz="2000"/>
            </a:lvl1pPr>
            <a:lvl2pPr>
              <a:spcBef>
                <a:spcPts val="800"/>
              </a:spcBef>
              <a:defRPr sz="1800"/>
            </a:lvl2pPr>
            <a:lvl3pPr>
              <a:spcBef>
                <a:spcPts val="800"/>
              </a:spcBef>
              <a:defRPr sz="1600"/>
            </a:lvl3pPr>
            <a:lvl4pPr>
              <a:spcBef>
                <a:spcPts val="800"/>
              </a:spcBef>
              <a:defRPr sz="1600"/>
            </a:lvl4pPr>
            <a:lvl5pPr marL="1600200" indent="-228600">
              <a:spcBef>
                <a:spcPts val="800"/>
              </a:spcBef>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ext Placeholder 4"/>
          <p:cNvSpPr>
            <a:spLocks noGrp="1"/>
          </p:cNvSpPr>
          <p:nvPr>
            <p:ph type="body" sz="quarter" idx="3"/>
          </p:nvPr>
        </p:nvSpPr>
        <p:spPr bwMode="gray">
          <a:xfrm>
            <a:off x="4711383" y="1504950"/>
            <a:ext cx="4018280" cy="640080"/>
          </a:xfrm>
          <a:noFill/>
          <a:ln w="9525">
            <a:noFill/>
            <a:miter lim="800000"/>
            <a:headEnd/>
            <a:tailEnd/>
          </a:ln>
          <a:effectLst/>
        </p:spPr>
        <p:txBody>
          <a:bodyPr vert="horz" wrap="square" lIns="0" tIns="0" rIns="0" bIns="0" numCol="1" anchor="t" anchorCtr="0" compatLnSpc="1">
            <a:prstTxWarp prst="textNoShape">
              <a:avLst/>
            </a:prstTxWarp>
          </a:bodyPr>
          <a:lstStyle>
            <a:lvl1pPr marL="285750" indent="-285750">
              <a:spcBef>
                <a:spcPts val="0"/>
              </a:spcBef>
              <a:buNone/>
              <a:defRPr lang="en-US" sz="1800" b="1" dirty="0" smtClean="0">
                <a:latin typeface="+mj-lt"/>
              </a:defRPr>
            </a:lvl1pPr>
          </a:lstStyle>
          <a:p>
            <a:pPr marL="0" lvl="0" indent="0"/>
            <a:r>
              <a:rPr lang="en-US" smtClean="0"/>
              <a:t>Click to edit Master text styles</a:t>
            </a:r>
          </a:p>
        </p:txBody>
      </p:sp>
      <p:sp>
        <p:nvSpPr>
          <p:cNvPr id="7" name="Content Placeholder 5"/>
          <p:cNvSpPr>
            <a:spLocks noGrp="1"/>
          </p:cNvSpPr>
          <p:nvPr>
            <p:ph sz="quarter" idx="4"/>
          </p:nvPr>
        </p:nvSpPr>
        <p:spPr bwMode="gray">
          <a:xfrm>
            <a:off x="4711383" y="2126744"/>
            <a:ext cx="4018280" cy="4047044"/>
          </a:xfrm>
        </p:spPr>
        <p:txBody>
          <a:bodyPr/>
          <a:lstStyle>
            <a:lvl1pPr>
              <a:spcBef>
                <a:spcPts val="1200"/>
              </a:spcBef>
              <a:defRPr sz="2000"/>
            </a:lvl1pPr>
            <a:lvl2pPr>
              <a:spcBef>
                <a:spcPts val="800"/>
              </a:spcBef>
              <a:defRPr sz="1800"/>
            </a:lvl2pPr>
            <a:lvl3pPr>
              <a:spcBef>
                <a:spcPts val="800"/>
              </a:spcBef>
              <a:defRPr sz="1600"/>
            </a:lvl3pPr>
            <a:lvl4pPr>
              <a:spcBef>
                <a:spcPts val="800"/>
              </a:spcBef>
              <a:defRPr sz="1600"/>
            </a:lvl4pPr>
            <a:lvl5pPr marL="1485900" indent="-228600">
              <a:spcBef>
                <a:spcPts val="800"/>
              </a:spcBef>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p>
            <a:r>
              <a:rPr lang="en-US" smtClean="0"/>
              <a:t>Click to edit Master title style</a:t>
            </a:r>
            <a:endParaRPr lang="en-US"/>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pic>
        <p:nvPicPr>
          <p:cNvPr id="6" name="Picture 5" descr="1.jp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592138" y="4988742"/>
            <a:ext cx="6330615" cy="993474"/>
          </a:xfrm>
        </p:spPr>
        <p:txBody>
          <a:bodyPr anchor="ctr"/>
          <a:lstStyle/>
          <a:p>
            <a:r>
              <a:rPr lang="en-US" smtClean="0"/>
              <a:t>Click to edit Master title style</a:t>
            </a:r>
            <a:endParaRPr lang="en-US" dirty="0"/>
          </a:p>
        </p:txBody>
      </p:sp>
      <p:pic>
        <p:nvPicPr>
          <p:cNvPr id="3" name="Picture 2" descr="banner 8 Jan_small.jp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0" y="3203575"/>
            <a:ext cx="9144000" cy="1792733"/>
          </a:xfrm>
          <a:prstGeom prst="rect">
            <a:avLst/>
          </a:prstGeom>
        </p:spPr>
      </p:pic>
      <p:pic>
        <p:nvPicPr>
          <p:cNvPr id="4" name="Picture 3" descr="MACOM wrdmrk 3025 TM Tag RFLT.png"/>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4540250" y="1600200"/>
            <a:ext cx="3446585" cy="914400"/>
          </a:xfrm>
          <a:prstGeom prst="rect">
            <a:avLst/>
          </a:prstGeom>
        </p:spPr>
      </p:pic>
    </p:spTree>
    <p:extLst>
      <p:ext uri="{BB962C8B-B14F-4D97-AF65-F5344CB8AC3E}">
        <p14:creationId xmlns:p14="http://schemas.microsoft.com/office/powerpoint/2010/main" val="782380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4212230"/>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5922316"/>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0967509"/>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888564"/>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303993"/>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6476894"/>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5874479"/>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9978593"/>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5562600"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04800" y="1600200"/>
            <a:ext cx="41529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hart Placeholder 3"/>
          <p:cNvSpPr>
            <a:spLocks noGrp="1"/>
          </p:cNvSpPr>
          <p:nvPr>
            <p:ph type="chart" sz="half" idx="2"/>
          </p:nvPr>
        </p:nvSpPr>
        <p:spPr>
          <a:xfrm>
            <a:off x="4610100" y="1600200"/>
            <a:ext cx="4152900" cy="4114800"/>
          </a:xfrm>
        </p:spPr>
        <p:txBody>
          <a:bodyPr/>
          <a:lstStyle/>
          <a:p>
            <a:pPr lvl="0"/>
            <a:endParaRPr lang="en-US" noProof="0" smtClean="0"/>
          </a:p>
        </p:txBody>
      </p:sp>
    </p:spTree>
    <p:extLst>
      <p:ext uri="{BB962C8B-B14F-4D97-AF65-F5344CB8AC3E}">
        <p14:creationId xmlns:p14="http://schemas.microsoft.com/office/powerpoint/2010/main" val="9432355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5562600"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04800" y="1600200"/>
            <a:ext cx="41529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600200"/>
            <a:ext cx="41529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57674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5562600" cy="8382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1600200"/>
            <a:ext cx="84582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304800" y="3733800"/>
            <a:ext cx="84582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83486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3" cstate="print">
            <a:extLst>
              <a:ext uri="{28A0092B-C50C-407E-A947-70E740481C1C}">
                <a14:useLocalDpi xmlns:a14="http://schemas.microsoft.com/office/drawing/2010/main"/>
              </a:ext>
            </a:extLst>
          </a:blip>
          <a:stretch>
            <a:fillRect/>
          </a:stretch>
        </p:blipFill>
        <p:spPr>
          <a:xfrm>
            <a:off x="0" y="4343400"/>
            <a:ext cx="9144000" cy="2514600"/>
          </a:xfrm>
          <a:prstGeom prst="rect">
            <a:avLst/>
          </a:prstGeom>
        </p:spPr>
      </p:pic>
      <p:pic>
        <p:nvPicPr>
          <p:cNvPr id="9" name="Picture 8"/>
          <p:cNvPicPr>
            <a:picLocks noChangeAspect="1"/>
          </p:cNvPicPr>
          <p:nvPr userDrawn="1"/>
        </p:nvPicPr>
        <p:blipFill>
          <a:blip r:embed="rId24">
            <a:extLst>
              <a:ext uri="{28A0092B-C50C-407E-A947-70E740481C1C}">
                <a14:useLocalDpi xmlns:a14="http://schemas.microsoft.com/office/drawing/2010/main"/>
              </a:ext>
            </a:extLst>
          </a:blip>
          <a:stretch>
            <a:fillRect/>
          </a:stretch>
        </p:blipFill>
        <p:spPr>
          <a:xfrm>
            <a:off x="7313715" y="346569"/>
            <a:ext cx="1484623" cy="247437"/>
          </a:xfrm>
          <a:prstGeom prst="rect">
            <a:avLst/>
          </a:prstGeom>
        </p:spPr>
      </p:pic>
      <p:cxnSp>
        <p:nvCxnSpPr>
          <p:cNvPr id="11" name="Straight Connector 10"/>
          <p:cNvCxnSpPr/>
          <p:nvPr userDrawn="1"/>
        </p:nvCxnSpPr>
        <p:spPr bwMode="auto">
          <a:xfrm>
            <a:off x="0" y="1147763"/>
            <a:ext cx="8774810" cy="0"/>
          </a:xfrm>
          <a:prstGeom prst="line">
            <a:avLst/>
          </a:prstGeom>
          <a:solidFill>
            <a:schemeClr val="accent2"/>
          </a:solidFill>
          <a:ln w="28575" cap="sq" cmpd="sng" algn="ctr">
            <a:solidFill>
              <a:schemeClr val="accent2"/>
            </a:solidFill>
            <a:prstDash val="solid"/>
            <a:round/>
            <a:headEnd type="none" w="med" len="med"/>
            <a:tailEnd type="none" w="med" len="med"/>
          </a:ln>
          <a:effectLst/>
        </p:spPr>
      </p:cxnSp>
      <p:sp>
        <p:nvSpPr>
          <p:cNvPr id="553986" name="Rectangle 2"/>
          <p:cNvSpPr>
            <a:spLocks noGrp="1" noChangeArrowheads="1"/>
          </p:cNvSpPr>
          <p:nvPr>
            <p:ph type="title"/>
          </p:nvPr>
        </p:nvSpPr>
        <p:spPr bwMode="gray">
          <a:xfrm>
            <a:off x="412750" y="310896"/>
            <a:ext cx="6400800" cy="64008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smtClean="0"/>
              <a:t>Click to edit Master title style</a:t>
            </a:r>
            <a:endParaRPr lang="en-US" dirty="0" smtClean="0"/>
          </a:p>
        </p:txBody>
      </p:sp>
      <p:sp>
        <p:nvSpPr>
          <p:cNvPr id="553987" name="Rectangle 3"/>
          <p:cNvSpPr>
            <a:spLocks noGrp="1" noChangeArrowheads="1"/>
          </p:cNvSpPr>
          <p:nvPr>
            <p:ph type="body" idx="1"/>
          </p:nvPr>
        </p:nvSpPr>
        <p:spPr bwMode="gray">
          <a:xfrm>
            <a:off x="412751" y="1504951"/>
            <a:ext cx="8316912" cy="4668837"/>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53996" name="Text Box 12"/>
          <p:cNvSpPr txBox="1">
            <a:spLocks noChangeArrowheads="1"/>
          </p:cNvSpPr>
          <p:nvPr userDrawn="1"/>
        </p:nvSpPr>
        <p:spPr bwMode="gray">
          <a:xfrm>
            <a:off x="412750" y="6557963"/>
            <a:ext cx="5600700" cy="300037"/>
          </a:xfrm>
          <a:prstGeom prst="rect">
            <a:avLst/>
          </a:prstGeom>
          <a:noFill/>
          <a:ln w="9525" algn="ctr">
            <a:noFill/>
            <a:miter lim="800000"/>
            <a:headEnd/>
            <a:tailEnd/>
          </a:ln>
          <a:effectLst/>
        </p:spPr>
        <p:txBody>
          <a:bodyPr wrap="none" lIns="91440" tIns="45720" rIns="91440" bIns="45720"/>
          <a:lstStyle/>
          <a:p>
            <a:pPr algn="l">
              <a:spcBef>
                <a:spcPts val="900"/>
              </a:spcBef>
            </a:pPr>
            <a:r>
              <a:rPr lang="en-US" sz="1000" kern="1200" dirty="0" smtClean="0">
                <a:solidFill>
                  <a:schemeClr val="tx2"/>
                </a:solidFill>
                <a:latin typeface="Arial" charset="0"/>
                <a:ea typeface="+mn-ea"/>
                <a:cs typeface="+mn-cs"/>
              </a:rPr>
              <a:t>Company Confidential</a:t>
            </a:r>
          </a:p>
        </p:txBody>
      </p:sp>
      <p:sp>
        <p:nvSpPr>
          <p:cNvPr id="7" name="Rectangle 5"/>
          <p:cNvSpPr txBox="1">
            <a:spLocks noChangeArrowheads="1"/>
          </p:cNvSpPr>
          <p:nvPr/>
        </p:nvSpPr>
        <p:spPr bwMode="gray">
          <a:xfrm>
            <a:off x="7926388" y="6557963"/>
            <a:ext cx="803275" cy="300037"/>
          </a:xfrm>
          <a:prstGeom prst="rect">
            <a:avLst/>
          </a:prstGeom>
          <a:noFill/>
          <a:ln w="9525">
            <a:noFill/>
            <a:miter lim="800000"/>
            <a:headEnd/>
            <a:tailEnd/>
          </a:ln>
          <a:effectLst/>
        </p:spPr>
        <p:txBody>
          <a:bodyPr vert="horz" wrap="none" lIns="91440" tIns="45720" rIns="91440" bIns="320040" numCol="1" anchor="t" anchorCtr="0" compatLnSpc="1">
            <a:prstTxWarp prst="textNoShape">
              <a:avLst/>
            </a:prstTxWarp>
          </a:bodyPr>
          <a:lstStyle>
            <a:lvl1pPr algn="r" eaLnBrk="0" hangingPunct="0">
              <a:lnSpc>
                <a:spcPct val="100000"/>
              </a:lnSpc>
              <a:spcBef>
                <a:spcPct val="0"/>
              </a:spcBef>
              <a:defRPr sz="1000">
                <a:solidFill>
                  <a:schemeClr val="tx2"/>
                </a:solidFill>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2C78AFB4-C6FC-46C2-866E-1D035D18C516}" type="slidenum">
              <a:rPr kumimoji="0" lang="en-US" sz="1200" b="0" i="0" u="none" strike="noStrike" kern="1200" cap="none" spc="0" normalizeH="0" baseline="0" noProof="0" smtClean="0">
                <a:ln>
                  <a:noFill/>
                </a:ln>
                <a:solidFill>
                  <a:schemeClr val="tx2"/>
                </a:solidFill>
                <a:effectLst/>
                <a:uLnTx/>
                <a:uFillTx/>
                <a:latin typeface="Arial"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schemeClr val="tx2"/>
              </a:solidFill>
              <a:effectLst/>
              <a:uLnTx/>
              <a:uFillTx/>
              <a:latin typeface="Arial" charset="0"/>
              <a:ea typeface="+mn-ea"/>
              <a:cs typeface="+mn-cs"/>
            </a:endParaRPr>
          </a:p>
        </p:txBody>
      </p:sp>
    </p:spTree>
  </p:cSld>
  <p:clrMap bg1="lt1" tx1="dk1" bg2="lt2" tx2="dk2" accent1="accent1" accent2="accent2" accent3="accent3" accent4="accent4" accent5="accent5" accent6="accent6" hlink="hlink" folHlink="folHlink"/>
  <p:sldLayoutIdLst>
    <p:sldLayoutId id="2147483699" r:id="rId1"/>
    <p:sldLayoutId id="2147483701" r:id="rId2"/>
    <p:sldLayoutId id="2147483700" r:id="rId3"/>
    <p:sldLayoutId id="2147483713" r:id="rId4"/>
    <p:sldLayoutId id="2147483702" r:id="rId5"/>
    <p:sldLayoutId id="2147483715" r:id="rId6"/>
    <p:sldLayoutId id="2147483712" r:id="rId7"/>
    <p:sldLayoutId id="2147483704" r:id="rId8"/>
    <p:sldLayoutId id="2147483705" r:id="rId9"/>
    <p:sldLayoutId id="2147483716" r:id="rId10"/>
    <p:sldLayoutId id="2147483717" r:id="rId11"/>
    <p:sldLayoutId id="2147483721" r:id="rId12"/>
    <p:sldLayoutId id="2147483722"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Lst>
  <p:transition>
    <p:wipe dir="r"/>
  </p:transition>
  <p:timing>
    <p:tnLst>
      <p:par>
        <p:cTn id="1" dur="indefinite" restart="never" nodeType="tmRoot"/>
      </p:par>
    </p:tnLst>
  </p:timing>
  <p:hf sldNum="0" hdr="0" ftr="0" dt="0"/>
  <p:txStyles>
    <p:titleStyle>
      <a:lvl1pPr algn="l" rtl="0" eaLnBrk="1" fontAlgn="base" hangingPunct="1">
        <a:lnSpc>
          <a:spcPct val="90000"/>
        </a:lnSpc>
        <a:spcBef>
          <a:spcPct val="0"/>
        </a:spcBef>
        <a:spcAft>
          <a:spcPct val="0"/>
        </a:spcAft>
        <a:defRPr sz="2400" b="0" i="0" u="none">
          <a:solidFill>
            <a:schemeClr val="tx2"/>
          </a:solidFill>
          <a:latin typeface="+mj-lt"/>
          <a:ea typeface="+mj-ea"/>
          <a:cs typeface="+mj-cs"/>
        </a:defRPr>
      </a:lvl1pPr>
      <a:lvl2pPr algn="l" rtl="0" eaLnBrk="1" fontAlgn="base" hangingPunct="1">
        <a:lnSpc>
          <a:spcPct val="90000"/>
        </a:lnSpc>
        <a:spcBef>
          <a:spcPct val="0"/>
        </a:spcBef>
        <a:spcAft>
          <a:spcPct val="0"/>
        </a:spcAft>
        <a:defRPr sz="3200" b="1">
          <a:solidFill>
            <a:schemeClr val="tx2"/>
          </a:solidFill>
          <a:latin typeface="Arial" charset="0"/>
        </a:defRPr>
      </a:lvl2pPr>
      <a:lvl3pPr algn="l" rtl="0" eaLnBrk="1" fontAlgn="base" hangingPunct="1">
        <a:lnSpc>
          <a:spcPct val="90000"/>
        </a:lnSpc>
        <a:spcBef>
          <a:spcPct val="0"/>
        </a:spcBef>
        <a:spcAft>
          <a:spcPct val="0"/>
        </a:spcAft>
        <a:defRPr sz="3200" b="1">
          <a:solidFill>
            <a:schemeClr val="tx2"/>
          </a:solidFill>
          <a:latin typeface="Arial" charset="0"/>
        </a:defRPr>
      </a:lvl3pPr>
      <a:lvl4pPr algn="l" rtl="0" eaLnBrk="1" fontAlgn="base" hangingPunct="1">
        <a:lnSpc>
          <a:spcPct val="90000"/>
        </a:lnSpc>
        <a:spcBef>
          <a:spcPct val="0"/>
        </a:spcBef>
        <a:spcAft>
          <a:spcPct val="0"/>
        </a:spcAft>
        <a:defRPr sz="3200" b="1">
          <a:solidFill>
            <a:schemeClr val="tx2"/>
          </a:solidFill>
          <a:latin typeface="Arial" charset="0"/>
        </a:defRPr>
      </a:lvl4pPr>
      <a:lvl5pPr algn="l" rtl="0" eaLnBrk="1" fontAlgn="base" hangingPunct="1">
        <a:lnSpc>
          <a:spcPct val="90000"/>
        </a:lnSpc>
        <a:spcBef>
          <a:spcPct val="0"/>
        </a:spcBef>
        <a:spcAft>
          <a:spcPct val="0"/>
        </a:spcAft>
        <a:defRPr sz="3200" b="1">
          <a:solidFill>
            <a:schemeClr val="tx2"/>
          </a:solidFill>
          <a:latin typeface="Arial" charset="0"/>
        </a:defRPr>
      </a:lvl5pPr>
      <a:lvl6pPr marL="457200" algn="l" rtl="0" eaLnBrk="1" fontAlgn="base" hangingPunct="1">
        <a:lnSpc>
          <a:spcPct val="90000"/>
        </a:lnSpc>
        <a:spcBef>
          <a:spcPct val="0"/>
        </a:spcBef>
        <a:spcAft>
          <a:spcPct val="0"/>
        </a:spcAft>
        <a:defRPr sz="3200" b="1">
          <a:solidFill>
            <a:schemeClr val="tx2"/>
          </a:solidFill>
          <a:latin typeface="Arial" charset="0"/>
        </a:defRPr>
      </a:lvl6pPr>
      <a:lvl7pPr marL="914400" algn="l" rtl="0" eaLnBrk="1" fontAlgn="base" hangingPunct="1">
        <a:lnSpc>
          <a:spcPct val="90000"/>
        </a:lnSpc>
        <a:spcBef>
          <a:spcPct val="0"/>
        </a:spcBef>
        <a:spcAft>
          <a:spcPct val="0"/>
        </a:spcAft>
        <a:defRPr sz="3200" b="1">
          <a:solidFill>
            <a:schemeClr val="tx2"/>
          </a:solidFill>
          <a:latin typeface="Arial" charset="0"/>
        </a:defRPr>
      </a:lvl7pPr>
      <a:lvl8pPr marL="1371600" algn="l" rtl="0" eaLnBrk="1" fontAlgn="base" hangingPunct="1">
        <a:lnSpc>
          <a:spcPct val="90000"/>
        </a:lnSpc>
        <a:spcBef>
          <a:spcPct val="0"/>
        </a:spcBef>
        <a:spcAft>
          <a:spcPct val="0"/>
        </a:spcAft>
        <a:defRPr sz="3200" b="1">
          <a:solidFill>
            <a:schemeClr val="tx2"/>
          </a:solidFill>
          <a:latin typeface="Arial" charset="0"/>
        </a:defRPr>
      </a:lvl8pPr>
      <a:lvl9pPr marL="1828800" algn="l" rtl="0" eaLnBrk="1" fontAlgn="base" hangingPunct="1">
        <a:lnSpc>
          <a:spcPct val="90000"/>
        </a:lnSpc>
        <a:spcBef>
          <a:spcPct val="0"/>
        </a:spcBef>
        <a:spcAft>
          <a:spcPct val="0"/>
        </a:spcAft>
        <a:defRPr sz="3200" b="1">
          <a:solidFill>
            <a:schemeClr val="tx2"/>
          </a:solidFill>
          <a:latin typeface="Arial" charset="0"/>
        </a:defRPr>
      </a:lvl9pPr>
    </p:titleStyle>
    <p:bodyStyle>
      <a:lvl1pPr marL="285750" indent="-285750" algn="l" rtl="0" eaLnBrk="1" fontAlgn="base" hangingPunct="1">
        <a:lnSpc>
          <a:spcPct val="95000"/>
        </a:lnSpc>
        <a:spcBef>
          <a:spcPts val="1200"/>
        </a:spcBef>
        <a:spcAft>
          <a:spcPct val="0"/>
        </a:spcAft>
        <a:buClr>
          <a:schemeClr val="accent2"/>
        </a:buClr>
        <a:buFont typeface="Arial Black" panose="020B0A04020102020204" pitchFamily="34" charset="0"/>
        <a:buChar char="&gt;"/>
        <a:defRPr sz="2000">
          <a:solidFill>
            <a:schemeClr val="tx2"/>
          </a:solidFill>
          <a:latin typeface="+mn-lt"/>
          <a:ea typeface="+mn-ea"/>
          <a:cs typeface="+mn-cs"/>
        </a:defRPr>
      </a:lvl1pPr>
      <a:lvl2pPr marL="571500" indent="-228600" algn="l" rtl="0" eaLnBrk="1" fontAlgn="base" hangingPunct="1">
        <a:lnSpc>
          <a:spcPct val="95000"/>
        </a:lnSpc>
        <a:spcBef>
          <a:spcPts val="800"/>
        </a:spcBef>
        <a:spcAft>
          <a:spcPct val="0"/>
        </a:spcAft>
        <a:buClr>
          <a:schemeClr val="accent2"/>
        </a:buClr>
        <a:buFont typeface="Arial" panose="020B0604020202020204" pitchFamily="34" charset="0"/>
        <a:buChar char="•"/>
        <a:defRPr sz="1800">
          <a:solidFill>
            <a:schemeClr val="tx2"/>
          </a:solidFill>
          <a:latin typeface="+mn-lt"/>
        </a:defRPr>
      </a:lvl2pPr>
      <a:lvl3pPr marL="857250" indent="-228600" algn="l" rtl="0" eaLnBrk="1" fontAlgn="base" hangingPunct="1">
        <a:lnSpc>
          <a:spcPct val="95000"/>
        </a:lnSpc>
        <a:spcBef>
          <a:spcPts val="800"/>
        </a:spcBef>
        <a:spcAft>
          <a:spcPct val="0"/>
        </a:spcAft>
        <a:buClr>
          <a:schemeClr val="accent2"/>
        </a:buClr>
        <a:buFont typeface="Arial" panose="020B0604020202020204" pitchFamily="34" charset="0"/>
        <a:buChar char="•"/>
        <a:defRPr sz="1600">
          <a:solidFill>
            <a:schemeClr val="tx2"/>
          </a:solidFill>
          <a:latin typeface="+mn-lt"/>
        </a:defRPr>
      </a:lvl3pPr>
      <a:lvl4pPr marL="1143000" indent="-228600" algn="l" rtl="0" eaLnBrk="1" fontAlgn="base" hangingPunct="1">
        <a:lnSpc>
          <a:spcPct val="95000"/>
        </a:lnSpc>
        <a:spcBef>
          <a:spcPts val="800"/>
        </a:spcBef>
        <a:spcAft>
          <a:spcPct val="0"/>
        </a:spcAft>
        <a:buClr>
          <a:schemeClr val="accent2"/>
        </a:buClr>
        <a:buFont typeface="Arial" panose="020B0604020202020204" pitchFamily="34" charset="0"/>
        <a:buChar char="•"/>
        <a:defRPr sz="1600">
          <a:solidFill>
            <a:schemeClr val="tx2"/>
          </a:solidFill>
          <a:latin typeface="+mn-lt"/>
        </a:defRPr>
      </a:lvl4pPr>
      <a:lvl5pPr marL="1485900" indent="-228600" algn="l" rtl="0" eaLnBrk="1" fontAlgn="base" hangingPunct="1">
        <a:lnSpc>
          <a:spcPct val="95000"/>
        </a:lnSpc>
        <a:spcBef>
          <a:spcPts val="800"/>
        </a:spcBef>
        <a:spcAft>
          <a:spcPct val="0"/>
        </a:spcAft>
        <a:buClr>
          <a:schemeClr val="accent2"/>
        </a:buClr>
        <a:buFont typeface="Arial" panose="020B0604020202020204" pitchFamily="34" charset="0"/>
        <a:buChar char="•"/>
        <a:defRPr sz="1600">
          <a:solidFill>
            <a:schemeClr val="tx2"/>
          </a:solidFill>
          <a:latin typeface="+mn-lt"/>
        </a:defRPr>
      </a:lvl5pPr>
      <a:lvl6pPr marL="2228850" indent="-228600" algn="l" rtl="0" eaLnBrk="1" fontAlgn="base" hangingPunct="1">
        <a:lnSpc>
          <a:spcPct val="95000"/>
        </a:lnSpc>
        <a:spcBef>
          <a:spcPct val="25000"/>
        </a:spcBef>
        <a:spcAft>
          <a:spcPct val="0"/>
        </a:spcAft>
        <a:buClr>
          <a:schemeClr val="accent1"/>
        </a:buClr>
        <a:buChar char="•"/>
        <a:defRPr sz="1600">
          <a:solidFill>
            <a:schemeClr val="tx1"/>
          </a:solidFill>
          <a:latin typeface="+mn-lt"/>
        </a:defRPr>
      </a:lvl6pPr>
      <a:lvl7pPr marL="2686050" indent="-228600" algn="l" rtl="0" eaLnBrk="1" fontAlgn="base" hangingPunct="1">
        <a:lnSpc>
          <a:spcPct val="95000"/>
        </a:lnSpc>
        <a:spcBef>
          <a:spcPct val="25000"/>
        </a:spcBef>
        <a:spcAft>
          <a:spcPct val="0"/>
        </a:spcAft>
        <a:buClr>
          <a:schemeClr val="accent1"/>
        </a:buClr>
        <a:buChar char="•"/>
        <a:defRPr sz="1600">
          <a:solidFill>
            <a:schemeClr val="tx1"/>
          </a:solidFill>
          <a:latin typeface="+mn-lt"/>
        </a:defRPr>
      </a:lvl7pPr>
      <a:lvl8pPr marL="3143250" indent="-228600" algn="l" rtl="0" eaLnBrk="1" fontAlgn="base" hangingPunct="1">
        <a:lnSpc>
          <a:spcPct val="95000"/>
        </a:lnSpc>
        <a:spcBef>
          <a:spcPct val="25000"/>
        </a:spcBef>
        <a:spcAft>
          <a:spcPct val="0"/>
        </a:spcAft>
        <a:buClr>
          <a:schemeClr val="accent1"/>
        </a:buClr>
        <a:buChar char="•"/>
        <a:defRPr sz="1600">
          <a:solidFill>
            <a:schemeClr val="tx1"/>
          </a:solidFill>
          <a:latin typeface="+mn-lt"/>
        </a:defRPr>
      </a:lvl8pPr>
      <a:lvl9pPr marL="3600450" indent="-228600" algn="l" rtl="0" eaLnBrk="1" fontAlgn="base" hangingPunct="1">
        <a:lnSpc>
          <a:spcPct val="95000"/>
        </a:lnSpc>
        <a:spcBef>
          <a:spcPct val="25000"/>
        </a:spcBef>
        <a:spcAft>
          <a:spcPct val="0"/>
        </a:spcAft>
        <a:buClr>
          <a:schemeClr val="accent1"/>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8.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slide" Target="slide33.xml"/><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12.jpeg"/><Relationship Id="rId11" Type="http://schemas.openxmlformats.org/officeDocument/2006/relationships/image" Target="../media/image17.png"/><Relationship Id="rId5" Type="http://schemas.openxmlformats.org/officeDocument/2006/relationships/image" Target="../media/image11.jpeg"/><Relationship Id="rId15" Type="http://schemas.openxmlformats.org/officeDocument/2006/relationships/image" Target="../media/image19.emf"/><Relationship Id="rId10" Type="http://schemas.openxmlformats.org/officeDocument/2006/relationships/image" Target="../media/image16.jpeg"/><Relationship Id="rId4" Type="http://schemas.openxmlformats.org/officeDocument/2006/relationships/image" Target="../media/image10.png"/><Relationship Id="rId9" Type="http://schemas.openxmlformats.org/officeDocument/2006/relationships/image" Target="../media/image15.jpeg"/><Relationship Id="rId14" Type="http://schemas.openxmlformats.org/officeDocument/2006/relationships/slide" Target="slide3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vmlDrawing" Target="../drawings/vmlDrawing1.vml"/><Relationship Id="rId5" Type="http://schemas.openxmlformats.org/officeDocument/2006/relationships/image" Target="../media/image22.w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vmlDrawing" Target="../drawings/vmlDrawing2.vml"/><Relationship Id="rId5" Type="http://schemas.openxmlformats.org/officeDocument/2006/relationships/image" Target="../media/image23.wmf"/><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image" Target="../media/image24.wmf"/><Relationship Id="rId4"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26.wmf"/><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25.wmf"/><Relationship Id="rId4" Type="http://schemas.openxmlformats.org/officeDocument/2006/relationships/oleObject" Target="../embeddings/oleObject4.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28.wmf"/><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image" Target="../media/image27.wmf"/><Relationship Id="rId4" Type="http://schemas.openxmlformats.org/officeDocument/2006/relationships/oleObject" Target="../embeddings/oleObject6.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2.emf"/><Relationship Id="rId5" Type="http://schemas.openxmlformats.org/officeDocument/2006/relationships/image" Target="../media/image31.emf"/><Relationship Id="rId4" Type="http://schemas.openxmlformats.org/officeDocument/2006/relationships/image" Target="../media/image30.emf"/></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9.xml"/><Relationship Id="rId5" Type="http://schemas.openxmlformats.org/officeDocument/2006/relationships/image" Target="../media/image35.png"/><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9.xml"/><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848955"/>
            <a:ext cx="6400800" cy="640080"/>
          </a:xfrm>
        </p:spPr>
        <p:txBody>
          <a:bodyPr>
            <a:normAutofit fontScale="90000"/>
          </a:bodyPr>
          <a:lstStyle/>
          <a:p>
            <a:r>
              <a:rPr lang="en-US" dirty="0" smtClean="0"/>
              <a:t>MACOM</a:t>
            </a:r>
            <a:br>
              <a:rPr lang="en-US" dirty="0" smtClean="0"/>
            </a:br>
            <a:r>
              <a:rPr lang="en-US" dirty="0" smtClean="0"/>
              <a:t>Diode Products - Schottky</a:t>
            </a:r>
            <a:br>
              <a:rPr lang="en-US" dirty="0" smtClean="0"/>
            </a:br>
            <a:r>
              <a:rPr lang="en-US" dirty="0" smtClean="0"/>
              <a:t>rev 0</a:t>
            </a:r>
            <a:endParaRPr lang="en-US" dirty="0"/>
          </a:p>
        </p:txBody>
      </p:sp>
      <p:sp>
        <p:nvSpPr>
          <p:cNvPr id="3" name="Text Placeholder 2"/>
          <p:cNvSpPr>
            <a:spLocks noGrp="1"/>
          </p:cNvSpPr>
          <p:nvPr>
            <p:ph type="body" sz="quarter" idx="10"/>
          </p:nvPr>
        </p:nvSpPr>
        <p:spPr>
          <a:xfrm>
            <a:off x="914400" y="3777321"/>
            <a:ext cx="4572000" cy="731520"/>
          </a:xfrm>
        </p:spPr>
        <p:txBody>
          <a:bodyPr/>
          <a:lstStyle/>
          <a:p>
            <a:r>
              <a:rPr lang="en-US" dirty="0" smtClean="0"/>
              <a:t>Joe Bukowski, Rick Cory</a:t>
            </a:r>
          </a:p>
          <a:p>
            <a:r>
              <a:rPr lang="en-US" dirty="0" smtClean="0"/>
              <a:t>3 March 2017</a:t>
            </a:r>
            <a:endParaRPr lang="en-US" dirty="0"/>
          </a:p>
        </p:txBody>
      </p:sp>
    </p:spTree>
    <p:extLst>
      <p:ext uri="{BB962C8B-B14F-4D97-AF65-F5344CB8AC3E}">
        <p14:creationId xmlns:p14="http://schemas.microsoft.com/office/powerpoint/2010/main" val="30313009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36795" y="422029"/>
            <a:ext cx="5247568" cy="535531"/>
          </a:xfrm>
          <a:prstGeom prst="rect">
            <a:avLst/>
          </a:prstGeom>
          <a:noFill/>
        </p:spPr>
        <p:txBody>
          <a:bodyPr wrap="square" rtlCol="0">
            <a:spAutoFit/>
          </a:bodyPr>
          <a:lstStyle/>
          <a:p>
            <a:pPr algn="l"/>
            <a:r>
              <a:rPr lang="en-US" sz="3200" b="1" dirty="0" smtClean="0"/>
              <a:t>PRODUCT FAMILIES</a:t>
            </a:r>
          </a:p>
        </p:txBody>
      </p:sp>
      <p:sp>
        <p:nvSpPr>
          <p:cNvPr id="30" name="Freeform 29"/>
          <p:cNvSpPr/>
          <p:nvPr/>
        </p:nvSpPr>
        <p:spPr>
          <a:xfrm>
            <a:off x="3572029" y="3457545"/>
            <a:ext cx="1674580" cy="1150965"/>
          </a:xfrm>
          <a:custGeom>
            <a:avLst/>
            <a:gdLst>
              <a:gd name="connsiteX0" fmla="*/ 0 w 1196197"/>
              <a:gd name="connsiteY0" fmla="*/ 59810 h 598098"/>
              <a:gd name="connsiteX1" fmla="*/ 17518 w 1196197"/>
              <a:gd name="connsiteY1" fmla="*/ 17518 h 598098"/>
              <a:gd name="connsiteX2" fmla="*/ 59810 w 1196197"/>
              <a:gd name="connsiteY2" fmla="*/ 0 h 598098"/>
              <a:gd name="connsiteX3" fmla="*/ 1136387 w 1196197"/>
              <a:gd name="connsiteY3" fmla="*/ 0 h 598098"/>
              <a:gd name="connsiteX4" fmla="*/ 1178679 w 1196197"/>
              <a:gd name="connsiteY4" fmla="*/ 17518 h 598098"/>
              <a:gd name="connsiteX5" fmla="*/ 1196197 w 1196197"/>
              <a:gd name="connsiteY5" fmla="*/ 59810 h 598098"/>
              <a:gd name="connsiteX6" fmla="*/ 1196197 w 1196197"/>
              <a:gd name="connsiteY6" fmla="*/ 538288 h 598098"/>
              <a:gd name="connsiteX7" fmla="*/ 1178679 w 1196197"/>
              <a:gd name="connsiteY7" fmla="*/ 580580 h 598098"/>
              <a:gd name="connsiteX8" fmla="*/ 1136387 w 1196197"/>
              <a:gd name="connsiteY8" fmla="*/ 598098 h 598098"/>
              <a:gd name="connsiteX9" fmla="*/ 59810 w 1196197"/>
              <a:gd name="connsiteY9" fmla="*/ 598098 h 598098"/>
              <a:gd name="connsiteX10" fmla="*/ 17518 w 1196197"/>
              <a:gd name="connsiteY10" fmla="*/ 580580 h 598098"/>
              <a:gd name="connsiteX11" fmla="*/ 0 w 1196197"/>
              <a:gd name="connsiteY11" fmla="*/ 538288 h 598098"/>
              <a:gd name="connsiteX12" fmla="*/ 0 w 1196197"/>
              <a:gd name="connsiteY12" fmla="*/ 59810 h 59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197" h="598098">
                <a:moveTo>
                  <a:pt x="0" y="59810"/>
                </a:moveTo>
                <a:cubicBezTo>
                  <a:pt x="0" y="43947"/>
                  <a:pt x="6301" y="28734"/>
                  <a:pt x="17518" y="17518"/>
                </a:cubicBezTo>
                <a:cubicBezTo>
                  <a:pt x="28735" y="6301"/>
                  <a:pt x="43947" y="0"/>
                  <a:pt x="59810" y="0"/>
                </a:cubicBezTo>
                <a:lnTo>
                  <a:pt x="1136387" y="0"/>
                </a:lnTo>
                <a:cubicBezTo>
                  <a:pt x="1152250" y="0"/>
                  <a:pt x="1167463" y="6301"/>
                  <a:pt x="1178679" y="17518"/>
                </a:cubicBezTo>
                <a:cubicBezTo>
                  <a:pt x="1189896" y="28735"/>
                  <a:pt x="1196197" y="43947"/>
                  <a:pt x="1196197" y="59810"/>
                </a:cubicBezTo>
                <a:lnTo>
                  <a:pt x="1196197" y="538288"/>
                </a:lnTo>
                <a:cubicBezTo>
                  <a:pt x="1196197" y="554151"/>
                  <a:pt x="1189896" y="569364"/>
                  <a:pt x="1178679" y="580580"/>
                </a:cubicBezTo>
                <a:cubicBezTo>
                  <a:pt x="1167462" y="591797"/>
                  <a:pt x="1152250" y="598098"/>
                  <a:pt x="1136387" y="598098"/>
                </a:cubicBezTo>
                <a:lnTo>
                  <a:pt x="59810" y="598098"/>
                </a:lnTo>
                <a:cubicBezTo>
                  <a:pt x="43947" y="598098"/>
                  <a:pt x="28734" y="591797"/>
                  <a:pt x="17518" y="580580"/>
                </a:cubicBezTo>
                <a:cubicBezTo>
                  <a:pt x="6301" y="569363"/>
                  <a:pt x="0" y="554151"/>
                  <a:pt x="0" y="538288"/>
                </a:cubicBezTo>
                <a:lnTo>
                  <a:pt x="0" y="59810"/>
                </a:lnTo>
                <a:close/>
              </a:path>
            </a:pathLst>
          </a:custGeom>
          <a:solidFill>
            <a:srgbClr val="18921E"/>
          </a:solidFill>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7678" tIns="27678" rIns="27678" bIns="27678" numCol="1" spcCol="1270" anchor="ctr" anchorCtr="0">
            <a:noAutofit/>
          </a:bodyPr>
          <a:lstStyle/>
          <a:p>
            <a:pPr lvl="0" algn="ctr" defTabSz="711200">
              <a:lnSpc>
                <a:spcPct val="90000"/>
              </a:lnSpc>
              <a:spcBef>
                <a:spcPct val="0"/>
              </a:spcBef>
              <a:spcAft>
                <a:spcPct val="35000"/>
              </a:spcAft>
            </a:pPr>
            <a:r>
              <a:rPr lang="en-US" sz="2400" b="1" kern="1200" dirty="0" smtClean="0"/>
              <a:t>Diode Products</a:t>
            </a:r>
            <a:endParaRPr lang="en-US" sz="2400" b="1" kern="1200" dirty="0"/>
          </a:p>
        </p:txBody>
      </p:sp>
      <p:sp>
        <p:nvSpPr>
          <p:cNvPr id="32" name="Freeform 31"/>
          <p:cNvSpPr/>
          <p:nvPr/>
        </p:nvSpPr>
        <p:spPr>
          <a:xfrm>
            <a:off x="3689087" y="1488128"/>
            <a:ext cx="1371600" cy="1245435"/>
          </a:xfrm>
          <a:custGeom>
            <a:avLst/>
            <a:gdLst>
              <a:gd name="connsiteX0" fmla="*/ 0 w 1196197"/>
              <a:gd name="connsiteY0" fmla="*/ 59810 h 598098"/>
              <a:gd name="connsiteX1" fmla="*/ 17518 w 1196197"/>
              <a:gd name="connsiteY1" fmla="*/ 17518 h 598098"/>
              <a:gd name="connsiteX2" fmla="*/ 59810 w 1196197"/>
              <a:gd name="connsiteY2" fmla="*/ 0 h 598098"/>
              <a:gd name="connsiteX3" fmla="*/ 1136387 w 1196197"/>
              <a:gd name="connsiteY3" fmla="*/ 0 h 598098"/>
              <a:gd name="connsiteX4" fmla="*/ 1178679 w 1196197"/>
              <a:gd name="connsiteY4" fmla="*/ 17518 h 598098"/>
              <a:gd name="connsiteX5" fmla="*/ 1196197 w 1196197"/>
              <a:gd name="connsiteY5" fmla="*/ 59810 h 598098"/>
              <a:gd name="connsiteX6" fmla="*/ 1196197 w 1196197"/>
              <a:gd name="connsiteY6" fmla="*/ 538288 h 598098"/>
              <a:gd name="connsiteX7" fmla="*/ 1178679 w 1196197"/>
              <a:gd name="connsiteY7" fmla="*/ 580580 h 598098"/>
              <a:gd name="connsiteX8" fmla="*/ 1136387 w 1196197"/>
              <a:gd name="connsiteY8" fmla="*/ 598098 h 598098"/>
              <a:gd name="connsiteX9" fmla="*/ 59810 w 1196197"/>
              <a:gd name="connsiteY9" fmla="*/ 598098 h 598098"/>
              <a:gd name="connsiteX10" fmla="*/ 17518 w 1196197"/>
              <a:gd name="connsiteY10" fmla="*/ 580580 h 598098"/>
              <a:gd name="connsiteX11" fmla="*/ 0 w 1196197"/>
              <a:gd name="connsiteY11" fmla="*/ 538288 h 598098"/>
              <a:gd name="connsiteX12" fmla="*/ 0 w 1196197"/>
              <a:gd name="connsiteY12" fmla="*/ 59810 h 59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197" h="598098">
                <a:moveTo>
                  <a:pt x="0" y="59810"/>
                </a:moveTo>
                <a:cubicBezTo>
                  <a:pt x="0" y="43947"/>
                  <a:pt x="6301" y="28734"/>
                  <a:pt x="17518" y="17518"/>
                </a:cubicBezTo>
                <a:cubicBezTo>
                  <a:pt x="28735" y="6301"/>
                  <a:pt x="43947" y="0"/>
                  <a:pt x="59810" y="0"/>
                </a:cubicBezTo>
                <a:lnTo>
                  <a:pt x="1136387" y="0"/>
                </a:lnTo>
                <a:cubicBezTo>
                  <a:pt x="1152250" y="0"/>
                  <a:pt x="1167463" y="6301"/>
                  <a:pt x="1178679" y="17518"/>
                </a:cubicBezTo>
                <a:cubicBezTo>
                  <a:pt x="1189896" y="28735"/>
                  <a:pt x="1196197" y="43947"/>
                  <a:pt x="1196197" y="59810"/>
                </a:cubicBezTo>
                <a:lnTo>
                  <a:pt x="1196197" y="538288"/>
                </a:lnTo>
                <a:cubicBezTo>
                  <a:pt x="1196197" y="554151"/>
                  <a:pt x="1189896" y="569364"/>
                  <a:pt x="1178679" y="580580"/>
                </a:cubicBezTo>
                <a:cubicBezTo>
                  <a:pt x="1167462" y="591797"/>
                  <a:pt x="1152250" y="598098"/>
                  <a:pt x="1136387" y="598098"/>
                </a:cubicBezTo>
                <a:lnTo>
                  <a:pt x="59810" y="598098"/>
                </a:lnTo>
                <a:cubicBezTo>
                  <a:pt x="43947" y="598098"/>
                  <a:pt x="28734" y="591797"/>
                  <a:pt x="17518" y="580580"/>
                </a:cubicBezTo>
                <a:cubicBezTo>
                  <a:pt x="6301" y="569363"/>
                  <a:pt x="0" y="554151"/>
                  <a:pt x="0" y="538288"/>
                </a:cubicBezTo>
                <a:lnTo>
                  <a:pt x="0" y="59810"/>
                </a:lnTo>
                <a:close/>
              </a:path>
            </a:pathLst>
          </a:custGeom>
          <a:solidFill>
            <a:srgbClr val="18921E"/>
          </a:solidFill>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7678" tIns="27678" rIns="27678" bIns="27678" numCol="1" spcCol="1270" anchor="ctr" anchorCtr="0">
            <a:noAutofit/>
          </a:bodyPr>
          <a:lstStyle/>
          <a:p>
            <a:pPr lvl="0" algn="ctr" defTabSz="711200">
              <a:lnSpc>
                <a:spcPct val="90000"/>
              </a:lnSpc>
              <a:spcBef>
                <a:spcPct val="0"/>
              </a:spcBef>
              <a:spcAft>
                <a:spcPct val="35000"/>
              </a:spcAft>
            </a:pPr>
            <a:r>
              <a:rPr lang="en-US" sz="1400" b="1" kern="1200" dirty="0" smtClean="0"/>
              <a:t>PIN/NIP Diodes:</a:t>
            </a:r>
          </a:p>
          <a:p>
            <a:pPr lvl="0" algn="ctr" defTabSz="711200">
              <a:lnSpc>
                <a:spcPct val="90000"/>
              </a:lnSpc>
              <a:spcBef>
                <a:spcPct val="0"/>
              </a:spcBef>
              <a:spcAft>
                <a:spcPct val="35000"/>
              </a:spcAft>
            </a:pPr>
            <a:r>
              <a:rPr lang="en-US" sz="1400" b="1" dirty="0" smtClean="0"/>
              <a:t>Switching</a:t>
            </a:r>
          </a:p>
          <a:p>
            <a:pPr lvl="0" algn="ctr" defTabSz="711200">
              <a:lnSpc>
                <a:spcPct val="90000"/>
              </a:lnSpc>
              <a:spcBef>
                <a:spcPct val="0"/>
              </a:spcBef>
              <a:spcAft>
                <a:spcPct val="35000"/>
              </a:spcAft>
            </a:pPr>
            <a:r>
              <a:rPr lang="en-US" sz="1400" b="1" kern="1200" dirty="0" smtClean="0"/>
              <a:t>Attenuation</a:t>
            </a:r>
          </a:p>
          <a:p>
            <a:pPr lvl="0" algn="ctr" defTabSz="711200">
              <a:lnSpc>
                <a:spcPct val="90000"/>
              </a:lnSpc>
              <a:spcBef>
                <a:spcPct val="0"/>
              </a:spcBef>
              <a:spcAft>
                <a:spcPct val="35000"/>
              </a:spcAft>
            </a:pPr>
            <a:r>
              <a:rPr lang="en-US" sz="1400" b="1" dirty="0" smtClean="0"/>
              <a:t>Limiting</a:t>
            </a:r>
            <a:endParaRPr lang="en-US" sz="1400" b="1" kern="1200" dirty="0"/>
          </a:p>
        </p:txBody>
      </p:sp>
      <p:sp>
        <p:nvSpPr>
          <p:cNvPr id="34" name="Freeform 33"/>
          <p:cNvSpPr/>
          <p:nvPr/>
        </p:nvSpPr>
        <p:spPr>
          <a:xfrm>
            <a:off x="5952417" y="2418202"/>
            <a:ext cx="1371600" cy="1005840"/>
          </a:xfrm>
          <a:custGeom>
            <a:avLst/>
            <a:gdLst>
              <a:gd name="connsiteX0" fmla="*/ 0 w 1196197"/>
              <a:gd name="connsiteY0" fmla="*/ 59810 h 598098"/>
              <a:gd name="connsiteX1" fmla="*/ 17518 w 1196197"/>
              <a:gd name="connsiteY1" fmla="*/ 17518 h 598098"/>
              <a:gd name="connsiteX2" fmla="*/ 59810 w 1196197"/>
              <a:gd name="connsiteY2" fmla="*/ 0 h 598098"/>
              <a:gd name="connsiteX3" fmla="*/ 1136387 w 1196197"/>
              <a:gd name="connsiteY3" fmla="*/ 0 h 598098"/>
              <a:gd name="connsiteX4" fmla="*/ 1178679 w 1196197"/>
              <a:gd name="connsiteY4" fmla="*/ 17518 h 598098"/>
              <a:gd name="connsiteX5" fmla="*/ 1196197 w 1196197"/>
              <a:gd name="connsiteY5" fmla="*/ 59810 h 598098"/>
              <a:gd name="connsiteX6" fmla="*/ 1196197 w 1196197"/>
              <a:gd name="connsiteY6" fmla="*/ 538288 h 598098"/>
              <a:gd name="connsiteX7" fmla="*/ 1178679 w 1196197"/>
              <a:gd name="connsiteY7" fmla="*/ 580580 h 598098"/>
              <a:gd name="connsiteX8" fmla="*/ 1136387 w 1196197"/>
              <a:gd name="connsiteY8" fmla="*/ 598098 h 598098"/>
              <a:gd name="connsiteX9" fmla="*/ 59810 w 1196197"/>
              <a:gd name="connsiteY9" fmla="*/ 598098 h 598098"/>
              <a:gd name="connsiteX10" fmla="*/ 17518 w 1196197"/>
              <a:gd name="connsiteY10" fmla="*/ 580580 h 598098"/>
              <a:gd name="connsiteX11" fmla="*/ 0 w 1196197"/>
              <a:gd name="connsiteY11" fmla="*/ 538288 h 598098"/>
              <a:gd name="connsiteX12" fmla="*/ 0 w 1196197"/>
              <a:gd name="connsiteY12" fmla="*/ 59810 h 59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197" h="598098">
                <a:moveTo>
                  <a:pt x="0" y="59810"/>
                </a:moveTo>
                <a:cubicBezTo>
                  <a:pt x="0" y="43947"/>
                  <a:pt x="6301" y="28734"/>
                  <a:pt x="17518" y="17518"/>
                </a:cubicBezTo>
                <a:cubicBezTo>
                  <a:pt x="28735" y="6301"/>
                  <a:pt x="43947" y="0"/>
                  <a:pt x="59810" y="0"/>
                </a:cubicBezTo>
                <a:lnTo>
                  <a:pt x="1136387" y="0"/>
                </a:lnTo>
                <a:cubicBezTo>
                  <a:pt x="1152250" y="0"/>
                  <a:pt x="1167463" y="6301"/>
                  <a:pt x="1178679" y="17518"/>
                </a:cubicBezTo>
                <a:cubicBezTo>
                  <a:pt x="1189896" y="28735"/>
                  <a:pt x="1196197" y="43947"/>
                  <a:pt x="1196197" y="59810"/>
                </a:cubicBezTo>
                <a:lnTo>
                  <a:pt x="1196197" y="538288"/>
                </a:lnTo>
                <a:cubicBezTo>
                  <a:pt x="1196197" y="554151"/>
                  <a:pt x="1189896" y="569364"/>
                  <a:pt x="1178679" y="580580"/>
                </a:cubicBezTo>
                <a:cubicBezTo>
                  <a:pt x="1167462" y="591797"/>
                  <a:pt x="1152250" y="598098"/>
                  <a:pt x="1136387" y="598098"/>
                </a:cubicBezTo>
                <a:lnTo>
                  <a:pt x="59810" y="598098"/>
                </a:lnTo>
                <a:cubicBezTo>
                  <a:pt x="43947" y="598098"/>
                  <a:pt x="28734" y="591797"/>
                  <a:pt x="17518" y="580580"/>
                </a:cubicBezTo>
                <a:cubicBezTo>
                  <a:pt x="6301" y="569363"/>
                  <a:pt x="0" y="554151"/>
                  <a:pt x="0" y="538288"/>
                </a:cubicBezTo>
                <a:lnTo>
                  <a:pt x="0" y="59810"/>
                </a:lnTo>
                <a:close/>
              </a:path>
            </a:pathLst>
          </a:custGeom>
          <a:solidFill>
            <a:srgbClr val="18921E"/>
          </a:solidFill>
          <a:ln w="76200">
            <a:solidFill>
              <a:srgbClr val="FF0000"/>
            </a:solidFill>
          </a:ln>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7678" tIns="27678" rIns="27678" bIns="27678" numCol="1" spcCol="1270" anchor="ctr" anchorCtr="0">
            <a:noAutofit/>
          </a:bodyPr>
          <a:lstStyle/>
          <a:p>
            <a:pPr marL="0" lvl="0" indent="0" algn="ctr" defTabSz="711200">
              <a:lnSpc>
                <a:spcPct val="90000"/>
              </a:lnSpc>
              <a:spcBef>
                <a:spcPct val="0"/>
              </a:spcBef>
              <a:spcAft>
                <a:spcPct val="35000"/>
              </a:spcAft>
              <a:tabLst>
                <a:tab pos="1603375" algn="l"/>
              </a:tabLst>
            </a:pPr>
            <a:r>
              <a:rPr lang="en-US" sz="1200" b="1" kern="1200" dirty="0" smtClean="0"/>
              <a:t>Schottky Diodes:</a:t>
            </a:r>
          </a:p>
          <a:p>
            <a:pPr marL="0" lvl="0" indent="0" algn="ctr" defTabSz="711200">
              <a:lnSpc>
                <a:spcPct val="90000"/>
              </a:lnSpc>
              <a:spcBef>
                <a:spcPct val="0"/>
              </a:spcBef>
              <a:spcAft>
                <a:spcPct val="35000"/>
              </a:spcAft>
              <a:tabLst>
                <a:tab pos="1603375" algn="l"/>
              </a:tabLst>
            </a:pPr>
            <a:r>
              <a:rPr lang="en-US" sz="1200" b="1" dirty="0" smtClean="0"/>
              <a:t>Detection</a:t>
            </a:r>
          </a:p>
          <a:p>
            <a:pPr marL="0" lvl="0" indent="0" algn="ctr" defTabSz="711200">
              <a:lnSpc>
                <a:spcPct val="90000"/>
              </a:lnSpc>
              <a:spcBef>
                <a:spcPct val="0"/>
              </a:spcBef>
              <a:spcAft>
                <a:spcPct val="35000"/>
              </a:spcAft>
              <a:tabLst>
                <a:tab pos="1603375" algn="l"/>
              </a:tabLst>
            </a:pPr>
            <a:r>
              <a:rPr lang="en-US" sz="1200" b="1" kern="1200" dirty="0" smtClean="0"/>
              <a:t>Frequency Mixing</a:t>
            </a:r>
            <a:endParaRPr lang="en-US" sz="1200" b="1" kern="1200" dirty="0"/>
          </a:p>
        </p:txBody>
      </p:sp>
      <p:sp>
        <p:nvSpPr>
          <p:cNvPr id="36" name="Freeform 35"/>
          <p:cNvSpPr/>
          <p:nvPr/>
        </p:nvSpPr>
        <p:spPr>
          <a:xfrm>
            <a:off x="1530167" y="4547701"/>
            <a:ext cx="1371600" cy="1005840"/>
          </a:xfrm>
          <a:custGeom>
            <a:avLst/>
            <a:gdLst>
              <a:gd name="connsiteX0" fmla="*/ 0 w 1196197"/>
              <a:gd name="connsiteY0" fmla="*/ 85508 h 855077"/>
              <a:gd name="connsiteX1" fmla="*/ 25045 w 1196197"/>
              <a:gd name="connsiteY1" fmla="*/ 25045 h 855077"/>
              <a:gd name="connsiteX2" fmla="*/ 85508 w 1196197"/>
              <a:gd name="connsiteY2" fmla="*/ 0 h 855077"/>
              <a:gd name="connsiteX3" fmla="*/ 1110689 w 1196197"/>
              <a:gd name="connsiteY3" fmla="*/ 0 h 855077"/>
              <a:gd name="connsiteX4" fmla="*/ 1171152 w 1196197"/>
              <a:gd name="connsiteY4" fmla="*/ 25045 h 855077"/>
              <a:gd name="connsiteX5" fmla="*/ 1196197 w 1196197"/>
              <a:gd name="connsiteY5" fmla="*/ 85508 h 855077"/>
              <a:gd name="connsiteX6" fmla="*/ 1196197 w 1196197"/>
              <a:gd name="connsiteY6" fmla="*/ 769569 h 855077"/>
              <a:gd name="connsiteX7" fmla="*/ 1171152 w 1196197"/>
              <a:gd name="connsiteY7" fmla="*/ 830032 h 855077"/>
              <a:gd name="connsiteX8" fmla="*/ 1110689 w 1196197"/>
              <a:gd name="connsiteY8" fmla="*/ 855077 h 855077"/>
              <a:gd name="connsiteX9" fmla="*/ 85508 w 1196197"/>
              <a:gd name="connsiteY9" fmla="*/ 855077 h 855077"/>
              <a:gd name="connsiteX10" fmla="*/ 25045 w 1196197"/>
              <a:gd name="connsiteY10" fmla="*/ 830032 h 855077"/>
              <a:gd name="connsiteX11" fmla="*/ 0 w 1196197"/>
              <a:gd name="connsiteY11" fmla="*/ 769569 h 855077"/>
              <a:gd name="connsiteX12" fmla="*/ 0 w 1196197"/>
              <a:gd name="connsiteY12" fmla="*/ 85508 h 855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197" h="855077">
                <a:moveTo>
                  <a:pt x="0" y="85508"/>
                </a:moveTo>
                <a:cubicBezTo>
                  <a:pt x="0" y="62830"/>
                  <a:pt x="9009" y="41081"/>
                  <a:pt x="25045" y="25045"/>
                </a:cubicBezTo>
                <a:cubicBezTo>
                  <a:pt x="41081" y="9009"/>
                  <a:pt x="62830" y="0"/>
                  <a:pt x="85508" y="0"/>
                </a:cubicBezTo>
                <a:lnTo>
                  <a:pt x="1110689" y="0"/>
                </a:lnTo>
                <a:cubicBezTo>
                  <a:pt x="1133367" y="0"/>
                  <a:pt x="1155116" y="9009"/>
                  <a:pt x="1171152" y="25045"/>
                </a:cubicBezTo>
                <a:cubicBezTo>
                  <a:pt x="1187188" y="41081"/>
                  <a:pt x="1196197" y="62830"/>
                  <a:pt x="1196197" y="85508"/>
                </a:cubicBezTo>
                <a:lnTo>
                  <a:pt x="1196197" y="769569"/>
                </a:lnTo>
                <a:cubicBezTo>
                  <a:pt x="1196197" y="792247"/>
                  <a:pt x="1187188" y="813996"/>
                  <a:pt x="1171152" y="830032"/>
                </a:cubicBezTo>
                <a:cubicBezTo>
                  <a:pt x="1155116" y="846068"/>
                  <a:pt x="1133367" y="855077"/>
                  <a:pt x="1110689" y="855077"/>
                </a:cubicBezTo>
                <a:lnTo>
                  <a:pt x="85508" y="855077"/>
                </a:lnTo>
                <a:cubicBezTo>
                  <a:pt x="62830" y="855077"/>
                  <a:pt x="41081" y="846068"/>
                  <a:pt x="25045" y="830032"/>
                </a:cubicBezTo>
                <a:cubicBezTo>
                  <a:pt x="9009" y="813996"/>
                  <a:pt x="0" y="792247"/>
                  <a:pt x="0" y="769569"/>
                </a:cubicBezTo>
                <a:lnTo>
                  <a:pt x="0" y="85508"/>
                </a:lnTo>
                <a:close/>
              </a:path>
            </a:pathLst>
          </a:custGeom>
          <a:solidFill>
            <a:srgbClr val="18921E"/>
          </a:solidFill>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35204" tIns="35204" rIns="35204" bIns="35204" numCol="1" spcCol="1270" anchor="ctr" anchorCtr="0">
            <a:noAutofit/>
          </a:bodyPr>
          <a:lstStyle/>
          <a:p>
            <a:pPr lvl="0" algn="ctr" defTabSz="711200">
              <a:lnSpc>
                <a:spcPct val="90000"/>
              </a:lnSpc>
              <a:spcBef>
                <a:spcPct val="0"/>
              </a:spcBef>
              <a:spcAft>
                <a:spcPct val="35000"/>
              </a:spcAft>
            </a:pPr>
            <a:r>
              <a:rPr lang="en-US" sz="1600" b="1" kern="1200" dirty="0" smtClean="0"/>
              <a:t>Attenuators</a:t>
            </a:r>
            <a:endParaRPr lang="en-US" sz="1600" b="1" kern="1200" dirty="0"/>
          </a:p>
        </p:txBody>
      </p:sp>
      <p:sp>
        <p:nvSpPr>
          <p:cNvPr id="38" name="Freeform 37"/>
          <p:cNvSpPr/>
          <p:nvPr/>
        </p:nvSpPr>
        <p:spPr>
          <a:xfrm>
            <a:off x="1530167" y="2400774"/>
            <a:ext cx="1371600" cy="1005840"/>
          </a:xfrm>
          <a:custGeom>
            <a:avLst/>
            <a:gdLst>
              <a:gd name="connsiteX0" fmla="*/ 0 w 1196197"/>
              <a:gd name="connsiteY0" fmla="*/ 59810 h 598098"/>
              <a:gd name="connsiteX1" fmla="*/ 17518 w 1196197"/>
              <a:gd name="connsiteY1" fmla="*/ 17518 h 598098"/>
              <a:gd name="connsiteX2" fmla="*/ 59810 w 1196197"/>
              <a:gd name="connsiteY2" fmla="*/ 0 h 598098"/>
              <a:gd name="connsiteX3" fmla="*/ 1136387 w 1196197"/>
              <a:gd name="connsiteY3" fmla="*/ 0 h 598098"/>
              <a:gd name="connsiteX4" fmla="*/ 1178679 w 1196197"/>
              <a:gd name="connsiteY4" fmla="*/ 17518 h 598098"/>
              <a:gd name="connsiteX5" fmla="*/ 1196197 w 1196197"/>
              <a:gd name="connsiteY5" fmla="*/ 59810 h 598098"/>
              <a:gd name="connsiteX6" fmla="*/ 1196197 w 1196197"/>
              <a:gd name="connsiteY6" fmla="*/ 538288 h 598098"/>
              <a:gd name="connsiteX7" fmla="*/ 1178679 w 1196197"/>
              <a:gd name="connsiteY7" fmla="*/ 580580 h 598098"/>
              <a:gd name="connsiteX8" fmla="*/ 1136387 w 1196197"/>
              <a:gd name="connsiteY8" fmla="*/ 598098 h 598098"/>
              <a:gd name="connsiteX9" fmla="*/ 59810 w 1196197"/>
              <a:gd name="connsiteY9" fmla="*/ 598098 h 598098"/>
              <a:gd name="connsiteX10" fmla="*/ 17518 w 1196197"/>
              <a:gd name="connsiteY10" fmla="*/ 580580 h 598098"/>
              <a:gd name="connsiteX11" fmla="*/ 0 w 1196197"/>
              <a:gd name="connsiteY11" fmla="*/ 538288 h 598098"/>
              <a:gd name="connsiteX12" fmla="*/ 0 w 1196197"/>
              <a:gd name="connsiteY12" fmla="*/ 59810 h 59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197" h="598098">
                <a:moveTo>
                  <a:pt x="0" y="59810"/>
                </a:moveTo>
                <a:cubicBezTo>
                  <a:pt x="0" y="43947"/>
                  <a:pt x="6301" y="28734"/>
                  <a:pt x="17518" y="17518"/>
                </a:cubicBezTo>
                <a:cubicBezTo>
                  <a:pt x="28735" y="6301"/>
                  <a:pt x="43947" y="0"/>
                  <a:pt x="59810" y="0"/>
                </a:cubicBezTo>
                <a:lnTo>
                  <a:pt x="1136387" y="0"/>
                </a:lnTo>
                <a:cubicBezTo>
                  <a:pt x="1152250" y="0"/>
                  <a:pt x="1167463" y="6301"/>
                  <a:pt x="1178679" y="17518"/>
                </a:cubicBezTo>
                <a:cubicBezTo>
                  <a:pt x="1189896" y="28735"/>
                  <a:pt x="1196197" y="43947"/>
                  <a:pt x="1196197" y="59810"/>
                </a:cubicBezTo>
                <a:lnTo>
                  <a:pt x="1196197" y="538288"/>
                </a:lnTo>
                <a:cubicBezTo>
                  <a:pt x="1196197" y="554151"/>
                  <a:pt x="1189896" y="569364"/>
                  <a:pt x="1178679" y="580580"/>
                </a:cubicBezTo>
                <a:cubicBezTo>
                  <a:pt x="1167462" y="591797"/>
                  <a:pt x="1152250" y="598098"/>
                  <a:pt x="1136387" y="598098"/>
                </a:cubicBezTo>
                <a:lnTo>
                  <a:pt x="59810" y="598098"/>
                </a:lnTo>
                <a:cubicBezTo>
                  <a:pt x="43947" y="598098"/>
                  <a:pt x="28734" y="591797"/>
                  <a:pt x="17518" y="580580"/>
                </a:cubicBezTo>
                <a:cubicBezTo>
                  <a:pt x="6301" y="569363"/>
                  <a:pt x="0" y="554151"/>
                  <a:pt x="0" y="538288"/>
                </a:cubicBezTo>
                <a:lnTo>
                  <a:pt x="0" y="59810"/>
                </a:lnTo>
                <a:close/>
              </a:path>
            </a:pathLst>
          </a:custGeom>
          <a:solidFill>
            <a:srgbClr val="18921E"/>
          </a:solidFill>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7678" tIns="27678" rIns="27678" bIns="27678" numCol="1" spcCol="1270" anchor="ctr" anchorCtr="0">
            <a:noAutofit/>
          </a:bodyPr>
          <a:lstStyle/>
          <a:p>
            <a:pPr lvl="0" algn="ctr" defTabSz="711200">
              <a:lnSpc>
                <a:spcPct val="90000"/>
              </a:lnSpc>
              <a:spcBef>
                <a:spcPct val="0"/>
              </a:spcBef>
              <a:spcAft>
                <a:spcPct val="35000"/>
              </a:spcAft>
            </a:pPr>
            <a:r>
              <a:rPr lang="en-US" sz="1200" b="1" kern="1200" dirty="0" smtClean="0"/>
              <a:t>Varactor Diodes:</a:t>
            </a:r>
          </a:p>
          <a:p>
            <a:pPr lvl="0" algn="ctr" defTabSz="711200">
              <a:lnSpc>
                <a:spcPct val="90000"/>
              </a:lnSpc>
              <a:spcBef>
                <a:spcPct val="0"/>
              </a:spcBef>
              <a:spcAft>
                <a:spcPct val="35000"/>
              </a:spcAft>
            </a:pPr>
            <a:r>
              <a:rPr lang="en-US" sz="1200" b="1" dirty="0" smtClean="0"/>
              <a:t>Tuning</a:t>
            </a:r>
          </a:p>
          <a:p>
            <a:pPr lvl="0" algn="ctr" defTabSz="711200">
              <a:lnSpc>
                <a:spcPct val="90000"/>
              </a:lnSpc>
              <a:spcBef>
                <a:spcPct val="0"/>
              </a:spcBef>
              <a:spcAft>
                <a:spcPct val="35000"/>
              </a:spcAft>
            </a:pPr>
            <a:r>
              <a:rPr lang="en-US" sz="1200" b="1" kern="1200" dirty="0" smtClean="0"/>
              <a:t>Phase Shifting</a:t>
            </a:r>
            <a:endParaRPr lang="en-US" sz="1200" b="1" kern="1200" dirty="0"/>
          </a:p>
        </p:txBody>
      </p:sp>
      <p:sp>
        <p:nvSpPr>
          <p:cNvPr id="40" name="Freeform 39"/>
          <p:cNvSpPr/>
          <p:nvPr/>
        </p:nvSpPr>
        <p:spPr>
          <a:xfrm>
            <a:off x="3682783" y="5343763"/>
            <a:ext cx="1371600" cy="1347156"/>
          </a:xfrm>
          <a:custGeom>
            <a:avLst/>
            <a:gdLst>
              <a:gd name="connsiteX0" fmla="*/ 0 w 1196197"/>
              <a:gd name="connsiteY0" fmla="*/ 59810 h 598098"/>
              <a:gd name="connsiteX1" fmla="*/ 17518 w 1196197"/>
              <a:gd name="connsiteY1" fmla="*/ 17518 h 598098"/>
              <a:gd name="connsiteX2" fmla="*/ 59810 w 1196197"/>
              <a:gd name="connsiteY2" fmla="*/ 0 h 598098"/>
              <a:gd name="connsiteX3" fmla="*/ 1136387 w 1196197"/>
              <a:gd name="connsiteY3" fmla="*/ 0 h 598098"/>
              <a:gd name="connsiteX4" fmla="*/ 1178679 w 1196197"/>
              <a:gd name="connsiteY4" fmla="*/ 17518 h 598098"/>
              <a:gd name="connsiteX5" fmla="*/ 1196197 w 1196197"/>
              <a:gd name="connsiteY5" fmla="*/ 59810 h 598098"/>
              <a:gd name="connsiteX6" fmla="*/ 1196197 w 1196197"/>
              <a:gd name="connsiteY6" fmla="*/ 538288 h 598098"/>
              <a:gd name="connsiteX7" fmla="*/ 1178679 w 1196197"/>
              <a:gd name="connsiteY7" fmla="*/ 580580 h 598098"/>
              <a:gd name="connsiteX8" fmla="*/ 1136387 w 1196197"/>
              <a:gd name="connsiteY8" fmla="*/ 598098 h 598098"/>
              <a:gd name="connsiteX9" fmla="*/ 59810 w 1196197"/>
              <a:gd name="connsiteY9" fmla="*/ 598098 h 598098"/>
              <a:gd name="connsiteX10" fmla="*/ 17518 w 1196197"/>
              <a:gd name="connsiteY10" fmla="*/ 580580 h 598098"/>
              <a:gd name="connsiteX11" fmla="*/ 0 w 1196197"/>
              <a:gd name="connsiteY11" fmla="*/ 538288 h 598098"/>
              <a:gd name="connsiteX12" fmla="*/ 0 w 1196197"/>
              <a:gd name="connsiteY12" fmla="*/ 59810 h 59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197" h="598098">
                <a:moveTo>
                  <a:pt x="0" y="59810"/>
                </a:moveTo>
                <a:cubicBezTo>
                  <a:pt x="0" y="43947"/>
                  <a:pt x="6301" y="28734"/>
                  <a:pt x="17518" y="17518"/>
                </a:cubicBezTo>
                <a:cubicBezTo>
                  <a:pt x="28735" y="6301"/>
                  <a:pt x="43947" y="0"/>
                  <a:pt x="59810" y="0"/>
                </a:cubicBezTo>
                <a:lnTo>
                  <a:pt x="1136387" y="0"/>
                </a:lnTo>
                <a:cubicBezTo>
                  <a:pt x="1152250" y="0"/>
                  <a:pt x="1167463" y="6301"/>
                  <a:pt x="1178679" y="17518"/>
                </a:cubicBezTo>
                <a:cubicBezTo>
                  <a:pt x="1189896" y="28735"/>
                  <a:pt x="1196197" y="43947"/>
                  <a:pt x="1196197" y="59810"/>
                </a:cubicBezTo>
                <a:lnTo>
                  <a:pt x="1196197" y="538288"/>
                </a:lnTo>
                <a:cubicBezTo>
                  <a:pt x="1196197" y="554151"/>
                  <a:pt x="1189896" y="569364"/>
                  <a:pt x="1178679" y="580580"/>
                </a:cubicBezTo>
                <a:cubicBezTo>
                  <a:pt x="1167462" y="591797"/>
                  <a:pt x="1152250" y="598098"/>
                  <a:pt x="1136387" y="598098"/>
                </a:cubicBezTo>
                <a:lnTo>
                  <a:pt x="59810" y="598098"/>
                </a:lnTo>
                <a:cubicBezTo>
                  <a:pt x="43947" y="598098"/>
                  <a:pt x="28734" y="591797"/>
                  <a:pt x="17518" y="580580"/>
                </a:cubicBezTo>
                <a:cubicBezTo>
                  <a:pt x="6301" y="569363"/>
                  <a:pt x="0" y="554151"/>
                  <a:pt x="0" y="538288"/>
                </a:cubicBezTo>
                <a:lnTo>
                  <a:pt x="0" y="59810"/>
                </a:lnTo>
                <a:close/>
              </a:path>
            </a:pathLst>
          </a:custGeom>
          <a:solidFill>
            <a:srgbClr val="18921E"/>
          </a:solidFill>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7678" tIns="27678" rIns="27678" bIns="27678" numCol="1" spcCol="1270" anchor="ctr" anchorCtr="0">
            <a:noAutofit/>
          </a:bodyPr>
          <a:lstStyle/>
          <a:p>
            <a:pPr lvl="0" algn="ctr" defTabSz="711200">
              <a:lnSpc>
                <a:spcPct val="90000"/>
              </a:lnSpc>
              <a:spcBef>
                <a:spcPct val="0"/>
              </a:spcBef>
              <a:spcAft>
                <a:spcPct val="35000"/>
              </a:spcAft>
            </a:pPr>
            <a:r>
              <a:rPr lang="en-US" sz="1200" b="1" kern="1200" dirty="0" smtClean="0"/>
              <a:t>Passive Devices</a:t>
            </a:r>
          </a:p>
          <a:p>
            <a:pPr lvl="0" algn="ctr" defTabSz="711200">
              <a:lnSpc>
                <a:spcPct val="90000"/>
              </a:lnSpc>
              <a:spcBef>
                <a:spcPct val="0"/>
              </a:spcBef>
              <a:spcAft>
                <a:spcPct val="35000"/>
              </a:spcAft>
            </a:pPr>
            <a:r>
              <a:rPr lang="en-US" sz="1200" b="1" dirty="0" smtClean="0"/>
              <a:t>RF Chokes/Inductors</a:t>
            </a:r>
          </a:p>
          <a:p>
            <a:pPr lvl="0" algn="ctr" defTabSz="711200">
              <a:lnSpc>
                <a:spcPct val="90000"/>
              </a:lnSpc>
              <a:spcBef>
                <a:spcPct val="0"/>
              </a:spcBef>
              <a:spcAft>
                <a:spcPct val="35000"/>
              </a:spcAft>
            </a:pPr>
            <a:r>
              <a:rPr lang="en-US" sz="1200" b="1" kern="1200" dirty="0" smtClean="0"/>
              <a:t>MNS Capacitors</a:t>
            </a:r>
          </a:p>
          <a:p>
            <a:pPr lvl="0" algn="ctr" defTabSz="711200">
              <a:lnSpc>
                <a:spcPct val="90000"/>
              </a:lnSpc>
              <a:spcBef>
                <a:spcPct val="0"/>
              </a:spcBef>
              <a:spcAft>
                <a:spcPct val="35000"/>
              </a:spcAft>
            </a:pPr>
            <a:r>
              <a:rPr lang="en-US" sz="1200" b="1" dirty="0" smtClean="0"/>
              <a:t>Resistors</a:t>
            </a:r>
            <a:endParaRPr lang="en-US" sz="1200" b="1" kern="1200" dirty="0"/>
          </a:p>
        </p:txBody>
      </p:sp>
      <p:sp>
        <p:nvSpPr>
          <p:cNvPr id="42" name="Freeform 41"/>
          <p:cNvSpPr/>
          <p:nvPr/>
        </p:nvSpPr>
        <p:spPr>
          <a:xfrm>
            <a:off x="5952417" y="4540776"/>
            <a:ext cx="1371600" cy="1005840"/>
          </a:xfrm>
          <a:custGeom>
            <a:avLst/>
            <a:gdLst>
              <a:gd name="connsiteX0" fmla="*/ 0 w 1196197"/>
              <a:gd name="connsiteY0" fmla="*/ 59810 h 598098"/>
              <a:gd name="connsiteX1" fmla="*/ 17518 w 1196197"/>
              <a:gd name="connsiteY1" fmla="*/ 17518 h 598098"/>
              <a:gd name="connsiteX2" fmla="*/ 59810 w 1196197"/>
              <a:gd name="connsiteY2" fmla="*/ 0 h 598098"/>
              <a:gd name="connsiteX3" fmla="*/ 1136387 w 1196197"/>
              <a:gd name="connsiteY3" fmla="*/ 0 h 598098"/>
              <a:gd name="connsiteX4" fmla="*/ 1178679 w 1196197"/>
              <a:gd name="connsiteY4" fmla="*/ 17518 h 598098"/>
              <a:gd name="connsiteX5" fmla="*/ 1196197 w 1196197"/>
              <a:gd name="connsiteY5" fmla="*/ 59810 h 598098"/>
              <a:gd name="connsiteX6" fmla="*/ 1196197 w 1196197"/>
              <a:gd name="connsiteY6" fmla="*/ 538288 h 598098"/>
              <a:gd name="connsiteX7" fmla="*/ 1178679 w 1196197"/>
              <a:gd name="connsiteY7" fmla="*/ 580580 h 598098"/>
              <a:gd name="connsiteX8" fmla="*/ 1136387 w 1196197"/>
              <a:gd name="connsiteY8" fmla="*/ 598098 h 598098"/>
              <a:gd name="connsiteX9" fmla="*/ 59810 w 1196197"/>
              <a:gd name="connsiteY9" fmla="*/ 598098 h 598098"/>
              <a:gd name="connsiteX10" fmla="*/ 17518 w 1196197"/>
              <a:gd name="connsiteY10" fmla="*/ 580580 h 598098"/>
              <a:gd name="connsiteX11" fmla="*/ 0 w 1196197"/>
              <a:gd name="connsiteY11" fmla="*/ 538288 h 598098"/>
              <a:gd name="connsiteX12" fmla="*/ 0 w 1196197"/>
              <a:gd name="connsiteY12" fmla="*/ 59810 h 59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197" h="598098">
                <a:moveTo>
                  <a:pt x="0" y="59810"/>
                </a:moveTo>
                <a:cubicBezTo>
                  <a:pt x="0" y="43947"/>
                  <a:pt x="6301" y="28734"/>
                  <a:pt x="17518" y="17518"/>
                </a:cubicBezTo>
                <a:cubicBezTo>
                  <a:pt x="28735" y="6301"/>
                  <a:pt x="43947" y="0"/>
                  <a:pt x="59810" y="0"/>
                </a:cubicBezTo>
                <a:lnTo>
                  <a:pt x="1136387" y="0"/>
                </a:lnTo>
                <a:cubicBezTo>
                  <a:pt x="1152250" y="0"/>
                  <a:pt x="1167463" y="6301"/>
                  <a:pt x="1178679" y="17518"/>
                </a:cubicBezTo>
                <a:cubicBezTo>
                  <a:pt x="1189896" y="28735"/>
                  <a:pt x="1196197" y="43947"/>
                  <a:pt x="1196197" y="59810"/>
                </a:cubicBezTo>
                <a:lnTo>
                  <a:pt x="1196197" y="538288"/>
                </a:lnTo>
                <a:cubicBezTo>
                  <a:pt x="1196197" y="554151"/>
                  <a:pt x="1189896" y="569364"/>
                  <a:pt x="1178679" y="580580"/>
                </a:cubicBezTo>
                <a:cubicBezTo>
                  <a:pt x="1167462" y="591797"/>
                  <a:pt x="1152250" y="598098"/>
                  <a:pt x="1136387" y="598098"/>
                </a:cubicBezTo>
                <a:lnTo>
                  <a:pt x="59810" y="598098"/>
                </a:lnTo>
                <a:cubicBezTo>
                  <a:pt x="43947" y="598098"/>
                  <a:pt x="28734" y="591797"/>
                  <a:pt x="17518" y="580580"/>
                </a:cubicBezTo>
                <a:cubicBezTo>
                  <a:pt x="6301" y="569363"/>
                  <a:pt x="0" y="554151"/>
                  <a:pt x="0" y="538288"/>
                </a:cubicBezTo>
                <a:lnTo>
                  <a:pt x="0" y="59810"/>
                </a:lnTo>
                <a:close/>
              </a:path>
            </a:pathLst>
          </a:custGeom>
          <a:solidFill>
            <a:srgbClr val="18921E"/>
          </a:solidFill>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7678" tIns="27678" rIns="27678" bIns="27678" numCol="1" spcCol="1270" anchor="ctr" anchorCtr="0">
            <a:noAutofit/>
          </a:bodyPr>
          <a:lstStyle/>
          <a:p>
            <a:pPr lvl="0" algn="ctr" defTabSz="711200">
              <a:lnSpc>
                <a:spcPct val="90000"/>
              </a:lnSpc>
              <a:spcBef>
                <a:spcPct val="0"/>
              </a:spcBef>
              <a:spcAft>
                <a:spcPct val="35000"/>
              </a:spcAft>
            </a:pPr>
            <a:r>
              <a:rPr lang="en-US" sz="1200" b="1" kern="1200" dirty="0" smtClean="0"/>
              <a:t>Multiplier Diodes:</a:t>
            </a:r>
          </a:p>
          <a:p>
            <a:pPr lvl="0" algn="ctr" defTabSz="711200">
              <a:lnSpc>
                <a:spcPct val="90000"/>
              </a:lnSpc>
              <a:spcBef>
                <a:spcPct val="0"/>
              </a:spcBef>
              <a:spcAft>
                <a:spcPct val="35000"/>
              </a:spcAft>
            </a:pPr>
            <a:r>
              <a:rPr lang="en-US" sz="1200" b="1" dirty="0" smtClean="0"/>
              <a:t>Frequency Multiplication</a:t>
            </a:r>
          </a:p>
          <a:p>
            <a:pPr lvl="0" algn="ctr" defTabSz="711200">
              <a:lnSpc>
                <a:spcPct val="90000"/>
              </a:lnSpc>
              <a:spcBef>
                <a:spcPct val="0"/>
              </a:spcBef>
              <a:spcAft>
                <a:spcPct val="35000"/>
              </a:spcAft>
            </a:pPr>
            <a:r>
              <a:rPr lang="en-US" sz="1200" b="1" kern="1200" dirty="0" smtClean="0"/>
              <a:t>Waveshaping</a:t>
            </a:r>
            <a:endParaRPr lang="en-US" sz="1200" b="1" kern="1200" dirty="0"/>
          </a:p>
        </p:txBody>
      </p:sp>
      <p:cxnSp>
        <p:nvCxnSpPr>
          <p:cNvPr id="65" name="Straight Arrow Connector 64"/>
          <p:cNvCxnSpPr/>
          <p:nvPr/>
        </p:nvCxnSpPr>
        <p:spPr>
          <a:xfrm flipH="1" flipV="1">
            <a:off x="4383742" y="2838484"/>
            <a:ext cx="6304" cy="50286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flipH="1" flipV="1">
            <a:off x="2994212" y="3179143"/>
            <a:ext cx="448074" cy="27840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flipV="1">
            <a:off x="5369616" y="3179143"/>
            <a:ext cx="448074" cy="27840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5369616" y="4547701"/>
            <a:ext cx="448074" cy="27840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H="1">
            <a:off x="2994212" y="4547701"/>
            <a:ext cx="448074" cy="27840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flipH="1">
            <a:off x="4368583" y="4724702"/>
            <a:ext cx="6304" cy="50286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81902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164" y="126938"/>
            <a:ext cx="5978698" cy="424732"/>
          </a:xfrm>
          <a:prstGeom prst="rect">
            <a:avLst/>
          </a:prstGeom>
          <a:noFill/>
        </p:spPr>
        <p:txBody>
          <a:bodyPr wrap="square" rtlCol="0">
            <a:spAutoFit/>
          </a:bodyPr>
          <a:lstStyle/>
          <a:p>
            <a:pPr algn="l"/>
            <a:r>
              <a:rPr lang="en-US" sz="2400" b="1" dirty="0" smtClean="0"/>
              <a:t>PRODUCT CONFIGURATIONS</a:t>
            </a:r>
          </a:p>
        </p:txBody>
      </p:sp>
      <p:pic>
        <p:nvPicPr>
          <p:cNvPr id="73" name="Picture 1"/>
          <p:cNvPicPr>
            <a:picLocks noChangeAspect="1" noChangeArrowheads="1"/>
          </p:cNvPicPr>
          <p:nvPr/>
        </p:nvPicPr>
        <p:blipFill>
          <a:blip r:embed="rId3" cstate="print"/>
          <a:srcRect/>
          <a:stretch>
            <a:fillRect/>
          </a:stretch>
        </p:blipFill>
        <p:spPr bwMode="auto">
          <a:xfrm rot="2262414">
            <a:off x="3947637" y="1449724"/>
            <a:ext cx="741505" cy="602638"/>
          </a:xfrm>
          <a:prstGeom prst="rect">
            <a:avLst/>
          </a:prstGeom>
          <a:noFill/>
          <a:ln w="9525">
            <a:noFill/>
            <a:miter lim="800000"/>
            <a:headEnd/>
            <a:tailEnd/>
          </a:ln>
        </p:spPr>
      </p:pic>
      <p:sp>
        <p:nvSpPr>
          <p:cNvPr id="55" name="Freeform 54"/>
          <p:cNvSpPr/>
          <p:nvPr/>
        </p:nvSpPr>
        <p:spPr>
          <a:xfrm>
            <a:off x="3754026" y="3108727"/>
            <a:ext cx="1162320" cy="900541"/>
          </a:xfrm>
          <a:custGeom>
            <a:avLst/>
            <a:gdLst>
              <a:gd name="connsiteX0" fmla="*/ 0 w 1196197"/>
              <a:gd name="connsiteY0" fmla="*/ 59810 h 598098"/>
              <a:gd name="connsiteX1" fmla="*/ 17518 w 1196197"/>
              <a:gd name="connsiteY1" fmla="*/ 17518 h 598098"/>
              <a:gd name="connsiteX2" fmla="*/ 59810 w 1196197"/>
              <a:gd name="connsiteY2" fmla="*/ 0 h 598098"/>
              <a:gd name="connsiteX3" fmla="*/ 1136387 w 1196197"/>
              <a:gd name="connsiteY3" fmla="*/ 0 h 598098"/>
              <a:gd name="connsiteX4" fmla="*/ 1178679 w 1196197"/>
              <a:gd name="connsiteY4" fmla="*/ 17518 h 598098"/>
              <a:gd name="connsiteX5" fmla="*/ 1196197 w 1196197"/>
              <a:gd name="connsiteY5" fmla="*/ 59810 h 598098"/>
              <a:gd name="connsiteX6" fmla="*/ 1196197 w 1196197"/>
              <a:gd name="connsiteY6" fmla="*/ 538288 h 598098"/>
              <a:gd name="connsiteX7" fmla="*/ 1178679 w 1196197"/>
              <a:gd name="connsiteY7" fmla="*/ 580580 h 598098"/>
              <a:gd name="connsiteX8" fmla="*/ 1136387 w 1196197"/>
              <a:gd name="connsiteY8" fmla="*/ 598098 h 598098"/>
              <a:gd name="connsiteX9" fmla="*/ 59810 w 1196197"/>
              <a:gd name="connsiteY9" fmla="*/ 598098 h 598098"/>
              <a:gd name="connsiteX10" fmla="*/ 17518 w 1196197"/>
              <a:gd name="connsiteY10" fmla="*/ 580580 h 598098"/>
              <a:gd name="connsiteX11" fmla="*/ 0 w 1196197"/>
              <a:gd name="connsiteY11" fmla="*/ 538288 h 598098"/>
              <a:gd name="connsiteX12" fmla="*/ 0 w 1196197"/>
              <a:gd name="connsiteY12" fmla="*/ 59810 h 59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197" h="598098">
                <a:moveTo>
                  <a:pt x="0" y="59810"/>
                </a:moveTo>
                <a:cubicBezTo>
                  <a:pt x="0" y="43947"/>
                  <a:pt x="6301" y="28734"/>
                  <a:pt x="17518" y="17518"/>
                </a:cubicBezTo>
                <a:cubicBezTo>
                  <a:pt x="28735" y="6301"/>
                  <a:pt x="43947" y="0"/>
                  <a:pt x="59810" y="0"/>
                </a:cubicBezTo>
                <a:lnTo>
                  <a:pt x="1136387" y="0"/>
                </a:lnTo>
                <a:cubicBezTo>
                  <a:pt x="1152250" y="0"/>
                  <a:pt x="1167463" y="6301"/>
                  <a:pt x="1178679" y="17518"/>
                </a:cubicBezTo>
                <a:cubicBezTo>
                  <a:pt x="1189896" y="28735"/>
                  <a:pt x="1196197" y="43947"/>
                  <a:pt x="1196197" y="59810"/>
                </a:cubicBezTo>
                <a:lnTo>
                  <a:pt x="1196197" y="538288"/>
                </a:lnTo>
                <a:cubicBezTo>
                  <a:pt x="1196197" y="554151"/>
                  <a:pt x="1189896" y="569364"/>
                  <a:pt x="1178679" y="580580"/>
                </a:cubicBezTo>
                <a:cubicBezTo>
                  <a:pt x="1167462" y="591797"/>
                  <a:pt x="1152250" y="598098"/>
                  <a:pt x="1136387" y="598098"/>
                </a:cubicBezTo>
                <a:lnTo>
                  <a:pt x="59810" y="598098"/>
                </a:lnTo>
                <a:cubicBezTo>
                  <a:pt x="43947" y="598098"/>
                  <a:pt x="28734" y="591797"/>
                  <a:pt x="17518" y="580580"/>
                </a:cubicBezTo>
                <a:cubicBezTo>
                  <a:pt x="6301" y="569363"/>
                  <a:pt x="0" y="554151"/>
                  <a:pt x="0" y="538288"/>
                </a:cubicBezTo>
                <a:lnTo>
                  <a:pt x="0" y="59810"/>
                </a:lnTo>
                <a:close/>
              </a:path>
            </a:pathLst>
          </a:custGeom>
          <a:solidFill>
            <a:srgbClr val="18921E"/>
          </a:solidFill>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7678" tIns="27678" rIns="27678" bIns="27678" numCol="1" spcCol="1270" anchor="ctr" anchorCtr="0">
            <a:noAutofit/>
          </a:bodyPr>
          <a:lstStyle/>
          <a:p>
            <a:pPr algn="ctr" defTabSz="711200">
              <a:lnSpc>
                <a:spcPct val="90000"/>
              </a:lnSpc>
              <a:spcBef>
                <a:spcPct val="0"/>
              </a:spcBef>
              <a:spcAft>
                <a:spcPct val="35000"/>
              </a:spcAft>
            </a:pPr>
            <a:r>
              <a:rPr lang="en-US" sz="2000" b="1" dirty="0"/>
              <a:t>Discrete Device</a:t>
            </a:r>
          </a:p>
        </p:txBody>
      </p:sp>
      <p:grpSp>
        <p:nvGrpSpPr>
          <p:cNvPr id="93" name="Group 51"/>
          <p:cNvGrpSpPr/>
          <p:nvPr/>
        </p:nvGrpSpPr>
        <p:grpSpPr>
          <a:xfrm rot="5188313">
            <a:off x="1209789" y="2731487"/>
            <a:ext cx="1066813" cy="329043"/>
            <a:chOff x="2326737" y="1119150"/>
            <a:chExt cx="1089965" cy="332770"/>
          </a:xfrm>
        </p:grpSpPr>
        <p:pic>
          <p:nvPicPr>
            <p:cNvPr id="95" name="Picture 3"/>
            <p:cNvPicPr>
              <a:picLocks noChangeAspect="1" noChangeArrowheads="1"/>
            </p:cNvPicPr>
            <p:nvPr/>
          </p:nvPicPr>
          <p:blipFill>
            <a:blip r:embed="rId4" cstate="print"/>
            <a:srcRect/>
            <a:stretch>
              <a:fillRect/>
            </a:stretch>
          </p:blipFill>
          <p:spPr bwMode="auto">
            <a:xfrm rot="196511">
              <a:off x="2730144" y="1137595"/>
              <a:ext cx="323850" cy="314325"/>
            </a:xfrm>
            <a:prstGeom prst="rect">
              <a:avLst/>
            </a:prstGeom>
            <a:noFill/>
            <a:ln w="9525">
              <a:noFill/>
              <a:miter lim="800000"/>
              <a:headEnd/>
              <a:tailEnd/>
            </a:ln>
          </p:spPr>
        </p:pic>
        <p:pic>
          <p:nvPicPr>
            <p:cNvPr id="96" name="Picture 4"/>
            <p:cNvPicPr>
              <a:picLocks noChangeAspect="1" noChangeArrowheads="1"/>
            </p:cNvPicPr>
            <p:nvPr/>
          </p:nvPicPr>
          <p:blipFill>
            <a:blip r:embed="rId4" cstate="print"/>
            <a:srcRect/>
            <a:stretch>
              <a:fillRect/>
            </a:stretch>
          </p:blipFill>
          <p:spPr bwMode="auto">
            <a:xfrm rot="19677519">
              <a:off x="2326737" y="1119150"/>
              <a:ext cx="323850" cy="314325"/>
            </a:xfrm>
            <a:prstGeom prst="rect">
              <a:avLst/>
            </a:prstGeom>
            <a:noFill/>
            <a:ln w="9525">
              <a:noFill/>
              <a:miter lim="800000"/>
              <a:headEnd/>
              <a:tailEnd/>
            </a:ln>
          </p:spPr>
        </p:pic>
        <p:pic>
          <p:nvPicPr>
            <p:cNvPr id="97" name="Picture 2"/>
            <p:cNvPicPr>
              <a:picLocks noChangeAspect="1" noChangeArrowheads="1"/>
            </p:cNvPicPr>
            <p:nvPr/>
          </p:nvPicPr>
          <p:blipFill>
            <a:blip r:embed="rId4" cstate="print"/>
            <a:srcRect/>
            <a:stretch>
              <a:fillRect/>
            </a:stretch>
          </p:blipFill>
          <p:spPr bwMode="auto">
            <a:xfrm rot="21040387">
              <a:off x="3092852" y="1136284"/>
              <a:ext cx="323850" cy="314325"/>
            </a:xfrm>
            <a:prstGeom prst="rect">
              <a:avLst/>
            </a:prstGeom>
            <a:noFill/>
            <a:ln w="9525">
              <a:noFill/>
              <a:miter lim="800000"/>
              <a:headEnd/>
              <a:tailEnd/>
            </a:ln>
          </p:spPr>
        </p:pic>
      </p:grpSp>
      <p:sp>
        <p:nvSpPr>
          <p:cNvPr id="94" name="Freeform 93"/>
          <p:cNvSpPr/>
          <p:nvPr/>
        </p:nvSpPr>
        <p:spPr>
          <a:xfrm>
            <a:off x="2094036" y="2487496"/>
            <a:ext cx="1170788" cy="591399"/>
          </a:xfrm>
          <a:custGeom>
            <a:avLst/>
            <a:gdLst>
              <a:gd name="connsiteX0" fmla="*/ 0 w 1196197"/>
              <a:gd name="connsiteY0" fmla="*/ 59810 h 598098"/>
              <a:gd name="connsiteX1" fmla="*/ 17518 w 1196197"/>
              <a:gd name="connsiteY1" fmla="*/ 17518 h 598098"/>
              <a:gd name="connsiteX2" fmla="*/ 59810 w 1196197"/>
              <a:gd name="connsiteY2" fmla="*/ 0 h 598098"/>
              <a:gd name="connsiteX3" fmla="*/ 1136387 w 1196197"/>
              <a:gd name="connsiteY3" fmla="*/ 0 h 598098"/>
              <a:gd name="connsiteX4" fmla="*/ 1178679 w 1196197"/>
              <a:gd name="connsiteY4" fmla="*/ 17518 h 598098"/>
              <a:gd name="connsiteX5" fmla="*/ 1196197 w 1196197"/>
              <a:gd name="connsiteY5" fmla="*/ 59810 h 598098"/>
              <a:gd name="connsiteX6" fmla="*/ 1196197 w 1196197"/>
              <a:gd name="connsiteY6" fmla="*/ 538288 h 598098"/>
              <a:gd name="connsiteX7" fmla="*/ 1178679 w 1196197"/>
              <a:gd name="connsiteY7" fmla="*/ 580580 h 598098"/>
              <a:gd name="connsiteX8" fmla="*/ 1136387 w 1196197"/>
              <a:gd name="connsiteY8" fmla="*/ 598098 h 598098"/>
              <a:gd name="connsiteX9" fmla="*/ 59810 w 1196197"/>
              <a:gd name="connsiteY9" fmla="*/ 598098 h 598098"/>
              <a:gd name="connsiteX10" fmla="*/ 17518 w 1196197"/>
              <a:gd name="connsiteY10" fmla="*/ 580580 h 598098"/>
              <a:gd name="connsiteX11" fmla="*/ 0 w 1196197"/>
              <a:gd name="connsiteY11" fmla="*/ 538288 h 598098"/>
              <a:gd name="connsiteX12" fmla="*/ 0 w 1196197"/>
              <a:gd name="connsiteY12" fmla="*/ 59810 h 59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197" h="598098">
                <a:moveTo>
                  <a:pt x="0" y="59810"/>
                </a:moveTo>
                <a:cubicBezTo>
                  <a:pt x="0" y="43947"/>
                  <a:pt x="6301" y="28734"/>
                  <a:pt x="17518" y="17518"/>
                </a:cubicBezTo>
                <a:cubicBezTo>
                  <a:pt x="28735" y="6301"/>
                  <a:pt x="43947" y="0"/>
                  <a:pt x="59810" y="0"/>
                </a:cubicBezTo>
                <a:lnTo>
                  <a:pt x="1136387" y="0"/>
                </a:lnTo>
                <a:cubicBezTo>
                  <a:pt x="1152250" y="0"/>
                  <a:pt x="1167463" y="6301"/>
                  <a:pt x="1178679" y="17518"/>
                </a:cubicBezTo>
                <a:cubicBezTo>
                  <a:pt x="1189896" y="28735"/>
                  <a:pt x="1196197" y="43947"/>
                  <a:pt x="1196197" y="59810"/>
                </a:cubicBezTo>
                <a:lnTo>
                  <a:pt x="1196197" y="538288"/>
                </a:lnTo>
                <a:cubicBezTo>
                  <a:pt x="1196197" y="554151"/>
                  <a:pt x="1189896" y="569364"/>
                  <a:pt x="1178679" y="580580"/>
                </a:cubicBezTo>
                <a:cubicBezTo>
                  <a:pt x="1167462" y="591797"/>
                  <a:pt x="1152250" y="598098"/>
                  <a:pt x="1136387" y="598098"/>
                </a:cubicBezTo>
                <a:lnTo>
                  <a:pt x="59810" y="598098"/>
                </a:lnTo>
                <a:cubicBezTo>
                  <a:pt x="43947" y="598098"/>
                  <a:pt x="28734" y="591797"/>
                  <a:pt x="17518" y="580580"/>
                </a:cubicBezTo>
                <a:cubicBezTo>
                  <a:pt x="6301" y="569363"/>
                  <a:pt x="0" y="554151"/>
                  <a:pt x="0" y="538288"/>
                </a:cubicBezTo>
                <a:lnTo>
                  <a:pt x="0" y="59810"/>
                </a:lnTo>
                <a:close/>
              </a:path>
            </a:pathLst>
          </a:custGeom>
          <a:solidFill>
            <a:srgbClr val="18921E"/>
          </a:solidFill>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7678" tIns="27678" rIns="27678" bIns="27678" numCol="1" spcCol="1270" anchor="ctr" anchorCtr="0">
            <a:noAutofit/>
          </a:bodyPr>
          <a:lstStyle/>
          <a:p>
            <a:pPr algn="ctr" defTabSz="711200">
              <a:lnSpc>
                <a:spcPct val="90000"/>
              </a:lnSpc>
              <a:spcBef>
                <a:spcPct val="0"/>
              </a:spcBef>
              <a:spcAft>
                <a:spcPct val="35000"/>
              </a:spcAft>
            </a:pPr>
            <a:r>
              <a:rPr lang="en-US" sz="1050" b="1" dirty="0"/>
              <a:t>Bare Die</a:t>
            </a:r>
          </a:p>
          <a:p>
            <a:pPr algn="ctr" defTabSz="711200">
              <a:lnSpc>
                <a:spcPct val="90000"/>
              </a:lnSpc>
              <a:spcBef>
                <a:spcPct val="0"/>
              </a:spcBef>
              <a:spcAft>
                <a:spcPct val="35000"/>
              </a:spcAft>
            </a:pPr>
            <a:r>
              <a:rPr lang="en-US" sz="1050" b="1" dirty="0"/>
              <a:t>(to 18 GHz)</a:t>
            </a:r>
          </a:p>
        </p:txBody>
      </p:sp>
      <p:grpSp>
        <p:nvGrpSpPr>
          <p:cNvPr id="57" name="Group 56"/>
          <p:cNvGrpSpPr/>
          <p:nvPr/>
        </p:nvGrpSpPr>
        <p:grpSpPr>
          <a:xfrm>
            <a:off x="5424359" y="2278465"/>
            <a:ext cx="2447422" cy="845500"/>
            <a:chOff x="7495028" y="4286137"/>
            <a:chExt cx="2500537" cy="855077"/>
          </a:xfrm>
        </p:grpSpPr>
        <p:pic>
          <p:nvPicPr>
            <p:cNvPr id="90" name="Picture 4"/>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rot="1329096">
              <a:off x="9420243" y="4749811"/>
              <a:ext cx="575322" cy="249827"/>
            </a:xfrm>
            <a:prstGeom prst="rect">
              <a:avLst/>
            </a:prstGeom>
            <a:solidFill>
              <a:schemeClr val="folHlink">
                <a:alpha val="94901"/>
              </a:schemeClr>
            </a:solidFill>
            <a:ln w="28575">
              <a:solidFill>
                <a:schemeClr val="folHlink"/>
              </a:solidFill>
              <a:miter lim="800000"/>
              <a:headEnd/>
              <a:tailEnd/>
            </a:ln>
          </p:spPr>
        </p:pic>
        <p:pic>
          <p:nvPicPr>
            <p:cNvPr id="91" name="Picture 6"/>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rot="4729279">
              <a:off x="8846045" y="4646281"/>
              <a:ext cx="598631" cy="283664"/>
            </a:xfrm>
            <a:prstGeom prst="rect">
              <a:avLst/>
            </a:prstGeom>
            <a:noFill/>
            <a:ln w="9525">
              <a:noFill/>
              <a:miter lim="800000"/>
              <a:headEnd/>
              <a:tailEnd/>
            </a:ln>
          </p:spPr>
        </p:pic>
        <p:sp>
          <p:nvSpPr>
            <p:cNvPr id="92" name="Freeform 91"/>
            <p:cNvSpPr/>
            <p:nvPr/>
          </p:nvSpPr>
          <p:spPr>
            <a:xfrm>
              <a:off x="7495028" y="4286137"/>
              <a:ext cx="1196197" cy="855077"/>
            </a:xfrm>
            <a:custGeom>
              <a:avLst/>
              <a:gdLst>
                <a:gd name="connsiteX0" fmla="*/ 0 w 1196197"/>
                <a:gd name="connsiteY0" fmla="*/ 85508 h 855077"/>
                <a:gd name="connsiteX1" fmla="*/ 25045 w 1196197"/>
                <a:gd name="connsiteY1" fmla="*/ 25045 h 855077"/>
                <a:gd name="connsiteX2" fmla="*/ 85508 w 1196197"/>
                <a:gd name="connsiteY2" fmla="*/ 0 h 855077"/>
                <a:gd name="connsiteX3" fmla="*/ 1110689 w 1196197"/>
                <a:gd name="connsiteY3" fmla="*/ 0 h 855077"/>
                <a:gd name="connsiteX4" fmla="*/ 1171152 w 1196197"/>
                <a:gd name="connsiteY4" fmla="*/ 25045 h 855077"/>
                <a:gd name="connsiteX5" fmla="*/ 1196197 w 1196197"/>
                <a:gd name="connsiteY5" fmla="*/ 85508 h 855077"/>
                <a:gd name="connsiteX6" fmla="*/ 1196197 w 1196197"/>
                <a:gd name="connsiteY6" fmla="*/ 769569 h 855077"/>
                <a:gd name="connsiteX7" fmla="*/ 1171152 w 1196197"/>
                <a:gd name="connsiteY7" fmla="*/ 830032 h 855077"/>
                <a:gd name="connsiteX8" fmla="*/ 1110689 w 1196197"/>
                <a:gd name="connsiteY8" fmla="*/ 855077 h 855077"/>
                <a:gd name="connsiteX9" fmla="*/ 85508 w 1196197"/>
                <a:gd name="connsiteY9" fmla="*/ 855077 h 855077"/>
                <a:gd name="connsiteX10" fmla="*/ 25045 w 1196197"/>
                <a:gd name="connsiteY10" fmla="*/ 830032 h 855077"/>
                <a:gd name="connsiteX11" fmla="*/ 0 w 1196197"/>
                <a:gd name="connsiteY11" fmla="*/ 769569 h 855077"/>
                <a:gd name="connsiteX12" fmla="*/ 0 w 1196197"/>
                <a:gd name="connsiteY12" fmla="*/ 85508 h 855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197" h="855077">
                  <a:moveTo>
                    <a:pt x="0" y="85508"/>
                  </a:moveTo>
                  <a:cubicBezTo>
                    <a:pt x="0" y="62830"/>
                    <a:pt x="9009" y="41081"/>
                    <a:pt x="25045" y="25045"/>
                  </a:cubicBezTo>
                  <a:cubicBezTo>
                    <a:pt x="41081" y="9009"/>
                    <a:pt x="62830" y="0"/>
                    <a:pt x="85508" y="0"/>
                  </a:cubicBezTo>
                  <a:lnTo>
                    <a:pt x="1110689" y="0"/>
                  </a:lnTo>
                  <a:cubicBezTo>
                    <a:pt x="1133367" y="0"/>
                    <a:pt x="1155116" y="9009"/>
                    <a:pt x="1171152" y="25045"/>
                  </a:cubicBezTo>
                  <a:cubicBezTo>
                    <a:pt x="1187188" y="41081"/>
                    <a:pt x="1196197" y="62830"/>
                    <a:pt x="1196197" y="85508"/>
                  </a:cubicBezTo>
                  <a:lnTo>
                    <a:pt x="1196197" y="769569"/>
                  </a:lnTo>
                  <a:cubicBezTo>
                    <a:pt x="1196197" y="792247"/>
                    <a:pt x="1187188" y="813996"/>
                    <a:pt x="1171152" y="830032"/>
                  </a:cubicBezTo>
                  <a:cubicBezTo>
                    <a:pt x="1155116" y="846068"/>
                    <a:pt x="1133367" y="855077"/>
                    <a:pt x="1110689" y="855077"/>
                  </a:cubicBezTo>
                  <a:lnTo>
                    <a:pt x="85508" y="855077"/>
                  </a:lnTo>
                  <a:cubicBezTo>
                    <a:pt x="62830" y="855077"/>
                    <a:pt x="41081" y="846068"/>
                    <a:pt x="25045" y="830032"/>
                  </a:cubicBezTo>
                  <a:cubicBezTo>
                    <a:pt x="9009" y="813996"/>
                    <a:pt x="0" y="792247"/>
                    <a:pt x="0" y="769569"/>
                  </a:cubicBezTo>
                  <a:lnTo>
                    <a:pt x="0" y="85508"/>
                  </a:lnTo>
                  <a:close/>
                </a:path>
              </a:pathLst>
            </a:custGeom>
            <a:solidFill>
              <a:srgbClr val="18921E"/>
            </a:solidFill>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35204" tIns="35204" rIns="35204" bIns="35204" numCol="1" spcCol="1270" anchor="ctr" anchorCtr="0">
              <a:noAutofit/>
            </a:bodyPr>
            <a:lstStyle/>
            <a:p>
              <a:pPr algn="ctr" defTabSz="711200">
                <a:lnSpc>
                  <a:spcPct val="90000"/>
                </a:lnSpc>
                <a:spcBef>
                  <a:spcPct val="0"/>
                </a:spcBef>
                <a:spcAft>
                  <a:spcPct val="35000"/>
                </a:spcAft>
              </a:pPr>
              <a:r>
                <a:rPr lang="en-US" sz="1050" b="1" dirty="0"/>
                <a:t>HMIC Discrete Surmount</a:t>
              </a:r>
            </a:p>
            <a:p>
              <a:pPr algn="ctr" defTabSz="711200">
                <a:lnSpc>
                  <a:spcPct val="90000"/>
                </a:lnSpc>
                <a:spcBef>
                  <a:spcPct val="0"/>
                </a:spcBef>
                <a:spcAft>
                  <a:spcPct val="35000"/>
                </a:spcAft>
              </a:pPr>
              <a:r>
                <a:rPr lang="en-US" sz="1050" b="1" dirty="0"/>
                <a:t>(to 26.5GHz)</a:t>
              </a:r>
            </a:p>
          </p:txBody>
        </p:sp>
      </p:grpSp>
      <p:pic>
        <p:nvPicPr>
          <p:cNvPr id="87" name="Picture 21"/>
          <p:cNvPicPr>
            <a:picLocks noChangeAspect="1" noChangeArrowheads="1"/>
          </p:cNvPicPr>
          <p:nvPr/>
        </p:nvPicPr>
        <p:blipFill>
          <a:blip r:embed="rId7" cstate="print"/>
          <a:srcRect/>
          <a:stretch>
            <a:fillRect/>
          </a:stretch>
        </p:blipFill>
        <p:spPr bwMode="auto">
          <a:xfrm rot="19472443">
            <a:off x="2900988" y="4750818"/>
            <a:ext cx="651413" cy="372921"/>
          </a:xfrm>
          <a:prstGeom prst="rect">
            <a:avLst/>
          </a:prstGeom>
          <a:noFill/>
        </p:spPr>
      </p:pic>
      <p:pic>
        <p:nvPicPr>
          <p:cNvPr id="88" name="Picture 18"/>
          <p:cNvPicPr>
            <a:picLocks noChangeAspect="1" noChangeArrowheads="1"/>
          </p:cNvPicPr>
          <p:nvPr/>
        </p:nvPicPr>
        <p:blipFill>
          <a:blip r:embed="rId8" cstate="print"/>
          <a:srcRect/>
          <a:stretch>
            <a:fillRect/>
          </a:stretch>
        </p:blipFill>
        <p:spPr bwMode="auto">
          <a:xfrm rot="13393308">
            <a:off x="1799533" y="4821990"/>
            <a:ext cx="621609" cy="298326"/>
          </a:xfrm>
          <a:prstGeom prst="rect">
            <a:avLst/>
          </a:prstGeom>
          <a:noFill/>
        </p:spPr>
      </p:pic>
      <p:sp>
        <p:nvSpPr>
          <p:cNvPr id="89" name="Freeform 88"/>
          <p:cNvSpPr/>
          <p:nvPr/>
        </p:nvSpPr>
        <p:spPr>
          <a:xfrm>
            <a:off x="2024721" y="3941698"/>
            <a:ext cx="1170788" cy="693936"/>
          </a:xfrm>
          <a:custGeom>
            <a:avLst/>
            <a:gdLst>
              <a:gd name="connsiteX0" fmla="*/ 0 w 1196197"/>
              <a:gd name="connsiteY0" fmla="*/ 59810 h 598098"/>
              <a:gd name="connsiteX1" fmla="*/ 17518 w 1196197"/>
              <a:gd name="connsiteY1" fmla="*/ 17518 h 598098"/>
              <a:gd name="connsiteX2" fmla="*/ 59810 w 1196197"/>
              <a:gd name="connsiteY2" fmla="*/ 0 h 598098"/>
              <a:gd name="connsiteX3" fmla="*/ 1136387 w 1196197"/>
              <a:gd name="connsiteY3" fmla="*/ 0 h 598098"/>
              <a:gd name="connsiteX4" fmla="*/ 1178679 w 1196197"/>
              <a:gd name="connsiteY4" fmla="*/ 17518 h 598098"/>
              <a:gd name="connsiteX5" fmla="*/ 1196197 w 1196197"/>
              <a:gd name="connsiteY5" fmla="*/ 59810 h 598098"/>
              <a:gd name="connsiteX6" fmla="*/ 1196197 w 1196197"/>
              <a:gd name="connsiteY6" fmla="*/ 538288 h 598098"/>
              <a:gd name="connsiteX7" fmla="*/ 1178679 w 1196197"/>
              <a:gd name="connsiteY7" fmla="*/ 580580 h 598098"/>
              <a:gd name="connsiteX8" fmla="*/ 1136387 w 1196197"/>
              <a:gd name="connsiteY8" fmla="*/ 598098 h 598098"/>
              <a:gd name="connsiteX9" fmla="*/ 59810 w 1196197"/>
              <a:gd name="connsiteY9" fmla="*/ 598098 h 598098"/>
              <a:gd name="connsiteX10" fmla="*/ 17518 w 1196197"/>
              <a:gd name="connsiteY10" fmla="*/ 580580 h 598098"/>
              <a:gd name="connsiteX11" fmla="*/ 0 w 1196197"/>
              <a:gd name="connsiteY11" fmla="*/ 538288 h 598098"/>
              <a:gd name="connsiteX12" fmla="*/ 0 w 1196197"/>
              <a:gd name="connsiteY12" fmla="*/ 59810 h 59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197" h="598098">
                <a:moveTo>
                  <a:pt x="0" y="59810"/>
                </a:moveTo>
                <a:cubicBezTo>
                  <a:pt x="0" y="43947"/>
                  <a:pt x="6301" y="28734"/>
                  <a:pt x="17518" y="17518"/>
                </a:cubicBezTo>
                <a:cubicBezTo>
                  <a:pt x="28735" y="6301"/>
                  <a:pt x="43947" y="0"/>
                  <a:pt x="59810" y="0"/>
                </a:cubicBezTo>
                <a:lnTo>
                  <a:pt x="1136387" y="0"/>
                </a:lnTo>
                <a:cubicBezTo>
                  <a:pt x="1152250" y="0"/>
                  <a:pt x="1167463" y="6301"/>
                  <a:pt x="1178679" y="17518"/>
                </a:cubicBezTo>
                <a:cubicBezTo>
                  <a:pt x="1189896" y="28735"/>
                  <a:pt x="1196197" y="43947"/>
                  <a:pt x="1196197" y="59810"/>
                </a:cubicBezTo>
                <a:lnTo>
                  <a:pt x="1196197" y="538288"/>
                </a:lnTo>
                <a:cubicBezTo>
                  <a:pt x="1196197" y="554151"/>
                  <a:pt x="1189896" y="569364"/>
                  <a:pt x="1178679" y="580580"/>
                </a:cubicBezTo>
                <a:cubicBezTo>
                  <a:pt x="1167462" y="591797"/>
                  <a:pt x="1152250" y="598098"/>
                  <a:pt x="1136387" y="598098"/>
                </a:cubicBezTo>
                <a:lnTo>
                  <a:pt x="59810" y="598098"/>
                </a:lnTo>
                <a:cubicBezTo>
                  <a:pt x="43947" y="598098"/>
                  <a:pt x="28734" y="591797"/>
                  <a:pt x="17518" y="580580"/>
                </a:cubicBezTo>
                <a:cubicBezTo>
                  <a:pt x="6301" y="569363"/>
                  <a:pt x="0" y="554151"/>
                  <a:pt x="0" y="538288"/>
                </a:cubicBezTo>
                <a:lnTo>
                  <a:pt x="0" y="59810"/>
                </a:lnTo>
                <a:close/>
              </a:path>
            </a:pathLst>
          </a:custGeom>
          <a:solidFill>
            <a:srgbClr val="18921E"/>
          </a:solidFill>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7678" tIns="27678" rIns="27678" bIns="27678" numCol="1" spcCol="1270" anchor="ctr" anchorCtr="0">
            <a:noAutofit/>
          </a:bodyPr>
          <a:lstStyle/>
          <a:p>
            <a:pPr algn="ctr" defTabSz="711200">
              <a:lnSpc>
                <a:spcPct val="90000"/>
              </a:lnSpc>
              <a:spcBef>
                <a:spcPct val="0"/>
              </a:spcBef>
              <a:spcAft>
                <a:spcPct val="35000"/>
              </a:spcAft>
            </a:pPr>
            <a:r>
              <a:rPr lang="en-US" sz="1050" b="1" dirty="0"/>
              <a:t>Beam Lead/ Flip Chip</a:t>
            </a:r>
          </a:p>
          <a:p>
            <a:pPr algn="ctr" defTabSz="711200">
              <a:lnSpc>
                <a:spcPct val="90000"/>
              </a:lnSpc>
              <a:spcBef>
                <a:spcPct val="0"/>
              </a:spcBef>
              <a:spcAft>
                <a:spcPct val="35000"/>
              </a:spcAft>
            </a:pPr>
            <a:r>
              <a:rPr lang="en-US" sz="1050" b="1" dirty="0"/>
              <a:t>(to 70+ GHz) </a:t>
            </a:r>
          </a:p>
        </p:txBody>
      </p:sp>
      <p:sp>
        <p:nvSpPr>
          <p:cNvPr id="75" name="Freeform 74"/>
          <p:cNvSpPr/>
          <p:nvPr/>
        </p:nvSpPr>
        <p:spPr>
          <a:xfrm>
            <a:off x="5414334" y="3950874"/>
            <a:ext cx="1170788" cy="641234"/>
          </a:xfrm>
          <a:custGeom>
            <a:avLst/>
            <a:gdLst>
              <a:gd name="connsiteX0" fmla="*/ 0 w 1196197"/>
              <a:gd name="connsiteY0" fmla="*/ 59810 h 598098"/>
              <a:gd name="connsiteX1" fmla="*/ 17518 w 1196197"/>
              <a:gd name="connsiteY1" fmla="*/ 17518 h 598098"/>
              <a:gd name="connsiteX2" fmla="*/ 59810 w 1196197"/>
              <a:gd name="connsiteY2" fmla="*/ 0 h 598098"/>
              <a:gd name="connsiteX3" fmla="*/ 1136387 w 1196197"/>
              <a:gd name="connsiteY3" fmla="*/ 0 h 598098"/>
              <a:gd name="connsiteX4" fmla="*/ 1178679 w 1196197"/>
              <a:gd name="connsiteY4" fmla="*/ 17518 h 598098"/>
              <a:gd name="connsiteX5" fmla="*/ 1196197 w 1196197"/>
              <a:gd name="connsiteY5" fmla="*/ 59810 h 598098"/>
              <a:gd name="connsiteX6" fmla="*/ 1196197 w 1196197"/>
              <a:gd name="connsiteY6" fmla="*/ 538288 h 598098"/>
              <a:gd name="connsiteX7" fmla="*/ 1178679 w 1196197"/>
              <a:gd name="connsiteY7" fmla="*/ 580580 h 598098"/>
              <a:gd name="connsiteX8" fmla="*/ 1136387 w 1196197"/>
              <a:gd name="connsiteY8" fmla="*/ 598098 h 598098"/>
              <a:gd name="connsiteX9" fmla="*/ 59810 w 1196197"/>
              <a:gd name="connsiteY9" fmla="*/ 598098 h 598098"/>
              <a:gd name="connsiteX10" fmla="*/ 17518 w 1196197"/>
              <a:gd name="connsiteY10" fmla="*/ 580580 h 598098"/>
              <a:gd name="connsiteX11" fmla="*/ 0 w 1196197"/>
              <a:gd name="connsiteY11" fmla="*/ 538288 h 598098"/>
              <a:gd name="connsiteX12" fmla="*/ 0 w 1196197"/>
              <a:gd name="connsiteY12" fmla="*/ 59810 h 59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197" h="598098">
                <a:moveTo>
                  <a:pt x="0" y="59810"/>
                </a:moveTo>
                <a:cubicBezTo>
                  <a:pt x="0" y="43947"/>
                  <a:pt x="6301" y="28734"/>
                  <a:pt x="17518" y="17518"/>
                </a:cubicBezTo>
                <a:cubicBezTo>
                  <a:pt x="28735" y="6301"/>
                  <a:pt x="43947" y="0"/>
                  <a:pt x="59810" y="0"/>
                </a:cubicBezTo>
                <a:lnTo>
                  <a:pt x="1136387" y="0"/>
                </a:lnTo>
                <a:cubicBezTo>
                  <a:pt x="1152250" y="0"/>
                  <a:pt x="1167463" y="6301"/>
                  <a:pt x="1178679" y="17518"/>
                </a:cubicBezTo>
                <a:cubicBezTo>
                  <a:pt x="1189896" y="28735"/>
                  <a:pt x="1196197" y="43947"/>
                  <a:pt x="1196197" y="59810"/>
                </a:cubicBezTo>
                <a:lnTo>
                  <a:pt x="1196197" y="538288"/>
                </a:lnTo>
                <a:cubicBezTo>
                  <a:pt x="1196197" y="554151"/>
                  <a:pt x="1189896" y="569364"/>
                  <a:pt x="1178679" y="580580"/>
                </a:cubicBezTo>
                <a:cubicBezTo>
                  <a:pt x="1167462" y="591797"/>
                  <a:pt x="1152250" y="598098"/>
                  <a:pt x="1136387" y="598098"/>
                </a:cubicBezTo>
                <a:lnTo>
                  <a:pt x="59810" y="598098"/>
                </a:lnTo>
                <a:cubicBezTo>
                  <a:pt x="43947" y="598098"/>
                  <a:pt x="28734" y="591797"/>
                  <a:pt x="17518" y="580580"/>
                </a:cubicBezTo>
                <a:cubicBezTo>
                  <a:pt x="6301" y="569363"/>
                  <a:pt x="0" y="554151"/>
                  <a:pt x="0" y="538288"/>
                </a:cubicBezTo>
                <a:lnTo>
                  <a:pt x="0" y="59810"/>
                </a:lnTo>
                <a:close/>
              </a:path>
            </a:pathLst>
          </a:custGeom>
          <a:solidFill>
            <a:srgbClr val="18921E"/>
          </a:solidFill>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7678" tIns="27678" rIns="27678" bIns="27678" numCol="1" spcCol="1270" anchor="ctr" anchorCtr="0">
            <a:noAutofit/>
          </a:bodyPr>
          <a:lstStyle/>
          <a:p>
            <a:pPr algn="ctr" defTabSz="711200">
              <a:lnSpc>
                <a:spcPct val="90000"/>
              </a:lnSpc>
              <a:spcBef>
                <a:spcPct val="0"/>
              </a:spcBef>
              <a:spcAft>
                <a:spcPct val="35000"/>
              </a:spcAft>
              <a:tabLst>
                <a:tab pos="1603375" algn="l"/>
              </a:tabLst>
            </a:pPr>
            <a:r>
              <a:rPr lang="en-US" sz="1050" b="1" dirty="0"/>
              <a:t>Hermetic Packaged</a:t>
            </a:r>
          </a:p>
          <a:p>
            <a:pPr algn="ctr" defTabSz="711200">
              <a:lnSpc>
                <a:spcPct val="90000"/>
              </a:lnSpc>
              <a:spcBef>
                <a:spcPct val="0"/>
              </a:spcBef>
              <a:spcAft>
                <a:spcPct val="35000"/>
              </a:spcAft>
              <a:tabLst>
                <a:tab pos="1603375" algn="l"/>
              </a:tabLst>
            </a:pPr>
            <a:r>
              <a:rPr lang="en-US" sz="1050" b="1" dirty="0"/>
              <a:t>(to 12 GHz)</a:t>
            </a:r>
          </a:p>
        </p:txBody>
      </p:sp>
      <p:grpSp>
        <p:nvGrpSpPr>
          <p:cNvPr id="77" name="Group 50"/>
          <p:cNvGrpSpPr/>
          <p:nvPr/>
        </p:nvGrpSpPr>
        <p:grpSpPr>
          <a:xfrm rot="3921021">
            <a:off x="6227011" y="3807244"/>
            <a:ext cx="1597957" cy="860160"/>
            <a:chOff x="4772791" y="550602"/>
            <a:chExt cx="1632636" cy="869903"/>
          </a:xfrm>
        </p:grpSpPr>
        <p:pic>
          <p:nvPicPr>
            <p:cNvPr id="78" name="Picture 53" descr="1056 ceramic"/>
            <p:cNvPicPr>
              <a:picLocks noChangeAspect="1" noChangeArrowheads="1"/>
            </p:cNvPicPr>
            <p:nvPr/>
          </p:nvPicPr>
          <p:blipFill>
            <a:blip r:embed="rId9" cstate="print">
              <a:extLst>
                <a:ext uri="{28A0092B-C50C-407E-A947-70E740481C1C}">
                  <a14:useLocalDpi xmlns:a14="http://schemas.microsoft.com/office/drawing/2010/main"/>
                </a:ext>
              </a:extLst>
            </a:blip>
            <a:srcRect/>
            <a:stretch>
              <a:fillRect/>
            </a:stretch>
          </p:blipFill>
          <p:spPr bwMode="auto">
            <a:xfrm>
              <a:off x="4772791" y="671481"/>
              <a:ext cx="700513" cy="350942"/>
            </a:xfrm>
            <a:prstGeom prst="rect">
              <a:avLst/>
            </a:prstGeom>
            <a:noFill/>
          </p:spPr>
        </p:pic>
        <p:pic>
          <p:nvPicPr>
            <p:cNvPr id="79" name="Picture 78" descr="1082 ceramic.jpg"/>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597905" y="550602"/>
              <a:ext cx="807522" cy="484761"/>
            </a:xfrm>
            <a:prstGeom prst="rect">
              <a:avLst/>
            </a:prstGeom>
          </p:spPr>
        </p:pic>
        <p:pic>
          <p:nvPicPr>
            <p:cNvPr id="80" name="Picture 18"/>
            <p:cNvPicPr>
              <a:picLocks noChangeAspect="1" noChangeArrowheads="1"/>
            </p:cNvPicPr>
            <p:nvPr/>
          </p:nvPicPr>
          <p:blipFill>
            <a:blip r:embed="rId11" cstate="print">
              <a:extLst>
                <a:ext uri="{28A0092B-C50C-407E-A947-70E740481C1C}">
                  <a14:useLocalDpi xmlns:a14="http://schemas.microsoft.com/office/drawing/2010/main"/>
                </a:ext>
              </a:extLst>
            </a:blip>
            <a:srcRect/>
            <a:stretch>
              <a:fillRect/>
            </a:stretch>
          </p:blipFill>
          <p:spPr bwMode="auto">
            <a:xfrm rot="8326268" flipH="1">
              <a:off x="5865108" y="1129729"/>
              <a:ext cx="512881" cy="290776"/>
            </a:xfrm>
            <a:prstGeom prst="rect">
              <a:avLst/>
            </a:prstGeom>
            <a:noFill/>
          </p:spPr>
        </p:pic>
      </p:grpSp>
      <p:cxnSp>
        <p:nvCxnSpPr>
          <p:cNvPr id="61" name="Straight Arrow Connector 60"/>
          <p:cNvCxnSpPr/>
          <p:nvPr/>
        </p:nvCxnSpPr>
        <p:spPr>
          <a:xfrm flipV="1">
            <a:off x="4299766" y="2727433"/>
            <a:ext cx="0" cy="2824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flipV="1">
            <a:off x="4944694" y="2959352"/>
            <a:ext cx="340010" cy="16598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1" name="Freeform 70"/>
          <p:cNvSpPr/>
          <p:nvPr/>
        </p:nvSpPr>
        <p:spPr>
          <a:xfrm>
            <a:off x="3773906" y="2050315"/>
            <a:ext cx="1170788" cy="591400"/>
          </a:xfrm>
          <a:custGeom>
            <a:avLst/>
            <a:gdLst>
              <a:gd name="connsiteX0" fmla="*/ 0 w 1196197"/>
              <a:gd name="connsiteY0" fmla="*/ 59810 h 598098"/>
              <a:gd name="connsiteX1" fmla="*/ 17518 w 1196197"/>
              <a:gd name="connsiteY1" fmla="*/ 17518 h 598098"/>
              <a:gd name="connsiteX2" fmla="*/ 59810 w 1196197"/>
              <a:gd name="connsiteY2" fmla="*/ 0 h 598098"/>
              <a:gd name="connsiteX3" fmla="*/ 1136387 w 1196197"/>
              <a:gd name="connsiteY3" fmla="*/ 0 h 598098"/>
              <a:gd name="connsiteX4" fmla="*/ 1178679 w 1196197"/>
              <a:gd name="connsiteY4" fmla="*/ 17518 h 598098"/>
              <a:gd name="connsiteX5" fmla="*/ 1196197 w 1196197"/>
              <a:gd name="connsiteY5" fmla="*/ 59810 h 598098"/>
              <a:gd name="connsiteX6" fmla="*/ 1196197 w 1196197"/>
              <a:gd name="connsiteY6" fmla="*/ 538288 h 598098"/>
              <a:gd name="connsiteX7" fmla="*/ 1178679 w 1196197"/>
              <a:gd name="connsiteY7" fmla="*/ 580580 h 598098"/>
              <a:gd name="connsiteX8" fmla="*/ 1136387 w 1196197"/>
              <a:gd name="connsiteY8" fmla="*/ 598098 h 598098"/>
              <a:gd name="connsiteX9" fmla="*/ 59810 w 1196197"/>
              <a:gd name="connsiteY9" fmla="*/ 598098 h 598098"/>
              <a:gd name="connsiteX10" fmla="*/ 17518 w 1196197"/>
              <a:gd name="connsiteY10" fmla="*/ 580580 h 598098"/>
              <a:gd name="connsiteX11" fmla="*/ 0 w 1196197"/>
              <a:gd name="connsiteY11" fmla="*/ 538288 h 598098"/>
              <a:gd name="connsiteX12" fmla="*/ 0 w 1196197"/>
              <a:gd name="connsiteY12" fmla="*/ 59810 h 59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197" h="598098">
                <a:moveTo>
                  <a:pt x="0" y="59810"/>
                </a:moveTo>
                <a:cubicBezTo>
                  <a:pt x="0" y="43947"/>
                  <a:pt x="6301" y="28734"/>
                  <a:pt x="17518" y="17518"/>
                </a:cubicBezTo>
                <a:cubicBezTo>
                  <a:pt x="28735" y="6301"/>
                  <a:pt x="43947" y="0"/>
                  <a:pt x="59810" y="0"/>
                </a:cubicBezTo>
                <a:lnTo>
                  <a:pt x="1136387" y="0"/>
                </a:lnTo>
                <a:cubicBezTo>
                  <a:pt x="1152250" y="0"/>
                  <a:pt x="1167463" y="6301"/>
                  <a:pt x="1178679" y="17518"/>
                </a:cubicBezTo>
                <a:cubicBezTo>
                  <a:pt x="1189896" y="28735"/>
                  <a:pt x="1196197" y="43947"/>
                  <a:pt x="1196197" y="59810"/>
                </a:cubicBezTo>
                <a:lnTo>
                  <a:pt x="1196197" y="538288"/>
                </a:lnTo>
                <a:cubicBezTo>
                  <a:pt x="1196197" y="554151"/>
                  <a:pt x="1189896" y="569364"/>
                  <a:pt x="1178679" y="580580"/>
                </a:cubicBezTo>
                <a:cubicBezTo>
                  <a:pt x="1167462" y="591797"/>
                  <a:pt x="1152250" y="598098"/>
                  <a:pt x="1136387" y="598098"/>
                </a:cubicBezTo>
                <a:lnTo>
                  <a:pt x="59810" y="598098"/>
                </a:lnTo>
                <a:cubicBezTo>
                  <a:pt x="43947" y="598098"/>
                  <a:pt x="28734" y="591797"/>
                  <a:pt x="17518" y="580580"/>
                </a:cubicBezTo>
                <a:cubicBezTo>
                  <a:pt x="6301" y="569363"/>
                  <a:pt x="0" y="554151"/>
                  <a:pt x="0" y="538288"/>
                </a:cubicBezTo>
                <a:lnTo>
                  <a:pt x="0" y="59810"/>
                </a:lnTo>
                <a:close/>
              </a:path>
            </a:pathLst>
          </a:custGeom>
          <a:solidFill>
            <a:srgbClr val="18921E"/>
          </a:solidFill>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7678" tIns="27678" rIns="27678" bIns="27678" numCol="1" spcCol="1270" anchor="ctr" anchorCtr="0">
            <a:noAutofit/>
          </a:bodyPr>
          <a:lstStyle/>
          <a:p>
            <a:pPr algn="ctr" defTabSz="711200">
              <a:lnSpc>
                <a:spcPct val="90000"/>
              </a:lnSpc>
              <a:spcBef>
                <a:spcPct val="0"/>
              </a:spcBef>
              <a:spcAft>
                <a:spcPct val="35000"/>
              </a:spcAft>
            </a:pPr>
            <a:r>
              <a:rPr lang="en-US" sz="1050" b="1" dirty="0"/>
              <a:t>Plastic</a:t>
            </a:r>
          </a:p>
          <a:p>
            <a:pPr algn="ctr" defTabSz="711200">
              <a:lnSpc>
                <a:spcPct val="90000"/>
              </a:lnSpc>
              <a:spcBef>
                <a:spcPct val="0"/>
              </a:spcBef>
              <a:spcAft>
                <a:spcPct val="35000"/>
              </a:spcAft>
            </a:pPr>
            <a:r>
              <a:rPr lang="en-US" sz="1050" b="1" dirty="0"/>
              <a:t>(to 6 GHz)</a:t>
            </a:r>
          </a:p>
        </p:txBody>
      </p:sp>
      <p:cxnSp>
        <p:nvCxnSpPr>
          <p:cNvPr id="100" name="Straight Arrow Connector 99"/>
          <p:cNvCxnSpPr/>
          <p:nvPr/>
        </p:nvCxnSpPr>
        <p:spPr>
          <a:xfrm flipH="1" flipV="1">
            <a:off x="3331892" y="2952539"/>
            <a:ext cx="340010" cy="16598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1" name="Straight Arrow Connector 100"/>
          <p:cNvCxnSpPr/>
          <p:nvPr/>
        </p:nvCxnSpPr>
        <p:spPr>
          <a:xfrm flipH="1">
            <a:off x="3331892" y="4030155"/>
            <a:ext cx="340010" cy="16598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p:nvPr/>
        </p:nvCxnSpPr>
        <p:spPr>
          <a:xfrm>
            <a:off x="4944694" y="4030155"/>
            <a:ext cx="340010" cy="16598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44" name="Picture 36">
            <a:hlinkClick r:id="rId12" action="ppaction://hlinksldjump"/>
          </p:cNvPr>
          <p:cNvPicPr>
            <a:picLocks noChangeAspect="1" noChangeArrowheads="1"/>
          </p:cNvPicPr>
          <p:nvPr/>
        </p:nvPicPr>
        <p:blipFill>
          <a:blip r:embed="rId13" cstate="print">
            <a:extLst>
              <a:ext uri="{28A0092B-C50C-407E-A947-70E740481C1C}">
                <a14:useLocalDpi xmlns:a14="http://schemas.microsoft.com/office/drawing/2010/main"/>
              </a:ext>
            </a:extLst>
          </a:blip>
          <a:srcRect/>
          <a:stretch>
            <a:fillRect/>
          </a:stretch>
        </p:blipFill>
        <p:spPr bwMode="auto">
          <a:xfrm rot="21040347">
            <a:off x="5589588" y="5724568"/>
            <a:ext cx="641373" cy="550736"/>
          </a:xfrm>
          <a:prstGeom prst="rect">
            <a:avLst/>
          </a:prstGeom>
          <a:noFill/>
          <a:ln w="38100">
            <a:solidFill>
              <a:srgbClr val="001522"/>
            </a:solidFill>
            <a:miter lim="800000"/>
            <a:headEnd/>
            <a:tailEnd/>
          </a:ln>
        </p:spPr>
      </p:pic>
      <p:pic>
        <p:nvPicPr>
          <p:cNvPr id="46" name="Picture 16">
            <a:hlinkClick r:id="rId14" action="ppaction://hlinksldjump"/>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rot="1803430">
            <a:off x="2577277" y="5712127"/>
            <a:ext cx="608383" cy="479449"/>
          </a:xfrm>
          <a:prstGeom prst="rect">
            <a:avLst/>
          </a:prstGeom>
          <a:noFill/>
          <a:ln w="31750">
            <a:noFill/>
            <a:miter lim="800000"/>
            <a:headEnd/>
            <a:tailEnd/>
          </a:ln>
          <a:effectLst/>
        </p:spPr>
      </p:pic>
      <p:sp>
        <p:nvSpPr>
          <p:cNvPr id="49" name="Freeform 48"/>
          <p:cNvSpPr/>
          <p:nvPr/>
        </p:nvSpPr>
        <p:spPr>
          <a:xfrm>
            <a:off x="3714372" y="5589546"/>
            <a:ext cx="1157811" cy="814217"/>
          </a:xfrm>
          <a:custGeom>
            <a:avLst/>
            <a:gdLst>
              <a:gd name="connsiteX0" fmla="*/ 0 w 1196197"/>
              <a:gd name="connsiteY0" fmla="*/ 59810 h 598098"/>
              <a:gd name="connsiteX1" fmla="*/ 17518 w 1196197"/>
              <a:gd name="connsiteY1" fmla="*/ 17518 h 598098"/>
              <a:gd name="connsiteX2" fmla="*/ 59810 w 1196197"/>
              <a:gd name="connsiteY2" fmla="*/ 0 h 598098"/>
              <a:gd name="connsiteX3" fmla="*/ 1136387 w 1196197"/>
              <a:gd name="connsiteY3" fmla="*/ 0 h 598098"/>
              <a:gd name="connsiteX4" fmla="*/ 1178679 w 1196197"/>
              <a:gd name="connsiteY4" fmla="*/ 17518 h 598098"/>
              <a:gd name="connsiteX5" fmla="*/ 1196197 w 1196197"/>
              <a:gd name="connsiteY5" fmla="*/ 59810 h 598098"/>
              <a:gd name="connsiteX6" fmla="*/ 1196197 w 1196197"/>
              <a:gd name="connsiteY6" fmla="*/ 538288 h 598098"/>
              <a:gd name="connsiteX7" fmla="*/ 1178679 w 1196197"/>
              <a:gd name="connsiteY7" fmla="*/ 580580 h 598098"/>
              <a:gd name="connsiteX8" fmla="*/ 1136387 w 1196197"/>
              <a:gd name="connsiteY8" fmla="*/ 598098 h 598098"/>
              <a:gd name="connsiteX9" fmla="*/ 59810 w 1196197"/>
              <a:gd name="connsiteY9" fmla="*/ 598098 h 598098"/>
              <a:gd name="connsiteX10" fmla="*/ 17518 w 1196197"/>
              <a:gd name="connsiteY10" fmla="*/ 580580 h 598098"/>
              <a:gd name="connsiteX11" fmla="*/ 0 w 1196197"/>
              <a:gd name="connsiteY11" fmla="*/ 538288 h 598098"/>
              <a:gd name="connsiteX12" fmla="*/ 0 w 1196197"/>
              <a:gd name="connsiteY12" fmla="*/ 59810 h 598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197" h="598098">
                <a:moveTo>
                  <a:pt x="0" y="59810"/>
                </a:moveTo>
                <a:cubicBezTo>
                  <a:pt x="0" y="43947"/>
                  <a:pt x="6301" y="28734"/>
                  <a:pt x="17518" y="17518"/>
                </a:cubicBezTo>
                <a:cubicBezTo>
                  <a:pt x="28735" y="6301"/>
                  <a:pt x="43947" y="0"/>
                  <a:pt x="59810" y="0"/>
                </a:cubicBezTo>
                <a:lnTo>
                  <a:pt x="1136387" y="0"/>
                </a:lnTo>
                <a:cubicBezTo>
                  <a:pt x="1152250" y="0"/>
                  <a:pt x="1167463" y="6301"/>
                  <a:pt x="1178679" y="17518"/>
                </a:cubicBezTo>
                <a:cubicBezTo>
                  <a:pt x="1189896" y="28735"/>
                  <a:pt x="1196197" y="43947"/>
                  <a:pt x="1196197" y="59810"/>
                </a:cubicBezTo>
                <a:lnTo>
                  <a:pt x="1196197" y="538288"/>
                </a:lnTo>
                <a:cubicBezTo>
                  <a:pt x="1196197" y="554151"/>
                  <a:pt x="1189896" y="569364"/>
                  <a:pt x="1178679" y="580580"/>
                </a:cubicBezTo>
                <a:cubicBezTo>
                  <a:pt x="1167462" y="591797"/>
                  <a:pt x="1152250" y="598098"/>
                  <a:pt x="1136387" y="598098"/>
                </a:cubicBezTo>
                <a:lnTo>
                  <a:pt x="59810" y="598098"/>
                </a:lnTo>
                <a:cubicBezTo>
                  <a:pt x="43947" y="598098"/>
                  <a:pt x="28734" y="591797"/>
                  <a:pt x="17518" y="580580"/>
                </a:cubicBezTo>
                <a:cubicBezTo>
                  <a:pt x="6301" y="569363"/>
                  <a:pt x="0" y="554151"/>
                  <a:pt x="0" y="538288"/>
                </a:cubicBezTo>
                <a:lnTo>
                  <a:pt x="0" y="59810"/>
                </a:lnTo>
                <a:close/>
              </a:path>
            </a:pathLst>
          </a:custGeom>
          <a:solidFill>
            <a:srgbClr val="002060"/>
          </a:solidFill>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7678" tIns="27678" rIns="27678" bIns="27678" numCol="1" spcCol="1270" anchor="ctr" anchorCtr="0">
            <a:noAutofit/>
          </a:bodyPr>
          <a:lstStyle/>
          <a:p>
            <a:pPr algn="ctr" defTabSz="711200">
              <a:lnSpc>
                <a:spcPct val="90000"/>
              </a:lnSpc>
              <a:spcBef>
                <a:spcPct val="0"/>
              </a:spcBef>
              <a:spcAft>
                <a:spcPct val="35000"/>
              </a:spcAft>
            </a:pPr>
            <a:r>
              <a:rPr lang="en-US" sz="1050" b="1" dirty="0" smtClean="0"/>
              <a:t>Si HMIC  </a:t>
            </a:r>
            <a:endParaRPr lang="en-US" sz="1050" b="1" dirty="0"/>
          </a:p>
          <a:p>
            <a:pPr algn="ctr" defTabSz="711200">
              <a:lnSpc>
                <a:spcPct val="90000"/>
              </a:lnSpc>
              <a:spcBef>
                <a:spcPct val="0"/>
              </a:spcBef>
              <a:spcAft>
                <a:spcPct val="35000"/>
              </a:spcAft>
            </a:pPr>
            <a:r>
              <a:rPr lang="en-US" sz="1050" b="1" dirty="0"/>
              <a:t>(to </a:t>
            </a:r>
            <a:r>
              <a:rPr lang="en-US" sz="1050" b="1" dirty="0" smtClean="0"/>
              <a:t>26+ </a:t>
            </a:r>
            <a:r>
              <a:rPr lang="en-US" sz="1050" b="1" dirty="0"/>
              <a:t>GHz) </a:t>
            </a:r>
          </a:p>
        </p:txBody>
      </p:sp>
      <p:cxnSp>
        <p:nvCxnSpPr>
          <p:cNvPr id="103" name="Straight Arrow Connector 102"/>
          <p:cNvCxnSpPr/>
          <p:nvPr/>
        </p:nvCxnSpPr>
        <p:spPr>
          <a:xfrm flipH="1">
            <a:off x="5141466" y="5993373"/>
            <a:ext cx="293852" cy="6564"/>
          </a:xfrm>
          <a:prstGeom prst="straightConnector1">
            <a:avLst/>
          </a:prstGeom>
          <a:ln>
            <a:tailEnd type="arrow"/>
          </a:ln>
          <a:scene3d>
            <a:camera prst="orthographicFront">
              <a:rot lat="0" lon="10800000" rev="0"/>
            </a:camera>
            <a:lightRig rig="threePt" dir="t"/>
          </a:scene3d>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H="1">
            <a:off x="3313102" y="5993373"/>
            <a:ext cx="293852" cy="656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94851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noFill/>
        </p:spPr>
        <p:txBody>
          <a:bodyPr lIns="90488" tIns="44450" rIns="90488" bIns="44450" anchor="ctr"/>
          <a:lstStyle/>
          <a:p>
            <a:r>
              <a:rPr lang="en-US" altLang="en-US" dirty="0" smtClean="0"/>
              <a:t>Schottky Diodes</a:t>
            </a:r>
          </a:p>
        </p:txBody>
      </p:sp>
      <p:sp>
        <p:nvSpPr>
          <p:cNvPr id="9219" name="Rectangle 3"/>
          <p:cNvSpPr>
            <a:spLocks noGrp="1" noChangeArrowheads="1"/>
          </p:cNvSpPr>
          <p:nvPr>
            <p:ph type="body" idx="1"/>
          </p:nvPr>
        </p:nvSpPr>
        <p:spPr>
          <a:xfrm>
            <a:off x="304800" y="1600200"/>
            <a:ext cx="8382000" cy="4114800"/>
          </a:xfrm>
          <a:noFill/>
        </p:spPr>
        <p:txBody>
          <a:bodyPr lIns="90488" tIns="44450" rIns="90488" bIns="44450"/>
          <a:lstStyle/>
          <a:p>
            <a:pPr>
              <a:buSzPct val="90000"/>
            </a:pPr>
            <a:r>
              <a:rPr lang="en-US" altLang="en-US" sz="3200" dirty="0" smtClean="0"/>
              <a:t>Schottky diodes are RF/microwave rectifier or switching elements</a:t>
            </a:r>
          </a:p>
          <a:p>
            <a:pPr>
              <a:buSzPct val="90000"/>
            </a:pPr>
            <a:r>
              <a:rPr lang="en-US" altLang="en-US" sz="3200" dirty="0" smtClean="0"/>
              <a:t>Schottky diodes are formed by a metal-semiconductor junction</a:t>
            </a:r>
          </a:p>
          <a:p>
            <a:pPr>
              <a:buSzPct val="90000"/>
            </a:pPr>
            <a:r>
              <a:rPr lang="en-US" altLang="en-US" sz="3200" dirty="0" smtClean="0"/>
              <a:t>MACOM Schottky diodes are made from Si or GaAs</a:t>
            </a:r>
          </a:p>
        </p:txBody>
      </p:sp>
    </p:spTree>
    <p:extLst>
      <p:ext uri="{BB962C8B-B14F-4D97-AF65-F5344CB8AC3E}">
        <p14:creationId xmlns:p14="http://schemas.microsoft.com/office/powerpoint/2010/main" val="6958388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93286" y="1952235"/>
            <a:ext cx="2330513" cy="3029667"/>
          </a:xfrm>
        </p:spPr>
      </p:pic>
      <p:sp>
        <p:nvSpPr>
          <p:cNvPr id="3" name="Title 2"/>
          <p:cNvSpPr>
            <a:spLocks noGrp="1"/>
          </p:cNvSpPr>
          <p:nvPr>
            <p:ph type="title"/>
          </p:nvPr>
        </p:nvSpPr>
        <p:spPr>
          <a:xfrm>
            <a:off x="412750" y="310896"/>
            <a:ext cx="6400800" cy="374904"/>
          </a:xfrm>
        </p:spPr>
        <p:txBody>
          <a:bodyPr/>
          <a:lstStyle/>
          <a:p>
            <a:r>
              <a:rPr lang="en-US" dirty="0" smtClean="0"/>
              <a:t>Walter Schottky</a:t>
            </a:r>
            <a:endParaRPr lang="en-US" dirty="0"/>
          </a:p>
        </p:txBody>
      </p:sp>
      <p:sp>
        <p:nvSpPr>
          <p:cNvPr id="5" name="Text Placeholder 4"/>
          <p:cNvSpPr>
            <a:spLocks noGrp="1"/>
          </p:cNvSpPr>
          <p:nvPr>
            <p:ph type="body" idx="4294967295"/>
          </p:nvPr>
        </p:nvSpPr>
        <p:spPr>
          <a:xfrm>
            <a:off x="412750" y="1596946"/>
            <a:ext cx="5199773" cy="4061209"/>
          </a:xfrm>
        </p:spPr>
        <p:txBody>
          <a:bodyPr/>
          <a:lstStyle/>
          <a:p>
            <a:r>
              <a:rPr lang="en-US" dirty="0" smtClean="0"/>
              <a:t>Swiss/German Physicist, 1886 – 1976</a:t>
            </a:r>
          </a:p>
          <a:p>
            <a:r>
              <a:rPr lang="en-US" dirty="0" smtClean="0"/>
              <a:t>Studied thermionic emission and surface effects in metals and semiconductors</a:t>
            </a:r>
          </a:p>
          <a:p>
            <a:r>
              <a:rPr lang="en-US" dirty="0" smtClean="0"/>
              <a:t>Studied under Max Planck at the University of Humboldt, awarded PhD in physics 1912,</a:t>
            </a:r>
          </a:p>
          <a:p>
            <a:r>
              <a:rPr lang="en-US" dirty="0" smtClean="0"/>
              <a:t>Invented the screen-grid vacuum tube</a:t>
            </a:r>
          </a:p>
          <a:p>
            <a:r>
              <a:rPr lang="en-US" dirty="0" smtClean="0"/>
              <a:t>Taught at the University of Wurzburg and the University of Rostock</a:t>
            </a:r>
          </a:p>
          <a:p>
            <a:r>
              <a:rPr lang="en-US" dirty="0" smtClean="0"/>
              <a:t>Worked at Siemens Research Labs, 1914 – 1919 and 1927 - 1958</a:t>
            </a:r>
            <a:endParaRPr lang="en-US" dirty="0"/>
          </a:p>
        </p:txBody>
      </p:sp>
      <p:sp>
        <p:nvSpPr>
          <p:cNvPr id="6" name="TextBox 5"/>
          <p:cNvSpPr txBox="1"/>
          <p:nvPr/>
        </p:nvSpPr>
        <p:spPr bwMode="auto">
          <a:xfrm>
            <a:off x="315309" y="5658155"/>
            <a:ext cx="5977978" cy="640091"/>
          </a:xfrm>
          <a:prstGeom prst="rect">
            <a:avLst/>
          </a:prstGeom>
          <a:noFill/>
          <a:ln w="12700" cap="sq" algn="ctr">
            <a:noFill/>
            <a:miter lim="800000"/>
            <a:headEnd/>
            <a:tailEnd/>
          </a:ln>
          <a:effectLst/>
        </p:spPr>
        <p:txBody>
          <a:bodyPr wrap="square" rtlCol="0" anchor="ctr" anchorCtr="0">
            <a:noAutofit/>
          </a:bodyPr>
          <a:lstStyle/>
          <a:p>
            <a:pPr algn="l">
              <a:spcBef>
                <a:spcPts val="900"/>
              </a:spcBef>
            </a:pPr>
            <a:r>
              <a:rPr lang="en-US" sz="1400" dirty="0">
                <a:solidFill>
                  <a:schemeClr val="tx2"/>
                </a:solidFill>
                <a:latin typeface="+mn-lt"/>
              </a:rPr>
              <a:t>Source: https://en.wikipedia.org/wiki/Walter_H._Schottky</a:t>
            </a:r>
            <a:endParaRPr lang="en-US" sz="1400" dirty="0" smtClean="0">
              <a:solidFill>
                <a:schemeClr val="tx2"/>
              </a:solidFill>
              <a:latin typeface="+mn-lt"/>
            </a:endParaRPr>
          </a:p>
        </p:txBody>
      </p:sp>
    </p:spTree>
    <p:extLst>
      <p:ext uri="{BB962C8B-B14F-4D97-AF65-F5344CB8AC3E}">
        <p14:creationId xmlns:p14="http://schemas.microsoft.com/office/powerpoint/2010/main" val="982918482"/>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P-N Junction vs. Schottky Junction</a:t>
            </a:r>
            <a:endParaRPr lang="en-US" dirty="0"/>
          </a:p>
        </p:txBody>
      </p:sp>
      <p:pic>
        <p:nvPicPr>
          <p:cNvPr id="4" name="Picture 3"/>
          <p:cNvPicPr>
            <a:picLocks noChangeAspect="1"/>
          </p:cNvPicPr>
          <p:nvPr/>
        </p:nvPicPr>
        <p:blipFill>
          <a:blip r:embed="rId2"/>
          <a:stretch>
            <a:fillRect/>
          </a:stretch>
        </p:blipFill>
        <p:spPr>
          <a:xfrm>
            <a:off x="1068456" y="1222514"/>
            <a:ext cx="6742831" cy="4651305"/>
          </a:xfrm>
          <a:prstGeom prst="rect">
            <a:avLst/>
          </a:prstGeom>
        </p:spPr>
      </p:pic>
      <p:sp>
        <p:nvSpPr>
          <p:cNvPr id="5" name="TextBox 4"/>
          <p:cNvSpPr txBox="1"/>
          <p:nvPr/>
        </p:nvSpPr>
        <p:spPr bwMode="auto">
          <a:xfrm>
            <a:off x="1202634" y="6012965"/>
            <a:ext cx="7007088" cy="427590"/>
          </a:xfrm>
          <a:prstGeom prst="rect">
            <a:avLst/>
          </a:prstGeom>
          <a:noFill/>
          <a:ln w="12700" cap="sq" algn="ctr">
            <a:noFill/>
            <a:miter lim="800000"/>
            <a:headEnd/>
            <a:tailEnd/>
          </a:ln>
          <a:effectLst/>
        </p:spPr>
        <p:txBody>
          <a:bodyPr wrap="square" rtlCol="0" anchor="ctr" anchorCtr="0">
            <a:noAutofit/>
          </a:bodyPr>
          <a:lstStyle/>
          <a:p>
            <a:pPr>
              <a:spcBef>
                <a:spcPts val="900"/>
              </a:spcBef>
            </a:pPr>
            <a:r>
              <a:rPr lang="en-US" sz="1400" dirty="0" smtClean="0">
                <a:solidFill>
                  <a:schemeClr val="tx2"/>
                </a:solidFill>
                <a:latin typeface="+mn-lt"/>
              </a:rPr>
              <a:t>Source: Singh, J., </a:t>
            </a:r>
            <a:r>
              <a:rPr lang="en-US" sz="1400" dirty="0" smtClean="0">
                <a:latin typeface="+mn-lt"/>
              </a:rPr>
              <a:t>Semiconductor Devices: Basic Principles, Chapter 7, Wiley, 2001</a:t>
            </a:r>
            <a:endParaRPr lang="en-US" sz="1400" dirty="0" smtClean="0">
              <a:solidFill>
                <a:schemeClr val="tx2"/>
              </a:solidFill>
              <a:latin typeface="+mn-lt"/>
            </a:endParaRPr>
          </a:p>
        </p:txBody>
      </p:sp>
    </p:spTree>
    <p:extLst>
      <p:ext uri="{BB962C8B-B14F-4D97-AF65-F5344CB8AC3E}">
        <p14:creationId xmlns:p14="http://schemas.microsoft.com/office/powerpoint/2010/main" val="24642630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p:spPr>
        <p:txBody>
          <a:bodyPr lIns="90488" tIns="44450" rIns="90488" bIns="44450" anchor="ctr"/>
          <a:lstStyle/>
          <a:p>
            <a:r>
              <a:rPr lang="en-US" altLang="en-US" smtClean="0"/>
              <a:t>Schottky Diodes</a:t>
            </a:r>
          </a:p>
        </p:txBody>
      </p:sp>
      <p:sp>
        <p:nvSpPr>
          <p:cNvPr id="10243" name="Rectangle 3"/>
          <p:cNvSpPr>
            <a:spLocks noGrp="1" noChangeArrowheads="1"/>
          </p:cNvSpPr>
          <p:nvPr>
            <p:ph type="body" sz="half" idx="1"/>
          </p:nvPr>
        </p:nvSpPr>
        <p:spPr>
          <a:xfrm>
            <a:off x="165652" y="2006600"/>
            <a:ext cx="4146550" cy="4114800"/>
          </a:xfrm>
          <a:noFill/>
        </p:spPr>
        <p:txBody>
          <a:bodyPr lIns="90488" tIns="44450" rIns="90488" bIns="44450"/>
          <a:lstStyle/>
          <a:p>
            <a:pPr>
              <a:buSzPct val="90000"/>
            </a:pPr>
            <a:r>
              <a:rPr lang="en-US" altLang="en-US" sz="2800" dirty="0" smtClean="0"/>
              <a:t>Metal layer has excess electrons</a:t>
            </a:r>
          </a:p>
          <a:p>
            <a:pPr>
              <a:buSzPct val="90000"/>
            </a:pPr>
            <a:r>
              <a:rPr lang="en-US" altLang="en-US" sz="2800" dirty="0" smtClean="0"/>
              <a:t>Semiconductor layer</a:t>
            </a:r>
          </a:p>
          <a:p>
            <a:pPr lvl="1"/>
            <a:r>
              <a:rPr lang="en-US" altLang="en-US" sz="2800" dirty="0" smtClean="0"/>
              <a:t>N type layer is the cathode</a:t>
            </a:r>
          </a:p>
          <a:p>
            <a:pPr lvl="1"/>
            <a:r>
              <a:rPr lang="en-US" altLang="en-US" sz="2800" dirty="0" smtClean="0"/>
              <a:t>P type (Si only) is anode</a:t>
            </a:r>
          </a:p>
        </p:txBody>
      </p:sp>
      <p:sp>
        <p:nvSpPr>
          <p:cNvPr id="10249" name="Rectangle 6"/>
          <p:cNvSpPr>
            <a:spLocks noChangeArrowheads="1"/>
          </p:cNvSpPr>
          <p:nvPr/>
        </p:nvSpPr>
        <p:spPr bwMode="auto">
          <a:xfrm>
            <a:off x="4679950" y="2921000"/>
            <a:ext cx="2852738" cy="2286000"/>
          </a:xfrm>
          <a:prstGeom prst="rect">
            <a:avLst/>
          </a:prstGeom>
          <a:solidFill>
            <a:schemeClr val="tx2">
              <a:lumMod val="90000"/>
              <a:lumOff val="10000"/>
            </a:schemeClr>
          </a:solidFill>
          <a:ln w="12700">
            <a:solidFill>
              <a:schemeClr val="tx1"/>
            </a:solidFill>
            <a:miter lim="800000"/>
            <a:headEnd/>
            <a:tailEnd/>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10250" name="Line 7"/>
          <p:cNvSpPr>
            <a:spLocks noChangeShapeType="1"/>
          </p:cNvSpPr>
          <p:nvPr/>
        </p:nvSpPr>
        <p:spPr bwMode="auto">
          <a:xfrm>
            <a:off x="4681538" y="4064000"/>
            <a:ext cx="28511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246" name="Rectangle 8"/>
          <p:cNvSpPr>
            <a:spLocks noChangeArrowheads="1"/>
          </p:cNvSpPr>
          <p:nvPr/>
        </p:nvSpPr>
        <p:spPr bwMode="auto">
          <a:xfrm>
            <a:off x="7650163" y="3736975"/>
            <a:ext cx="119062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a:latin typeface="Times New Roman" panose="02020603050405020304" pitchFamily="18" charset="0"/>
              </a:rPr>
              <a:t>junction</a:t>
            </a:r>
          </a:p>
        </p:txBody>
      </p:sp>
      <p:sp>
        <p:nvSpPr>
          <p:cNvPr id="10248" name="Rectangle 10"/>
          <p:cNvSpPr>
            <a:spLocks noChangeArrowheads="1"/>
          </p:cNvSpPr>
          <p:nvPr/>
        </p:nvSpPr>
        <p:spPr bwMode="auto">
          <a:xfrm>
            <a:off x="4672820" y="4755180"/>
            <a:ext cx="2787623" cy="422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dirty="0">
                <a:solidFill>
                  <a:schemeClr val="bg1"/>
                </a:solidFill>
                <a:latin typeface="Times New Roman" panose="02020603050405020304" pitchFamily="18" charset="0"/>
              </a:rPr>
              <a:t>n or p semiconductor</a:t>
            </a:r>
          </a:p>
        </p:txBody>
      </p:sp>
      <p:sp>
        <p:nvSpPr>
          <p:cNvPr id="2" name="Rectangle 1"/>
          <p:cNvSpPr/>
          <p:nvPr/>
        </p:nvSpPr>
        <p:spPr bwMode="auto">
          <a:xfrm>
            <a:off x="4679950" y="2921000"/>
            <a:ext cx="2852738" cy="1143000"/>
          </a:xfrm>
          <a:prstGeom prst="rect">
            <a:avLst/>
          </a:prstGeom>
          <a:solidFill>
            <a:schemeClr val="bg1">
              <a:lumMod val="75000"/>
            </a:schemeClr>
          </a:solidFill>
          <a:ln w="12700" cap="sq" algn="ctr">
            <a:noFill/>
            <a:miter lim="800000"/>
            <a:headEnd/>
            <a:tailEnd/>
          </a:ln>
          <a:effectLst/>
        </p:spPr>
        <p:txBody>
          <a:bodyPr wrap="square" lIns="0" rIns="0" rtlCol="0" anchor="ctr"/>
          <a:lstStyle/>
          <a:p>
            <a:pPr algn="ctr">
              <a:spcBef>
                <a:spcPts val="600"/>
              </a:spcBef>
            </a:pPr>
            <a:endParaRPr lang="en-US" dirty="0" smtClean="0">
              <a:solidFill>
                <a:schemeClr val="bg1"/>
              </a:solidFill>
              <a:latin typeface="+mn-lt"/>
            </a:endParaRPr>
          </a:p>
        </p:txBody>
      </p:sp>
      <p:sp>
        <p:nvSpPr>
          <p:cNvPr id="10247" name="Rectangle 9"/>
          <p:cNvSpPr>
            <a:spLocks noChangeArrowheads="1"/>
          </p:cNvSpPr>
          <p:nvPr/>
        </p:nvSpPr>
        <p:spPr bwMode="auto">
          <a:xfrm>
            <a:off x="4682122" y="2945158"/>
            <a:ext cx="864019" cy="422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dirty="0">
                <a:solidFill>
                  <a:schemeClr val="bg1"/>
                </a:solidFill>
                <a:latin typeface="Times New Roman" panose="02020603050405020304" pitchFamily="18" charset="0"/>
              </a:rPr>
              <a:t>metal</a:t>
            </a:r>
          </a:p>
        </p:txBody>
      </p:sp>
    </p:spTree>
    <p:extLst>
      <p:ext uri="{BB962C8B-B14F-4D97-AF65-F5344CB8AC3E}">
        <p14:creationId xmlns:p14="http://schemas.microsoft.com/office/powerpoint/2010/main" val="19242653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noFill/>
        </p:spPr>
        <p:txBody>
          <a:bodyPr lIns="90488" tIns="44450" rIns="90488" bIns="44450" anchor="ctr"/>
          <a:lstStyle/>
          <a:p>
            <a:r>
              <a:rPr lang="en-US" altLang="en-US" dirty="0" smtClean="0"/>
              <a:t>Schottky Diodes </a:t>
            </a:r>
          </a:p>
        </p:txBody>
      </p:sp>
      <p:sp>
        <p:nvSpPr>
          <p:cNvPr id="11267" name="Rectangle 3"/>
          <p:cNvSpPr>
            <a:spLocks noGrp="1" noChangeArrowheads="1"/>
          </p:cNvSpPr>
          <p:nvPr>
            <p:ph type="body" sz="half" idx="1"/>
          </p:nvPr>
        </p:nvSpPr>
        <p:spPr>
          <a:xfrm>
            <a:off x="228600" y="1905000"/>
            <a:ext cx="4146550" cy="4114800"/>
          </a:xfrm>
          <a:noFill/>
        </p:spPr>
        <p:txBody>
          <a:bodyPr lIns="90488" tIns="44450" rIns="90488" bIns="44450"/>
          <a:lstStyle/>
          <a:p>
            <a:pPr marL="342900" indent="-342900">
              <a:buSzPct val="90000"/>
            </a:pPr>
            <a:r>
              <a:rPr lang="en-US" altLang="en-US" sz="2400" dirty="0" smtClean="0"/>
              <a:t>The energy required to move an electron in the semiconductor from the valence band to the conduction band is less than the energy required to move an electron out of the metal</a:t>
            </a:r>
          </a:p>
          <a:p>
            <a:pPr marL="342900" indent="-342900">
              <a:buSzPct val="90000"/>
            </a:pPr>
            <a:r>
              <a:rPr lang="en-US" altLang="en-US" sz="2400" dirty="0" smtClean="0"/>
              <a:t>Rectifying junction is formed</a:t>
            </a:r>
          </a:p>
          <a:p>
            <a:pPr marL="342900" indent="-342900">
              <a:buSzPct val="90000"/>
            </a:pPr>
            <a:endParaRPr lang="en-US" altLang="en-US" sz="2400" dirty="0" smtClean="0"/>
          </a:p>
        </p:txBody>
      </p:sp>
      <p:grpSp>
        <p:nvGrpSpPr>
          <p:cNvPr id="11268" name="Group 4"/>
          <p:cNvGrpSpPr>
            <a:grpSpLocks/>
          </p:cNvGrpSpPr>
          <p:nvPr/>
        </p:nvGrpSpPr>
        <p:grpSpPr bwMode="auto">
          <a:xfrm>
            <a:off x="4495800" y="2514600"/>
            <a:ext cx="4206875" cy="1978025"/>
            <a:chOff x="2832" y="1632"/>
            <a:chExt cx="2650" cy="1246"/>
          </a:xfrm>
        </p:grpSpPr>
        <p:sp>
          <p:nvSpPr>
            <p:cNvPr id="11271" name="Line 5"/>
            <p:cNvSpPr>
              <a:spLocks noChangeShapeType="1"/>
            </p:cNvSpPr>
            <p:nvPr/>
          </p:nvSpPr>
          <p:spPr bwMode="auto">
            <a:xfrm>
              <a:off x="3236" y="1632"/>
              <a:ext cx="201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272" name="Line 6"/>
            <p:cNvSpPr>
              <a:spLocks noChangeShapeType="1"/>
            </p:cNvSpPr>
            <p:nvPr/>
          </p:nvSpPr>
          <p:spPr bwMode="auto">
            <a:xfrm>
              <a:off x="4157" y="1748"/>
              <a:ext cx="0" cy="979"/>
            </a:xfrm>
            <a:prstGeom prst="line">
              <a:avLst/>
            </a:prstGeom>
            <a:noFill/>
            <a:ln w="12700">
              <a:solidFill>
                <a:srgbClr val="000000"/>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273" name="Line 7"/>
            <p:cNvSpPr>
              <a:spLocks noChangeShapeType="1"/>
            </p:cNvSpPr>
            <p:nvPr/>
          </p:nvSpPr>
          <p:spPr bwMode="auto">
            <a:xfrm flipH="1">
              <a:off x="4158" y="2266"/>
              <a:ext cx="989"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274" name="Line 8"/>
            <p:cNvSpPr>
              <a:spLocks noChangeShapeType="1"/>
            </p:cNvSpPr>
            <p:nvPr/>
          </p:nvSpPr>
          <p:spPr bwMode="auto">
            <a:xfrm flipH="1">
              <a:off x="4503" y="2093"/>
              <a:ext cx="629"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275" name="Line 9"/>
            <p:cNvSpPr>
              <a:spLocks noChangeShapeType="1"/>
            </p:cNvSpPr>
            <p:nvPr/>
          </p:nvSpPr>
          <p:spPr bwMode="auto">
            <a:xfrm flipH="1">
              <a:off x="4518" y="2611"/>
              <a:ext cx="629" cy="1"/>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276" name="Arc 10"/>
            <p:cNvSpPr>
              <a:spLocks/>
            </p:cNvSpPr>
            <p:nvPr/>
          </p:nvSpPr>
          <p:spPr bwMode="auto">
            <a:xfrm>
              <a:off x="4158" y="2496"/>
              <a:ext cx="360" cy="116"/>
            </a:xfrm>
            <a:custGeom>
              <a:avLst/>
              <a:gdLst>
                <a:gd name="T0" fmla="*/ 359 w 21600"/>
                <a:gd name="T1" fmla="*/ 116 h 21600"/>
                <a:gd name="T2" fmla="*/ 0 w 21600"/>
                <a:gd name="T3" fmla="*/ 0 h 21600"/>
                <a:gd name="T4" fmla="*/ 36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539" y="21599"/>
                  </a:moveTo>
                  <a:cubicBezTo>
                    <a:pt x="9633" y="21566"/>
                    <a:pt x="0" y="11905"/>
                    <a:pt x="0" y="0"/>
                  </a:cubicBezTo>
                </a:path>
                <a:path w="21600" h="21600" stroke="0" extrusionOk="0">
                  <a:moveTo>
                    <a:pt x="21539" y="21599"/>
                  </a:moveTo>
                  <a:cubicBezTo>
                    <a:pt x="9633" y="21566"/>
                    <a:pt x="0" y="11905"/>
                    <a:pt x="0" y="0"/>
                  </a:cubicBezTo>
                  <a:lnTo>
                    <a:pt x="21600" y="0"/>
                  </a:lnTo>
                  <a:close/>
                </a:path>
              </a:pathLst>
            </a:custGeom>
            <a:noFill/>
            <a:ln w="254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11277" name="Arc 11"/>
            <p:cNvSpPr>
              <a:spLocks/>
            </p:cNvSpPr>
            <p:nvPr/>
          </p:nvSpPr>
          <p:spPr bwMode="auto">
            <a:xfrm>
              <a:off x="4158" y="1978"/>
              <a:ext cx="360" cy="115"/>
            </a:xfrm>
            <a:custGeom>
              <a:avLst/>
              <a:gdLst>
                <a:gd name="T0" fmla="*/ 359 w 21600"/>
                <a:gd name="T1" fmla="*/ 115 h 21600"/>
                <a:gd name="T2" fmla="*/ 0 w 21600"/>
                <a:gd name="T3" fmla="*/ 0 h 21600"/>
                <a:gd name="T4" fmla="*/ 36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539" y="21599"/>
                  </a:moveTo>
                  <a:cubicBezTo>
                    <a:pt x="9633" y="21566"/>
                    <a:pt x="0" y="11905"/>
                    <a:pt x="0" y="0"/>
                  </a:cubicBezTo>
                </a:path>
                <a:path w="21600" h="21600" stroke="0" extrusionOk="0">
                  <a:moveTo>
                    <a:pt x="21539" y="21599"/>
                  </a:moveTo>
                  <a:cubicBezTo>
                    <a:pt x="9633" y="21566"/>
                    <a:pt x="0" y="11905"/>
                    <a:pt x="0" y="0"/>
                  </a:cubicBezTo>
                  <a:lnTo>
                    <a:pt x="21600" y="0"/>
                  </a:lnTo>
                  <a:close/>
                </a:path>
              </a:pathLst>
            </a:custGeom>
            <a:noFill/>
            <a:ln w="254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11278" name="Line 12"/>
            <p:cNvSpPr>
              <a:spLocks noChangeShapeType="1"/>
            </p:cNvSpPr>
            <p:nvPr/>
          </p:nvSpPr>
          <p:spPr bwMode="auto">
            <a:xfrm>
              <a:off x="4215" y="1978"/>
              <a:ext cx="359" cy="0"/>
            </a:xfrm>
            <a:prstGeom prst="line">
              <a:avLst/>
            </a:prstGeom>
            <a:noFill/>
            <a:ln w="12700">
              <a:solidFill>
                <a:srgbClr val="000000"/>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279" name="Line 13"/>
            <p:cNvSpPr>
              <a:spLocks noChangeShapeType="1"/>
            </p:cNvSpPr>
            <p:nvPr/>
          </p:nvSpPr>
          <p:spPr bwMode="auto">
            <a:xfrm flipV="1">
              <a:off x="4330" y="1747"/>
              <a:ext cx="0" cy="230"/>
            </a:xfrm>
            <a:prstGeom prst="line">
              <a:avLst/>
            </a:prstGeom>
            <a:noFill/>
            <a:ln w="12700">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80" name="Line 14"/>
            <p:cNvSpPr>
              <a:spLocks noChangeShapeType="1"/>
            </p:cNvSpPr>
            <p:nvPr/>
          </p:nvSpPr>
          <p:spPr bwMode="auto">
            <a:xfrm flipV="1">
              <a:off x="4790" y="1747"/>
              <a:ext cx="0" cy="518"/>
            </a:xfrm>
            <a:prstGeom prst="line">
              <a:avLst/>
            </a:prstGeom>
            <a:noFill/>
            <a:ln w="12700">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81" name="Rectangle 15"/>
            <p:cNvSpPr>
              <a:spLocks noChangeArrowheads="1"/>
            </p:cNvSpPr>
            <p:nvPr/>
          </p:nvSpPr>
          <p:spPr bwMode="auto">
            <a:xfrm>
              <a:off x="4816" y="1805"/>
              <a:ext cx="3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e</a:t>
              </a:r>
              <a:r>
                <a:rPr lang="en-US" altLang="en-US" sz="1000">
                  <a:latin typeface="Symbol" panose="05050102010706020507" pitchFamily="18" charset="2"/>
                </a:rPr>
                <a:t>y</a:t>
              </a:r>
              <a:r>
                <a:rPr lang="en-US" altLang="en-US" sz="1000" baseline="-25000">
                  <a:latin typeface="Times New Roman" panose="02020603050405020304" pitchFamily="18" charset="0"/>
                </a:rPr>
                <a:t>S</a:t>
              </a:r>
            </a:p>
          </p:txBody>
        </p:sp>
        <p:sp>
          <p:nvSpPr>
            <p:cNvPr id="11282" name="Rectangle 16"/>
            <p:cNvSpPr>
              <a:spLocks noChangeArrowheads="1"/>
            </p:cNvSpPr>
            <p:nvPr/>
          </p:nvSpPr>
          <p:spPr bwMode="auto">
            <a:xfrm>
              <a:off x="4358" y="1805"/>
              <a:ext cx="36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e</a:t>
              </a:r>
              <a:r>
                <a:rPr lang="en-US" altLang="en-US" sz="1000">
                  <a:latin typeface="Symbol" panose="05050102010706020507" pitchFamily="18" charset="2"/>
                </a:rPr>
                <a:t>c</a:t>
              </a:r>
            </a:p>
          </p:txBody>
        </p:sp>
        <p:sp>
          <p:nvSpPr>
            <p:cNvPr id="11283" name="Line 17"/>
            <p:cNvSpPr>
              <a:spLocks noChangeShapeType="1"/>
            </p:cNvSpPr>
            <p:nvPr/>
          </p:nvSpPr>
          <p:spPr bwMode="auto">
            <a:xfrm>
              <a:off x="4156" y="1633"/>
              <a:ext cx="1" cy="979"/>
            </a:xfrm>
            <a:prstGeom prst="line">
              <a:avLst/>
            </a:prstGeom>
            <a:noFill/>
            <a:ln w="12700">
              <a:solidFill>
                <a:srgbClr val="000000"/>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284" name="Line 18"/>
            <p:cNvSpPr>
              <a:spLocks noChangeShapeType="1"/>
            </p:cNvSpPr>
            <p:nvPr/>
          </p:nvSpPr>
          <p:spPr bwMode="auto">
            <a:xfrm flipH="1">
              <a:off x="3278" y="2266"/>
              <a:ext cx="879"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285" name="Line 19"/>
            <p:cNvSpPr>
              <a:spLocks noChangeShapeType="1"/>
            </p:cNvSpPr>
            <p:nvPr/>
          </p:nvSpPr>
          <p:spPr bwMode="auto">
            <a:xfrm flipV="1">
              <a:off x="3466" y="1633"/>
              <a:ext cx="0" cy="633"/>
            </a:xfrm>
            <a:prstGeom prst="line">
              <a:avLst/>
            </a:prstGeom>
            <a:noFill/>
            <a:ln w="12700">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86" name="Rectangle 20"/>
            <p:cNvSpPr>
              <a:spLocks noChangeArrowheads="1"/>
            </p:cNvSpPr>
            <p:nvPr/>
          </p:nvSpPr>
          <p:spPr bwMode="auto">
            <a:xfrm>
              <a:off x="3529" y="1805"/>
              <a:ext cx="50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e</a:t>
              </a:r>
              <a:r>
                <a:rPr lang="en-US" altLang="en-US" sz="1000">
                  <a:latin typeface="Symbol" panose="05050102010706020507" pitchFamily="18" charset="2"/>
                </a:rPr>
                <a:t>y</a:t>
              </a:r>
              <a:r>
                <a:rPr lang="en-US" altLang="en-US" sz="1000" baseline="-25000">
                  <a:latin typeface="Times New Roman" panose="02020603050405020304" pitchFamily="18" charset="0"/>
                </a:rPr>
                <a:t>M</a:t>
              </a:r>
            </a:p>
          </p:txBody>
        </p:sp>
        <p:sp>
          <p:nvSpPr>
            <p:cNvPr id="11287" name="Line 21"/>
            <p:cNvSpPr>
              <a:spLocks noChangeShapeType="1"/>
            </p:cNvSpPr>
            <p:nvPr/>
          </p:nvSpPr>
          <p:spPr bwMode="auto">
            <a:xfrm>
              <a:off x="3466" y="2266"/>
              <a:ext cx="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288" name="Line 22"/>
            <p:cNvSpPr>
              <a:spLocks noChangeShapeType="1"/>
            </p:cNvSpPr>
            <p:nvPr/>
          </p:nvSpPr>
          <p:spPr bwMode="auto">
            <a:xfrm>
              <a:off x="4446" y="2842"/>
              <a:ext cx="460" cy="0"/>
            </a:xfrm>
            <a:prstGeom prst="line">
              <a:avLst/>
            </a:prstGeom>
            <a:noFill/>
            <a:ln w="12700">
              <a:solidFill>
                <a:srgbClr val="0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1289" name="Line 23"/>
            <p:cNvSpPr>
              <a:spLocks noChangeShapeType="1"/>
            </p:cNvSpPr>
            <p:nvPr/>
          </p:nvSpPr>
          <p:spPr bwMode="auto">
            <a:xfrm>
              <a:off x="3524" y="2842"/>
              <a:ext cx="345" cy="0"/>
            </a:xfrm>
            <a:prstGeom prst="line">
              <a:avLst/>
            </a:prstGeom>
            <a:noFill/>
            <a:ln w="12700">
              <a:solidFill>
                <a:srgbClr val="000000"/>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290" name="Rectangle 24"/>
            <p:cNvSpPr>
              <a:spLocks noChangeArrowheads="1"/>
            </p:cNvSpPr>
            <p:nvPr/>
          </p:nvSpPr>
          <p:spPr bwMode="auto">
            <a:xfrm>
              <a:off x="5251" y="2554"/>
              <a:ext cx="23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W</a:t>
              </a:r>
              <a:r>
                <a:rPr lang="en-US" altLang="en-US" sz="1000" baseline="-25000">
                  <a:latin typeface="Times New Roman" panose="02020603050405020304" pitchFamily="18" charset="0"/>
                </a:rPr>
                <a:t>V</a:t>
              </a:r>
            </a:p>
          </p:txBody>
        </p:sp>
        <p:sp>
          <p:nvSpPr>
            <p:cNvPr id="11291" name="Line 25"/>
            <p:cNvSpPr>
              <a:spLocks noChangeShapeType="1"/>
            </p:cNvSpPr>
            <p:nvPr/>
          </p:nvSpPr>
          <p:spPr bwMode="auto">
            <a:xfrm>
              <a:off x="4215" y="1747"/>
              <a:ext cx="749" cy="1"/>
            </a:xfrm>
            <a:prstGeom prst="line">
              <a:avLst/>
            </a:prstGeom>
            <a:noFill/>
            <a:ln w="12700">
              <a:solidFill>
                <a:srgbClr val="000000"/>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292" name="Line 26"/>
            <p:cNvSpPr>
              <a:spLocks noChangeShapeType="1"/>
            </p:cNvSpPr>
            <p:nvPr/>
          </p:nvSpPr>
          <p:spPr bwMode="auto">
            <a:xfrm flipH="1">
              <a:off x="3870" y="1978"/>
              <a:ext cx="230" cy="0"/>
            </a:xfrm>
            <a:prstGeom prst="line">
              <a:avLst/>
            </a:prstGeom>
            <a:noFill/>
            <a:ln w="12700">
              <a:solidFill>
                <a:srgbClr val="000000"/>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293" name="Rectangle 27"/>
            <p:cNvSpPr>
              <a:spLocks noChangeArrowheads="1"/>
            </p:cNvSpPr>
            <p:nvPr/>
          </p:nvSpPr>
          <p:spPr bwMode="auto">
            <a:xfrm>
              <a:off x="3696" y="2035"/>
              <a:ext cx="23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imes New Roman" panose="02020603050405020304" pitchFamily="18" charset="0"/>
                </a:rPr>
                <a:t>e</a:t>
              </a:r>
              <a:r>
                <a:rPr lang="en-US" altLang="en-US" sz="1200">
                  <a:latin typeface="Symbol" panose="05050102010706020507" pitchFamily="18" charset="2"/>
                </a:rPr>
                <a:t>f</a:t>
              </a:r>
              <a:r>
                <a:rPr lang="en-US" altLang="en-US" sz="1200" baseline="-25000">
                  <a:latin typeface="Times New Roman" panose="02020603050405020304" pitchFamily="18" charset="0"/>
                </a:rPr>
                <a:t>B</a:t>
              </a:r>
            </a:p>
          </p:txBody>
        </p:sp>
        <p:sp>
          <p:nvSpPr>
            <p:cNvPr id="11294" name="Line 28"/>
            <p:cNvSpPr>
              <a:spLocks noChangeShapeType="1"/>
            </p:cNvSpPr>
            <p:nvPr/>
          </p:nvSpPr>
          <p:spPr bwMode="auto">
            <a:xfrm flipV="1">
              <a:off x="3984" y="1979"/>
              <a:ext cx="0" cy="287"/>
            </a:xfrm>
            <a:prstGeom prst="line">
              <a:avLst/>
            </a:prstGeom>
            <a:noFill/>
            <a:ln w="12700">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95" name="Line 29"/>
            <p:cNvSpPr>
              <a:spLocks noChangeShapeType="1"/>
            </p:cNvSpPr>
            <p:nvPr/>
          </p:nvSpPr>
          <p:spPr bwMode="auto">
            <a:xfrm>
              <a:off x="4445" y="2094"/>
              <a:ext cx="0" cy="518"/>
            </a:xfrm>
            <a:prstGeom prst="line">
              <a:avLst/>
            </a:prstGeom>
            <a:noFill/>
            <a:ln w="12700">
              <a:solidFill>
                <a:srgbClr val="000000"/>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296" name="Line 30"/>
            <p:cNvSpPr>
              <a:spLocks noChangeShapeType="1"/>
            </p:cNvSpPr>
            <p:nvPr/>
          </p:nvSpPr>
          <p:spPr bwMode="auto">
            <a:xfrm flipV="1">
              <a:off x="4502" y="1978"/>
              <a:ext cx="0" cy="114"/>
            </a:xfrm>
            <a:prstGeom prst="line">
              <a:avLst/>
            </a:prstGeom>
            <a:noFill/>
            <a:ln w="12700">
              <a:solidFill>
                <a:srgbClr val="000000"/>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97" name="Rectangle 31"/>
            <p:cNvSpPr>
              <a:spLocks noChangeArrowheads="1"/>
            </p:cNvSpPr>
            <p:nvPr/>
          </p:nvSpPr>
          <p:spPr bwMode="auto">
            <a:xfrm>
              <a:off x="4214" y="2323"/>
              <a:ext cx="17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W</a:t>
              </a:r>
              <a:r>
                <a:rPr lang="en-US" altLang="en-US" sz="1000" baseline="-25000">
                  <a:latin typeface="Times New Roman" panose="02020603050405020304" pitchFamily="18" charset="0"/>
                </a:rPr>
                <a:t>0</a:t>
              </a:r>
            </a:p>
          </p:txBody>
        </p:sp>
        <p:sp>
          <p:nvSpPr>
            <p:cNvPr id="11298" name="Line 32"/>
            <p:cNvSpPr>
              <a:spLocks noChangeShapeType="1"/>
            </p:cNvSpPr>
            <p:nvPr/>
          </p:nvSpPr>
          <p:spPr bwMode="auto">
            <a:xfrm flipH="1">
              <a:off x="4446" y="2381"/>
              <a:ext cx="172" cy="0"/>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99" name="Line 33"/>
            <p:cNvSpPr>
              <a:spLocks noChangeShapeType="1"/>
            </p:cNvSpPr>
            <p:nvPr/>
          </p:nvSpPr>
          <p:spPr bwMode="auto">
            <a:xfrm>
              <a:off x="3985" y="2381"/>
              <a:ext cx="172" cy="0"/>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300" name="Line 34"/>
            <p:cNvSpPr>
              <a:spLocks noChangeShapeType="1"/>
            </p:cNvSpPr>
            <p:nvPr/>
          </p:nvSpPr>
          <p:spPr bwMode="auto">
            <a:xfrm flipV="1">
              <a:off x="3178" y="1691"/>
              <a:ext cx="0" cy="921"/>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301" name="Rectangle 35"/>
            <p:cNvSpPr>
              <a:spLocks noChangeArrowheads="1"/>
            </p:cNvSpPr>
            <p:nvPr/>
          </p:nvSpPr>
          <p:spPr bwMode="auto">
            <a:xfrm>
              <a:off x="2832" y="2035"/>
              <a:ext cx="34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Electron</a:t>
              </a:r>
            </a:p>
            <a:p>
              <a:r>
                <a:rPr lang="en-US" altLang="en-US" sz="1000">
                  <a:latin typeface="Times New Roman" panose="02020603050405020304" pitchFamily="18" charset="0"/>
                </a:rPr>
                <a:t>Energy</a:t>
              </a:r>
            </a:p>
          </p:txBody>
        </p:sp>
        <p:sp>
          <p:nvSpPr>
            <p:cNvPr id="11302" name="Rectangle 36"/>
            <p:cNvSpPr>
              <a:spLocks noChangeArrowheads="1"/>
            </p:cNvSpPr>
            <p:nvPr/>
          </p:nvSpPr>
          <p:spPr bwMode="auto">
            <a:xfrm>
              <a:off x="3977" y="2762"/>
              <a:ext cx="40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1000">
                  <a:latin typeface="Times New Roman" panose="02020603050405020304" pitchFamily="18" charset="0"/>
                </a:rPr>
                <a:t>Junction</a:t>
              </a:r>
            </a:p>
          </p:txBody>
        </p:sp>
        <p:sp>
          <p:nvSpPr>
            <p:cNvPr id="11303" name="Rectangle 37"/>
            <p:cNvSpPr>
              <a:spLocks noChangeArrowheads="1"/>
            </p:cNvSpPr>
            <p:nvPr/>
          </p:nvSpPr>
          <p:spPr bwMode="auto">
            <a:xfrm>
              <a:off x="4560" y="1987"/>
              <a:ext cx="28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imes New Roman" panose="02020603050405020304" pitchFamily="18" charset="0"/>
                </a:rPr>
                <a:t>e</a:t>
              </a:r>
              <a:r>
                <a:rPr lang="en-US" altLang="en-US" sz="1200">
                  <a:latin typeface="Symbol" panose="05050102010706020507" pitchFamily="18" charset="2"/>
                </a:rPr>
                <a:t>f</a:t>
              </a:r>
              <a:r>
                <a:rPr lang="en-US" altLang="en-US" sz="1200" baseline="-25000">
                  <a:latin typeface="Times New Roman" panose="02020603050405020304" pitchFamily="18" charset="0"/>
                </a:rPr>
                <a:t>SM</a:t>
              </a:r>
            </a:p>
          </p:txBody>
        </p:sp>
      </p:grpSp>
      <p:sp>
        <p:nvSpPr>
          <p:cNvPr id="11269" name="Rectangle 38"/>
          <p:cNvSpPr>
            <a:spLocks noChangeArrowheads="1"/>
          </p:cNvSpPr>
          <p:nvPr/>
        </p:nvSpPr>
        <p:spPr bwMode="auto">
          <a:xfrm>
            <a:off x="5638800" y="49530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400">
                <a:solidFill>
                  <a:schemeClr val="tx2"/>
                </a:solidFill>
                <a:latin typeface="Arial" panose="020B0604020202020204" pitchFamily="34" charset="0"/>
              </a:rPr>
              <a:t>metal</a:t>
            </a:r>
          </a:p>
        </p:txBody>
      </p:sp>
      <p:sp>
        <p:nvSpPr>
          <p:cNvPr id="11270" name="Rectangle 39"/>
          <p:cNvSpPr>
            <a:spLocks noChangeArrowheads="1"/>
          </p:cNvSpPr>
          <p:nvPr/>
        </p:nvSpPr>
        <p:spPr bwMode="auto">
          <a:xfrm>
            <a:off x="6934200" y="4953000"/>
            <a:ext cx="1371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400">
                <a:solidFill>
                  <a:schemeClr val="tx2"/>
                </a:solidFill>
                <a:latin typeface="Arial" panose="020B0604020202020204" pitchFamily="34" charset="0"/>
              </a:rPr>
              <a:t>semiconductor</a:t>
            </a:r>
          </a:p>
        </p:txBody>
      </p:sp>
    </p:spTree>
    <p:extLst>
      <p:ext uri="{BB962C8B-B14F-4D97-AF65-F5344CB8AC3E}">
        <p14:creationId xmlns:p14="http://schemas.microsoft.com/office/powerpoint/2010/main" val="13910909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noFill/>
        </p:spPr>
        <p:txBody>
          <a:bodyPr lIns="92075" tIns="46038" rIns="92075" bIns="46038" anchor="ctr"/>
          <a:lstStyle/>
          <a:p>
            <a:r>
              <a:rPr lang="en-US" altLang="en-US" dirty="0" smtClean="0"/>
              <a:t>Schottky Diodes</a:t>
            </a:r>
          </a:p>
        </p:txBody>
      </p:sp>
      <p:sp>
        <p:nvSpPr>
          <p:cNvPr id="12291" name="Rectangle 3"/>
          <p:cNvSpPr>
            <a:spLocks noGrp="1" noChangeArrowheads="1"/>
          </p:cNvSpPr>
          <p:nvPr>
            <p:ph type="body" idx="1"/>
          </p:nvPr>
        </p:nvSpPr>
        <p:spPr>
          <a:noFill/>
        </p:spPr>
        <p:txBody>
          <a:bodyPr lIns="92075" tIns="46038" rIns="92075" bIns="46038"/>
          <a:lstStyle/>
          <a:p>
            <a:pPr>
              <a:buSzPct val="90000"/>
            </a:pPr>
            <a:r>
              <a:rPr lang="en-US" altLang="en-US" sz="2800" dirty="0" smtClean="0"/>
              <a:t>The amount of energy required to cause conduction is determined by the metal-semiconductor combination and is referred to as the barrier height</a:t>
            </a:r>
          </a:p>
          <a:p>
            <a:pPr>
              <a:buSzPct val="90000"/>
              <a:buFontTx/>
              <a:buNone/>
            </a:pPr>
            <a:r>
              <a:rPr lang="en-US" altLang="en-US" sz="2800" dirty="0" smtClean="0"/>
              <a:t> </a:t>
            </a:r>
          </a:p>
          <a:p>
            <a:pPr>
              <a:buSzPct val="90000"/>
            </a:pPr>
            <a:r>
              <a:rPr lang="en-US" altLang="en-US" sz="2800" dirty="0" smtClean="0"/>
              <a:t>The forward voltage for a given bias current is proportional to the barrier height</a:t>
            </a:r>
          </a:p>
          <a:p>
            <a:pPr>
              <a:buSzPct val="90000"/>
            </a:pPr>
            <a:endParaRPr lang="en-US" altLang="en-US" sz="2800" dirty="0" smtClean="0"/>
          </a:p>
        </p:txBody>
      </p:sp>
    </p:spTree>
    <p:extLst>
      <p:ext uri="{BB962C8B-B14F-4D97-AF65-F5344CB8AC3E}">
        <p14:creationId xmlns:p14="http://schemas.microsoft.com/office/powerpoint/2010/main" val="34501091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2"/>
          <p:cNvGraphicFramePr>
            <a:graphicFrameLocks/>
          </p:cNvGraphicFramePr>
          <p:nvPr>
            <p:extLst>
              <p:ext uri="{D42A27DB-BD31-4B8C-83A1-F6EECF244321}">
                <p14:modId xmlns:p14="http://schemas.microsoft.com/office/powerpoint/2010/main" val="828831105"/>
              </p:ext>
            </p:extLst>
          </p:nvPr>
        </p:nvGraphicFramePr>
        <p:xfrm>
          <a:off x="626165" y="1570383"/>
          <a:ext cx="7633252" cy="4840356"/>
        </p:xfrm>
        <a:graphic>
          <a:graphicData uri="http://schemas.openxmlformats.org/presentationml/2006/ole">
            <mc:AlternateContent xmlns:mc="http://schemas.openxmlformats.org/markup-compatibility/2006">
              <mc:Choice xmlns:v="urn:schemas-microsoft-com:vml" Requires="v">
                <p:oleObj spid="_x0000_s4111" name="Document" r:id="rId4" imgW="6210000" imgH="3949560" progId="Word.Document.8">
                  <p:embed/>
                </p:oleObj>
              </mc:Choice>
              <mc:Fallback>
                <p:oleObj name="Document" r:id="rId4" imgW="6210000" imgH="3949560" progId="Word.Document.8">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6165" y="1570383"/>
                        <a:ext cx="7633252" cy="4840356"/>
                      </a:xfrm>
                      <a:prstGeom prst="rect">
                        <a:avLst/>
                      </a:prstGeom>
                      <a:noFill/>
                      <a:ln>
                        <a:noFill/>
                      </a:ln>
                      <a:effectLst/>
                    </p:spPr>
                  </p:pic>
                </p:oleObj>
              </mc:Fallback>
            </mc:AlternateContent>
          </a:graphicData>
        </a:graphic>
      </p:graphicFrame>
      <p:sp>
        <p:nvSpPr>
          <p:cNvPr id="1027" name="Rectangle 3"/>
          <p:cNvSpPr>
            <a:spLocks noGrp="1" noChangeArrowheads="1"/>
          </p:cNvSpPr>
          <p:nvPr>
            <p:ph type="title"/>
          </p:nvPr>
        </p:nvSpPr>
        <p:spPr>
          <a:xfrm>
            <a:off x="304800" y="76200"/>
            <a:ext cx="6858000" cy="838200"/>
          </a:xfrm>
          <a:noFill/>
        </p:spPr>
        <p:txBody>
          <a:bodyPr lIns="92075" tIns="46038" rIns="92075" bIns="46038" anchor="ctr"/>
          <a:lstStyle/>
          <a:p>
            <a:r>
              <a:rPr lang="en-US" altLang="en-US" dirty="0" smtClean="0"/>
              <a:t>Metal-Semiconductor Barrier Heights</a:t>
            </a:r>
          </a:p>
        </p:txBody>
      </p:sp>
    </p:spTree>
    <p:extLst>
      <p:ext uri="{BB962C8B-B14F-4D97-AF65-F5344CB8AC3E}">
        <p14:creationId xmlns:p14="http://schemas.microsoft.com/office/powerpoint/2010/main" val="41805184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p:spPr>
        <p:txBody>
          <a:bodyPr lIns="90488" tIns="44450" rIns="90488" bIns="44450" anchor="ctr"/>
          <a:lstStyle/>
          <a:p>
            <a:r>
              <a:rPr lang="en-US" altLang="en-US" smtClean="0"/>
              <a:t>Schottky Diode Barrier Heights</a:t>
            </a:r>
          </a:p>
        </p:txBody>
      </p:sp>
      <p:sp>
        <p:nvSpPr>
          <p:cNvPr id="13315" name="Rectangle 3"/>
          <p:cNvSpPr>
            <a:spLocks noGrp="1" noChangeArrowheads="1"/>
          </p:cNvSpPr>
          <p:nvPr>
            <p:ph type="body" idx="1"/>
          </p:nvPr>
        </p:nvSpPr>
        <p:spPr>
          <a:xfrm>
            <a:off x="284703" y="1192404"/>
            <a:ext cx="4387780" cy="5148106"/>
          </a:xfrm>
          <a:noFill/>
        </p:spPr>
        <p:txBody>
          <a:bodyPr lIns="90488" tIns="44450" rIns="90488" bIns="44450"/>
          <a:lstStyle/>
          <a:p>
            <a:pPr>
              <a:buSzPct val="90000"/>
              <a:buFontTx/>
              <a:buNone/>
            </a:pPr>
            <a:r>
              <a:rPr lang="en-US" altLang="en-US" sz="2400" u="sng" dirty="0" smtClean="0"/>
              <a:t>Si Schottky Diodes</a:t>
            </a:r>
          </a:p>
          <a:p>
            <a:pPr>
              <a:buSzPct val="90000"/>
              <a:buFontTx/>
              <a:buNone/>
            </a:pPr>
            <a:r>
              <a:rPr lang="en-US" altLang="en-US" sz="1800" dirty="0" smtClean="0"/>
              <a:t>Four barrier heights available</a:t>
            </a:r>
          </a:p>
          <a:p>
            <a:pPr lvl="1"/>
            <a:r>
              <a:rPr lang="en-US" altLang="en-US" sz="2000" dirty="0" smtClean="0"/>
              <a:t>High barrier</a:t>
            </a:r>
          </a:p>
          <a:p>
            <a:pPr lvl="2"/>
            <a:r>
              <a:rPr lang="en-US" altLang="en-US" dirty="0" err="1" smtClean="0"/>
              <a:t>V</a:t>
            </a:r>
            <a:r>
              <a:rPr lang="en-US" altLang="en-US" baseline="-25000" dirty="0" err="1" smtClean="0"/>
              <a:t>f</a:t>
            </a:r>
            <a:r>
              <a:rPr lang="en-US" altLang="en-US" dirty="0" smtClean="0"/>
              <a:t> at I</a:t>
            </a:r>
            <a:r>
              <a:rPr lang="en-US" altLang="en-US" baseline="-25000" dirty="0" smtClean="0"/>
              <a:t>f</a:t>
            </a:r>
            <a:r>
              <a:rPr lang="en-US" altLang="en-US" dirty="0" smtClean="0"/>
              <a:t> = 1 mA ~ 0.6 V </a:t>
            </a:r>
          </a:p>
          <a:p>
            <a:pPr lvl="2"/>
            <a:r>
              <a:rPr lang="en-US" altLang="en-US" dirty="0" smtClean="0"/>
              <a:t>Pt - Si </a:t>
            </a:r>
          </a:p>
          <a:p>
            <a:pPr lvl="2"/>
            <a:r>
              <a:rPr lang="en-US" altLang="en-US" dirty="0" smtClean="0"/>
              <a:t>n-type substrate</a:t>
            </a:r>
          </a:p>
          <a:p>
            <a:pPr lvl="1"/>
            <a:r>
              <a:rPr lang="en-US" altLang="en-US" sz="2000" dirty="0" smtClean="0"/>
              <a:t>Medium barrier</a:t>
            </a:r>
            <a:r>
              <a:rPr lang="en-US" altLang="en-US" sz="1600" dirty="0" smtClean="0"/>
              <a:t> </a:t>
            </a:r>
          </a:p>
          <a:p>
            <a:pPr lvl="2"/>
            <a:r>
              <a:rPr lang="en-US" altLang="en-US" dirty="0" err="1" smtClean="0"/>
              <a:t>V</a:t>
            </a:r>
            <a:r>
              <a:rPr lang="en-US" altLang="en-US" baseline="-25000" dirty="0" err="1" smtClean="0"/>
              <a:t>f</a:t>
            </a:r>
            <a:r>
              <a:rPr lang="en-US" altLang="en-US" dirty="0" smtClean="0"/>
              <a:t> at I</a:t>
            </a:r>
            <a:r>
              <a:rPr lang="en-US" altLang="en-US" baseline="-25000" dirty="0" smtClean="0"/>
              <a:t>f</a:t>
            </a:r>
            <a:r>
              <a:rPr lang="en-US" altLang="en-US" dirty="0" smtClean="0"/>
              <a:t> = 1 mA ~ 0.33 V </a:t>
            </a:r>
          </a:p>
          <a:p>
            <a:pPr lvl="2"/>
            <a:r>
              <a:rPr lang="en-US" altLang="en-US" dirty="0" err="1" smtClean="0"/>
              <a:t>NiC</a:t>
            </a:r>
            <a:r>
              <a:rPr lang="en-US" altLang="en-US" dirty="0" smtClean="0"/>
              <a:t> </a:t>
            </a:r>
          </a:p>
          <a:p>
            <a:pPr lvl="2"/>
            <a:r>
              <a:rPr lang="en-US" altLang="en-US" dirty="0"/>
              <a:t>n-type substrate</a:t>
            </a:r>
          </a:p>
          <a:p>
            <a:pPr lvl="1"/>
            <a:r>
              <a:rPr lang="en-US" altLang="en-US" sz="2000" dirty="0" smtClean="0"/>
              <a:t>Low barrier</a:t>
            </a:r>
            <a:r>
              <a:rPr lang="en-US" altLang="en-US" sz="1600" dirty="0" smtClean="0"/>
              <a:t> </a:t>
            </a:r>
          </a:p>
          <a:p>
            <a:pPr lvl="2"/>
            <a:r>
              <a:rPr lang="en-US" altLang="en-US" dirty="0" err="1" smtClean="0"/>
              <a:t>V</a:t>
            </a:r>
            <a:r>
              <a:rPr lang="en-US" altLang="en-US" baseline="-25000" dirty="0" err="1" smtClean="0"/>
              <a:t>f</a:t>
            </a:r>
            <a:r>
              <a:rPr lang="en-US" altLang="en-US" dirty="0" smtClean="0"/>
              <a:t> at I</a:t>
            </a:r>
            <a:r>
              <a:rPr lang="en-US" altLang="en-US" baseline="-25000" dirty="0" smtClean="0"/>
              <a:t>f</a:t>
            </a:r>
            <a:r>
              <a:rPr lang="en-US" altLang="en-US" dirty="0" smtClean="0"/>
              <a:t> = 1 mA ~ 0.25 V </a:t>
            </a:r>
          </a:p>
          <a:p>
            <a:pPr lvl="2"/>
            <a:r>
              <a:rPr lang="en-US" altLang="en-US" dirty="0" smtClean="0"/>
              <a:t>Ti </a:t>
            </a:r>
          </a:p>
          <a:p>
            <a:pPr lvl="2"/>
            <a:r>
              <a:rPr lang="en-US" altLang="en-US" dirty="0"/>
              <a:t>n-type </a:t>
            </a:r>
            <a:r>
              <a:rPr lang="en-US" altLang="en-US" dirty="0" smtClean="0"/>
              <a:t>substrate</a:t>
            </a:r>
            <a:endParaRPr lang="en-US" altLang="en-US" dirty="0"/>
          </a:p>
        </p:txBody>
      </p:sp>
      <p:sp>
        <p:nvSpPr>
          <p:cNvPr id="13316" name="Rectangle 4"/>
          <p:cNvSpPr>
            <a:spLocks noChangeArrowheads="1"/>
          </p:cNvSpPr>
          <p:nvPr/>
        </p:nvSpPr>
        <p:spPr bwMode="auto">
          <a:xfrm>
            <a:off x="4672483" y="1709057"/>
            <a:ext cx="3886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169863" indent="-169863">
              <a:defRPr sz="2400">
                <a:solidFill>
                  <a:schemeClr val="tx1"/>
                </a:solidFill>
                <a:latin typeface="Times" panose="02020603050405020304" pitchFamily="18" charset="0"/>
              </a:defRPr>
            </a:lvl1pPr>
            <a:lvl2pPr marL="519113" indent="-2349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627063" lvl="1" indent="-342900" algn="l">
              <a:buFont typeface="Arial" panose="020B0604020202020204" pitchFamily="34" charset="0"/>
              <a:buChar char="•"/>
            </a:pPr>
            <a:r>
              <a:rPr lang="en-US" altLang="en-US" sz="2000" dirty="0" smtClean="0">
                <a:latin typeface="+mn-lt"/>
              </a:rPr>
              <a:t>Si “Zero </a:t>
            </a:r>
            <a:r>
              <a:rPr lang="en-US" altLang="en-US" sz="2000" dirty="0">
                <a:latin typeface="+mn-lt"/>
              </a:rPr>
              <a:t>Bias Detector”</a:t>
            </a:r>
            <a:r>
              <a:rPr lang="en-US" altLang="en-US" sz="1200" dirty="0">
                <a:latin typeface="+mn-lt"/>
              </a:rPr>
              <a:t> </a:t>
            </a:r>
          </a:p>
          <a:p>
            <a:pPr marL="1200150" lvl="2" indent="-285750" algn="l">
              <a:buFont typeface="Arial" panose="020B0604020202020204" pitchFamily="34" charset="0"/>
              <a:buChar char="•"/>
            </a:pPr>
            <a:r>
              <a:rPr lang="en-US" altLang="en-US" sz="1600" dirty="0" err="1">
                <a:latin typeface="+mn-lt"/>
              </a:rPr>
              <a:t>V</a:t>
            </a:r>
            <a:r>
              <a:rPr lang="en-US" altLang="en-US" sz="1600" baseline="-25000" dirty="0" err="1">
                <a:latin typeface="+mn-lt"/>
              </a:rPr>
              <a:t>f</a:t>
            </a:r>
            <a:r>
              <a:rPr lang="en-US" altLang="en-US" sz="1600" dirty="0">
                <a:latin typeface="+mn-lt"/>
              </a:rPr>
              <a:t> at I</a:t>
            </a:r>
            <a:r>
              <a:rPr lang="en-US" altLang="en-US" sz="1600" baseline="-25000" dirty="0">
                <a:latin typeface="+mn-lt"/>
              </a:rPr>
              <a:t>f</a:t>
            </a:r>
            <a:r>
              <a:rPr lang="en-US" altLang="en-US" sz="1600" dirty="0">
                <a:latin typeface="+mn-lt"/>
              </a:rPr>
              <a:t> = 1 mA ~ 0.2 V </a:t>
            </a:r>
          </a:p>
          <a:p>
            <a:pPr marL="1200150" lvl="2" indent="-285750" algn="l">
              <a:buFont typeface="Arial" panose="020B0604020202020204" pitchFamily="34" charset="0"/>
              <a:buChar char="•"/>
            </a:pPr>
            <a:r>
              <a:rPr lang="en-US" altLang="en-US" sz="1600" dirty="0" err="1">
                <a:latin typeface="+mn-lt"/>
              </a:rPr>
              <a:t>Pd</a:t>
            </a:r>
            <a:r>
              <a:rPr lang="en-US" altLang="en-US" sz="1600" dirty="0">
                <a:latin typeface="+mn-lt"/>
              </a:rPr>
              <a:t>-Si,</a:t>
            </a:r>
          </a:p>
          <a:p>
            <a:pPr marL="1200150" lvl="2" indent="-285750" algn="l">
              <a:buFont typeface="Arial" panose="020B0604020202020204" pitchFamily="34" charset="0"/>
              <a:buChar char="•"/>
            </a:pPr>
            <a:r>
              <a:rPr lang="en-US" altLang="en-US" sz="1600" dirty="0">
                <a:latin typeface="+mn-lt"/>
              </a:rPr>
              <a:t>p-type substrate</a:t>
            </a:r>
          </a:p>
          <a:p>
            <a:pPr>
              <a:spcBef>
                <a:spcPct val="20000"/>
              </a:spcBef>
              <a:buClr>
                <a:schemeClr val="tx1"/>
              </a:buClr>
              <a:buSzPct val="90000"/>
            </a:pPr>
            <a:endParaRPr lang="en-US" altLang="en-US" u="sng" dirty="0" smtClean="0">
              <a:latin typeface="Arial Narrow" panose="020B0606020202030204" pitchFamily="34" charset="0"/>
            </a:endParaRPr>
          </a:p>
          <a:p>
            <a:pPr>
              <a:spcBef>
                <a:spcPct val="20000"/>
              </a:spcBef>
              <a:buClr>
                <a:schemeClr val="tx1"/>
              </a:buClr>
              <a:buSzPct val="90000"/>
            </a:pPr>
            <a:endParaRPr lang="en-US" altLang="en-US" u="sng" dirty="0" smtClean="0">
              <a:latin typeface="Arial Narrow" panose="020B0606020202030204" pitchFamily="34" charset="0"/>
            </a:endParaRPr>
          </a:p>
          <a:p>
            <a:pPr algn="l">
              <a:lnSpc>
                <a:spcPct val="150000"/>
              </a:lnSpc>
              <a:spcBef>
                <a:spcPct val="20000"/>
              </a:spcBef>
              <a:buClr>
                <a:schemeClr val="tx1"/>
              </a:buClr>
              <a:buSzPct val="90000"/>
            </a:pPr>
            <a:r>
              <a:rPr lang="en-US" altLang="en-US" u="sng" dirty="0" smtClean="0">
                <a:latin typeface="Arial Narrow" panose="020B0606020202030204" pitchFamily="34" charset="0"/>
              </a:rPr>
              <a:t>GaAs </a:t>
            </a:r>
            <a:r>
              <a:rPr lang="en-US" altLang="en-US" u="sng" dirty="0">
                <a:latin typeface="Arial Narrow" panose="020B0606020202030204" pitchFamily="34" charset="0"/>
              </a:rPr>
              <a:t>Schottky Diodes</a:t>
            </a:r>
          </a:p>
          <a:p>
            <a:pPr marL="0" indent="0" algn="l">
              <a:lnSpc>
                <a:spcPct val="150000"/>
              </a:lnSpc>
              <a:spcBef>
                <a:spcPct val="20000"/>
              </a:spcBef>
              <a:buClr>
                <a:schemeClr val="tx1"/>
              </a:buClr>
              <a:buSzPct val="90000"/>
            </a:pPr>
            <a:r>
              <a:rPr lang="en-US" altLang="en-US" sz="2000" dirty="0">
                <a:latin typeface="Arial Narrow" panose="020B0606020202030204" pitchFamily="34" charset="0"/>
              </a:rPr>
              <a:t>Only one barrier height available </a:t>
            </a:r>
          </a:p>
          <a:p>
            <a:pPr lvl="1" algn="l">
              <a:lnSpc>
                <a:spcPct val="150000"/>
              </a:lnSpc>
              <a:spcBef>
                <a:spcPct val="20000"/>
              </a:spcBef>
              <a:buClr>
                <a:schemeClr val="tx1"/>
              </a:buClr>
              <a:buFontTx/>
              <a:buChar char="•"/>
            </a:pPr>
            <a:r>
              <a:rPr lang="en-US" altLang="en-US" sz="1800" dirty="0" err="1">
                <a:latin typeface="Arial Narrow" panose="020B0606020202030204" pitchFamily="34" charset="0"/>
              </a:rPr>
              <a:t>V</a:t>
            </a:r>
            <a:r>
              <a:rPr lang="en-US" altLang="en-US" sz="1800" baseline="-25000" dirty="0" err="1">
                <a:latin typeface="Arial Narrow" panose="020B0606020202030204" pitchFamily="34" charset="0"/>
              </a:rPr>
              <a:t>f</a:t>
            </a:r>
            <a:r>
              <a:rPr lang="en-US" altLang="en-US" sz="1800" dirty="0">
                <a:latin typeface="Arial Narrow" panose="020B0606020202030204" pitchFamily="34" charset="0"/>
              </a:rPr>
              <a:t> at I</a:t>
            </a:r>
            <a:r>
              <a:rPr lang="en-US" altLang="en-US" sz="1800" baseline="-25000" dirty="0">
                <a:latin typeface="Arial Narrow" panose="020B0606020202030204" pitchFamily="34" charset="0"/>
              </a:rPr>
              <a:t>f</a:t>
            </a:r>
            <a:r>
              <a:rPr lang="en-US" altLang="en-US" sz="1800" dirty="0">
                <a:latin typeface="Arial Narrow" panose="020B0606020202030204" pitchFamily="34" charset="0"/>
              </a:rPr>
              <a:t> = 1 mA ~ 0.7 V, Ti, n</a:t>
            </a:r>
          </a:p>
        </p:txBody>
      </p:sp>
    </p:spTree>
    <p:extLst>
      <p:ext uri="{BB962C8B-B14F-4D97-AF65-F5344CB8AC3E}">
        <p14:creationId xmlns:p14="http://schemas.microsoft.com/office/powerpoint/2010/main" val="5101967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noFill/>
        </p:spPr>
        <p:txBody>
          <a:bodyPr lIns="92075" tIns="46038" rIns="92075" bIns="46038" anchor="ctr"/>
          <a:lstStyle/>
          <a:p>
            <a:r>
              <a:rPr lang="en-US" altLang="en-US" sz="2600" dirty="0" smtClean="0"/>
              <a:t>Schottky Diode I-V Characteristic</a:t>
            </a:r>
          </a:p>
        </p:txBody>
      </p:sp>
      <p:graphicFrame>
        <p:nvGraphicFramePr>
          <p:cNvPr id="2050" name="Object 3"/>
          <p:cNvGraphicFramePr>
            <a:graphicFrameLocks/>
          </p:cNvGraphicFramePr>
          <p:nvPr/>
        </p:nvGraphicFramePr>
        <p:xfrm>
          <a:off x="685800" y="1600200"/>
          <a:ext cx="7848600" cy="4419600"/>
        </p:xfrm>
        <a:graphic>
          <a:graphicData uri="http://schemas.openxmlformats.org/presentationml/2006/ole">
            <mc:AlternateContent xmlns:mc="http://schemas.openxmlformats.org/markup-compatibility/2006">
              <mc:Choice xmlns:v="urn:schemas-microsoft-com:vml" Requires="v">
                <p:oleObj spid="_x0000_s5135" name="Document" r:id="rId4" imgW="6489360" imgH="3228840" progId="Word.Document.8">
                  <p:embed/>
                </p:oleObj>
              </mc:Choice>
              <mc:Fallback>
                <p:oleObj name="Document" r:id="rId4" imgW="6489360" imgH="3228840" progId="Word.Document.8">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1600200"/>
                        <a:ext cx="78486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2" name="Rectangle 4"/>
          <p:cNvSpPr>
            <a:spLocks noChangeArrowheads="1"/>
          </p:cNvSpPr>
          <p:nvPr/>
        </p:nvSpPr>
        <p:spPr bwMode="auto">
          <a:xfrm>
            <a:off x="1524000" y="1981200"/>
            <a:ext cx="2819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2000" b="1" u="sng">
                <a:solidFill>
                  <a:schemeClr val="tx2"/>
                </a:solidFill>
                <a:latin typeface="Times New Roman" panose="02020603050405020304" pitchFamily="18" charset="0"/>
              </a:rPr>
              <a:t>For Forward Bias:</a:t>
            </a:r>
          </a:p>
        </p:txBody>
      </p:sp>
    </p:spTree>
    <p:extLst>
      <p:ext uri="{BB962C8B-B14F-4D97-AF65-F5344CB8AC3E}">
        <p14:creationId xmlns:p14="http://schemas.microsoft.com/office/powerpoint/2010/main" val="20119165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noFill/>
        </p:spPr>
        <p:txBody>
          <a:bodyPr lIns="92075" tIns="46038" rIns="92075" bIns="46038" anchor="ctr"/>
          <a:lstStyle/>
          <a:p>
            <a:r>
              <a:rPr lang="en-US" altLang="en-US" dirty="0" smtClean="0"/>
              <a:t>Typical Si Schottky I-V Curves</a:t>
            </a:r>
          </a:p>
        </p:txBody>
      </p:sp>
      <p:sp>
        <p:nvSpPr>
          <p:cNvPr id="3076" name="Rectangle 3"/>
          <p:cNvSpPr>
            <a:spLocks noGrp="1" noChangeArrowheads="1"/>
          </p:cNvSpPr>
          <p:nvPr>
            <p:ph type="body" idx="1"/>
          </p:nvPr>
        </p:nvSpPr>
        <p:spPr>
          <a:xfrm>
            <a:off x="304800" y="1600200"/>
            <a:ext cx="4146550" cy="4038600"/>
          </a:xfrm>
          <a:noFill/>
        </p:spPr>
        <p:txBody>
          <a:bodyPr lIns="92075" tIns="46038" rIns="92075" bIns="46038"/>
          <a:lstStyle/>
          <a:p>
            <a:pPr>
              <a:buSzPct val="90000"/>
            </a:pPr>
            <a:r>
              <a:rPr lang="en-US" altLang="en-US" sz="2800" dirty="0" smtClean="0"/>
              <a:t>Typical forward bias curves are shown for </a:t>
            </a:r>
          </a:p>
          <a:p>
            <a:pPr lvl="1"/>
            <a:r>
              <a:rPr lang="en-US" altLang="en-US" sz="2400" dirty="0" smtClean="0"/>
              <a:t>Si ZBD</a:t>
            </a:r>
          </a:p>
          <a:p>
            <a:pPr lvl="1"/>
            <a:r>
              <a:rPr lang="en-US" altLang="en-US" sz="2400" dirty="0" smtClean="0"/>
              <a:t>Si low barrier</a:t>
            </a:r>
          </a:p>
          <a:p>
            <a:pPr lvl="1"/>
            <a:r>
              <a:rPr lang="en-US" altLang="en-US" sz="2400" dirty="0" smtClean="0"/>
              <a:t>Si medium barrier</a:t>
            </a:r>
          </a:p>
          <a:p>
            <a:pPr lvl="1"/>
            <a:r>
              <a:rPr lang="en-US" altLang="en-US" sz="2400" dirty="0" smtClean="0"/>
              <a:t>Si high barrier</a:t>
            </a:r>
          </a:p>
        </p:txBody>
      </p:sp>
      <p:graphicFrame>
        <p:nvGraphicFramePr>
          <p:cNvPr id="3074" name="Object 4"/>
          <p:cNvGraphicFramePr>
            <a:graphicFrameLocks/>
          </p:cNvGraphicFramePr>
          <p:nvPr>
            <p:extLst>
              <p:ext uri="{D42A27DB-BD31-4B8C-83A1-F6EECF244321}">
                <p14:modId xmlns:p14="http://schemas.microsoft.com/office/powerpoint/2010/main" val="50038175"/>
              </p:ext>
            </p:extLst>
          </p:nvPr>
        </p:nvGraphicFramePr>
        <p:xfrm>
          <a:off x="3916017" y="1948070"/>
          <a:ext cx="4804604" cy="3925956"/>
        </p:xfrm>
        <a:graphic>
          <a:graphicData uri="http://schemas.openxmlformats.org/presentationml/2006/ole">
            <mc:AlternateContent xmlns:mc="http://schemas.openxmlformats.org/markup-compatibility/2006">
              <mc:Choice xmlns:v="urn:schemas-microsoft-com:vml" Requires="v">
                <p:oleObj spid="_x0000_s6159" name="Mathcad 6.0" r:id="rId4" imgW="3870000" imgH="3203280" progId="Mathcad">
                  <p:embed/>
                </p:oleObj>
              </mc:Choice>
              <mc:Fallback>
                <p:oleObj name="Mathcad 6.0" r:id="rId4" imgW="3870000" imgH="3203280" progId="Mathcad">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16017" y="1948070"/>
                        <a:ext cx="4804604" cy="392595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672789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noFill/>
        </p:spPr>
        <p:txBody>
          <a:bodyPr lIns="90488" tIns="44450" rIns="90488" bIns="44450" anchor="ctr"/>
          <a:lstStyle/>
          <a:p>
            <a:r>
              <a:rPr lang="en-US" altLang="en-US" dirty="0" smtClean="0"/>
              <a:t> Schottky Diodes</a:t>
            </a:r>
          </a:p>
        </p:txBody>
      </p:sp>
      <p:sp>
        <p:nvSpPr>
          <p:cNvPr id="14339" name="Rectangle 3"/>
          <p:cNvSpPr>
            <a:spLocks noGrp="1" noChangeArrowheads="1"/>
          </p:cNvSpPr>
          <p:nvPr>
            <p:ph type="body" sz="half" idx="1"/>
          </p:nvPr>
        </p:nvSpPr>
        <p:spPr>
          <a:xfrm>
            <a:off x="609600" y="1752600"/>
            <a:ext cx="7829550" cy="3525838"/>
          </a:xfrm>
          <a:noFill/>
        </p:spPr>
        <p:txBody>
          <a:bodyPr lIns="90488" tIns="44450" rIns="90488" bIns="44450"/>
          <a:lstStyle/>
          <a:p>
            <a:pPr>
              <a:buSzPct val="90000"/>
            </a:pPr>
            <a:r>
              <a:rPr lang="en-US" altLang="en-US" sz="2400" dirty="0" smtClean="0"/>
              <a:t>Schottky diode operation determined by majority carriers (electrons)</a:t>
            </a:r>
          </a:p>
          <a:p>
            <a:pPr>
              <a:buSzPct val="90000"/>
            </a:pPr>
            <a:r>
              <a:rPr lang="en-US" altLang="en-US" sz="2400" u="sng" dirty="0" smtClean="0"/>
              <a:t>No</a:t>
            </a:r>
            <a:r>
              <a:rPr lang="en-US" altLang="en-US" sz="2400" dirty="0" smtClean="0"/>
              <a:t> minority carriers are temporarily stored in the depletion region, </a:t>
            </a:r>
          </a:p>
          <a:p>
            <a:pPr lvl="1">
              <a:buSzPct val="90000"/>
            </a:pPr>
            <a:r>
              <a:rPr lang="en-US" altLang="en-US" sz="2200" dirty="0" smtClean="0"/>
              <a:t>Schottky diodes can switch impedance </a:t>
            </a:r>
            <a:r>
              <a:rPr lang="en-US" altLang="en-US" sz="2200" b="1" i="1" dirty="0" smtClean="0"/>
              <a:t>FAST !!!!!!</a:t>
            </a:r>
          </a:p>
          <a:p>
            <a:pPr>
              <a:buSzPct val="90000"/>
            </a:pPr>
            <a:r>
              <a:rPr lang="en-US" altLang="en-US" sz="2400" dirty="0" smtClean="0"/>
              <a:t>Fast switching permits rectification (detectors) and switching (frequency mixers) at RF/microwave frequencies</a:t>
            </a:r>
          </a:p>
        </p:txBody>
      </p:sp>
    </p:spTree>
    <p:extLst>
      <p:ext uri="{BB962C8B-B14F-4D97-AF65-F5344CB8AC3E}">
        <p14:creationId xmlns:p14="http://schemas.microsoft.com/office/powerpoint/2010/main" val="36894466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smtClean="0"/>
              <a:t>Schottky Diode Schematic</a:t>
            </a:r>
          </a:p>
        </p:txBody>
      </p:sp>
      <p:sp>
        <p:nvSpPr>
          <p:cNvPr id="15363" name="Rectangle 3"/>
          <p:cNvSpPr>
            <a:spLocks noGrp="1" noChangeArrowheads="1"/>
          </p:cNvSpPr>
          <p:nvPr>
            <p:ph type="body" idx="1"/>
          </p:nvPr>
        </p:nvSpPr>
        <p:spPr>
          <a:xfrm>
            <a:off x="488156" y="1981200"/>
            <a:ext cx="3814763" cy="4114800"/>
          </a:xfrm>
        </p:spPr>
        <p:txBody>
          <a:bodyPr/>
          <a:lstStyle/>
          <a:p>
            <a:r>
              <a:rPr lang="en-US" altLang="en-US" sz="2600" dirty="0" smtClean="0"/>
              <a:t>Substrate layer typically 100 </a:t>
            </a:r>
            <a:r>
              <a:rPr lang="en-US" altLang="en-US" sz="2600" dirty="0" smtClean="0">
                <a:latin typeface="Symbol" panose="05050102010706020507" pitchFamily="18" charset="2"/>
              </a:rPr>
              <a:t>m</a:t>
            </a:r>
            <a:r>
              <a:rPr lang="en-US" altLang="en-US" sz="2600" dirty="0" smtClean="0"/>
              <a:t>m thick</a:t>
            </a:r>
          </a:p>
          <a:p>
            <a:r>
              <a:rPr lang="en-US" altLang="en-US" sz="2600" dirty="0" smtClean="0"/>
              <a:t>Epi layer typically &lt;&lt; 1 </a:t>
            </a:r>
            <a:r>
              <a:rPr lang="en-US" altLang="en-US" sz="2600" dirty="0" smtClean="0">
                <a:latin typeface="Symbol" panose="05050102010706020507" pitchFamily="18" charset="2"/>
              </a:rPr>
              <a:t>m</a:t>
            </a:r>
            <a:r>
              <a:rPr lang="en-US" altLang="en-US" sz="2600" dirty="0" smtClean="0"/>
              <a:t>m thick </a:t>
            </a:r>
          </a:p>
          <a:p>
            <a:pPr lvl="1"/>
            <a:r>
              <a:rPr lang="en-US" altLang="en-US" sz="2400" dirty="0" smtClean="0"/>
              <a:t>Structures </a:t>
            </a:r>
            <a:r>
              <a:rPr lang="en-US" altLang="en-US" sz="2400" dirty="0"/>
              <a:t>are </a:t>
            </a:r>
            <a:r>
              <a:rPr lang="en-US" altLang="en-US" sz="2400" dirty="0">
                <a:solidFill>
                  <a:schemeClr val="accent2"/>
                </a:solidFill>
              </a:rPr>
              <a:t>NOT</a:t>
            </a:r>
            <a:r>
              <a:rPr lang="en-US" altLang="en-US" sz="2400" dirty="0"/>
              <a:t> drawn to scale</a:t>
            </a:r>
          </a:p>
          <a:p>
            <a:pPr lvl="1"/>
            <a:endParaRPr lang="en-US" altLang="en-US" sz="2400" dirty="0" smtClean="0"/>
          </a:p>
          <a:p>
            <a:pPr eaLnBrk="1" hangingPunct="1"/>
            <a:endParaRPr lang="en-US" altLang="en-US" sz="2800" dirty="0" smtClean="0"/>
          </a:p>
        </p:txBody>
      </p:sp>
      <p:grpSp>
        <p:nvGrpSpPr>
          <p:cNvPr id="15365" name="Group 5"/>
          <p:cNvGrpSpPr>
            <a:grpSpLocks/>
          </p:cNvGrpSpPr>
          <p:nvPr/>
        </p:nvGrpSpPr>
        <p:grpSpPr bwMode="auto">
          <a:xfrm>
            <a:off x="5257800" y="3581400"/>
            <a:ext cx="2895600" cy="1295400"/>
            <a:chOff x="3360" y="2112"/>
            <a:chExt cx="1824" cy="816"/>
          </a:xfrm>
        </p:grpSpPr>
        <p:grpSp>
          <p:nvGrpSpPr>
            <p:cNvPr id="15372" name="Group 6"/>
            <p:cNvGrpSpPr>
              <a:grpSpLocks/>
            </p:cNvGrpSpPr>
            <p:nvPr/>
          </p:nvGrpSpPr>
          <p:grpSpPr bwMode="auto">
            <a:xfrm>
              <a:off x="3360" y="2112"/>
              <a:ext cx="1824" cy="816"/>
              <a:chOff x="3312" y="2064"/>
              <a:chExt cx="1824" cy="816"/>
            </a:xfrm>
          </p:grpSpPr>
          <p:sp>
            <p:nvSpPr>
              <p:cNvPr id="15374" name="Rectangle 7"/>
              <p:cNvSpPr>
                <a:spLocks noChangeArrowheads="1"/>
              </p:cNvSpPr>
              <p:nvPr/>
            </p:nvSpPr>
            <p:spPr bwMode="auto">
              <a:xfrm>
                <a:off x="3312" y="2208"/>
                <a:ext cx="1824" cy="576"/>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15375" name="Rectangle 8"/>
              <p:cNvSpPr>
                <a:spLocks noChangeArrowheads="1"/>
              </p:cNvSpPr>
              <p:nvPr/>
            </p:nvSpPr>
            <p:spPr bwMode="auto">
              <a:xfrm>
                <a:off x="3312" y="2784"/>
                <a:ext cx="1824" cy="96"/>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nvGrpSpPr>
              <p:cNvPr id="15376" name="Group 9"/>
              <p:cNvGrpSpPr>
                <a:grpSpLocks/>
              </p:cNvGrpSpPr>
              <p:nvPr/>
            </p:nvGrpSpPr>
            <p:grpSpPr bwMode="auto">
              <a:xfrm>
                <a:off x="3312" y="2064"/>
                <a:ext cx="1824" cy="144"/>
                <a:chOff x="3312" y="2064"/>
                <a:chExt cx="1824" cy="144"/>
              </a:xfrm>
            </p:grpSpPr>
            <p:sp>
              <p:nvSpPr>
                <p:cNvPr id="15382" name="Rectangle 10"/>
                <p:cNvSpPr>
                  <a:spLocks noChangeArrowheads="1"/>
                </p:cNvSpPr>
                <p:nvPr/>
              </p:nvSpPr>
              <p:spPr bwMode="auto">
                <a:xfrm>
                  <a:off x="3312" y="2112"/>
                  <a:ext cx="1824" cy="96"/>
                </a:xfrm>
                <a:prstGeom prst="rect">
                  <a:avLst/>
                </a:prstGeom>
                <a:solidFill>
                  <a:srgbClr val="00CCFF"/>
                </a:solidFill>
                <a:ln w="12700">
                  <a:solidFill>
                    <a:schemeClr val="tx1"/>
                  </a:solidFill>
                  <a:miter lim="800000"/>
                  <a:headEnd type="none" w="sm" len="sm"/>
                  <a:tailEnd type="none" w="sm" len="sm"/>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15383" name="Rectangle 11"/>
                <p:cNvSpPr>
                  <a:spLocks noChangeArrowheads="1"/>
                </p:cNvSpPr>
                <p:nvPr/>
              </p:nvSpPr>
              <p:spPr bwMode="auto">
                <a:xfrm>
                  <a:off x="4032" y="2064"/>
                  <a:ext cx="336" cy="144"/>
                </a:xfrm>
                <a:prstGeom prst="rect">
                  <a:avLst/>
                </a:prstGeom>
                <a:solidFill>
                  <a:srgbClr val="FBD205"/>
                </a:solidFill>
                <a:ln w="12700">
                  <a:solidFill>
                    <a:schemeClr val="tx1"/>
                  </a:solidFill>
                  <a:miter lim="800000"/>
                  <a:headEnd type="none" w="sm" len="sm"/>
                  <a:tailEnd type="none" w="sm" len="sm"/>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15377" name="Group 12"/>
              <p:cNvGrpSpPr>
                <a:grpSpLocks/>
              </p:cNvGrpSpPr>
              <p:nvPr/>
            </p:nvGrpSpPr>
            <p:grpSpPr bwMode="auto">
              <a:xfrm>
                <a:off x="3936" y="2208"/>
                <a:ext cx="528" cy="48"/>
                <a:chOff x="3936" y="2160"/>
                <a:chExt cx="528" cy="48"/>
              </a:xfrm>
            </p:grpSpPr>
            <p:sp>
              <p:nvSpPr>
                <p:cNvPr id="15378" name="Arc 13" descr="Light downward diagonal"/>
                <p:cNvSpPr>
                  <a:spLocks/>
                </p:cNvSpPr>
                <p:nvPr/>
              </p:nvSpPr>
              <p:spPr bwMode="auto">
                <a:xfrm flipV="1">
                  <a:off x="4320" y="2160"/>
                  <a:ext cx="144" cy="48"/>
                </a:xfrm>
                <a:custGeom>
                  <a:avLst/>
                  <a:gdLst>
                    <a:gd name="T0" fmla="*/ 0 w 21600"/>
                    <a:gd name="T1" fmla="*/ 0 h 21600"/>
                    <a:gd name="T2" fmla="*/ 144 w 21600"/>
                    <a:gd name="T3" fmla="*/ 48 h 21600"/>
                    <a:gd name="T4" fmla="*/ 0 w 21600"/>
                    <a:gd name="T5" fmla="*/ 48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15379" name="Arc 14" descr="Light downward diagonal"/>
                <p:cNvSpPr>
                  <a:spLocks/>
                </p:cNvSpPr>
                <p:nvPr/>
              </p:nvSpPr>
              <p:spPr bwMode="auto">
                <a:xfrm flipH="1" flipV="1">
                  <a:off x="3936" y="2160"/>
                  <a:ext cx="144" cy="48"/>
                </a:xfrm>
                <a:custGeom>
                  <a:avLst/>
                  <a:gdLst>
                    <a:gd name="T0" fmla="*/ 0 w 21600"/>
                    <a:gd name="T1" fmla="*/ 0 h 21600"/>
                    <a:gd name="T2" fmla="*/ 144 w 21600"/>
                    <a:gd name="T3" fmla="*/ 48 h 21600"/>
                    <a:gd name="T4" fmla="*/ 0 w 21600"/>
                    <a:gd name="T5" fmla="*/ 48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15380" name="Line 15" descr="Light downward diagonal"/>
                <p:cNvSpPr>
                  <a:spLocks noChangeShapeType="1"/>
                </p:cNvSpPr>
                <p:nvPr/>
              </p:nvSpPr>
              <p:spPr bwMode="auto">
                <a:xfrm>
                  <a:off x="4080" y="2208"/>
                  <a:ext cx="24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381" name="Line 16" descr="Light downward diagonal"/>
                <p:cNvSpPr>
                  <a:spLocks noChangeShapeType="1"/>
                </p:cNvSpPr>
                <p:nvPr/>
              </p:nvSpPr>
              <p:spPr bwMode="auto">
                <a:xfrm>
                  <a:off x="3936" y="2160"/>
                  <a:ext cx="52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15373" name="Line 17"/>
            <p:cNvSpPr>
              <a:spLocks noChangeShapeType="1"/>
            </p:cNvSpPr>
            <p:nvPr/>
          </p:nvSpPr>
          <p:spPr bwMode="auto">
            <a:xfrm>
              <a:off x="3360" y="2400"/>
              <a:ext cx="182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5366" name="AutoShape 18"/>
          <p:cNvSpPr>
            <a:spLocks/>
          </p:cNvSpPr>
          <p:nvPr/>
        </p:nvSpPr>
        <p:spPr bwMode="auto">
          <a:xfrm>
            <a:off x="7359650" y="1954213"/>
            <a:ext cx="1022350" cy="530225"/>
          </a:xfrm>
          <a:prstGeom prst="borderCallout2">
            <a:avLst>
              <a:gd name="adj1" fmla="val 21556"/>
              <a:gd name="adj2" fmla="val -7454"/>
              <a:gd name="adj3" fmla="val 21556"/>
              <a:gd name="adj4" fmla="val -34472"/>
              <a:gd name="adj5" fmla="val 303593"/>
              <a:gd name="adj6" fmla="val -62579"/>
            </a:avLst>
          </a:prstGeom>
          <a:noFill/>
          <a:ln w="12700">
            <a:solidFill>
              <a:schemeClr val="tx1"/>
            </a:solidFill>
            <a:miter lim="800000"/>
            <a:headEnd type="none" w="sm" len="sm"/>
            <a:tailEnd type="triangle" w="med" len="me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r>
              <a:rPr lang="en-US" altLang="en-US" sz="1400">
                <a:latin typeface="Arial" panose="020B0604020202020204" pitchFamily="34" charset="0"/>
              </a:rPr>
              <a:t>Multilayer</a:t>
            </a:r>
          </a:p>
          <a:p>
            <a:pPr eaLnBrk="1" hangingPunct="1"/>
            <a:r>
              <a:rPr lang="en-US" altLang="en-US" sz="1400">
                <a:latin typeface="Arial" panose="020B0604020202020204" pitchFamily="34" charset="0"/>
              </a:rPr>
              <a:t>Metal</a:t>
            </a:r>
          </a:p>
        </p:txBody>
      </p:sp>
      <p:sp>
        <p:nvSpPr>
          <p:cNvPr id="15367" name="AutoShape 19"/>
          <p:cNvSpPr>
            <a:spLocks/>
          </p:cNvSpPr>
          <p:nvPr/>
        </p:nvSpPr>
        <p:spPr bwMode="auto">
          <a:xfrm>
            <a:off x="7391400" y="2895600"/>
            <a:ext cx="1250950" cy="317500"/>
          </a:xfrm>
          <a:prstGeom prst="borderCallout2">
            <a:avLst>
              <a:gd name="adj1" fmla="val 36000"/>
              <a:gd name="adj2" fmla="val -6093"/>
              <a:gd name="adj3" fmla="val 36000"/>
              <a:gd name="adj4" fmla="val -11801"/>
              <a:gd name="adj5" fmla="val 262000"/>
              <a:gd name="adj6" fmla="val -17639"/>
            </a:avLst>
          </a:prstGeom>
          <a:noFill/>
          <a:ln w="12700">
            <a:solidFill>
              <a:schemeClr val="tx1"/>
            </a:solidFill>
            <a:miter lim="800000"/>
            <a:headEnd type="none" w="sm" len="sm"/>
            <a:tailEnd type="triangle" w="med" len="me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r>
              <a:rPr lang="en-US" altLang="en-US" sz="1400">
                <a:latin typeface="Arial" panose="020B0604020202020204" pitchFamily="34" charset="0"/>
              </a:rPr>
              <a:t>Passivation</a:t>
            </a:r>
            <a:endParaRPr lang="en-US" altLang="en-US">
              <a:latin typeface="Arial" panose="020B0604020202020204" pitchFamily="34" charset="0"/>
            </a:endParaRPr>
          </a:p>
        </p:txBody>
      </p:sp>
      <p:sp>
        <p:nvSpPr>
          <p:cNvPr id="15368" name="AutoShape 20"/>
          <p:cNvSpPr>
            <a:spLocks/>
          </p:cNvSpPr>
          <p:nvPr/>
        </p:nvSpPr>
        <p:spPr bwMode="auto">
          <a:xfrm>
            <a:off x="4800600" y="1905000"/>
            <a:ext cx="1049338" cy="530225"/>
          </a:xfrm>
          <a:prstGeom prst="borderCallout2">
            <a:avLst>
              <a:gd name="adj1" fmla="val 21556"/>
              <a:gd name="adj2" fmla="val 107264"/>
              <a:gd name="adj3" fmla="val 21556"/>
              <a:gd name="adj4" fmla="val 137671"/>
              <a:gd name="adj5" fmla="val 367366"/>
              <a:gd name="adj6" fmla="val 169287"/>
            </a:avLst>
          </a:prstGeom>
          <a:noFill/>
          <a:ln w="12700">
            <a:solidFill>
              <a:schemeClr val="tx1"/>
            </a:solidFill>
            <a:miter lim="800000"/>
            <a:headEnd type="none" w="sm" len="sm"/>
            <a:tailEnd type="triangle" w="med" len="me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r>
              <a:rPr lang="en-US" altLang="en-US" sz="1400">
                <a:latin typeface="Arial" panose="020B0604020202020204" pitchFamily="34" charset="0"/>
              </a:rPr>
              <a:t>Depletion </a:t>
            </a:r>
          </a:p>
          <a:p>
            <a:pPr eaLnBrk="1" hangingPunct="1"/>
            <a:r>
              <a:rPr lang="en-US" altLang="en-US" sz="1400">
                <a:latin typeface="Arial" panose="020B0604020202020204" pitchFamily="34" charset="0"/>
              </a:rPr>
              <a:t>region</a:t>
            </a:r>
          </a:p>
        </p:txBody>
      </p:sp>
      <p:sp>
        <p:nvSpPr>
          <p:cNvPr id="15369" name="AutoShape 21"/>
          <p:cNvSpPr>
            <a:spLocks/>
          </p:cNvSpPr>
          <p:nvPr/>
        </p:nvSpPr>
        <p:spPr bwMode="auto">
          <a:xfrm>
            <a:off x="4648200" y="2554288"/>
            <a:ext cx="1187450" cy="317500"/>
          </a:xfrm>
          <a:prstGeom prst="borderCallout2">
            <a:avLst>
              <a:gd name="adj1" fmla="val 36000"/>
              <a:gd name="adj2" fmla="val 106417"/>
              <a:gd name="adj3" fmla="val 36000"/>
              <a:gd name="adj4" fmla="val 114838"/>
              <a:gd name="adj5" fmla="val 432000"/>
              <a:gd name="adj6" fmla="val 123394"/>
            </a:avLst>
          </a:prstGeom>
          <a:noFill/>
          <a:ln w="12700">
            <a:solidFill>
              <a:schemeClr val="tx1"/>
            </a:solidFill>
            <a:miter lim="800000"/>
            <a:headEnd type="none" w="sm" len="sm"/>
            <a:tailEnd type="triangle" w="med" len="me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r>
              <a:rPr lang="en-US" altLang="en-US" sz="1400">
                <a:latin typeface="Arial" panose="020B0604020202020204" pitchFamily="34" charset="0"/>
              </a:rPr>
              <a:t>Epi Layer</a:t>
            </a:r>
            <a:endParaRPr lang="en-US" altLang="en-US">
              <a:latin typeface="Arial" panose="020B0604020202020204" pitchFamily="34" charset="0"/>
            </a:endParaRPr>
          </a:p>
        </p:txBody>
      </p:sp>
      <p:sp>
        <p:nvSpPr>
          <p:cNvPr id="15370" name="AutoShape 22"/>
          <p:cNvSpPr>
            <a:spLocks/>
          </p:cNvSpPr>
          <p:nvPr/>
        </p:nvSpPr>
        <p:spPr bwMode="auto">
          <a:xfrm>
            <a:off x="4648200" y="5249863"/>
            <a:ext cx="985838" cy="317500"/>
          </a:xfrm>
          <a:prstGeom prst="borderCallout2">
            <a:avLst>
              <a:gd name="adj1" fmla="val 36000"/>
              <a:gd name="adj2" fmla="val 107731"/>
              <a:gd name="adj3" fmla="val 36000"/>
              <a:gd name="adj4" fmla="val 128505"/>
              <a:gd name="adj5" fmla="val -276000"/>
              <a:gd name="adj6" fmla="val 150241"/>
            </a:avLst>
          </a:prstGeom>
          <a:noFill/>
          <a:ln w="12700">
            <a:solidFill>
              <a:schemeClr val="tx1"/>
            </a:solidFill>
            <a:miter lim="800000"/>
            <a:headEnd type="none" w="sm" len="sm"/>
            <a:tailEnd type="triangle" w="med" len="me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r>
              <a:rPr lang="en-US" altLang="en-US" sz="1400">
                <a:latin typeface="Arial" panose="020B0604020202020204" pitchFamily="34" charset="0"/>
              </a:rPr>
              <a:t>Substrate</a:t>
            </a:r>
          </a:p>
        </p:txBody>
      </p:sp>
      <p:sp>
        <p:nvSpPr>
          <p:cNvPr id="15371" name="AutoShape 23"/>
          <p:cNvSpPr>
            <a:spLocks/>
          </p:cNvSpPr>
          <p:nvPr/>
        </p:nvSpPr>
        <p:spPr bwMode="auto">
          <a:xfrm>
            <a:off x="7388225" y="4981575"/>
            <a:ext cx="1222375" cy="530225"/>
          </a:xfrm>
          <a:prstGeom prst="borderCallout2">
            <a:avLst>
              <a:gd name="adj1" fmla="val 36000"/>
              <a:gd name="adj2" fmla="val -6231"/>
              <a:gd name="adj3" fmla="val 36000"/>
              <a:gd name="adj4" fmla="val -40907"/>
              <a:gd name="adj5" fmla="val -28133"/>
              <a:gd name="adj6" fmla="val -63191"/>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r>
              <a:rPr lang="en-US" altLang="en-US" sz="1400">
                <a:latin typeface="Arial" panose="020B0604020202020204" pitchFamily="34" charset="0"/>
              </a:rPr>
              <a:t>Backside</a:t>
            </a:r>
          </a:p>
          <a:p>
            <a:pPr eaLnBrk="1" hangingPunct="1"/>
            <a:r>
              <a:rPr lang="en-US" altLang="en-US" sz="1400">
                <a:latin typeface="Arial" panose="020B0604020202020204" pitchFamily="34" charset="0"/>
              </a:rPr>
              <a:t>Metal</a:t>
            </a:r>
          </a:p>
        </p:txBody>
      </p:sp>
    </p:spTree>
    <p:extLst>
      <p:ext uri="{BB962C8B-B14F-4D97-AF65-F5344CB8AC3E}">
        <p14:creationId xmlns:p14="http://schemas.microsoft.com/office/powerpoint/2010/main" val="24438067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p:spPr>
        <p:txBody>
          <a:bodyPr lIns="92075" tIns="46038" rIns="92075" bIns="46038" anchor="ctr"/>
          <a:lstStyle/>
          <a:p>
            <a:r>
              <a:rPr lang="en-US" altLang="en-US" sz="2600" smtClean="0"/>
              <a:t>Schottky Diode Equivalent Circuit</a:t>
            </a:r>
          </a:p>
        </p:txBody>
      </p:sp>
      <p:sp>
        <p:nvSpPr>
          <p:cNvPr id="16389" name="Rectangle 4"/>
          <p:cNvSpPr>
            <a:spLocks noChangeArrowheads="1"/>
          </p:cNvSpPr>
          <p:nvPr/>
        </p:nvSpPr>
        <p:spPr bwMode="auto">
          <a:xfrm>
            <a:off x="4559300" y="2620963"/>
            <a:ext cx="1392238" cy="558800"/>
          </a:xfrm>
          <a:prstGeom prst="rect">
            <a:avLst/>
          </a:prstGeom>
          <a:solidFill>
            <a:srgbClr val="FFC000"/>
          </a:solidFill>
          <a:ln w="12700">
            <a:solidFill>
              <a:srgbClr val="000000"/>
            </a:solidFill>
            <a:miter lim="800000"/>
            <a:headEnd/>
            <a:tailEnd/>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16390" name="Rectangle 5"/>
          <p:cNvSpPr>
            <a:spLocks noChangeArrowheads="1"/>
          </p:cNvSpPr>
          <p:nvPr/>
        </p:nvSpPr>
        <p:spPr bwMode="auto">
          <a:xfrm>
            <a:off x="3275013" y="4648200"/>
            <a:ext cx="3959225" cy="7223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nvGrpSpPr>
          <p:cNvPr id="16391" name="Group 6"/>
          <p:cNvGrpSpPr>
            <a:grpSpLocks/>
          </p:cNvGrpSpPr>
          <p:nvPr/>
        </p:nvGrpSpPr>
        <p:grpSpPr bwMode="auto">
          <a:xfrm>
            <a:off x="5138738" y="4645025"/>
            <a:ext cx="233363" cy="730250"/>
            <a:chOff x="3237" y="2926"/>
            <a:chExt cx="147" cy="460"/>
          </a:xfrm>
        </p:grpSpPr>
        <p:grpSp>
          <p:nvGrpSpPr>
            <p:cNvPr id="16484" name="Group 7"/>
            <p:cNvGrpSpPr>
              <a:grpSpLocks/>
            </p:cNvGrpSpPr>
            <p:nvPr/>
          </p:nvGrpSpPr>
          <p:grpSpPr bwMode="auto">
            <a:xfrm>
              <a:off x="3237" y="2977"/>
              <a:ext cx="147" cy="358"/>
              <a:chOff x="3237" y="2977"/>
              <a:chExt cx="147" cy="358"/>
            </a:xfrm>
          </p:grpSpPr>
          <p:sp>
            <p:nvSpPr>
              <p:cNvPr id="16487" name="Line 8"/>
              <p:cNvSpPr>
                <a:spLocks noChangeShapeType="1"/>
              </p:cNvSpPr>
              <p:nvPr/>
            </p:nvSpPr>
            <p:spPr bwMode="auto">
              <a:xfrm>
                <a:off x="3309" y="2977"/>
                <a:ext cx="1" cy="4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88" name="Line 9"/>
              <p:cNvSpPr>
                <a:spLocks noChangeShapeType="1"/>
              </p:cNvSpPr>
              <p:nvPr/>
            </p:nvSpPr>
            <p:spPr bwMode="auto">
              <a:xfrm>
                <a:off x="3310" y="3022"/>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16489" name="Group 10"/>
              <p:cNvGrpSpPr>
                <a:grpSpLocks/>
              </p:cNvGrpSpPr>
              <p:nvPr/>
            </p:nvGrpSpPr>
            <p:grpSpPr bwMode="auto">
              <a:xfrm>
                <a:off x="3237" y="3089"/>
                <a:ext cx="147" cy="44"/>
                <a:chOff x="3237" y="3089"/>
                <a:chExt cx="147" cy="44"/>
              </a:xfrm>
            </p:grpSpPr>
            <p:sp>
              <p:nvSpPr>
                <p:cNvPr id="16504" name="Line 11"/>
                <p:cNvSpPr>
                  <a:spLocks noChangeShapeType="1"/>
                </p:cNvSpPr>
                <p:nvPr/>
              </p:nvSpPr>
              <p:spPr bwMode="auto">
                <a:xfrm>
                  <a:off x="3237" y="3089"/>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505" name="Line 12"/>
                <p:cNvSpPr>
                  <a:spLocks noChangeShapeType="1"/>
                </p:cNvSpPr>
                <p:nvPr/>
              </p:nvSpPr>
              <p:spPr bwMode="auto">
                <a:xfrm>
                  <a:off x="3310" y="3111"/>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6490" name="Group 13"/>
              <p:cNvGrpSpPr>
                <a:grpSpLocks/>
              </p:cNvGrpSpPr>
              <p:nvPr/>
            </p:nvGrpSpPr>
            <p:grpSpPr bwMode="auto">
              <a:xfrm>
                <a:off x="3237" y="3178"/>
                <a:ext cx="147" cy="45"/>
                <a:chOff x="3237" y="3178"/>
                <a:chExt cx="147" cy="45"/>
              </a:xfrm>
            </p:grpSpPr>
            <p:sp>
              <p:nvSpPr>
                <p:cNvPr id="16502" name="Line 14"/>
                <p:cNvSpPr>
                  <a:spLocks noChangeShapeType="1"/>
                </p:cNvSpPr>
                <p:nvPr/>
              </p:nvSpPr>
              <p:spPr bwMode="auto">
                <a:xfrm>
                  <a:off x="3237" y="3178"/>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503" name="Line 15"/>
                <p:cNvSpPr>
                  <a:spLocks noChangeShapeType="1"/>
                </p:cNvSpPr>
                <p:nvPr/>
              </p:nvSpPr>
              <p:spPr bwMode="auto">
                <a:xfrm>
                  <a:off x="3310" y="3201"/>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6491" name="Group 16"/>
              <p:cNvGrpSpPr>
                <a:grpSpLocks/>
              </p:cNvGrpSpPr>
              <p:nvPr/>
            </p:nvGrpSpPr>
            <p:grpSpPr bwMode="auto">
              <a:xfrm>
                <a:off x="3237" y="3223"/>
                <a:ext cx="147" cy="44"/>
                <a:chOff x="3237" y="3223"/>
                <a:chExt cx="147" cy="44"/>
              </a:xfrm>
            </p:grpSpPr>
            <p:sp>
              <p:nvSpPr>
                <p:cNvPr id="16500" name="Line 17"/>
                <p:cNvSpPr>
                  <a:spLocks noChangeShapeType="1"/>
                </p:cNvSpPr>
                <p:nvPr/>
              </p:nvSpPr>
              <p:spPr bwMode="auto">
                <a:xfrm flipH="1">
                  <a:off x="3310" y="3223"/>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501" name="Line 18"/>
                <p:cNvSpPr>
                  <a:spLocks noChangeShapeType="1"/>
                </p:cNvSpPr>
                <p:nvPr/>
              </p:nvSpPr>
              <p:spPr bwMode="auto">
                <a:xfrm flipH="1">
                  <a:off x="3237" y="3245"/>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6492" name="Group 19"/>
              <p:cNvGrpSpPr>
                <a:grpSpLocks/>
              </p:cNvGrpSpPr>
              <p:nvPr/>
            </p:nvGrpSpPr>
            <p:grpSpPr bwMode="auto">
              <a:xfrm>
                <a:off x="3237" y="3134"/>
                <a:ext cx="147" cy="44"/>
                <a:chOff x="3237" y="3134"/>
                <a:chExt cx="147" cy="44"/>
              </a:xfrm>
            </p:grpSpPr>
            <p:sp>
              <p:nvSpPr>
                <p:cNvPr id="16498" name="Line 20"/>
                <p:cNvSpPr>
                  <a:spLocks noChangeShapeType="1"/>
                </p:cNvSpPr>
                <p:nvPr/>
              </p:nvSpPr>
              <p:spPr bwMode="auto">
                <a:xfrm flipH="1">
                  <a:off x="3310" y="3134"/>
                  <a:ext cx="74" cy="2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99" name="Line 21"/>
                <p:cNvSpPr>
                  <a:spLocks noChangeShapeType="1"/>
                </p:cNvSpPr>
                <p:nvPr/>
              </p:nvSpPr>
              <p:spPr bwMode="auto">
                <a:xfrm flipH="1">
                  <a:off x="3237" y="3156"/>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6493" name="Group 22"/>
              <p:cNvGrpSpPr>
                <a:grpSpLocks/>
              </p:cNvGrpSpPr>
              <p:nvPr/>
            </p:nvGrpSpPr>
            <p:grpSpPr bwMode="auto">
              <a:xfrm>
                <a:off x="3237" y="3044"/>
                <a:ext cx="147" cy="44"/>
                <a:chOff x="3237" y="3044"/>
                <a:chExt cx="147" cy="44"/>
              </a:xfrm>
            </p:grpSpPr>
            <p:sp>
              <p:nvSpPr>
                <p:cNvPr id="16496" name="Line 23"/>
                <p:cNvSpPr>
                  <a:spLocks noChangeShapeType="1"/>
                </p:cNvSpPr>
                <p:nvPr/>
              </p:nvSpPr>
              <p:spPr bwMode="auto">
                <a:xfrm flipH="1">
                  <a:off x="3310" y="3044"/>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97" name="Line 24"/>
                <p:cNvSpPr>
                  <a:spLocks noChangeShapeType="1"/>
                </p:cNvSpPr>
                <p:nvPr/>
              </p:nvSpPr>
              <p:spPr bwMode="auto">
                <a:xfrm flipH="1">
                  <a:off x="3237" y="3066"/>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6494" name="Line 25"/>
              <p:cNvSpPr>
                <a:spLocks noChangeShapeType="1"/>
              </p:cNvSpPr>
              <p:nvPr/>
            </p:nvSpPr>
            <p:spPr bwMode="auto">
              <a:xfrm>
                <a:off x="3309" y="3290"/>
                <a:ext cx="1" cy="4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95" name="Line 26"/>
              <p:cNvSpPr>
                <a:spLocks noChangeShapeType="1"/>
              </p:cNvSpPr>
              <p:nvPr/>
            </p:nvSpPr>
            <p:spPr bwMode="auto">
              <a:xfrm>
                <a:off x="3237" y="3267"/>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6485" name="Line 27"/>
            <p:cNvSpPr>
              <a:spLocks noChangeShapeType="1"/>
            </p:cNvSpPr>
            <p:nvPr/>
          </p:nvSpPr>
          <p:spPr bwMode="auto">
            <a:xfrm flipV="1">
              <a:off x="3309" y="2926"/>
              <a:ext cx="0" cy="5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86" name="Line 28"/>
            <p:cNvSpPr>
              <a:spLocks noChangeShapeType="1"/>
            </p:cNvSpPr>
            <p:nvPr/>
          </p:nvSpPr>
          <p:spPr bwMode="auto">
            <a:xfrm flipV="1">
              <a:off x="3309" y="3335"/>
              <a:ext cx="0" cy="5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6392" name="Group 29"/>
          <p:cNvGrpSpPr>
            <a:grpSpLocks/>
          </p:cNvGrpSpPr>
          <p:nvPr/>
        </p:nvGrpSpPr>
        <p:grpSpPr bwMode="auto">
          <a:xfrm>
            <a:off x="5138738" y="3916363"/>
            <a:ext cx="233363" cy="728663"/>
            <a:chOff x="3237" y="2467"/>
            <a:chExt cx="147" cy="459"/>
          </a:xfrm>
        </p:grpSpPr>
        <p:grpSp>
          <p:nvGrpSpPr>
            <p:cNvPr id="16462" name="Group 30"/>
            <p:cNvGrpSpPr>
              <a:grpSpLocks/>
            </p:cNvGrpSpPr>
            <p:nvPr/>
          </p:nvGrpSpPr>
          <p:grpSpPr bwMode="auto">
            <a:xfrm>
              <a:off x="3237" y="2518"/>
              <a:ext cx="147" cy="357"/>
              <a:chOff x="3237" y="2518"/>
              <a:chExt cx="147" cy="357"/>
            </a:xfrm>
          </p:grpSpPr>
          <p:sp>
            <p:nvSpPr>
              <p:cNvPr id="16465" name="Line 31"/>
              <p:cNvSpPr>
                <a:spLocks noChangeShapeType="1"/>
              </p:cNvSpPr>
              <p:nvPr/>
            </p:nvSpPr>
            <p:spPr bwMode="auto">
              <a:xfrm>
                <a:off x="3309" y="2518"/>
                <a:ext cx="1" cy="4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66" name="Line 32"/>
              <p:cNvSpPr>
                <a:spLocks noChangeShapeType="1"/>
              </p:cNvSpPr>
              <p:nvPr/>
            </p:nvSpPr>
            <p:spPr bwMode="auto">
              <a:xfrm>
                <a:off x="3310" y="2563"/>
                <a:ext cx="74" cy="2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16467" name="Group 33"/>
              <p:cNvGrpSpPr>
                <a:grpSpLocks/>
              </p:cNvGrpSpPr>
              <p:nvPr/>
            </p:nvGrpSpPr>
            <p:grpSpPr bwMode="auto">
              <a:xfrm>
                <a:off x="3237" y="2630"/>
                <a:ext cx="147" cy="44"/>
                <a:chOff x="3237" y="2630"/>
                <a:chExt cx="147" cy="44"/>
              </a:xfrm>
            </p:grpSpPr>
            <p:sp>
              <p:nvSpPr>
                <p:cNvPr id="16482" name="Line 34"/>
                <p:cNvSpPr>
                  <a:spLocks noChangeShapeType="1"/>
                </p:cNvSpPr>
                <p:nvPr/>
              </p:nvSpPr>
              <p:spPr bwMode="auto">
                <a:xfrm>
                  <a:off x="3237" y="2630"/>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83" name="Line 35"/>
                <p:cNvSpPr>
                  <a:spLocks noChangeShapeType="1"/>
                </p:cNvSpPr>
                <p:nvPr/>
              </p:nvSpPr>
              <p:spPr bwMode="auto">
                <a:xfrm>
                  <a:off x="3310" y="2652"/>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6468" name="Group 36"/>
              <p:cNvGrpSpPr>
                <a:grpSpLocks/>
              </p:cNvGrpSpPr>
              <p:nvPr/>
            </p:nvGrpSpPr>
            <p:grpSpPr bwMode="auto">
              <a:xfrm>
                <a:off x="3237" y="2719"/>
                <a:ext cx="147" cy="44"/>
                <a:chOff x="3237" y="2719"/>
                <a:chExt cx="147" cy="44"/>
              </a:xfrm>
            </p:grpSpPr>
            <p:sp>
              <p:nvSpPr>
                <p:cNvPr id="16480" name="Line 37"/>
                <p:cNvSpPr>
                  <a:spLocks noChangeShapeType="1"/>
                </p:cNvSpPr>
                <p:nvPr/>
              </p:nvSpPr>
              <p:spPr bwMode="auto">
                <a:xfrm>
                  <a:off x="3237" y="2719"/>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81" name="Line 38"/>
                <p:cNvSpPr>
                  <a:spLocks noChangeShapeType="1"/>
                </p:cNvSpPr>
                <p:nvPr/>
              </p:nvSpPr>
              <p:spPr bwMode="auto">
                <a:xfrm>
                  <a:off x="3310" y="2741"/>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6469" name="Group 39"/>
              <p:cNvGrpSpPr>
                <a:grpSpLocks/>
              </p:cNvGrpSpPr>
              <p:nvPr/>
            </p:nvGrpSpPr>
            <p:grpSpPr bwMode="auto">
              <a:xfrm>
                <a:off x="3237" y="2764"/>
                <a:ext cx="147" cy="44"/>
                <a:chOff x="3237" y="2764"/>
                <a:chExt cx="147" cy="44"/>
              </a:xfrm>
            </p:grpSpPr>
            <p:sp>
              <p:nvSpPr>
                <p:cNvPr id="16478" name="Line 40"/>
                <p:cNvSpPr>
                  <a:spLocks noChangeShapeType="1"/>
                </p:cNvSpPr>
                <p:nvPr/>
              </p:nvSpPr>
              <p:spPr bwMode="auto">
                <a:xfrm flipH="1">
                  <a:off x="3310" y="2764"/>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79" name="Line 41"/>
                <p:cNvSpPr>
                  <a:spLocks noChangeShapeType="1"/>
                </p:cNvSpPr>
                <p:nvPr/>
              </p:nvSpPr>
              <p:spPr bwMode="auto">
                <a:xfrm flipH="1">
                  <a:off x="3237" y="2786"/>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6470" name="Group 42"/>
              <p:cNvGrpSpPr>
                <a:grpSpLocks/>
              </p:cNvGrpSpPr>
              <p:nvPr/>
            </p:nvGrpSpPr>
            <p:grpSpPr bwMode="auto">
              <a:xfrm>
                <a:off x="3237" y="2674"/>
                <a:ext cx="147" cy="44"/>
                <a:chOff x="3237" y="2674"/>
                <a:chExt cx="147" cy="44"/>
              </a:xfrm>
            </p:grpSpPr>
            <p:sp>
              <p:nvSpPr>
                <p:cNvPr id="16476" name="Line 43"/>
                <p:cNvSpPr>
                  <a:spLocks noChangeShapeType="1"/>
                </p:cNvSpPr>
                <p:nvPr/>
              </p:nvSpPr>
              <p:spPr bwMode="auto">
                <a:xfrm flipH="1">
                  <a:off x="3310" y="2674"/>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77" name="Line 44"/>
                <p:cNvSpPr>
                  <a:spLocks noChangeShapeType="1"/>
                </p:cNvSpPr>
                <p:nvPr/>
              </p:nvSpPr>
              <p:spPr bwMode="auto">
                <a:xfrm flipH="1">
                  <a:off x="3237" y="2696"/>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6471" name="Group 45"/>
              <p:cNvGrpSpPr>
                <a:grpSpLocks/>
              </p:cNvGrpSpPr>
              <p:nvPr/>
            </p:nvGrpSpPr>
            <p:grpSpPr bwMode="auto">
              <a:xfrm>
                <a:off x="3237" y="2584"/>
                <a:ext cx="147" cy="45"/>
                <a:chOff x="3237" y="2584"/>
                <a:chExt cx="147" cy="45"/>
              </a:xfrm>
            </p:grpSpPr>
            <p:sp>
              <p:nvSpPr>
                <p:cNvPr id="16474" name="Line 46"/>
                <p:cNvSpPr>
                  <a:spLocks noChangeShapeType="1"/>
                </p:cNvSpPr>
                <p:nvPr/>
              </p:nvSpPr>
              <p:spPr bwMode="auto">
                <a:xfrm flipH="1">
                  <a:off x="3310" y="2584"/>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75" name="Line 47"/>
                <p:cNvSpPr>
                  <a:spLocks noChangeShapeType="1"/>
                </p:cNvSpPr>
                <p:nvPr/>
              </p:nvSpPr>
              <p:spPr bwMode="auto">
                <a:xfrm flipH="1">
                  <a:off x="3237" y="2607"/>
                  <a:ext cx="74"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6472" name="Line 48"/>
              <p:cNvSpPr>
                <a:spLocks noChangeShapeType="1"/>
              </p:cNvSpPr>
              <p:nvPr/>
            </p:nvSpPr>
            <p:spPr bwMode="auto">
              <a:xfrm>
                <a:off x="3309" y="2830"/>
                <a:ext cx="1" cy="4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73" name="Line 49"/>
              <p:cNvSpPr>
                <a:spLocks noChangeShapeType="1"/>
              </p:cNvSpPr>
              <p:nvPr/>
            </p:nvSpPr>
            <p:spPr bwMode="auto">
              <a:xfrm>
                <a:off x="3237" y="2809"/>
                <a:ext cx="74" cy="2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6463" name="Line 50"/>
            <p:cNvSpPr>
              <a:spLocks noChangeShapeType="1"/>
            </p:cNvSpPr>
            <p:nvPr/>
          </p:nvSpPr>
          <p:spPr bwMode="auto">
            <a:xfrm flipV="1">
              <a:off x="3309" y="2467"/>
              <a:ext cx="0" cy="5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64" name="Line 51"/>
            <p:cNvSpPr>
              <a:spLocks noChangeShapeType="1"/>
            </p:cNvSpPr>
            <p:nvPr/>
          </p:nvSpPr>
          <p:spPr bwMode="auto">
            <a:xfrm flipV="1">
              <a:off x="3309" y="2875"/>
              <a:ext cx="0" cy="5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6393" name="Group 52"/>
          <p:cNvGrpSpPr>
            <a:grpSpLocks/>
          </p:cNvGrpSpPr>
          <p:nvPr/>
        </p:nvGrpSpPr>
        <p:grpSpPr bwMode="auto">
          <a:xfrm>
            <a:off x="4089400" y="3184525"/>
            <a:ext cx="231775" cy="730250"/>
            <a:chOff x="2576" y="2006"/>
            <a:chExt cx="146" cy="460"/>
          </a:xfrm>
        </p:grpSpPr>
        <p:grpSp>
          <p:nvGrpSpPr>
            <p:cNvPr id="16440" name="Group 53"/>
            <p:cNvGrpSpPr>
              <a:grpSpLocks/>
            </p:cNvGrpSpPr>
            <p:nvPr/>
          </p:nvGrpSpPr>
          <p:grpSpPr bwMode="auto">
            <a:xfrm>
              <a:off x="2576" y="2057"/>
              <a:ext cx="146" cy="358"/>
              <a:chOff x="2576" y="2057"/>
              <a:chExt cx="146" cy="358"/>
            </a:xfrm>
          </p:grpSpPr>
          <p:sp>
            <p:nvSpPr>
              <p:cNvPr id="16443" name="Line 54"/>
              <p:cNvSpPr>
                <a:spLocks noChangeShapeType="1"/>
              </p:cNvSpPr>
              <p:nvPr/>
            </p:nvSpPr>
            <p:spPr bwMode="auto">
              <a:xfrm>
                <a:off x="2648" y="2057"/>
                <a:ext cx="0" cy="4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44" name="Line 55"/>
              <p:cNvSpPr>
                <a:spLocks noChangeShapeType="1"/>
              </p:cNvSpPr>
              <p:nvPr/>
            </p:nvSpPr>
            <p:spPr bwMode="auto">
              <a:xfrm>
                <a:off x="2649" y="2102"/>
                <a:ext cx="73" cy="2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16445" name="Group 56"/>
              <p:cNvGrpSpPr>
                <a:grpSpLocks/>
              </p:cNvGrpSpPr>
              <p:nvPr/>
            </p:nvGrpSpPr>
            <p:grpSpPr bwMode="auto">
              <a:xfrm>
                <a:off x="2576" y="2169"/>
                <a:ext cx="146" cy="44"/>
                <a:chOff x="2576" y="2169"/>
                <a:chExt cx="146" cy="44"/>
              </a:xfrm>
            </p:grpSpPr>
            <p:sp>
              <p:nvSpPr>
                <p:cNvPr id="16460" name="Line 57"/>
                <p:cNvSpPr>
                  <a:spLocks noChangeShapeType="1"/>
                </p:cNvSpPr>
                <p:nvPr/>
              </p:nvSpPr>
              <p:spPr bwMode="auto">
                <a:xfrm>
                  <a:off x="2576" y="2169"/>
                  <a:ext cx="73"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61" name="Line 58"/>
                <p:cNvSpPr>
                  <a:spLocks noChangeShapeType="1"/>
                </p:cNvSpPr>
                <p:nvPr/>
              </p:nvSpPr>
              <p:spPr bwMode="auto">
                <a:xfrm>
                  <a:off x="2649" y="2191"/>
                  <a:ext cx="73"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6446" name="Group 59"/>
              <p:cNvGrpSpPr>
                <a:grpSpLocks/>
              </p:cNvGrpSpPr>
              <p:nvPr/>
            </p:nvGrpSpPr>
            <p:grpSpPr bwMode="auto">
              <a:xfrm>
                <a:off x="2576" y="2258"/>
                <a:ext cx="146" cy="44"/>
                <a:chOff x="2576" y="2258"/>
                <a:chExt cx="146" cy="44"/>
              </a:xfrm>
            </p:grpSpPr>
            <p:sp>
              <p:nvSpPr>
                <p:cNvPr id="16458" name="Line 60"/>
                <p:cNvSpPr>
                  <a:spLocks noChangeShapeType="1"/>
                </p:cNvSpPr>
                <p:nvPr/>
              </p:nvSpPr>
              <p:spPr bwMode="auto">
                <a:xfrm>
                  <a:off x="2576" y="2258"/>
                  <a:ext cx="73"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59" name="Line 61"/>
                <p:cNvSpPr>
                  <a:spLocks noChangeShapeType="1"/>
                </p:cNvSpPr>
                <p:nvPr/>
              </p:nvSpPr>
              <p:spPr bwMode="auto">
                <a:xfrm>
                  <a:off x="2649" y="2280"/>
                  <a:ext cx="73"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6447" name="Group 62"/>
              <p:cNvGrpSpPr>
                <a:grpSpLocks/>
              </p:cNvGrpSpPr>
              <p:nvPr/>
            </p:nvGrpSpPr>
            <p:grpSpPr bwMode="auto">
              <a:xfrm>
                <a:off x="2576" y="2303"/>
                <a:ext cx="146" cy="44"/>
                <a:chOff x="2576" y="2303"/>
                <a:chExt cx="146" cy="44"/>
              </a:xfrm>
            </p:grpSpPr>
            <p:sp>
              <p:nvSpPr>
                <p:cNvPr id="16456" name="Line 63"/>
                <p:cNvSpPr>
                  <a:spLocks noChangeShapeType="1"/>
                </p:cNvSpPr>
                <p:nvPr/>
              </p:nvSpPr>
              <p:spPr bwMode="auto">
                <a:xfrm flipH="1">
                  <a:off x="2649" y="2303"/>
                  <a:ext cx="73"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57" name="Line 64"/>
                <p:cNvSpPr>
                  <a:spLocks noChangeShapeType="1"/>
                </p:cNvSpPr>
                <p:nvPr/>
              </p:nvSpPr>
              <p:spPr bwMode="auto">
                <a:xfrm flipH="1">
                  <a:off x="2576" y="2325"/>
                  <a:ext cx="73"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6448" name="Group 65"/>
              <p:cNvGrpSpPr>
                <a:grpSpLocks/>
              </p:cNvGrpSpPr>
              <p:nvPr/>
            </p:nvGrpSpPr>
            <p:grpSpPr bwMode="auto">
              <a:xfrm>
                <a:off x="2576" y="2213"/>
                <a:ext cx="146" cy="45"/>
                <a:chOff x="2576" y="2213"/>
                <a:chExt cx="146" cy="45"/>
              </a:xfrm>
            </p:grpSpPr>
            <p:sp>
              <p:nvSpPr>
                <p:cNvPr id="16454" name="Line 66"/>
                <p:cNvSpPr>
                  <a:spLocks noChangeShapeType="1"/>
                </p:cNvSpPr>
                <p:nvPr/>
              </p:nvSpPr>
              <p:spPr bwMode="auto">
                <a:xfrm flipH="1">
                  <a:off x="2649" y="2213"/>
                  <a:ext cx="73"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55" name="Line 67"/>
                <p:cNvSpPr>
                  <a:spLocks noChangeShapeType="1"/>
                </p:cNvSpPr>
                <p:nvPr/>
              </p:nvSpPr>
              <p:spPr bwMode="auto">
                <a:xfrm flipH="1">
                  <a:off x="2576" y="2236"/>
                  <a:ext cx="73"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6449" name="Group 68"/>
              <p:cNvGrpSpPr>
                <a:grpSpLocks/>
              </p:cNvGrpSpPr>
              <p:nvPr/>
            </p:nvGrpSpPr>
            <p:grpSpPr bwMode="auto">
              <a:xfrm>
                <a:off x="2576" y="2124"/>
                <a:ext cx="146" cy="44"/>
                <a:chOff x="2576" y="2124"/>
                <a:chExt cx="146" cy="44"/>
              </a:xfrm>
            </p:grpSpPr>
            <p:sp>
              <p:nvSpPr>
                <p:cNvPr id="16452" name="Line 69"/>
                <p:cNvSpPr>
                  <a:spLocks noChangeShapeType="1"/>
                </p:cNvSpPr>
                <p:nvPr/>
              </p:nvSpPr>
              <p:spPr bwMode="auto">
                <a:xfrm flipH="1">
                  <a:off x="2649" y="2124"/>
                  <a:ext cx="73"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53" name="Line 70"/>
                <p:cNvSpPr>
                  <a:spLocks noChangeShapeType="1"/>
                </p:cNvSpPr>
                <p:nvPr/>
              </p:nvSpPr>
              <p:spPr bwMode="auto">
                <a:xfrm flipH="1">
                  <a:off x="2576" y="2146"/>
                  <a:ext cx="73"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6450" name="Line 71"/>
              <p:cNvSpPr>
                <a:spLocks noChangeShapeType="1"/>
              </p:cNvSpPr>
              <p:nvPr/>
            </p:nvSpPr>
            <p:spPr bwMode="auto">
              <a:xfrm>
                <a:off x="2648" y="2370"/>
                <a:ext cx="0" cy="4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51" name="Line 72"/>
              <p:cNvSpPr>
                <a:spLocks noChangeShapeType="1"/>
              </p:cNvSpPr>
              <p:nvPr/>
            </p:nvSpPr>
            <p:spPr bwMode="auto">
              <a:xfrm>
                <a:off x="2576" y="2347"/>
                <a:ext cx="73"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6441" name="Line 73"/>
            <p:cNvSpPr>
              <a:spLocks noChangeShapeType="1"/>
            </p:cNvSpPr>
            <p:nvPr/>
          </p:nvSpPr>
          <p:spPr bwMode="auto">
            <a:xfrm flipV="1">
              <a:off x="2648" y="2006"/>
              <a:ext cx="0" cy="5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42" name="Line 74"/>
            <p:cNvSpPr>
              <a:spLocks noChangeShapeType="1"/>
            </p:cNvSpPr>
            <p:nvPr/>
          </p:nvSpPr>
          <p:spPr bwMode="auto">
            <a:xfrm flipV="1">
              <a:off x="2648" y="2415"/>
              <a:ext cx="0" cy="5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6394" name="Line 75"/>
          <p:cNvSpPr>
            <a:spLocks noChangeShapeType="1"/>
          </p:cNvSpPr>
          <p:nvPr/>
        </p:nvSpPr>
        <p:spPr bwMode="auto">
          <a:xfrm flipH="1">
            <a:off x="4205288" y="3914775"/>
            <a:ext cx="104933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16395" name="Group 76"/>
          <p:cNvGrpSpPr>
            <a:grpSpLocks/>
          </p:cNvGrpSpPr>
          <p:nvPr/>
        </p:nvGrpSpPr>
        <p:grpSpPr bwMode="auto">
          <a:xfrm>
            <a:off x="5138738" y="3429000"/>
            <a:ext cx="233363" cy="252413"/>
            <a:chOff x="3237" y="2160"/>
            <a:chExt cx="147" cy="159"/>
          </a:xfrm>
        </p:grpSpPr>
        <p:sp>
          <p:nvSpPr>
            <p:cNvPr id="16436" name="Line 77"/>
            <p:cNvSpPr>
              <a:spLocks noChangeShapeType="1"/>
            </p:cNvSpPr>
            <p:nvPr/>
          </p:nvSpPr>
          <p:spPr bwMode="auto">
            <a:xfrm flipH="1">
              <a:off x="3237" y="2261"/>
              <a:ext cx="147"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37" name="Line 78"/>
            <p:cNvSpPr>
              <a:spLocks noChangeShapeType="1"/>
            </p:cNvSpPr>
            <p:nvPr/>
          </p:nvSpPr>
          <p:spPr bwMode="auto">
            <a:xfrm>
              <a:off x="3309" y="2262"/>
              <a:ext cx="1" cy="5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38" name="Line 79"/>
            <p:cNvSpPr>
              <a:spLocks noChangeShapeType="1"/>
            </p:cNvSpPr>
            <p:nvPr/>
          </p:nvSpPr>
          <p:spPr bwMode="auto">
            <a:xfrm flipH="1">
              <a:off x="3237" y="2210"/>
              <a:ext cx="147"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39" name="Line 80"/>
            <p:cNvSpPr>
              <a:spLocks noChangeShapeType="1"/>
            </p:cNvSpPr>
            <p:nvPr/>
          </p:nvSpPr>
          <p:spPr bwMode="auto">
            <a:xfrm>
              <a:off x="3309" y="2160"/>
              <a:ext cx="1" cy="5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6396" name="Line 81"/>
          <p:cNvSpPr>
            <a:spLocks noChangeShapeType="1"/>
          </p:cNvSpPr>
          <p:nvPr/>
        </p:nvSpPr>
        <p:spPr bwMode="auto">
          <a:xfrm flipV="1">
            <a:off x="5253038" y="3670300"/>
            <a:ext cx="0" cy="2413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397" name="Line 82"/>
          <p:cNvSpPr>
            <a:spLocks noChangeShapeType="1"/>
          </p:cNvSpPr>
          <p:nvPr/>
        </p:nvSpPr>
        <p:spPr bwMode="auto">
          <a:xfrm flipV="1">
            <a:off x="5253038" y="3184525"/>
            <a:ext cx="0" cy="24288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398" name="Rectangle 83"/>
          <p:cNvSpPr>
            <a:spLocks noChangeArrowheads="1"/>
          </p:cNvSpPr>
          <p:nvPr/>
        </p:nvSpPr>
        <p:spPr bwMode="auto">
          <a:xfrm>
            <a:off x="3275013" y="3187700"/>
            <a:ext cx="3959225" cy="145256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16399" name="Rectangle 84"/>
          <p:cNvSpPr>
            <a:spLocks noChangeArrowheads="1"/>
          </p:cNvSpPr>
          <p:nvPr/>
        </p:nvSpPr>
        <p:spPr bwMode="auto">
          <a:xfrm>
            <a:off x="3275013" y="5380038"/>
            <a:ext cx="3959225" cy="152400"/>
          </a:xfrm>
          <a:prstGeom prst="rect">
            <a:avLst/>
          </a:prstGeom>
          <a:solidFill>
            <a:srgbClr val="FFC000"/>
          </a:solidFill>
          <a:ln w="12700">
            <a:solidFill>
              <a:srgbClr val="000000"/>
            </a:solidFill>
            <a:miter lim="800000"/>
            <a:headEnd/>
            <a:tailEnd/>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16400" name="Rectangle 85"/>
          <p:cNvSpPr>
            <a:spLocks noChangeArrowheads="1"/>
          </p:cNvSpPr>
          <p:nvPr/>
        </p:nvSpPr>
        <p:spPr bwMode="auto">
          <a:xfrm>
            <a:off x="3275013" y="2863850"/>
            <a:ext cx="1741488" cy="315913"/>
          </a:xfrm>
          <a:prstGeom prst="rect">
            <a:avLst/>
          </a:prstGeom>
          <a:solidFill>
            <a:srgbClr val="7F7F7F"/>
          </a:solidFill>
          <a:ln w="12700">
            <a:solidFill>
              <a:srgbClr val="000000"/>
            </a:solidFill>
            <a:miter lim="800000"/>
            <a:headEnd/>
            <a:tailEnd/>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16401" name="Rectangle 86"/>
          <p:cNvSpPr>
            <a:spLocks noChangeArrowheads="1"/>
          </p:cNvSpPr>
          <p:nvPr/>
        </p:nvSpPr>
        <p:spPr bwMode="auto">
          <a:xfrm>
            <a:off x="5492750" y="2863850"/>
            <a:ext cx="1741488" cy="315913"/>
          </a:xfrm>
          <a:prstGeom prst="rect">
            <a:avLst/>
          </a:prstGeom>
          <a:solidFill>
            <a:srgbClr val="7F7F7F"/>
          </a:solidFill>
          <a:ln w="12700">
            <a:solidFill>
              <a:srgbClr val="000000"/>
            </a:solidFill>
            <a:miter lim="800000"/>
            <a:headEnd/>
            <a:tailEnd/>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16402" name="Rectangle 87"/>
          <p:cNvSpPr>
            <a:spLocks noChangeArrowheads="1"/>
          </p:cNvSpPr>
          <p:nvPr/>
        </p:nvSpPr>
        <p:spPr bwMode="auto">
          <a:xfrm>
            <a:off x="3275013" y="3025775"/>
            <a:ext cx="1508125" cy="152400"/>
          </a:xfrm>
          <a:prstGeom prst="rect">
            <a:avLst/>
          </a:prstGeom>
          <a:solidFill>
            <a:srgbClr val="00FFFF"/>
          </a:solidFill>
          <a:ln w="12700">
            <a:solidFill>
              <a:srgbClr val="000000"/>
            </a:solidFill>
            <a:miter lim="800000"/>
            <a:headEnd/>
            <a:tailEnd/>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16403" name="Rectangle 88"/>
          <p:cNvSpPr>
            <a:spLocks noChangeArrowheads="1"/>
          </p:cNvSpPr>
          <p:nvPr/>
        </p:nvSpPr>
        <p:spPr bwMode="auto">
          <a:xfrm>
            <a:off x="5726113" y="3025775"/>
            <a:ext cx="1508125" cy="152400"/>
          </a:xfrm>
          <a:prstGeom prst="rect">
            <a:avLst/>
          </a:prstGeom>
          <a:solidFill>
            <a:srgbClr val="00FFFF"/>
          </a:solidFill>
          <a:ln w="12700">
            <a:solidFill>
              <a:srgbClr val="000000"/>
            </a:solidFill>
            <a:miter lim="800000"/>
            <a:headEnd/>
            <a:tailEnd/>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16404" name="Line 89"/>
          <p:cNvSpPr>
            <a:spLocks noChangeShapeType="1"/>
          </p:cNvSpPr>
          <p:nvPr/>
        </p:nvSpPr>
        <p:spPr bwMode="auto">
          <a:xfrm flipV="1">
            <a:off x="5954713" y="2859088"/>
            <a:ext cx="0" cy="56832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05" name="Rectangle 90"/>
          <p:cNvSpPr>
            <a:spLocks noChangeArrowheads="1"/>
          </p:cNvSpPr>
          <p:nvPr/>
        </p:nvSpPr>
        <p:spPr bwMode="auto">
          <a:xfrm>
            <a:off x="5253038" y="5618163"/>
            <a:ext cx="1635125"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imes New Roman" panose="02020603050405020304" pitchFamily="18" charset="0"/>
              </a:rPr>
              <a:t>Backside Metal</a:t>
            </a:r>
          </a:p>
          <a:p>
            <a:r>
              <a:rPr lang="en-US" altLang="en-US" sz="1200">
                <a:latin typeface="Times New Roman" panose="02020603050405020304" pitchFamily="18" charset="0"/>
              </a:rPr>
              <a:t>Contact</a:t>
            </a:r>
          </a:p>
        </p:txBody>
      </p:sp>
      <p:sp>
        <p:nvSpPr>
          <p:cNvPr id="16406" name="Rectangle 91"/>
          <p:cNvSpPr>
            <a:spLocks noChangeArrowheads="1"/>
          </p:cNvSpPr>
          <p:nvPr/>
        </p:nvSpPr>
        <p:spPr bwMode="auto">
          <a:xfrm>
            <a:off x="1752600" y="5294313"/>
            <a:ext cx="70008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imes New Roman" panose="02020603050405020304" pitchFamily="18" charset="0"/>
              </a:rPr>
              <a:t>Ohmic Contact</a:t>
            </a:r>
          </a:p>
        </p:txBody>
      </p:sp>
      <p:sp>
        <p:nvSpPr>
          <p:cNvPr id="16407" name="Rectangle 92"/>
          <p:cNvSpPr>
            <a:spLocks noChangeArrowheads="1"/>
          </p:cNvSpPr>
          <p:nvPr/>
        </p:nvSpPr>
        <p:spPr bwMode="auto">
          <a:xfrm>
            <a:off x="1752600" y="4887913"/>
            <a:ext cx="817563"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imes New Roman" panose="02020603050405020304" pitchFamily="18" charset="0"/>
              </a:rPr>
              <a:t>Substrate</a:t>
            </a:r>
          </a:p>
        </p:txBody>
      </p:sp>
      <p:sp>
        <p:nvSpPr>
          <p:cNvPr id="16408" name="Rectangle 93"/>
          <p:cNvSpPr>
            <a:spLocks noChangeArrowheads="1"/>
          </p:cNvSpPr>
          <p:nvPr/>
        </p:nvSpPr>
        <p:spPr bwMode="auto">
          <a:xfrm>
            <a:off x="1752600" y="4076700"/>
            <a:ext cx="817563"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Epitaxial</a:t>
            </a:r>
            <a:endParaRPr lang="en-US" altLang="en-US" sz="1200">
              <a:latin typeface="Times New Roman" panose="02020603050405020304" pitchFamily="18" charset="0"/>
            </a:endParaRPr>
          </a:p>
          <a:p>
            <a:r>
              <a:rPr lang="en-US" altLang="en-US" sz="1200">
                <a:latin typeface="Times New Roman" panose="02020603050405020304" pitchFamily="18" charset="0"/>
              </a:rPr>
              <a:t>Layer</a:t>
            </a:r>
          </a:p>
        </p:txBody>
      </p:sp>
      <p:sp>
        <p:nvSpPr>
          <p:cNvPr id="16409" name="Rectangle 94"/>
          <p:cNvSpPr>
            <a:spLocks noChangeArrowheads="1"/>
          </p:cNvSpPr>
          <p:nvPr/>
        </p:nvSpPr>
        <p:spPr bwMode="auto">
          <a:xfrm>
            <a:off x="1752600" y="3346450"/>
            <a:ext cx="14017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imes New Roman" panose="02020603050405020304" pitchFamily="18" charset="0"/>
              </a:rPr>
              <a:t>Thermal Oxide</a:t>
            </a:r>
          </a:p>
          <a:p>
            <a:r>
              <a:rPr lang="en-US" altLang="en-US" sz="1200">
                <a:latin typeface="Times New Roman" panose="02020603050405020304" pitchFamily="18" charset="0"/>
              </a:rPr>
              <a:t>(SiO</a:t>
            </a:r>
            <a:r>
              <a:rPr lang="en-US" altLang="en-US" sz="1200" baseline="-25000">
                <a:latin typeface="Times New Roman" panose="02020603050405020304" pitchFamily="18" charset="0"/>
              </a:rPr>
              <a:t>2</a:t>
            </a:r>
            <a:r>
              <a:rPr lang="en-US" altLang="en-US" sz="1200">
                <a:latin typeface="Times New Roman" panose="02020603050405020304" pitchFamily="18" charset="0"/>
              </a:rPr>
              <a:t>)</a:t>
            </a:r>
          </a:p>
        </p:txBody>
      </p:sp>
      <p:sp>
        <p:nvSpPr>
          <p:cNvPr id="16410" name="Rectangle 95"/>
          <p:cNvSpPr>
            <a:spLocks noChangeArrowheads="1"/>
          </p:cNvSpPr>
          <p:nvPr/>
        </p:nvSpPr>
        <p:spPr bwMode="auto">
          <a:xfrm>
            <a:off x="1752600" y="2859088"/>
            <a:ext cx="1052513"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imes New Roman" panose="02020603050405020304" pitchFamily="18" charset="0"/>
              </a:rPr>
              <a:t>Nitride</a:t>
            </a:r>
          </a:p>
          <a:p>
            <a:r>
              <a:rPr lang="en-US" altLang="en-US" sz="1200">
                <a:latin typeface="Times New Roman" panose="02020603050405020304" pitchFamily="18" charset="0"/>
              </a:rPr>
              <a:t>(Si</a:t>
            </a:r>
            <a:r>
              <a:rPr lang="en-US" altLang="en-US" sz="1200" baseline="-25000">
                <a:latin typeface="Times New Roman" panose="02020603050405020304" pitchFamily="18" charset="0"/>
              </a:rPr>
              <a:t>3</a:t>
            </a:r>
            <a:r>
              <a:rPr lang="en-US" altLang="en-US" sz="1200">
                <a:latin typeface="Times New Roman" panose="02020603050405020304" pitchFamily="18" charset="0"/>
              </a:rPr>
              <a:t>N</a:t>
            </a:r>
            <a:r>
              <a:rPr lang="en-US" altLang="en-US" sz="1200" baseline="-25000">
                <a:latin typeface="Times New Roman" panose="02020603050405020304" pitchFamily="18" charset="0"/>
              </a:rPr>
              <a:t>4</a:t>
            </a:r>
            <a:r>
              <a:rPr lang="en-US" altLang="en-US" sz="1200">
                <a:latin typeface="Times New Roman" panose="02020603050405020304" pitchFamily="18" charset="0"/>
              </a:rPr>
              <a:t>)</a:t>
            </a:r>
          </a:p>
        </p:txBody>
      </p:sp>
      <p:sp>
        <p:nvSpPr>
          <p:cNvPr id="16411" name="Line 96"/>
          <p:cNvSpPr>
            <a:spLocks noChangeShapeType="1"/>
          </p:cNvSpPr>
          <p:nvPr/>
        </p:nvSpPr>
        <p:spPr bwMode="auto">
          <a:xfrm flipV="1">
            <a:off x="3971925" y="3429000"/>
            <a:ext cx="465138" cy="242888"/>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12" name="Rectangle 97"/>
          <p:cNvSpPr>
            <a:spLocks noChangeArrowheads="1"/>
          </p:cNvSpPr>
          <p:nvPr/>
        </p:nvSpPr>
        <p:spPr bwMode="auto">
          <a:xfrm>
            <a:off x="3736975" y="3427413"/>
            <a:ext cx="2333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imes New Roman" panose="02020603050405020304" pitchFamily="18" charset="0"/>
              </a:rPr>
              <a:t>R</a:t>
            </a:r>
            <a:r>
              <a:rPr lang="en-US" altLang="en-US" sz="1200" baseline="-25000">
                <a:latin typeface="Times New Roman" panose="02020603050405020304" pitchFamily="18" charset="0"/>
              </a:rPr>
              <a:t>J</a:t>
            </a:r>
          </a:p>
        </p:txBody>
      </p:sp>
      <p:sp>
        <p:nvSpPr>
          <p:cNvPr id="16413" name="Rectangle 98"/>
          <p:cNvSpPr>
            <a:spLocks noChangeArrowheads="1"/>
          </p:cNvSpPr>
          <p:nvPr/>
        </p:nvSpPr>
        <p:spPr bwMode="auto">
          <a:xfrm>
            <a:off x="4786313" y="3427413"/>
            <a:ext cx="3508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imes New Roman" panose="02020603050405020304" pitchFamily="18" charset="0"/>
              </a:rPr>
              <a:t>C</a:t>
            </a:r>
            <a:r>
              <a:rPr lang="en-US" altLang="en-US" sz="1200" baseline="-25000">
                <a:latin typeface="Times New Roman" panose="02020603050405020304" pitchFamily="18" charset="0"/>
              </a:rPr>
              <a:t>J</a:t>
            </a:r>
          </a:p>
        </p:txBody>
      </p:sp>
      <p:sp>
        <p:nvSpPr>
          <p:cNvPr id="16414" name="Rectangle 99"/>
          <p:cNvSpPr>
            <a:spLocks noChangeArrowheads="1"/>
          </p:cNvSpPr>
          <p:nvPr/>
        </p:nvSpPr>
        <p:spPr bwMode="auto">
          <a:xfrm>
            <a:off x="4786313" y="4157663"/>
            <a:ext cx="350838"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imes New Roman" panose="02020603050405020304" pitchFamily="18" charset="0"/>
              </a:rPr>
              <a:t>R</a:t>
            </a:r>
            <a:r>
              <a:rPr lang="en-US" altLang="en-US" sz="1200" baseline="-25000">
                <a:latin typeface="Times New Roman" panose="02020603050405020304" pitchFamily="18" charset="0"/>
              </a:rPr>
              <a:t>S1</a:t>
            </a:r>
          </a:p>
        </p:txBody>
      </p:sp>
      <p:sp>
        <p:nvSpPr>
          <p:cNvPr id="16415" name="Rectangle 100"/>
          <p:cNvSpPr>
            <a:spLocks noChangeArrowheads="1"/>
          </p:cNvSpPr>
          <p:nvPr/>
        </p:nvSpPr>
        <p:spPr bwMode="auto">
          <a:xfrm>
            <a:off x="4786313" y="4887913"/>
            <a:ext cx="468313"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imes New Roman" panose="02020603050405020304" pitchFamily="18" charset="0"/>
              </a:rPr>
              <a:t>R</a:t>
            </a:r>
            <a:r>
              <a:rPr lang="en-US" altLang="en-US" sz="1200" baseline="-25000">
                <a:latin typeface="Times New Roman" panose="02020603050405020304" pitchFamily="18" charset="0"/>
              </a:rPr>
              <a:t>S2</a:t>
            </a:r>
          </a:p>
        </p:txBody>
      </p:sp>
      <p:sp>
        <p:nvSpPr>
          <p:cNvPr id="16416" name="Rectangle 101"/>
          <p:cNvSpPr>
            <a:spLocks noChangeArrowheads="1"/>
          </p:cNvSpPr>
          <p:nvPr/>
        </p:nvSpPr>
        <p:spPr bwMode="auto">
          <a:xfrm>
            <a:off x="6186488" y="3427413"/>
            <a:ext cx="3508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imes New Roman" panose="02020603050405020304" pitchFamily="18" charset="0"/>
              </a:rPr>
              <a:t>C</a:t>
            </a:r>
            <a:r>
              <a:rPr lang="en-US" altLang="en-US" sz="1200" baseline="-25000">
                <a:latin typeface="Times New Roman" panose="02020603050405020304" pitchFamily="18" charset="0"/>
              </a:rPr>
              <a:t>O</a:t>
            </a:r>
          </a:p>
        </p:txBody>
      </p:sp>
      <p:sp>
        <p:nvSpPr>
          <p:cNvPr id="16417" name="Line 102"/>
          <p:cNvSpPr>
            <a:spLocks noChangeShapeType="1"/>
          </p:cNvSpPr>
          <p:nvPr/>
        </p:nvSpPr>
        <p:spPr bwMode="auto">
          <a:xfrm>
            <a:off x="2571750" y="4157663"/>
            <a:ext cx="23336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18" name="Line 103"/>
          <p:cNvSpPr>
            <a:spLocks noChangeShapeType="1"/>
          </p:cNvSpPr>
          <p:nvPr/>
        </p:nvSpPr>
        <p:spPr bwMode="auto">
          <a:xfrm>
            <a:off x="2571750" y="4968875"/>
            <a:ext cx="233363" cy="158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19" name="Line 104"/>
          <p:cNvSpPr>
            <a:spLocks noChangeShapeType="1"/>
          </p:cNvSpPr>
          <p:nvPr/>
        </p:nvSpPr>
        <p:spPr bwMode="auto">
          <a:xfrm>
            <a:off x="4905375" y="5781675"/>
            <a:ext cx="23336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20" name="Line 105"/>
          <p:cNvSpPr>
            <a:spLocks noChangeShapeType="1"/>
          </p:cNvSpPr>
          <p:nvPr/>
        </p:nvSpPr>
        <p:spPr bwMode="auto">
          <a:xfrm flipH="1" flipV="1">
            <a:off x="4786313" y="5538788"/>
            <a:ext cx="117475" cy="242888"/>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21" name="Line 106"/>
          <p:cNvSpPr>
            <a:spLocks noChangeShapeType="1"/>
          </p:cNvSpPr>
          <p:nvPr/>
        </p:nvSpPr>
        <p:spPr bwMode="auto">
          <a:xfrm>
            <a:off x="2571750" y="5456238"/>
            <a:ext cx="698500" cy="1588"/>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22" name="Line 107"/>
          <p:cNvSpPr>
            <a:spLocks noChangeShapeType="1"/>
          </p:cNvSpPr>
          <p:nvPr/>
        </p:nvSpPr>
        <p:spPr bwMode="auto">
          <a:xfrm>
            <a:off x="2571750" y="4968875"/>
            <a:ext cx="698500" cy="1588"/>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23" name="Line 108"/>
          <p:cNvSpPr>
            <a:spLocks noChangeShapeType="1"/>
          </p:cNvSpPr>
          <p:nvPr/>
        </p:nvSpPr>
        <p:spPr bwMode="auto">
          <a:xfrm>
            <a:off x="2571750" y="4157663"/>
            <a:ext cx="698500" cy="0"/>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24" name="Line 109"/>
          <p:cNvSpPr>
            <a:spLocks noChangeShapeType="1"/>
          </p:cNvSpPr>
          <p:nvPr/>
        </p:nvSpPr>
        <p:spPr bwMode="auto">
          <a:xfrm flipV="1">
            <a:off x="3038475" y="3103563"/>
            <a:ext cx="233363" cy="322263"/>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25" name="Line 110"/>
          <p:cNvSpPr>
            <a:spLocks noChangeShapeType="1"/>
          </p:cNvSpPr>
          <p:nvPr/>
        </p:nvSpPr>
        <p:spPr bwMode="auto">
          <a:xfrm>
            <a:off x="2454275" y="2940050"/>
            <a:ext cx="815975" cy="1588"/>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26" name="Rectangle 111"/>
          <p:cNvSpPr>
            <a:spLocks noChangeArrowheads="1"/>
          </p:cNvSpPr>
          <p:nvPr/>
        </p:nvSpPr>
        <p:spPr bwMode="auto">
          <a:xfrm>
            <a:off x="5721350" y="2209800"/>
            <a:ext cx="1052513"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a:latin typeface="Times New Roman" panose="02020603050405020304" pitchFamily="18" charset="0"/>
              </a:rPr>
              <a:t>Top Contact </a:t>
            </a:r>
          </a:p>
          <a:p>
            <a:r>
              <a:rPr lang="en-US" altLang="en-US" sz="1200">
                <a:latin typeface="Times New Roman" panose="02020603050405020304" pitchFamily="18" charset="0"/>
              </a:rPr>
              <a:t>Metal</a:t>
            </a:r>
          </a:p>
        </p:txBody>
      </p:sp>
      <p:sp>
        <p:nvSpPr>
          <p:cNvPr id="16427" name="Line 112"/>
          <p:cNvSpPr>
            <a:spLocks noChangeShapeType="1"/>
          </p:cNvSpPr>
          <p:nvPr/>
        </p:nvSpPr>
        <p:spPr bwMode="auto">
          <a:xfrm flipH="1">
            <a:off x="5372100" y="2371725"/>
            <a:ext cx="233363" cy="158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28" name="Line 113"/>
          <p:cNvSpPr>
            <a:spLocks noChangeShapeType="1"/>
          </p:cNvSpPr>
          <p:nvPr/>
        </p:nvSpPr>
        <p:spPr bwMode="auto">
          <a:xfrm flipH="1">
            <a:off x="5254625" y="2373313"/>
            <a:ext cx="117475" cy="242888"/>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6429" name="Group 114"/>
          <p:cNvGrpSpPr>
            <a:grpSpLocks/>
          </p:cNvGrpSpPr>
          <p:nvPr/>
        </p:nvGrpSpPr>
        <p:grpSpPr bwMode="auto">
          <a:xfrm>
            <a:off x="5838825" y="3429000"/>
            <a:ext cx="233363" cy="241300"/>
            <a:chOff x="3678" y="2160"/>
            <a:chExt cx="147" cy="152"/>
          </a:xfrm>
        </p:grpSpPr>
        <p:sp>
          <p:nvSpPr>
            <p:cNvPr id="16432" name="Line 115"/>
            <p:cNvSpPr>
              <a:spLocks noChangeShapeType="1"/>
            </p:cNvSpPr>
            <p:nvPr/>
          </p:nvSpPr>
          <p:spPr bwMode="auto">
            <a:xfrm flipH="1">
              <a:off x="3678" y="2257"/>
              <a:ext cx="147"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33" name="Line 116"/>
            <p:cNvSpPr>
              <a:spLocks noChangeShapeType="1"/>
            </p:cNvSpPr>
            <p:nvPr/>
          </p:nvSpPr>
          <p:spPr bwMode="auto">
            <a:xfrm>
              <a:off x="3751" y="2258"/>
              <a:ext cx="1" cy="5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34" name="Line 117"/>
            <p:cNvSpPr>
              <a:spLocks noChangeShapeType="1"/>
            </p:cNvSpPr>
            <p:nvPr/>
          </p:nvSpPr>
          <p:spPr bwMode="auto">
            <a:xfrm flipH="1">
              <a:off x="3678" y="2208"/>
              <a:ext cx="147"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35" name="Line 118"/>
            <p:cNvSpPr>
              <a:spLocks noChangeShapeType="1"/>
            </p:cNvSpPr>
            <p:nvPr/>
          </p:nvSpPr>
          <p:spPr bwMode="auto">
            <a:xfrm>
              <a:off x="3751" y="2160"/>
              <a:ext cx="1" cy="5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6430" name="Line 119"/>
          <p:cNvSpPr>
            <a:spLocks noChangeShapeType="1"/>
          </p:cNvSpPr>
          <p:nvPr/>
        </p:nvSpPr>
        <p:spPr bwMode="auto">
          <a:xfrm>
            <a:off x="5254625" y="3914775"/>
            <a:ext cx="700088" cy="158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31" name="Line 120"/>
          <p:cNvSpPr>
            <a:spLocks noChangeShapeType="1"/>
          </p:cNvSpPr>
          <p:nvPr/>
        </p:nvSpPr>
        <p:spPr bwMode="auto">
          <a:xfrm flipV="1">
            <a:off x="5954713" y="3670300"/>
            <a:ext cx="0" cy="2413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388" name="Line 121"/>
          <p:cNvSpPr>
            <a:spLocks noChangeShapeType="1"/>
          </p:cNvSpPr>
          <p:nvPr/>
        </p:nvSpPr>
        <p:spPr bwMode="auto">
          <a:xfrm flipV="1">
            <a:off x="5106988" y="3354388"/>
            <a:ext cx="379412" cy="379412"/>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16130952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noFill/>
        </p:spPr>
        <p:txBody>
          <a:bodyPr lIns="92075" tIns="46038" rIns="92075" bIns="46038" anchor="ctr"/>
          <a:lstStyle/>
          <a:p>
            <a:r>
              <a:rPr lang="en-US" altLang="en-US" dirty="0" smtClean="0"/>
              <a:t>Electrostatic Discharge</a:t>
            </a:r>
          </a:p>
        </p:txBody>
      </p:sp>
      <p:sp>
        <p:nvSpPr>
          <p:cNvPr id="17411" name="Rectangle 3"/>
          <p:cNvSpPr>
            <a:spLocks noGrp="1" noChangeArrowheads="1"/>
          </p:cNvSpPr>
          <p:nvPr>
            <p:ph type="body" idx="1"/>
          </p:nvPr>
        </p:nvSpPr>
        <p:spPr>
          <a:noFill/>
        </p:spPr>
        <p:txBody>
          <a:bodyPr lIns="92075" tIns="46038" rIns="92075" bIns="46038"/>
          <a:lstStyle/>
          <a:p>
            <a:pPr>
              <a:buSzPct val="90000"/>
            </a:pPr>
            <a:r>
              <a:rPr lang="en-US" altLang="en-US" sz="2800" dirty="0" smtClean="0"/>
              <a:t>Schottky diodes are EXTREMELY sensitive to ESD</a:t>
            </a:r>
          </a:p>
          <a:p>
            <a:pPr lvl="1"/>
            <a:r>
              <a:rPr lang="en-US" altLang="en-US" sz="2400" dirty="0" smtClean="0"/>
              <a:t>ESD Class 0 (HBM) devices</a:t>
            </a:r>
          </a:p>
          <a:p>
            <a:pPr>
              <a:buSzPct val="90000"/>
            </a:pPr>
            <a:r>
              <a:rPr lang="en-US" altLang="en-US" sz="2800" dirty="0" smtClean="0"/>
              <a:t>ESD damage often produces “walking wounded” junction</a:t>
            </a:r>
          </a:p>
          <a:p>
            <a:pPr lvl="1"/>
            <a:r>
              <a:rPr lang="en-US" altLang="en-US" sz="2400" dirty="0" smtClean="0"/>
              <a:t>Performance deteriorates over time (hours, days or even months)</a:t>
            </a:r>
          </a:p>
          <a:p>
            <a:pPr lvl="1"/>
            <a:r>
              <a:rPr lang="en-US" altLang="en-US" sz="2400" dirty="0" smtClean="0"/>
              <a:t>Immediate catastrophic </a:t>
            </a:r>
            <a:r>
              <a:rPr lang="en-US" altLang="en-US" sz="2400" dirty="0"/>
              <a:t>failure occasionally occurs</a:t>
            </a:r>
          </a:p>
          <a:p>
            <a:pPr lvl="1"/>
            <a:endParaRPr lang="en-US" altLang="en-US" sz="2400" dirty="0" smtClean="0"/>
          </a:p>
          <a:p>
            <a:pPr>
              <a:buFontTx/>
              <a:buChar char="–"/>
            </a:pPr>
            <a:endParaRPr lang="en-US" altLang="en-US" sz="2800" dirty="0" smtClean="0"/>
          </a:p>
        </p:txBody>
      </p:sp>
    </p:spTree>
    <p:extLst>
      <p:ext uri="{BB962C8B-B14F-4D97-AF65-F5344CB8AC3E}">
        <p14:creationId xmlns:p14="http://schemas.microsoft.com/office/powerpoint/2010/main" val="24927137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04800" y="76200"/>
            <a:ext cx="7315200" cy="838200"/>
          </a:xfrm>
          <a:noFill/>
        </p:spPr>
        <p:txBody>
          <a:bodyPr lIns="90488" tIns="44450" rIns="90488" bIns="44450" anchor="ctr"/>
          <a:lstStyle/>
          <a:p>
            <a:r>
              <a:rPr lang="en-US" altLang="en-US" dirty="0" smtClean="0"/>
              <a:t>Schottky Diode Configurations – Singles, Pairs</a:t>
            </a:r>
          </a:p>
        </p:txBody>
      </p:sp>
      <p:sp>
        <p:nvSpPr>
          <p:cNvPr id="18435" name="Rectangle 3"/>
          <p:cNvSpPr>
            <a:spLocks noGrp="1" noChangeArrowheads="1"/>
          </p:cNvSpPr>
          <p:nvPr>
            <p:ph type="body" idx="1"/>
          </p:nvPr>
        </p:nvSpPr>
        <p:spPr>
          <a:xfrm>
            <a:off x="685800" y="1752600"/>
            <a:ext cx="7772400" cy="4495800"/>
          </a:xfrm>
          <a:noFill/>
        </p:spPr>
        <p:txBody>
          <a:bodyPr lIns="90488" tIns="44450" rIns="90488" bIns="44450"/>
          <a:lstStyle/>
          <a:p>
            <a:pPr>
              <a:buSzPct val="90000"/>
            </a:pPr>
            <a:r>
              <a:rPr lang="en-US" altLang="en-US" sz="2800" dirty="0" smtClean="0"/>
              <a:t>Single Junction</a:t>
            </a:r>
          </a:p>
          <a:p>
            <a:pPr lvl="1"/>
            <a:r>
              <a:rPr lang="en-US" altLang="en-US" sz="2400" dirty="0" smtClean="0"/>
              <a:t>single ended mixers</a:t>
            </a:r>
          </a:p>
          <a:p>
            <a:pPr>
              <a:buSzPct val="90000"/>
            </a:pPr>
            <a:r>
              <a:rPr lang="en-US" altLang="en-US" sz="2800" dirty="0" smtClean="0"/>
              <a:t>Series Tee</a:t>
            </a:r>
          </a:p>
          <a:p>
            <a:pPr lvl="1"/>
            <a:r>
              <a:rPr lang="en-US" altLang="en-US" sz="2400" dirty="0" smtClean="0"/>
              <a:t>balanced mixers</a:t>
            </a:r>
          </a:p>
          <a:p>
            <a:pPr>
              <a:buSzPct val="90000"/>
            </a:pPr>
            <a:r>
              <a:rPr lang="en-US" altLang="en-US" sz="2800" dirty="0" smtClean="0"/>
              <a:t>Reverse Series Tee</a:t>
            </a:r>
          </a:p>
          <a:p>
            <a:pPr lvl="1"/>
            <a:r>
              <a:rPr lang="en-US" altLang="en-US" sz="2400" dirty="0" smtClean="0"/>
              <a:t>balanced mixers</a:t>
            </a:r>
          </a:p>
          <a:p>
            <a:pPr>
              <a:buSzPct val="90000"/>
            </a:pPr>
            <a:r>
              <a:rPr lang="en-US" altLang="en-US" sz="2800" dirty="0" smtClean="0"/>
              <a:t>Antiparallel Pair</a:t>
            </a:r>
          </a:p>
          <a:p>
            <a:pPr lvl="1"/>
            <a:r>
              <a:rPr lang="en-US" altLang="en-US" sz="2400" dirty="0" err="1" smtClean="0"/>
              <a:t>subharmonic</a:t>
            </a:r>
            <a:r>
              <a:rPr lang="en-US" altLang="en-US" sz="2400" dirty="0" smtClean="0"/>
              <a:t> mixers</a:t>
            </a:r>
          </a:p>
        </p:txBody>
      </p:sp>
      <p:grpSp>
        <p:nvGrpSpPr>
          <p:cNvPr id="18436" name="Group 4"/>
          <p:cNvGrpSpPr>
            <a:grpSpLocks/>
          </p:cNvGrpSpPr>
          <p:nvPr/>
        </p:nvGrpSpPr>
        <p:grpSpPr bwMode="auto">
          <a:xfrm>
            <a:off x="5716588" y="1906588"/>
            <a:ext cx="1293812" cy="303212"/>
            <a:chOff x="3601" y="1201"/>
            <a:chExt cx="815" cy="191"/>
          </a:xfrm>
        </p:grpSpPr>
        <p:sp>
          <p:nvSpPr>
            <p:cNvPr id="18488" name="Line 5"/>
            <p:cNvSpPr>
              <a:spLocks noChangeShapeType="1"/>
            </p:cNvSpPr>
            <p:nvPr/>
          </p:nvSpPr>
          <p:spPr bwMode="auto">
            <a:xfrm>
              <a:off x="3601" y="1296"/>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89" name="Line 6"/>
            <p:cNvSpPr>
              <a:spLocks noChangeShapeType="1"/>
            </p:cNvSpPr>
            <p:nvPr/>
          </p:nvSpPr>
          <p:spPr bwMode="auto">
            <a:xfrm>
              <a:off x="3937" y="1297"/>
              <a:ext cx="143"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90" name="Line 7"/>
            <p:cNvSpPr>
              <a:spLocks noChangeShapeType="1"/>
            </p:cNvSpPr>
            <p:nvPr/>
          </p:nvSpPr>
          <p:spPr bwMode="auto">
            <a:xfrm flipH="1">
              <a:off x="3937" y="1201"/>
              <a:ext cx="143"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91" name="Line 8"/>
            <p:cNvSpPr>
              <a:spLocks noChangeShapeType="1"/>
            </p:cNvSpPr>
            <p:nvPr/>
          </p:nvSpPr>
          <p:spPr bwMode="auto">
            <a:xfrm>
              <a:off x="4080" y="1201"/>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92" name="Line 9"/>
            <p:cNvSpPr>
              <a:spLocks noChangeShapeType="1"/>
            </p:cNvSpPr>
            <p:nvPr/>
          </p:nvSpPr>
          <p:spPr bwMode="auto">
            <a:xfrm>
              <a:off x="4081" y="1296"/>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93" name="Line 10"/>
            <p:cNvSpPr>
              <a:spLocks noChangeShapeType="1"/>
            </p:cNvSpPr>
            <p:nvPr/>
          </p:nvSpPr>
          <p:spPr bwMode="auto">
            <a:xfrm>
              <a:off x="3936" y="1201"/>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8437" name="Group 11"/>
          <p:cNvGrpSpPr>
            <a:grpSpLocks/>
          </p:cNvGrpSpPr>
          <p:nvPr/>
        </p:nvGrpSpPr>
        <p:grpSpPr bwMode="auto">
          <a:xfrm>
            <a:off x="5411788" y="3049588"/>
            <a:ext cx="2055812" cy="531812"/>
            <a:chOff x="3409" y="1921"/>
            <a:chExt cx="1295" cy="335"/>
          </a:xfrm>
        </p:grpSpPr>
        <p:grpSp>
          <p:nvGrpSpPr>
            <p:cNvPr id="18473" name="Group 12"/>
            <p:cNvGrpSpPr>
              <a:grpSpLocks/>
            </p:cNvGrpSpPr>
            <p:nvPr/>
          </p:nvGrpSpPr>
          <p:grpSpPr bwMode="auto">
            <a:xfrm>
              <a:off x="3409" y="1921"/>
              <a:ext cx="815" cy="191"/>
              <a:chOff x="3409" y="1921"/>
              <a:chExt cx="815" cy="191"/>
            </a:xfrm>
          </p:grpSpPr>
          <p:sp>
            <p:nvSpPr>
              <p:cNvPr id="18482" name="Line 13"/>
              <p:cNvSpPr>
                <a:spLocks noChangeShapeType="1"/>
              </p:cNvSpPr>
              <p:nvPr/>
            </p:nvSpPr>
            <p:spPr bwMode="auto">
              <a:xfrm flipH="1">
                <a:off x="3889" y="2016"/>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83" name="Line 14"/>
              <p:cNvSpPr>
                <a:spLocks noChangeShapeType="1"/>
              </p:cNvSpPr>
              <p:nvPr/>
            </p:nvSpPr>
            <p:spPr bwMode="auto">
              <a:xfrm flipH="1">
                <a:off x="3745" y="2017"/>
                <a:ext cx="143"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84" name="Line 15"/>
              <p:cNvSpPr>
                <a:spLocks noChangeShapeType="1"/>
              </p:cNvSpPr>
              <p:nvPr/>
            </p:nvSpPr>
            <p:spPr bwMode="auto">
              <a:xfrm>
                <a:off x="3745" y="1921"/>
                <a:ext cx="143"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85" name="Line 16"/>
              <p:cNvSpPr>
                <a:spLocks noChangeShapeType="1"/>
              </p:cNvSpPr>
              <p:nvPr/>
            </p:nvSpPr>
            <p:spPr bwMode="auto">
              <a:xfrm>
                <a:off x="3744" y="1921"/>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86" name="Line 17"/>
              <p:cNvSpPr>
                <a:spLocks noChangeShapeType="1"/>
              </p:cNvSpPr>
              <p:nvPr/>
            </p:nvSpPr>
            <p:spPr bwMode="auto">
              <a:xfrm flipH="1">
                <a:off x="3409" y="2016"/>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87" name="Line 18"/>
              <p:cNvSpPr>
                <a:spLocks noChangeShapeType="1"/>
              </p:cNvSpPr>
              <p:nvPr/>
            </p:nvSpPr>
            <p:spPr bwMode="auto">
              <a:xfrm>
                <a:off x="3888" y="1921"/>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8474" name="Group 19"/>
            <p:cNvGrpSpPr>
              <a:grpSpLocks/>
            </p:cNvGrpSpPr>
            <p:nvPr/>
          </p:nvGrpSpPr>
          <p:grpSpPr bwMode="auto">
            <a:xfrm>
              <a:off x="3889" y="1921"/>
              <a:ext cx="815" cy="191"/>
              <a:chOff x="3889" y="1921"/>
              <a:chExt cx="815" cy="191"/>
            </a:xfrm>
          </p:grpSpPr>
          <p:sp>
            <p:nvSpPr>
              <p:cNvPr id="18476" name="Line 20"/>
              <p:cNvSpPr>
                <a:spLocks noChangeShapeType="1"/>
              </p:cNvSpPr>
              <p:nvPr/>
            </p:nvSpPr>
            <p:spPr bwMode="auto">
              <a:xfrm flipH="1">
                <a:off x="4369" y="2016"/>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77" name="Line 21"/>
              <p:cNvSpPr>
                <a:spLocks noChangeShapeType="1"/>
              </p:cNvSpPr>
              <p:nvPr/>
            </p:nvSpPr>
            <p:spPr bwMode="auto">
              <a:xfrm flipH="1">
                <a:off x="4225" y="2017"/>
                <a:ext cx="143"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78" name="Line 22"/>
              <p:cNvSpPr>
                <a:spLocks noChangeShapeType="1"/>
              </p:cNvSpPr>
              <p:nvPr/>
            </p:nvSpPr>
            <p:spPr bwMode="auto">
              <a:xfrm>
                <a:off x="4225" y="1921"/>
                <a:ext cx="143"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79" name="Line 23"/>
              <p:cNvSpPr>
                <a:spLocks noChangeShapeType="1"/>
              </p:cNvSpPr>
              <p:nvPr/>
            </p:nvSpPr>
            <p:spPr bwMode="auto">
              <a:xfrm>
                <a:off x="4224" y="1921"/>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80" name="Line 24"/>
              <p:cNvSpPr>
                <a:spLocks noChangeShapeType="1"/>
              </p:cNvSpPr>
              <p:nvPr/>
            </p:nvSpPr>
            <p:spPr bwMode="auto">
              <a:xfrm flipH="1">
                <a:off x="3889" y="2016"/>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81" name="Line 25"/>
              <p:cNvSpPr>
                <a:spLocks noChangeShapeType="1"/>
              </p:cNvSpPr>
              <p:nvPr/>
            </p:nvSpPr>
            <p:spPr bwMode="auto">
              <a:xfrm>
                <a:off x="4368" y="1921"/>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8475" name="Line 26"/>
            <p:cNvSpPr>
              <a:spLocks noChangeShapeType="1"/>
            </p:cNvSpPr>
            <p:nvPr/>
          </p:nvSpPr>
          <p:spPr bwMode="auto">
            <a:xfrm>
              <a:off x="4080" y="2017"/>
              <a:ext cx="0" cy="2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8438" name="Group 27"/>
          <p:cNvGrpSpPr>
            <a:grpSpLocks/>
          </p:cNvGrpSpPr>
          <p:nvPr/>
        </p:nvGrpSpPr>
        <p:grpSpPr bwMode="auto">
          <a:xfrm>
            <a:off x="5487988" y="4192588"/>
            <a:ext cx="2055812" cy="531812"/>
            <a:chOff x="3457" y="2641"/>
            <a:chExt cx="1295" cy="335"/>
          </a:xfrm>
        </p:grpSpPr>
        <p:grpSp>
          <p:nvGrpSpPr>
            <p:cNvPr id="18458" name="Group 28"/>
            <p:cNvGrpSpPr>
              <a:grpSpLocks/>
            </p:cNvGrpSpPr>
            <p:nvPr/>
          </p:nvGrpSpPr>
          <p:grpSpPr bwMode="auto">
            <a:xfrm>
              <a:off x="3937" y="2641"/>
              <a:ext cx="815" cy="191"/>
              <a:chOff x="3937" y="2641"/>
              <a:chExt cx="815" cy="191"/>
            </a:xfrm>
          </p:grpSpPr>
          <p:sp>
            <p:nvSpPr>
              <p:cNvPr id="18467" name="Line 29"/>
              <p:cNvSpPr>
                <a:spLocks noChangeShapeType="1"/>
              </p:cNvSpPr>
              <p:nvPr/>
            </p:nvSpPr>
            <p:spPr bwMode="auto">
              <a:xfrm>
                <a:off x="3937" y="2736"/>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68" name="Line 30"/>
              <p:cNvSpPr>
                <a:spLocks noChangeShapeType="1"/>
              </p:cNvSpPr>
              <p:nvPr/>
            </p:nvSpPr>
            <p:spPr bwMode="auto">
              <a:xfrm>
                <a:off x="4273" y="2737"/>
                <a:ext cx="143"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69" name="Line 31"/>
              <p:cNvSpPr>
                <a:spLocks noChangeShapeType="1"/>
              </p:cNvSpPr>
              <p:nvPr/>
            </p:nvSpPr>
            <p:spPr bwMode="auto">
              <a:xfrm flipH="1">
                <a:off x="4273" y="2641"/>
                <a:ext cx="143"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70" name="Line 32"/>
              <p:cNvSpPr>
                <a:spLocks noChangeShapeType="1"/>
              </p:cNvSpPr>
              <p:nvPr/>
            </p:nvSpPr>
            <p:spPr bwMode="auto">
              <a:xfrm>
                <a:off x="4416" y="2641"/>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71" name="Line 33"/>
              <p:cNvSpPr>
                <a:spLocks noChangeShapeType="1"/>
              </p:cNvSpPr>
              <p:nvPr/>
            </p:nvSpPr>
            <p:spPr bwMode="auto">
              <a:xfrm>
                <a:off x="4417" y="2736"/>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72" name="Line 34"/>
              <p:cNvSpPr>
                <a:spLocks noChangeShapeType="1"/>
              </p:cNvSpPr>
              <p:nvPr/>
            </p:nvSpPr>
            <p:spPr bwMode="auto">
              <a:xfrm>
                <a:off x="4272" y="2641"/>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8459" name="Group 35"/>
            <p:cNvGrpSpPr>
              <a:grpSpLocks/>
            </p:cNvGrpSpPr>
            <p:nvPr/>
          </p:nvGrpSpPr>
          <p:grpSpPr bwMode="auto">
            <a:xfrm>
              <a:off x="3457" y="2641"/>
              <a:ext cx="815" cy="191"/>
              <a:chOff x="3457" y="2641"/>
              <a:chExt cx="815" cy="191"/>
            </a:xfrm>
          </p:grpSpPr>
          <p:sp>
            <p:nvSpPr>
              <p:cNvPr id="18461" name="Line 36"/>
              <p:cNvSpPr>
                <a:spLocks noChangeShapeType="1"/>
              </p:cNvSpPr>
              <p:nvPr/>
            </p:nvSpPr>
            <p:spPr bwMode="auto">
              <a:xfrm>
                <a:off x="3457" y="2736"/>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62" name="Line 37"/>
              <p:cNvSpPr>
                <a:spLocks noChangeShapeType="1"/>
              </p:cNvSpPr>
              <p:nvPr/>
            </p:nvSpPr>
            <p:spPr bwMode="auto">
              <a:xfrm>
                <a:off x="3793" y="2737"/>
                <a:ext cx="143"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63" name="Line 38"/>
              <p:cNvSpPr>
                <a:spLocks noChangeShapeType="1"/>
              </p:cNvSpPr>
              <p:nvPr/>
            </p:nvSpPr>
            <p:spPr bwMode="auto">
              <a:xfrm flipH="1">
                <a:off x="3793" y="2641"/>
                <a:ext cx="143"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64" name="Line 39"/>
              <p:cNvSpPr>
                <a:spLocks noChangeShapeType="1"/>
              </p:cNvSpPr>
              <p:nvPr/>
            </p:nvSpPr>
            <p:spPr bwMode="auto">
              <a:xfrm>
                <a:off x="3936" y="2641"/>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65" name="Line 40"/>
              <p:cNvSpPr>
                <a:spLocks noChangeShapeType="1"/>
              </p:cNvSpPr>
              <p:nvPr/>
            </p:nvSpPr>
            <p:spPr bwMode="auto">
              <a:xfrm>
                <a:off x="3937" y="2736"/>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66" name="Line 41"/>
              <p:cNvSpPr>
                <a:spLocks noChangeShapeType="1"/>
              </p:cNvSpPr>
              <p:nvPr/>
            </p:nvSpPr>
            <p:spPr bwMode="auto">
              <a:xfrm>
                <a:off x="3792" y="2641"/>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8460" name="Line 42"/>
            <p:cNvSpPr>
              <a:spLocks noChangeShapeType="1"/>
            </p:cNvSpPr>
            <p:nvPr/>
          </p:nvSpPr>
          <p:spPr bwMode="auto">
            <a:xfrm>
              <a:off x="4080" y="2737"/>
              <a:ext cx="0" cy="2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8439" name="Group 43"/>
          <p:cNvGrpSpPr>
            <a:grpSpLocks/>
          </p:cNvGrpSpPr>
          <p:nvPr/>
        </p:nvGrpSpPr>
        <p:grpSpPr bwMode="auto">
          <a:xfrm>
            <a:off x="5183188" y="5183188"/>
            <a:ext cx="2360612" cy="684212"/>
            <a:chOff x="3265" y="3265"/>
            <a:chExt cx="1487" cy="431"/>
          </a:xfrm>
        </p:grpSpPr>
        <p:grpSp>
          <p:nvGrpSpPr>
            <p:cNvPr id="18440" name="Group 44"/>
            <p:cNvGrpSpPr>
              <a:grpSpLocks/>
            </p:cNvGrpSpPr>
            <p:nvPr/>
          </p:nvGrpSpPr>
          <p:grpSpPr bwMode="auto">
            <a:xfrm>
              <a:off x="3601" y="3265"/>
              <a:ext cx="815" cy="191"/>
              <a:chOff x="3601" y="3265"/>
              <a:chExt cx="815" cy="191"/>
            </a:xfrm>
          </p:grpSpPr>
          <p:sp>
            <p:nvSpPr>
              <p:cNvPr id="18452" name="Line 45"/>
              <p:cNvSpPr>
                <a:spLocks noChangeShapeType="1"/>
              </p:cNvSpPr>
              <p:nvPr/>
            </p:nvSpPr>
            <p:spPr bwMode="auto">
              <a:xfrm>
                <a:off x="3601" y="3360"/>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53" name="Line 46"/>
              <p:cNvSpPr>
                <a:spLocks noChangeShapeType="1"/>
              </p:cNvSpPr>
              <p:nvPr/>
            </p:nvSpPr>
            <p:spPr bwMode="auto">
              <a:xfrm>
                <a:off x="3937" y="3361"/>
                <a:ext cx="143"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54" name="Line 47"/>
              <p:cNvSpPr>
                <a:spLocks noChangeShapeType="1"/>
              </p:cNvSpPr>
              <p:nvPr/>
            </p:nvSpPr>
            <p:spPr bwMode="auto">
              <a:xfrm flipH="1">
                <a:off x="3937" y="3265"/>
                <a:ext cx="143"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55" name="Line 48"/>
              <p:cNvSpPr>
                <a:spLocks noChangeShapeType="1"/>
              </p:cNvSpPr>
              <p:nvPr/>
            </p:nvSpPr>
            <p:spPr bwMode="auto">
              <a:xfrm>
                <a:off x="4080" y="3265"/>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56" name="Line 49"/>
              <p:cNvSpPr>
                <a:spLocks noChangeShapeType="1"/>
              </p:cNvSpPr>
              <p:nvPr/>
            </p:nvSpPr>
            <p:spPr bwMode="auto">
              <a:xfrm>
                <a:off x="4081" y="3360"/>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57" name="Line 50"/>
              <p:cNvSpPr>
                <a:spLocks noChangeShapeType="1"/>
              </p:cNvSpPr>
              <p:nvPr/>
            </p:nvSpPr>
            <p:spPr bwMode="auto">
              <a:xfrm>
                <a:off x="3936" y="3265"/>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8441" name="Group 51"/>
            <p:cNvGrpSpPr>
              <a:grpSpLocks/>
            </p:cNvGrpSpPr>
            <p:nvPr/>
          </p:nvGrpSpPr>
          <p:grpSpPr bwMode="auto">
            <a:xfrm>
              <a:off x="3601" y="3505"/>
              <a:ext cx="815" cy="191"/>
              <a:chOff x="3601" y="3505"/>
              <a:chExt cx="815" cy="191"/>
            </a:xfrm>
          </p:grpSpPr>
          <p:sp>
            <p:nvSpPr>
              <p:cNvPr id="18446" name="Line 52"/>
              <p:cNvSpPr>
                <a:spLocks noChangeShapeType="1"/>
              </p:cNvSpPr>
              <p:nvPr/>
            </p:nvSpPr>
            <p:spPr bwMode="auto">
              <a:xfrm flipH="1">
                <a:off x="4081" y="3600"/>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47" name="Line 53"/>
              <p:cNvSpPr>
                <a:spLocks noChangeShapeType="1"/>
              </p:cNvSpPr>
              <p:nvPr/>
            </p:nvSpPr>
            <p:spPr bwMode="auto">
              <a:xfrm flipH="1">
                <a:off x="3937" y="3601"/>
                <a:ext cx="143"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48" name="Line 54"/>
              <p:cNvSpPr>
                <a:spLocks noChangeShapeType="1"/>
              </p:cNvSpPr>
              <p:nvPr/>
            </p:nvSpPr>
            <p:spPr bwMode="auto">
              <a:xfrm>
                <a:off x="3937" y="3505"/>
                <a:ext cx="143"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49" name="Line 55"/>
              <p:cNvSpPr>
                <a:spLocks noChangeShapeType="1"/>
              </p:cNvSpPr>
              <p:nvPr/>
            </p:nvSpPr>
            <p:spPr bwMode="auto">
              <a:xfrm>
                <a:off x="3936" y="3505"/>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50" name="Line 56"/>
              <p:cNvSpPr>
                <a:spLocks noChangeShapeType="1"/>
              </p:cNvSpPr>
              <p:nvPr/>
            </p:nvSpPr>
            <p:spPr bwMode="auto">
              <a:xfrm flipH="1">
                <a:off x="3601" y="3600"/>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51" name="Line 57"/>
              <p:cNvSpPr>
                <a:spLocks noChangeShapeType="1"/>
              </p:cNvSpPr>
              <p:nvPr/>
            </p:nvSpPr>
            <p:spPr bwMode="auto">
              <a:xfrm>
                <a:off x="4080" y="3505"/>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8442" name="Line 58"/>
            <p:cNvSpPr>
              <a:spLocks noChangeShapeType="1"/>
            </p:cNvSpPr>
            <p:nvPr/>
          </p:nvSpPr>
          <p:spPr bwMode="auto">
            <a:xfrm flipH="1">
              <a:off x="3265" y="3504"/>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43" name="Line 59"/>
            <p:cNvSpPr>
              <a:spLocks noChangeShapeType="1"/>
            </p:cNvSpPr>
            <p:nvPr/>
          </p:nvSpPr>
          <p:spPr bwMode="auto">
            <a:xfrm flipH="1">
              <a:off x="4417" y="3504"/>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44" name="Line 60"/>
            <p:cNvSpPr>
              <a:spLocks noChangeShapeType="1"/>
            </p:cNvSpPr>
            <p:nvPr/>
          </p:nvSpPr>
          <p:spPr bwMode="auto">
            <a:xfrm>
              <a:off x="3600" y="3361"/>
              <a:ext cx="0" cy="2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45" name="Line 61"/>
            <p:cNvSpPr>
              <a:spLocks noChangeShapeType="1"/>
            </p:cNvSpPr>
            <p:nvPr/>
          </p:nvSpPr>
          <p:spPr bwMode="auto">
            <a:xfrm>
              <a:off x="4416" y="3361"/>
              <a:ext cx="0" cy="2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13825316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a:xfrm>
            <a:off x="304800" y="76200"/>
            <a:ext cx="7543800" cy="838200"/>
          </a:xfrm>
          <a:noFill/>
        </p:spPr>
        <p:txBody>
          <a:bodyPr lIns="92075" tIns="46038" rIns="92075" bIns="46038" anchor="ctr"/>
          <a:lstStyle/>
          <a:p>
            <a:r>
              <a:rPr lang="en-US" altLang="en-US" dirty="0" smtClean="0"/>
              <a:t>Schottky Diode Configurations - Quads </a:t>
            </a:r>
          </a:p>
        </p:txBody>
      </p:sp>
      <p:sp>
        <p:nvSpPr>
          <p:cNvPr id="4101" name="Rectangle 3"/>
          <p:cNvSpPr>
            <a:spLocks noGrp="1" noChangeArrowheads="1"/>
          </p:cNvSpPr>
          <p:nvPr>
            <p:ph type="body" idx="1"/>
          </p:nvPr>
        </p:nvSpPr>
        <p:spPr>
          <a:xfrm>
            <a:off x="304800" y="1600200"/>
            <a:ext cx="4419600" cy="4114800"/>
          </a:xfrm>
          <a:noFill/>
        </p:spPr>
        <p:txBody>
          <a:bodyPr lIns="92075" tIns="46038" rIns="92075" bIns="46038"/>
          <a:lstStyle/>
          <a:p>
            <a:pPr>
              <a:lnSpc>
                <a:spcPct val="90000"/>
              </a:lnSpc>
              <a:buSzPct val="90000"/>
            </a:pPr>
            <a:r>
              <a:rPr lang="en-US" altLang="en-US" sz="2800" dirty="0" smtClean="0"/>
              <a:t>Ring Quad</a:t>
            </a:r>
          </a:p>
          <a:p>
            <a:pPr lvl="1">
              <a:lnSpc>
                <a:spcPct val="90000"/>
              </a:lnSpc>
            </a:pPr>
            <a:r>
              <a:rPr lang="en-US" altLang="en-US" sz="2400" dirty="0" smtClean="0"/>
              <a:t>Double balanced mixers </a:t>
            </a:r>
          </a:p>
          <a:p>
            <a:pPr>
              <a:lnSpc>
                <a:spcPct val="90000"/>
              </a:lnSpc>
              <a:buSzPct val="90000"/>
            </a:pPr>
            <a:endParaRPr lang="en-US" altLang="en-US" sz="2800" dirty="0" smtClean="0"/>
          </a:p>
          <a:p>
            <a:pPr>
              <a:lnSpc>
                <a:spcPct val="90000"/>
              </a:lnSpc>
              <a:buFontTx/>
              <a:buNone/>
            </a:pPr>
            <a:endParaRPr lang="en-US" altLang="en-US" sz="2800" dirty="0" smtClean="0"/>
          </a:p>
          <a:p>
            <a:pPr>
              <a:lnSpc>
                <a:spcPct val="90000"/>
              </a:lnSpc>
              <a:buSzPct val="90000"/>
            </a:pPr>
            <a:r>
              <a:rPr lang="en-US" altLang="en-US" sz="2800" dirty="0" smtClean="0"/>
              <a:t>Crossover Ring Quad</a:t>
            </a:r>
          </a:p>
          <a:p>
            <a:pPr lvl="1">
              <a:lnSpc>
                <a:spcPct val="90000"/>
              </a:lnSpc>
              <a:buSzPct val="90000"/>
            </a:pPr>
            <a:r>
              <a:rPr lang="en-US" altLang="en-US" sz="2400" dirty="0" smtClean="0"/>
              <a:t>Double balanced mixers</a:t>
            </a:r>
          </a:p>
          <a:p>
            <a:pPr lvl="1">
              <a:lnSpc>
                <a:spcPct val="90000"/>
              </a:lnSpc>
              <a:buSzPct val="90000"/>
            </a:pPr>
            <a:r>
              <a:rPr lang="en-US" altLang="en-US" sz="2400" dirty="0" smtClean="0"/>
              <a:t>Same circuit as ring quad (above), but easier to build on a single-layer circuit board</a:t>
            </a:r>
          </a:p>
          <a:p>
            <a:pPr>
              <a:lnSpc>
                <a:spcPct val="90000"/>
              </a:lnSpc>
              <a:buSzPct val="90000"/>
            </a:pPr>
            <a:endParaRPr lang="en-US" altLang="en-US" sz="2800" dirty="0" smtClean="0"/>
          </a:p>
        </p:txBody>
      </p:sp>
      <p:graphicFrame>
        <p:nvGraphicFramePr>
          <p:cNvPr id="4098" name="Object 62"/>
          <p:cNvGraphicFramePr>
            <a:graphicFrameLocks noChangeAspect="1"/>
          </p:cNvGraphicFramePr>
          <p:nvPr/>
        </p:nvGraphicFramePr>
        <p:xfrm>
          <a:off x="5334000" y="4114800"/>
          <a:ext cx="3048000" cy="1530350"/>
        </p:xfrm>
        <a:graphic>
          <a:graphicData uri="http://schemas.openxmlformats.org/presentationml/2006/ole">
            <mc:AlternateContent xmlns:mc="http://schemas.openxmlformats.org/markup-compatibility/2006">
              <mc:Choice xmlns:v="urn:schemas-microsoft-com:vml" Requires="v">
                <p:oleObj spid="_x0000_s7198" name="Visio" r:id="rId4" imgW="1665000" imgH="835920" progId="Visio.Drawing.6">
                  <p:embed/>
                </p:oleObj>
              </mc:Choice>
              <mc:Fallback>
                <p:oleObj name="Visio" r:id="rId4" imgW="1665000" imgH="835920"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0" y="4114800"/>
                        <a:ext cx="3048000" cy="153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9" name="Object 64"/>
          <p:cNvGraphicFramePr>
            <a:graphicFrameLocks noChangeAspect="1"/>
          </p:cNvGraphicFramePr>
          <p:nvPr/>
        </p:nvGraphicFramePr>
        <p:xfrm>
          <a:off x="5638800" y="1371600"/>
          <a:ext cx="2667000" cy="2046288"/>
        </p:xfrm>
        <a:graphic>
          <a:graphicData uri="http://schemas.openxmlformats.org/presentationml/2006/ole">
            <mc:AlternateContent xmlns:mc="http://schemas.openxmlformats.org/markup-compatibility/2006">
              <mc:Choice xmlns:v="urn:schemas-microsoft-com:vml" Requires="v">
                <p:oleObj spid="_x0000_s7199" name="Visio" r:id="rId6" imgW="1275480" imgH="978120" progId="Visio.Drawing.6">
                  <p:embed/>
                </p:oleObj>
              </mc:Choice>
              <mc:Fallback>
                <p:oleObj name="Visio" r:id="rId6" imgW="1275480" imgH="97812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38800" y="1371600"/>
                        <a:ext cx="2667000" cy="204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393626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4"/>
          <p:cNvSpPr>
            <a:spLocks noGrp="1" noChangeArrowheads="1"/>
          </p:cNvSpPr>
          <p:nvPr>
            <p:ph type="title"/>
          </p:nvPr>
        </p:nvSpPr>
        <p:spPr>
          <a:xfrm>
            <a:off x="304800" y="76200"/>
            <a:ext cx="8458200" cy="838200"/>
          </a:xfrm>
        </p:spPr>
        <p:txBody>
          <a:bodyPr/>
          <a:lstStyle/>
          <a:p>
            <a:pPr eaLnBrk="1" hangingPunct="1"/>
            <a:r>
              <a:rPr lang="en-US" altLang="en-US" dirty="0" smtClean="0"/>
              <a:t>Schottky Diode Configurations – Back-to-Back Crossover Ring Quads</a:t>
            </a:r>
          </a:p>
        </p:txBody>
      </p:sp>
      <p:sp>
        <p:nvSpPr>
          <p:cNvPr id="5125" name="Rectangle 5"/>
          <p:cNvSpPr>
            <a:spLocks noGrp="1" noChangeArrowheads="1"/>
          </p:cNvSpPr>
          <p:nvPr>
            <p:ph type="body" idx="1"/>
          </p:nvPr>
        </p:nvSpPr>
        <p:spPr>
          <a:xfrm>
            <a:off x="457200" y="2667000"/>
            <a:ext cx="3810000" cy="2590800"/>
          </a:xfrm>
        </p:spPr>
        <p:txBody>
          <a:bodyPr/>
          <a:lstStyle/>
          <a:p>
            <a:pPr eaLnBrk="1" hangingPunct="1"/>
            <a:r>
              <a:rPr lang="en-US" altLang="en-US" sz="2800" dirty="0" smtClean="0"/>
              <a:t>Crossover Ring Quad</a:t>
            </a:r>
          </a:p>
          <a:p>
            <a:pPr lvl="1" eaLnBrk="1" hangingPunct="1"/>
            <a:r>
              <a:rPr lang="en-US" altLang="en-US" sz="2400" dirty="0" smtClean="0"/>
              <a:t>Used for higher-power double balanced mixers</a:t>
            </a:r>
          </a:p>
          <a:p>
            <a:pPr lvl="1" eaLnBrk="1" hangingPunct="1"/>
            <a:r>
              <a:rPr lang="en-US" altLang="en-US" sz="2400" dirty="0" smtClean="0"/>
              <a:t>Two ring quads connected (almost) in parallel</a:t>
            </a:r>
          </a:p>
          <a:p>
            <a:pPr lvl="1" eaLnBrk="1" hangingPunct="1"/>
            <a:endParaRPr lang="en-US" altLang="en-US" sz="2400" dirty="0" smtClean="0"/>
          </a:p>
        </p:txBody>
      </p:sp>
      <p:graphicFrame>
        <p:nvGraphicFramePr>
          <p:cNvPr id="5122" name="Object 8"/>
          <p:cNvGraphicFramePr>
            <a:graphicFrameLocks noChangeAspect="1"/>
          </p:cNvGraphicFramePr>
          <p:nvPr/>
        </p:nvGraphicFramePr>
        <p:xfrm>
          <a:off x="4038600" y="1676400"/>
          <a:ext cx="4195763" cy="1960563"/>
        </p:xfrm>
        <a:graphic>
          <a:graphicData uri="http://schemas.openxmlformats.org/presentationml/2006/ole">
            <mc:AlternateContent xmlns:mc="http://schemas.openxmlformats.org/markup-compatibility/2006">
              <mc:Choice xmlns:v="urn:schemas-microsoft-com:vml" Requires="v">
                <p:oleObj spid="_x0000_s8222" name="Visio" r:id="rId4" imgW="4196520" imgH="1961280" progId="Visio.Drawing.6">
                  <p:embed/>
                </p:oleObj>
              </mc:Choice>
              <mc:Fallback>
                <p:oleObj name="Visio" r:id="rId4" imgW="4196520" imgH="1961280"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1676400"/>
                        <a:ext cx="4195763" cy="196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3" name="Object 9"/>
          <p:cNvGraphicFramePr>
            <a:graphicFrameLocks noChangeAspect="1"/>
          </p:cNvGraphicFramePr>
          <p:nvPr/>
        </p:nvGraphicFramePr>
        <p:xfrm>
          <a:off x="3886200" y="3886200"/>
          <a:ext cx="3754438" cy="1785938"/>
        </p:xfrm>
        <a:graphic>
          <a:graphicData uri="http://schemas.openxmlformats.org/presentationml/2006/ole">
            <mc:AlternateContent xmlns:mc="http://schemas.openxmlformats.org/markup-compatibility/2006">
              <mc:Choice xmlns:v="urn:schemas-microsoft-com:vml" Requires="v">
                <p:oleObj spid="_x0000_s8223" name="Visio" r:id="rId6" imgW="3755160" imgH="1786680" progId="Visio.Drawing.6">
                  <p:embed/>
                </p:oleObj>
              </mc:Choice>
              <mc:Fallback>
                <p:oleObj name="Visio" r:id="rId6" imgW="3755160" imgH="178668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86200" y="3886200"/>
                        <a:ext cx="3754438" cy="1785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853298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04800" y="76200"/>
            <a:ext cx="7162800" cy="838200"/>
          </a:xfrm>
          <a:noFill/>
        </p:spPr>
        <p:txBody>
          <a:bodyPr lIns="92075" tIns="46038" rIns="92075" bIns="46038" anchor="ctr"/>
          <a:lstStyle/>
          <a:p>
            <a:r>
              <a:rPr lang="en-US" altLang="en-US" dirty="0" smtClean="0"/>
              <a:t>Schottky Diodes – Specifications of Interest</a:t>
            </a:r>
          </a:p>
        </p:txBody>
      </p:sp>
      <p:sp>
        <p:nvSpPr>
          <p:cNvPr id="19459" name="Rectangle 3"/>
          <p:cNvSpPr>
            <a:spLocks noGrp="1" noChangeArrowheads="1"/>
          </p:cNvSpPr>
          <p:nvPr>
            <p:ph type="body" idx="1"/>
          </p:nvPr>
        </p:nvSpPr>
        <p:spPr>
          <a:noFill/>
        </p:spPr>
        <p:txBody>
          <a:bodyPr lIns="92075" tIns="46038" rIns="92075" bIns="46038"/>
          <a:lstStyle/>
          <a:p>
            <a:pPr marL="342900" indent="-342900">
              <a:buSzPct val="90000"/>
            </a:pPr>
            <a:r>
              <a:rPr lang="en-US" altLang="en-US" sz="2800" dirty="0" smtClean="0"/>
              <a:t>Capacitance - determined by circuit design</a:t>
            </a:r>
          </a:p>
          <a:p>
            <a:pPr marL="342900" indent="-342900">
              <a:buSzPct val="90000"/>
            </a:pPr>
            <a:r>
              <a:rPr lang="en-US" altLang="en-US" sz="2800" dirty="0" smtClean="0"/>
              <a:t>Forward voltage (barrier height) - determined by type of circuit (low power mixer, detector)</a:t>
            </a:r>
          </a:p>
          <a:p>
            <a:pPr marL="342900" indent="-342900">
              <a:buSzPct val="90000"/>
            </a:pPr>
            <a:r>
              <a:rPr lang="en-US" altLang="en-US" sz="2800" dirty="0" smtClean="0"/>
              <a:t>Configuration</a:t>
            </a:r>
          </a:p>
          <a:p>
            <a:pPr marL="742950" lvl="1" indent="-285750"/>
            <a:r>
              <a:rPr lang="en-US" altLang="en-US" sz="2400" dirty="0" smtClean="0"/>
              <a:t>single junction, series pair, etc.</a:t>
            </a:r>
          </a:p>
          <a:p>
            <a:pPr marL="342900" indent="-342900">
              <a:buSzPct val="90000"/>
            </a:pPr>
            <a:r>
              <a:rPr lang="en-US" altLang="en-US" sz="2800" dirty="0" smtClean="0"/>
              <a:t>Package Style</a:t>
            </a:r>
          </a:p>
          <a:p>
            <a:pPr marL="742950" lvl="1" indent="-285750"/>
            <a:r>
              <a:rPr lang="en-US" altLang="en-US" sz="2400" dirty="0" smtClean="0"/>
              <a:t>plastic, chip-on-board, multi-junction, etc.</a:t>
            </a:r>
          </a:p>
        </p:txBody>
      </p:sp>
    </p:spTree>
    <p:extLst>
      <p:ext uri="{BB962C8B-B14F-4D97-AF65-F5344CB8AC3E}">
        <p14:creationId xmlns:p14="http://schemas.microsoft.com/office/powerpoint/2010/main" val="30408758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noFill/>
        </p:spPr>
        <p:txBody>
          <a:bodyPr lIns="92075" tIns="46038" rIns="92075" bIns="46038" anchor="ctr"/>
          <a:lstStyle/>
          <a:p>
            <a:r>
              <a:rPr lang="en-US" altLang="en-US" dirty="0" smtClean="0"/>
              <a:t>Single-ended Mixer</a:t>
            </a:r>
          </a:p>
        </p:txBody>
      </p:sp>
      <p:grpSp>
        <p:nvGrpSpPr>
          <p:cNvPr id="20483" name="Group 3"/>
          <p:cNvGrpSpPr>
            <a:grpSpLocks/>
          </p:cNvGrpSpPr>
          <p:nvPr/>
        </p:nvGrpSpPr>
        <p:grpSpPr bwMode="auto">
          <a:xfrm>
            <a:off x="2286000" y="1757363"/>
            <a:ext cx="5638800" cy="2205037"/>
            <a:chOff x="1440" y="1107"/>
            <a:chExt cx="3552" cy="1389"/>
          </a:xfrm>
        </p:grpSpPr>
        <p:grpSp>
          <p:nvGrpSpPr>
            <p:cNvPr id="20485" name="Group 4"/>
            <p:cNvGrpSpPr>
              <a:grpSpLocks/>
            </p:cNvGrpSpPr>
            <p:nvPr/>
          </p:nvGrpSpPr>
          <p:grpSpPr bwMode="auto">
            <a:xfrm>
              <a:off x="1828" y="1107"/>
              <a:ext cx="2712" cy="1389"/>
              <a:chOff x="1828" y="1107"/>
              <a:chExt cx="2712" cy="1389"/>
            </a:xfrm>
          </p:grpSpPr>
          <p:sp>
            <p:nvSpPr>
              <p:cNvPr id="20490" name="Rectangle 5"/>
              <p:cNvSpPr>
                <a:spLocks noChangeArrowheads="1"/>
              </p:cNvSpPr>
              <p:nvPr/>
            </p:nvSpPr>
            <p:spPr bwMode="auto">
              <a:xfrm>
                <a:off x="3703" y="1107"/>
                <a:ext cx="576" cy="69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0491" name="Rectangle 6"/>
              <p:cNvSpPr>
                <a:spLocks noChangeArrowheads="1"/>
              </p:cNvSpPr>
              <p:nvPr/>
            </p:nvSpPr>
            <p:spPr bwMode="auto">
              <a:xfrm>
                <a:off x="3765" y="1278"/>
                <a:ext cx="388"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1000">
                    <a:latin typeface="Times New Roman" panose="02020603050405020304" pitchFamily="18" charset="0"/>
                  </a:rPr>
                  <a:t>Lowpass </a:t>
                </a:r>
              </a:p>
              <a:p>
                <a:pPr algn="ctr"/>
                <a:r>
                  <a:rPr lang="en-US" altLang="en-US" sz="1000">
                    <a:latin typeface="Times New Roman" panose="02020603050405020304" pitchFamily="18" charset="0"/>
                  </a:rPr>
                  <a:t>Filter</a:t>
                </a:r>
              </a:p>
            </p:txBody>
          </p:sp>
          <p:sp>
            <p:nvSpPr>
              <p:cNvPr id="20492" name="Line 7"/>
              <p:cNvSpPr>
                <a:spLocks noChangeShapeType="1"/>
              </p:cNvSpPr>
              <p:nvPr/>
            </p:nvSpPr>
            <p:spPr bwMode="auto">
              <a:xfrm>
                <a:off x="4282" y="1452"/>
                <a:ext cx="25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493" name="Line 8"/>
              <p:cNvSpPr>
                <a:spLocks noChangeShapeType="1"/>
              </p:cNvSpPr>
              <p:nvPr/>
            </p:nvSpPr>
            <p:spPr bwMode="auto">
              <a:xfrm>
                <a:off x="3443" y="1366"/>
                <a:ext cx="128" cy="8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494" name="Line 9"/>
              <p:cNvSpPr>
                <a:spLocks noChangeShapeType="1"/>
              </p:cNvSpPr>
              <p:nvPr/>
            </p:nvSpPr>
            <p:spPr bwMode="auto">
              <a:xfrm flipV="1">
                <a:off x="3442" y="1452"/>
                <a:ext cx="128" cy="8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495" name="Line 10"/>
              <p:cNvSpPr>
                <a:spLocks noChangeShapeType="1"/>
              </p:cNvSpPr>
              <p:nvPr/>
            </p:nvSpPr>
            <p:spPr bwMode="auto">
              <a:xfrm>
                <a:off x="3442" y="1366"/>
                <a:ext cx="0" cy="17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496" name="Line 11"/>
              <p:cNvSpPr>
                <a:spLocks noChangeShapeType="1"/>
              </p:cNvSpPr>
              <p:nvPr/>
            </p:nvSpPr>
            <p:spPr bwMode="auto">
              <a:xfrm>
                <a:off x="3571" y="1366"/>
                <a:ext cx="0" cy="17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497" name="Line 12"/>
              <p:cNvSpPr>
                <a:spLocks noChangeShapeType="1"/>
              </p:cNvSpPr>
              <p:nvPr/>
            </p:nvSpPr>
            <p:spPr bwMode="auto">
              <a:xfrm>
                <a:off x="3572" y="1452"/>
                <a:ext cx="12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498" name="Line 13"/>
              <p:cNvSpPr>
                <a:spLocks noChangeShapeType="1"/>
              </p:cNvSpPr>
              <p:nvPr/>
            </p:nvSpPr>
            <p:spPr bwMode="auto">
              <a:xfrm>
                <a:off x="3313" y="1452"/>
                <a:ext cx="129"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0499" name="Group 14"/>
              <p:cNvGrpSpPr>
                <a:grpSpLocks/>
              </p:cNvGrpSpPr>
              <p:nvPr/>
            </p:nvGrpSpPr>
            <p:grpSpPr bwMode="auto">
              <a:xfrm>
                <a:off x="3184" y="1627"/>
                <a:ext cx="130" cy="608"/>
                <a:chOff x="3184" y="1627"/>
                <a:chExt cx="130" cy="608"/>
              </a:xfrm>
            </p:grpSpPr>
            <p:grpSp>
              <p:nvGrpSpPr>
                <p:cNvPr id="20531" name="Group 15"/>
                <p:cNvGrpSpPr>
                  <a:grpSpLocks/>
                </p:cNvGrpSpPr>
                <p:nvPr/>
              </p:nvGrpSpPr>
              <p:grpSpPr bwMode="auto">
                <a:xfrm>
                  <a:off x="3184" y="1810"/>
                  <a:ext cx="130" cy="121"/>
                  <a:chOff x="3184" y="1810"/>
                  <a:chExt cx="130" cy="121"/>
                </a:xfrm>
              </p:grpSpPr>
              <p:sp>
                <p:nvSpPr>
                  <p:cNvPr id="20543" name="Arc 16"/>
                  <p:cNvSpPr>
                    <a:spLocks/>
                  </p:cNvSpPr>
                  <p:nvPr/>
                </p:nvSpPr>
                <p:spPr bwMode="auto">
                  <a:xfrm>
                    <a:off x="3184" y="1869"/>
                    <a:ext cx="130" cy="62"/>
                  </a:xfrm>
                  <a:custGeom>
                    <a:avLst/>
                    <a:gdLst>
                      <a:gd name="T0" fmla="*/ 129 w 21600"/>
                      <a:gd name="T1" fmla="*/ 62 h 21599"/>
                      <a:gd name="T2" fmla="*/ 0 w 21600"/>
                      <a:gd name="T3" fmla="*/ 0 h 21599"/>
                      <a:gd name="T4" fmla="*/ 130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30" y="21599"/>
                        </a:moveTo>
                        <a:cubicBezTo>
                          <a:pt x="9567" y="21506"/>
                          <a:pt x="0" y="11863"/>
                          <a:pt x="0" y="0"/>
                        </a:cubicBezTo>
                      </a:path>
                      <a:path w="21600" h="21599" stroke="0" extrusionOk="0">
                        <a:moveTo>
                          <a:pt x="21430" y="21599"/>
                        </a:moveTo>
                        <a:cubicBezTo>
                          <a:pt x="9567" y="21506"/>
                          <a:pt x="0" y="11863"/>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0544" name="Arc 17"/>
                  <p:cNvSpPr>
                    <a:spLocks/>
                  </p:cNvSpPr>
                  <p:nvPr/>
                </p:nvSpPr>
                <p:spPr bwMode="auto">
                  <a:xfrm>
                    <a:off x="3184" y="1810"/>
                    <a:ext cx="130" cy="62"/>
                  </a:xfrm>
                  <a:custGeom>
                    <a:avLst/>
                    <a:gdLst>
                      <a:gd name="T0" fmla="*/ 0 w 21600"/>
                      <a:gd name="T1" fmla="*/ 62 h 21599"/>
                      <a:gd name="T2" fmla="*/ 129 w 21600"/>
                      <a:gd name="T3" fmla="*/ 0 h 21599"/>
                      <a:gd name="T4" fmla="*/ 130 w 21600"/>
                      <a:gd name="T5" fmla="*/ 62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34"/>
                          <a:pt x="9569" y="90"/>
                          <a:pt x="21433" y="-1"/>
                        </a:cubicBezTo>
                      </a:path>
                      <a:path w="21600" h="21599" stroke="0" extrusionOk="0">
                        <a:moveTo>
                          <a:pt x="0" y="21599"/>
                        </a:moveTo>
                        <a:cubicBezTo>
                          <a:pt x="0" y="9734"/>
                          <a:pt x="9569" y="90"/>
                          <a:pt x="21433"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532" name="Group 18"/>
                <p:cNvGrpSpPr>
                  <a:grpSpLocks/>
                </p:cNvGrpSpPr>
                <p:nvPr/>
              </p:nvGrpSpPr>
              <p:grpSpPr bwMode="auto">
                <a:xfrm>
                  <a:off x="3184" y="1931"/>
                  <a:ext cx="130" cy="122"/>
                  <a:chOff x="3184" y="1931"/>
                  <a:chExt cx="130" cy="122"/>
                </a:xfrm>
              </p:grpSpPr>
              <p:sp>
                <p:nvSpPr>
                  <p:cNvPr id="20541" name="Arc 19"/>
                  <p:cNvSpPr>
                    <a:spLocks/>
                  </p:cNvSpPr>
                  <p:nvPr/>
                </p:nvSpPr>
                <p:spPr bwMode="auto">
                  <a:xfrm>
                    <a:off x="3184" y="1992"/>
                    <a:ext cx="130" cy="61"/>
                  </a:xfrm>
                  <a:custGeom>
                    <a:avLst/>
                    <a:gdLst>
                      <a:gd name="T0" fmla="*/ 129 w 21600"/>
                      <a:gd name="T1" fmla="*/ 61 h 21599"/>
                      <a:gd name="T2" fmla="*/ 0 w 21600"/>
                      <a:gd name="T3" fmla="*/ 0 h 21599"/>
                      <a:gd name="T4" fmla="*/ 130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30" y="21599"/>
                        </a:moveTo>
                        <a:cubicBezTo>
                          <a:pt x="9567" y="21506"/>
                          <a:pt x="0" y="11863"/>
                          <a:pt x="0" y="0"/>
                        </a:cubicBezTo>
                      </a:path>
                      <a:path w="21600" h="21599" stroke="0" extrusionOk="0">
                        <a:moveTo>
                          <a:pt x="21430" y="21599"/>
                        </a:moveTo>
                        <a:cubicBezTo>
                          <a:pt x="9567" y="21506"/>
                          <a:pt x="0" y="11863"/>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0542" name="Arc 20"/>
                  <p:cNvSpPr>
                    <a:spLocks/>
                  </p:cNvSpPr>
                  <p:nvPr/>
                </p:nvSpPr>
                <p:spPr bwMode="auto">
                  <a:xfrm>
                    <a:off x="3184" y="1931"/>
                    <a:ext cx="130" cy="62"/>
                  </a:xfrm>
                  <a:custGeom>
                    <a:avLst/>
                    <a:gdLst>
                      <a:gd name="T0" fmla="*/ 0 w 21600"/>
                      <a:gd name="T1" fmla="*/ 62 h 21599"/>
                      <a:gd name="T2" fmla="*/ 129 w 21600"/>
                      <a:gd name="T3" fmla="*/ 0 h 21599"/>
                      <a:gd name="T4" fmla="*/ 130 w 21600"/>
                      <a:gd name="T5" fmla="*/ 62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34"/>
                          <a:pt x="9569" y="90"/>
                          <a:pt x="21433" y="-1"/>
                        </a:cubicBezTo>
                      </a:path>
                      <a:path w="21600" h="21599" stroke="0" extrusionOk="0">
                        <a:moveTo>
                          <a:pt x="0" y="21599"/>
                        </a:moveTo>
                        <a:cubicBezTo>
                          <a:pt x="0" y="9734"/>
                          <a:pt x="9569" y="90"/>
                          <a:pt x="21433"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533" name="Group 21"/>
                <p:cNvGrpSpPr>
                  <a:grpSpLocks/>
                </p:cNvGrpSpPr>
                <p:nvPr/>
              </p:nvGrpSpPr>
              <p:grpSpPr bwMode="auto">
                <a:xfrm>
                  <a:off x="3184" y="2052"/>
                  <a:ext cx="130" cy="123"/>
                  <a:chOff x="3184" y="2052"/>
                  <a:chExt cx="130" cy="123"/>
                </a:xfrm>
              </p:grpSpPr>
              <p:sp>
                <p:nvSpPr>
                  <p:cNvPr id="20539" name="Arc 22"/>
                  <p:cNvSpPr>
                    <a:spLocks/>
                  </p:cNvSpPr>
                  <p:nvPr/>
                </p:nvSpPr>
                <p:spPr bwMode="auto">
                  <a:xfrm>
                    <a:off x="3184" y="2113"/>
                    <a:ext cx="130" cy="62"/>
                  </a:xfrm>
                  <a:custGeom>
                    <a:avLst/>
                    <a:gdLst>
                      <a:gd name="T0" fmla="*/ 129 w 21600"/>
                      <a:gd name="T1" fmla="*/ 62 h 21599"/>
                      <a:gd name="T2" fmla="*/ 0 w 21600"/>
                      <a:gd name="T3" fmla="*/ 0 h 21599"/>
                      <a:gd name="T4" fmla="*/ 130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30" y="21599"/>
                        </a:moveTo>
                        <a:cubicBezTo>
                          <a:pt x="9567" y="21506"/>
                          <a:pt x="0" y="11863"/>
                          <a:pt x="0" y="0"/>
                        </a:cubicBezTo>
                      </a:path>
                      <a:path w="21600" h="21599" stroke="0" extrusionOk="0">
                        <a:moveTo>
                          <a:pt x="21430" y="21599"/>
                        </a:moveTo>
                        <a:cubicBezTo>
                          <a:pt x="9567" y="21506"/>
                          <a:pt x="0" y="11863"/>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0540" name="Arc 23"/>
                  <p:cNvSpPr>
                    <a:spLocks/>
                  </p:cNvSpPr>
                  <p:nvPr/>
                </p:nvSpPr>
                <p:spPr bwMode="auto">
                  <a:xfrm>
                    <a:off x="3184" y="2052"/>
                    <a:ext cx="130" cy="62"/>
                  </a:xfrm>
                  <a:custGeom>
                    <a:avLst/>
                    <a:gdLst>
                      <a:gd name="T0" fmla="*/ 0 w 21600"/>
                      <a:gd name="T1" fmla="*/ 62 h 21599"/>
                      <a:gd name="T2" fmla="*/ 129 w 21600"/>
                      <a:gd name="T3" fmla="*/ 0 h 21599"/>
                      <a:gd name="T4" fmla="*/ 130 w 21600"/>
                      <a:gd name="T5" fmla="*/ 62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34"/>
                          <a:pt x="9569" y="90"/>
                          <a:pt x="21433" y="-1"/>
                        </a:cubicBezTo>
                      </a:path>
                      <a:path w="21600" h="21599" stroke="0" extrusionOk="0">
                        <a:moveTo>
                          <a:pt x="0" y="21599"/>
                        </a:moveTo>
                        <a:cubicBezTo>
                          <a:pt x="0" y="9734"/>
                          <a:pt x="9569" y="90"/>
                          <a:pt x="21433"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0534" name="Group 24"/>
                <p:cNvGrpSpPr>
                  <a:grpSpLocks/>
                </p:cNvGrpSpPr>
                <p:nvPr/>
              </p:nvGrpSpPr>
              <p:grpSpPr bwMode="auto">
                <a:xfrm>
                  <a:off x="3184" y="1689"/>
                  <a:ext cx="130" cy="120"/>
                  <a:chOff x="3184" y="1689"/>
                  <a:chExt cx="130" cy="120"/>
                </a:xfrm>
              </p:grpSpPr>
              <p:sp>
                <p:nvSpPr>
                  <p:cNvPr id="20537" name="Arc 25"/>
                  <p:cNvSpPr>
                    <a:spLocks/>
                  </p:cNvSpPr>
                  <p:nvPr/>
                </p:nvSpPr>
                <p:spPr bwMode="auto">
                  <a:xfrm>
                    <a:off x="3184" y="1748"/>
                    <a:ext cx="130" cy="61"/>
                  </a:xfrm>
                  <a:custGeom>
                    <a:avLst/>
                    <a:gdLst>
                      <a:gd name="T0" fmla="*/ 129 w 21600"/>
                      <a:gd name="T1" fmla="*/ 61 h 21599"/>
                      <a:gd name="T2" fmla="*/ 0 w 21600"/>
                      <a:gd name="T3" fmla="*/ 0 h 21599"/>
                      <a:gd name="T4" fmla="*/ 130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30" y="21599"/>
                        </a:moveTo>
                        <a:cubicBezTo>
                          <a:pt x="9567" y="21506"/>
                          <a:pt x="0" y="11863"/>
                          <a:pt x="0" y="0"/>
                        </a:cubicBezTo>
                      </a:path>
                      <a:path w="21600" h="21599" stroke="0" extrusionOk="0">
                        <a:moveTo>
                          <a:pt x="21430" y="21599"/>
                        </a:moveTo>
                        <a:cubicBezTo>
                          <a:pt x="9567" y="21506"/>
                          <a:pt x="0" y="11863"/>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0538" name="Arc 26"/>
                  <p:cNvSpPr>
                    <a:spLocks/>
                  </p:cNvSpPr>
                  <p:nvPr/>
                </p:nvSpPr>
                <p:spPr bwMode="auto">
                  <a:xfrm>
                    <a:off x="3184" y="1689"/>
                    <a:ext cx="130" cy="61"/>
                  </a:xfrm>
                  <a:custGeom>
                    <a:avLst/>
                    <a:gdLst>
                      <a:gd name="T0" fmla="*/ 0 w 21600"/>
                      <a:gd name="T1" fmla="*/ 61 h 21599"/>
                      <a:gd name="T2" fmla="*/ 129 w 21600"/>
                      <a:gd name="T3" fmla="*/ 0 h 21599"/>
                      <a:gd name="T4" fmla="*/ 130 w 21600"/>
                      <a:gd name="T5" fmla="*/ 61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34"/>
                          <a:pt x="9569" y="90"/>
                          <a:pt x="21433" y="-1"/>
                        </a:cubicBezTo>
                      </a:path>
                      <a:path w="21600" h="21599" stroke="0" extrusionOk="0">
                        <a:moveTo>
                          <a:pt x="0" y="21599"/>
                        </a:moveTo>
                        <a:cubicBezTo>
                          <a:pt x="0" y="9734"/>
                          <a:pt x="9569" y="90"/>
                          <a:pt x="21433"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sp>
              <p:nvSpPr>
                <p:cNvPr id="20535" name="Line 27"/>
                <p:cNvSpPr>
                  <a:spLocks noChangeShapeType="1"/>
                </p:cNvSpPr>
                <p:nvPr/>
              </p:nvSpPr>
              <p:spPr bwMode="auto">
                <a:xfrm flipV="1">
                  <a:off x="3312" y="1627"/>
                  <a:ext cx="0" cy="6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36" name="Line 28"/>
                <p:cNvSpPr>
                  <a:spLocks noChangeShapeType="1"/>
                </p:cNvSpPr>
                <p:nvPr/>
              </p:nvSpPr>
              <p:spPr bwMode="auto">
                <a:xfrm flipV="1">
                  <a:off x="3312" y="2174"/>
                  <a:ext cx="0" cy="6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0500" name="Line 29"/>
              <p:cNvSpPr>
                <a:spLocks noChangeShapeType="1"/>
              </p:cNvSpPr>
              <p:nvPr/>
            </p:nvSpPr>
            <p:spPr bwMode="auto">
              <a:xfrm flipV="1">
                <a:off x="3312" y="1453"/>
                <a:ext cx="0" cy="17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01" name="Line 30"/>
              <p:cNvSpPr>
                <a:spLocks noChangeShapeType="1"/>
              </p:cNvSpPr>
              <p:nvPr/>
            </p:nvSpPr>
            <p:spPr bwMode="auto">
              <a:xfrm flipV="1">
                <a:off x="3312" y="2234"/>
                <a:ext cx="0" cy="17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0502" name="Group 31"/>
              <p:cNvGrpSpPr>
                <a:grpSpLocks/>
              </p:cNvGrpSpPr>
              <p:nvPr/>
            </p:nvGrpSpPr>
            <p:grpSpPr bwMode="auto">
              <a:xfrm>
                <a:off x="2538" y="1714"/>
                <a:ext cx="517" cy="347"/>
                <a:chOff x="2538" y="1714"/>
                <a:chExt cx="517" cy="347"/>
              </a:xfrm>
            </p:grpSpPr>
            <p:grpSp>
              <p:nvGrpSpPr>
                <p:cNvPr id="20515" name="Group 32"/>
                <p:cNvGrpSpPr>
                  <a:grpSpLocks/>
                </p:cNvGrpSpPr>
                <p:nvPr/>
              </p:nvGrpSpPr>
              <p:grpSpPr bwMode="auto">
                <a:xfrm>
                  <a:off x="2538" y="1887"/>
                  <a:ext cx="517" cy="174"/>
                  <a:chOff x="2538" y="1887"/>
                  <a:chExt cx="517" cy="174"/>
                </a:xfrm>
              </p:grpSpPr>
              <p:sp>
                <p:nvSpPr>
                  <p:cNvPr id="20517" name="Line 33"/>
                  <p:cNvSpPr>
                    <a:spLocks noChangeShapeType="1"/>
                  </p:cNvSpPr>
                  <p:nvPr/>
                </p:nvSpPr>
                <p:spPr bwMode="auto">
                  <a:xfrm>
                    <a:off x="2974" y="1974"/>
                    <a:ext cx="81"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0518" name="Group 34"/>
                  <p:cNvGrpSpPr>
                    <a:grpSpLocks/>
                  </p:cNvGrpSpPr>
                  <p:nvPr/>
                </p:nvGrpSpPr>
                <p:grpSpPr bwMode="auto">
                  <a:xfrm>
                    <a:off x="2538" y="1887"/>
                    <a:ext cx="434" cy="174"/>
                    <a:chOff x="2538" y="1887"/>
                    <a:chExt cx="434" cy="174"/>
                  </a:xfrm>
                </p:grpSpPr>
                <p:sp>
                  <p:nvSpPr>
                    <p:cNvPr id="20519" name="Line 35"/>
                    <p:cNvSpPr>
                      <a:spLocks noChangeShapeType="1"/>
                    </p:cNvSpPr>
                    <p:nvPr/>
                  </p:nvSpPr>
                  <p:spPr bwMode="auto">
                    <a:xfrm>
                      <a:off x="2538" y="1974"/>
                      <a:ext cx="8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20" name="Line 36"/>
                    <p:cNvSpPr>
                      <a:spLocks noChangeShapeType="1"/>
                    </p:cNvSpPr>
                    <p:nvPr/>
                  </p:nvSpPr>
                  <p:spPr bwMode="auto">
                    <a:xfrm flipV="1">
                      <a:off x="2625" y="1887"/>
                      <a:ext cx="44" cy="8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0521" name="Group 37"/>
                    <p:cNvGrpSpPr>
                      <a:grpSpLocks/>
                    </p:cNvGrpSpPr>
                    <p:nvPr/>
                  </p:nvGrpSpPr>
                  <p:grpSpPr bwMode="auto">
                    <a:xfrm>
                      <a:off x="2759" y="1887"/>
                      <a:ext cx="86" cy="173"/>
                      <a:chOff x="2759" y="1887"/>
                      <a:chExt cx="86" cy="173"/>
                    </a:xfrm>
                  </p:grpSpPr>
                  <p:sp>
                    <p:nvSpPr>
                      <p:cNvPr id="20529" name="Line 38"/>
                      <p:cNvSpPr>
                        <a:spLocks noChangeShapeType="1"/>
                      </p:cNvSpPr>
                      <p:nvPr/>
                    </p:nvSpPr>
                    <p:spPr bwMode="auto">
                      <a:xfrm flipV="1">
                        <a:off x="2759" y="1974"/>
                        <a:ext cx="43" cy="8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30" name="Line 39"/>
                      <p:cNvSpPr>
                        <a:spLocks noChangeShapeType="1"/>
                      </p:cNvSpPr>
                      <p:nvPr/>
                    </p:nvSpPr>
                    <p:spPr bwMode="auto">
                      <a:xfrm flipV="1">
                        <a:off x="2802" y="1887"/>
                        <a:ext cx="43" cy="8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0522" name="Group 40"/>
                    <p:cNvGrpSpPr>
                      <a:grpSpLocks/>
                    </p:cNvGrpSpPr>
                    <p:nvPr/>
                  </p:nvGrpSpPr>
                  <p:grpSpPr bwMode="auto">
                    <a:xfrm>
                      <a:off x="2846" y="1888"/>
                      <a:ext cx="88" cy="173"/>
                      <a:chOff x="2846" y="1888"/>
                      <a:chExt cx="88" cy="173"/>
                    </a:xfrm>
                  </p:grpSpPr>
                  <p:sp>
                    <p:nvSpPr>
                      <p:cNvPr id="20527" name="Line 41"/>
                      <p:cNvSpPr>
                        <a:spLocks noChangeShapeType="1"/>
                      </p:cNvSpPr>
                      <p:nvPr/>
                    </p:nvSpPr>
                    <p:spPr bwMode="auto">
                      <a:xfrm>
                        <a:off x="2846" y="1888"/>
                        <a:ext cx="44" cy="8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28" name="Line 42"/>
                      <p:cNvSpPr>
                        <a:spLocks noChangeShapeType="1"/>
                      </p:cNvSpPr>
                      <p:nvPr/>
                    </p:nvSpPr>
                    <p:spPr bwMode="auto">
                      <a:xfrm>
                        <a:off x="2890" y="1975"/>
                        <a:ext cx="44" cy="8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0523" name="Group 43"/>
                    <p:cNvGrpSpPr>
                      <a:grpSpLocks/>
                    </p:cNvGrpSpPr>
                    <p:nvPr/>
                  </p:nvGrpSpPr>
                  <p:grpSpPr bwMode="auto">
                    <a:xfrm>
                      <a:off x="2670" y="1888"/>
                      <a:ext cx="88" cy="173"/>
                      <a:chOff x="2670" y="1888"/>
                      <a:chExt cx="88" cy="173"/>
                    </a:xfrm>
                  </p:grpSpPr>
                  <p:sp>
                    <p:nvSpPr>
                      <p:cNvPr id="20525" name="Line 44"/>
                      <p:cNvSpPr>
                        <a:spLocks noChangeShapeType="1"/>
                      </p:cNvSpPr>
                      <p:nvPr/>
                    </p:nvSpPr>
                    <p:spPr bwMode="auto">
                      <a:xfrm>
                        <a:off x="2670" y="1888"/>
                        <a:ext cx="44" cy="8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26" name="Line 45"/>
                      <p:cNvSpPr>
                        <a:spLocks noChangeShapeType="1"/>
                      </p:cNvSpPr>
                      <p:nvPr/>
                    </p:nvSpPr>
                    <p:spPr bwMode="auto">
                      <a:xfrm>
                        <a:off x="2714" y="1975"/>
                        <a:ext cx="44" cy="8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0524" name="Line 46"/>
                    <p:cNvSpPr>
                      <a:spLocks noChangeShapeType="1"/>
                    </p:cNvSpPr>
                    <p:nvPr/>
                  </p:nvSpPr>
                  <p:spPr bwMode="auto">
                    <a:xfrm flipV="1">
                      <a:off x="2928" y="1974"/>
                      <a:ext cx="44" cy="8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0516" name="Line 47"/>
                <p:cNvSpPr>
                  <a:spLocks noChangeShapeType="1"/>
                </p:cNvSpPr>
                <p:nvPr/>
              </p:nvSpPr>
              <p:spPr bwMode="auto">
                <a:xfrm>
                  <a:off x="2796" y="1714"/>
                  <a:ext cx="0" cy="26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0503" name="Line 48"/>
              <p:cNvSpPr>
                <a:spLocks noChangeShapeType="1"/>
              </p:cNvSpPr>
              <p:nvPr/>
            </p:nvSpPr>
            <p:spPr bwMode="auto">
              <a:xfrm flipH="1">
                <a:off x="2151" y="1713"/>
                <a:ext cx="64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04" name="Line 49"/>
              <p:cNvSpPr>
                <a:spLocks noChangeShapeType="1"/>
              </p:cNvSpPr>
              <p:nvPr/>
            </p:nvSpPr>
            <p:spPr bwMode="auto">
              <a:xfrm>
                <a:off x="2150" y="1714"/>
                <a:ext cx="1" cy="52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05" name="Line 50"/>
              <p:cNvSpPr>
                <a:spLocks noChangeShapeType="1"/>
              </p:cNvSpPr>
              <p:nvPr/>
            </p:nvSpPr>
            <p:spPr bwMode="auto">
              <a:xfrm flipH="1">
                <a:off x="2022" y="1452"/>
                <a:ext cx="1097"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06" name="Line 51"/>
              <p:cNvSpPr>
                <a:spLocks noChangeShapeType="1"/>
              </p:cNvSpPr>
              <p:nvPr/>
            </p:nvSpPr>
            <p:spPr bwMode="auto">
              <a:xfrm flipV="1">
                <a:off x="2215" y="1539"/>
                <a:ext cx="516" cy="8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07" name="Line 52"/>
              <p:cNvSpPr>
                <a:spLocks noChangeShapeType="1"/>
              </p:cNvSpPr>
              <p:nvPr/>
            </p:nvSpPr>
            <p:spPr bwMode="auto">
              <a:xfrm>
                <a:off x="2216" y="1540"/>
                <a:ext cx="516" cy="8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08" name="Line 53"/>
              <p:cNvSpPr>
                <a:spLocks noChangeShapeType="1"/>
              </p:cNvSpPr>
              <p:nvPr/>
            </p:nvSpPr>
            <p:spPr bwMode="auto">
              <a:xfrm>
                <a:off x="3120" y="1452"/>
                <a:ext cx="19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09" name="Line 54"/>
              <p:cNvSpPr>
                <a:spLocks noChangeShapeType="1"/>
              </p:cNvSpPr>
              <p:nvPr/>
            </p:nvSpPr>
            <p:spPr bwMode="auto">
              <a:xfrm flipH="1">
                <a:off x="1828" y="1452"/>
                <a:ext cx="19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10" name="Line 55"/>
              <p:cNvSpPr>
                <a:spLocks noChangeShapeType="1"/>
              </p:cNvSpPr>
              <p:nvPr/>
            </p:nvSpPr>
            <p:spPr bwMode="auto">
              <a:xfrm>
                <a:off x="3249" y="2408"/>
                <a:ext cx="128"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11" name="Line 56"/>
              <p:cNvSpPr>
                <a:spLocks noChangeShapeType="1"/>
              </p:cNvSpPr>
              <p:nvPr/>
            </p:nvSpPr>
            <p:spPr bwMode="auto">
              <a:xfrm flipH="1">
                <a:off x="3184" y="2409"/>
                <a:ext cx="64" cy="8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12" name="Line 57"/>
              <p:cNvSpPr>
                <a:spLocks noChangeShapeType="1"/>
              </p:cNvSpPr>
              <p:nvPr/>
            </p:nvSpPr>
            <p:spPr bwMode="auto">
              <a:xfrm flipH="1">
                <a:off x="3249" y="2409"/>
                <a:ext cx="64" cy="8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13" name="Line 58"/>
              <p:cNvSpPr>
                <a:spLocks noChangeShapeType="1"/>
              </p:cNvSpPr>
              <p:nvPr/>
            </p:nvSpPr>
            <p:spPr bwMode="auto">
              <a:xfrm flipH="1">
                <a:off x="3313" y="2409"/>
                <a:ext cx="64" cy="8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14" name="Rectangle 59"/>
              <p:cNvSpPr>
                <a:spLocks noChangeArrowheads="1"/>
              </p:cNvSpPr>
              <p:nvPr/>
            </p:nvSpPr>
            <p:spPr bwMode="auto">
              <a:xfrm>
                <a:off x="2778" y="1950"/>
                <a:ext cx="18" cy="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endParaRPr lang="en-US" altLang="en-US">
                  <a:latin typeface="Times New Roman" panose="02020603050405020304" pitchFamily="18" charset="0"/>
                </a:endParaRPr>
              </a:p>
            </p:txBody>
          </p:sp>
        </p:grpSp>
        <p:sp>
          <p:nvSpPr>
            <p:cNvPr id="20486" name="Rectangle 60"/>
            <p:cNvSpPr>
              <a:spLocks noChangeArrowheads="1"/>
            </p:cNvSpPr>
            <p:nvPr/>
          </p:nvSpPr>
          <p:spPr bwMode="auto">
            <a:xfrm>
              <a:off x="1957" y="2322"/>
              <a:ext cx="38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LO Input</a:t>
              </a:r>
            </a:p>
          </p:txBody>
        </p:sp>
        <p:sp>
          <p:nvSpPr>
            <p:cNvPr id="20487" name="Rectangle 61"/>
            <p:cNvSpPr>
              <a:spLocks noChangeArrowheads="1"/>
            </p:cNvSpPr>
            <p:nvPr/>
          </p:nvSpPr>
          <p:spPr bwMode="auto">
            <a:xfrm>
              <a:off x="1440" y="1365"/>
              <a:ext cx="452"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RF Input</a:t>
              </a:r>
            </a:p>
          </p:txBody>
        </p:sp>
        <p:sp>
          <p:nvSpPr>
            <p:cNvPr id="20488" name="Rectangle 62"/>
            <p:cNvSpPr>
              <a:spLocks noChangeArrowheads="1"/>
            </p:cNvSpPr>
            <p:nvPr/>
          </p:nvSpPr>
          <p:spPr bwMode="auto">
            <a:xfrm>
              <a:off x="4604" y="1365"/>
              <a:ext cx="38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IF Output</a:t>
              </a:r>
            </a:p>
          </p:txBody>
        </p:sp>
        <p:sp>
          <p:nvSpPr>
            <p:cNvPr id="20489" name="Rectangle 63"/>
            <p:cNvSpPr>
              <a:spLocks noChangeArrowheads="1"/>
            </p:cNvSpPr>
            <p:nvPr/>
          </p:nvSpPr>
          <p:spPr bwMode="auto">
            <a:xfrm>
              <a:off x="3377" y="1887"/>
              <a:ext cx="388"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RF Choke</a:t>
              </a:r>
            </a:p>
          </p:txBody>
        </p:sp>
      </p:grpSp>
      <p:sp>
        <p:nvSpPr>
          <p:cNvPr id="20484" name="Rectangle 64"/>
          <p:cNvSpPr>
            <a:spLocks noGrp="1" noChangeArrowheads="1"/>
          </p:cNvSpPr>
          <p:nvPr>
            <p:ph type="body" idx="1"/>
          </p:nvPr>
        </p:nvSpPr>
        <p:spPr>
          <a:xfrm>
            <a:off x="304800" y="4267200"/>
            <a:ext cx="8458200" cy="1752600"/>
          </a:xfrm>
          <a:noFill/>
        </p:spPr>
        <p:txBody>
          <a:bodyPr lIns="92075" tIns="46038" rIns="92075" bIns="46038"/>
          <a:lstStyle/>
          <a:p>
            <a:pPr>
              <a:buSzPct val="90000"/>
            </a:pPr>
            <a:r>
              <a:rPr lang="en-US" altLang="en-US" sz="2800" dirty="0" smtClean="0"/>
              <a:t>Very simple design</a:t>
            </a:r>
          </a:p>
          <a:p>
            <a:pPr lvl="1">
              <a:buSzPct val="90000"/>
            </a:pPr>
            <a:r>
              <a:rPr lang="en-US" altLang="en-US" sz="2400" dirty="0" smtClean="0"/>
              <a:t>Includes single Schottky diode </a:t>
            </a:r>
          </a:p>
          <a:p>
            <a:pPr>
              <a:buSzPct val="90000"/>
            </a:pPr>
            <a:r>
              <a:rPr lang="en-US" altLang="en-US" sz="2800" dirty="0" smtClean="0"/>
              <a:t>Poor inter-port isolation</a:t>
            </a:r>
          </a:p>
        </p:txBody>
      </p:sp>
    </p:spTree>
    <p:extLst>
      <p:ext uri="{BB962C8B-B14F-4D97-AF65-F5344CB8AC3E}">
        <p14:creationId xmlns:p14="http://schemas.microsoft.com/office/powerpoint/2010/main" val="16657158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p:spPr>
        <p:txBody>
          <a:bodyPr lIns="92075" tIns="46038" rIns="92075" bIns="46038" anchor="ctr"/>
          <a:lstStyle/>
          <a:p>
            <a:r>
              <a:rPr lang="en-US" altLang="en-US" smtClean="0"/>
              <a:t>Balanced Mixer</a:t>
            </a:r>
          </a:p>
        </p:txBody>
      </p:sp>
      <p:grpSp>
        <p:nvGrpSpPr>
          <p:cNvPr id="21507" name="Group 3"/>
          <p:cNvGrpSpPr>
            <a:grpSpLocks/>
          </p:cNvGrpSpPr>
          <p:nvPr/>
        </p:nvGrpSpPr>
        <p:grpSpPr bwMode="auto">
          <a:xfrm>
            <a:off x="2057400" y="1600199"/>
            <a:ext cx="5395913" cy="2653749"/>
            <a:chOff x="1296" y="1296"/>
            <a:chExt cx="3399" cy="1248"/>
          </a:xfrm>
        </p:grpSpPr>
        <p:sp>
          <p:nvSpPr>
            <p:cNvPr id="21509" name="Line 4"/>
            <p:cNvSpPr>
              <a:spLocks noChangeShapeType="1"/>
            </p:cNvSpPr>
            <p:nvPr/>
          </p:nvSpPr>
          <p:spPr bwMode="auto">
            <a:xfrm flipH="1">
              <a:off x="1700" y="1700"/>
              <a:ext cx="23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10" name="Line 5"/>
            <p:cNvSpPr>
              <a:spLocks noChangeShapeType="1"/>
            </p:cNvSpPr>
            <p:nvPr/>
          </p:nvSpPr>
          <p:spPr bwMode="auto">
            <a:xfrm flipH="1">
              <a:off x="1700" y="2103"/>
              <a:ext cx="230"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11" name="Line 6"/>
            <p:cNvSpPr>
              <a:spLocks noChangeShapeType="1"/>
            </p:cNvSpPr>
            <p:nvPr/>
          </p:nvSpPr>
          <p:spPr bwMode="auto">
            <a:xfrm>
              <a:off x="3198" y="2068"/>
              <a:ext cx="114" cy="3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12" name="Line 7"/>
            <p:cNvSpPr>
              <a:spLocks noChangeShapeType="1"/>
            </p:cNvSpPr>
            <p:nvPr/>
          </p:nvSpPr>
          <p:spPr bwMode="auto">
            <a:xfrm flipV="1">
              <a:off x="3197" y="2103"/>
              <a:ext cx="114" cy="3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13" name="Line 8"/>
            <p:cNvSpPr>
              <a:spLocks noChangeShapeType="1"/>
            </p:cNvSpPr>
            <p:nvPr/>
          </p:nvSpPr>
          <p:spPr bwMode="auto">
            <a:xfrm>
              <a:off x="3197" y="2068"/>
              <a:ext cx="0" cy="7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14" name="Line 9"/>
            <p:cNvSpPr>
              <a:spLocks noChangeShapeType="1"/>
            </p:cNvSpPr>
            <p:nvPr/>
          </p:nvSpPr>
          <p:spPr bwMode="auto">
            <a:xfrm>
              <a:off x="3312" y="2068"/>
              <a:ext cx="0" cy="7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15" name="Line 10"/>
            <p:cNvSpPr>
              <a:spLocks noChangeShapeType="1"/>
            </p:cNvSpPr>
            <p:nvPr/>
          </p:nvSpPr>
          <p:spPr bwMode="auto">
            <a:xfrm>
              <a:off x="3313" y="2103"/>
              <a:ext cx="115"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16" name="Line 11"/>
            <p:cNvSpPr>
              <a:spLocks noChangeShapeType="1"/>
            </p:cNvSpPr>
            <p:nvPr/>
          </p:nvSpPr>
          <p:spPr bwMode="auto">
            <a:xfrm>
              <a:off x="3083" y="2103"/>
              <a:ext cx="114"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1517" name="Group 12"/>
            <p:cNvGrpSpPr>
              <a:grpSpLocks/>
            </p:cNvGrpSpPr>
            <p:nvPr/>
          </p:nvGrpSpPr>
          <p:grpSpPr bwMode="auto">
            <a:xfrm>
              <a:off x="2967" y="2178"/>
              <a:ext cx="116" cy="256"/>
              <a:chOff x="2967" y="2178"/>
              <a:chExt cx="116" cy="256"/>
            </a:xfrm>
          </p:grpSpPr>
          <p:grpSp>
            <p:nvGrpSpPr>
              <p:cNvPr id="21581" name="Group 13"/>
              <p:cNvGrpSpPr>
                <a:grpSpLocks/>
              </p:cNvGrpSpPr>
              <p:nvPr/>
            </p:nvGrpSpPr>
            <p:grpSpPr bwMode="auto">
              <a:xfrm>
                <a:off x="2967" y="2255"/>
                <a:ext cx="116" cy="51"/>
                <a:chOff x="2967" y="2255"/>
                <a:chExt cx="116" cy="51"/>
              </a:xfrm>
            </p:grpSpPr>
            <p:sp>
              <p:nvSpPr>
                <p:cNvPr id="21593" name="Arc 14"/>
                <p:cNvSpPr>
                  <a:spLocks/>
                </p:cNvSpPr>
                <p:nvPr/>
              </p:nvSpPr>
              <p:spPr bwMode="auto">
                <a:xfrm>
                  <a:off x="2967" y="2280"/>
                  <a:ext cx="116" cy="26"/>
                </a:xfrm>
                <a:custGeom>
                  <a:avLst/>
                  <a:gdLst>
                    <a:gd name="T0" fmla="*/ 115 w 21600"/>
                    <a:gd name="T1" fmla="*/ 26 h 21599"/>
                    <a:gd name="T2" fmla="*/ 0 w 21600"/>
                    <a:gd name="T3" fmla="*/ 0 h 21599"/>
                    <a:gd name="T4" fmla="*/ 116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05" y="21599"/>
                      </a:moveTo>
                      <a:cubicBezTo>
                        <a:pt x="9552" y="21492"/>
                        <a:pt x="0" y="11853"/>
                        <a:pt x="0" y="0"/>
                      </a:cubicBezTo>
                    </a:path>
                    <a:path w="21600" h="21599" stroke="0" extrusionOk="0">
                      <a:moveTo>
                        <a:pt x="21405" y="21599"/>
                      </a:moveTo>
                      <a:cubicBezTo>
                        <a:pt x="9552" y="21492"/>
                        <a:pt x="0" y="11853"/>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1594" name="Arc 15"/>
                <p:cNvSpPr>
                  <a:spLocks/>
                </p:cNvSpPr>
                <p:nvPr/>
              </p:nvSpPr>
              <p:spPr bwMode="auto">
                <a:xfrm>
                  <a:off x="2967" y="2255"/>
                  <a:ext cx="116" cy="26"/>
                </a:xfrm>
                <a:custGeom>
                  <a:avLst/>
                  <a:gdLst>
                    <a:gd name="T0" fmla="*/ 0 w 21600"/>
                    <a:gd name="T1" fmla="*/ 26 h 21599"/>
                    <a:gd name="T2" fmla="*/ 115 w 21600"/>
                    <a:gd name="T3" fmla="*/ 0 h 21599"/>
                    <a:gd name="T4" fmla="*/ 116 w 21600"/>
                    <a:gd name="T5" fmla="*/ 26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42"/>
                        <a:pt x="9557" y="101"/>
                        <a:pt x="21413" y="-1"/>
                      </a:cubicBezTo>
                    </a:path>
                    <a:path w="21600" h="21599" stroke="0" extrusionOk="0">
                      <a:moveTo>
                        <a:pt x="0" y="21599"/>
                      </a:moveTo>
                      <a:cubicBezTo>
                        <a:pt x="0" y="9742"/>
                        <a:pt x="9557" y="101"/>
                        <a:pt x="21413"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1582" name="Group 16"/>
              <p:cNvGrpSpPr>
                <a:grpSpLocks/>
              </p:cNvGrpSpPr>
              <p:nvPr/>
            </p:nvGrpSpPr>
            <p:grpSpPr bwMode="auto">
              <a:xfrm>
                <a:off x="2967" y="2306"/>
                <a:ext cx="116" cy="51"/>
                <a:chOff x="2967" y="2306"/>
                <a:chExt cx="116" cy="51"/>
              </a:xfrm>
            </p:grpSpPr>
            <p:sp>
              <p:nvSpPr>
                <p:cNvPr id="21591" name="Arc 17"/>
                <p:cNvSpPr>
                  <a:spLocks/>
                </p:cNvSpPr>
                <p:nvPr/>
              </p:nvSpPr>
              <p:spPr bwMode="auto">
                <a:xfrm>
                  <a:off x="2967" y="2331"/>
                  <a:ext cx="116" cy="26"/>
                </a:xfrm>
                <a:custGeom>
                  <a:avLst/>
                  <a:gdLst>
                    <a:gd name="T0" fmla="*/ 115 w 21600"/>
                    <a:gd name="T1" fmla="*/ 26 h 21599"/>
                    <a:gd name="T2" fmla="*/ 0 w 21600"/>
                    <a:gd name="T3" fmla="*/ 0 h 21599"/>
                    <a:gd name="T4" fmla="*/ 116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05" y="21599"/>
                      </a:moveTo>
                      <a:cubicBezTo>
                        <a:pt x="9552" y="21492"/>
                        <a:pt x="0" y="11853"/>
                        <a:pt x="0" y="0"/>
                      </a:cubicBezTo>
                    </a:path>
                    <a:path w="21600" h="21599" stroke="0" extrusionOk="0">
                      <a:moveTo>
                        <a:pt x="21405" y="21599"/>
                      </a:moveTo>
                      <a:cubicBezTo>
                        <a:pt x="9552" y="21492"/>
                        <a:pt x="0" y="11853"/>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1592" name="Arc 18"/>
                <p:cNvSpPr>
                  <a:spLocks/>
                </p:cNvSpPr>
                <p:nvPr/>
              </p:nvSpPr>
              <p:spPr bwMode="auto">
                <a:xfrm>
                  <a:off x="2967" y="2306"/>
                  <a:ext cx="116" cy="26"/>
                </a:xfrm>
                <a:custGeom>
                  <a:avLst/>
                  <a:gdLst>
                    <a:gd name="T0" fmla="*/ 0 w 21600"/>
                    <a:gd name="T1" fmla="*/ 26 h 21599"/>
                    <a:gd name="T2" fmla="*/ 115 w 21600"/>
                    <a:gd name="T3" fmla="*/ 0 h 21599"/>
                    <a:gd name="T4" fmla="*/ 116 w 21600"/>
                    <a:gd name="T5" fmla="*/ 26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42"/>
                        <a:pt x="9557" y="101"/>
                        <a:pt x="21413" y="-1"/>
                      </a:cubicBezTo>
                    </a:path>
                    <a:path w="21600" h="21599" stroke="0" extrusionOk="0">
                      <a:moveTo>
                        <a:pt x="0" y="21599"/>
                      </a:moveTo>
                      <a:cubicBezTo>
                        <a:pt x="0" y="9742"/>
                        <a:pt x="9557" y="101"/>
                        <a:pt x="21413"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1583" name="Group 19"/>
              <p:cNvGrpSpPr>
                <a:grpSpLocks/>
              </p:cNvGrpSpPr>
              <p:nvPr/>
            </p:nvGrpSpPr>
            <p:grpSpPr bwMode="auto">
              <a:xfrm>
                <a:off x="2967" y="2358"/>
                <a:ext cx="116" cy="51"/>
                <a:chOff x="2967" y="2358"/>
                <a:chExt cx="116" cy="51"/>
              </a:xfrm>
            </p:grpSpPr>
            <p:sp>
              <p:nvSpPr>
                <p:cNvPr id="21589" name="Arc 20"/>
                <p:cNvSpPr>
                  <a:spLocks/>
                </p:cNvSpPr>
                <p:nvPr/>
              </p:nvSpPr>
              <p:spPr bwMode="auto">
                <a:xfrm>
                  <a:off x="2967" y="2383"/>
                  <a:ext cx="116" cy="26"/>
                </a:xfrm>
                <a:custGeom>
                  <a:avLst/>
                  <a:gdLst>
                    <a:gd name="T0" fmla="*/ 115 w 21600"/>
                    <a:gd name="T1" fmla="*/ 26 h 21599"/>
                    <a:gd name="T2" fmla="*/ 0 w 21600"/>
                    <a:gd name="T3" fmla="*/ 0 h 21599"/>
                    <a:gd name="T4" fmla="*/ 116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05" y="21599"/>
                      </a:moveTo>
                      <a:cubicBezTo>
                        <a:pt x="9552" y="21492"/>
                        <a:pt x="0" y="11853"/>
                        <a:pt x="0" y="0"/>
                      </a:cubicBezTo>
                    </a:path>
                    <a:path w="21600" h="21599" stroke="0" extrusionOk="0">
                      <a:moveTo>
                        <a:pt x="21405" y="21599"/>
                      </a:moveTo>
                      <a:cubicBezTo>
                        <a:pt x="9552" y="21492"/>
                        <a:pt x="0" y="11853"/>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1590" name="Arc 21"/>
                <p:cNvSpPr>
                  <a:spLocks/>
                </p:cNvSpPr>
                <p:nvPr/>
              </p:nvSpPr>
              <p:spPr bwMode="auto">
                <a:xfrm>
                  <a:off x="2967" y="2358"/>
                  <a:ext cx="116" cy="26"/>
                </a:xfrm>
                <a:custGeom>
                  <a:avLst/>
                  <a:gdLst>
                    <a:gd name="T0" fmla="*/ 0 w 21600"/>
                    <a:gd name="T1" fmla="*/ 26 h 21599"/>
                    <a:gd name="T2" fmla="*/ 115 w 21600"/>
                    <a:gd name="T3" fmla="*/ 0 h 21599"/>
                    <a:gd name="T4" fmla="*/ 116 w 21600"/>
                    <a:gd name="T5" fmla="*/ 26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42"/>
                        <a:pt x="9557" y="101"/>
                        <a:pt x="21413" y="-1"/>
                      </a:cubicBezTo>
                    </a:path>
                    <a:path w="21600" h="21599" stroke="0" extrusionOk="0">
                      <a:moveTo>
                        <a:pt x="0" y="21599"/>
                      </a:moveTo>
                      <a:cubicBezTo>
                        <a:pt x="0" y="9742"/>
                        <a:pt x="9557" y="101"/>
                        <a:pt x="21413"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1584" name="Group 22"/>
              <p:cNvGrpSpPr>
                <a:grpSpLocks/>
              </p:cNvGrpSpPr>
              <p:nvPr/>
            </p:nvGrpSpPr>
            <p:grpSpPr bwMode="auto">
              <a:xfrm>
                <a:off x="2967" y="2204"/>
                <a:ext cx="116" cy="50"/>
                <a:chOff x="2967" y="2204"/>
                <a:chExt cx="116" cy="50"/>
              </a:xfrm>
            </p:grpSpPr>
            <p:sp>
              <p:nvSpPr>
                <p:cNvPr id="21587" name="Arc 23"/>
                <p:cNvSpPr>
                  <a:spLocks/>
                </p:cNvSpPr>
                <p:nvPr/>
              </p:nvSpPr>
              <p:spPr bwMode="auto">
                <a:xfrm>
                  <a:off x="2967" y="2228"/>
                  <a:ext cx="116" cy="26"/>
                </a:xfrm>
                <a:custGeom>
                  <a:avLst/>
                  <a:gdLst>
                    <a:gd name="T0" fmla="*/ 115 w 21600"/>
                    <a:gd name="T1" fmla="*/ 26 h 21599"/>
                    <a:gd name="T2" fmla="*/ 0 w 21600"/>
                    <a:gd name="T3" fmla="*/ 0 h 21599"/>
                    <a:gd name="T4" fmla="*/ 116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05" y="21599"/>
                      </a:moveTo>
                      <a:cubicBezTo>
                        <a:pt x="9552" y="21492"/>
                        <a:pt x="0" y="11853"/>
                        <a:pt x="0" y="0"/>
                      </a:cubicBezTo>
                    </a:path>
                    <a:path w="21600" h="21599" stroke="0" extrusionOk="0">
                      <a:moveTo>
                        <a:pt x="21405" y="21599"/>
                      </a:moveTo>
                      <a:cubicBezTo>
                        <a:pt x="9552" y="21492"/>
                        <a:pt x="0" y="11853"/>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1588" name="Arc 24"/>
                <p:cNvSpPr>
                  <a:spLocks/>
                </p:cNvSpPr>
                <p:nvPr/>
              </p:nvSpPr>
              <p:spPr bwMode="auto">
                <a:xfrm>
                  <a:off x="2967" y="2204"/>
                  <a:ext cx="116" cy="26"/>
                </a:xfrm>
                <a:custGeom>
                  <a:avLst/>
                  <a:gdLst>
                    <a:gd name="T0" fmla="*/ 0 w 21600"/>
                    <a:gd name="T1" fmla="*/ 26 h 21599"/>
                    <a:gd name="T2" fmla="*/ 115 w 21600"/>
                    <a:gd name="T3" fmla="*/ 0 h 21599"/>
                    <a:gd name="T4" fmla="*/ 116 w 21600"/>
                    <a:gd name="T5" fmla="*/ 26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42"/>
                        <a:pt x="9557" y="101"/>
                        <a:pt x="21413" y="-1"/>
                      </a:cubicBezTo>
                    </a:path>
                    <a:path w="21600" h="21599" stroke="0" extrusionOk="0">
                      <a:moveTo>
                        <a:pt x="0" y="21599"/>
                      </a:moveTo>
                      <a:cubicBezTo>
                        <a:pt x="0" y="9742"/>
                        <a:pt x="9557" y="101"/>
                        <a:pt x="21413"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sp>
            <p:nvSpPr>
              <p:cNvPr id="21585" name="Line 25"/>
              <p:cNvSpPr>
                <a:spLocks noChangeShapeType="1"/>
              </p:cNvSpPr>
              <p:nvPr/>
            </p:nvSpPr>
            <p:spPr bwMode="auto">
              <a:xfrm flipV="1">
                <a:off x="3082" y="2178"/>
                <a:ext cx="0" cy="2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86" name="Line 26"/>
              <p:cNvSpPr>
                <a:spLocks noChangeShapeType="1"/>
              </p:cNvSpPr>
              <p:nvPr/>
            </p:nvSpPr>
            <p:spPr bwMode="auto">
              <a:xfrm flipV="1">
                <a:off x="3082" y="2409"/>
                <a:ext cx="0" cy="2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1518" name="Line 27"/>
            <p:cNvSpPr>
              <a:spLocks noChangeShapeType="1"/>
            </p:cNvSpPr>
            <p:nvPr/>
          </p:nvSpPr>
          <p:spPr bwMode="auto">
            <a:xfrm flipV="1">
              <a:off x="3082" y="2104"/>
              <a:ext cx="0" cy="7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19" name="Line 28"/>
            <p:cNvSpPr>
              <a:spLocks noChangeShapeType="1"/>
            </p:cNvSpPr>
            <p:nvPr/>
          </p:nvSpPr>
          <p:spPr bwMode="auto">
            <a:xfrm flipV="1">
              <a:off x="3082" y="2434"/>
              <a:ext cx="0" cy="7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20" name="Line 29"/>
            <p:cNvSpPr>
              <a:spLocks noChangeShapeType="1"/>
            </p:cNvSpPr>
            <p:nvPr/>
          </p:nvSpPr>
          <p:spPr bwMode="auto">
            <a:xfrm>
              <a:off x="3025" y="2507"/>
              <a:ext cx="11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21" name="Line 30"/>
            <p:cNvSpPr>
              <a:spLocks noChangeShapeType="1"/>
            </p:cNvSpPr>
            <p:nvPr/>
          </p:nvSpPr>
          <p:spPr bwMode="auto">
            <a:xfrm flipH="1">
              <a:off x="2967" y="2508"/>
              <a:ext cx="58" cy="3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22" name="Line 31"/>
            <p:cNvSpPr>
              <a:spLocks noChangeShapeType="1"/>
            </p:cNvSpPr>
            <p:nvPr/>
          </p:nvSpPr>
          <p:spPr bwMode="auto">
            <a:xfrm flipH="1">
              <a:off x="3025" y="2508"/>
              <a:ext cx="57" cy="3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23" name="Line 32"/>
            <p:cNvSpPr>
              <a:spLocks noChangeShapeType="1"/>
            </p:cNvSpPr>
            <p:nvPr/>
          </p:nvSpPr>
          <p:spPr bwMode="auto">
            <a:xfrm flipH="1">
              <a:off x="3083" y="2508"/>
              <a:ext cx="57" cy="3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24" name="Rectangle 33"/>
            <p:cNvSpPr>
              <a:spLocks noChangeArrowheads="1"/>
            </p:cNvSpPr>
            <p:nvPr/>
          </p:nvSpPr>
          <p:spPr bwMode="auto">
            <a:xfrm>
              <a:off x="2621" y="1443"/>
              <a:ext cx="346"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RF Choke</a:t>
              </a:r>
            </a:p>
          </p:txBody>
        </p:sp>
        <p:grpSp>
          <p:nvGrpSpPr>
            <p:cNvPr id="21525" name="Group 34"/>
            <p:cNvGrpSpPr>
              <a:grpSpLocks/>
            </p:cNvGrpSpPr>
            <p:nvPr/>
          </p:nvGrpSpPr>
          <p:grpSpPr bwMode="auto">
            <a:xfrm>
              <a:off x="3661" y="1776"/>
              <a:ext cx="513" cy="288"/>
              <a:chOff x="3661" y="1776"/>
              <a:chExt cx="513" cy="288"/>
            </a:xfrm>
          </p:grpSpPr>
          <p:sp>
            <p:nvSpPr>
              <p:cNvPr id="21579" name="Rectangle 35"/>
              <p:cNvSpPr>
                <a:spLocks noChangeArrowheads="1"/>
              </p:cNvSpPr>
              <p:nvPr/>
            </p:nvSpPr>
            <p:spPr bwMode="auto">
              <a:xfrm>
                <a:off x="3661" y="1776"/>
                <a:ext cx="513" cy="2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1580" name="Rectangle 36"/>
              <p:cNvSpPr>
                <a:spLocks noChangeArrowheads="1"/>
              </p:cNvSpPr>
              <p:nvPr/>
            </p:nvSpPr>
            <p:spPr bwMode="auto">
              <a:xfrm>
                <a:off x="3716" y="1846"/>
                <a:ext cx="346"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1000">
                    <a:latin typeface="Times New Roman" panose="02020603050405020304" pitchFamily="18" charset="0"/>
                  </a:rPr>
                  <a:t>Lowpass </a:t>
                </a:r>
              </a:p>
              <a:p>
                <a:pPr algn="ctr"/>
                <a:r>
                  <a:rPr lang="en-US" altLang="en-US" sz="1000">
                    <a:latin typeface="Times New Roman" panose="02020603050405020304" pitchFamily="18" charset="0"/>
                  </a:rPr>
                  <a:t>Filter</a:t>
                </a:r>
              </a:p>
            </p:txBody>
          </p:sp>
        </p:grpSp>
        <p:sp>
          <p:nvSpPr>
            <p:cNvPr id="21526" name="Line 37"/>
            <p:cNvSpPr>
              <a:spLocks noChangeShapeType="1"/>
            </p:cNvSpPr>
            <p:nvPr/>
          </p:nvSpPr>
          <p:spPr bwMode="auto">
            <a:xfrm>
              <a:off x="3428" y="1920"/>
              <a:ext cx="23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1527" name="Group 38"/>
            <p:cNvGrpSpPr>
              <a:grpSpLocks/>
            </p:cNvGrpSpPr>
            <p:nvPr/>
          </p:nvGrpSpPr>
          <p:grpSpPr bwMode="auto">
            <a:xfrm>
              <a:off x="3083" y="1664"/>
              <a:ext cx="345" cy="73"/>
              <a:chOff x="3083" y="1664"/>
              <a:chExt cx="345" cy="73"/>
            </a:xfrm>
          </p:grpSpPr>
          <p:sp>
            <p:nvSpPr>
              <p:cNvPr id="21573" name="Line 39"/>
              <p:cNvSpPr>
                <a:spLocks noChangeShapeType="1"/>
              </p:cNvSpPr>
              <p:nvPr/>
            </p:nvSpPr>
            <p:spPr bwMode="auto">
              <a:xfrm flipH="1">
                <a:off x="3198" y="1664"/>
                <a:ext cx="115" cy="3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74" name="Line 40"/>
              <p:cNvSpPr>
                <a:spLocks noChangeShapeType="1"/>
              </p:cNvSpPr>
              <p:nvPr/>
            </p:nvSpPr>
            <p:spPr bwMode="auto">
              <a:xfrm flipH="1" flipV="1">
                <a:off x="3198" y="1700"/>
                <a:ext cx="115" cy="3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75" name="Line 41"/>
              <p:cNvSpPr>
                <a:spLocks noChangeShapeType="1"/>
              </p:cNvSpPr>
              <p:nvPr/>
            </p:nvSpPr>
            <p:spPr bwMode="auto">
              <a:xfrm>
                <a:off x="3312" y="1664"/>
                <a:ext cx="1" cy="7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76" name="Line 42"/>
              <p:cNvSpPr>
                <a:spLocks noChangeShapeType="1"/>
              </p:cNvSpPr>
              <p:nvPr/>
            </p:nvSpPr>
            <p:spPr bwMode="auto">
              <a:xfrm>
                <a:off x="3197" y="1664"/>
                <a:ext cx="1" cy="7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77" name="Line 43"/>
              <p:cNvSpPr>
                <a:spLocks noChangeShapeType="1"/>
              </p:cNvSpPr>
              <p:nvPr/>
            </p:nvSpPr>
            <p:spPr bwMode="auto">
              <a:xfrm flipH="1">
                <a:off x="3083" y="1700"/>
                <a:ext cx="11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78" name="Line 44"/>
              <p:cNvSpPr>
                <a:spLocks noChangeShapeType="1"/>
              </p:cNvSpPr>
              <p:nvPr/>
            </p:nvSpPr>
            <p:spPr bwMode="auto">
              <a:xfrm flipH="1">
                <a:off x="3313" y="1700"/>
                <a:ext cx="11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1528" name="Group 45"/>
            <p:cNvGrpSpPr>
              <a:grpSpLocks/>
            </p:cNvGrpSpPr>
            <p:nvPr/>
          </p:nvGrpSpPr>
          <p:grpSpPr bwMode="auto">
            <a:xfrm>
              <a:off x="2967" y="1370"/>
              <a:ext cx="116" cy="257"/>
              <a:chOff x="2967" y="1370"/>
              <a:chExt cx="116" cy="257"/>
            </a:xfrm>
          </p:grpSpPr>
          <p:grpSp>
            <p:nvGrpSpPr>
              <p:cNvPr id="21559" name="Group 46"/>
              <p:cNvGrpSpPr>
                <a:grpSpLocks/>
              </p:cNvGrpSpPr>
              <p:nvPr/>
            </p:nvGrpSpPr>
            <p:grpSpPr bwMode="auto">
              <a:xfrm>
                <a:off x="2967" y="1447"/>
                <a:ext cx="116" cy="51"/>
                <a:chOff x="2967" y="1447"/>
                <a:chExt cx="116" cy="51"/>
              </a:xfrm>
            </p:grpSpPr>
            <p:sp>
              <p:nvSpPr>
                <p:cNvPr id="21571" name="Arc 47"/>
                <p:cNvSpPr>
                  <a:spLocks/>
                </p:cNvSpPr>
                <p:nvPr/>
              </p:nvSpPr>
              <p:spPr bwMode="auto">
                <a:xfrm>
                  <a:off x="2967" y="1472"/>
                  <a:ext cx="116" cy="26"/>
                </a:xfrm>
                <a:custGeom>
                  <a:avLst/>
                  <a:gdLst>
                    <a:gd name="T0" fmla="*/ 115 w 21600"/>
                    <a:gd name="T1" fmla="*/ 26 h 21599"/>
                    <a:gd name="T2" fmla="*/ 0 w 21600"/>
                    <a:gd name="T3" fmla="*/ 0 h 21599"/>
                    <a:gd name="T4" fmla="*/ 116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05" y="21599"/>
                      </a:moveTo>
                      <a:cubicBezTo>
                        <a:pt x="9552" y="21492"/>
                        <a:pt x="0" y="11853"/>
                        <a:pt x="0" y="0"/>
                      </a:cubicBezTo>
                    </a:path>
                    <a:path w="21600" h="21599" stroke="0" extrusionOk="0">
                      <a:moveTo>
                        <a:pt x="21405" y="21599"/>
                      </a:moveTo>
                      <a:cubicBezTo>
                        <a:pt x="9552" y="21492"/>
                        <a:pt x="0" y="11853"/>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1572" name="Arc 48"/>
                <p:cNvSpPr>
                  <a:spLocks/>
                </p:cNvSpPr>
                <p:nvPr/>
              </p:nvSpPr>
              <p:spPr bwMode="auto">
                <a:xfrm>
                  <a:off x="2967" y="1447"/>
                  <a:ext cx="116" cy="26"/>
                </a:xfrm>
                <a:custGeom>
                  <a:avLst/>
                  <a:gdLst>
                    <a:gd name="T0" fmla="*/ 0 w 21600"/>
                    <a:gd name="T1" fmla="*/ 26 h 21599"/>
                    <a:gd name="T2" fmla="*/ 115 w 21600"/>
                    <a:gd name="T3" fmla="*/ 0 h 21599"/>
                    <a:gd name="T4" fmla="*/ 116 w 21600"/>
                    <a:gd name="T5" fmla="*/ 26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42"/>
                        <a:pt x="9557" y="101"/>
                        <a:pt x="21413" y="-1"/>
                      </a:cubicBezTo>
                    </a:path>
                    <a:path w="21600" h="21599" stroke="0" extrusionOk="0">
                      <a:moveTo>
                        <a:pt x="0" y="21599"/>
                      </a:moveTo>
                      <a:cubicBezTo>
                        <a:pt x="0" y="9742"/>
                        <a:pt x="9557" y="101"/>
                        <a:pt x="21413"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1560" name="Group 49"/>
              <p:cNvGrpSpPr>
                <a:grpSpLocks/>
              </p:cNvGrpSpPr>
              <p:nvPr/>
            </p:nvGrpSpPr>
            <p:grpSpPr bwMode="auto">
              <a:xfrm>
                <a:off x="2967" y="1499"/>
                <a:ext cx="116" cy="51"/>
                <a:chOff x="2967" y="1499"/>
                <a:chExt cx="116" cy="51"/>
              </a:xfrm>
            </p:grpSpPr>
            <p:sp>
              <p:nvSpPr>
                <p:cNvPr id="21569" name="Arc 50"/>
                <p:cNvSpPr>
                  <a:spLocks/>
                </p:cNvSpPr>
                <p:nvPr/>
              </p:nvSpPr>
              <p:spPr bwMode="auto">
                <a:xfrm>
                  <a:off x="2967" y="1524"/>
                  <a:ext cx="116" cy="26"/>
                </a:xfrm>
                <a:custGeom>
                  <a:avLst/>
                  <a:gdLst>
                    <a:gd name="T0" fmla="*/ 115 w 21600"/>
                    <a:gd name="T1" fmla="*/ 26 h 21599"/>
                    <a:gd name="T2" fmla="*/ 0 w 21600"/>
                    <a:gd name="T3" fmla="*/ 0 h 21599"/>
                    <a:gd name="T4" fmla="*/ 116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05" y="21599"/>
                      </a:moveTo>
                      <a:cubicBezTo>
                        <a:pt x="9552" y="21492"/>
                        <a:pt x="0" y="11853"/>
                        <a:pt x="0" y="0"/>
                      </a:cubicBezTo>
                    </a:path>
                    <a:path w="21600" h="21599" stroke="0" extrusionOk="0">
                      <a:moveTo>
                        <a:pt x="21405" y="21599"/>
                      </a:moveTo>
                      <a:cubicBezTo>
                        <a:pt x="9552" y="21492"/>
                        <a:pt x="0" y="11853"/>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1570" name="Arc 51"/>
                <p:cNvSpPr>
                  <a:spLocks/>
                </p:cNvSpPr>
                <p:nvPr/>
              </p:nvSpPr>
              <p:spPr bwMode="auto">
                <a:xfrm>
                  <a:off x="2967" y="1499"/>
                  <a:ext cx="116" cy="26"/>
                </a:xfrm>
                <a:custGeom>
                  <a:avLst/>
                  <a:gdLst>
                    <a:gd name="T0" fmla="*/ 0 w 21600"/>
                    <a:gd name="T1" fmla="*/ 26 h 21599"/>
                    <a:gd name="T2" fmla="*/ 115 w 21600"/>
                    <a:gd name="T3" fmla="*/ 0 h 21599"/>
                    <a:gd name="T4" fmla="*/ 116 w 21600"/>
                    <a:gd name="T5" fmla="*/ 26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42"/>
                        <a:pt x="9557" y="101"/>
                        <a:pt x="21413" y="-1"/>
                      </a:cubicBezTo>
                    </a:path>
                    <a:path w="21600" h="21599" stroke="0" extrusionOk="0">
                      <a:moveTo>
                        <a:pt x="0" y="21599"/>
                      </a:moveTo>
                      <a:cubicBezTo>
                        <a:pt x="0" y="9742"/>
                        <a:pt x="9557" y="101"/>
                        <a:pt x="21413"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1561" name="Group 52"/>
              <p:cNvGrpSpPr>
                <a:grpSpLocks/>
              </p:cNvGrpSpPr>
              <p:nvPr/>
            </p:nvGrpSpPr>
            <p:grpSpPr bwMode="auto">
              <a:xfrm>
                <a:off x="2967" y="1550"/>
                <a:ext cx="116" cy="51"/>
                <a:chOff x="2967" y="1550"/>
                <a:chExt cx="116" cy="51"/>
              </a:xfrm>
            </p:grpSpPr>
            <p:sp>
              <p:nvSpPr>
                <p:cNvPr id="21567" name="Arc 53"/>
                <p:cNvSpPr>
                  <a:spLocks/>
                </p:cNvSpPr>
                <p:nvPr/>
              </p:nvSpPr>
              <p:spPr bwMode="auto">
                <a:xfrm>
                  <a:off x="2967" y="1575"/>
                  <a:ext cx="116" cy="26"/>
                </a:xfrm>
                <a:custGeom>
                  <a:avLst/>
                  <a:gdLst>
                    <a:gd name="T0" fmla="*/ 115 w 21600"/>
                    <a:gd name="T1" fmla="*/ 26 h 21599"/>
                    <a:gd name="T2" fmla="*/ 0 w 21600"/>
                    <a:gd name="T3" fmla="*/ 0 h 21599"/>
                    <a:gd name="T4" fmla="*/ 116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05" y="21599"/>
                      </a:moveTo>
                      <a:cubicBezTo>
                        <a:pt x="9552" y="21492"/>
                        <a:pt x="0" y="11853"/>
                        <a:pt x="0" y="0"/>
                      </a:cubicBezTo>
                    </a:path>
                    <a:path w="21600" h="21599" stroke="0" extrusionOk="0">
                      <a:moveTo>
                        <a:pt x="21405" y="21599"/>
                      </a:moveTo>
                      <a:cubicBezTo>
                        <a:pt x="9552" y="21492"/>
                        <a:pt x="0" y="11853"/>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1568" name="Arc 54"/>
                <p:cNvSpPr>
                  <a:spLocks/>
                </p:cNvSpPr>
                <p:nvPr/>
              </p:nvSpPr>
              <p:spPr bwMode="auto">
                <a:xfrm>
                  <a:off x="2967" y="1550"/>
                  <a:ext cx="116" cy="26"/>
                </a:xfrm>
                <a:custGeom>
                  <a:avLst/>
                  <a:gdLst>
                    <a:gd name="T0" fmla="*/ 0 w 21600"/>
                    <a:gd name="T1" fmla="*/ 26 h 21599"/>
                    <a:gd name="T2" fmla="*/ 115 w 21600"/>
                    <a:gd name="T3" fmla="*/ 0 h 21599"/>
                    <a:gd name="T4" fmla="*/ 116 w 21600"/>
                    <a:gd name="T5" fmla="*/ 26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42"/>
                        <a:pt x="9557" y="101"/>
                        <a:pt x="21413" y="-1"/>
                      </a:cubicBezTo>
                    </a:path>
                    <a:path w="21600" h="21599" stroke="0" extrusionOk="0">
                      <a:moveTo>
                        <a:pt x="0" y="21599"/>
                      </a:moveTo>
                      <a:cubicBezTo>
                        <a:pt x="0" y="9742"/>
                        <a:pt x="9557" y="101"/>
                        <a:pt x="21413"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1562" name="Group 55"/>
              <p:cNvGrpSpPr>
                <a:grpSpLocks/>
              </p:cNvGrpSpPr>
              <p:nvPr/>
            </p:nvGrpSpPr>
            <p:grpSpPr bwMode="auto">
              <a:xfrm>
                <a:off x="2967" y="1396"/>
                <a:ext cx="116" cy="50"/>
                <a:chOff x="2967" y="1396"/>
                <a:chExt cx="116" cy="50"/>
              </a:xfrm>
            </p:grpSpPr>
            <p:sp>
              <p:nvSpPr>
                <p:cNvPr id="21565" name="Arc 56"/>
                <p:cNvSpPr>
                  <a:spLocks/>
                </p:cNvSpPr>
                <p:nvPr/>
              </p:nvSpPr>
              <p:spPr bwMode="auto">
                <a:xfrm>
                  <a:off x="2967" y="1420"/>
                  <a:ext cx="116" cy="26"/>
                </a:xfrm>
                <a:custGeom>
                  <a:avLst/>
                  <a:gdLst>
                    <a:gd name="T0" fmla="*/ 115 w 21600"/>
                    <a:gd name="T1" fmla="*/ 26 h 21599"/>
                    <a:gd name="T2" fmla="*/ 0 w 21600"/>
                    <a:gd name="T3" fmla="*/ 0 h 21599"/>
                    <a:gd name="T4" fmla="*/ 116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05" y="21599"/>
                      </a:moveTo>
                      <a:cubicBezTo>
                        <a:pt x="9552" y="21492"/>
                        <a:pt x="0" y="11853"/>
                        <a:pt x="0" y="0"/>
                      </a:cubicBezTo>
                    </a:path>
                    <a:path w="21600" h="21599" stroke="0" extrusionOk="0">
                      <a:moveTo>
                        <a:pt x="21405" y="21599"/>
                      </a:moveTo>
                      <a:cubicBezTo>
                        <a:pt x="9552" y="21492"/>
                        <a:pt x="0" y="11853"/>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1566" name="Arc 57"/>
                <p:cNvSpPr>
                  <a:spLocks/>
                </p:cNvSpPr>
                <p:nvPr/>
              </p:nvSpPr>
              <p:spPr bwMode="auto">
                <a:xfrm>
                  <a:off x="2967" y="1396"/>
                  <a:ext cx="116" cy="26"/>
                </a:xfrm>
                <a:custGeom>
                  <a:avLst/>
                  <a:gdLst>
                    <a:gd name="T0" fmla="*/ 0 w 21600"/>
                    <a:gd name="T1" fmla="*/ 26 h 21599"/>
                    <a:gd name="T2" fmla="*/ 115 w 21600"/>
                    <a:gd name="T3" fmla="*/ 0 h 21599"/>
                    <a:gd name="T4" fmla="*/ 116 w 21600"/>
                    <a:gd name="T5" fmla="*/ 26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42"/>
                        <a:pt x="9557" y="101"/>
                        <a:pt x="21413" y="-1"/>
                      </a:cubicBezTo>
                    </a:path>
                    <a:path w="21600" h="21599" stroke="0" extrusionOk="0">
                      <a:moveTo>
                        <a:pt x="0" y="21599"/>
                      </a:moveTo>
                      <a:cubicBezTo>
                        <a:pt x="0" y="9742"/>
                        <a:pt x="9557" y="101"/>
                        <a:pt x="21413"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sp>
            <p:nvSpPr>
              <p:cNvPr id="21563" name="Line 58"/>
              <p:cNvSpPr>
                <a:spLocks noChangeShapeType="1"/>
              </p:cNvSpPr>
              <p:nvPr/>
            </p:nvSpPr>
            <p:spPr bwMode="auto">
              <a:xfrm flipV="1">
                <a:off x="3082" y="1370"/>
                <a:ext cx="0" cy="2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64" name="Line 59"/>
              <p:cNvSpPr>
                <a:spLocks noChangeShapeType="1"/>
              </p:cNvSpPr>
              <p:nvPr/>
            </p:nvSpPr>
            <p:spPr bwMode="auto">
              <a:xfrm flipV="1">
                <a:off x="3082" y="1602"/>
                <a:ext cx="0" cy="2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1529" name="Line 60"/>
            <p:cNvSpPr>
              <a:spLocks noChangeShapeType="1"/>
            </p:cNvSpPr>
            <p:nvPr/>
          </p:nvSpPr>
          <p:spPr bwMode="auto">
            <a:xfrm flipV="1">
              <a:off x="3082" y="1627"/>
              <a:ext cx="0" cy="7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30" name="Line 61"/>
            <p:cNvSpPr>
              <a:spLocks noChangeShapeType="1"/>
            </p:cNvSpPr>
            <p:nvPr/>
          </p:nvSpPr>
          <p:spPr bwMode="auto">
            <a:xfrm flipV="1">
              <a:off x="3082" y="1297"/>
              <a:ext cx="0" cy="7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1531" name="Group 62"/>
            <p:cNvGrpSpPr>
              <a:grpSpLocks/>
            </p:cNvGrpSpPr>
            <p:nvPr/>
          </p:nvGrpSpPr>
          <p:grpSpPr bwMode="auto">
            <a:xfrm>
              <a:off x="3198" y="1333"/>
              <a:ext cx="172" cy="37"/>
              <a:chOff x="3198" y="1333"/>
              <a:chExt cx="172" cy="37"/>
            </a:xfrm>
          </p:grpSpPr>
          <p:sp>
            <p:nvSpPr>
              <p:cNvPr id="21555" name="Line 63"/>
              <p:cNvSpPr>
                <a:spLocks noChangeShapeType="1"/>
              </p:cNvSpPr>
              <p:nvPr/>
            </p:nvSpPr>
            <p:spPr bwMode="auto">
              <a:xfrm>
                <a:off x="3256" y="1333"/>
                <a:ext cx="11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56" name="Line 64"/>
              <p:cNvSpPr>
                <a:spLocks noChangeShapeType="1"/>
              </p:cNvSpPr>
              <p:nvPr/>
            </p:nvSpPr>
            <p:spPr bwMode="auto">
              <a:xfrm flipH="1">
                <a:off x="3198" y="1334"/>
                <a:ext cx="57" cy="3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57" name="Line 65"/>
              <p:cNvSpPr>
                <a:spLocks noChangeShapeType="1"/>
              </p:cNvSpPr>
              <p:nvPr/>
            </p:nvSpPr>
            <p:spPr bwMode="auto">
              <a:xfrm flipH="1">
                <a:off x="3256" y="1334"/>
                <a:ext cx="56" cy="3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58" name="Line 66"/>
              <p:cNvSpPr>
                <a:spLocks noChangeShapeType="1"/>
              </p:cNvSpPr>
              <p:nvPr/>
            </p:nvSpPr>
            <p:spPr bwMode="auto">
              <a:xfrm flipH="1">
                <a:off x="3313" y="1334"/>
                <a:ext cx="57" cy="3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1532" name="Line 67"/>
            <p:cNvSpPr>
              <a:spLocks noChangeShapeType="1"/>
            </p:cNvSpPr>
            <p:nvPr/>
          </p:nvSpPr>
          <p:spPr bwMode="auto">
            <a:xfrm>
              <a:off x="3083" y="1296"/>
              <a:ext cx="229"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33" name="Line 68"/>
            <p:cNvSpPr>
              <a:spLocks noChangeShapeType="1"/>
            </p:cNvSpPr>
            <p:nvPr/>
          </p:nvSpPr>
          <p:spPr bwMode="auto">
            <a:xfrm>
              <a:off x="3312" y="1297"/>
              <a:ext cx="0" cy="3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1534" name="Group 69"/>
            <p:cNvGrpSpPr>
              <a:grpSpLocks/>
            </p:cNvGrpSpPr>
            <p:nvPr/>
          </p:nvGrpSpPr>
          <p:grpSpPr bwMode="auto">
            <a:xfrm>
              <a:off x="4177" y="1883"/>
              <a:ext cx="518" cy="74"/>
              <a:chOff x="4177" y="1883"/>
              <a:chExt cx="518" cy="74"/>
            </a:xfrm>
          </p:grpSpPr>
          <p:sp>
            <p:nvSpPr>
              <p:cNvPr id="21553" name="Rectangle 70"/>
              <p:cNvSpPr>
                <a:spLocks noChangeArrowheads="1"/>
              </p:cNvSpPr>
              <p:nvPr/>
            </p:nvSpPr>
            <p:spPr bwMode="auto">
              <a:xfrm>
                <a:off x="4349" y="1883"/>
                <a:ext cx="346"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IF Output</a:t>
                </a:r>
              </a:p>
            </p:txBody>
          </p:sp>
          <p:sp>
            <p:nvSpPr>
              <p:cNvPr id="21554" name="Line 71"/>
              <p:cNvSpPr>
                <a:spLocks noChangeShapeType="1"/>
              </p:cNvSpPr>
              <p:nvPr/>
            </p:nvSpPr>
            <p:spPr bwMode="auto">
              <a:xfrm>
                <a:off x="4177" y="1920"/>
                <a:ext cx="17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1535" name="Line 72"/>
            <p:cNvSpPr>
              <a:spLocks noChangeShapeType="1"/>
            </p:cNvSpPr>
            <p:nvPr/>
          </p:nvSpPr>
          <p:spPr bwMode="auto">
            <a:xfrm flipH="1">
              <a:off x="2622" y="2103"/>
              <a:ext cx="460"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36" name="Line 73"/>
            <p:cNvSpPr>
              <a:spLocks noChangeShapeType="1"/>
            </p:cNvSpPr>
            <p:nvPr/>
          </p:nvSpPr>
          <p:spPr bwMode="auto">
            <a:xfrm flipH="1">
              <a:off x="2622" y="1700"/>
              <a:ext cx="46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37" name="Line 74"/>
            <p:cNvSpPr>
              <a:spLocks noChangeShapeType="1"/>
            </p:cNvSpPr>
            <p:nvPr/>
          </p:nvSpPr>
          <p:spPr bwMode="auto">
            <a:xfrm>
              <a:off x="3427" y="1701"/>
              <a:ext cx="1" cy="40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1538" name="Group 75"/>
            <p:cNvGrpSpPr>
              <a:grpSpLocks/>
            </p:cNvGrpSpPr>
            <p:nvPr/>
          </p:nvGrpSpPr>
          <p:grpSpPr bwMode="auto">
            <a:xfrm>
              <a:off x="1931" y="1593"/>
              <a:ext cx="690" cy="618"/>
              <a:chOff x="1931" y="1593"/>
              <a:chExt cx="690" cy="618"/>
            </a:xfrm>
          </p:grpSpPr>
          <p:sp>
            <p:nvSpPr>
              <p:cNvPr id="21544" name="Rectangle 76"/>
              <p:cNvSpPr>
                <a:spLocks noChangeArrowheads="1"/>
              </p:cNvSpPr>
              <p:nvPr/>
            </p:nvSpPr>
            <p:spPr bwMode="auto">
              <a:xfrm>
                <a:off x="1933" y="1593"/>
                <a:ext cx="685" cy="61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nvGrpSpPr>
              <p:cNvPr id="21545" name="Group 77"/>
              <p:cNvGrpSpPr>
                <a:grpSpLocks/>
              </p:cNvGrpSpPr>
              <p:nvPr/>
            </p:nvGrpSpPr>
            <p:grpSpPr bwMode="auto">
              <a:xfrm>
                <a:off x="1931" y="1700"/>
                <a:ext cx="690" cy="404"/>
                <a:chOff x="1931" y="1700"/>
                <a:chExt cx="690" cy="404"/>
              </a:xfrm>
            </p:grpSpPr>
            <p:sp>
              <p:nvSpPr>
                <p:cNvPr id="21550" name="Line 78"/>
                <p:cNvSpPr>
                  <a:spLocks noChangeShapeType="1"/>
                </p:cNvSpPr>
                <p:nvPr/>
              </p:nvSpPr>
              <p:spPr bwMode="auto">
                <a:xfrm flipH="1">
                  <a:off x="2564" y="2104"/>
                  <a:ext cx="57"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51" name="Line 79"/>
                <p:cNvSpPr>
                  <a:spLocks noChangeShapeType="1"/>
                </p:cNvSpPr>
                <p:nvPr/>
              </p:nvSpPr>
              <p:spPr bwMode="auto">
                <a:xfrm flipH="1">
                  <a:off x="1931" y="1700"/>
                  <a:ext cx="57"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52" name="Line 80"/>
                <p:cNvSpPr>
                  <a:spLocks noChangeShapeType="1"/>
                </p:cNvSpPr>
                <p:nvPr/>
              </p:nvSpPr>
              <p:spPr bwMode="auto">
                <a:xfrm>
                  <a:off x="1989" y="1701"/>
                  <a:ext cx="574" cy="40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1546" name="Group 81"/>
              <p:cNvGrpSpPr>
                <a:grpSpLocks/>
              </p:cNvGrpSpPr>
              <p:nvPr/>
            </p:nvGrpSpPr>
            <p:grpSpPr bwMode="auto">
              <a:xfrm>
                <a:off x="1931" y="1700"/>
                <a:ext cx="690" cy="404"/>
                <a:chOff x="1931" y="1700"/>
                <a:chExt cx="690" cy="404"/>
              </a:xfrm>
            </p:grpSpPr>
            <p:sp>
              <p:nvSpPr>
                <p:cNvPr id="21547" name="Line 82"/>
                <p:cNvSpPr>
                  <a:spLocks noChangeShapeType="1"/>
                </p:cNvSpPr>
                <p:nvPr/>
              </p:nvSpPr>
              <p:spPr bwMode="auto">
                <a:xfrm flipH="1">
                  <a:off x="2564" y="1700"/>
                  <a:ext cx="57"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48" name="Line 83"/>
                <p:cNvSpPr>
                  <a:spLocks noChangeShapeType="1"/>
                </p:cNvSpPr>
                <p:nvPr/>
              </p:nvSpPr>
              <p:spPr bwMode="auto">
                <a:xfrm flipH="1">
                  <a:off x="1931" y="2104"/>
                  <a:ext cx="57"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1549" name="Line 84"/>
                <p:cNvSpPr>
                  <a:spLocks noChangeShapeType="1"/>
                </p:cNvSpPr>
                <p:nvPr/>
              </p:nvSpPr>
              <p:spPr bwMode="auto">
                <a:xfrm flipV="1">
                  <a:off x="1988" y="1701"/>
                  <a:ext cx="574" cy="40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1539" name="Rectangle 85"/>
            <p:cNvSpPr>
              <a:spLocks noChangeArrowheads="1"/>
            </p:cNvSpPr>
            <p:nvPr/>
          </p:nvSpPr>
          <p:spPr bwMode="auto">
            <a:xfrm>
              <a:off x="2621" y="2287"/>
              <a:ext cx="346"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RF Choke</a:t>
              </a:r>
            </a:p>
          </p:txBody>
        </p:sp>
        <p:grpSp>
          <p:nvGrpSpPr>
            <p:cNvPr id="21540" name="Group 86"/>
            <p:cNvGrpSpPr>
              <a:grpSpLocks/>
            </p:cNvGrpSpPr>
            <p:nvPr/>
          </p:nvGrpSpPr>
          <p:grpSpPr bwMode="auto">
            <a:xfrm>
              <a:off x="1296" y="1663"/>
              <a:ext cx="404" cy="477"/>
              <a:chOff x="1296" y="1663"/>
              <a:chExt cx="404" cy="477"/>
            </a:xfrm>
          </p:grpSpPr>
          <p:sp>
            <p:nvSpPr>
              <p:cNvPr id="21542" name="Rectangle 87"/>
              <p:cNvSpPr>
                <a:spLocks noChangeArrowheads="1"/>
              </p:cNvSpPr>
              <p:nvPr/>
            </p:nvSpPr>
            <p:spPr bwMode="auto">
              <a:xfrm>
                <a:off x="1296" y="1663"/>
                <a:ext cx="404"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RF Input</a:t>
                </a:r>
              </a:p>
            </p:txBody>
          </p:sp>
          <p:sp>
            <p:nvSpPr>
              <p:cNvPr id="21543" name="Rectangle 88"/>
              <p:cNvSpPr>
                <a:spLocks noChangeArrowheads="1"/>
              </p:cNvSpPr>
              <p:nvPr/>
            </p:nvSpPr>
            <p:spPr bwMode="auto">
              <a:xfrm>
                <a:off x="1296" y="2066"/>
                <a:ext cx="404" cy="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LO Input</a:t>
                </a:r>
              </a:p>
            </p:txBody>
          </p:sp>
        </p:grpSp>
        <p:sp>
          <p:nvSpPr>
            <p:cNvPr id="21541" name="Rectangle 89"/>
            <p:cNvSpPr>
              <a:spLocks noChangeArrowheads="1"/>
            </p:cNvSpPr>
            <p:nvPr/>
          </p:nvSpPr>
          <p:spPr bwMode="auto">
            <a:xfrm>
              <a:off x="2045" y="2250"/>
              <a:ext cx="461"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3 dB Hybrid</a:t>
              </a:r>
            </a:p>
          </p:txBody>
        </p:sp>
      </p:grpSp>
      <p:sp>
        <p:nvSpPr>
          <p:cNvPr id="21508" name="Rectangle 90"/>
          <p:cNvSpPr>
            <a:spLocks noGrp="1" noChangeArrowheads="1"/>
          </p:cNvSpPr>
          <p:nvPr>
            <p:ph type="body" sz="half" idx="2"/>
          </p:nvPr>
        </p:nvSpPr>
        <p:spPr>
          <a:xfrm>
            <a:off x="304800" y="4521315"/>
            <a:ext cx="8458200" cy="1600200"/>
          </a:xfrm>
          <a:noFill/>
        </p:spPr>
        <p:txBody>
          <a:bodyPr lIns="92075" tIns="46038" rIns="92075" bIns="46038"/>
          <a:lstStyle/>
          <a:p>
            <a:pPr>
              <a:buSzPct val="90000"/>
            </a:pPr>
            <a:r>
              <a:rPr lang="en-US" altLang="en-US" sz="2400" dirty="0" smtClean="0"/>
              <a:t>Includes matched pair of Schottky diodes</a:t>
            </a:r>
          </a:p>
          <a:p>
            <a:pPr>
              <a:buSzPct val="90000"/>
            </a:pPr>
            <a:r>
              <a:rPr lang="en-US" altLang="en-US" sz="2400" dirty="0" smtClean="0"/>
              <a:t>Better inter-port isolation</a:t>
            </a:r>
          </a:p>
        </p:txBody>
      </p:sp>
    </p:spTree>
    <p:extLst>
      <p:ext uri="{BB962C8B-B14F-4D97-AF65-F5344CB8AC3E}">
        <p14:creationId xmlns:p14="http://schemas.microsoft.com/office/powerpoint/2010/main" val="9734230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noFill/>
        </p:spPr>
        <p:txBody>
          <a:bodyPr lIns="92075" tIns="46038" rIns="92075" bIns="46038" anchor="ctr"/>
          <a:lstStyle/>
          <a:p>
            <a:r>
              <a:rPr lang="en-US" altLang="en-US" dirty="0" err="1" smtClean="0"/>
              <a:t>Subharmonic</a:t>
            </a:r>
            <a:r>
              <a:rPr lang="en-US" altLang="en-US" dirty="0" smtClean="0"/>
              <a:t> Mixer</a:t>
            </a:r>
          </a:p>
        </p:txBody>
      </p:sp>
      <p:grpSp>
        <p:nvGrpSpPr>
          <p:cNvPr id="22531" name="Group 3"/>
          <p:cNvGrpSpPr>
            <a:grpSpLocks/>
          </p:cNvGrpSpPr>
          <p:nvPr/>
        </p:nvGrpSpPr>
        <p:grpSpPr bwMode="auto">
          <a:xfrm>
            <a:off x="1828800" y="1492319"/>
            <a:ext cx="5578475" cy="1822450"/>
            <a:chOff x="1152" y="1347"/>
            <a:chExt cx="3514" cy="1148"/>
          </a:xfrm>
        </p:grpSpPr>
        <p:sp>
          <p:nvSpPr>
            <p:cNvPr id="22533" name="Line 4"/>
            <p:cNvSpPr>
              <a:spLocks noChangeShapeType="1"/>
            </p:cNvSpPr>
            <p:nvPr/>
          </p:nvSpPr>
          <p:spPr bwMode="auto">
            <a:xfrm flipH="1">
              <a:off x="1499" y="1459"/>
              <a:ext cx="172"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2534" name="Group 5"/>
            <p:cNvGrpSpPr>
              <a:grpSpLocks/>
            </p:cNvGrpSpPr>
            <p:nvPr/>
          </p:nvGrpSpPr>
          <p:grpSpPr bwMode="auto">
            <a:xfrm>
              <a:off x="2651" y="1460"/>
              <a:ext cx="460" cy="576"/>
              <a:chOff x="2651" y="1460"/>
              <a:chExt cx="460" cy="576"/>
            </a:xfrm>
          </p:grpSpPr>
          <p:grpSp>
            <p:nvGrpSpPr>
              <p:cNvPr id="22596" name="Group 6"/>
              <p:cNvGrpSpPr>
                <a:grpSpLocks/>
              </p:cNvGrpSpPr>
              <p:nvPr/>
            </p:nvGrpSpPr>
            <p:grpSpPr bwMode="auto">
              <a:xfrm>
                <a:off x="2651" y="1575"/>
                <a:ext cx="115" cy="346"/>
                <a:chOff x="2651" y="1575"/>
                <a:chExt cx="115" cy="346"/>
              </a:xfrm>
            </p:grpSpPr>
            <p:sp>
              <p:nvSpPr>
                <p:cNvPr id="22608" name="Line 7"/>
                <p:cNvSpPr>
                  <a:spLocks noChangeShapeType="1"/>
                </p:cNvSpPr>
                <p:nvPr/>
              </p:nvSpPr>
              <p:spPr bwMode="auto">
                <a:xfrm flipH="1" flipV="1">
                  <a:off x="2709" y="1690"/>
                  <a:ext cx="57" cy="1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609" name="Line 8"/>
                <p:cNvSpPr>
                  <a:spLocks noChangeShapeType="1"/>
                </p:cNvSpPr>
                <p:nvPr/>
              </p:nvSpPr>
              <p:spPr bwMode="auto">
                <a:xfrm flipV="1">
                  <a:off x="2651" y="1690"/>
                  <a:ext cx="57" cy="1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610" name="Line 9"/>
                <p:cNvSpPr>
                  <a:spLocks noChangeShapeType="1"/>
                </p:cNvSpPr>
                <p:nvPr/>
              </p:nvSpPr>
              <p:spPr bwMode="auto">
                <a:xfrm flipH="1">
                  <a:off x="2651" y="1805"/>
                  <a:ext cx="11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611" name="Line 10"/>
                <p:cNvSpPr>
                  <a:spLocks noChangeShapeType="1"/>
                </p:cNvSpPr>
                <p:nvPr/>
              </p:nvSpPr>
              <p:spPr bwMode="auto">
                <a:xfrm flipH="1">
                  <a:off x="2651" y="1690"/>
                  <a:ext cx="11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612" name="Line 11"/>
                <p:cNvSpPr>
                  <a:spLocks noChangeShapeType="1"/>
                </p:cNvSpPr>
                <p:nvPr/>
              </p:nvSpPr>
              <p:spPr bwMode="auto">
                <a:xfrm flipV="1">
                  <a:off x="2708" y="1575"/>
                  <a:ext cx="0"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613" name="Line 12"/>
                <p:cNvSpPr>
                  <a:spLocks noChangeShapeType="1"/>
                </p:cNvSpPr>
                <p:nvPr/>
              </p:nvSpPr>
              <p:spPr bwMode="auto">
                <a:xfrm flipV="1">
                  <a:off x="2708" y="1806"/>
                  <a:ext cx="0"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2597" name="Group 13"/>
              <p:cNvGrpSpPr>
                <a:grpSpLocks/>
              </p:cNvGrpSpPr>
              <p:nvPr/>
            </p:nvGrpSpPr>
            <p:grpSpPr bwMode="auto">
              <a:xfrm>
                <a:off x="2996" y="1575"/>
                <a:ext cx="115" cy="346"/>
                <a:chOff x="2996" y="1575"/>
                <a:chExt cx="115" cy="346"/>
              </a:xfrm>
            </p:grpSpPr>
            <p:sp>
              <p:nvSpPr>
                <p:cNvPr id="22602" name="Line 14"/>
                <p:cNvSpPr>
                  <a:spLocks noChangeShapeType="1"/>
                </p:cNvSpPr>
                <p:nvPr/>
              </p:nvSpPr>
              <p:spPr bwMode="auto">
                <a:xfrm flipH="1">
                  <a:off x="3054" y="1691"/>
                  <a:ext cx="57" cy="1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603" name="Line 15"/>
                <p:cNvSpPr>
                  <a:spLocks noChangeShapeType="1"/>
                </p:cNvSpPr>
                <p:nvPr/>
              </p:nvSpPr>
              <p:spPr bwMode="auto">
                <a:xfrm>
                  <a:off x="2996" y="1691"/>
                  <a:ext cx="57" cy="1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604" name="Line 16"/>
                <p:cNvSpPr>
                  <a:spLocks noChangeShapeType="1"/>
                </p:cNvSpPr>
                <p:nvPr/>
              </p:nvSpPr>
              <p:spPr bwMode="auto">
                <a:xfrm flipH="1">
                  <a:off x="2996" y="1690"/>
                  <a:ext cx="11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605" name="Line 17"/>
                <p:cNvSpPr>
                  <a:spLocks noChangeShapeType="1"/>
                </p:cNvSpPr>
                <p:nvPr/>
              </p:nvSpPr>
              <p:spPr bwMode="auto">
                <a:xfrm flipH="1">
                  <a:off x="2996" y="1805"/>
                  <a:ext cx="11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606" name="Line 18"/>
                <p:cNvSpPr>
                  <a:spLocks noChangeShapeType="1"/>
                </p:cNvSpPr>
                <p:nvPr/>
              </p:nvSpPr>
              <p:spPr bwMode="auto">
                <a:xfrm>
                  <a:off x="3053" y="1806"/>
                  <a:ext cx="0"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607" name="Line 19"/>
                <p:cNvSpPr>
                  <a:spLocks noChangeShapeType="1"/>
                </p:cNvSpPr>
                <p:nvPr/>
              </p:nvSpPr>
              <p:spPr bwMode="auto">
                <a:xfrm>
                  <a:off x="3053" y="1575"/>
                  <a:ext cx="0"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2598" name="Line 20"/>
              <p:cNvSpPr>
                <a:spLocks noChangeShapeType="1"/>
              </p:cNvSpPr>
              <p:nvPr/>
            </p:nvSpPr>
            <p:spPr bwMode="auto">
              <a:xfrm>
                <a:off x="2707" y="1921"/>
                <a:ext cx="1"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99" name="Line 21"/>
              <p:cNvSpPr>
                <a:spLocks noChangeShapeType="1"/>
              </p:cNvSpPr>
              <p:nvPr/>
            </p:nvSpPr>
            <p:spPr bwMode="auto">
              <a:xfrm>
                <a:off x="3053" y="1921"/>
                <a:ext cx="0"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600" name="Line 22"/>
              <p:cNvSpPr>
                <a:spLocks noChangeShapeType="1"/>
              </p:cNvSpPr>
              <p:nvPr/>
            </p:nvSpPr>
            <p:spPr bwMode="auto">
              <a:xfrm>
                <a:off x="2707" y="1460"/>
                <a:ext cx="1"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601" name="Line 23"/>
              <p:cNvSpPr>
                <a:spLocks noChangeShapeType="1"/>
              </p:cNvSpPr>
              <p:nvPr/>
            </p:nvSpPr>
            <p:spPr bwMode="auto">
              <a:xfrm>
                <a:off x="3053" y="1460"/>
                <a:ext cx="0"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2535" name="Line 24"/>
            <p:cNvSpPr>
              <a:spLocks noChangeShapeType="1"/>
            </p:cNvSpPr>
            <p:nvPr/>
          </p:nvSpPr>
          <p:spPr bwMode="auto">
            <a:xfrm>
              <a:off x="2708" y="2035"/>
              <a:ext cx="345"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36" name="Line 25"/>
            <p:cNvSpPr>
              <a:spLocks noChangeShapeType="1"/>
            </p:cNvSpPr>
            <p:nvPr/>
          </p:nvSpPr>
          <p:spPr bwMode="auto">
            <a:xfrm>
              <a:off x="2880" y="2036"/>
              <a:ext cx="0"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2537" name="Group 26"/>
            <p:cNvGrpSpPr>
              <a:grpSpLocks/>
            </p:cNvGrpSpPr>
            <p:nvPr/>
          </p:nvGrpSpPr>
          <p:grpSpPr bwMode="auto">
            <a:xfrm>
              <a:off x="2766" y="2151"/>
              <a:ext cx="172" cy="173"/>
              <a:chOff x="2766" y="2151"/>
              <a:chExt cx="172" cy="173"/>
            </a:xfrm>
          </p:grpSpPr>
          <p:sp>
            <p:nvSpPr>
              <p:cNvPr id="22591" name="Line 27"/>
              <p:cNvSpPr>
                <a:spLocks noChangeShapeType="1"/>
              </p:cNvSpPr>
              <p:nvPr/>
            </p:nvSpPr>
            <p:spPr bwMode="auto">
              <a:xfrm flipV="1">
                <a:off x="2880" y="2151"/>
                <a:ext cx="0"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92" name="Line 28"/>
              <p:cNvSpPr>
                <a:spLocks noChangeShapeType="1"/>
              </p:cNvSpPr>
              <p:nvPr/>
            </p:nvSpPr>
            <p:spPr bwMode="auto">
              <a:xfrm>
                <a:off x="2824" y="2266"/>
                <a:ext cx="11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93" name="Line 29"/>
              <p:cNvSpPr>
                <a:spLocks noChangeShapeType="1"/>
              </p:cNvSpPr>
              <p:nvPr/>
            </p:nvSpPr>
            <p:spPr bwMode="auto">
              <a:xfrm flipH="1">
                <a:off x="2766" y="2267"/>
                <a:ext cx="57" cy="5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94" name="Line 30"/>
              <p:cNvSpPr>
                <a:spLocks noChangeShapeType="1"/>
              </p:cNvSpPr>
              <p:nvPr/>
            </p:nvSpPr>
            <p:spPr bwMode="auto">
              <a:xfrm flipH="1">
                <a:off x="2824" y="2267"/>
                <a:ext cx="57" cy="5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95" name="Line 31"/>
              <p:cNvSpPr>
                <a:spLocks noChangeShapeType="1"/>
              </p:cNvSpPr>
              <p:nvPr/>
            </p:nvSpPr>
            <p:spPr bwMode="auto">
              <a:xfrm flipH="1">
                <a:off x="2881" y="2267"/>
                <a:ext cx="57" cy="5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2538" name="Line 32"/>
            <p:cNvSpPr>
              <a:spLocks noChangeShapeType="1"/>
            </p:cNvSpPr>
            <p:nvPr/>
          </p:nvSpPr>
          <p:spPr bwMode="auto">
            <a:xfrm flipH="1">
              <a:off x="2305" y="1459"/>
              <a:ext cx="403"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39" name="Line 33"/>
            <p:cNvSpPr>
              <a:spLocks noChangeShapeType="1"/>
            </p:cNvSpPr>
            <p:nvPr/>
          </p:nvSpPr>
          <p:spPr bwMode="auto">
            <a:xfrm flipH="1">
              <a:off x="3054" y="1459"/>
              <a:ext cx="402"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40" name="Line 34"/>
            <p:cNvSpPr>
              <a:spLocks noChangeShapeType="1"/>
            </p:cNvSpPr>
            <p:nvPr/>
          </p:nvSpPr>
          <p:spPr bwMode="auto">
            <a:xfrm>
              <a:off x="2708" y="1459"/>
              <a:ext cx="345"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41" name="Line 35"/>
            <p:cNvSpPr>
              <a:spLocks noChangeShapeType="1"/>
            </p:cNvSpPr>
            <p:nvPr/>
          </p:nvSpPr>
          <p:spPr bwMode="auto">
            <a:xfrm flipH="1">
              <a:off x="2247" y="1460"/>
              <a:ext cx="633" cy="46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42" name="Line 36"/>
            <p:cNvSpPr>
              <a:spLocks noChangeShapeType="1"/>
            </p:cNvSpPr>
            <p:nvPr/>
          </p:nvSpPr>
          <p:spPr bwMode="auto">
            <a:xfrm flipH="1">
              <a:off x="4091" y="1459"/>
              <a:ext cx="172"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43" name="Rectangle 37"/>
            <p:cNvSpPr>
              <a:spLocks noChangeArrowheads="1"/>
            </p:cNvSpPr>
            <p:nvPr/>
          </p:nvSpPr>
          <p:spPr bwMode="auto">
            <a:xfrm>
              <a:off x="1786" y="1402"/>
              <a:ext cx="40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1000">
                  <a:latin typeface="Times New Roman" panose="02020603050405020304" pitchFamily="18" charset="0"/>
                </a:rPr>
                <a:t>RF Filter</a:t>
              </a:r>
            </a:p>
          </p:txBody>
        </p:sp>
        <p:sp>
          <p:nvSpPr>
            <p:cNvPr id="22544" name="Rectangle 38"/>
            <p:cNvSpPr>
              <a:spLocks noChangeArrowheads="1"/>
            </p:cNvSpPr>
            <p:nvPr/>
          </p:nvSpPr>
          <p:spPr bwMode="auto">
            <a:xfrm>
              <a:off x="3629" y="1402"/>
              <a:ext cx="34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IF Filter</a:t>
              </a:r>
            </a:p>
          </p:txBody>
        </p:sp>
        <p:sp>
          <p:nvSpPr>
            <p:cNvPr id="22545" name="Rectangle 39"/>
            <p:cNvSpPr>
              <a:spLocks noChangeArrowheads="1"/>
            </p:cNvSpPr>
            <p:nvPr/>
          </p:nvSpPr>
          <p:spPr bwMode="auto">
            <a:xfrm>
              <a:off x="2074" y="2266"/>
              <a:ext cx="34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endParaRPr lang="en-US" altLang="en-US">
                <a:latin typeface="Times New Roman" panose="02020603050405020304" pitchFamily="18" charset="0"/>
              </a:endParaRPr>
            </a:p>
          </p:txBody>
        </p:sp>
        <p:sp>
          <p:nvSpPr>
            <p:cNvPr id="22546" name="Rectangle 40"/>
            <p:cNvSpPr>
              <a:spLocks noChangeArrowheads="1"/>
            </p:cNvSpPr>
            <p:nvPr/>
          </p:nvSpPr>
          <p:spPr bwMode="auto">
            <a:xfrm>
              <a:off x="1152" y="1402"/>
              <a:ext cx="34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RF Input</a:t>
              </a:r>
            </a:p>
          </p:txBody>
        </p:sp>
        <p:sp>
          <p:nvSpPr>
            <p:cNvPr id="22547" name="Rectangle 41"/>
            <p:cNvSpPr>
              <a:spLocks noChangeArrowheads="1"/>
            </p:cNvSpPr>
            <p:nvPr/>
          </p:nvSpPr>
          <p:spPr bwMode="auto">
            <a:xfrm>
              <a:off x="4320" y="1402"/>
              <a:ext cx="34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IF Output</a:t>
              </a:r>
            </a:p>
          </p:txBody>
        </p:sp>
        <p:sp>
          <p:nvSpPr>
            <p:cNvPr id="22548" name="Rectangle 42"/>
            <p:cNvSpPr>
              <a:spLocks noChangeArrowheads="1"/>
            </p:cNvSpPr>
            <p:nvPr/>
          </p:nvSpPr>
          <p:spPr bwMode="auto">
            <a:xfrm>
              <a:off x="1673" y="1347"/>
              <a:ext cx="628" cy="224"/>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2549" name="Line 43"/>
            <p:cNvSpPr>
              <a:spLocks noChangeShapeType="1"/>
            </p:cNvSpPr>
            <p:nvPr/>
          </p:nvSpPr>
          <p:spPr bwMode="auto">
            <a:xfrm flipH="1">
              <a:off x="1499" y="1459"/>
              <a:ext cx="172"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50" name="Rectangle 44"/>
            <p:cNvSpPr>
              <a:spLocks noChangeArrowheads="1"/>
            </p:cNvSpPr>
            <p:nvPr/>
          </p:nvSpPr>
          <p:spPr bwMode="auto">
            <a:xfrm>
              <a:off x="1904" y="1923"/>
              <a:ext cx="628" cy="224"/>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2551" name="Rectangle 45"/>
            <p:cNvSpPr>
              <a:spLocks noChangeArrowheads="1"/>
            </p:cNvSpPr>
            <p:nvPr/>
          </p:nvSpPr>
          <p:spPr bwMode="auto">
            <a:xfrm>
              <a:off x="3459" y="1347"/>
              <a:ext cx="628" cy="224"/>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nvGrpSpPr>
            <p:cNvPr id="22552" name="Group 46"/>
            <p:cNvGrpSpPr>
              <a:grpSpLocks/>
            </p:cNvGrpSpPr>
            <p:nvPr/>
          </p:nvGrpSpPr>
          <p:grpSpPr bwMode="auto">
            <a:xfrm>
              <a:off x="2651" y="1460"/>
              <a:ext cx="460" cy="576"/>
              <a:chOff x="2651" y="1460"/>
              <a:chExt cx="460" cy="576"/>
            </a:xfrm>
          </p:grpSpPr>
          <p:grpSp>
            <p:nvGrpSpPr>
              <p:cNvPr id="22573" name="Group 47"/>
              <p:cNvGrpSpPr>
                <a:grpSpLocks/>
              </p:cNvGrpSpPr>
              <p:nvPr/>
            </p:nvGrpSpPr>
            <p:grpSpPr bwMode="auto">
              <a:xfrm>
                <a:off x="2651" y="1575"/>
                <a:ext cx="115" cy="346"/>
                <a:chOff x="2651" y="1575"/>
                <a:chExt cx="115" cy="346"/>
              </a:xfrm>
            </p:grpSpPr>
            <p:sp>
              <p:nvSpPr>
                <p:cNvPr id="22585" name="Line 48"/>
                <p:cNvSpPr>
                  <a:spLocks noChangeShapeType="1"/>
                </p:cNvSpPr>
                <p:nvPr/>
              </p:nvSpPr>
              <p:spPr bwMode="auto">
                <a:xfrm flipH="1" flipV="1">
                  <a:off x="2709" y="1690"/>
                  <a:ext cx="57" cy="1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86" name="Line 49"/>
                <p:cNvSpPr>
                  <a:spLocks noChangeShapeType="1"/>
                </p:cNvSpPr>
                <p:nvPr/>
              </p:nvSpPr>
              <p:spPr bwMode="auto">
                <a:xfrm flipV="1">
                  <a:off x="2651" y="1690"/>
                  <a:ext cx="57" cy="1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87" name="Line 50"/>
                <p:cNvSpPr>
                  <a:spLocks noChangeShapeType="1"/>
                </p:cNvSpPr>
                <p:nvPr/>
              </p:nvSpPr>
              <p:spPr bwMode="auto">
                <a:xfrm flipH="1">
                  <a:off x="2651" y="1805"/>
                  <a:ext cx="11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88" name="Line 51"/>
                <p:cNvSpPr>
                  <a:spLocks noChangeShapeType="1"/>
                </p:cNvSpPr>
                <p:nvPr/>
              </p:nvSpPr>
              <p:spPr bwMode="auto">
                <a:xfrm flipH="1">
                  <a:off x="2651" y="1690"/>
                  <a:ext cx="11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89" name="Line 52"/>
                <p:cNvSpPr>
                  <a:spLocks noChangeShapeType="1"/>
                </p:cNvSpPr>
                <p:nvPr/>
              </p:nvSpPr>
              <p:spPr bwMode="auto">
                <a:xfrm flipV="1">
                  <a:off x="2708" y="1575"/>
                  <a:ext cx="0"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90" name="Line 53"/>
                <p:cNvSpPr>
                  <a:spLocks noChangeShapeType="1"/>
                </p:cNvSpPr>
                <p:nvPr/>
              </p:nvSpPr>
              <p:spPr bwMode="auto">
                <a:xfrm flipV="1">
                  <a:off x="2708" y="1806"/>
                  <a:ext cx="0"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2574" name="Group 54"/>
              <p:cNvGrpSpPr>
                <a:grpSpLocks/>
              </p:cNvGrpSpPr>
              <p:nvPr/>
            </p:nvGrpSpPr>
            <p:grpSpPr bwMode="auto">
              <a:xfrm>
                <a:off x="2996" y="1575"/>
                <a:ext cx="115" cy="346"/>
                <a:chOff x="2996" y="1575"/>
                <a:chExt cx="115" cy="346"/>
              </a:xfrm>
            </p:grpSpPr>
            <p:sp>
              <p:nvSpPr>
                <p:cNvPr id="22579" name="Line 55"/>
                <p:cNvSpPr>
                  <a:spLocks noChangeShapeType="1"/>
                </p:cNvSpPr>
                <p:nvPr/>
              </p:nvSpPr>
              <p:spPr bwMode="auto">
                <a:xfrm flipH="1">
                  <a:off x="3054" y="1691"/>
                  <a:ext cx="57" cy="1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80" name="Line 56"/>
                <p:cNvSpPr>
                  <a:spLocks noChangeShapeType="1"/>
                </p:cNvSpPr>
                <p:nvPr/>
              </p:nvSpPr>
              <p:spPr bwMode="auto">
                <a:xfrm>
                  <a:off x="2996" y="1691"/>
                  <a:ext cx="57" cy="1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81" name="Line 57"/>
                <p:cNvSpPr>
                  <a:spLocks noChangeShapeType="1"/>
                </p:cNvSpPr>
                <p:nvPr/>
              </p:nvSpPr>
              <p:spPr bwMode="auto">
                <a:xfrm flipH="1">
                  <a:off x="2996" y="1690"/>
                  <a:ext cx="11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82" name="Line 58"/>
                <p:cNvSpPr>
                  <a:spLocks noChangeShapeType="1"/>
                </p:cNvSpPr>
                <p:nvPr/>
              </p:nvSpPr>
              <p:spPr bwMode="auto">
                <a:xfrm flipH="1">
                  <a:off x="2996" y="1805"/>
                  <a:ext cx="11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83" name="Line 59"/>
                <p:cNvSpPr>
                  <a:spLocks noChangeShapeType="1"/>
                </p:cNvSpPr>
                <p:nvPr/>
              </p:nvSpPr>
              <p:spPr bwMode="auto">
                <a:xfrm>
                  <a:off x="3053" y="1806"/>
                  <a:ext cx="0"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84" name="Line 60"/>
                <p:cNvSpPr>
                  <a:spLocks noChangeShapeType="1"/>
                </p:cNvSpPr>
                <p:nvPr/>
              </p:nvSpPr>
              <p:spPr bwMode="auto">
                <a:xfrm>
                  <a:off x="3053" y="1575"/>
                  <a:ext cx="0"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2575" name="Line 61"/>
              <p:cNvSpPr>
                <a:spLocks noChangeShapeType="1"/>
              </p:cNvSpPr>
              <p:nvPr/>
            </p:nvSpPr>
            <p:spPr bwMode="auto">
              <a:xfrm>
                <a:off x="2707" y="1921"/>
                <a:ext cx="1"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76" name="Line 62"/>
              <p:cNvSpPr>
                <a:spLocks noChangeShapeType="1"/>
              </p:cNvSpPr>
              <p:nvPr/>
            </p:nvSpPr>
            <p:spPr bwMode="auto">
              <a:xfrm>
                <a:off x="3053" y="1921"/>
                <a:ext cx="0"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77" name="Line 63"/>
              <p:cNvSpPr>
                <a:spLocks noChangeShapeType="1"/>
              </p:cNvSpPr>
              <p:nvPr/>
            </p:nvSpPr>
            <p:spPr bwMode="auto">
              <a:xfrm>
                <a:off x="2707" y="1460"/>
                <a:ext cx="1"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78" name="Line 64"/>
              <p:cNvSpPr>
                <a:spLocks noChangeShapeType="1"/>
              </p:cNvSpPr>
              <p:nvPr/>
            </p:nvSpPr>
            <p:spPr bwMode="auto">
              <a:xfrm>
                <a:off x="3053" y="1460"/>
                <a:ext cx="0"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2553" name="Line 65"/>
            <p:cNvSpPr>
              <a:spLocks noChangeShapeType="1"/>
            </p:cNvSpPr>
            <p:nvPr/>
          </p:nvSpPr>
          <p:spPr bwMode="auto">
            <a:xfrm>
              <a:off x="2708" y="2035"/>
              <a:ext cx="345"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54" name="Line 66"/>
            <p:cNvSpPr>
              <a:spLocks noChangeShapeType="1"/>
            </p:cNvSpPr>
            <p:nvPr/>
          </p:nvSpPr>
          <p:spPr bwMode="auto">
            <a:xfrm>
              <a:off x="2880" y="2036"/>
              <a:ext cx="0"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2555" name="Group 67"/>
            <p:cNvGrpSpPr>
              <a:grpSpLocks/>
            </p:cNvGrpSpPr>
            <p:nvPr/>
          </p:nvGrpSpPr>
          <p:grpSpPr bwMode="auto">
            <a:xfrm>
              <a:off x="2766" y="2151"/>
              <a:ext cx="172" cy="173"/>
              <a:chOff x="2766" y="2151"/>
              <a:chExt cx="172" cy="173"/>
            </a:xfrm>
          </p:grpSpPr>
          <p:sp>
            <p:nvSpPr>
              <p:cNvPr id="22568" name="Line 68"/>
              <p:cNvSpPr>
                <a:spLocks noChangeShapeType="1"/>
              </p:cNvSpPr>
              <p:nvPr/>
            </p:nvSpPr>
            <p:spPr bwMode="auto">
              <a:xfrm flipV="1">
                <a:off x="2880" y="2151"/>
                <a:ext cx="0" cy="11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69" name="Line 69"/>
              <p:cNvSpPr>
                <a:spLocks noChangeShapeType="1"/>
              </p:cNvSpPr>
              <p:nvPr/>
            </p:nvSpPr>
            <p:spPr bwMode="auto">
              <a:xfrm>
                <a:off x="2824" y="2266"/>
                <a:ext cx="11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70" name="Line 70"/>
              <p:cNvSpPr>
                <a:spLocks noChangeShapeType="1"/>
              </p:cNvSpPr>
              <p:nvPr/>
            </p:nvSpPr>
            <p:spPr bwMode="auto">
              <a:xfrm flipH="1">
                <a:off x="2766" y="2267"/>
                <a:ext cx="57" cy="5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71" name="Line 71"/>
              <p:cNvSpPr>
                <a:spLocks noChangeShapeType="1"/>
              </p:cNvSpPr>
              <p:nvPr/>
            </p:nvSpPr>
            <p:spPr bwMode="auto">
              <a:xfrm flipH="1">
                <a:off x="2824" y="2267"/>
                <a:ext cx="57" cy="5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72" name="Line 72"/>
              <p:cNvSpPr>
                <a:spLocks noChangeShapeType="1"/>
              </p:cNvSpPr>
              <p:nvPr/>
            </p:nvSpPr>
            <p:spPr bwMode="auto">
              <a:xfrm flipH="1">
                <a:off x="2881" y="2267"/>
                <a:ext cx="57" cy="5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2556" name="Line 73"/>
            <p:cNvSpPr>
              <a:spLocks noChangeShapeType="1"/>
            </p:cNvSpPr>
            <p:nvPr/>
          </p:nvSpPr>
          <p:spPr bwMode="auto">
            <a:xfrm flipH="1">
              <a:off x="2305" y="1459"/>
              <a:ext cx="403"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57" name="Line 74"/>
            <p:cNvSpPr>
              <a:spLocks noChangeShapeType="1"/>
            </p:cNvSpPr>
            <p:nvPr/>
          </p:nvSpPr>
          <p:spPr bwMode="auto">
            <a:xfrm flipH="1">
              <a:off x="3054" y="1459"/>
              <a:ext cx="402"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58" name="Line 75"/>
            <p:cNvSpPr>
              <a:spLocks noChangeShapeType="1"/>
            </p:cNvSpPr>
            <p:nvPr/>
          </p:nvSpPr>
          <p:spPr bwMode="auto">
            <a:xfrm>
              <a:off x="2708" y="1459"/>
              <a:ext cx="345"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59" name="Line 76"/>
            <p:cNvSpPr>
              <a:spLocks noChangeShapeType="1"/>
            </p:cNvSpPr>
            <p:nvPr/>
          </p:nvSpPr>
          <p:spPr bwMode="auto">
            <a:xfrm flipH="1">
              <a:off x="2247" y="1460"/>
              <a:ext cx="633" cy="46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60" name="Line 77"/>
            <p:cNvSpPr>
              <a:spLocks noChangeShapeType="1"/>
            </p:cNvSpPr>
            <p:nvPr/>
          </p:nvSpPr>
          <p:spPr bwMode="auto">
            <a:xfrm flipH="1">
              <a:off x="4091" y="1459"/>
              <a:ext cx="172"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2561" name="Rectangle 78"/>
            <p:cNvSpPr>
              <a:spLocks noChangeArrowheads="1"/>
            </p:cNvSpPr>
            <p:nvPr/>
          </p:nvSpPr>
          <p:spPr bwMode="auto">
            <a:xfrm>
              <a:off x="1786" y="1402"/>
              <a:ext cx="40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1000">
                  <a:latin typeface="Times New Roman" panose="02020603050405020304" pitchFamily="18" charset="0"/>
                </a:rPr>
                <a:t>RF Filter</a:t>
              </a:r>
            </a:p>
          </p:txBody>
        </p:sp>
        <p:sp>
          <p:nvSpPr>
            <p:cNvPr id="22562" name="Rectangle 79"/>
            <p:cNvSpPr>
              <a:spLocks noChangeArrowheads="1"/>
            </p:cNvSpPr>
            <p:nvPr/>
          </p:nvSpPr>
          <p:spPr bwMode="auto">
            <a:xfrm>
              <a:off x="3629" y="1402"/>
              <a:ext cx="34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IF Filter</a:t>
              </a:r>
            </a:p>
          </p:txBody>
        </p:sp>
        <p:sp>
          <p:nvSpPr>
            <p:cNvPr id="22563" name="Rectangle 80"/>
            <p:cNvSpPr>
              <a:spLocks noChangeArrowheads="1"/>
            </p:cNvSpPr>
            <p:nvPr/>
          </p:nvSpPr>
          <p:spPr bwMode="auto">
            <a:xfrm>
              <a:off x="2074" y="1978"/>
              <a:ext cx="34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1000" dirty="0">
                  <a:latin typeface="Times New Roman" panose="02020603050405020304" pitchFamily="18" charset="0"/>
                </a:rPr>
                <a:t>LO Filter</a:t>
              </a:r>
            </a:p>
          </p:txBody>
        </p:sp>
        <p:sp>
          <p:nvSpPr>
            <p:cNvPr id="22564" name="Rectangle 81"/>
            <p:cNvSpPr>
              <a:spLocks noChangeArrowheads="1"/>
            </p:cNvSpPr>
            <p:nvPr/>
          </p:nvSpPr>
          <p:spPr bwMode="auto">
            <a:xfrm>
              <a:off x="1152" y="1402"/>
              <a:ext cx="34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RF Input</a:t>
              </a:r>
            </a:p>
          </p:txBody>
        </p:sp>
        <p:sp>
          <p:nvSpPr>
            <p:cNvPr id="22565" name="Rectangle 82"/>
            <p:cNvSpPr>
              <a:spLocks noChangeArrowheads="1"/>
            </p:cNvSpPr>
            <p:nvPr/>
          </p:nvSpPr>
          <p:spPr bwMode="auto">
            <a:xfrm>
              <a:off x="4320" y="1402"/>
              <a:ext cx="34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IF Output</a:t>
              </a:r>
            </a:p>
          </p:txBody>
        </p:sp>
        <p:sp>
          <p:nvSpPr>
            <p:cNvPr id="22566" name="Rectangle 83"/>
            <p:cNvSpPr>
              <a:spLocks noChangeArrowheads="1"/>
            </p:cNvSpPr>
            <p:nvPr/>
          </p:nvSpPr>
          <p:spPr bwMode="auto">
            <a:xfrm>
              <a:off x="1959" y="2324"/>
              <a:ext cx="517" cy="171"/>
            </a:xfrm>
            <a:prstGeom prst="rect">
              <a:avLst/>
            </a:prstGeom>
            <a:solidFill>
              <a:srgbClr val="FFFFFF"/>
            </a:solidFill>
            <a:ln w="12700">
              <a:solidFill>
                <a:srgbClr val="FFFFFF"/>
              </a:solidFill>
              <a:miter lim="800000"/>
              <a:headEnd/>
              <a:tailEnd/>
            </a:ln>
          </p:spPr>
          <p:txBody>
            <a:bodyPr lIns="92075" tIns="46038" rIns="92075" bIns="46038"/>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LO Input</a:t>
              </a:r>
            </a:p>
          </p:txBody>
        </p:sp>
        <p:sp>
          <p:nvSpPr>
            <p:cNvPr id="22567" name="Line 84"/>
            <p:cNvSpPr>
              <a:spLocks noChangeShapeType="1"/>
            </p:cNvSpPr>
            <p:nvPr/>
          </p:nvSpPr>
          <p:spPr bwMode="auto">
            <a:xfrm flipV="1">
              <a:off x="2189" y="2150"/>
              <a:ext cx="0" cy="17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2532" name="Rectangle 85"/>
          <p:cNvSpPr>
            <a:spLocks noGrp="1" noChangeArrowheads="1"/>
          </p:cNvSpPr>
          <p:nvPr>
            <p:ph type="body" sz="half" idx="2"/>
          </p:nvPr>
        </p:nvSpPr>
        <p:spPr>
          <a:xfrm>
            <a:off x="304800" y="3566771"/>
            <a:ext cx="8458200" cy="2615367"/>
          </a:xfrm>
          <a:noFill/>
        </p:spPr>
        <p:txBody>
          <a:bodyPr lIns="92075" tIns="46038" rIns="92075" bIns="46038"/>
          <a:lstStyle/>
          <a:p>
            <a:pPr>
              <a:buSzPct val="90000"/>
            </a:pPr>
            <a:r>
              <a:rPr lang="en-US" altLang="en-US" sz="2400" dirty="0" smtClean="0"/>
              <a:t>Actual LO Frequency is </a:t>
            </a:r>
            <a:r>
              <a:rPr lang="en-US" altLang="en-US" sz="2400" dirty="0" err="1" smtClean="0"/>
              <a:t>Subharmonic</a:t>
            </a:r>
            <a:r>
              <a:rPr lang="en-US" altLang="en-US" sz="2400" dirty="0" smtClean="0"/>
              <a:t> of Effective LO Frequency</a:t>
            </a:r>
          </a:p>
          <a:p>
            <a:pPr>
              <a:buSzPct val="90000"/>
            </a:pPr>
            <a:r>
              <a:rPr lang="en-US" altLang="en-US" sz="2400" dirty="0" smtClean="0"/>
              <a:t>Schottky diodes multiply input LO frequency AND multiply incoming RF signal by multiples (harmonics) of input LO frequencies</a:t>
            </a:r>
          </a:p>
          <a:p>
            <a:pPr>
              <a:buSzPct val="90000"/>
            </a:pPr>
            <a:r>
              <a:rPr lang="en-US" altLang="en-US" sz="2400" dirty="0" smtClean="0"/>
              <a:t>Poor inter-port isolation</a:t>
            </a:r>
          </a:p>
        </p:txBody>
      </p:sp>
    </p:spTree>
    <p:extLst>
      <p:ext uri="{BB962C8B-B14F-4D97-AF65-F5344CB8AC3E}">
        <p14:creationId xmlns:p14="http://schemas.microsoft.com/office/powerpoint/2010/main" val="25463633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noFill/>
        </p:spPr>
        <p:txBody>
          <a:bodyPr lIns="92075" tIns="46038" rIns="92075" bIns="46038" anchor="ctr"/>
          <a:lstStyle/>
          <a:p>
            <a:r>
              <a:rPr lang="en-US" altLang="en-US" smtClean="0"/>
              <a:t>Double Balanced Mixer</a:t>
            </a:r>
          </a:p>
        </p:txBody>
      </p:sp>
      <p:grpSp>
        <p:nvGrpSpPr>
          <p:cNvPr id="23555" name="Group 3"/>
          <p:cNvGrpSpPr>
            <a:grpSpLocks/>
          </p:cNvGrpSpPr>
          <p:nvPr/>
        </p:nvGrpSpPr>
        <p:grpSpPr bwMode="auto">
          <a:xfrm>
            <a:off x="891208" y="1437861"/>
            <a:ext cx="7010400" cy="1981200"/>
            <a:chOff x="1104" y="1200"/>
            <a:chExt cx="3936" cy="1248"/>
          </a:xfrm>
        </p:grpSpPr>
        <p:grpSp>
          <p:nvGrpSpPr>
            <p:cNvPr id="23557" name="Group 4"/>
            <p:cNvGrpSpPr>
              <a:grpSpLocks/>
            </p:cNvGrpSpPr>
            <p:nvPr/>
          </p:nvGrpSpPr>
          <p:grpSpPr bwMode="auto">
            <a:xfrm>
              <a:off x="1439" y="1449"/>
              <a:ext cx="933" cy="833"/>
              <a:chOff x="1439" y="1449"/>
              <a:chExt cx="933" cy="833"/>
            </a:xfrm>
          </p:grpSpPr>
          <p:grpSp>
            <p:nvGrpSpPr>
              <p:cNvPr id="23667" name="Group 5"/>
              <p:cNvGrpSpPr>
                <a:grpSpLocks/>
              </p:cNvGrpSpPr>
              <p:nvPr/>
            </p:nvGrpSpPr>
            <p:grpSpPr bwMode="auto">
              <a:xfrm>
                <a:off x="1771" y="1533"/>
                <a:ext cx="335" cy="499"/>
                <a:chOff x="1771" y="1533"/>
                <a:chExt cx="335" cy="499"/>
              </a:xfrm>
            </p:grpSpPr>
            <p:grpSp>
              <p:nvGrpSpPr>
                <p:cNvPr id="23683" name="Group 6"/>
                <p:cNvGrpSpPr>
                  <a:grpSpLocks/>
                </p:cNvGrpSpPr>
                <p:nvPr/>
              </p:nvGrpSpPr>
              <p:grpSpPr bwMode="auto">
                <a:xfrm>
                  <a:off x="1972" y="1533"/>
                  <a:ext cx="134" cy="499"/>
                  <a:chOff x="1972" y="1533"/>
                  <a:chExt cx="134" cy="499"/>
                </a:xfrm>
              </p:grpSpPr>
              <p:grpSp>
                <p:nvGrpSpPr>
                  <p:cNvPr id="23699" name="Group 7"/>
                  <p:cNvGrpSpPr>
                    <a:grpSpLocks/>
                  </p:cNvGrpSpPr>
                  <p:nvPr/>
                </p:nvGrpSpPr>
                <p:grpSpPr bwMode="auto">
                  <a:xfrm>
                    <a:off x="1972" y="1683"/>
                    <a:ext cx="134" cy="99"/>
                    <a:chOff x="1972" y="1683"/>
                    <a:chExt cx="134" cy="99"/>
                  </a:xfrm>
                </p:grpSpPr>
                <p:sp>
                  <p:nvSpPr>
                    <p:cNvPr id="23711" name="Arc 8"/>
                    <p:cNvSpPr>
                      <a:spLocks/>
                    </p:cNvSpPr>
                    <p:nvPr/>
                  </p:nvSpPr>
                  <p:spPr bwMode="auto">
                    <a:xfrm>
                      <a:off x="1972" y="1731"/>
                      <a:ext cx="134" cy="51"/>
                    </a:xfrm>
                    <a:custGeom>
                      <a:avLst/>
                      <a:gdLst>
                        <a:gd name="T0" fmla="*/ 133 w 21600"/>
                        <a:gd name="T1" fmla="*/ 51 h 21599"/>
                        <a:gd name="T2" fmla="*/ 0 w 21600"/>
                        <a:gd name="T3" fmla="*/ 0 h 21599"/>
                        <a:gd name="T4" fmla="*/ 134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35" y="21599"/>
                          </a:moveTo>
                          <a:cubicBezTo>
                            <a:pt x="9570" y="21509"/>
                            <a:pt x="0" y="11865"/>
                            <a:pt x="0" y="0"/>
                          </a:cubicBezTo>
                        </a:path>
                        <a:path w="21600" h="21599" stroke="0" extrusionOk="0">
                          <a:moveTo>
                            <a:pt x="21435" y="21599"/>
                          </a:moveTo>
                          <a:cubicBezTo>
                            <a:pt x="9570" y="21509"/>
                            <a:pt x="0" y="11865"/>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3712" name="Arc 9"/>
                    <p:cNvSpPr>
                      <a:spLocks/>
                    </p:cNvSpPr>
                    <p:nvPr/>
                  </p:nvSpPr>
                  <p:spPr bwMode="auto">
                    <a:xfrm>
                      <a:off x="1972" y="1683"/>
                      <a:ext cx="134" cy="51"/>
                    </a:xfrm>
                    <a:custGeom>
                      <a:avLst/>
                      <a:gdLst>
                        <a:gd name="T0" fmla="*/ 0 w 21600"/>
                        <a:gd name="T1" fmla="*/ 51 h 21599"/>
                        <a:gd name="T2" fmla="*/ 133 w 21600"/>
                        <a:gd name="T3" fmla="*/ 0 h 21599"/>
                        <a:gd name="T4" fmla="*/ 134 w 21600"/>
                        <a:gd name="T5" fmla="*/ 51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32"/>
                            <a:pt x="9572" y="88"/>
                            <a:pt x="21438" y="-1"/>
                          </a:cubicBezTo>
                        </a:path>
                        <a:path w="21600" h="21599" stroke="0" extrusionOk="0">
                          <a:moveTo>
                            <a:pt x="0" y="21599"/>
                          </a:moveTo>
                          <a:cubicBezTo>
                            <a:pt x="0" y="9732"/>
                            <a:pt x="9572" y="88"/>
                            <a:pt x="21438"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3700" name="Group 10"/>
                  <p:cNvGrpSpPr>
                    <a:grpSpLocks/>
                  </p:cNvGrpSpPr>
                  <p:nvPr/>
                </p:nvGrpSpPr>
                <p:grpSpPr bwMode="auto">
                  <a:xfrm>
                    <a:off x="1972" y="1783"/>
                    <a:ext cx="134" cy="100"/>
                    <a:chOff x="1972" y="1783"/>
                    <a:chExt cx="134" cy="100"/>
                  </a:xfrm>
                </p:grpSpPr>
                <p:sp>
                  <p:nvSpPr>
                    <p:cNvPr id="23709" name="Arc 11"/>
                    <p:cNvSpPr>
                      <a:spLocks/>
                    </p:cNvSpPr>
                    <p:nvPr/>
                  </p:nvSpPr>
                  <p:spPr bwMode="auto">
                    <a:xfrm>
                      <a:off x="1972" y="1833"/>
                      <a:ext cx="134" cy="50"/>
                    </a:xfrm>
                    <a:custGeom>
                      <a:avLst/>
                      <a:gdLst>
                        <a:gd name="T0" fmla="*/ 133 w 21600"/>
                        <a:gd name="T1" fmla="*/ 50 h 21599"/>
                        <a:gd name="T2" fmla="*/ 0 w 21600"/>
                        <a:gd name="T3" fmla="*/ 0 h 21599"/>
                        <a:gd name="T4" fmla="*/ 134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35" y="21599"/>
                          </a:moveTo>
                          <a:cubicBezTo>
                            <a:pt x="9570" y="21509"/>
                            <a:pt x="0" y="11865"/>
                            <a:pt x="0" y="0"/>
                          </a:cubicBezTo>
                        </a:path>
                        <a:path w="21600" h="21599" stroke="0" extrusionOk="0">
                          <a:moveTo>
                            <a:pt x="21435" y="21599"/>
                          </a:moveTo>
                          <a:cubicBezTo>
                            <a:pt x="9570" y="21509"/>
                            <a:pt x="0" y="11865"/>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3710" name="Arc 12"/>
                    <p:cNvSpPr>
                      <a:spLocks/>
                    </p:cNvSpPr>
                    <p:nvPr/>
                  </p:nvSpPr>
                  <p:spPr bwMode="auto">
                    <a:xfrm>
                      <a:off x="1972" y="1783"/>
                      <a:ext cx="134" cy="50"/>
                    </a:xfrm>
                    <a:custGeom>
                      <a:avLst/>
                      <a:gdLst>
                        <a:gd name="T0" fmla="*/ 0 w 21600"/>
                        <a:gd name="T1" fmla="*/ 50 h 21599"/>
                        <a:gd name="T2" fmla="*/ 133 w 21600"/>
                        <a:gd name="T3" fmla="*/ 0 h 21599"/>
                        <a:gd name="T4" fmla="*/ 134 w 21600"/>
                        <a:gd name="T5" fmla="*/ 5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32"/>
                            <a:pt x="9572" y="88"/>
                            <a:pt x="21438" y="-1"/>
                          </a:cubicBezTo>
                        </a:path>
                        <a:path w="21600" h="21599" stroke="0" extrusionOk="0">
                          <a:moveTo>
                            <a:pt x="0" y="21599"/>
                          </a:moveTo>
                          <a:cubicBezTo>
                            <a:pt x="0" y="9732"/>
                            <a:pt x="9572" y="88"/>
                            <a:pt x="21438"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3701" name="Group 13"/>
                  <p:cNvGrpSpPr>
                    <a:grpSpLocks/>
                  </p:cNvGrpSpPr>
                  <p:nvPr/>
                </p:nvGrpSpPr>
                <p:grpSpPr bwMode="auto">
                  <a:xfrm>
                    <a:off x="1972" y="1882"/>
                    <a:ext cx="134" cy="100"/>
                    <a:chOff x="1972" y="1882"/>
                    <a:chExt cx="134" cy="100"/>
                  </a:xfrm>
                </p:grpSpPr>
                <p:sp>
                  <p:nvSpPr>
                    <p:cNvPr id="23707" name="Arc 14"/>
                    <p:cNvSpPr>
                      <a:spLocks/>
                    </p:cNvSpPr>
                    <p:nvPr/>
                  </p:nvSpPr>
                  <p:spPr bwMode="auto">
                    <a:xfrm>
                      <a:off x="1972" y="1932"/>
                      <a:ext cx="134" cy="50"/>
                    </a:xfrm>
                    <a:custGeom>
                      <a:avLst/>
                      <a:gdLst>
                        <a:gd name="T0" fmla="*/ 133 w 21600"/>
                        <a:gd name="T1" fmla="*/ 50 h 21599"/>
                        <a:gd name="T2" fmla="*/ 0 w 21600"/>
                        <a:gd name="T3" fmla="*/ 0 h 21599"/>
                        <a:gd name="T4" fmla="*/ 134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35" y="21599"/>
                          </a:moveTo>
                          <a:cubicBezTo>
                            <a:pt x="9570" y="21509"/>
                            <a:pt x="0" y="11865"/>
                            <a:pt x="0" y="0"/>
                          </a:cubicBezTo>
                        </a:path>
                        <a:path w="21600" h="21599" stroke="0" extrusionOk="0">
                          <a:moveTo>
                            <a:pt x="21435" y="21599"/>
                          </a:moveTo>
                          <a:cubicBezTo>
                            <a:pt x="9570" y="21509"/>
                            <a:pt x="0" y="11865"/>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3708" name="Arc 15"/>
                    <p:cNvSpPr>
                      <a:spLocks/>
                    </p:cNvSpPr>
                    <p:nvPr/>
                  </p:nvSpPr>
                  <p:spPr bwMode="auto">
                    <a:xfrm>
                      <a:off x="1972" y="1882"/>
                      <a:ext cx="134" cy="50"/>
                    </a:xfrm>
                    <a:custGeom>
                      <a:avLst/>
                      <a:gdLst>
                        <a:gd name="T0" fmla="*/ 0 w 21600"/>
                        <a:gd name="T1" fmla="*/ 50 h 21599"/>
                        <a:gd name="T2" fmla="*/ 133 w 21600"/>
                        <a:gd name="T3" fmla="*/ 0 h 21599"/>
                        <a:gd name="T4" fmla="*/ 134 w 21600"/>
                        <a:gd name="T5" fmla="*/ 5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32"/>
                            <a:pt x="9572" y="88"/>
                            <a:pt x="21438" y="-1"/>
                          </a:cubicBezTo>
                        </a:path>
                        <a:path w="21600" h="21599" stroke="0" extrusionOk="0">
                          <a:moveTo>
                            <a:pt x="0" y="21599"/>
                          </a:moveTo>
                          <a:cubicBezTo>
                            <a:pt x="0" y="9732"/>
                            <a:pt x="9572" y="88"/>
                            <a:pt x="21438"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3702" name="Group 16"/>
                  <p:cNvGrpSpPr>
                    <a:grpSpLocks/>
                  </p:cNvGrpSpPr>
                  <p:nvPr/>
                </p:nvGrpSpPr>
                <p:grpSpPr bwMode="auto">
                  <a:xfrm>
                    <a:off x="1972" y="1583"/>
                    <a:ext cx="134" cy="99"/>
                    <a:chOff x="1972" y="1583"/>
                    <a:chExt cx="134" cy="99"/>
                  </a:xfrm>
                </p:grpSpPr>
                <p:sp>
                  <p:nvSpPr>
                    <p:cNvPr id="23705" name="Arc 17"/>
                    <p:cNvSpPr>
                      <a:spLocks/>
                    </p:cNvSpPr>
                    <p:nvPr/>
                  </p:nvSpPr>
                  <p:spPr bwMode="auto">
                    <a:xfrm>
                      <a:off x="1972" y="1631"/>
                      <a:ext cx="134" cy="51"/>
                    </a:xfrm>
                    <a:custGeom>
                      <a:avLst/>
                      <a:gdLst>
                        <a:gd name="T0" fmla="*/ 133 w 21600"/>
                        <a:gd name="T1" fmla="*/ 51 h 21599"/>
                        <a:gd name="T2" fmla="*/ 0 w 21600"/>
                        <a:gd name="T3" fmla="*/ 0 h 21599"/>
                        <a:gd name="T4" fmla="*/ 134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35" y="21599"/>
                          </a:moveTo>
                          <a:cubicBezTo>
                            <a:pt x="9570" y="21509"/>
                            <a:pt x="0" y="11865"/>
                            <a:pt x="0" y="0"/>
                          </a:cubicBezTo>
                        </a:path>
                        <a:path w="21600" h="21599" stroke="0" extrusionOk="0">
                          <a:moveTo>
                            <a:pt x="21435" y="21599"/>
                          </a:moveTo>
                          <a:cubicBezTo>
                            <a:pt x="9570" y="21509"/>
                            <a:pt x="0" y="11865"/>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3706" name="Arc 18"/>
                    <p:cNvSpPr>
                      <a:spLocks/>
                    </p:cNvSpPr>
                    <p:nvPr/>
                  </p:nvSpPr>
                  <p:spPr bwMode="auto">
                    <a:xfrm>
                      <a:off x="1972" y="1583"/>
                      <a:ext cx="134" cy="51"/>
                    </a:xfrm>
                    <a:custGeom>
                      <a:avLst/>
                      <a:gdLst>
                        <a:gd name="T0" fmla="*/ 0 w 21600"/>
                        <a:gd name="T1" fmla="*/ 51 h 21599"/>
                        <a:gd name="T2" fmla="*/ 133 w 21600"/>
                        <a:gd name="T3" fmla="*/ 0 h 21599"/>
                        <a:gd name="T4" fmla="*/ 134 w 21600"/>
                        <a:gd name="T5" fmla="*/ 51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32"/>
                            <a:pt x="9572" y="88"/>
                            <a:pt x="21438" y="-1"/>
                          </a:cubicBezTo>
                        </a:path>
                        <a:path w="21600" h="21599" stroke="0" extrusionOk="0">
                          <a:moveTo>
                            <a:pt x="0" y="21599"/>
                          </a:moveTo>
                          <a:cubicBezTo>
                            <a:pt x="0" y="9732"/>
                            <a:pt x="9572" y="88"/>
                            <a:pt x="21438"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sp>
                <p:nvSpPr>
                  <p:cNvPr id="23703" name="Line 19"/>
                  <p:cNvSpPr>
                    <a:spLocks noChangeShapeType="1"/>
                  </p:cNvSpPr>
                  <p:nvPr/>
                </p:nvSpPr>
                <p:spPr bwMode="auto">
                  <a:xfrm flipV="1">
                    <a:off x="2105" y="1533"/>
                    <a:ext cx="0" cy="4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704" name="Line 20"/>
                  <p:cNvSpPr>
                    <a:spLocks noChangeShapeType="1"/>
                  </p:cNvSpPr>
                  <p:nvPr/>
                </p:nvSpPr>
                <p:spPr bwMode="auto">
                  <a:xfrm flipV="1">
                    <a:off x="2105" y="1983"/>
                    <a:ext cx="0" cy="4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3684" name="Group 21"/>
                <p:cNvGrpSpPr>
                  <a:grpSpLocks/>
                </p:cNvGrpSpPr>
                <p:nvPr/>
              </p:nvGrpSpPr>
              <p:grpSpPr bwMode="auto">
                <a:xfrm>
                  <a:off x="1771" y="1533"/>
                  <a:ext cx="134" cy="499"/>
                  <a:chOff x="1771" y="1533"/>
                  <a:chExt cx="134" cy="499"/>
                </a:xfrm>
              </p:grpSpPr>
              <p:grpSp>
                <p:nvGrpSpPr>
                  <p:cNvPr id="23685" name="Group 22"/>
                  <p:cNvGrpSpPr>
                    <a:grpSpLocks/>
                  </p:cNvGrpSpPr>
                  <p:nvPr/>
                </p:nvGrpSpPr>
                <p:grpSpPr bwMode="auto">
                  <a:xfrm>
                    <a:off x="1771" y="1683"/>
                    <a:ext cx="134" cy="99"/>
                    <a:chOff x="1771" y="1683"/>
                    <a:chExt cx="134" cy="99"/>
                  </a:xfrm>
                </p:grpSpPr>
                <p:sp>
                  <p:nvSpPr>
                    <p:cNvPr id="23697" name="Arc 23"/>
                    <p:cNvSpPr>
                      <a:spLocks/>
                    </p:cNvSpPr>
                    <p:nvPr/>
                  </p:nvSpPr>
                  <p:spPr bwMode="auto">
                    <a:xfrm>
                      <a:off x="1771" y="1731"/>
                      <a:ext cx="134" cy="51"/>
                    </a:xfrm>
                    <a:custGeom>
                      <a:avLst/>
                      <a:gdLst>
                        <a:gd name="T0" fmla="*/ 134 w 21600"/>
                        <a:gd name="T1" fmla="*/ 0 h 21600"/>
                        <a:gd name="T2" fmla="*/ 0 w 21600"/>
                        <a:gd name="T3" fmla="*/ 51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3698" name="Arc 24"/>
                    <p:cNvSpPr>
                      <a:spLocks/>
                    </p:cNvSpPr>
                    <p:nvPr/>
                  </p:nvSpPr>
                  <p:spPr bwMode="auto">
                    <a:xfrm>
                      <a:off x="1771" y="1683"/>
                      <a:ext cx="134" cy="51"/>
                    </a:xfrm>
                    <a:custGeom>
                      <a:avLst/>
                      <a:gdLst>
                        <a:gd name="T0" fmla="*/ 0 w 21600"/>
                        <a:gd name="T1" fmla="*/ 0 h 21600"/>
                        <a:gd name="T2" fmla="*/ 134 w 21600"/>
                        <a:gd name="T3" fmla="*/ 51 h 21600"/>
                        <a:gd name="T4" fmla="*/ 0 w 21600"/>
                        <a:gd name="T5" fmla="*/ 5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3686" name="Group 25"/>
                  <p:cNvGrpSpPr>
                    <a:grpSpLocks/>
                  </p:cNvGrpSpPr>
                  <p:nvPr/>
                </p:nvGrpSpPr>
                <p:grpSpPr bwMode="auto">
                  <a:xfrm>
                    <a:off x="1771" y="1783"/>
                    <a:ext cx="134" cy="100"/>
                    <a:chOff x="1771" y="1783"/>
                    <a:chExt cx="134" cy="100"/>
                  </a:xfrm>
                </p:grpSpPr>
                <p:sp>
                  <p:nvSpPr>
                    <p:cNvPr id="23695" name="Arc 26"/>
                    <p:cNvSpPr>
                      <a:spLocks/>
                    </p:cNvSpPr>
                    <p:nvPr/>
                  </p:nvSpPr>
                  <p:spPr bwMode="auto">
                    <a:xfrm>
                      <a:off x="1771" y="1833"/>
                      <a:ext cx="134" cy="50"/>
                    </a:xfrm>
                    <a:custGeom>
                      <a:avLst/>
                      <a:gdLst>
                        <a:gd name="T0" fmla="*/ 134 w 21600"/>
                        <a:gd name="T1" fmla="*/ 0 h 21600"/>
                        <a:gd name="T2" fmla="*/ 0 w 21600"/>
                        <a:gd name="T3" fmla="*/ 5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3696" name="Arc 27"/>
                    <p:cNvSpPr>
                      <a:spLocks/>
                    </p:cNvSpPr>
                    <p:nvPr/>
                  </p:nvSpPr>
                  <p:spPr bwMode="auto">
                    <a:xfrm>
                      <a:off x="1771" y="1783"/>
                      <a:ext cx="134" cy="50"/>
                    </a:xfrm>
                    <a:custGeom>
                      <a:avLst/>
                      <a:gdLst>
                        <a:gd name="T0" fmla="*/ 0 w 21600"/>
                        <a:gd name="T1" fmla="*/ 0 h 21600"/>
                        <a:gd name="T2" fmla="*/ 134 w 21600"/>
                        <a:gd name="T3" fmla="*/ 50 h 21600"/>
                        <a:gd name="T4" fmla="*/ 0 w 21600"/>
                        <a:gd name="T5" fmla="*/ 5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3687" name="Group 28"/>
                  <p:cNvGrpSpPr>
                    <a:grpSpLocks/>
                  </p:cNvGrpSpPr>
                  <p:nvPr/>
                </p:nvGrpSpPr>
                <p:grpSpPr bwMode="auto">
                  <a:xfrm>
                    <a:off x="1771" y="1882"/>
                    <a:ext cx="134" cy="100"/>
                    <a:chOff x="1771" y="1882"/>
                    <a:chExt cx="134" cy="100"/>
                  </a:xfrm>
                </p:grpSpPr>
                <p:sp>
                  <p:nvSpPr>
                    <p:cNvPr id="23693" name="Arc 29"/>
                    <p:cNvSpPr>
                      <a:spLocks/>
                    </p:cNvSpPr>
                    <p:nvPr/>
                  </p:nvSpPr>
                  <p:spPr bwMode="auto">
                    <a:xfrm>
                      <a:off x="1771" y="1932"/>
                      <a:ext cx="134" cy="50"/>
                    </a:xfrm>
                    <a:custGeom>
                      <a:avLst/>
                      <a:gdLst>
                        <a:gd name="T0" fmla="*/ 134 w 21600"/>
                        <a:gd name="T1" fmla="*/ 0 h 21600"/>
                        <a:gd name="T2" fmla="*/ 0 w 21600"/>
                        <a:gd name="T3" fmla="*/ 5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3694" name="Arc 30"/>
                    <p:cNvSpPr>
                      <a:spLocks/>
                    </p:cNvSpPr>
                    <p:nvPr/>
                  </p:nvSpPr>
                  <p:spPr bwMode="auto">
                    <a:xfrm>
                      <a:off x="1771" y="1882"/>
                      <a:ext cx="134" cy="50"/>
                    </a:xfrm>
                    <a:custGeom>
                      <a:avLst/>
                      <a:gdLst>
                        <a:gd name="T0" fmla="*/ 0 w 21600"/>
                        <a:gd name="T1" fmla="*/ 0 h 21600"/>
                        <a:gd name="T2" fmla="*/ 134 w 21600"/>
                        <a:gd name="T3" fmla="*/ 50 h 21600"/>
                        <a:gd name="T4" fmla="*/ 0 w 21600"/>
                        <a:gd name="T5" fmla="*/ 5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3688" name="Group 31"/>
                  <p:cNvGrpSpPr>
                    <a:grpSpLocks/>
                  </p:cNvGrpSpPr>
                  <p:nvPr/>
                </p:nvGrpSpPr>
                <p:grpSpPr bwMode="auto">
                  <a:xfrm>
                    <a:off x="1771" y="1583"/>
                    <a:ext cx="134" cy="99"/>
                    <a:chOff x="1771" y="1583"/>
                    <a:chExt cx="134" cy="99"/>
                  </a:xfrm>
                </p:grpSpPr>
                <p:sp>
                  <p:nvSpPr>
                    <p:cNvPr id="23691" name="Arc 32"/>
                    <p:cNvSpPr>
                      <a:spLocks/>
                    </p:cNvSpPr>
                    <p:nvPr/>
                  </p:nvSpPr>
                  <p:spPr bwMode="auto">
                    <a:xfrm>
                      <a:off x="1771" y="1631"/>
                      <a:ext cx="134" cy="51"/>
                    </a:xfrm>
                    <a:custGeom>
                      <a:avLst/>
                      <a:gdLst>
                        <a:gd name="T0" fmla="*/ 134 w 21600"/>
                        <a:gd name="T1" fmla="*/ 0 h 21600"/>
                        <a:gd name="T2" fmla="*/ 0 w 21600"/>
                        <a:gd name="T3" fmla="*/ 51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3692" name="Arc 33"/>
                    <p:cNvSpPr>
                      <a:spLocks/>
                    </p:cNvSpPr>
                    <p:nvPr/>
                  </p:nvSpPr>
                  <p:spPr bwMode="auto">
                    <a:xfrm>
                      <a:off x="1771" y="1583"/>
                      <a:ext cx="134" cy="51"/>
                    </a:xfrm>
                    <a:custGeom>
                      <a:avLst/>
                      <a:gdLst>
                        <a:gd name="T0" fmla="*/ 0 w 21600"/>
                        <a:gd name="T1" fmla="*/ 0 h 21600"/>
                        <a:gd name="T2" fmla="*/ 134 w 21600"/>
                        <a:gd name="T3" fmla="*/ 51 h 21600"/>
                        <a:gd name="T4" fmla="*/ 0 w 21600"/>
                        <a:gd name="T5" fmla="*/ 5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sp>
                <p:nvSpPr>
                  <p:cNvPr id="23689" name="Line 34"/>
                  <p:cNvSpPr>
                    <a:spLocks noChangeShapeType="1"/>
                  </p:cNvSpPr>
                  <p:nvPr/>
                </p:nvSpPr>
                <p:spPr bwMode="auto">
                  <a:xfrm flipV="1">
                    <a:off x="1771" y="1533"/>
                    <a:ext cx="0" cy="4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90" name="Line 35"/>
                  <p:cNvSpPr>
                    <a:spLocks noChangeShapeType="1"/>
                  </p:cNvSpPr>
                  <p:nvPr/>
                </p:nvSpPr>
                <p:spPr bwMode="auto">
                  <a:xfrm flipV="1">
                    <a:off x="1771" y="1983"/>
                    <a:ext cx="0" cy="4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23668" name="Group 36"/>
              <p:cNvGrpSpPr>
                <a:grpSpLocks/>
              </p:cNvGrpSpPr>
              <p:nvPr/>
            </p:nvGrpSpPr>
            <p:grpSpPr bwMode="auto">
              <a:xfrm>
                <a:off x="2172" y="1782"/>
                <a:ext cx="200" cy="250"/>
                <a:chOff x="2172" y="1782"/>
                <a:chExt cx="200" cy="250"/>
              </a:xfrm>
            </p:grpSpPr>
            <p:sp>
              <p:nvSpPr>
                <p:cNvPr id="23678" name="Line 37"/>
                <p:cNvSpPr>
                  <a:spLocks noChangeShapeType="1"/>
                </p:cNvSpPr>
                <p:nvPr/>
              </p:nvSpPr>
              <p:spPr bwMode="auto">
                <a:xfrm flipV="1">
                  <a:off x="2305" y="1782"/>
                  <a:ext cx="0" cy="16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79" name="Line 38"/>
                <p:cNvSpPr>
                  <a:spLocks noChangeShapeType="1"/>
                </p:cNvSpPr>
                <p:nvPr/>
              </p:nvSpPr>
              <p:spPr bwMode="auto">
                <a:xfrm>
                  <a:off x="2239" y="1948"/>
                  <a:ext cx="133"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80" name="Line 39"/>
                <p:cNvSpPr>
                  <a:spLocks noChangeShapeType="1"/>
                </p:cNvSpPr>
                <p:nvPr/>
              </p:nvSpPr>
              <p:spPr bwMode="auto">
                <a:xfrm flipH="1">
                  <a:off x="2172" y="1949"/>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81" name="Line 40"/>
                <p:cNvSpPr>
                  <a:spLocks noChangeShapeType="1"/>
                </p:cNvSpPr>
                <p:nvPr/>
              </p:nvSpPr>
              <p:spPr bwMode="auto">
                <a:xfrm flipH="1">
                  <a:off x="2239" y="1949"/>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82" name="Line 41"/>
                <p:cNvSpPr>
                  <a:spLocks noChangeShapeType="1"/>
                </p:cNvSpPr>
                <p:nvPr/>
              </p:nvSpPr>
              <p:spPr bwMode="auto">
                <a:xfrm flipH="1">
                  <a:off x="2306" y="1949"/>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3669" name="Group 42"/>
              <p:cNvGrpSpPr>
                <a:grpSpLocks/>
              </p:cNvGrpSpPr>
              <p:nvPr/>
            </p:nvGrpSpPr>
            <p:grpSpPr bwMode="auto">
              <a:xfrm>
                <a:off x="1639" y="2032"/>
                <a:ext cx="200" cy="250"/>
                <a:chOff x="1639" y="2032"/>
                <a:chExt cx="200" cy="250"/>
              </a:xfrm>
            </p:grpSpPr>
            <p:sp>
              <p:nvSpPr>
                <p:cNvPr id="23673" name="Line 43"/>
                <p:cNvSpPr>
                  <a:spLocks noChangeShapeType="1"/>
                </p:cNvSpPr>
                <p:nvPr/>
              </p:nvSpPr>
              <p:spPr bwMode="auto">
                <a:xfrm flipV="1">
                  <a:off x="1772" y="2032"/>
                  <a:ext cx="0" cy="16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74" name="Line 44"/>
                <p:cNvSpPr>
                  <a:spLocks noChangeShapeType="1"/>
                </p:cNvSpPr>
                <p:nvPr/>
              </p:nvSpPr>
              <p:spPr bwMode="auto">
                <a:xfrm>
                  <a:off x="1706" y="2198"/>
                  <a:ext cx="133"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75" name="Line 45"/>
                <p:cNvSpPr>
                  <a:spLocks noChangeShapeType="1"/>
                </p:cNvSpPr>
                <p:nvPr/>
              </p:nvSpPr>
              <p:spPr bwMode="auto">
                <a:xfrm flipH="1">
                  <a:off x="1639" y="2199"/>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76" name="Line 46"/>
                <p:cNvSpPr>
                  <a:spLocks noChangeShapeType="1"/>
                </p:cNvSpPr>
                <p:nvPr/>
              </p:nvSpPr>
              <p:spPr bwMode="auto">
                <a:xfrm flipH="1">
                  <a:off x="1706" y="2199"/>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77" name="Line 47"/>
                <p:cNvSpPr>
                  <a:spLocks noChangeShapeType="1"/>
                </p:cNvSpPr>
                <p:nvPr/>
              </p:nvSpPr>
              <p:spPr bwMode="auto">
                <a:xfrm flipH="1">
                  <a:off x="1773" y="2199"/>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3670" name="Line 48"/>
              <p:cNvSpPr>
                <a:spLocks noChangeShapeType="1"/>
              </p:cNvSpPr>
              <p:nvPr/>
            </p:nvSpPr>
            <p:spPr bwMode="auto">
              <a:xfrm>
                <a:off x="2106" y="1782"/>
                <a:ext cx="199"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71" name="Line 49"/>
              <p:cNvSpPr>
                <a:spLocks noChangeShapeType="1"/>
              </p:cNvSpPr>
              <p:nvPr/>
            </p:nvSpPr>
            <p:spPr bwMode="auto">
              <a:xfrm>
                <a:off x="1439" y="1449"/>
                <a:ext cx="333"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72" name="Line 50"/>
              <p:cNvSpPr>
                <a:spLocks noChangeShapeType="1"/>
              </p:cNvSpPr>
              <p:nvPr/>
            </p:nvSpPr>
            <p:spPr bwMode="auto">
              <a:xfrm>
                <a:off x="1771" y="1450"/>
                <a:ext cx="1"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3558" name="Line 51"/>
            <p:cNvSpPr>
              <a:spLocks noChangeShapeType="1"/>
            </p:cNvSpPr>
            <p:nvPr/>
          </p:nvSpPr>
          <p:spPr bwMode="auto">
            <a:xfrm>
              <a:off x="2105" y="2033"/>
              <a:ext cx="0" cy="24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59" name="Line 52"/>
            <p:cNvSpPr>
              <a:spLocks noChangeShapeType="1"/>
            </p:cNvSpPr>
            <p:nvPr/>
          </p:nvSpPr>
          <p:spPr bwMode="auto">
            <a:xfrm>
              <a:off x="2105" y="1284"/>
              <a:ext cx="0" cy="24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3560" name="Group 53"/>
            <p:cNvGrpSpPr>
              <a:grpSpLocks/>
            </p:cNvGrpSpPr>
            <p:nvPr/>
          </p:nvGrpSpPr>
          <p:grpSpPr bwMode="auto">
            <a:xfrm>
              <a:off x="2706" y="1284"/>
              <a:ext cx="800" cy="997"/>
              <a:chOff x="2706" y="1284"/>
              <a:chExt cx="800" cy="997"/>
            </a:xfrm>
          </p:grpSpPr>
          <p:grpSp>
            <p:nvGrpSpPr>
              <p:cNvPr id="23619" name="Group 54"/>
              <p:cNvGrpSpPr>
                <a:grpSpLocks/>
              </p:cNvGrpSpPr>
              <p:nvPr/>
            </p:nvGrpSpPr>
            <p:grpSpPr bwMode="auto">
              <a:xfrm>
                <a:off x="2706" y="1284"/>
                <a:ext cx="400" cy="498"/>
                <a:chOff x="2706" y="1284"/>
                <a:chExt cx="400" cy="498"/>
              </a:xfrm>
            </p:grpSpPr>
            <p:sp>
              <p:nvSpPr>
                <p:cNvPr id="23656" name="Line 55"/>
                <p:cNvSpPr>
                  <a:spLocks noChangeShapeType="1"/>
                </p:cNvSpPr>
                <p:nvPr/>
              </p:nvSpPr>
              <p:spPr bwMode="auto">
                <a:xfrm>
                  <a:off x="2839" y="1616"/>
                  <a:ext cx="0"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3657" name="Group 56"/>
                <p:cNvGrpSpPr>
                  <a:grpSpLocks/>
                </p:cNvGrpSpPr>
                <p:nvPr/>
              </p:nvGrpSpPr>
              <p:grpSpPr bwMode="auto">
                <a:xfrm>
                  <a:off x="2906" y="1284"/>
                  <a:ext cx="200" cy="249"/>
                  <a:chOff x="2906" y="1284"/>
                  <a:chExt cx="200" cy="249"/>
                </a:xfrm>
              </p:grpSpPr>
              <p:sp>
                <p:nvSpPr>
                  <p:cNvPr id="23664" name="Line 57"/>
                  <p:cNvSpPr>
                    <a:spLocks noChangeShapeType="1"/>
                  </p:cNvSpPr>
                  <p:nvPr/>
                </p:nvSpPr>
                <p:spPr bwMode="auto">
                  <a:xfrm flipH="1">
                    <a:off x="2973" y="1284"/>
                    <a:ext cx="133" cy="16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65" name="Line 58"/>
                  <p:cNvSpPr>
                    <a:spLocks noChangeShapeType="1"/>
                  </p:cNvSpPr>
                  <p:nvPr/>
                </p:nvSpPr>
                <p:spPr bwMode="auto">
                  <a:xfrm>
                    <a:off x="2973" y="1450"/>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66" name="Line 59"/>
                  <p:cNvSpPr>
                    <a:spLocks noChangeShapeType="1"/>
                  </p:cNvSpPr>
                  <p:nvPr/>
                </p:nvSpPr>
                <p:spPr bwMode="auto">
                  <a:xfrm>
                    <a:off x="2906" y="1367"/>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3658" name="Line 60"/>
                <p:cNvSpPr>
                  <a:spLocks noChangeShapeType="1"/>
                </p:cNvSpPr>
                <p:nvPr/>
              </p:nvSpPr>
              <p:spPr bwMode="auto">
                <a:xfrm flipV="1">
                  <a:off x="2906" y="1449"/>
                  <a:ext cx="67" cy="25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59" name="Line 61"/>
                <p:cNvSpPr>
                  <a:spLocks noChangeShapeType="1"/>
                </p:cNvSpPr>
                <p:nvPr/>
              </p:nvSpPr>
              <p:spPr bwMode="auto">
                <a:xfrm flipV="1">
                  <a:off x="2772" y="1450"/>
                  <a:ext cx="200"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3660" name="Group 62"/>
                <p:cNvGrpSpPr>
                  <a:grpSpLocks/>
                </p:cNvGrpSpPr>
                <p:nvPr/>
              </p:nvGrpSpPr>
              <p:grpSpPr bwMode="auto">
                <a:xfrm>
                  <a:off x="2706" y="1534"/>
                  <a:ext cx="200" cy="248"/>
                  <a:chOff x="2706" y="1534"/>
                  <a:chExt cx="200" cy="248"/>
                </a:xfrm>
              </p:grpSpPr>
              <p:sp>
                <p:nvSpPr>
                  <p:cNvPr id="23661" name="Line 63"/>
                  <p:cNvSpPr>
                    <a:spLocks noChangeShapeType="1"/>
                  </p:cNvSpPr>
                  <p:nvPr/>
                </p:nvSpPr>
                <p:spPr bwMode="auto">
                  <a:xfrm flipV="1">
                    <a:off x="2706" y="1616"/>
                    <a:ext cx="133" cy="16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62" name="Line 64"/>
                  <p:cNvSpPr>
                    <a:spLocks noChangeShapeType="1"/>
                  </p:cNvSpPr>
                  <p:nvPr/>
                </p:nvSpPr>
                <p:spPr bwMode="auto">
                  <a:xfrm>
                    <a:off x="2840" y="1617"/>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63" name="Line 65"/>
                  <p:cNvSpPr>
                    <a:spLocks noChangeShapeType="1"/>
                  </p:cNvSpPr>
                  <p:nvPr/>
                </p:nvSpPr>
                <p:spPr bwMode="auto">
                  <a:xfrm>
                    <a:off x="2773" y="1534"/>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23620" name="Group 66"/>
              <p:cNvGrpSpPr>
                <a:grpSpLocks/>
              </p:cNvGrpSpPr>
              <p:nvPr/>
            </p:nvGrpSpPr>
            <p:grpSpPr bwMode="auto">
              <a:xfrm>
                <a:off x="2706" y="1783"/>
                <a:ext cx="400" cy="498"/>
                <a:chOff x="2706" y="1783"/>
                <a:chExt cx="400" cy="498"/>
              </a:xfrm>
            </p:grpSpPr>
            <p:sp>
              <p:nvSpPr>
                <p:cNvPr id="23645" name="Line 67"/>
                <p:cNvSpPr>
                  <a:spLocks noChangeShapeType="1"/>
                </p:cNvSpPr>
                <p:nvPr/>
              </p:nvSpPr>
              <p:spPr bwMode="auto">
                <a:xfrm>
                  <a:off x="2972" y="2115"/>
                  <a:ext cx="1"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3646" name="Group 68"/>
                <p:cNvGrpSpPr>
                  <a:grpSpLocks/>
                </p:cNvGrpSpPr>
                <p:nvPr/>
              </p:nvGrpSpPr>
              <p:grpSpPr bwMode="auto">
                <a:xfrm>
                  <a:off x="2706" y="1783"/>
                  <a:ext cx="200" cy="249"/>
                  <a:chOff x="2706" y="1783"/>
                  <a:chExt cx="200" cy="249"/>
                </a:xfrm>
              </p:grpSpPr>
              <p:sp>
                <p:nvSpPr>
                  <p:cNvPr id="23653" name="Line 69"/>
                  <p:cNvSpPr>
                    <a:spLocks noChangeShapeType="1"/>
                  </p:cNvSpPr>
                  <p:nvPr/>
                </p:nvSpPr>
                <p:spPr bwMode="auto">
                  <a:xfrm>
                    <a:off x="2706" y="1783"/>
                    <a:ext cx="133" cy="16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54" name="Line 70"/>
                  <p:cNvSpPr>
                    <a:spLocks noChangeShapeType="1"/>
                  </p:cNvSpPr>
                  <p:nvPr/>
                </p:nvSpPr>
                <p:spPr bwMode="auto">
                  <a:xfrm flipH="1">
                    <a:off x="2773" y="1949"/>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55" name="Line 71"/>
                  <p:cNvSpPr>
                    <a:spLocks noChangeShapeType="1"/>
                  </p:cNvSpPr>
                  <p:nvPr/>
                </p:nvSpPr>
                <p:spPr bwMode="auto">
                  <a:xfrm flipH="1">
                    <a:off x="2840" y="1866"/>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3647" name="Line 72"/>
                <p:cNvSpPr>
                  <a:spLocks noChangeShapeType="1"/>
                </p:cNvSpPr>
                <p:nvPr/>
              </p:nvSpPr>
              <p:spPr bwMode="auto">
                <a:xfrm flipH="1" flipV="1">
                  <a:off x="2839" y="1948"/>
                  <a:ext cx="66" cy="25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48" name="Line 73"/>
                <p:cNvSpPr>
                  <a:spLocks noChangeShapeType="1"/>
                </p:cNvSpPr>
                <p:nvPr/>
              </p:nvSpPr>
              <p:spPr bwMode="auto">
                <a:xfrm flipH="1" flipV="1">
                  <a:off x="2840" y="1949"/>
                  <a:ext cx="199"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3649" name="Group 74"/>
                <p:cNvGrpSpPr>
                  <a:grpSpLocks/>
                </p:cNvGrpSpPr>
                <p:nvPr/>
              </p:nvGrpSpPr>
              <p:grpSpPr bwMode="auto">
                <a:xfrm>
                  <a:off x="2906" y="2033"/>
                  <a:ext cx="200" cy="248"/>
                  <a:chOff x="2906" y="2033"/>
                  <a:chExt cx="200" cy="248"/>
                </a:xfrm>
              </p:grpSpPr>
              <p:sp>
                <p:nvSpPr>
                  <p:cNvPr id="23650" name="Line 75"/>
                  <p:cNvSpPr>
                    <a:spLocks noChangeShapeType="1"/>
                  </p:cNvSpPr>
                  <p:nvPr/>
                </p:nvSpPr>
                <p:spPr bwMode="auto">
                  <a:xfrm flipH="1" flipV="1">
                    <a:off x="2973" y="2115"/>
                    <a:ext cx="133" cy="16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51" name="Line 76"/>
                  <p:cNvSpPr>
                    <a:spLocks noChangeShapeType="1"/>
                  </p:cNvSpPr>
                  <p:nvPr/>
                </p:nvSpPr>
                <p:spPr bwMode="auto">
                  <a:xfrm flipH="1">
                    <a:off x="2906" y="2116"/>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52" name="Line 77"/>
                  <p:cNvSpPr>
                    <a:spLocks noChangeShapeType="1"/>
                  </p:cNvSpPr>
                  <p:nvPr/>
                </p:nvSpPr>
                <p:spPr bwMode="auto">
                  <a:xfrm flipH="1">
                    <a:off x="2973" y="2033"/>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23621" name="Group 78"/>
              <p:cNvGrpSpPr>
                <a:grpSpLocks/>
              </p:cNvGrpSpPr>
              <p:nvPr/>
            </p:nvGrpSpPr>
            <p:grpSpPr bwMode="auto">
              <a:xfrm>
                <a:off x="3106" y="1783"/>
                <a:ext cx="400" cy="498"/>
                <a:chOff x="3106" y="1783"/>
                <a:chExt cx="400" cy="498"/>
              </a:xfrm>
            </p:grpSpPr>
            <p:sp>
              <p:nvSpPr>
                <p:cNvPr id="23634" name="Line 79"/>
                <p:cNvSpPr>
                  <a:spLocks noChangeShapeType="1"/>
                </p:cNvSpPr>
                <p:nvPr/>
              </p:nvSpPr>
              <p:spPr bwMode="auto">
                <a:xfrm>
                  <a:off x="3372" y="1948"/>
                  <a:ext cx="0"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3635" name="Group 80"/>
                <p:cNvGrpSpPr>
                  <a:grpSpLocks/>
                </p:cNvGrpSpPr>
                <p:nvPr/>
              </p:nvGrpSpPr>
              <p:grpSpPr bwMode="auto">
                <a:xfrm>
                  <a:off x="3106" y="2033"/>
                  <a:ext cx="199" cy="248"/>
                  <a:chOff x="3106" y="2033"/>
                  <a:chExt cx="199" cy="248"/>
                </a:xfrm>
              </p:grpSpPr>
              <p:sp>
                <p:nvSpPr>
                  <p:cNvPr id="23642" name="Line 81"/>
                  <p:cNvSpPr>
                    <a:spLocks noChangeShapeType="1"/>
                  </p:cNvSpPr>
                  <p:nvPr/>
                </p:nvSpPr>
                <p:spPr bwMode="auto">
                  <a:xfrm flipV="1">
                    <a:off x="3106" y="2115"/>
                    <a:ext cx="133" cy="16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43" name="Line 82"/>
                  <p:cNvSpPr>
                    <a:spLocks noChangeShapeType="1"/>
                  </p:cNvSpPr>
                  <p:nvPr/>
                </p:nvSpPr>
                <p:spPr bwMode="auto">
                  <a:xfrm flipH="1" flipV="1">
                    <a:off x="3172" y="2033"/>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44" name="Line 83"/>
                  <p:cNvSpPr>
                    <a:spLocks noChangeShapeType="1"/>
                  </p:cNvSpPr>
                  <p:nvPr/>
                </p:nvSpPr>
                <p:spPr bwMode="auto">
                  <a:xfrm flipH="1" flipV="1">
                    <a:off x="3239" y="2116"/>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3636" name="Line 84"/>
                <p:cNvSpPr>
                  <a:spLocks noChangeShapeType="1"/>
                </p:cNvSpPr>
                <p:nvPr/>
              </p:nvSpPr>
              <p:spPr bwMode="auto">
                <a:xfrm flipH="1">
                  <a:off x="3239" y="1866"/>
                  <a:ext cx="67" cy="25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37" name="Line 85"/>
                <p:cNvSpPr>
                  <a:spLocks noChangeShapeType="1"/>
                </p:cNvSpPr>
                <p:nvPr/>
              </p:nvSpPr>
              <p:spPr bwMode="auto">
                <a:xfrm flipH="1">
                  <a:off x="3239" y="2033"/>
                  <a:ext cx="200"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3638" name="Group 86"/>
                <p:cNvGrpSpPr>
                  <a:grpSpLocks/>
                </p:cNvGrpSpPr>
                <p:nvPr/>
              </p:nvGrpSpPr>
              <p:grpSpPr bwMode="auto">
                <a:xfrm>
                  <a:off x="3305" y="1783"/>
                  <a:ext cx="201" cy="249"/>
                  <a:chOff x="3305" y="1783"/>
                  <a:chExt cx="201" cy="249"/>
                </a:xfrm>
              </p:grpSpPr>
              <p:sp>
                <p:nvSpPr>
                  <p:cNvPr id="23639" name="Line 87"/>
                  <p:cNvSpPr>
                    <a:spLocks noChangeShapeType="1"/>
                  </p:cNvSpPr>
                  <p:nvPr/>
                </p:nvSpPr>
                <p:spPr bwMode="auto">
                  <a:xfrm flipH="1">
                    <a:off x="3373" y="1783"/>
                    <a:ext cx="133" cy="16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40" name="Line 88"/>
                  <p:cNvSpPr>
                    <a:spLocks noChangeShapeType="1"/>
                  </p:cNvSpPr>
                  <p:nvPr/>
                </p:nvSpPr>
                <p:spPr bwMode="auto">
                  <a:xfrm flipH="1" flipV="1">
                    <a:off x="3305" y="1866"/>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41" name="Line 89"/>
                  <p:cNvSpPr>
                    <a:spLocks noChangeShapeType="1"/>
                  </p:cNvSpPr>
                  <p:nvPr/>
                </p:nvSpPr>
                <p:spPr bwMode="auto">
                  <a:xfrm flipH="1" flipV="1">
                    <a:off x="3372" y="1949"/>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23622" name="Group 90"/>
              <p:cNvGrpSpPr>
                <a:grpSpLocks/>
              </p:cNvGrpSpPr>
              <p:nvPr/>
            </p:nvGrpSpPr>
            <p:grpSpPr bwMode="auto">
              <a:xfrm>
                <a:off x="3106" y="1284"/>
                <a:ext cx="400" cy="498"/>
                <a:chOff x="3106" y="1284"/>
                <a:chExt cx="400" cy="498"/>
              </a:xfrm>
            </p:grpSpPr>
            <p:sp>
              <p:nvSpPr>
                <p:cNvPr id="23623" name="Line 91"/>
                <p:cNvSpPr>
                  <a:spLocks noChangeShapeType="1"/>
                </p:cNvSpPr>
                <p:nvPr/>
              </p:nvSpPr>
              <p:spPr bwMode="auto">
                <a:xfrm>
                  <a:off x="3239" y="1449"/>
                  <a:ext cx="0"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3624" name="Group 92"/>
                <p:cNvGrpSpPr>
                  <a:grpSpLocks/>
                </p:cNvGrpSpPr>
                <p:nvPr/>
              </p:nvGrpSpPr>
              <p:grpSpPr bwMode="auto">
                <a:xfrm>
                  <a:off x="3305" y="1534"/>
                  <a:ext cx="201" cy="248"/>
                  <a:chOff x="3305" y="1534"/>
                  <a:chExt cx="201" cy="248"/>
                </a:xfrm>
              </p:grpSpPr>
              <p:sp>
                <p:nvSpPr>
                  <p:cNvPr id="23631" name="Line 93"/>
                  <p:cNvSpPr>
                    <a:spLocks noChangeShapeType="1"/>
                  </p:cNvSpPr>
                  <p:nvPr/>
                </p:nvSpPr>
                <p:spPr bwMode="auto">
                  <a:xfrm flipH="1" flipV="1">
                    <a:off x="3373" y="1616"/>
                    <a:ext cx="133" cy="16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32" name="Line 94"/>
                  <p:cNvSpPr>
                    <a:spLocks noChangeShapeType="1"/>
                  </p:cNvSpPr>
                  <p:nvPr/>
                </p:nvSpPr>
                <p:spPr bwMode="auto">
                  <a:xfrm flipV="1">
                    <a:off x="3372" y="1534"/>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33" name="Line 95"/>
                  <p:cNvSpPr>
                    <a:spLocks noChangeShapeType="1"/>
                  </p:cNvSpPr>
                  <p:nvPr/>
                </p:nvSpPr>
                <p:spPr bwMode="auto">
                  <a:xfrm flipV="1">
                    <a:off x="3305" y="1617"/>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3625" name="Line 96"/>
                <p:cNvSpPr>
                  <a:spLocks noChangeShapeType="1"/>
                </p:cNvSpPr>
                <p:nvPr/>
              </p:nvSpPr>
              <p:spPr bwMode="auto">
                <a:xfrm>
                  <a:off x="3306" y="1367"/>
                  <a:ext cx="66" cy="25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26" name="Line 97"/>
                <p:cNvSpPr>
                  <a:spLocks noChangeShapeType="1"/>
                </p:cNvSpPr>
                <p:nvPr/>
              </p:nvSpPr>
              <p:spPr bwMode="auto">
                <a:xfrm>
                  <a:off x="3173" y="1534"/>
                  <a:ext cx="199"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3627" name="Group 98"/>
                <p:cNvGrpSpPr>
                  <a:grpSpLocks/>
                </p:cNvGrpSpPr>
                <p:nvPr/>
              </p:nvGrpSpPr>
              <p:grpSpPr bwMode="auto">
                <a:xfrm>
                  <a:off x="3106" y="1284"/>
                  <a:ext cx="199" cy="249"/>
                  <a:chOff x="3106" y="1284"/>
                  <a:chExt cx="199" cy="249"/>
                </a:xfrm>
              </p:grpSpPr>
              <p:sp>
                <p:nvSpPr>
                  <p:cNvPr id="23628" name="Line 99"/>
                  <p:cNvSpPr>
                    <a:spLocks noChangeShapeType="1"/>
                  </p:cNvSpPr>
                  <p:nvPr/>
                </p:nvSpPr>
                <p:spPr bwMode="auto">
                  <a:xfrm>
                    <a:off x="3106" y="1284"/>
                    <a:ext cx="133" cy="16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29" name="Line 100"/>
                  <p:cNvSpPr>
                    <a:spLocks noChangeShapeType="1"/>
                  </p:cNvSpPr>
                  <p:nvPr/>
                </p:nvSpPr>
                <p:spPr bwMode="auto">
                  <a:xfrm flipV="1">
                    <a:off x="3239" y="1367"/>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30" name="Line 101"/>
                  <p:cNvSpPr>
                    <a:spLocks noChangeShapeType="1"/>
                  </p:cNvSpPr>
                  <p:nvPr/>
                </p:nvSpPr>
                <p:spPr bwMode="auto">
                  <a:xfrm flipV="1">
                    <a:off x="3172" y="1450"/>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grpSp>
        <p:sp>
          <p:nvSpPr>
            <p:cNvPr id="23561" name="Line 102"/>
            <p:cNvSpPr>
              <a:spLocks noChangeShapeType="1"/>
            </p:cNvSpPr>
            <p:nvPr/>
          </p:nvSpPr>
          <p:spPr bwMode="auto">
            <a:xfrm flipH="1">
              <a:off x="2106" y="2281"/>
              <a:ext cx="999"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62" name="Line 103"/>
            <p:cNvSpPr>
              <a:spLocks noChangeShapeType="1"/>
            </p:cNvSpPr>
            <p:nvPr/>
          </p:nvSpPr>
          <p:spPr bwMode="auto">
            <a:xfrm flipH="1">
              <a:off x="2106" y="1283"/>
              <a:ext cx="999"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3563" name="Group 104"/>
            <p:cNvGrpSpPr>
              <a:grpSpLocks/>
            </p:cNvGrpSpPr>
            <p:nvPr/>
          </p:nvGrpSpPr>
          <p:grpSpPr bwMode="auto">
            <a:xfrm>
              <a:off x="3639" y="1449"/>
              <a:ext cx="1067" cy="833"/>
              <a:chOff x="3639" y="1449"/>
              <a:chExt cx="1067" cy="833"/>
            </a:xfrm>
          </p:grpSpPr>
          <p:grpSp>
            <p:nvGrpSpPr>
              <p:cNvPr id="23577" name="Group 105"/>
              <p:cNvGrpSpPr>
                <a:grpSpLocks/>
              </p:cNvGrpSpPr>
              <p:nvPr/>
            </p:nvGrpSpPr>
            <p:grpSpPr bwMode="auto">
              <a:xfrm>
                <a:off x="3840" y="1449"/>
                <a:ext cx="866" cy="833"/>
                <a:chOff x="3840" y="1449"/>
                <a:chExt cx="866" cy="833"/>
              </a:xfrm>
            </p:grpSpPr>
            <p:grpSp>
              <p:nvGrpSpPr>
                <p:cNvPr id="23579" name="Group 106"/>
                <p:cNvGrpSpPr>
                  <a:grpSpLocks/>
                </p:cNvGrpSpPr>
                <p:nvPr/>
              </p:nvGrpSpPr>
              <p:grpSpPr bwMode="auto">
                <a:xfrm>
                  <a:off x="4039" y="1533"/>
                  <a:ext cx="335" cy="499"/>
                  <a:chOff x="4039" y="1533"/>
                  <a:chExt cx="335" cy="499"/>
                </a:xfrm>
              </p:grpSpPr>
              <p:grpSp>
                <p:nvGrpSpPr>
                  <p:cNvPr id="23589" name="Group 107"/>
                  <p:cNvGrpSpPr>
                    <a:grpSpLocks/>
                  </p:cNvGrpSpPr>
                  <p:nvPr/>
                </p:nvGrpSpPr>
                <p:grpSpPr bwMode="auto">
                  <a:xfrm>
                    <a:off x="4039" y="1533"/>
                    <a:ext cx="134" cy="499"/>
                    <a:chOff x="4039" y="1533"/>
                    <a:chExt cx="134" cy="499"/>
                  </a:xfrm>
                </p:grpSpPr>
                <p:grpSp>
                  <p:nvGrpSpPr>
                    <p:cNvPr id="23605" name="Group 108"/>
                    <p:cNvGrpSpPr>
                      <a:grpSpLocks/>
                    </p:cNvGrpSpPr>
                    <p:nvPr/>
                  </p:nvGrpSpPr>
                  <p:grpSpPr bwMode="auto">
                    <a:xfrm>
                      <a:off x="4039" y="1683"/>
                      <a:ext cx="134" cy="99"/>
                      <a:chOff x="4039" y="1683"/>
                      <a:chExt cx="134" cy="99"/>
                    </a:xfrm>
                  </p:grpSpPr>
                  <p:sp>
                    <p:nvSpPr>
                      <p:cNvPr id="23617" name="Arc 109"/>
                      <p:cNvSpPr>
                        <a:spLocks/>
                      </p:cNvSpPr>
                      <p:nvPr/>
                    </p:nvSpPr>
                    <p:spPr bwMode="auto">
                      <a:xfrm>
                        <a:off x="4039" y="1731"/>
                        <a:ext cx="134" cy="51"/>
                      </a:xfrm>
                      <a:custGeom>
                        <a:avLst/>
                        <a:gdLst>
                          <a:gd name="T0" fmla="*/ 134 w 21600"/>
                          <a:gd name="T1" fmla="*/ 0 h 21600"/>
                          <a:gd name="T2" fmla="*/ 0 w 21600"/>
                          <a:gd name="T3" fmla="*/ 51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3618" name="Arc 110"/>
                      <p:cNvSpPr>
                        <a:spLocks/>
                      </p:cNvSpPr>
                      <p:nvPr/>
                    </p:nvSpPr>
                    <p:spPr bwMode="auto">
                      <a:xfrm>
                        <a:off x="4039" y="1683"/>
                        <a:ext cx="134" cy="51"/>
                      </a:xfrm>
                      <a:custGeom>
                        <a:avLst/>
                        <a:gdLst>
                          <a:gd name="T0" fmla="*/ 0 w 21600"/>
                          <a:gd name="T1" fmla="*/ 0 h 21600"/>
                          <a:gd name="T2" fmla="*/ 134 w 21600"/>
                          <a:gd name="T3" fmla="*/ 51 h 21600"/>
                          <a:gd name="T4" fmla="*/ 0 w 21600"/>
                          <a:gd name="T5" fmla="*/ 5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3606" name="Group 111"/>
                    <p:cNvGrpSpPr>
                      <a:grpSpLocks/>
                    </p:cNvGrpSpPr>
                    <p:nvPr/>
                  </p:nvGrpSpPr>
                  <p:grpSpPr bwMode="auto">
                    <a:xfrm>
                      <a:off x="4039" y="1783"/>
                      <a:ext cx="134" cy="100"/>
                      <a:chOff x="4039" y="1783"/>
                      <a:chExt cx="134" cy="100"/>
                    </a:xfrm>
                  </p:grpSpPr>
                  <p:sp>
                    <p:nvSpPr>
                      <p:cNvPr id="23615" name="Arc 112"/>
                      <p:cNvSpPr>
                        <a:spLocks/>
                      </p:cNvSpPr>
                      <p:nvPr/>
                    </p:nvSpPr>
                    <p:spPr bwMode="auto">
                      <a:xfrm>
                        <a:off x="4039" y="1833"/>
                        <a:ext cx="134" cy="50"/>
                      </a:xfrm>
                      <a:custGeom>
                        <a:avLst/>
                        <a:gdLst>
                          <a:gd name="T0" fmla="*/ 134 w 21600"/>
                          <a:gd name="T1" fmla="*/ 0 h 21600"/>
                          <a:gd name="T2" fmla="*/ 0 w 21600"/>
                          <a:gd name="T3" fmla="*/ 5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3616" name="Arc 113"/>
                      <p:cNvSpPr>
                        <a:spLocks/>
                      </p:cNvSpPr>
                      <p:nvPr/>
                    </p:nvSpPr>
                    <p:spPr bwMode="auto">
                      <a:xfrm>
                        <a:off x="4039" y="1783"/>
                        <a:ext cx="134" cy="50"/>
                      </a:xfrm>
                      <a:custGeom>
                        <a:avLst/>
                        <a:gdLst>
                          <a:gd name="T0" fmla="*/ 0 w 21600"/>
                          <a:gd name="T1" fmla="*/ 0 h 21600"/>
                          <a:gd name="T2" fmla="*/ 134 w 21600"/>
                          <a:gd name="T3" fmla="*/ 50 h 21600"/>
                          <a:gd name="T4" fmla="*/ 0 w 21600"/>
                          <a:gd name="T5" fmla="*/ 5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3607" name="Group 114"/>
                    <p:cNvGrpSpPr>
                      <a:grpSpLocks/>
                    </p:cNvGrpSpPr>
                    <p:nvPr/>
                  </p:nvGrpSpPr>
                  <p:grpSpPr bwMode="auto">
                    <a:xfrm>
                      <a:off x="4039" y="1882"/>
                      <a:ext cx="134" cy="100"/>
                      <a:chOff x="4039" y="1882"/>
                      <a:chExt cx="134" cy="100"/>
                    </a:xfrm>
                  </p:grpSpPr>
                  <p:sp>
                    <p:nvSpPr>
                      <p:cNvPr id="23613" name="Arc 115"/>
                      <p:cNvSpPr>
                        <a:spLocks/>
                      </p:cNvSpPr>
                      <p:nvPr/>
                    </p:nvSpPr>
                    <p:spPr bwMode="auto">
                      <a:xfrm>
                        <a:off x="4039" y="1932"/>
                        <a:ext cx="134" cy="50"/>
                      </a:xfrm>
                      <a:custGeom>
                        <a:avLst/>
                        <a:gdLst>
                          <a:gd name="T0" fmla="*/ 134 w 21600"/>
                          <a:gd name="T1" fmla="*/ 0 h 21600"/>
                          <a:gd name="T2" fmla="*/ 0 w 21600"/>
                          <a:gd name="T3" fmla="*/ 5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3614" name="Arc 116"/>
                      <p:cNvSpPr>
                        <a:spLocks/>
                      </p:cNvSpPr>
                      <p:nvPr/>
                    </p:nvSpPr>
                    <p:spPr bwMode="auto">
                      <a:xfrm>
                        <a:off x="4039" y="1882"/>
                        <a:ext cx="134" cy="50"/>
                      </a:xfrm>
                      <a:custGeom>
                        <a:avLst/>
                        <a:gdLst>
                          <a:gd name="T0" fmla="*/ 0 w 21600"/>
                          <a:gd name="T1" fmla="*/ 0 h 21600"/>
                          <a:gd name="T2" fmla="*/ 134 w 21600"/>
                          <a:gd name="T3" fmla="*/ 50 h 21600"/>
                          <a:gd name="T4" fmla="*/ 0 w 21600"/>
                          <a:gd name="T5" fmla="*/ 5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3608" name="Group 117"/>
                    <p:cNvGrpSpPr>
                      <a:grpSpLocks/>
                    </p:cNvGrpSpPr>
                    <p:nvPr/>
                  </p:nvGrpSpPr>
                  <p:grpSpPr bwMode="auto">
                    <a:xfrm>
                      <a:off x="4039" y="1583"/>
                      <a:ext cx="134" cy="99"/>
                      <a:chOff x="4039" y="1583"/>
                      <a:chExt cx="134" cy="99"/>
                    </a:xfrm>
                  </p:grpSpPr>
                  <p:sp>
                    <p:nvSpPr>
                      <p:cNvPr id="23611" name="Arc 118"/>
                      <p:cNvSpPr>
                        <a:spLocks/>
                      </p:cNvSpPr>
                      <p:nvPr/>
                    </p:nvSpPr>
                    <p:spPr bwMode="auto">
                      <a:xfrm>
                        <a:off x="4039" y="1631"/>
                        <a:ext cx="134" cy="51"/>
                      </a:xfrm>
                      <a:custGeom>
                        <a:avLst/>
                        <a:gdLst>
                          <a:gd name="T0" fmla="*/ 134 w 21600"/>
                          <a:gd name="T1" fmla="*/ 0 h 21600"/>
                          <a:gd name="T2" fmla="*/ 0 w 21600"/>
                          <a:gd name="T3" fmla="*/ 51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3612" name="Arc 119"/>
                      <p:cNvSpPr>
                        <a:spLocks/>
                      </p:cNvSpPr>
                      <p:nvPr/>
                    </p:nvSpPr>
                    <p:spPr bwMode="auto">
                      <a:xfrm>
                        <a:off x="4039" y="1583"/>
                        <a:ext cx="134" cy="51"/>
                      </a:xfrm>
                      <a:custGeom>
                        <a:avLst/>
                        <a:gdLst>
                          <a:gd name="T0" fmla="*/ 0 w 21600"/>
                          <a:gd name="T1" fmla="*/ 0 h 21600"/>
                          <a:gd name="T2" fmla="*/ 134 w 21600"/>
                          <a:gd name="T3" fmla="*/ 51 h 21600"/>
                          <a:gd name="T4" fmla="*/ 0 w 21600"/>
                          <a:gd name="T5" fmla="*/ 5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sp>
                  <p:nvSpPr>
                    <p:cNvPr id="23609" name="Line 120"/>
                    <p:cNvSpPr>
                      <a:spLocks noChangeShapeType="1"/>
                    </p:cNvSpPr>
                    <p:nvPr/>
                  </p:nvSpPr>
                  <p:spPr bwMode="auto">
                    <a:xfrm flipV="1">
                      <a:off x="4039" y="1533"/>
                      <a:ext cx="0" cy="4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10" name="Line 121"/>
                    <p:cNvSpPr>
                      <a:spLocks noChangeShapeType="1"/>
                    </p:cNvSpPr>
                    <p:nvPr/>
                  </p:nvSpPr>
                  <p:spPr bwMode="auto">
                    <a:xfrm flipV="1">
                      <a:off x="4039" y="1983"/>
                      <a:ext cx="0" cy="4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3590" name="Group 122"/>
                  <p:cNvGrpSpPr>
                    <a:grpSpLocks/>
                  </p:cNvGrpSpPr>
                  <p:nvPr/>
                </p:nvGrpSpPr>
                <p:grpSpPr bwMode="auto">
                  <a:xfrm>
                    <a:off x="4240" y="1533"/>
                    <a:ext cx="134" cy="499"/>
                    <a:chOff x="4240" y="1533"/>
                    <a:chExt cx="134" cy="499"/>
                  </a:xfrm>
                </p:grpSpPr>
                <p:grpSp>
                  <p:nvGrpSpPr>
                    <p:cNvPr id="23591" name="Group 123"/>
                    <p:cNvGrpSpPr>
                      <a:grpSpLocks/>
                    </p:cNvGrpSpPr>
                    <p:nvPr/>
                  </p:nvGrpSpPr>
                  <p:grpSpPr bwMode="auto">
                    <a:xfrm>
                      <a:off x="4240" y="1683"/>
                      <a:ext cx="134" cy="99"/>
                      <a:chOff x="4240" y="1683"/>
                      <a:chExt cx="134" cy="99"/>
                    </a:xfrm>
                  </p:grpSpPr>
                  <p:sp>
                    <p:nvSpPr>
                      <p:cNvPr id="23603" name="Arc 124"/>
                      <p:cNvSpPr>
                        <a:spLocks/>
                      </p:cNvSpPr>
                      <p:nvPr/>
                    </p:nvSpPr>
                    <p:spPr bwMode="auto">
                      <a:xfrm>
                        <a:off x="4240" y="1731"/>
                        <a:ext cx="134" cy="51"/>
                      </a:xfrm>
                      <a:custGeom>
                        <a:avLst/>
                        <a:gdLst>
                          <a:gd name="T0" fmla="*/ 133 w 21600"/>
                          <a:gd name="T1" fmla="*/ 51 h 21599"/>
                          <a:gd name="T2" fmla="*/ 0 w 21600"/>
                          <a:gd name="T3" fmla="*/ 0 h 21599"/>
                          <a:gd name="T4" fmla="*/ 134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35" y="21599"/>
                            </a:moveTo>
                            <a:cubicBezTo>
                              <a:pt x="9570" y="21509"/>
                              <a:pt x="0" y="11865"/>
                              <a:pt x="0" y="0"/>
                            </a:cubicBezTo>
                          </a:path>
                          <a:path w="21600" h="21599" stroke="0" extrusionOk="0">
                            <a:moveTo>
                              <a:pt x="21435" y="21599"/>
                            </a:moveTo>
                            <a:cubicBezTo>
                              <a:pt x="9570" y="21509"/>
                              <a:pt x="0" y="11865"/>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3604" name="Arc 125"/>
                      <p:cNvSpPr>
                        <a:spLocks/>
                      </p:cNvSpPr>
                      <p:nvPr/>
                    </p:nvSpPr>
                    <p:spPr bwMode="auto">
                      <a:xfrm>
                        <a:off x="4240" y="1683"/>
                        <a:ext cx="134" cy="51"/>
                      </a:xfrm>
                      <a:custGeom>
                        <a:avLst/>
                        <a:gdLst>
                          <a:gd name="T0" fmla="*/ 0 w 21600"/>
                          <a:gd name="T1" fmla="*/ 51 h 21599"/>
                          <a:gd name="T2" fmla="*/ 133 w 21600"/>
                          <a:gd name="T3" fmla="*/ 0 h 21599"/>
                          <a:gd name="T4" fmla="*/ 134 w 21600"/>
                          <a:gd name="T5" fmla="*/ 51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32"/>
                              <a:pt x="9572" y="88"/>
                              <a:pt x="21438" y="-1"/>
                            </a:cubicBezTo>
                          </a:path>
                          <a:path w="21600" h="21599" stroke="0" extrusionOk="0">
                            <a:moveTo>
                              <a:pt x="0" y="21599"/>
                            </a:moveTo>
                            <a:cubicBezTo>
                              <a:pt x="0" y="9732"/>
                              <a:pt x="9572" y="88"/>
                              <a:pt x="21438"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3592" name="Group 126"/>
                    <p:cNvGrpSpPr>
                      <a:grpSpLocks/>
                    </p:cNvGrpSpPr>
                    <p:nvPr/>
                  </p:nvGrpSpPr>
                  <p:grpSpPr bwMode="auto">
                    <a:xfrm>
                      <a:off x="4240" y="1783"/>
                      <a:ext cx="134" cy="100"/>
                      <a:chOff x="4240" y="1783"/>
                      <a:chExt cx="134" cy="100"/>
                    </a:xfrm>
                  </p:grpSpPr>
                  <p:sp>
                    <p:nvSpPr>
                      <p:cNvPr id="23601" name="Arc 127"/>
                      <p:cNvSpPr>
                        <a:spLocks/>
                      </p:cNvSpPr>
                      <p:nvPr/>
                    </p:nvSpPr>
                    <p:spPr bwMode="auto">
                      <a:xfrm>
                        <a:off x="4240" y="1833"/>
                        <a:ext cx="134" cy="50"/>
                      </a:xfrm>
                      <a:custGeom>
                        <a:avLst/>
                        <a:gdLst>
                          <a:gd name="T0" fmla="*/ 133 w 21600"/>
                          <a:gd name="T1" fmla="*/ 50 h 21599"/>
                          <a:gd name="T2" fmla="*/ 0 w 21600"/>
                          <a:gd name="T3" fmla="*/ 0 h 21599"/>
                          <a:gd name="T4" fmla="*/ 134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35" y="21599"/>
                            </a:moveTo>
                            <a:cubicBezTo>
                              <a:pt x="9570" y="21509"/>
                              <a:pt x="0" y="11865"/>
                              <a:pt x="0" y="0"/>
                            </a:cubicBezTo>
                          </a:path>
                          <a:path w="21600" h="21599" stroke="0" extrusionOk="0">
                            <a:moveTo>
                              <a:pt x="21435" y="21599"/>
                            </a:moveTo>
                            <a:cubicBezTo>
                              <a:pt x="9570" y="21509"/>
                              <a:pt x="0" y="11865"/>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3602" name="Arc 128"/>
                      <p:cNvSpPr>
                        <a:spLocks/>
                      </p:cNvSpPr>
                      <p:nvPr/>
                    </p:nvSpPr>
                    <p:spPr bwMode="auto">
                      <a:xfrm>
                        <a:off x="4240" y="1783"/>
                        <a:ext cx="134" cy="50"/>
                      </a:xfrm>
                      <a:custGeom>
                        <a:avLst/>
                        <a:gdLst>
                          <a:gd name="T0" fmla="*/ 0 w 21600"/>
                          <a:gd name="T1" fmla="*/ 50 h 21599"/>
                          <a:gd name="T2" fmla="*/ 133 w 21600"/>
                          <a:gd name="T3" fmla="*/ 0 h 21599"/>
                          <a:gd name="T4" fmla="*/ 134 w 21600"/>
                          <a:gd name="T5" fmla="*/ 5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32"/>
                              <a:pt x="9572" y="88"/>
                              <a:pt x="21438" y="-1"/>
                            </a:cubicBezTo>
                          </a:path>
                          <a:path w="21600" h="21599" stroke="0" extrusionOk="0">
                            <a:moveTo>
                              <a:pt x="0" y="21599"/>
                            </a:moveTo>
                            <a:cubicBezTo>
                              <a:pt x="0" y="9732"/>
                              <a:pt x="9572" y="88"/>
                              <a:pt x="21438"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3593" name="Group 129"/>
                    <p:cNvGrpSpPr>
                      <a:grpSpLocks/>
                    </p:cNvGrpSpPr>
                    <p:nvPr/>
                  </p:nvGrpSpPr>
                  <p:grpSpPr bwMode="auto">
                    <a:xfrm>
                      <a:off x="4240" y="1882"/>
                      <a:ext cx="134" cy="100"/>
                      <a:chOff x="4240" y="1882"/>
                      <a:chExt cx="134" cy="100"/>
                    </a:xfrm>
                  </p:grpSpPr>
                  <p:sp>
                    <p:nvSpPr>
                      <p:cNvPr id="23599" name="Arc 130"/>
                      <p:cNvSpPr>
                        <a:spLocks/>
                      </p:cNvSpPr>
                      <p:nvPr/>
                    </p:nvSpPr>
                    <p:spPr bwMode="auto">
                      <a:xfrm>
                        <a:off x="4240" y="1932"/>
                        <a:ext cx="134" cy="50"/>
                      </a:xfrm>
                      <a:custGeom>
                        <a:avLst/>
                        <a:gdLst>
                          <a:gd name="T0" fmla="*/ 133 w 21600"/>
                          <a:gd name="T1" fmla="*/ 50 h 21599"/>
                          <a:gd name="T2" fmla="*/ 0 w 21600"/>
                          <a:gd name="T3" fmla="*/ 0 h 21599"/>
                          <a:gd name="T4" fmla="*/ 134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35" y="21599"/>
                            </a:moveTo>
                            <a:cubicBezTo>
                              <a:pt x="9570" y="21509"/>
                              <a:pt x="0" y="11865"/>
                              <a:pt x="0" y="0"/>
                            </a:cubicBezTo>
                          </a:path>
                          <a:path w="21600" h="21599" stroke="0" extrusionOk="0">
                            <a:moveTo>
                              <a:pt x="21435" y="21599"/>
                            </a:moveTo>
                            <a:cubicBezTo>
                              <a:pt x="9570" y="21509"/>
                              <a:pt x="0" y="11865"/>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3600" name="Arc 131"/>
                      <p:cNvSpPr>
                        <a:spLocks/>
                      </p:cNvSpPr>
                      <p:nvPr/>
                    </p:nvSpPr>
                    <p:spPr bwMode="auto">
                      <a:xfrm>
                        <a:off x="4240" y="1882"/>
                        <a:ext cx="134" cy="50"/>
                      </a:xfrm>
                      <a:custGeom>
                        <a:avLst/>
                        <a:gdLst>
                          <a:gd name="T0" fmla="*/ 0 w 21600"/>
                          <a:gd name="T1" fmla="*/ 50 h 21599"/>
                          <a:gd name="T2" fmla="*/ 133 w 21600"/>
                          <a:gd name="T3" fmla="*/ 0 h 21599"/>
                          <a:gd name="T4" fmla="*/ 134 w 21600"/>
                          <a:gd name="T5" fmla="*/ 5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32"/>
                              <a:pt x="9572" y="88"/>
                              <a:pt x="21438" y="-1"/>
                            </a:cubicBezTo>
                          </a:path>
                          <a:path w="21600" h="21599" stroke="0" extrusionOk="0">
                            <a:moveTo>
                              <a:pt x="0" y="21599"/>
                            </a:moveTo>
                            <a:cubicBezTo>
                              <a:pt x="0" y="9732"/>
                              <a:pt x="9572" y="88"/>
                              <a:pt x="21438"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3594" name="Group 132"/>
                    <p:cNvGrpSpPr>
                      <a:grpSpLocks/>
                    </p:cNvGrpSpPr>
                    <p:nvPr/>
                  </p:nvGrpSpPr>
                  <p:grpSpPr bwMode="auto">
                    <a:xfrm>
                      <a:off x="4240" y="1583"/>
                      <a:ext cx="134" cy="99"/>
                      <a:chOff x="4240" y="1583"/>
                      <a:chExt cx="134" cy="99"/>
                    </a:xfrm>
                  </p:grpSpPr>
                  <p:sp>
                    <p:nvSpPr>
                      <p:cNvPr id="23597" name="Arc 133"/>
                      <p:cNvSpPr>
                        <a:spLocks/>
                      </p:cNvSpPr>
                      <p:nvPr/>
                    </p:nvSpPr>
                    <p:spPr bwMode="auto">
                      <a:xfrm>
                        <a:off x="4240" y="1631"/>
                        <a:ext cx="134" cy="51"/>
                      </a:xfrm>
                      <a:custGeom>
                        <a:avLst/>
                        <a:gdLst>
                          <a:gd name="T0" fmla="*/ 133 w 21600"/>
                          <a:gd name="T1" fmla="*/ 51 h 21599"/>
                          <a:gd name="T2" fmla="*/ 0 w 21600"/>
                          <a:gd name="T3" fmla="*/ 0 h 21599"/>
                          <a:gd name="T4" fmla="*/ 134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435" y="21599"/>
                            </a:moveTo>
                            <a:cubicBezTo>
                              <a:pt x="9570" y="21509"/>
                              <a:pt x="0" y="11865"/>
                              <a:pt x="0" y="0"/>
                            </a:cubicBezTo>
                          </a:path>
                          <a:path w="21600" h="21599" stroke="0" extrusionOk="0">
                            <a:moveTo>
                              <a:pt x="21435" y="21599"/>
                            </a:moveTo>
                            <a:cubicBezTo>
                              <a:pt x="9570" y="21509"/>
                              <a:pt x="0" y="11865"/>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3598" name="Arc 134"/>
                      <p:cNvSpPr>
                        <a:spLocks/>
                      </p:cNvSpPr>
                      <p:nvPr/>
                    </p:nvSpPr>
                    <p:spPr bwMode="auto">
                      <a:xfrm>
                        <a:off x="4240" y="1583"/>
                        <a:ext cx="134" cy="51"/>
                      </a:xfrm>
                      <a:custGeom>
                        <a:avLst/>
                        <a:gdLst>
                          <a:gd name="T0" fmla="*/ 0 w 21600"/>
                          <a:gd name="T1" fmla="*/ 51 h 21599"/>
                          <a:gd name="T2" fmla="*/ 133 w 21600"/>
                          <a:gd name="T3" fmla="*/ 0 h 21599"/>
                          <a:gd name="T4" fmla="*/ 134 w 21600"/>
                          <a:gd name="T5" fmla="*/ 51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32"/>
                              <a:pt x="9572" y="88"/>
                              <a:pt x="21438" y="-1"/>
                            </a:cubicBezTo>
                          </a:path>
                          <a:path w="21600" h="21599" stroke="0" extrusionOk="0">
                            <a:moveTo>
                              <a:pt x="0" y="21599"/>
                            </a:moveTo>
                            <a:cubicBezTo>
                              <a:pt x="0" y="9732"/>
                              <a:pt x="9572" y="88"/>
                              <a:pt x="21438" y="-1"/>
                            </a:cubicBezTo>
                            <a:lnTo>
                              <a:pt x="21600" y="21599"/>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sp>
                  <p:nvSpPr>
                    <p:cNvPr id="23595" name="Line 135"/>
                    <p:cNvSpPr>
                      <a:spLocks noChangeShapeType="1"/>
                    </p:cNvSpPr>
                    <p:nvPr/>
                  </p:nvSpPr>
                  <p:spPr bwMode="auto">
                    <a:xfrm flipV="1">
                      <a:off x="4373" y="1533"/>
                      <a:ext cx="0" cy="4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96" name="Line 136"/>
                    <p:cNvSpPr>
                      <a:spLocks noChangeShapeType="1"/>
                    </p:cNvSpPr>
                    <p:nvPr/>
                  </p:nvSpPr>
                  <p:spPr bwMode="auto">
                    <a:xfrm flipV="1">
                      <a:off x="4373" y="1983"/>
                      <a:ext cx="0" cy="4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23580" name="Group 137"/>
                <p:cNvGrpSpPr>
                  <a:grpSpLocks/>
                </p:cNvGrpSpPr>
                <p:nvPr/>
              </p:nvGrpSpPr>
              <p:grpSpPr bwMode="auto">
                <a:xfrm>
                  <a:off x="4240" y="2032"/>
                  <a:ext cx="199" cy="250"/>
                  <a:chOff x="4240" y="2032"/>
                  <a:chExt cx="199" cy="250"/>
                </a:xfrm>
              </p:grpSpPr>
              <p:sp>
                <p:nvSpPr>
                  <p:cNvPr id="23584" name="Line 138"/>
                  <p:cNvSpPr>
                    <a:spLocks noChangeShapeType="1"/>
                  </p:cNvSpPr>
                  <p:nvPr/>
                </p:nvSpPr>
                <p:spPr bwMode="auto">
                  <a:xfrm flipV="1">
                    <a:off x="4372" y="2032"/>
                    <a:ext cx="0" cy="16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85" name="Line 139"/>
                  <p:cNvSpPr>
                    <a:spLocks noChangeShapeType="1"/>
                  </p:cNvSpPr>
                  <p:nvPr/>
                </p:nvSpPr>
                <p:spPr bwMode="auto">
                  <a:xfrm>
                    <a:off x="4307" y="2198"/>
                    <a:ext cx="132"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86" name="Line 140"/>
                  <p:cNvSpPr>
                    <a:spLocks noChangeShapeType="1"/>
                  </p:cNvSpPr>
                  <p:nvPr/>
                </p:nvSpPr>
                <p:spPr bwMode="auto">
                  <a:xfrm flipH="1">
                    <a:off x="4240" y="2199"/>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87" name="Line 141"/>
                  <p:cNvSpPr>
                    <a:spLocks noChangeShapeType="1"/>
                  </p:cNvSpPr>
                  <p:nvPr/>
                </p:nvSpPr>
                <p:spPr bwMode="auto">
                  <a:xfrm flipH="1">
                    <a:off x="4307" y="2199"/>
                    <a:ext cx="65"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88" name="Line 142"/>
                  <p:cNvSpPr>
                    <a:spLocks noChangeShapeType="1"/>
                  </p:cNvSpPr>
                  <p:nvPr/>
                </p:nvSpPr>
                <p:spPr bwMode="auto">
                  <a:xfrm flipH="1">
                    <a:off x="4373" y="2199"/>
                    <a:ext cx="66"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3581" name="Line 143"/>
                <p:cNvSpPr>
                  <a:spLocks noChangeShapeType="1"/>
                </p:cNvSpPr>
                <p:nvPr/>
              </p:nvSpPr>
              <p:spPr bwMode="auto">
                <a:xfrm flipH="1">
                  <a:off x="3840" y="1782"/>
                  <a:ext cx="199"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82" name="Line 144"/>
                <p:cNvSpPr>
                  <a:spLocks noChangeShapeType="1"/>
                </p:cNvSpPr>
                <p:nvPr/>
              </p:nvSpPr>
              <p:spPr bwMode="auto">
                <a:xfrm flipH="1">
                  <a:off x="4373" y="1449"/>
                  <a:ext cx="333"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83" name="Line 145"/>
                <p:cNvSpPr>
                  <a:spLocks noChangeShapeType="1"/>
                </p:cNvSpPr>
                <p:nvPr/>
              </p:nvSpPr>
              <p:spPr bwMode="auto">
                <a:xfrm>
                  <a:off x="4372" y="1450"/>
                  <a:ext cx="1"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3578" name="Rectangle 146"/>
              <p:cNvSpPr>
                <a:spLocks noChangeArrowheads="1"/>
              </p:cNvSpPr>
              <p:nvPr/>
            </p:nvSpPr>
            <p:spPr bwMode="auto">
              <a:xfrm>
                <a:off x="3639" y="1449"/>
                <a:ext cx="334"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IF </a:t>
                </a:r>
              </a:p>
              <a:p>
                <a:r>
                  <a:rPr lang="en-US" altLang="en-US" sz="1000">
                    <a:latin typeface="Times New Roman" panose="02020603050405020304" pitchFamily="18" charset="0"/>
                  </a:rPr>
                  <a:t>Output</a:t>
                </a:r>
              </a:p>
            </p:txBody>
          </p:sp>
        </p:grpSp>
        <p:sp>
          <p:nvSpPr>
            <p:cNvPr id="23564" name="Line 147"/>
            <p:cNvSpPr>
              <a:spLocks noChangeShapeType="1"/>
            </p:cNvSpPr>
            <p:nvPr/>
          </p:nvSpPr>
          <p:spPr bwMode="auto">
            <a:xfrm flipV="1">
              <a:off x="3505" y="1284"/>
              <a:ext cx="0" cy="49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65" name="Line 148"/>
            <p:cNvSpPr>
              <a:spLocks noChangeShapeType="1"/>
            </p:cNvSpPr>
            <p:nvPr/>
          </p:nvSpPr>
          <p:spPr bwMode="auto">
            <a:xfrm>
              <a:off x="3506" y="1283"/>
              <a:ext cx="533"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66" name="Line 149"/>
            <p:cNvSpPr>
              <a:spLocks noChangeShapeType="1"/>
            </p:cNvSpPr>
            <p:nvPr/>
          </p:nvSpPr>
          <p:spPr bwMode="auto">
            <a:xfrm>
              <a:off x="4039" y="1284"/>
              <a:ext cx="0" cy="24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67" name="Line 150"/>
            <p:cNvSpPr>
              <a:spLocks noChangeShapeType="1"/>
            </p:cNvSpPr>
            <p:nvPr/>
          </p:nvSpPr>
          <p:spPr bwMode="auto">
            <a:xfrm>
              <a:off x="4039" y="2033"/>
              <a:ext cx="0" cy="24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3568" name="Group 151"/>
            <p:cNvGrpSpPr>
              <a:grpSpLocks/>
            </p:cNvGrpSpPr>
            <p:nvPr/>
          </p:nvGrpSpPr>
          <p:grpSpPr bwMode="auto">
            <a:xfrm>
              <a:off x="2639" y="2199"/>
              <a:ext cx="67" cy="166"/>
              <a:chOff x="2639" y="2199"/>
              <a:chExt cx="67" cy="166"/>
            </a:xfrm>
          </p:grpSpPr>
          <p:sp>
            <p:nvSpPr>
              <p:cNvPr id="23575" name="Arc 152"/>
              <p:cNvSpPr>
                <a:spLocks/>
              </p:cNvSpPr>
              <p:nvPr/>
            </p:nvSpPr>
            <p:spPr bwMode="auto">
              <a:xfrm>
                <a:off x="2639" y="2199"/>
                <a:ext cx="67" cy="84"/>
              </a:xfrm>
              <a:custGeom>
                <a:avLst/>
                <a:gdLst>
                  <a:gd name="T0" fmla="*/ 0 w 21600"/>
                  <a:gd name="T1" fmla="*/ 84 h 21598"/>
                  <a:gd name="T2" fmla="*/ 66 w 21600"/>
                  <a:gd name="T3" fmla="*/ 0 h 21598"/>
                  <a:gd name="T4" fmla="*/ 67 w 21600"/>
                  <a:gd name="T5" fmla="*/ 84 h 21598"/>
                  <a:gd name="T6" fmla="*/ 0 60000 65536"/>
                  <a:gd name="T7" fmla="*/ 0 60000 65536"/>
                  <a:gd name="T8" fmla="*/ 0 60000 65536"/>
                  <a:gd name="T9" fmla="*/ 0 w 21600"/>
                  <a:gd name="T10" fmla="*/ 0 h 21598"/>
                  <a:gd name="T11" fmla="*/ 21600 w 21600"/>
                  <a:gd name="T12" fmla="*/ 21598 h 21598"/>
                </a:gdLst>
                <a:ahLst/>
                <a:cxnLst>
                  <a:cxn ang="T6">
                    <a:pos x="T0" y="T1"/>
                  </a:cxn>
                  <a:cxn ang="T7">
                    <a:pos x="T2" y="T3"/>
                  </a:cxn>
                  <a:cxn ang="T8">
                    <a:pos x="T4" y="T5"/>
                  </a:cxn>
                </a:cxnLst>
                <a:rect l="T9" t="T10" r="T11" b="T12"/>
                <a:pathLst>
                  <a:path w="21600" h="21598" fill="none" extrusionOk="0">
                    <a:moveTo>
                      <a:pt x="0" y="21598"/>
                    </a:moveTo>
                    <a:cubicBezTo>
                      <a:pt x="0" y="9794"/>
                      <a:pt x="9475" y="176"/>
                      <a:pt x="21278" y="0"/>
                    </a:cubicBezTo>
                  </a:path>
                  <a:path w="21600" h="21598" stroke="0" extrusionOk="0">
                    <a:moveTo>
                      <a:pt x="0" y="21598"/>
                    </a:moveTo>
                    <a:cubicBezTo>
                      <a:pt x="0" y="9794"/>
                      <a:pt x="9475" y="176"/>
                      <a:pt x="21278" y="0"/>
                    </a:cubicBezTo>
                    <a:lnTo>
                      <a:pt x="21600" y="21598"/>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3576" name="Arc 153"/>
              <p:cNvSpPr>
                <a:spLocks/>
              </p:cNvSpPr>
              <p:nvPr/>
            </p:nvSpPr>
            <p:spPr bwMode="auto">
              <a:xfrm>
                <a:off x="2639" y="2281"/>
                <a:ext cx="67" cy="84"/>
              </a:xfrm>
              <a:custGeom>
                <a:avLst/>
                <a:gdLst>
                  <a:gd name="T0" fmla="*/ 66 w 21600"/>
                  <a:gd name="T1" fmla="*/ 84 h 21598"/>
                  <a:gd name="T2" fmla="*/ 0 w 21600"/>
                  <a:gd name="T3" fmla="*/ 0 h 21598"/>
                  <a:gd name="T4" fmla="*/ 67 w 21600"/>
                  <a:gd name="T5" fmla="*/ 0 h 21598"/>
                  <a:gd name="T6" fmla="*/ 0 60000 65536"/>
                  <a:gd name="T7" fmla="*/ 0 60000 65536"/>
                  <a:gd name="T8" fmla="*/ 0 60000 65536"/>
                  <a:gd name="T9" fmla="*/ 0 w 21600"/>
                  <a:gd name="T10" fmla="*/ 0 h 21598"/>
                  <a:gd name="T11" fmla="*/ 21600 w 21600"/>
                  <a:gd name="T12" fmla="*/ 21598 h 21598"/>
                </a:gdLst>
                <a:ahLst/>
                <a:cxnLst>
                  <a:cxn ang="T6">
                    <a:pos x="T0" y="T1"/>
                  </a:cxn>
                  <a:cxn ang="T7">
                    <a:pos x="T2" y="T3"/>
                  </a:cxn>
                  <a:cxn ang="T8">
                    <a:pos x="T4" y="T5"/>
                  </a:cxn>
                </a:cxnLst>
                <a:rect l="T9" t="T10" r="T11" b="T12"/>
                <a:pathLst>
                  <a:path w="21600" h="21598" fill="none" extrusionOk="0">
                    <a:moveTo>
                      <a:pt x="21274" y="21597"/>
                    </a:moveTo>
                    <a:cubicBezTo>
                      <a:pt x="9473" y="21419"/>
                      <a:pt x="0" y="11802"/>
                      <a:pt x="0" y="0"/>
                    </a:cubicBezTo>
                  </a:path>
                  <a:path w="21600" h="21598" stroke="0" extrusionOk="0">
                    <a:moveTo>
                      <a:pt x="21274" y="21597"/>
                    </a:moveTo>
                    <a:cubicBezTo>
                      <a:pt x="9473" y="21419"/>
                      <a:pt x="0" y="11802"/>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sp>
          <p:nvSpPr>
            <p:cNvPr id="23569" name="Line 154"/>
            <p:cNvSpPr>
              <a:spLocks noChangeShapeType="1"/>
            </p:cNvSpPr>
            <p:nvPr/>
          </p:nvSpPr>
          <p:spPr bwMode="auto">
            <a:xfrm>
              <a:off x="2705" y="1783"/>
              <a:ext cx="0" cy="41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70" name="Line 155"/>
            <p:cNvSpPr>
              <a:spLocks noChangeShapeType="1"/>
            </p:cNvSpPr>
            <p:nvPr/>
          </p:nvSpPr>
          <p:spPr bwMode="auto">
            <a:xfrm>
              <a:off x="2705" y="2365"/>
              <a:ext cx="0" cy="8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71" name="Line 156"/>
            <p:cNvSpPr>
              <a:spLocks noChangeShapeType="1"/>
            </p:cNvSpPr>
            <p:nvPr/>
          </p:nvSpPr>
          <p:spPr bwMode="auto">
            <a:xfrm>
              <a:off x="2706" y="2447"/>
              <a:ext cx="1333"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72" name="Line 157"/>
            <p:cNvSpPr>
              <a:spLocks noChangeShapeType="1"/>
            </p:cNvSpPr>
            <p:nvPr/>
          </p:nvSpPr>
          <p:spPr bwMode="auto">
            <a:xfrm>
              <a:off x="4039" y="2282"/>
              <a:ext cx="0" cy="16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73" name="Rectangle 158"/>
            <p:cNvSpPr>
              <a:spLocks noChangeArrowheads="1"/>
            </p:cNvSpPr>
            <p:nvPr/>
          </p:nvSpPr>
          <p:spPr bwMode="auto">
            <a:xfrm>
              <a:off x="4773" y="1200"/>
              <a:ext cx="267"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RF</a:t>
              </a:r>
            </a:p>
            <a:p>
              <a:r>
                <a:rPr lang="en-US" altLang="en-US" sz="1000">
                  <a:latin typeface="Times New Roman" panose="02020603050405020304" pitchFamily="18" charset="0"/>
                </a:rPr>
                <a:t>Input</a:t>
              </a:r>
            </a:p>
          </p:txBody>
        </p:sp>
        <p:sp>
          <p:nvSpPr>
            <p:cNvPr id="23574" name="Rectangle 159"/>
            <p:cNvSpPr>
              <a:spLocks noChangeArrowheads="1"/>
            </p:cNvSpPr>
            <p:nvPr/>
          </p:nvSpPr>
          <p:spPr bwMode="auto">
            <a:xfrm>
              <a:off x="1104" y="1200"/>
              <a:ext cx="267"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LO</a:t>
              </a:r>
            </a:p>
            <a:p>
              <a:r>
                <a:rPr lang="en-US" altLang="en-US" sz="1000">
                  <a:latin typeface="Times New Roman" panose="02020603050405020304" pitchFamily="18" charset="0"/>
                </a:rPr>
                <a:t>Input</a:t>
              </a:r>
            </a:p>
          </p:txBody>
        </p:sp>
      </p:grpSp>
      <p:sp>
        <p:nvSpPr>
          <p:cNvPr id="23556" name="Rectangle 160"/>
          <p:cNvSpPr>
            <a:spLocks noGrp="1" noChangeArrowheads="1"/>
          </p:cNvSpPr>
          <p:nvPr>
            <p:ph type="body" sz="half" idx="2"/>
          </p:nvPr>
        </p:nvSpPr>
        <p:spPr>
          <a:xfrm>
            <a:off x="304800" y="3731249"/>
            <a:ext cx="8458200" cy="2209800"/>
          </a:xfrm>
          <a:noFill/>
        </p:spPr>
        <p:txBody>
          <a:bodyPr lIns="92075" tIns="46038" rIns="92075" bIns="46038"/>
          <a:lstStyle/>
          <a:p>
            <a:pPr>
              <a:buSzPct val="90000"/>
            </a:pPr>
            <a:r>
              <a:rPr lang="en-US" altLang="en-US" sz="2400" dirty="0" smtClean="0"/>
              <a:t>Use quad of matched Schottky diodes</a:t>
            </a:r>
          </a:p>
          <a:p>
            <a:pPr lvl="1">
              <a:buSzPct val="90000"/>
            </a:pPr>
            <a:r>
              <a:rPr lang="en-US" altLang="en-US" sz="2000" dirty="0" smtClean="0"/>
              <a:t>Crossover ring quad saves the customer trouble with circuit board layout</a:t>
            </a:r>
          </a:p>
          <a:p>
            <a:pPr>
              <a:buSzPct val="90000"/>
            </a:pPr>
            <a:r>
              <a:rPr lang="en-US" altLang="en-US" sz="2400" dirty="0" smtClean="0"/>
              <a:t>Excellent Inter-port Isolation</a:t>
            </a:r>
          </a:p>
          <a:p>
            <a:pPr>
              <a:buSzPct val="90000"/>
            </a:pPr>
            <a:r>
              <a:rPr lang="en-US" altLang="en-US" sz="2400" dirty="0" smtClean="0"/>
              <a:t>Can Function as Phase Detector if LO Frequency </a:t>
            </a:r>
            <a:r>
              <a:rPr lang="en-US" altLang="en-US" sz="2400" dirty="0" smtClean="0">
                <a:sym typeface="Symbol" panose="05050102010706020507" pitchFamily="18" charset="2"/>
              </a:rPr>
              <a:t></a:t>
            </a:r>
            <a:r>
              <a:rPr lang="en-US" altLang="en-US" sz="2400" dirty="0" smtClean="0"/>
              <a:t> RF Frequency</a:t>
            </a:r>
          </a:p>
        </p:txBody>
      </p:sp>
    </p:spTree>
    <p:extLst>
      <p:ext uri="{BB962C8B-B14F-4D97-AF65-F5344CB8AC3E}">
        <p14:creationId xmlns:p14="http://schemas.microsoft.com/office/powerpoint/2010/main" val="19152898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noFill/>
        </p:spPr>
        <p:txBody>
          <a:bodyPr lIns="92075" tIns="46038" rIns="92075" bIns="46038" anchor="ctr"/>
          <a:lstStyle/>
          <a:p>
            <a:r>
              <a:rPr lang="en-US" altLang="en-US" dirty="0" smtClean="0"/>
              <a:t>Detectors	</a:t>
            </a:r>
          </a:p>
        </p:txBody>
      </p:sp>
      <p:sp>
        <p:nvSpPr>
          <p:cNvPr id="24579" name="Rectangle 3"/>
          <p:cNvSpPr>
            <a:spLocks noGrp="1" noChangeArrowheads="1"/>
          </p:cNvSpPr>
          <p:nvPr>
            <p:ph type="body" idx="1"/>
          </p:nvPr>
        </p:nvSpPr>
        <p:spPr>
          <a:xfrm>
            <a:off x="223451" y="1374424"/>
            <a:ext cx="3886200" cy="4114800"/>
          </a:xfrm>
          <a:noFill/>
        </p:spPr>
        <p:txBody>
          <a:bodyPr lIns="92075" tIns="46038" rIns="92075" bIns="46038"/>
          <a:lstStyle/>
          <a:p>
            <a:pPr>
              <a:buSzPct val="90000"/>
            </a:pPr>
            <a:r>
              <a:rPr lang="en-US" altLang="en-US" sz="2800" dirty="0" smtClean="0"/>
              <a:t>Detectors produce current waveform whose amplitude is proportional to input signal power</a:t>
            </a:r>
          </a:p>
          <a:p>
            <a:pPr>
              <a:buSzPct val="90000"/>
            </a:pPr>
            <a:r>
              <a:rPr lang="en-US" altLang="en-US" sz="2800" dirty="0" smtClean="0"/>
              <a:t>Schottky detectors function as rectifiers</a:t>
            </a:r>
          </a:p>
          <a:p>
            <a:pPr lvl="1"/>
            <a:r>
              <a:rPr lang="en-US" altLang="en-US" sz="2400" dirty="0" smtClean="0"/>
              <a:t>Half wave uses single Schottky diode</a:t>
            </a:r>
          </a:p>
          <a:p>
            <a:pPr lvl="1"/>
            <a:r>
              <a:rPr lang="en-US" altLang="en-US" sz="2400" dirty="0" smtClean="0"/>
              <a:t>Full wave uses series tee or reverse series tee</a:t>
            </a:r>
          </a:p>
        </p:txBody>
      </p:sp>
      <p:grpSp>
        <p:nvGrpSpPr>
          <p:cNvPr id="24580" name="Group 4"/>
          <p:cNvGrpSpPr>
            <a:grpSpLocks/>
          </p:cNvGrpSpPr>
          <p:nvPr/>
        </p:nvGrpSpPr>
        <p:grpSpPr bwMode="auto">
          <a:xfrm>
            <a:off x="4343400" y="2362200"/>
            <a:ext cx="4217988" cy="2432050"/>
            <a:chOff x="1392" y="1248"/>
            <a:chExt cx="3008" cy="1628"/>
          </a:xfrm>
        </p:grpSpPr>
        <p:sp>
          <p:nvSpPr>
            <p:cNvPr id="24581" name="Rectangle 5"/>
            <p:cNvSpPr>
              <a:spLocks noChangeArrowheads="1"/>
            </p:cNvSpPr>
            <p:nvPr/>
          </p:nvSpPr>
          <p:spPr bwMode="auto">
            <a:xfrm>
              <a:off x="1416" y="1808"/>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4582" name="Rectangle 6"/>
            <p:cNvSpPr>
              <a:spLocks noChangeArrowheads="1"/>
            </p:cNvSpPr>
            <p:nvPr/>
          </p:nvSpPr>
          <p:spPr bwMode="auto">
            <a:xfrm>
              <a:off x="2741" y="2164"/>
              <a:ext cx="5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nvGrpSpPr>
            <p:cNvPr id="24583" name="Group 7"/>
            <p:cNvGrpSpPr>
              <a:grpSpLocks/>
            </p:cNvGrpSpPr>
            <p:nvPr/>
          </p:nvGrpSpPr>
          <p:grpSpPr bwMode="auto">
            <a:xfrm>
              <a:off x="2160" y="1733"/>
              <a:ext cx="192" cy="239"/>
              <a:chOff x="2160" y="1733"/>
              <a:chExt cx="192" cy="239"/>
            </a:xfrm>
          </p:grpSpPr>
          <p:sp>
            <p:nvSpPr>
              <p:cNvPr id="24611" name="Line 8"/>
              <p:cNvSpPr>
                <a:spLocks noChangeShapeType="1"/>
              </p:cNvSpPr>
              <p:nvPr/>
            </p:nvSpPr>
            <p:spPr bwMode="auto">
              <a:xfrm>
                <a:off x="2165" y="1733"/>
                <a:ext cx="183" cy="11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612" name="Line 9"/>
              <p:cNvSpPr>
                <a:spLocks noChangeShapeType="1"/>
              </p:cNvSpPr>
              <p:nvPr/>
            </p:nvSpPr>
            <p:spPr bwMode="auto">
              <a:xfrm flipV="1">
                <a:off x="2165" y="1845"/>
                <a:ext cx="183" cy="1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613" name="Line 10"/>
              <p:cNvSpPr>
                <a:spLocks noChangeShapeType="1"/>
              </p:cNvSpPr>
              <p:nvPr/>
            </p:nvSpPr>
            <p:spPr bwMode="auto">
              <a:xfrm>
                <a:off x="2160" y="1733"/>
                <a:ext cx="0" cy="23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614" name="Line 11"/>
              <p:cNvSpPr>
                <a:spLocks noChangeShapeType="1"/>
              </p:cNvSpPr>
              <p:nvPr/>
            </p:nvSpPr>
            <p:spPr bwMode="auto">
              <a:xfrm>
                <a:off x="2352" y="1733"/>
                <a:ext cx="0" cy="23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4584" name="Line 12"/>
            <p:cNvSpPr>
              <a:spLocks noChangeShapeType="1"/>
            </p:cNvSpPr>
            <p:nvPr/>
          </p:nvSpPr>
          <p:spPr bwMode="auto">
            <a:xfrm>
              <a:off x="2597" y="1973"/>
              <a:ext cx="135" cy="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585" name="Line 13"/>
            <p:cNvSpPr>
              <a:spLocks noChangeShapeType="1"/>
            </p:cNvSpPr>
            <p:nvPr/>
          </p:nvSpPr>
          <p:spPr bwMode="auto">
            <a:xfrm>
              <a:off x="2597" y="2357"/>
              <a:ext cx="135" cy="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586" name="Line 14"/>
            <p:cNvSpPr>
              <a:spLocks noChangeShapeType="1"/>
            </p:cNvSpPr>
            <p:nvPr/>
          </p:nvSpPr>
          <p:spPr bwMode="auto">
            <a:xfrm>
              <a:off x="2597" y="2165"/>
              <a:ext cx="135" cy="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587" name="Line 15"/>
            <p:cNvSpPr>
              <a:spLocks noChangeShapeType="1"/>
            </p:cNvSpPr>
            <p:nvPr/>
          </p:nvSpPr>
          <p:spPr bwMode="auto">
            <a:xfrm flipH="1">
              <a:off x="2589" y="2069"/>
              <a:ext cx="151" cy="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588" name="Line 16"/>
            <p:cNvSpPr>
              <a:spLocks noChangeShapeType="1"/>
            </p:cNvSpPr>
            <p:nvPr/>
          </p:nvSpPr>
          <p:spPr bwMode="auto">
            <a:xfrm flipH="1">
              <a:off x="2589" y="2261"/>
              <a:ext cx="151" cy="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589" name="Line 17"/>
            <p:cNvSpPr>
              <a:spLocks noChangeShapeType="1"/>
            </p:cNvSpPr>
            <p:nvPr/>
          </p:nvSpPr>
          <p:spPr bwMode="auto">
            <a:xfrm flipH="1">
              <a:off x="2685" y="2453"/>
              <a:ext cx="55" cy="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590" name="Line 18"/>
            <p:cNvSpPr>
              <a:spLocks noChangeShapeType="1"/>
            </p:cNvSpPr>
            <p:nvPr/>
          </p:nvSpPr>
          <p:spPr bwMode="auto">
            <a:xfrm flipH="1">
              <a:off x="2589" y="1925"/>
              <a:ext cx="55" cy="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591" name="Line 19"/>
            <p:cNvSpPr>
              <a:spLocks noChangeShapeType="1"/>
            </p:cNvSpPr>
            <p:nvPr/>
          </p:nvSpPr>
          <p:spPr bwMode="auto">
            <a:xfrm>
              <a:off x="2357" y="1872"/>
              <a:ext cx="138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592" name="Line 20"/>
            <p:cNvSpPr>
              <a:spLocks noChangeShapeType="1"/>
            </p:cNvSpPr>
            <p:nvPr/>
          </p:nvSpPr>
          <p:spPr bwMode="auto">
            <a:xfrm flipV="1">
              <a:off x="2640" y="1869"/>
              <a:ext cx="0" cy="5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593" name="Line 21"/>
            <p:cNvSpPr>
              <a:spLocks noChangeShapeType="1"/>
            </p:cNvSpPr>
            <p:nvPr/>
          </p:nvSpPr>
          <p:spPr bwMode="auto">
            <a:xfrm flipV="1">
              <a:off x="3216" y="1869"/>
              <a:ext cx="0" cy="24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594" name="Line 22"/>
            <p:cNvSpPr>
              <a:spLocks noChangeShapeType="1"/>
            </p:cNvSpPr>
            <p:nvPr/>
          </p:nvSpPr>
          <p:spPr bwMode="auto">
            <a:xfrm>
              <a:off x="3002" y="2104"/>
              <a:ext cx="37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595" name="Line 23"/>
            <p:cNvSpPr>
              <a:spLocks noChangeShapeType="1"/>
            </p:cNvSpPr>
            <p:nvPr/>
          </p:nvSpPr>
          <p:spPr bwMode="auto">
            <a:xfrm>
              <a:off x="3002" y="2248"/>
              <a:ext cx="37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596" name="Line 24"/>
            <p:cNvSpPr>
              <a:spLocks noChangeShapeType="1"/>
            </p:cNvSpPr>
            <p:nvPr/>
          </p:nvSpPr>
          <p:spPr bwMode="auto">
            <a:xfrm>
              <a:off x="3216" y="2261"/>
              <a:ext cx="0" cy="47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597" name="Line 25"/>
            <p:cNvSpPr>
              <a:spLocks noChangeShapeType="1"/>
            </p:cNvSpPr>
            <p:nvPr/>
          </p:nvSpPr>
          <p:spPr bwMode="auto">
            <a:xfrm>
              <a:off x="2688" y="2501"/>
              <a:ext cx="0" cy="23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598" name="Line 26"/>
            <p:cNvSpPr>
              <a:spLocks noChangeShapeType="1"/>
            </p:cNvSpPr>
            <p:nvPr/>
          </p:nvSpPr>
          <p:spPr bwMode="auto">
            <a:xfrm>
              <a:off x="2549" y="2736"/>
              <a:ext cx="279"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599" name="Line 27"/>
            <p:cNvSpPr>
              <a:spLocks noChangeShapeType="1"/>
            </p:cNvSpPr>
            <p:nvPr/>
          </p:nvSpPr>
          <p:spPr bwMode="auto">
            <a:xfrm flipH="1">
              <a:off x="2493" y="2741"/>
              <a:ext cx="55" cy="1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600" name="Line 28"/>
            <p:cNvSpPr>
              <a:spLocks noChangeShapeType="1"/>
            </p:cNvSpPr>
            <p:nvPr/>
          </p:nvSpPr>
          <p:spPr bwMode="auto">
            <a:xfrm flipH="1">
              <a:off x="2637" y="2741"/>
              <a:ext cx="55" cy="1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601" name="Line 29"/>
            <p:cNvSpPr>
              <a:spLocks noChangeShapeType="1"/>
            </p:cNvSpPr>
            <p:nvPr/>
          </p:nvSpPr>
          <p:spPr bwMode="auto">
            <a:xfrm flipH="1">
              <a:off x="2781" y="2741"/>
              <a:ext cx="55" cy="1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602" name="Line 30"/>
            <p:cNvSpPr>
              <a:spLocks noChangeShapeType="1"/>
            </p:cNvSpPr>
            <p:nvPr/>
          </p:nvSpPr>
          <p:spPr bwMode="auto">
            <a:xfrm>
              <a:off x="3077" y="2736"/>
              <a:ext cx="279"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603" name="Line 31"/>
            <p:cNvSpPr>
              <a:spLocks noChangeShapeType="1"/>
            </p:cNvSpPr>
            <p:nvPr/>
          </p:nvSpPr>
          <p:spPr bwMode="auto">
            <a:xfrm flipH="1">
              <a:off x="3021" y="2741"/>
              <a:ext cx="55" cy="1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604" name="Line 32"/>
            <p:cNvSpPr>
              <a:spLocks noChangeShapeType="1"/>
            </p:cNvSpPr>
            <p:nvPr/>
          </p:nvSpPr>
          <p:spPr bwMode="auto">
            <a:xfrm flipH="1">
              <a:off x="3165" y="2741"/>
              <a:ext cx="55" cy="1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605" name="Line 33"/>
            <p:cNvSpPr>
              <a:spLocks noChangeShapeType="1"/>
            </p:cNvSpPr>
            <p:nvPr/>
          </p:nvSpPr>
          <p:spPr bwMode="auto">
            <a:xfrm flipH="1">
              <a:off x="3309" y="2741"/>
              <a:ext cx="55" cy="1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606" name="Oval 34"/>
            <p:cNvSpPr>
              <a:spLocks noChangeArrowheads="1"/>
            </p:cNvSpPr>
            <p:nvPr/>
          </p:nvSpPr>
          <p:spPr bwMode="auto">
            <a:xfrm>
              <a:off x="1540" y="1828"/>
              <a:ext cx="88" cy="8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4607" name="Line 35"/>
            <p:cNvSpPr>
              <a:spLocks noChangeShapeType="1"/>
            </p:cNvSpPr>
            <p:nvPr/>
          </p:nvSpPr>
          <p:spPr bwMode="auto">
            <a:xfrm flipH="1">
              <a:off x="1629" y="1872"/>
              <a:ext cx="5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4608" name="Oval 36"/>
            <p:cNvSpPr>
              <a:spLocks noChangeArrowheads="1"/>
            </p:cNvSpPr>
            <p:nvPr/>
          </p:nvSpPr>
          <p:spPr bwMode="auto">
            <a:xfrm>
              <a:off x="3748" y="1828"/>
              <a:ext cx="88" cy="8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4609" name="Rectangle 37"/>
            <p:cNvSpPr>
              <a:spLocks noChangeArrowheads="1"/>
            </p:cNvSpPr>
            <p:nvPr/>
          </p:nvSpPr>
          <p:spPr bwMode="auto">
            <a:xfrm>
              <a:off x="1392" y="1440"/>
              <a:ext cx="64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a:latin typeface="Arial" panose="020B0604020202020204" pitchFamily="34" charset="0"/>
                </a:rPr>
                <a:t>RF in</a:t>
              </a:r>
            </a:p>
          </p:txBody>
        </p:sp>
        <p:sp>
          <p:nvSpPr>
            <p:cNvPr id="24610" name="Rectangle 38"/>
            <p:cNvSpPr>
              <a:spLocks noChangeArrowheads="1"/>
            </p:cNvSpPr>
            <p:nvPr/>
          </p:nvSpPr>
          <p:spPr bwMode="auto">
            <a:xfrm>
              <a:off x="3304" y="1248"/>
              <a:ext cx="1096"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a:latin typeface="Arial" panose="020B0604020202020204" pitchFamily="34" charset="0"/>
                </a:rPr>
                <a:t>Detected</a:t>
              </a:r>
            </a:p>
            <a:p>
              <a:r>
                <a:rPr lang="en-US" altLang="en-US">
                  <a:latin typeface="Arial" panose="020B0604020202020204" pitchFamily="34" charset="0"/>
                </a:rPr>
                <a:t>Video Out</a:t>
              </a:r>
            </a:p>
          </p:txBody>
        </p:sp>
      </p:grpSp>
    </p:spTree>
    <p:extLst>
      <p:ext uri="{BB962C8B-B14F-4D97-AF65-F5344CB8AC3E}">
        <p14:creationId xmlns:p14="http://schemas.microsoft.com/office/powerpoint/2010/main" val="39545910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p:spPr>
        <p:txBody>
          <a:bodyPr lIns="92075" tIns="46038" rIns="92075" bIns="46038" anchor="ctr"/>
          <a:lstStyle/>
          <a:p>
            <a:r>
              <a:rPr lang="en-US" altLang="en-US" dirty="0" smtClean="0"/>
              <a:t>Schottky Diode Detector</a:t>
            </a:r>
          </a:p>
        </p:txBody>
      </p:sp>
      <p:sp>
        <p:nvSpPr>
          <p:cNvPr id="25603" name="Rectangle 3"/>
          <p:cNvSpPr>
            <a:spLocks noGrp="1" noChangeArrowheads="1"/>
          </p:cNvSpPr>
          <p:nvPr>
            <p:ph type="body" idx="1"/>
          </p:nvPr>
        </p:nvSpPr>
        <p:spPr>
          <a:xfrm>
            <a:off x="220663" y="4930921"/>
            <a:ext cx="8458200" cy="1447800"/>
          </a:xfrm>
          <a:noFill/>
        </p:spPr>
        <p:txBody>
          <a:bodyPr lIns="92075" tIns="46038" rIns="92075" bIns="46038"/>
          <a:lstStyle/>
          <a:p>
            <a:pPr>
              <a:buSzPct val="90000"/>
            </a:pPr>
            <a:r>
              <a:rPr lang="en-US" altLang="en-US" sz="2400" dirty="0" smtClean="0"/>
              <a:t>RF Input Signal is Rectified to Produce Video or DC Output Signal</a:t>
            </a:r>
          </a:p>
        </p:txBody>
      </p:sp>
      <p:grpSp>
        <p:nvGrpSpPr>
          <p:cNvPr id="25604" name="Group 4"/>
          <p:cNvGrpSpPr>
            <a:grpSpLocks/>
          </p:cNvGrpSpPr>
          <p:nvPr/>
        </p:nvGrpSpPr>
        <p:grpSpPr bwMode="auto">
          <a:xfrm>
            <a:off x="2196547" y="1500810"/>
            <a:ext cx="4850295" cy="3140764"/>
            <a:chOff x="1825" y="1249"/>
            <a:chExt cx="2131" cy="1382"/>
          </a:xfrm>
        </p:grpSpPr>
        <p:sp>
          <p:nvSpPr>
            <p:cNvPr id="25605" name="Freeform 5"/>
            <p:cNvSpPr>
              <a:spLocks/>
            </p:cNvSpPr>
            <p:nvPr/>
          </p:nvSpPr>
          <p:spPr bwMode="auto">
            <a:xfrm>
              <a:off x="2803" y="1940"/>
              <a:ext cx="117" cy="515"/>
            </a:xfrm>
            <a:custGeom>
              <a:avLst/>
              <a:gdLst>
                <a:gd name="T0" fmla="*/ 66 w 117"/>
                <a:gd name="T1" fmla="*/ 7 h 515"/>
                <a:gd name="T2" fmla="*/ 78 w 117"/>
                <a:gd name="T3" fmla="*/ 14 h 515"/>
                <a:gd name="T4" fmla="*/ 89 w 117"/>
                <a:gd name="T5" fmla="*/ 21 h 515"/>
                <a:gd name="T6" fmla="*/ 98 w 117"/>
                <a:gd name="T7" fmla="*/ 32 h 515"/>
                <a:gd name="T8" fmla="*/ 106 w 117"/>
                <a:gd name="T9" fmla="*/ 39 h 515"/>
                <a:gd name="T10" fmla="*/ 112 w 117"/>
                <a:gd name="T11" fmla="*/ 50 h 515"/>
                <a:gd name="T12" fmla="*/ 115 w 117"/>
                <a:gd name="T13" fmla="*/ 56 h 515"/>
                <a:gd name="T14" fmla="*/ 116 w 117"/>
                <a:gd name="T15" fmla="*/ 67 h 515"/>
                <a:gd name="T16" fmla="*/ 112 w 117"/>
                <a:gd name="T17" fmla="*/ 78 h 515"/>
                <a:gd name="T18" fmla="*/ 108 w 117"/>
                <a:gd name="T19" fmla="*/ 85 h 515"/>
                <a:gd name="T20" fmla="*/ 101 w 117"/>
                <a:gd name="T21" fmla="*/ 95 h 515"/>
                <a:gd name="T22" fmla="*/ 92 w 117"/>
                <a:gd name="T23" fmla="*/ 102 h 515"/>
                <a:gd name="T24" fmla="*/ 82 w 117"/>
                <a:gd name="T25" fmla="*/ 113 h 515"/>
                <a:gd name="T26" fmla="*/ 70 w 117"/>
                <a:gd name="T27" fmla="*/ 120 h 515"/>
                <a:gd name="T28" fmla="*/ 58 w 117"/>
                <a:gd name="T29" fmla="*/ 127 h 515"/>
                <a:gd name="T30" fmla="*/ 45 w 117"/>
                <a:gd name="T31" fmla="*/ 137 h 515"/>
                <a:gd name="T32" fmla="*/ 34 w 117"/>
                <a:gd name="T33" fmla="*/ 144 h 515"/>
                <a:gd name="T34" fmla="*/ 24 w 117"/>
                <a:gd name="T35" fmla="*/ 155 h 515"/>
                <a:gd name="T36" fmla="*/ 15 w 117"/>
                <a:gd name="T37" fmla="*/ 162 h 515"/>
                <a:gd name="T38" fmla="*/ 8 w 117"/>
                <a:gd name="T39" fmla="*/ 172 h 515"/>
                <a:gd name="T40" fmla="*/ 3 w 117"/>
                <a:gd name="T41" fmla="*/ 180 h 515"/>
                <a:gd name="T42" fmla="*/ 0 w 117"/>
                <a:gd name="T43" fmla="*/ 187 h 515"/>
                <a:gd name="T44" fmla="*/ 0 w 117"/>
                <a:gd name="T45" fmla="*/ 197 h 515"/>
                <a:gd name="T46" fmla="*/ 3 w 117"/>
                <a:gd name="T47" fmla="*/ 204 h 515"/>
                <a:gd name="T48" fmla="*/ 8 w 117"/>
                <a:gd name="T49" fmla="*/ 215 h 515"/>
                <a:gd name="T50" fmla="*/ 15 w 117"/>
                <a:gd name="T51" fmla="*/ 222 h 515"/>
                <a:gd name="T52" fmla="*/ 24 w 117"/>
                <a:gd name="T53" fmla="*/ 232 h 515"/>
                <a:gd name="T54" fmla="*/ 34 w 117"/>
                <a:gd name="T55" fmla="*/ 239 h 515"/>
                <a:gd name="T56" fmla="*/ 45 w 117"/>
                <a:gd name="T57" fmla="*/ 246 h 515"/>
                <a:gd name="T58" fmla="*/ 58 w 117"/>
                <a:gd name="T59" fmla="*/ 257 h 515"/>
                <a:gd name="T60" fmla="*/ 70 w 117"/>
                <a:gd name="T61" fmla="*/ 264 h 515"/>
                <a:gd name="T62" fmla="*/ 82 w 117"/>
                <a:gd name="T63" fmla="*/ 275 h 515"/>
                <a:gd name="T64" fmla="*/ 92 w 117"/>
                <a:gd name="T65" fmla="*/ 282 h 515"/>
                <a:gd name="T66" fmla="*/ 101 w 117"/>
                <a:gd name="T67" fmla="*/ 292 h 515"/>
                <a:gd name="T68" fmla="*/ 108 w 117"/>
                <a:gd name="T69" fmla="*/ 299 h 515"/>
                <a:gd name="T70" fmla="*/ 112 w 117"/>
                <a:gd name="T71" fmla="*/ 310 h 515"/>
                <a:gd name="T72" fmla="*/ 116 w 117"/>
                <a:gd name="T73" fmla="*/ 316 h 515"/>
                <a:gd name="T74" fmla="*/ 115 w 117"/>
                <a:gd name="T75" fmla="*/ 327 h 515"/>
                <a:gd name="T76" fmla="*/ 112 w 117"/>
                <a:gd name="T77" fmla="*/ 338 h 515"/>
                <a:gd name="T78" fmla="*/ 106 w 117"/>
                <a:gd name="T79" fmla="*/ 345 h 515"/>
                <a:gd name="T80" fmla="*/ 98 w 117"/>
                <a:gd name="T81" fmla="*/ 352 h 515"/>
                <a:gd name="T82" fmla="*/ 89 w 117"/>
                <a:gd name="T83" fmla="*/ 362 h 515"/>
                <a:gd name="T84" fmla="*/ 78 w 117"/>
                <a:gd name="T85" fmla="*/ 369 h 515"/>
                <a:gd name="T86" fmla="*/ 66 w 117"/>
                <a:gd name="T87" fmla="*/ 380 h 515"/>
                <a:gd name="T88" fmla="*/ 54 w 117"/>
                <a:gd name="T89" fmla="*/ 387 h 515"/>
                <a:gd name="T90" fmla="*/ 42 w 117"/>
                <a:gd name="T91" fmla="*/ 398 h 515"/>
                <a:gd name="T92" fmla="*/ 31 w 117"/>
                <a:gd name="T93" fmla="*/ 405 h 515"/>
                <a:gd name="T94" fmla="*/ 21 w 117"/>
                <a:gd name="T95" fmla="*/ 412 h 515"/>
                <a:gd name="T96" fmla="*/ 12 w 117"/>
                <a:gd name="T97" fmla="*/ 422 h 515"/>
                <a:gd name="T98" fmla="*/ 6 w 117"/>
                <a:gd name="T99" fmla="*/ 429 h 515"/>
                <a:gd name="T100" fmla="*/ 2 w 117"/>
                <a:gd name="T101" fmla="*/ 440 h 515"/>
                <a:gd name="T102" fmla="*/ 0 w 117"/>
                <a:gd name="T103" fmla="*/ 447 h 515"/>
                <a:gd name="T104" fmla="*/ 1 w 117"/>
                <a:gd name="T105" fmla="*/ 458 h 515"/>
                <a:gd name="T106" fmla="*/ 4 w 117"/>
                <a:gd name="T107" fmla="*/ 464 h 515"/>
                <a:gd name="T108" fmla="*/ 10 w 117"/>
                <a:gd name="T109" fmla="*/ 472 h 515"/>
                <a:gd name="T110" fmla="*/ 18 w 117"/>
                <a:gd name="T111" fmla="*/ 482 h 515"/>
                <a:gd name="T112" fmla="*/ 27 w 117"/>
                <a:gd name="T113" fmla="*/ 489 h 515"/>
                <a:gd name="T114" fmla="*/ 38 w 117"/>
                <a:gd name="T115" fmla="*/ 500 h 515"/>
                <a:gd name="T116" fmla="*/ 50 w 117"/>
                <a:gd name="T117" fmla="*/ 506 h 51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7"/>
                <a:gd name="T178" fmla="*/ 0 h 515"/>
                <a:gd name="T179" fmla="*/ 117 w 117"/>
                <a:gd name="T180" fmla="*/ 515 h 51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7" h="515">
                  <a:moveTo>
                    <a:pt x="58" y="0"/>
                  </a:moveTo>
                  <a:lnTo>
                    <a:pt x="62" y="4"/>
                  </a:lnTo>
                  <a:lnTo>
                    <a:pt x="66" y="7"/>
                  </a:lnTo>
                  <a:lnTo>
                    <a:pt x="70" y="7"/>
                  </a:lnTo>
                  <a:lnTo>
                    <a:pt x="74" y="11"/>
                  </a:lnTo>
                  <a:lnTo>
                    <a:pt x="78" y="14"/>
                  </a:lnTo>
                  <a:lnTo>
                    <a:pt x="82" y="18"/>
                  </a:lnTo>
                  <a:lnTo>
                    <a:pt x="85" y="21"/>
                  </a:lnTo>
                  <a:lnTo>
                    <a:pt x="89" y="21"/>
                  </a:lnTo>
                  <a:lnTo>
                    <a:pt x="92" y="24"/>
                  </a:lnTo>
                  <a:lnTo>
                    <a:pt x="95" y="28"/>
                  </a:lnTo>
                  <a:lnTo>
                    <a:pt x="98" y="32"/>
                  </a:lnTo>
                  <a:lnTo>
                    <a:pt x="101" y="35"/>
                  </a:lnTo>
                  <a:lnTo>
                    <a:pt x="104" y="39"/>
                  </a:lnTo>
                  <a:lnTo>
                    <a:pt x="106" y="39"/>
                  </a:lnTo>
                  <a:lnTo>
                    <a:pt x="108" y="42"/>
                  </a:lnTo>
                  <a:lnTo>
                    <a:pt x="110" y="46"/>
                  </a:lnTo>
                  <a:lnTo>
                    <a:pt x="112" y="50"/>
                  </a:lnTo>
                  <a:lnTo>
                    <a:pt x="112" y="53"/>
                  </a:lnTo>
                  <a:lnTo>
                    <a:pt x="114" y="53"/>
                  </a:lnTo>
                  <a:lnTo>
                    <a:pt x="115" y="56"/>
                  </a:lnTo>
                  <a:lnTo>
                    <a:pt x="116" y="60"/>
                  </a:lnTo>
                  <a:lnTo>
                    <a:pt x="116" y="63"/>
                  </a:lnTo>
                  <a:lnTo>
                    <a:pt x="116" y="67"/>
                  </a:lnTo>
                  <a:lnTo>
                    <a:pt x="115" y="70"/>
                  </a:lnTo>
                  <a:lnTo>
                    <a:pt x="114" y="74"/>
                  </a:lnTo>
                  <a:lnTo>
                    <a:pt x="112" y="78"/>
                  </a:lnTo>
                  <a:lnTo>
                    <a:pt x="112" y="81"/>
                  </a:lnTo>
                  <a:lnTo>
                    <a:pt x="110" y="81"/>
                  </a:lnTo>
                  <a:lnTo>
                    <a:pt x="108" y="85"/>
                  </a:lnTo>
                  <a:lnTo>
                    <a:pt x="106" y="88"/>
                  </a:lnTo>
                  <a:lnTo>
                    <a:pt x="104" y="92"/>
                  </a:lnTo>
                  <a:lnTo>
                    <a:pt x="101" y="95"/>
                  </a:lnTo>
                  <a:lnTo>
                    <a:pt x="98" y="98"/>
                  </a:lnTo>
                  <a:lnTo>
                    <a:pt x="95" y="98"/>
                  </a:lnTo>
                  <a:lnTo>
                    <a:pt x="92" y="102"/>
                  </a:lnTo>
                  <a:lnTo>
                    <a:pt x="89" y="106"/>
                  </a:lnTo>
                  <a:lnTo>
                    <a:pt x="85" y="109"/>
                  </a:lnTo>
                  <a:lnTo>
                    <a:pt x="82" y="113"/>
                  </a:lnTo>
                  <a:lnTo>
                    <a:pt x="78" y="113"/>
                  </a:lnTo>
                  <a:lnTo>
                    <a:pt x="74" y="116"/>
                  </a:lnTo>
                  <a:lnTo>
                    <a:pt x="70" y="120"/>
                  </a:lnTo>
                  <a:lnTo>
                    <a:pt x="66" y="123"/>
                  </a:lnTo>
                  <a:lnTo>
                    <a:pt x="62" y="127"/>
                  </a:lnTo>
                  <a:lnTo>
                    <a:pt x="58" y="127"/>
                  </a:lnTo>
                  <a:lnTo>
                    <a:pt x="54" y="130"/>
                  </a:lnTo>
                  <a:lnTo>
                    <a:pt x="50" y="134"/>
                  </a:lnTo>
                  <a:lnTo>
                    <a:pt x="45" y="137"/>
                  </a:lnTo>
                  <a:lnTo>
                    <a:pt x="42" y="141"/>
                  </a:lnTo>
                  <a:lnTo>
                    <a:pt x="38" y="144"/>
                  </a:lnTo>
                  <a:lnTo>
                    <a:pt x="34" y="144"/>
                  </a:lnTo>
                  <a:lnTo>
                    <a:pt x="31" y="148"/>
                  </a:lnTo>
                  <a:lnTo>
                    <a:pt x="27" y="152"/>
                  </a:lnTo>
                  <a:lnTo>
                    <a:pt x="24" y="155"/>
                  </a:lnTo>
                  <a:lnTo>
                    <a:pt x="21" y="158"/>
                  </a:lnTo>
                  <a:lnTo>
                    <a:pt x="18" y="158"/>
                  </a:lnTo>
                  <a:lnTo>
                    <a:pt x="15" y="162"/>
                  </a:lnTo>
                  <a:lnTo>
                    <a:pt x="12" y="166"/>
                  </a:lnTo>
                  <a:lnTo>
                    <a:pt x="10" y="169"/>
                  </a:lnTo>
                  <a:lnTo>
                    <a:pt x="8" y="172"/>
                  </a:lnTo>
                  <a:lnTo>
                    <a:pt x="6" y="172"/>
                  </a:lnTo>
                  <a:lnTo>
                    <a:pt x="4" y="176"/>
                  </a:lnTo>
                  <a:lnTo>
                    <a:pt x="3" y="180"/>
                  </a:lnTo>
                  <a:lnTo>
                    <a:pt x="2" y="183"/>
                  </a:lnTo>
                  <a:lnTo>
                    <a:pt x="1" y="187"/>
                  </a:lnTo>
                  <a:lnTo>
                    <a:pt x="0" y="187"/>
                  </a:lnTo>
                  <a:lnTo>
                    <a:pt x="0" y="190"/>
                  </a:lnTo>
                  <a:lnTo>
                    <a:pt x="0" y="194"/>
                  </a:lnTo>
                  <a:lnTo>
                    <a:pt x="0" y="197"/>
                  </a:lnTo>
                  <a:lnTo>
                    <a:pt x="1" y="201"/>
                  </a:lnTo>
                  <a:lnTo>
                    <a:pt x="2" y="204"/>
                  </a:lnTo>
                  <a:lnTo>
                    <a:pt x="3" y="204"/>
                  </a:lnTo>
                  <a:lnTo>
                    <a:pt x="4" y="208"/>
                  </a:lnTo>
                  <a:lnTo>
                    <a:pt x="6" y="211"/>
                  </a:lnTo>
                  <a:lnTo>
                    <a:pt x="8" y="215"/>
                  </a:lnTo>
                  <a:lnTo>
                    <a:pt x="10" y="218"/>
                  </a:lnTo>
                  <a:lnTo>
                    <a:pt x="12" y="218"/>
                  </a:lnTo>
                  <a:lnTo>
                    <a:pt x="15" y="222"/>
                  </a:lnTo>
                  <a:lnTo>
                    <a:pt x="18" y="225"/>
                  </a:lnTo>
                  <a:lnTo>
                    <a:pt x="21" y="229"/>
                  </a:lnTo>
                  <a:lnTo>
                    <a:pt x="24" y="232"/>
                  </a:lnTo>
                  <a:lnTo>
                    <a:pt x="27" y="232"/>
                  </a:lnTo>
                  <a:lnTo>
                    <a:pt x="31" y="236"/>
                  </a:lnTo>
                  <a:lnTo>
                    <a:pt x="34" y="239"/>
                  </a:lnTo>
                  <a:lnTo>
                    <a:pt x="38" y="243"/>
                  </a:lnTo>
                  <a:lnTo>
                    <a:pt x="42" y="246"/>
                  </a:lnTo>
                  <a:lnTo>
                    <a:pt x="45" y="246"/>
                  </a:lnTo>
                  <a:lnTo>
                    <a:pt x="50" y="250"/>
                  </a:lnTo>
                  <a:lnTo>
                    <a:pt x="54" y="254"/>
                  </a:lnTo>
                  <a:lnTo>
                    <a:pt x="58" y="257"/>
                  </a:lnTo>
                  <a:lnTo>
                    <a:pt x="62" y="260"/>
                  </a:lnTo>
                  <a:lnTo>
                    <a:pt x="66" y="264"/>
                  </a:lnTo>
                  <a:lnTo>
                    <a:pt x="70" y="264"/>
                  </a:lnTo>
                  <a:lnTo>
                    <a:pt x="74" y="268"/>
                  </a:lnTo>
                  <a:lnTo>
                    <a:pt x="78" y="271"/>
                  </a:lnTo>
                  <a:lnTo>
                    <a:pt x="82" y="275"/>
                  </a:lnTo>
                  <a:lnTo>
                    <a:pt x="85" y="278"/>
                  </a:lnTo>
                  <a:lnTo>
                    <a:pt x="89" y="278"/>
                  </a:lnTo>
                  <a:lnTo>
                    <a:pt x="92" y="282"/>
                  </a:lnTo>
                  <a:lnTo>
                    <a:pt x="95" y="285"/>
                  </a:lnTo>
                  <a:lnTo>
                    <a:pt x="98" y="289"/>
                  </a:lnTo>
                  <a:lnTo>
                    <a:pt x="101" y="292"/>
                  </a:lnTo>
                  <a:lnTo>
                    <a:pt x="104" y="292"/>
                  </a:lnTo>
                  <a:lnTo>
                    <a:pt x="106" y="296"/>
                  </a:lnTo>
                  <a:lnTo>
                    <a:pt x="108" y="299"/>
                  </a:lnTo>
                  <a:lnTo>
                    <a:pt x="110" y="303"/>
                  </a:lnTo>
                  <a:lnTo>
                    <a:pt x="112" y="306"/>
                  </a:lnTo>
                  <a:lnTo>
                    <a:pt x="112" y="310"/>
                  </a:lnTo>
                  <a:lnTo>
                    <a:pt x="114" y="310"/>
                  </a:lnTo>
                  <a:lnTo>
                    <a:pt x="115" y="313"/>
                  </a:lnTo>
                  <a:lnTo>
                    <a:pt x="116" y="316"/>
                  </a:lnTo>
                  <a:lnTo>
                    <a:pt x="116" y="320"/>
                  </a:lnTo>
                  <a:lnTo>
                    <a:pt x="116" y="324"/>
                  </a:lnTo>
                  <a:lnTo>
                    <a:pt x="115" y="327"/>
                  </a:lnTo>
                  <a:lnTo>
                    <a:pt x="114" y="330"/>
                  </a:lnTo>
                  <a:lnTo>
                    <a:pt x="112" y="334"/>
                  </a:lnTo>
                  <a:lnTo>
                    <a:pt x="112" y="338"/>
                  </a:lnTo>
                  <a:lnTo>
                    <a:pt x="110" y="338"/>
                  </a:lnTo>
                  <a:lnTo>
                    <a:pt x="108" y="341"/>
                  </a:lnTo>
                  <a:lnTo>
                    <a:pt x="106" y="345"/>
                  </a:lnTo>
                  <a:lnTo>
                    <a:pt x="104" y="348"/>
                  </a:lnTo>
                  <a:lnTo>
                    <a:pt x="101" y="352"/>
                  </a:lnTo>
                  <a:lnTo>
                    <a:pt x="98" y="352"/>
                  </a:lnTo>
                  <a:lnTo>
                    <a:pt x="95" y="355"/>
                  </a:lnTo>
                  <a:lnTo>
                    <a:pt x="92" y="359"/>
                  </a:lnTo>
                  <a:lnTo>
                    <a:pt x="89" y="362"/>
                  </a:lnTo>
                  <a:lnTo>
                    <a:pt x="85" y="366"/>
                  </a:lnTo>
                  <a:lnTo>
                    <a:pt x="82" y="369"/>
                  </a:lnTo>
                  <a:lnTo>
                    <a:pt x="78" y="369"/>
                  </a:lnTo>
                  <a:lnTo>
                    <a:pt x="74" y="373"/>
                  </a:lnTo>
                  <a:lnTo>
                    <a:pt x="70" y="377"/>
                  </a:lnTo>
                  <a:lnTo>
                    <a:pt x="66" y="380"/>
                  </a:lnTo>
                  <a:lnTo>
                    <a:pt x="62" y="384"/>
                  </a:lnTo>
                  <a:lnTo>
                    <a:pt x="58" y="384"/>
                  </a:lnTo>
                  <a:lnTo>
                    <a:pt x="54" y="387"/>
                  </a:lnTo>
                  <a:lnTo>
                    <a:pt x="50" y="391"/>
                  </a:lnTo>
                  <a:lnTo>
                    <a:pt x="45" y="394"/>
                  </a:lnTo>
                  <a:lnTo>
                    <a:pt x="42" y="398"/>
                  </a:lnTo>
                  <a:lnTo>
                    <a:pt x="38" y="398"/>
                  </a:lnTo>
                  <a:lnTo>
                    <a:pt x="34" y="401"/>
                  </a:lnTo>
                  <a:lnTo>
                    <a:pt x="31" y="405"/>
                  </a:lnTo>
                  <a:lnTo>
                    <a:pt x="27" y="408"/>
                  </a:lnTo>
                  <a:lnTo>
                    <a:pt x="24" y="412"/>
                  </a:lnTo>
                  <a:lnTo>
                    <a:pt x="21" y="412"/>
                  </a:lnTo>
                  <a:lnTo>
                    <a:pt x="18" y="416"/>
                  </a:lnTo>
                  <a:lnTo>
                    <a:pt x="15" y="419"/>
                  </a:lnTo>
                  <a:lnTo>
                    <a:pt x="12" y="422"/>
                  </a:lnTo>
                  <a:lnTo>
                    <a:pt x="10" y="426"/>
                  </a:lnTo>
                  <a:lnTo>
                    <a:pt x="8" y="429"/>
                  </a:lnTo>
                  <a:lnTo>
                    <a:pt x="6" y="429"/>
                  </a:lnTo>
                  <a:lnTo>
                    <a:pt x="4" y="433"/>
                  </a:lnTo>
                  <a:lnTo>
                    <a:pt x="3" y="436"/>
                  </a:lnTo>
                  <a:lnTo>
                    <a:pt x="2" y="440"/>
                  </a:lnTo>
                  <a:lnTo>
                    <a:pt x="1" y="444"/>
                  </a:lnTo>
                  <a:lnTo>
                    <a:pt x="0" y="444"/>
                  </a:lnTo>
                  <a:lnTo>
                    <a:pt x="0" y="447"/>
                  </a:lnTo>
                  <a:lnTo>
                    <a:pt x="0" y="451"/>
                  </a:lnTo>
                  <a:lnTo>
                    <a:pt x="0" y="454"/>
                  </a:lnTo>
                  <a:lnTo>
                    <a:pt x="1" y="458"/>
                  </a:lnTo>
                  <a:lnTo>
                    <a:pt x="2" y="458"/>
                  </a:lnTo>
                  <a:lnTo>
                    <a:pt x="3" y="461"/>
                  </a:lnTo>
                  <a:lnTo>
                    <a:pt x="4" y="464"/>
                  </a:lnTo>
                  <a:lnTo>
                    <a:pt x="6" y="468"/>
                  </a:lnTo>
                  <a:lnTo>
                    <a:pt x="8" y="472"/>
                  </a:lnTo>
                  <a:lnTo>
                    <a:pt x="10" y="472"/>
                  </a:lnTo>
                  <a:lnTo>
                    <a:pt x="12" y="475"/>
                  </a:lnTo>
                  <a:lnTo>
                    <a:pt x="15" y="479"/>
                  </a:lnTo>
                  <a:lnTo>
                    <a:pt x="18" y="482"/>
                  </a:lnTo>
                  <a:lnTo>
                    <a:pt x="21" y="486"/>
                  </a:lnTo>
                  <a:lnTo>
                    <a:pt x="24" y="489"/>
                  </a:lnTo>
                  <a:lnTo>
                    <a:pt x="27" y="489"/>
                  </a:lnTo>
                  <a:lnTo>
                    <a:pt x="31" y="493"/>
                  </a:lnTo>
                  <a:lnTo>
                    <a:pt x="34" y="496"/>
                  </a:lnTo>
                  <a:lnTo>
                    <a:pt x="38" y="500"/>
                  </a:lnTo>
                  <a:lnTo>
                    <a:pt x="42" y="503"/>
                  </a:lnTo>
                  <a:lnTo>
                    <a:pt x="45" y="503"/>
                  </a:lnTo>
                  <a:lnTo>
                    <a:pt x="50" y="506"/>
                  </a:lnTo>
                  <a:lnTo>
                    <a:pt x="54" y="510"/>
                  </a:lnTo>
                  <a:lnTo>
                    <a:pt x="58" y="514"/>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nvGrpSpPr>
            <p:cNvPr id="25606" name="Group 6"/>
            <p:cNvGrpSpPr>
              <a:grpSpLocks/>
            </p:cNvGrpSpPr>
            <p:nvPr/>
          </p:nvGrpSpPr>
          <p:grpSpPr bwMode="auto">
            <a:xfrm>
              <a:off x="1825" y="1249"/>
              <a:ext cx="2131" cy="1382"/>
              <a:chOff x="1825" y="1249"/>
              <a:chExt cx="2131" cy="1382"/>
            </a:xfrm>
          </p:grpSpPr>
          <p:grpSp>
            <p:nvGrpSpPr>
              <p:cNvPr id="25607" name="Group 7"/>
              <p:cNvGrpSpPr>
                <a:grpSpLocks/>
              </p:cNvGrpSpPr>
              <p:nvPr/>
            </p:nvGrpSpPr>
            <p:grpSpPr bwMode="auto">
              <a:xfrm>
                <a:off x="1825" y="1249"/>
                <a:ext cx="1670" cy="1336"/>
                <a:chOff x="1825" y="1249"/>
                <a:chExt cx="1670" cy="1336"/>
              </a:xfrm>
            </p:grpSpPr>
            <p:sp>
              <p:nvSpPr>
                <p:cNvPr id="25620" name="Line 8"/>
                <p:cNvSpPr>
                  <a:spLocks noChangeShapeType="1"/>
                </p:cNvSpPr>
                <p:nvPr/>
              </p:nvSpPr>
              <p:spPr bwMode="auto">
                <a:xfrm flipV="1">
                  <a:off x="2630" y="1249"/>
                  <a:ext cx="0" cy="645"/>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21" name="Line 9"/>
                <p:cNvSpPr>
                  <a:spLocks noChangeShapeType="1"/>
                </p:cNvSpPr>
                <p:nvPr/>
              </p:nvSpPr>
              <p:spPr bwMode="auto">
                <a:xfrm>
                  <a:off x="2631" y="1893"/>
                  <a:ext cx="806" cy="1"/>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22" name="Line 10"/>
                <p:cNvSpPr>
                  <a:spLocks noChangeShapeType="1"/>
                </p:cNvSpPr>
                <p:nvPr/>
              </p:nvSpPr>
              <p:spPr bwMode="auto">
                <a:xfrm>
                  <a:off x="1825" y="1893"/>
                  <a:ext cx="806"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23" name="Line 11"/>
                <p:cNvSpPr>
                  <a:spLocks noChangeShapeType="1"/>
                </p:cNvSpPr>
                <p:nvPr/>
              </p:nvSpPr>
              <p:spPr bwMode="auto">
                <a:xfrm flipV="1">
                  <a:off x="2630" y="1894"/>
                  <a:ext cx="0" cy="64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24" name="Arc 12"/>
                <p:cNvSpPr>
                  <a:spLocks/>
                </p:cNvSpPr>
                <p:nvPr/>
              </p:nvSpPr>
              <p:spPr bwMode="auto">
                <a:xfrm>
                  <a:off x="2630" y="1432"/>
                  <a:ext cx="519" cy="462"/>
                </a:xfrm>
                <a:custGeom>
                  <a:avLst/>
                  <a:gdLst>
                    <a:gd name="T0" fmla="*/ 519 w 21600"/>
                    <a:gd name="T1" fmla="*/ 0 h 21600"/>
                    <a:gd name="T2" fmla="*/ 0 w 21600"/>
                    <a:gd name="T3" fmla="*/ 462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nvGrpSpPr>
                <p:cNvPr id="25625" name="Group 13"/>
                <p:cNvGrpSpPr>
                  <a:grpSpLocks/>
                </p:cNvGrpSpPr>
                <p:nvPr/>
              </p:nvGrpSpPr>
              <p:grpSpPr bwMode="auto">
                <a:xfrm>
                  <a:off x="2977" y="1799"/>
                  <a:ext cx="115" cy="92"/>
                  <a:chOff x="2977" y="1799"/>
                  <a:chExt cx="115" cy="92"/>
                </a:xfrm>
              </p:grpSpPr>
              <p:sp>
                <p:nvSpPr>
                  <p:cNvPr id="25631" name="Arc 14"/>
                  <p:cNvSpPr>
                    <a:spLocks/>
                  </p:cNvSpPr>
                  <p:nvPr/>
                </p:nvSpPr>
                <p:spPr bwMode="auto">
                  <a:xfrm>
                    <a:off x="2977" y="1799"/>
                    <a:ext cx="58" cy="92"/>
                  </a:xfrm>
                  <a:custGeom>
                    <a:avLst/>
                    <a:gdLst>
                      <a:gd name="T0" fmla="*/ 0 w 21600"/>
                      <a:gd name="T1" fmla="*/ 92 h 21597"/>
                      <a:gd name="T2" fmla="*/ 57 w 21600"/>
                      <a:gd name="T3" fmla="*/ 0 h 21597"/>
                      <a:gd name="T4" fmla="*/ 58 w 21600"/>
                      <a:gd name="T5" fmla="*/ 92 h 21597"/>
                      <a:gd name="T6" fmla="*/ 0 60000 65536"/>
                      <a:gd name="T7" fmla="*/ 0 60000 65536"/>
                      <a:gd name="T8" fmla="*/ 0 60000 65536"/>
                      <a:gd name="T9" fmla="*/ 0 w 21600"/>
                      <a:gd name="T10" fmla="*/ 0 h 21597"/>
                      <a:gd name="T11" fmla="*/ 21600 w 21600"/>
                      <a:gd name="T12" fmla="*/ 21597 h 21597"/>
                    </a:gdLst>
                    <a:ahLst/>
                    <a:cxnLst>
                      <a:cxn ang="T6">
                        <a:pos x="T0" y="T1"/>
                      </a:cxn>
                      <a:cxn ang="T7">
                        <a:pos x="T2" y="T3"/>
                      </a:cxn>
                      <a:cxn ang="T8">
                        <a:pos x="T4" y="T5"/>
                      </a:cxn>
                    </a:cxnLst>
                    <a:rect l="T9" t="T10" r="T11" b="T12"/>
                    <a:pathLst>
                      <a:path w="21600" h="21597" fill="none" extrusionOk="0">
                        <a:moveTo>
                          <a:pt x="0" y="21597"/>
                        </a:moveTo>
                        <a:cubicBezTo>
                          <a:pt x="0" y="9812"/>
                          <a:pt x="9445" y="203"/>
                          <a:pt x="21228" y="0"/>
                        </a:cubicBezTo>
                      </a:path>
                      <a:path w="21600" h="21597" stroke="0" extrusionOk="0">
                        <a:moveTo>
                          <a:pt x="0" y="21597"/>
                        </a:moveTo>
                        <a:cubicBezTo>
                          <a:pt x="0" y="9812"/>
                          <a:pt x="9445" y="203"/>
                          <a:pt x="21228" y="0"/>
                        </a:cubicBezTo>
                        <a:lnTo>
                          <a:pt x="21600" y="21597"/>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5632" name="Arc 15"/>
                  <p:cNvSpPr>
                    <a:spLocks/>
                  </p:cNvSpPr>
                  <p:nvPr/>
                </p:nvSpPr>
                <p:spPr bwMode="auto">
                  <a:xfrm>
                    <a:off x="3034" y="1799"/>
                    <a:ext cx="58" cy="92"/>
                  </a:xfrm>
                  <a:custGeom>
                    <a:avLst/>
                    <a:gdLst>
                      <a:gd name="T0" fmla="*/ 0 w 21600"/>
                      <a:gd name="T1" fmla="*/ 0 h 21600"/>
                      <a:gd name="T2" fmla="*/ 58 w 21600"/>
                      <a:gd name="T3" fmla="*/ 92 h 21600"/>
                      <a:gd name="T4" fmla="*/ 0 w 21600"/>
                      <a:gd name="T5" fmla="*/ 9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sp>
              <p:nvSpPr>
                <p:cNvPr id="25626" name="Line 16"/>
                <p:cNvSpPr>
                  <a:spLocks noChangeShapeType="1"/>
                </p:cNvSpPr>
                <p:nvPr/>
              </p:nvSpPr>
              <p:spPr bwMode="auto">
                <a:xfrm>
                  <a:off x="2861" y="1848"/>
                  <a:ext cx="0" cy="737"/>
                </a:xfrm>
                <a:prstGeom prst="line">
                  <a:avLst/>
                </a:prstGeom>
                <a:noFill/>
                <a:ln w="12700">
                  <a:solidFill>
                    <a:srgbClr val="000000"/>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27" name="Line 17"/>
                <p:cNvSpPr>
                  <a:spLocks noChangeShapeType="1"/>
                </p:cNvSpPr>
                <p:nvPr/>
              </p:nvSpPr>
              <p:spPr bwMode="auto">
                <a:xfrm flipH="1">
                  <a:off x="2862" y="1844"/>
                  <a:ext cx="633" cy="0"/>
                </a:xfrm>
                <a:prstGeom prst="line">
                  <a:avLst/>
                </a:prstGeom>
                <a:noFill/>
                <a:ln w="12700">
                  <a:solidFill>
                    <a:srgbClr val="000000"/>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5628" name="Group 18"/>
                <p:cNvGrpSpPr>
                  <a:grpSpLocks/>
                </p:cNvGrpSpPr>
                <p:nvPr/>
              </p:nvGrpSpPr>
              <p:grpSpPr bwMode="auto">
                <a:xfrm>
                  <a:off x="3208" y="1799"/>
                  <a:ext cx="114" cy="92"/>
                  <a:chOff x="3208" y="1799"/>
                  <a:chExt cx="114" cy="92"/>
                </a:xfrm>
              </p:grpSpPr>
              <p:sp>
                <p:nvSpPr>
                  <p:cNvPr id="25629" name="Arc 19"/>
                  <p:cNvSpPr>
                    <a:spLocks/>
                  </p:cNvSpPr>
                  <p:nvPr/>
                </p:nvSpPr>
                <p:spPr bwMode="auto">
                  <a:xfrm>
                    <a:off x="3208" y="1799"/>
                    <a:ext cx="58" cy="92"/>
                  </a:xfrm>
                  <a:custGeom>
                    <a:avLst/>
                    <a:gdLst>
                      <a:gd name="T0" fmla="*/ 0 w 21600"/>
                      <a:gd name="T1" fmla="*/ 92 h 21597"/>
                      <a:gd name="T2" fmla="*/ 57 w 21600"/>
                      <a:gd name="T3" fmla="*/ 0 h 21597"/>
                      <a:gd name="T4" fmla="*/ 58 w 21600"/>
                      <a:gd name="T5" fmla="*/ 92 h 21597"/>
                      <a:gd name="T6" fmla="*/ 0 60000 65536"/>
                      <a:gd name="T7" fmla="*/ 0 60000 65536"/>
                      <a:gd name="T8" fmla="*/ 0 60000 65536"/>
                      <a:gd name="T9" fmla="*/ 0 w 21600"/>
                      <a:gd name="T10" fmla="*/ 0 h 21597"/>
                      <a:gd name="T11" fmla="*/ 21600 w 21600"/>
                      <a:gd name="T12" fmla="*/ 21597 h 21597"/>
                    </a:gdLst>
                    <a:ahLst/>
                    <a:cxnLst>
                      <a:cxn ang="T6">
                        <a:pos x="T0" y="T1"/>
                      </a:cxn>
                      <a:cxn ang="T7">
                        <a:pos x="T2" y="T3"/>
                      </a:cxn>
                      <a:cxn ang="T8">
                        <a:pos x="T4" y="T5"/>
                      </a:cxn>
                    </a:cxnLst>
                    <a:rect l="T9" t="T10" r="T11" b="T12"/>
                    <a:pathLst>
                      <a:path w="21600" h="21597" fill="none" extrusionOk="0">
                        <a:moveTo>
                          <a:pt x="0" y="21597"/>
                        </a:moveTo>
                        <a:cubicBezTo>
                          <a:pt x="0" y="9812"/>
                          <a:pt x="9445" y="203"/>
                          <a:pt x="21228" y="0"/>
                        </a:cubicBezTo>
                      </a:path>
                      <a:path w="21600" h="21597" stroke="0" extrusionOk="0">
                        <a:moveTo>
                          <a:pt x="0" y="21597"/>
                        </a:moveTo>
                        <a:cubicBezTo>
                          <a:pt x="0" y="9812"/>
                          <a:pt x="9445" y="203"/>
                          <a:pt x="21228" y="0"/>
                        </a:cubicBezTo>
                        <a:lnTo>
                          <a:pt x="21600" y="21597"/>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5630" name="Arc 20"/>
                  <p:cNvSpPr>
                    <a:spLocks/>
                  </p:cNvSpPr>
                  <p:nvPr/>
                </p:nvSpPr>
                <p:spPr bwMode="auto">
                  <a:xfrm>
                    <a:off x="3264" y="1799"/>
                    <a:ext cx="58" cy="92"/>
                  </a:xfrm>
                  <a:custGeom>
                    <a:avLst/>
                    <a:gdLst>
                      <a:gd name="T0" fmla="*/ 0 w 21600"/>
                      <a:gd name="T1" fmla="*/ 0 h 21600"/>
                      <a:gd name="T2" fmla="*/ 58 w 21600"/>
                      <a:gd name="T3" fmla="*/ 92 h 21600"/>
                      <a:gd name="T4" fmla="*/ 0 w 21600"/>
                      <a:gd name="T5" fmla="*/ 9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sp>
            <p:nvSpPr>
              <p:cNvPr id="25608" name="Rectangle 21"/>
              <p:cNvSpPr>
                <a:spLocks noChangeArrowheads="1"/>
              </p:cNvSpPr>
              <p:nvPr/>
            </p:nvSpPr>
            <p:spPr bwMode="auto">
              <a:xfrm>
                <a:off x="3149" y="2447"/>
                <a:ext cx="34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DC Bias Voltage</a:t>
                </a:r>
              </a:p>
            </p:txBody>
          </p:sp>
          <p:sp>
            <p:nvSpPr>
              <p:cNvPr id="25609" name="Rectangle 22"/>
              <p:cNvSpPr>
                <a:spLocks noChangeArrowheads="1"/>
              </p:cNvSpPr>
              <p:nvPr/>
            </p:nvSpPr>
            <p:spPr bwMode="auto">
              <a:xfrm>
                <a:off x="3149" y="2078"/>
                <a:ext cx="40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RF Signal </a:t>
                </a:r>
              </a:p>
              <a:p>
                <a:r>
                  <a:rPr lang="en-US" altLang="en-US" sz="1000">
                    <a:latin typeface="Times New Roman" panose="02020603050405020304" pitchFamily="18" charset="0"/>
                  </a:rPr>
                  <a:t>Voltage</a:t>
                </a:r>
              </a:p>
            </p:txBody>
          </p:sp>
          <p:sp>
            <p:nvSpPr>
              <p:cNvPr id="25610" name="Rectangle 23"/>
              <p:cNvSpPr>
                <a:spLocks noChangeArrowheads="1"/>
              </p:cNvSpPr>
              <p:nvPr/>
            </p:nvSpPr>
            <p:spPr bwMode="auto">
              <a:xfrm>
                <a:off x="3322" y="1570"/>
                <a:ext cx="634"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Detected Current</a:t>
                </a:r>
              </a:p>
            </p:txBody>
          </p:sp>
          <p:sp>
            <p:nvSpPr>
              <p:cNvPr id="25611" name="Rectangle 24"/>
              <p:cNvSpPr>
                <a:spLocks noChangeArrowheads="1"/>
              </p:cNvSpPr>
              <p:nvPr/>
            </p:nvSpPr>
            <p:spPr bwMode="auto">
              <a:xfrm>
                <a:off x="2515" y="1294"/>
                <a:ext cx="116"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I</a:t>
                </a:r>
              </a:p>
            </p:txBody>
          </p:sp>
          <p:sp>
            <p:nvSpPr>
              <p:cNvPr id="25612" name="Rectangle 25"/>
              <p:cNvSpPr>
                <a:spLocks noChangeArrowheads="1"/>
              </p:cNvSpPr>
              <p:nvPr/>
            </p:nvSpPr>
            <p:spPr bwMode="auto">
              <a:xfrm>
                <a:off x="3379" y="1940"/>
                <a:ext cx="116"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V</a:t>
                </a:r>
              </a:p>
            </p:txBody>
          </p:sp>
          <p:sp>
            <p:nvSpPr>
              <p:cNvPr id="25613" name="Line 26"/>
              <p:cNvSpPr>
                <a:spLocks noChangeShapeType="1"/>
              </p:cNvSpPr>
              <p:nvPr/>
            </p:nvSpPr>
            <p:spPr bwMode="auto">
              <a:xfrm flipH="1">
                <a:off x="3035" y="2493"/>
                <a:ext cx="11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14" name="Line 27"/>
              <p:cNvSpPr>
                <a:spLocks noChangeShapeType="1"/>
              </p:cNvSpPr>
              <p:nvPr/>
            </p:nvSpPr>
            <p:spPr bwMode="auto">
              <a:xfrm flipH="1">
                <a:off x="3035" y="2124"/>
                <a:ext cx="11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15" name="Line 28"/>
              <p:cNvSpPr>
                <a:spLocks noChangeShapeType="1"/>
              </p:cNvSpPr>
              <p:nvPr/>
            </p:nvSpPr>
            <p:spPr bwMode="auto">
              <a:xfrm flipH="1">
                <a:off x="3208" y="1617"/>
                <a:ext cx="11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16" name="Line 29"/>
              <p:cNvSpPr>
                <a:spLocks noChangeShapeType="1"/>
              </p:cNvSpPr>
              <p:nvPr/>
            </p:nvSpPr>
            <p:spPr bwMode="auto">
              <a:xfrm flipH="1" flipV="1">
                <a:off x="2861" y="2448"/>
                <a:ext cx="172" cy="45"/>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7" name="Line 30"/>
              <p:cNvSpPr>
                <a:spLocks noChangeShapeType="1"/>
              </p:cNvSpPr>
              <p:nvPr/>
            </p:nvSpPr>
            <p:spPr bwMode="auto">
              <a:xfrm flipH="1" flipV="1">
                <a:off x="2919" y="2033"/>
                <a:ext cx="114" cy="91"/>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8" name="Line 31"/>
              <p:cNvSpPr>
                <a:spLocks noChangeShapeType="1"/>
              </p:cNvSpPr>
              <p:nvPr/>
            </p:nvSpPr>
            <p:spPr bwMode="auto">
              <a:xfrm flipH="1">
                <a:off x="3035" y="1618"/>
                <a:ext cx="172" cy="183"/>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9" name="Line 32"/>
              <p:cNvSpPr>
                <a:spLocks noChangeShapeType="1"/>
              </p:cNvSpPr>
              <p:nvPr/>
            </p:nvSpPr>
            <p:spPr bwMode="auto">
              <a:xfrm>
                <a:off x="3208" y="1618"/>
                <a:ext cx="57" cy="183"/>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grpSp>
    </p:spTree>
    <p:extLst>
      <p:ext uri="{BB962C8B-B14F-4D97-AF65-F5344CB8AC3E}">
        <p14:creationId xmlns:p14="http://schemas.microsoft.com/office/powerpoint/2010/main" val="12963832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noFill/>
        </p:spPr>
        <p:txBody>
          <a:bodyPr lIns="92075" tIns="46038" rIns="92075" bIns="46038" anchor="ctr"/>
          <a:lstStyle/>
          <a:p>
            <a:r>
              <a:rPr lang="en-US" altLang="en-US" dirty="0" smtClean="0"/>
              <a:t>Typical Detector Transfer Function</a:t>
            </a:r>
          </a:p>
        </p:txBody>
      </p:sp>
      <p:grpSp>
        <p:nvGrpSpPr>
          <p:cNvPr id="26627" name="Group 3"/>
          <p:cNvGrpSpPr>
            <a:grpSpLocks/>
          </p:cNvGrpSpPr>
          <p:nvPr/>
        </p:nvGrpSpPr>
        <p:grpSpPr bwMode="auto">
          <a:xfrm>
            <a:off x="4724400" y="2438400"/>
            <a:ext cx="3581400" cy="2895600"/>
            <a:chOff x="2976" y="1536"/>
            <a:chExt cx="2256" cy="1824"/>
          </a:xfrm>
        </p:grpSpPr>
        <p:grpSp>
          <p:nvGrpSpPr>
            <p:cNvPr id="26631" name="Group 4"/>
            <p:cNvGrpSpPr>
              <a:grpSpLocks/>
            </p:cNvGrpSpPr>
            <p:nvPr/>
          </p:nvGrpSpPr>
          <p:grpSpPr bwMode="auto">
            <a:xfrm>
              <a:off x="3286" y="1536"/>
              <a:ext cx="1946" cy="1557"/>
              <a:chOff x="3286" y="1536"/>
              <a:chExt cx="1946" cy="1557"/>
            </a:xfrm>
          </p:grpSpPr>
          <p:grpSp>
            <p:nvGrpSpPr>
              <p:cNvPr id="26655" name="Group 5"/>
              <p:cNvGrpSpPr>
                <a:grpSpLocks/>
              </p:cNvGrpSpPr>
              <p:nvPr/>
            </p:nvGrpSpPr>
            <p:grpSpPr bwMode="auto">
              <a:xfrm>
                <a:off x="3286" y="1536"/>
                <a:ext cx="45" cy="1557"/>
                <a:chOff x="3286" y="1536"/>
                <a:chExt cx="45" cy="1557"/>
              </a:xfrm>
            </p:grpSpPr>
            <p:grpSp>
              <p:nvGrpSpPr>
                <p:cNvPr id="26708" name="Group 6"/>
                <p:cNvGrpSpPr>
                  <a:grpSpLocks/>
                </p:cNvGrpSpPr>
                <p:nvPr/>
              </p:nvGrpSpPr>
              <p:grpSpPr bwMode="auto">
                <a:xfrm>
                  <a:off x="3286" y="1536"/>
                  <a:ext cx="45" cy="223"/>
                  <a:chOff x="3286" y="1536"/>
                  <a:chExt cx="45" cy="223"/>
                </a:xfrm>
              </p:grpSpPr>
              <p:sp>
                <p:nvSpPr>
                  <p:cNvPr id="26733" name="Line 7"/>
                  <p:cNvSpPr>
                    <a:spLocks noChangeShapeType="1"/>
                  </p:cNvSpPr>
                  <p:nvPr/>
                </p:nvSpPr>
                <p:spPr bwMode="auto">
                  <a:xfrm>
                    <a:off x="3286" y="1537"/>
                    <a:ext cx="0" cy="2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734" name="Line 8"/>
                  <p:cNvSpPr>
                    <a:spLocks noChangeShapeType="1"/>
                  </p:cNvSpPr>
                  <p:nvPr/>
                </p:nvSpPr>
                <p:spPr bwMode="auto">
                  <a:xfrm>
                    <a:off x="3287" y="1759"/>
                    <a:ext cx="4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735" name="Line 9"/>
                  <p:cNvSpPr>
                    <a:spLocks noChangeShapeType="1"/>
                  </p:cNvSpPr>
                  <p:nvPr/>
                </p:nvSpPr>
                <p:spPr bwMode="auto">
                  <a:xfrm>
                    <a:off x="3287" y="1536"/>
                    <a:ext cx="4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6709" name="Group 10"/>
                <p:cNvGrpSpPr>
                  <a:grpSpLocks/>
                </p:cNvGrpSpPr>
                <p:nvPr/>
              </p:nvGrpSpPr>
              <p:grpSpPr bwMode="auto">
                <a:xfrm>
                  <a:off x="3286" y="1758"/>
                  <a:ext cx="45" cy="223"/>
                  <a:chOff x="3286" y="1758"/>
                  <a:chExt cx="45" cy="223"/>
                </a:xfrm>
              </p:grpSpPr>
              <p:sp>
                <p:nvSpPr>
                  <p:cNvPr id="26730" name="Line 11"/>
                  <p:cNvSpPr>
                    <a:spLocks noChangeShapeType="1"/>
                  </p:cNvSpPr>
                  <p:nvPr/>
                </p:nvSpPr>
                <p:spPr bwMode="auto">
                  <a:xfrm>
                    <a:off x="3286" y="1759"/>
                    <a:ext cx="0" cy="2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731" name="Line 12"/>
                  <p:cNvSpPr>
                    <a:spLocks noChangeShapeType="1"/>
                  </p:cNvSpPr>
                  <p:nvPr/>
                </p:nvSpPr>
                <p:spPr bwMode="auto">
                  <a:xfrm>
                    <a:off x="3287" y="1981"/>
                    <a:ext cx="4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732" name="Line 13"/>
                  <p:cNvSpPr>
                    <a:spLocks noChangeShapeType="1"/>
                  </p:cNvSpPr>
                  <p:nvPr/>
                </p:nvSpPr>
                <p:spPr bwMode="auto">
                  <a:xfrm>
                    <a:off x="3287" y="1758"/>
                    <a:ext cx="4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6710" name="Group 14"/>
                <p:cNvGrpSpPr>
                  <a:grpSpLocks/>
                </p:cNvGrpSpPr>
                <p:nvPr/>
              </p:nvGrpSpPr>
              <p:grpSpPr bwMode="auto">
                <a:xfrm>
                  <a:off x="3286" y="2648"/>
                  <a:ext cx="45" cy="223"/>
                  <a:chOff x="3286" y="2648"/>
                  <a:chExt cx="45" cy="223"/>
                </a:xfrm>
              </p:grpSpPr>
              <p:sp>
                <p:nvSpPr>
                  <p:cNvPr id="26727" name="Line 15"/>
                  <p:cNvSpPr>
                    <a:spLocks noChangeShapeType="1"/>
                  </p:cNvSpPr>
                  <p:nvPr/>
                </p:nvSpPr>
                <p:spPr bwMode="auto">
                  <a:xfrm>
                    <a:off x="3286" y="2649"/>
                    <a:ext cx="0" cy="2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728" name="Line 16"/>
                  <p:cNvSpPr>
                    <a:spLocks noChangeShapeType="1"/>
                  </p:cNvSpPr>
                  <p:nvPr/>
                </p:nvSpPr>
                <p:spPr bwMode="auto">
                  <a:xfrm>
                    <a:off x="3287" y="2871"/>
                    <a:ext cx="4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729" name="Line 17"/>
                  <p:cNvSpPr>
                    <a:spLocks noChangeShapeType="1"/>
                  </p:cNvSpPr>
                  <p:nvPr/>
                </p:nvSpPr>
                <p:spPr bwMode="auto">
                  <a:xfrm>
                    <a:off x="3287" y="2648"/>
                    <a:ext cx="4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6711" name="Group 18"/>
                <p:cNvGrpSpPr>
                  <a:grpSpLocks/>
                </p:cNvGrpSpPr>
                <p:nvPr/>
              </p:nvGrpSpPr>
              <p:grpSpPr bwMode="auto">
                <a:xfrm>
                  <a:off x="3286" y="2870"/>
                  <a:ext cx="45" cy="223"/>
                  <a:chOff x="3286" y="2870"/>
                  <a:chExt cx="45" cy="223"/>
                </a:xfrm>
              </p:grpSpPr>
              <p:sp>
                <p:nvSpPr>
                  <p:cNvPr id="26724" name="Line 19"/>
                  <p:cNvSpPr>
                    <a:spLocks noChangeShapeType="1"/>
                  </p:cNvSpPr>
                  <p:nvPr/>
                </p:nvSpPr>
                <p:spPr bwMode="auto">
                  <a:xfrm>
                    <a:off x="3286" y="2871"/>
                    <a:ext cx="0" cy="2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725" name="Line 20"/>
                  <p:cNvSpPr>
                    <a:spLocks noChangeShapeType="1"/>
                  </p:cNvSpPr>
                  <p:nvPr/>
                </p:nvSpPr>
                <p:spPr bwMode="auto">
                  <a:xfrm>
                    <a:off x="3287" y="3093"/>
                    <a:ext cx="4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726" name="Line 21"/>
                  <p:cNvSpPr>
                    <a:spLocks noChangeShapeType="1"/>
                  </p:cNvSpPr>
                  <p:nvPr/>
                </p:nvSpPr>
                <p:spPr bwMode="auto">
                  <a:xfrm>
                    <a:off x="3287" y="2870"/>
                    <a:ext cx="4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6712" name="Group 22"/>
                <p:cNvGrpSpPr>
                  <a:grpSpLocks/>
                </p:cNvGrpSpPr>
                <p:nvPr/>
              </p:nvGrpSpPr>
              <p:grpSpPr bwMode="auto">
                <a:xfrm>
                  <a:off x="3286" y="2203"/>
                  <a:ext cx="45" cy="223"/>
                  <a:chOff x="3286" y="2203"/>
                  <a:chExt cx="45" cy="223"/>
                </a:xfrm>
              </p:grpSpPr>
              <p:sp>
                <p:nvSpPr>
                  <p:cNvPr id="26721" name="Line 23"/>
                  <p:cNvSpPr>
                    <a:spLocks noChangeShapeType="1"/>
                  </p:cNvSpPr>
                  <p:nvPr/>
                </p:nvSpPr>
                <p:spPr bwMode="auto">
                  <a:xfrm>
                    <a:off x="3286" y="2204"/>
                    <a:ext cx="0" cy="2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722" name="Line 24"/>
                  <p:cNvSpPr>
                    <a:spLocks noChangeShapeType="1"/>
                  </p:cNvSpPr>
                  <p:nvPr/>
                </p:nvSpPr>
                <p:spPr bwMode="auto">
                  <a:xfrm>
                    <a:off x="3287" y="2426"/>
                    <a:ext cx="4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723" name="Line 25"/>
                  <p:cNvSpPr>
                    <a:spLocks noChangeShapeType="1"/>
                  </p:cNvSpPr>
                  <p:nvPr/>
                </p:nvSpPr>
                <p:spPr bwMode="auto">
                  <a:xfrm>
                    <a:off x="3287" y="2203"/>
                    <a:ext cx="4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6713" name="Group 26"/>
                <p:cNvGrpSpPr>
                  <a:grpSpLocks/>
                </p:cNvGrpSpPr>
                <p:nvPr/>
              </p:nvGrpSpPr>
              <p:grpSpPr bwMode="auto">
                <a:xfrm>
                  <a:off x="3286" y="2426"/>
                  <a:ext cx="45" cy="222"/>
                  <a:chOff x="3286" y="2426"/>
                  <a:chExt cx="45" cy="222"/>
                </a:xfrm>
              </p:grpSpPr>
              <p:sp>
                <p:nvSpPr>
                  <p:cNvPr id="26718" name="Line 27"/>
                  <p:cNvSpPr>
                    <a:spLocks noChangeShapeType="1"/>
                  </p:cNvSpPr>
                  <p:nvPr/>
                </p:nvSpPr>
                <p:spPr bwMode="auto">
                  <a:xfrm>
                    <a:off x="3286" y="2427"/>
                    <a:ext cx="0" cy="22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719" name="Line 28"/>
                  <p:cNvSpPr>
                    <a:spLocks noChangeShapeType="1"/>
                  </p:cNvSpPr>
                  <p:nvPr/>
                </p:nvSpPr>
                <p:spPr bwMode="auto">
                  <a:xfrm>
                    <a:off x="3287" y="2648"/>
                    <a:ext cx="4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720" name="Line 29"/>
                  <p:cNvSpPr>
                    <a:spLocks noChangeShapeType="1"/>
                  </p:cNvSpPr>
                  <p:nvPr/>
                </p:nvSpPr>
                <p:spPr bwMode="auto">
                  <a:xfrm>
                    <a:off x="3287" y="2426"/>
                    <a:ext cx="4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6714" name="Group 30"/>
                <p:cNvGrpSpPr>
                  <a:grpSpLocks/>
                </p:cNvGrpSpPr>
                <p:nvPr/>
              </p:nvGrpSpPr>
              <p:grpSpPr bwMode="auto">
                <a:xfrm>
                  <a:off x="3286" y="1981"/>
                  <a:ext cx="45" cy="223"/>
                  <a:chOff x="3286" y="1981"/>
                  <a:chExt cx="45" cy="223"/>
                </a:xfrm>
              </p:grpSpPr>
              <p:sp>
                <p:nvSpPr>
                  <p:cNvPr id="26715" name="Line 31"/>
                  <p:cNvSpPr>
                    <a:spLocks noChangeShapeType="1"/>
                  </p:cNvSpPr>
                  <p:nvPr/>
                </p:nvSpPr>
                <p:spPr bwMode="auto">
                  <a:xfrm>
                    <a:off x="3286" y="1982"/>
                    <a:ext cx="0" cy="2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716" name="Line 32"/>
                  <p:cNvSpPr>
                    <a:spLocks noChangeShapeType="1"/>
                  </p:cNvSpPr>
                  <p:nvPr/>
                </p:nvSpPr>
                <p:spPr bwMode="auto">
                  <a:xfrm>
                    <a:off x="3287" y="2204"/>
                    <a:ext cx="4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717" name="Line 33"/>
                  <p:cNvSpPr>
                    <a:spLocks noChangeShapeType="1"/>
                  </p:cNvSpPr>
                  <p:nvPr/>
                </p:nvSpPr>
                <p:spPr bwMode="auto">
                  <a:xfrm>
                    <a:off x="3287" y="1981"/>
                    <a:ext cx="4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6656" name="Line 34"/>
              <p:cNvSpPr>
                <a:spLocks noChangeShapeType="1"/>
              </p:cNvSpPr>
              <p:nvPr/>
            </p:nvSpPr>
            <p:spPr bwMode="auto">
              <a:xfrm flipV="1">
                <a:off x="5232" y="1536"/>
                <a:ext cx="0" cy="155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6657" name="Group 35"/>
              <p:cNvGrpSpPr>
                <a:grpSpLocks/>
              </p:cNvGrpSpPr>
              <p:nvPr/>
            </p:nvGrpSpPr>
            <p:grpSpPr bwMode="auto">
              <a:xfrm>
                <a:off x="3286" y="3049"/>
                <a:ext cx="1946" cy="44"/>
                <a:chOff x="3286" y="3049"/>
                <a:chExt cx="1946" cy="44"/>
              </a:xfrm>
            </p:grpSpPr>
            <p:grpSp>
              <p:nvGrpSpPr>
                <p:cNvPr id="26659" name="Group 36"/>
                <p:cNvGrpSpPr>
                  <a:grpSpLocks/>
                </p:cNvGrpSpPr>
                <p:nvPr/>
              </p:nvGrpSpPr>
              <p:grpSpPr bwMode="auto">
                <a:xfrm>
                  <a:off x="3286" y="3049"/>
                  <a:ext cx="708" cy="44"/>
                  <a:chOff x="3286" y="3049"/>
                  <a:chExt cx="708" cy="44"/>
                </a:xfrm>
              </p:grpSpPr>
              <p:grpSp>
                <p:nvGrpSpPr>
                  <p:cNvPr id="26690" name="Group 37"/>
                  <p:cNvGrpSpPr>
                    <a:grpSpLocks/>
                  </p:cNvGrpSpPr>
                  <p:nvPr/>
                </p:nvGrpSpPr>
                <p:grpSpPr bwMode="auto">
                  <a:xfrm>
                    <a:off x="3286" y="3049"/>
                    <a:ext cx="354" cy="44"/>
                    <a:chOff x="3286" y="3049"/>
                    <a:chExt cx="354" cy="44"/>
                  </a:xfrm>
                </p:grpSpPr>
                <p:grpSp>
                  <p:nvGrpSpPr>
                    <p:cNvPr id="26700" name="Group 38"/>
                    <p:cNvGrpSpPr>
                      <a:grpSpLocks/>
                    </p:cNvGrpSpPr>
                    <p:nvPr/>
                  </p:nvGrpSpPr>
                  <p:grpSpPr bwMode="auto">
                    <a:xfrm>
                      <a:off x="3286" y="3049"/>
                      <a:ext cx="177" cy="44"/>
                      <a:chOff x="3286" y="3049"/>
                      <a:chExt cx="177" cy="44"/>
                    </a:xfrm>
                  </p:grpSpPr>
                  <p:sp>
                    <p:nvSpPr>
                      <p:cNvPr id="26705" name="Line 39"/>
                      <p:cNvSpPr>
                        <a:spLocks noChangeShapeType="1"/>
                      </p:cNvSpPr>
                      <p:nvPr/>
                    </p:nvSpPr>
                    <p:spPr bwMode="auto">
                      <a:xfrm>
                        <a:off x="3287" y="3093"/>
                        <a:ext cx="17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706" name="Line 40"/>
                      <p:cNvSpPr>
                        <a:spLocks noChangeShapeType="1"/>
                      </p:cNvSpPr>
                      <p:nvPr/>
                    </p:nvSpPr>
                    <p:spPr bwMode="auto">
                      <a:xfrm>
                        <a:off x="3286" y="3049"/>
                        <a:ext cx="0"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707" name="Line 41"/>
                      <p:cNvSpPr>
                        <a:spLocks noChangeShapeType="1"/>
                      </p:cNvSpPr>
                      <p:nvPr/>
                    </p:nvSpPr>
                    <p:spPr bwMode="auto">
                      <a:xfrm>
                        <a:off x="3463" y="3049"/>
                        <a:ext cx="0"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6701" name="Group 42"/>
                    <p:cNvGrpSpPr>
                      <a:grpSpLocks/>
                    </p:cNvGrpSpPr>
                    <p:nvPr/>
                  </p:nvGrpSpPr>
                  <p:grpSpPr bwMode="auto">
                    <a:xfrm>
                      <a:off x="3463" y="3049"/>
                      <a:ext cx="177" cy="44"/>
                      <a:chOff x="3463" y="3049"/>
                      <a:chExt cx="177" cy="44"/>
                    </a:xfrm>
                  </p:grpSpPr>
                  <p:sp>
                    <p:nvSpPr>
                      <p:cNvPr id="26702" name="Line 43"/>
                      <p:cNvSpPr>
                        <a:spLocks noChangeShapeType="1"/>
                      </p:cNvSpPr>
                      <p:nvPr/>
                    </p:nvSpPr>
                    <p:spPr bwMode="auto">
                      <a:xfrm>
                        <a:off x="3464" y="3093"/>
                        <a:ext cx="17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703" name="Line 44"/>
                      <p:cNvSpPr>
                        <a:spLocks noChangeShapeType="1"/>
                      </p:cNvSpPr>
                      <p:nvPr/>
                    </p:nvSpPr>
                    <p:spPr bwMode="auto">
                      <a:xfrm>
                        <a:off x="3463" y="3049"/>
                        <a:ext cx="0"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704" name="Line 45"/>
                      <p:cNvSpPr>
                        <a:spLocks noChangeShapeType="1"/>
                      </p:cNvSpPr>
                      <p:nvPr/>
                    </p:nvSpPr>
                    <p:spPr bwMode="auto">
                      <a:xfrm>
                        <a:off x="3639" y="3049"/>
                        <a:ext cx="1"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26691" name="Group 46"/>
                  <p:cNvGrpSpPr>
                    <a:grpSpLocks/>
                  </p:cNvGrpSpPr>
                  <p:nvPr/>
                </p:nvGrpSpPr>
                <p:grpSpPr bwMode="auto">
                  <a:xfrm>
                    <a:off x="3640" y="3049"/>
                    <a:ext cx="354" cy="44"/>
                    <a:chOff x="3640" y="3049"/>
                    <a:chExt cx="354" cy="44"/>
                  </a:xfrm>
                </p:grpSpPr>
                <p:grpSp>
                  <p:nvGrpSpPr>
                    <p:cNvPr id="26692" name="Group 47"/>
                    <p:cNvGrpSpPr>
                      <a:grpSpLocks/>
                    </p:cNvGrpSpPr>
                    <p:nvPr/>
                  </p:nvGrpSpPr>
                  <p:grpSpPr bwMode="auto">
                    <a:xfrm>
                      <a:off x="3640" y="3049"/>
                      <a:ext cx="177" cy="44"/>
                      <a:chOff x="3640" y="3049"/>
                      <a:chExt cx="177" cy="44"/>
                    </a:xfrm>
                  </p:grpSpPr>
                  <p:sp>
                    <p:nvSpPr>
                      <p:cNvPr id="26697" name="Line 48"/>
                      <p:cNvSpPr>
                        <a:spLocks noChangeShapeType="1"/>
                      </p:cNvSpPr>
                      <p:nvPr/>
                    </p:nvSpPr>
                    <p:spPr bwMode="auto">
                      <a:xfrm>
                        <a:off x="3641" y="3093"/>
                        <a:ext cx="17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98" name="Line 49"/>
                      <p:cNvSpPr>
                        <a:spLocks noChangeShapeType="1"/>
                      </p:cNvSpPr>
                      <p:nvPr/>
                    </p:nvSpPr>
                    <p:spPr bwMode="auto">
                      <a:xfrm>
                        <a:off x="3640" y="3049"/>
                        <a:ext cx="0"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99" name="Line 50"/>
                      <p:cNvSpPr>
                        <a:spLocks noChangeShapeType="1"/>
                      </p:cNvSpPr>
                      <p:nvPr/>
                    </p:nvSpPr>
                    <p:spPr bwMode="auto">
                      <a:xfrm>
                        <a:off x="3817" y="3049"/>
                        <a:ext cx="0"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6693" name="Group 51"/>
                    <p:cNvGrpSpPr>
                      <a:grpSpLocks/>
                    </p:cNvGrpSpPr>
                    <p:nvPr/>
                  </p:nvGrpSpPr>
                  <p:grpSpPr bwMode="auto">
                    <a:xfrm>
                      <a:off x="3817" y="3049"/>
                      <a:ext cx="177" cy="44"/>
                      <a:chOff x="3817" y="3049"/>
                      <a:chExt cx="177" cy="44"/>
                    </a:xfrm>
                  </p:grpSpPr>
                  <p:sp>
                    <p:nvSpPr>
                      <p:cNvPr id="26694" name="Line 52"/>
                      <p:cNvSpPr>
                        <a:spLocks noChangeShapeType="1"/>
                      </p:cNvSpPr>
                      <p:nvPr/>
                    </p:nvSpPr>
                    <p:spPr bwMode="auto">
                      <a:xfrm>
                        <a:off x="3818" y="3093"/>
                        <a:ext cx="17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95" name="Line 53"/>
                      <p:cNvSpPr>
                        <a:spLocks noChangeShapeType="1"/>
                      </p:cNvSpPr>
                      <p:nvPr/>
                    </p:nvSpPr>
                    <p:spPr bwMode="auto">
                      <a:xfrm>
                        <a:off x="3817" y="3049"/>
                        <a:ext cx="0"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96" name="Line 54"/>
                      <p:cNvSpPr>
                        <a:spLocks noChangeShapeType="1"/>
                      </p:cNvSpPr>
                      <p:nvPr/>
                    </p:nvSpPr>
                    <p:spPr bwMode="auto">
                      <a:xfrm>
                        <a:off x="3994" y="3049"/>
                        <a:ext cx="0"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grpSp>
            <p:grpSp>
              <p:nvGrpSpPr>
                <p:cNvPr id="26660" name="Group 55"/>
                <p:cNvGrpSpPr>
                  <a:grpSpLocks/>
                </p:cNvGrpSpPr>
                <p:nvPr/>
              </p:nvGrpSpPr>
              <p:grpSpPr bwMode="auto">
                <a:xfrm>
                  <a:off x="3994" y="3049"/>
                  <a:ext cx="708" cy="44"/>
                  <a:chOff x="3994" y="3049"/>
                  <a:chExt cx="708" cy="44"/>
                </a:xfrm>
              </p:grpSpPr>
              <p:grpSp>
                <p:nvGrpSpPr>
                  <p:cNvPr id="26672" name="Group 56"/>
                  <p:cNvGrpSpPr>
                    <a:grpSpLocks/>
                  </p:cNvGrpSpPr>
                  <p:nvPr/>
                </p:nvGrpSpPr>
                <p:grpSpPr bwMode="auto">
                  <a:xfrm>
                    <a:off x="3994" y="3049"/>
                    <a:ext cx="354" cy="44"/>
                    <a:chOff x="3994" y="3049"/>
                    <a:chExt cx="354" cy="44"/>
                  </a:xfrm>
                </p:grpSpPr>
                <p:grpSp>
                  <p:nvGrpSpPr>
                    <p:cNvPr id="26682" name="Group 57"/>
                    <p:cNvGrpSpPr>
                      <a:grpSpLocks/>
                    </p:cNvGrpSpPr>
                    <p:nvPr/>
                  </p:nvGrpSpPr>
                  <p:grpSpPr bwMode="auto">
                    <a:xfrm>
                      <a:off x="3994" y="3049"/>
                      <a:ext cx="177" cy="44"/>
                      <a:chOff x="3994" y="3049"/>
                      <a:chExt cx="177" cy="44"/>
                    </a:xfrm>
                  </p:grpSpPr>
                  <p:sp>
                    <p:nvSpPr>
                      <p:cNvPr id="26687" name="Line 58"/>
                      <p:cNvSpPr>
                        <a:spLocks noChangeShapeType="1"/>
                      </p:cNvSpPr>
                      <p:nvPr/>
                    </p:nvSpPr>
                    <p:spPr bwMode="auto">
                      <a:xfrm>
                        <a:off x="3995" y="3093"/>
                        <a:ext cx="17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88" name="Line 59"/>
                      <p:cNvSpPr>
                        <a:spLocks noChangeShapeType="1"/>
                      </p:cNvSpPr>
                      <p:nvPr/>
                    </p:nvSpPr>
                    <p:spPr bwMode="auto">
                      <a:xfrm>
                        <a:off x="3994" y="3049"/>
                        <a:ext cx="0"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89" name="Line 60"/>
                      <p:cNvSpPr>
                        <a:spLocks noChangeShapeType="1"/>
                      </p:cNvSpPr>
                      <p:nvPr/>
                    </p:nvSpPr>
                    <p:spPr bwMode="auto">
                      <a:xfrm>
                        <a:off x="4170" y="3049"/>
                        <a:ext cx="1"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6683" name="Group 61"/>
                    <p:cNvGrpSpPr>
                      <a:grpSpLocks/>
                    </p:cNvGrpSpPr>
                    <p:nvPr/>
                  </p:nvGrpSpPr>
                  <p:grpSpPr bwMode="auto">
                    <a:xfrm>
                      <a:off x="4171" y="3049"/>
                      <a:ext cx="177" cy="44"/>
                      <a:chOff x="4171" y="3049"/>
                      <a:chExt cx="177" cy="44"/>
                    </a:xfrm>
                  </p:grpSpPr>
                  <p:sp>
                    <p:nvSpPr>
                      <p:cNvPr id="26684" name="Line 62"/>
                      <p:cNvSpPr>
                        <a:spLocks noChangeShapeType="1"/>
                      </p:cNvSpPr>
                      <p:nvPr/>
                    </p:nvSpPr>
                    <p:spPr bwMode="auto">
                      <a:xfrm>
                        <a:off x="4172" y="3093"/>
                        <a:ext cx="17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85" name="Line 63"/>
                      <p:cNvSpPr>
                        <a:spLocks noChangeShapeType="1"/>
                      </p:cNvSpPr>
                      <p:nvPr/>
                    </p:nvSpPr>
                    <p:spPr bwMode="auto">
                      <a:xfrm>
                        <a:off x="4171" y="3049"/>
                        <a:ext cx="0"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86" name="Line 64"/>
                      <p:cNvSpPr>
                        <a:spLocks noChangeShapeType="1"/>
                      </p:cNvSpPr>
                      <p:nvPr/>
                    </p:nvSpPr>
                    <p:spPr bwMode="auto">
                      <a:xfrm>
                        <a:off x="4348" y="3049"/>
                        <a:ext cx="0"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26673" name="Group 65"/>
                  <p:cNvGrpSpPr>
                    <a:grpSpLocks/>
                  </p:cNvGrpSpPr>
                  <p:nvPr/>
                </p:nvGrpSpPr>
                <p:grpSpPr bwMode="auto">
                  <a:xfrm>
                    <a:off x="4348" y="3049"/>
                    <a:ext cx="354" cy="44"/>
                    <a:chOff x="4348" y="3049"/>
                    <a:chExt cx="354" cy="44"/>
                  </a:xfrm>
                </p:grpSpPr>
                <p:grpSp>
                  <p:nvGrpSpPr>
                    <p:cNvPr id="26674" name="Group 66"/>
                    <p:cNvGrpSpPr>
                      <a:grpSpLocks/>
                    </p:cNvGrpSpPr>
                    <p:nvPr/>
                  </p:nvGrpSpPr>
                  <p:grpSpPr bwMode="auto">
                    <a:xfrm>
                      <a:off x="4348" y="3049"/>
                      <a:ext cx="177" cy="44"/>
                      <a:chOff x="4348" y="3049"/>
                      <a:chExt cx="177" cy="44"/>
                    </a:xfrm>
                  </p:grpSpPr>
                  <p:sp>
                    <p:nvSpPr>
                      <p:cNvPr id="26679" name="Line 67"/>
                      <p:cNvSpPr>
                        <a:spLocks noChangeShapeType="1"/>
                      </p:cNvSpPr>
                      <p:nvPr/>
                    </p:nvSpPr>
                    <p:spPr bwMode="auto">
                      <a:xfrm>
                        <a:off x="4349" y="3093"/>
                        <a:ext cx="17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80" name="Line 68"/>
                      <p:cNvSpPr>
                        <a:spLocks noChangeShapeType="1"/>
                      </p:cNvSpPr>
                      <p:nvPr/>
                    </p:nvSpPr>
                    <p:spPr bwMode="auto">
                      <a:xfrm>
                        <a:off x="4348" y="3049"/>
                        <a:ext cx="0"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81" name="Line 69"/>
                      <p:cNvSpPr>
                        <a:spLocks noChangeShapeType="1"/>
                      </p:cNvSpPr>
                      <p:nvPr/>
                    </p:nvSpPr>
                    <p:spPr bwMode="auto">
                      <a:xfrm>
                        <a:off x="4525" y="3049"/>
                        <a:ext cx="0"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6675" name="Group 70"/>
                    <p:cNvGrpSpPr>
                      <a:grpSpLocks/>
                    </p:cNvGrpSpPr>
                    <p:nvPr/>
                  </p:nvGrpSpPr>
                  <p:grpSpPr bwMode="auto">
                    <a:xfrm>
                      <a:off x="4525" y="3049"/>
                      <a:ext cx="177" cy="44"/>
                      <a:chOff x="4525" y="3049"/>
                      <a:chExt cx="177" cy="44"/>
                    </a:xfrm>
                  </p:grpSpPr>
                  <p:sp>
                    <p:nvSpPr>
                      <p:cNvPr id="26676" name="Line 71"/>
                      <p:cNvSpPr>
                        <a:spLocks noChangeShapeType="1"/>
                      </p:cNvSpPr>
                      <p:nvPr/>
                    </p:nvSpPr>
                    <p:spPr bwMode="auto">
                      <a:xfrm>
                        <a:off x="4526" y="3093"/>
                        <a:ext cx="17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77" name="Line 72"/>
                      <p:cNvSpPr>
                        <a:spLocks noChangeShapeType="1"/>
                      </p:cNvSpPr>
                      <p:nvPr/>
                    </p:nvSpPr>
                    <p:spPr bwMode="auto">
                      <a:xfrm>
                        <a:off x="4525" y="3049"/>
                        <a:ext cx="0"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78" name="Line 73"/>
                      <p:cNvSpPr>
                        <a:spLocks noChangeShapeType="1"/>
                      </p:cNvSpPr>
                      <p:nvPr/>
                    </p:nvSpPr>
                    <p:spPr bwMode="auto">
                      <a:xfrm>
                        <a:off x="4701" y="3049"/>
                        <a:ext cx="1"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grpSp>
            <p:grpSp>
              <p:nvGrpSpPr>
                <p:cNvPr id="26661" name="Group 74"/>
                <p:cNvGrpSpPr>
                  <a:grpSpLocks/>
                </p:cNvGrpSpPr>
                <p:nvPr/>
              </p:nvGrpSpPr>
              <p:grpSpPr bwMode="auto">
                <a:xfrm>
                  <a:off x="4701" y="3049"/>
                  <a:ext cx="354" cy="44"/>
                  <a:chOff x="4701" y="3049"/>
                  <a:chExt cx="354" cy="44"/>
                </a:xfrm>
              </p:grpSpPr>
              <p:grpSp>
                <p:nvGrpSpPr>
                  <p:cNvPr id="26664" name="Group 75"/>
                  <p:cNvGrpSpPr>
                    <a:grpSpLocks/>
                  </p:cNvGrpSpPr>
                  <p:nvPr/>
                </p:nvGrpSpPr>
                <p:grpSpPr bwMode="auto">
                  <a:xfrm>
                    <a:off x="4701" y="3049"/>
                    <a:ext cx="177" cy="44"/>
                    <a:chOff x="4701" y="3049"/>
                    <a:chExt cx="177" cy="44"/>
                  </a:xfrm>
                </p:grpSpPr>
                <p:sp>
                  <p:nvSpPr>
                    <p:cNvPr id="26669" name="Line 76"/>
                    <p:cNvSpPr>
                      <a:spLocks noChangeShapeType="1"/>
                    </p:cNvSpPr>
                    <p:nvPr/>
                  </p:nvSpPr>
                  <p:spPr bwMode="auto">
                    <a:xfrm>
                      <a:off x="4702" y="3093"/>
                      <a:ext cx="17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70" name="Line 77"/>
                    <p:cNvSpPr>
                      <a:spLocks noChangeShapeType="1"/>
                    </p:cNvSpPr>
                    <p:nvPr/>
                  </p:nvSpPr>
                  <p:spPr bwMode="auto">
                    <a:xfrm>
                      <a:off x="4701" y="3049"/>
                      <a:ext cx="0"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71" name="Line 78"/>
                    <p:cNvSpPr>
                      <a:spLocks noChangeShapeType="1"/>
                    </p:cNvSpPr>
                    <p:nvPr/>
                  </p:nvSpPr>
                  <p:spPr bwMode="auto">
                    <a:xfrm>
                      <a:off x="4878" y="3049"/>
                      <a:ext cx="0"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6665" name="Group 79"/>
                  <p:cNvGrpSpPr>
                    <a:grpSpLocks/>
                  </p:cNvGrpSpPr>
                  <p:nvPr/>
                </p:nvGrpSpPr>
                <p:grpSpPr bwMode="auto">
                  <a:xfrm>
                    <a:off x="4878" y="3049"/>
                    <a:ext cx="177" cy="44"/>
                    <a:chOff x="4878" y="3049"/>
                    <a:chExt cx="177" cy="44"/>
                  </a:xfrm>
                </p:grpSpPr>
                <p:sp>
                  <p:nvSpPr>
                    <p:cNvPr id="26666" name="Line 80"/>
                    <p:cNvSpPr>
                      <a:spLocks noChangeShapeType="1"/>
                    </p:cNvSpPr>
                    <p:nvPr/>
                  </p:nvSpPr>
                  <p:spPr bwMode="auto">
                    <a:xfrm>
                      <a:off x="4879" y="3093"/>
                      <a:ext cx="17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67" name="Line 81"/>
                    <p:cNvSpPr>
                      <a:spLocks noChangeShapeType="1"/>
                    </p:cNvSpPr>
                    <p:nvPr/>
                  </p:nvSpPr>
                  <p:spPr bwMode="auto">
                    <a:xfrm>
                      <a:off x="4878" y="3049"/>
                      <a:ext cx="0"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68" name="Line 82"/>
                    <p:cNvSpPr>
                      <a:spLocks noChangeShapeType="1"/>
                    </p:cNvSpPr>
                    <p:nvPr/>
                  </p:nvSpPr>
                  <p:spPr bwMode="auto">
                    <a:xfrm>
                      <a:off x="5054" y="3049"/>
                      <a:ext cx="1"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6662" name="Line 83"/>
                <p:cNvSpPr>
                  <a:spLocks noChangeShapeType="1"/>
                </p:cNvSpPr>
                <p:nvPr/>
              </p:nvSpPr>
              <p:spPr bwMode="auto">
                <a:xfrm>
                  <a:off x="5056" y="3093"/>
                  <a:ext cx="17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63" name="Line 84"/>
                <p:cNvSpPr>
                  <a:spLocks noChangeShapeType="1"/>
                </p:cNvSpPr>
                <p:nvPr/>
              </p:nvSpPr>
              <p:spPr bwMode="auto">
                <a:xfrm>
                  <a:off x="5232" y="3049"/>
                  <a:ext cx="0" cy="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6658" name="Line 85"/>
              <p:cNvSpPr>
                <a:spLocks noChangeShapeType="1"/>
              </p:cNvSpPr>
              <p:nvPr/>
            </p:nvSpPr>
            <p:spPr bwMode="auto">
              <a:xfrm>
                <a:off x="3287" y="1536"/>
                <a:ext cx="194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6632" name="Group 86"/>
            <p:cNvGrpSpPr>
              <a:grpSpLocks/>
            </p:cNvGrpSpPr>
            <p:nvPr/>
          </p:nvGrpSpPr>
          <p:grpSpPr bwMode="auto">
            <a:xfrm>
              <a:off x="3464" y="1803"/>
              <a:ext cx="1192" cy="1289"/>
              <a:chOff x="3464" y="1803"/>
              <a:chExt cx="1192" cy="1289"/>
            </a:xfrm>
          </p:grpSpPr>
          <p:sp>
            <p:nvSpPr>
              <p:cNvPr id="26652" name="Line 87"/>
              <p:cNvSpPr>
                <a:spLocks noChangeShapeType="1"/>
              </p:cNvSpPr>
              <p:nvPr/>
            </p:nvSpPr>
            <p:spPr bwMode="auto">
              <a:xfrm flipV="1">
                <a:off x="3640" y="2338"/>
                <a:ext cx="530" cy="57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53" name="Line 88"/>
              <p:cNvSpPr>
                <a:spLocks noChangeShapeType="1"/>
              </p:cNvSpPr>
              <p:nvPr/>
            </p:nvSpPr>
            <p:spPr bwMode="auto">
              <a:xfrm flipV="1">
                <a:off x="4126" y="1803"/>
                <a:ext cx="530" cy="578"/>
              </a:xfrm>
              <a:prstGeom prst="line">
                <a:avLst/>
              </a:prstGeom>
              <a:noFill/>
              <a:ln w="12700">
                <a:solidFill>
                  <a:srgbClr val="000000"/>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54" name="Line 89"/>
              <p:cNvSpPr>
                <a:spLocks noChangeShapeType="1"/>
              </p:cNvSpPr>
              <p:nvPr/>
            </p:nvSpPr>
            <p:spPr bwMode="auto">
              <a:xfrm flipV="1">
                <a:off x="3464" y="2826"/>
                <a:ext cx="265" cy="266"/>
              </a:xfrm>
              <a:prstGeom prst="line">
                <a:avLst/>
              </a:prstGeom>
              <a:noFill/>
              <a:ln w="12700">
                <a:solidFill>
                  <a:srgbClr val="000000"/>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6633" name="Line 90"/>
            <p:cNvSpPr>
              <a:spLocks noChangeShapeType="1"/>
            </p:cNvSpPr>
            <p:nvPr/>
          </p:nvSpPr>
          <p:spPr bwMode="auto">
            <a:xfrm flipH="1">
              <a:off x="4156" y="1982"/>
              <a:ext cx="634" cy="36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34" name="Line 91"/>
            <p:cNvSpPr>
              <a:spLocks noChangeShapeType="1"/>
            </p:cNvSpPr>
            <p:nvPr/>
          </p:nvSpPr>
          <p:spPr bwMode="auto">
            <a:xfrm flipH="1">
              <a:off x="3817" y="2348"/>
              <a:ext cx="338" cy="211"/>
            </a:xfrm>
            <a:prstGeom prst="line">
              <a:avLst/>
            </a:prstGeom>
            <a:noFill/>
            <a:ln w="12700">
              <a:solidFill>
                <a:srgbClr val="000000"/>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35" name="Line 92"/>
            <p:cNvSpPr>
              <a:spLocks noChangeShapeType="1"/>
            </p:cNvSpPr>
            <p:nvPr/>
          </p:nvSpPr>
          <p:spPr bwMode="auto">
            <a:xfrm flipH="1">
              <a:off x="4791" y="1848"/>
              <a:ext cx="220" cy="133"/>
            </a:xfrm>
            <a:prstGeom prst="line">
              <a:avLst/>
            </a:prstGeom>
            <a:noFill/>
            <a:ln w="12700">
              <a:solidFill>
                <a:srgbClr val="000000"/>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36" name="Freeform 93"/>
            <p:cNvSpPr>
              <a:spLocks/>
            </p:cNvSpPr>
            <p:nvPr/>
          </p:nvSpPr>
          <p:spPr bwMode="auto">
            <a:xfrm>
              <a:off x="4790" y="1936"/>
              <a:ext cx="355" cy="46"/>
            </a:xfrm>
            <a:custGeom>
              <a:avLst/>
              <a:gdLst>
                <a:gd name="T0" fmla="*/ 0 w 355"/>
                <a:gd name="T1" fmla="*/ 45 h 46"/>
                <a:gd name="T2" fmla="*/ 4 w 355"/>
                <a:gd name="T3" fmla="*/ 45 h 46"/>
                <a:gd name="T4" fmla="*/ 11 w 355"/>
                <a:gd name="T5" fmla="*/ 37 h 46"/>
                <a:gd name="T6" fmla="*/ 18 w 355"/>
                <a:gd name="T7" fmla="*/ 37 h 46"/>
                <a:gd name="T8" fmla="*/ 26 w 355"/>
                <a:gd name="T9" fmla="*/ 30 h 46"/>
                <a:gd name="T10" fmla="*/ 44 w 355"/>
                <a:gd name="T11" fmla="*/ 30 h 46"/>
                <a:gd name="T12" fmla="*/ 44 w 355"/>
                <a:gd name="T13" fmla="*/ 26 h 46"/>
                <a:gd name="T14" fmla="*/ 52 w 355"/>
                <a:gd name="T15" fmla="*/ 26 h 46"/>
                <a:gd name="T16" fmla="*/ 55 w 355"/>
                <a:gd name="T17" fmla="*/ 22 h 46"/>
                <a:gd name="T18" fmla="*/ 70 w 355"/>
                <a:gd name="T19" fmla="*/ 22 h 46"/>
                <a:gd name="T20" fmla="*/ 74 w 355"/>
                <a:gd name="T21" fmla="*/ 19 h 46"/>
                <a:gd name="T22" fmla="*/ 77 w 355"/>
                <a:gd name="T23" fmla="*/ 19 h 46"/>
                <a:gd name="T24" fmla="*/ 177 w 355"/>
                <a:gd name="T25" fmla="*/ 0 h 46"/>
                <a:gd name="T26" fmla="*/ 354 w 355"/>
                <a:gd name="T27" fmla="*/ 0 h 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55"/>
                <a:gd name="T43" fmla="*/ 0 h 46"/>
                <a:gd name="T44" fmla="*/ 355 w 355"/>
                <a:gd name="T45" fmla="*/ 46 h 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55" h="46">
                  <a:moveTo>
                    <a:pt x="0" y="45"/>
                  </a:moveTo>
                  <a:lnTo>
                    <a:pt x="4" y="45"/>
                  </a:lnTo>
                  <a:lnTo>
                    <a:pt x="11" y="37"/>
                  </a:lnTo>
                  <a:lnTo>
                    <a:pt x="18" y="37"/>
                  </a:lnTo>
                  <a:lnTo>
                    <a:pt x="26" y="30"/>
                  </a:lnTo>
                  <a:lnTo>
                    <a:pt x="44" y="30"/>
                  </a:lnTo>
                  <a:lnTo>
                    <a:pt x="44" y="26"/>
                  </a:lnTo>
                  <a:lnTo>
                    <a:pt x="52" y="26"/>
                  </a:lnTo>
                  <a:lnTo>
                    <a:pt x="55" y="22"/>
                  </a:lnTo>
                  <a:lnTo>
                    <a:pt x="70" y="22"/>
                  </a:lnTo>
                  <a:lnTo>
                    <a:pt x="74" y="19"/>
                  </a:lnTo>
                  <a:lnTo>
                    <a:pt x="77" y="19"/>
                  </a:lnTo>
                  <a:lnTo>
                    <a:pt x="177" y="0"/>
                  </a:lnTo>
                  <a:lnTo>
                    <a:pt x="354" y="0"/>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6637" name="Rectangle 94"/>
            <p:cNvSpPr>
              <a:spLocks noChangeArrowheads="1"/>
            </p:cNvSpPr>
            <p:nvPr/>
          </p:nvSpPr>
          <p:spPr bwMode="auto">
            <a:xfrm>
              <a:off x="4126" y="1847"/>
              <a:ext cx="354"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Square Law</a:t>
              </a:r>
            </a:p>
          </p:txBody>
        </p:sp>
        <p:sp>
          <p:nvSpPr>
            <p:cNvPr id="26638" name="Rectangle 95"/>
            <p:cNvSpPr>
              <a:spLocks noChangeArrowheads="1"/>
            </p:cNvSpPr>
            <p:nvPr/>
          </p:nvSpPr>
          <p:spPr bwMode="auto">
            <a:xfrm>
              <a:off x="4790" y="1758"/>
              <a:ext cx="265"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Linear</a:t>
              </a:r>
            </a:p>
          </p:txBody>
        </p:sp>
        <p:grpSp>
          <p:nvGrpSpPr>
            <p:cNvPr id="26639" name="Group 96"/>
            <p:cNvGrpSpPr>
              <a:grpSpLocks/>
            </p:cNvGrpSpPr>
            <p:nvPr/>
          </p:nvGrpSpPr>
          <p:grpSpPr bwMode="auto">
            <a:xfrm>
              <a:off x="3418" y="3093"/>
              <a:ext cx="1504" cy="133"/>
              <a:chOff x="3418" y="3093"/>
              <a:chExt cx="1504" cy="133"/>
            </a:xfrm>
          </p:grpSpPr>
          <p:sp>
            <p:nvSpPr>
              <p:cNvPr id="26647" name="Rectangle 97"/>
              <p:cNvSpPr>
                <a:spLocks noChangeArrowheads="1"/>
              </p:cNvSpPr>
              <p:nvPr/>
            </p:nvSpPr>
            <p:spPr bwMode="auto">
              <a:xfrm>
                <a:off x="3418" y="3093"/>
                <a:ext cx="133"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-60</a:t>
                </a:r>
              </a:p>
            </p:txBody>
          </p:sp>
          <p:sp>
            <p:nvSpPr>
              <p:cNvPr id="26648" name="Rectangle 98"/>
              <p:cNvSpPr>
                <a:spLocks noChangeArrowheads="1"/>
              </p:cNvSpPr>
              <p:nvPr/>
            </p:nvSpPr>
            <p:spPr bwMode="auto">
              <a:xfrm>
                <a:off x="3772" y="3093"/>
                <a:ext cx="133"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-40</a:t>
                </a:r>
              </a:p>
            </p:txBody>
          </p:sp>
          <p:sp>
            <p:nvSpPr>
              <p:cNvPr id="26649" name="Rectangle 99"/>
              <p:cNvSpPr>
                <a:spLocks noChangeArrowheads="1"/>
              </p:cNvSpPr>
              <p:nvPr/>
            </p:nvSpPr>
            <p:spPr bwMode="auto">
              <a:xfrm>
                <a:off x="4125" y="3093"/>
                <a:ext cx="133"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-20</a:t>
                </a:r>
              </a:p>
            </p:txBody>
          </p:sp>
          <p:sp>
            <p:nvSpPr>
              <p:cNvPr id="26650" name="Rectangle 100"/>
              <p:cNvSpPr>
                <a:spLocks noChangeArrowheads="1"/>
              </p:cNvSpPr>
              <p:nvPr/>
            </p:nvSpPr>
            <p:spPr bwMode="auto">
              <a:xfrm>
                <a:off x="4524" y="3093"/>
                <a:ext cx="88"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0</a:t>
                </a:r>
              </a:p>
            </p:txBody>
          </p:sp>
          <p:sp>
            <p:nvSpPr>
              <p:cNvPr id="26651" name="Rectangle 101"/>
              <p:cNvSpPr>
                <a:spLocks noChangeArrowheads="1"/>
              </p:cNvSpPr>
              <p:nvPr/>
            </p:nvSpPr>
            <p:spPr bwMode="auto">
              <a:xfrm>
                <a:off x="4789" y="3093"/>
                <a:ext cx="133"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+20</a:t>
                </a:r>
              </a:p>
            </p:txBody>
          </p:sp>
        </p:grpSp>
        <p:sp>
          <p:nvSpPr>
            <p:cNvPr id="26640" name="Rectangle 102"/>
            <p:cNvSpPr>
              <a:spLocks noChangeArrowheads="1"/>
            </p:cNvSpPr>
            <p:nvPr/>
          </p:nvSpPr>
          <p:spPr bwMode="auto">
            <a:xfrm>
              <a:off x="3949" y="3226"/>
              <a:ext cx="70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Input Power (dBm)</a:t>
              </a:r>
            </a:p>
          </p:txBody>
        </p:sp>
        <p:sp>
          <p:nvSpPr>
            <p:cNvPr id="26641" name="Rectangle 103"/>
            <p:cNvSpPr>
              <a:spLocks noChangeArrowheads="1"/>
            </p:cNvSpPr>
            <p:nvPr/>
          </p:nvSpPr>
          <p:spPr bwMode="auto">
            <a:xfrm>
              <a:off x="2976" y="3048"/>
              <a:ext cx="26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r"/>
              <a:r>
                <a:rPr lang="en-US" altLang="en-US" sz="1000">
                  <a:latin typeface="Times New Roman" panose="02020603050405020304" pitchFamily="18" charset="0"/>
                </a:rPr>
                <a:t>10 </a:t>
              </a:r>
              <a:r>
                <a:rPr lang="en-US" altLang="en-US" sz="1000">
                  <a:latin typeface="Symbol" panose="05050102010706020507" pitchFamily="18" charset="2"/>
                </a:rPr>
                <a:t>m</a:t>
              </a:r>
              <a:r>
                <a:rPr lang="en-US" altLang="en-US" sz="1000">
                  <a:latin typeface="Times New Roman" panose="02020603050405020304" pitchFamily="18" charset="0"/>
                </a:rPr>
                <a:t>V</a:t>
              </a:r>
            </a:p>
          </p:txBody>
        </p:sp>
        <p:sp>
          <p:nvSpPr>
            <p:cNvPr id="26642" name="Rectangle 104"/>
            <p:cNvSpPr>
              <a:spLocks noChangeArrowheads="1"/>
            </p:cNvSpPr>
            <p:nvPr/>
          </p:nvSpPr>
          <p:spPr bwMode="auto">
            <a:xfrm>
              <a:off x="3020" y="2604"/>
              <a:ext cx="222"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r"/>
              <a:r>
                <a:rPr lang="en-US" altLang="en-US" sz="1000">
                  <a:latin typeface="Times New Roman" panose="02020603050405020304" pitchFamily="18" charset="0"/>
                </a:rPr>
                <a:t>1 mV</a:t>
              </a:r>
            </a:p>
          </p:txBody>
        </p:sp>
        <p:sp>
          <p:nvSpPr>
            <p:cNvPr id="26643" name="Rectangle 105"/>
            <p:cNvSpPr>
              <a:spLocks noChangeArrowheads="1"/>
            </p:cNvSpPr>
            <p:nvPr/>
          </p:nvSpPr>
          <p:spPr bwMode="auto">
            <a:xfrm>
              <a:off x="2976" y="2381"/>
              <a:ext cx="266"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r"/>
              <a:r>
                <a:rPr lang="en-US" altLang="en-US" sz="1000">
                  <a:latin typeface="Times New Roman" panose="02020603050405020304" pitchFamily="18" charset="0"/>
                </a:rPr>
                <a:t>10 mV</a:t>
              </a:r>
            </a:p>
          </p:txBody>
        </p:sp>
        <p:sp>
          <p:nvSpPr>
            <p:cNvPr id="26644" name="Rectangle 106"/>
            <p:cNvSpPr>
              <a:spLocks noChangeArrowheads="1"/>
            </p:cNvSpPr>
            <p:nvPr/>
          </p:nvSpPr>
          <p:spPr bwMode="auto">
            <a:xfrm>
              <a:off x="2976" y="2159"/>
              <a:ext cx="266"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r"/>
              <a:r>
                <a:rPr lang="en-US" altLang="en-US" sz="1000">
                  <a:latin typeface="Times New Roman" panose="02020603050405020304" pitchFamily="18" charset="0"/>
                </a:rPr>
                <a:t>100 mV</a:t>
              </a:r>
            </a:p>
          </p:txBody>
        </p:sp>
        <p:sp>
          <p:nvSpPr>
            <p:cNvPr id="26645" name="Rectangle 107"/>
            <p:cNvSpPr>
              <a:spLocks noChangeArrowheads="1"/>
            </p:cNvSpPr>
            <p:nvPr/>
          </p:nvSpPr>
          <p:spPr bwMode="auto">
            <a:xfrm>
              <a:off x="2976" y="1936"/>
              <a:ext cx="26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r"/>
              <a:r>
                <a:rPr lang="en-US" altLang="en-US" sz="1000">
                  <a:latin typeface="Times New Roman" panose="02020603050405020304" pitchFamily="18" charset="0"/>
                </a:rPr>
                <a:t>1 V</a:t>
              </a:r>
            </a:p>
          </p:txBody>
        </p:sp>
        <p:sp>
          <p:nvSpPr>
            <p:cNvPr id="26646" name="Rectangle 108"/>
            <p:cNvSpPr>
              <a:spLocks noChangeArrowheads="1"/>
            </p:cNvSpPr>
            <p:nvPr/>
          </p:nvSpPr>
          <p:spPr bwMode="auto">
            <a:xfrm>
              <a:off x="3064" y="1714"/>
              <a:ext cx="17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r"/>
              <a:r>
                <a:rPr lang="en-US" altLang="en-US" sz="1000">
                  <a:latin typeface="Times New Roman" panose="02020603050405020304" pitchFamily="18" charset="0"/>
                </a:rPr>
                <a:t>10 V</a:t>
              </a:r>
            </a:p>
          </p:txBody>
        </p:sp>
      </p:grpSp>
      <p:sp>
        <p:nvSpPr>
          <p:cNvPr id="26628" name="Rectangle 109"/>
          <p:cNvSpPr>
            <a:spLocks noGrp="1" noChangeArrowheads="1"/>
          </p:cNvSpPr>
          <p:nvPr>
            <p:ph type="body" sz="half" idx="1"/>
          </p:nvPr>
        </p:nvSpPr>
        <p:spPr>
          <a:xfrm>
            <a:off x="304800" y="1600200"/>
            <a:ext cx="3979863" cy="4114800"/>
          </a:xfrm>
          <a:noFill/>
        </p:spPr>
        <p:txBody>
          <a:bodyPr lIns="92075" tIns="46038" rIns="92075" bIns="46038"/>
          <a:lstStyle/>
          <a:p>
            <a:pPr marL="342900" indent="-342900">
              <a:buSzPct val="90000"/>
            </a:pPr>
            <a:r>
              <a:rPr lang="en-US" altLang="en-US" sz="2400" dirty="0" smtClean="0"/>
              <a:t>Small input signal produces detected output proportional to input signal power (square law detection)</a:t>
            </a:r>
          </a:p>
          <a:p>
            <a:pPr marL="342900" indent="-342900">
              <a:buSzPct val="90000"/>
            </a:pPr>
            <a:endParaRPr lang="en-US" altLang="en-US" sz="2400" dirty="0" smtClean="0"/>
          </a:p>
          <a:p>
            <a:pPr marL="342900" indent="-342900">
              <a:buSzPct val="90000"/>
            </a:pPr>
            <a:r>
              <a:rPr lang="en-US" altLang="en-US" sz="2400" dirty="0" smtClean="0"/>
              <a:t>Larger input signal produces detected output proportional to input signal voltage (linear detection)</a:t>
            </a:r>
          </a:p>
        </p:txBody>
      </p:sp>
      <p:sp>
        <p:nvSpPr>
          <p:cNvPr id="26629" name="Rectangle 110"/>
          <p:cNvSpPr>
            <a:spLocks noChangeArrowheads="1"/>
          </p:cNvSpPr>
          <p:nvPr/>
        </p:nvSpPr>
        <p:spPr bwMode="auto">
          <a:xfrm>
            <a:off x="4648200" y="4495800"/>
            <a:ext cx="5334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r">
              <a:spcBef>
                <a:spcPct val="50000"/>
              </a:spcBef>
            </a:pPr>
            <a:r>
              <a:rPr lang="en-US" altLang="en-US" sz="800">
                <a:latin typeface="Arial" panose="020B0604020202020204" pitchFamily="34" charset="0"/>
              </a:rPr>
              <a:t>100 </a:t>
            </a:r>
            <a:r>
              <a:rPr lang="en-US" altLang="en-US" sz="800">
                <a:latin typeface="Symbol" panose="05050102010706020507" pitchFamily="18" charset="2"/>
              </a:rPr>
              <a:t>m</a:t>
            </a:r>
            <a:r>
              <a:rPr lang="en-US" altLang="en-US" sz="800">
                <a:latin typeface="Arial" panose="020B0604020202020204" pitchFamily="34" charset="0"/>
              </a:rPr>
              <a:t>V</a:t>
            </a:r>
          </a:p>
        </p:txBody>
      </p:sp>
      <p:sp>
        <p:nvSpPr>
          <p:cNvPr id="26630" name="Rectangle 111"/>
          <p:cNvSpPr>
            <a:spLocks noChangeArrowheads="1"/>
          </p:cNvSpPr>
          <p:nvPr/>
        </p:nvSpPr>
        <p:spPr bwMode="auto">
          <a:xfrm rot="16200000" flipH="1">
            <a:off x="3932238" y="3611562"/>
            <a:ext cx="1371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000">
                <a:latin typeface="Times New Roman" panose="02020603050405020304" pitchFamily="18" charset="0"/>
              </a:rPr>
              <a:t>Output Voltage</a:t>
            </a:r>
          </a:p>
        </p:txBody>
      </p:sp>
    </p:spTree>
    <p:extLst>
      <p:ext uri="{BB962C8B-B14F-4D97-AF65-F5344CB8AC3E}">
        <p14:creationId xmlns:p14="http://schemas.microsoft.com/office/powerpoint/2010/main" val="2422599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noFill/>
        </p:spPr>
        <p:txBody>
          <a:bodyPr lIns="92075" tIns="46038" rIns="92075" bIns="46038" anchor="ctr"/>
          <a:lstStyle/>
          <a:p>
            <a:r>
              <a:rPr lang="en-US" altLang="en-US" dirty="0" smtClean="0"/>
              <a:t>Schottky Diode Detector</a:t>
            </a:r>
          </a:p>
        </p:txBody>
      </p:sp>
      <p:grpSp>
        <p:nvGrpSpPr>
          <p:cNvPr id="27651" name="Group 3"/>
          <p:cNvGrpSpPr>
            <a:grpSpLocks/>
          </p:cNvGrpSpPr>
          <p:nvPr/>
        </p:nvGrpSpPr>
        <p:grpSpPr bwMode="auto">
          <a:xfrm>
            <a:off x="1525588" y="2209800"/>
            <a:ext cx="6399212" cy="2103438"/>
            <a:chOff x="961" y="1392"/>
            <a:chExt cx="4031" cy="1325"/>
          </a:xfrm>
        </p:grpSpPr>
        <p:grpSp>
          <p:nvGrpSpPr>
            <p:cNvPr id="27653" name="Group 4"/>
            <p:cNvGrpSpPr>
              <a:grpSpLocks/>
            </p:cNvGrpSpPr>
            <p:nvPr/>
          </p:nvGrpSpPr>
          <p:grpSpPr bwMode="auto">
            <a:xfrm>
              <a:off x="2054" y="1392"/>
              <a:ext cx="2938" cy="976"/>
              <a:chOff x="2054" y="1392"/>
              <a:chExt cx="2938" cy="976"/>
            </a:xfrm>
          </p:grpSpPr>
          <p:grpSp>
            <p:nvGrpSpPr>
              <p:cNvPr id="27672" name="Group 5"/>
              <p:cNvGrpSpPr>
                <a:grpSpLocks/>
              </p:cNvGrpSpPr>
              <p:nvPr/>
            </p:nvGrpSpPr>
            <p:grpSpPr bwMode="auto">
              <a:xfrm>
                <a:off x="2285" y="1392"/>
                <a:ext cx="2361" cy="976"/>
                <a:chOff x="2285" y="1392"/>
                <a:chExt cx="2361" cy="976"/>
              </a:xfrm>
            </p:grpSpPr>
            <p:grpSp>
              <p:nvGrpSpPr>
                <p:cNvPr id="27677" name="Group 6"/>
                <p:cNvGrpSpPr>
                  <a:grpSpLocks/>
                </p:cNvGrpSpPr>
                <p:nvPr/>
              </p:nvGrpSpPr>
              <p:grpSpPr bwMode="auto">
                <a:xfrm>
                  <a:off x="3925" y="1911"/>
                  <a:ext cx="131" cy="230"/>
                  <a:chOff x="3925" y="1911"/>
                  <a:chExt cx="131" cy="230"/>
                </a:xfrm>
              </p:grpSpPr>
              <p:sp>
                <p:nvSpPr>
                  <p:cNvPr id="27763" name="Line 7"/>
                  <p:cNvSpPr>
                    <a:spLocks noChangeShapeType="1"/>
                  </p:cNvSpPr>
                  <p:nvPr/>
                </p:nvSpPr>
                <p:spPr bwMode="auto">
                  <a:xfrm>
                    <a:off x="3989" y="1911"/>
                    <a:ext cx="1" cy="2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64" name="Line 8"/>
                  <p:cNvSpPr>
                    <a:spLocks noChangeShapeType="1"/>
                  </p:cNvSpPr>
                  <p:nvPr/>
                </p:nvSpPr>
                <p:spPr bwMode="auto">
                  <a:xfrm>
                    <a:off x="3990" y="1940"/>
                    <a:ext cx="66" cy="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7765" name="Group 9"/>
                  <p:cNvGrpSpPr>
                    <a:grpSpLocks/>
                  </p:cNvGrpSpPr>
                  <p:nvPr/>
                </p:nvGrpSpPr>
                <p:grpSpPr bwMode="auto">
                  <a:xfrm>
                    <a:off x="3925" y="1983"/>
                    <a:ext cx="131" cy="28"/>
                    <a:chOff x="3925" y="1983"/>
                    <a:chExt cx="131" cy="28"/>
                  </a:xfrm>
                </p:grpSpPr>
                <p:sp>
                  <p:nvSpPr>
                    <p:cNvPr id="27780" name="Line 10"/>
                    <p:cNvSpPr>
                      <a:spLocks noChangeShapeType="1"/>
                    </p:cNvSpPr>
                    <p:nvPr/>
                  </p:nvSpPr>
                  <p:spPr bwMode="auto">
                    <a:xfrm>
                      <a:off x="3925" y="1983"/>
                      <a:ext cx="66" cy="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81" name="Line 11"/>
                    <p:cNvSpPr>
                      <a:spLocks noChangeShapeType="1"/>
                    </p:cNvSpPr>
                    <p:nvPr/>
                  </p:nvSpPr>
                  <p:spPr bwMode="auto">
                    <a:xfrm>
                      <a:off x="3990" y="1997"/>
                      <a:ext cx="66" cy="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7766" name="Group 12"/>
                  <p:cNvGrpSpPr>
                    <a:grpSpLocks/>
                  </p:cNvGrpSpPr>
                  <p:nvPr/>
                </p:nvGrpSpPr>
                <p:grpSpPr bwMode="auto">
                  <a:xfrm>
                    <a:off x="3925" y="2041"/>
                    <a:ext cx="131" cy="28"/>
                    <a:chOff x="3925" y="2041"/>
                    <a:chExt cx="131" cy="28"/>
                  </a:xfrm>
                </p:grpSpPr>
                <p:sp>
                  <p:nvSpPr>
                    <p:cNvPr id="27778" name="Line 13"/>
                    <p:cNvSpPr>
                      <a:spLocks noChangeShapeType="1"/>
                    </p:cNvSpPr>
                    <p:nvPr/>
                  </p:nvSpPr>
                  <p:spPr bwMode="auto">
                    <a:xfrm>
                      <a:off x="3925" y="2041"/>
                      <a:ext cx="66" cy="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79" name="Line 14"/>
                    <p:cNvSpPr>
                      <a:spLocks noChangeShapeType="1"/>
                    </p:cNvSpPr>
                    <p:nvPr/>
                  </p:nvSpPr>
                  <p:spPr bwMode="auto">
                    <a:xfrm>
                      <a:off x="3990" y="2055"/>
                      <a:ext cx="66" cy="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7767" name="Group 15"/>
                  <p:cNvGrpSpPr>
                    <a:grpSpLocks/>
                  </p:cNvGrpSpPr>
                  <p:nvPr/>
                </p:nvGrpSpPr>
                <p:grpSpPr bwMode="auto">
                  <a:xfrm>
                    <a:off x="3925" y="2070"/>
                    <a:ext cx="131" cy="28"/>
                    <a:chOff x="3925" y="2070"/>
                    <a:chExt cx="131" cy="28"/>
                  </a:xfrm>
                </p:grpSpPr>
                <p:sp>
                  <p:nvSpPr>
                    <p:cNvPr id="27776" name="Line 16"/>
                    <p:cNvSpPr>
                      <a:spLocks noChangeShapeType="1"/>
                    </p:cNvSpPr>
                    <p:nvPr/>
                  </p:nvSpPr>
                  <p:spPr bwMode="auto">
                    <a:xfrm flipH="1">
                      <a:off x="3990" y="2070"/>
                      <a:ext cx="66" cy="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77" name="Line 17"/>
                    <p:cNvSpPr>
                      <a:spLocks noChangeShapeType="1"/>
                    </p:cNvSpPr>
                    <p:nvPr/>
                  </p:nvSpPr>
                  <p:spPr bwMode="auto">
                    <a:xfrm flipH="1">
                      <a:off x="3925" y="2084"/>
                      <a:ext cx="66" cy="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7768" name="Group 18"/>
                  <p:cNvGrpSpPr>
                    <a:grpSpLocks/>
                  </p:cNvGrpSpPr>
                  <p:nvPr/>
                </p:nvGrpSpPr>
                <p:grpSpPr bwMode="auto">
                  <a:xfrm>
                    <a:off x="3925" y="2012"/>
                    <a:ext cx="131" cy="28"/>
                    <a:chOff x="3925" y="2012"/>
                    <a:chExt cx="131" cy="28"/>
                  </a:xfrm>
                </p:grpSpPr>
                <p:sp>
                  <p:nvSpPr>
                    <p:cNvPr id="27774" name="Line 19"/>
                    <p:cNvSpPr>
                      <a:spLocks noChangeShapeType="1"/>
                    </p:cNvSpPr>
                    <p:nvPr/>
                  </p:nvSpPr>
                  <p:spPr bwMode="auto">
                    <a:xfrm flipH="1">
                      <a:off x="3990" y="2012"/>
                      <a:ext cx="66" cy="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75" name="Line 20"/>
                    <p:cNvSpPr>
                      <a:spLocks noChangeShapeType="1"/>
                    </p:cNvSpPr>
                    <p:nvPr/>
                  </p:nvSpPr>
                  <p:spPr bwMode="auto">
                    <a:xfrm flipH="1">
                      <a:off x="3925" y="2026"/>
                      <a:ext cx="66" cy="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7769" name="Group 21"/>
                  <p:cNvGrpSpPr>
                    <a:grpSpLocks/>
                  </p:cNvGrpSpPr>
                  <p:nvPr/>
                </p:nvGrpSpPr>
                <p:grpSpPr bwMode="auto">
                  <a:xfrm>
                    <a:off x="3925" y="1954"/>
                    <a:ext cx="131" cy="28"/>
                    <a:chOff x="3925" y="1954"/>
                    <a:chExt cx="131" cy="28"/>
                  </a:xfrm>
                </p:grpSpPr>
                <p:sp>
                  <p:nvSpPr>
                    <p:cNvPr id="27772" name="Line 22"/>
                    <p:cNvSpPr>
                      <a:spLocks noChangeShapeType="1"/>
                    </p:cNvSpPr>
                    <p:nvPr/>
                  </p:nvSpPr>
                  <p:spPr bwMode="auto">
                    <a:xfrm flipH="1">
                      <a:off x="3990" y="1954"/>
                      <a:ext cx="66" cy="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73" name="Line 23"/>
                    <p:cNvSpPr>
                      <a:spLocks noChangeShapeType="1"/>
                    </p:cNvSpPr>
                    <p:nvPr/>
                  </p:nvSpPr>
                  <p:spPr bwMode="auto">
                    <a:xfrm flipH="1">
                      <a:off x="3925" y="1968"/>
                      <a:ext cx="66" cy="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7770" name="Line 24"/>
                  <p:cNvSpPr>
                    <a:spLocks noChangeShapeType="1"/>
                  </p:cNvSpPr>
                  <p:nvPr/>
                </p:nvSpPr>
                <p:spPr bwMode="auto">
                  <a:xfrm>
                    <a:off x="3989" y="2113"/>
                    <a:ext cx="1" cy="2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71" name="Line 25"/>
                  <p:cNvSpPr>
                    <a:spLocks noChangeShapeType="1"/>
                  </p:cNvSpPr>
                  <p:nvPr/>
                </p:nvSpPr>
                <p:spPr bwMode="auto">
                  <a:xfrm>
                    <a:off x="3925" y="2098"/>
                    <a:ext cx="66" cy="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7678" name="Group 26"/>
                <p:cNvGrpSpPr>
                  <a:grpSpLocks/>
                </p:cNvGrpSpPr>
                <p:nvPr/>
              </p:nvGrpSpPr>
              <p:grpSpPr bwMode="auto">
                <a:xfrm>
                  <a:off x="3269" y="1911"/>
                  <a:ext cx="130" cy="230"/>
                  <a:chOff x="3269" y="1911"/>
                  <a:chExt cx="130" cy="230"/>
                </a:xfrm>
              </p:grpSpPr>
              <p:sp>
                <p:nvSpPr>
                  <p:cNvPr id="27759" name="Line 27"/>
                  <p:cNvSpPr>
                    <a:spLocks noChangeShapeType="1"/>
                  </p:cNvSpPr>
                  <p:nvPr/>
                </p:nvSpPr>
                <p:spPr bwMode="auto">
                  <a:xfrm flipH="1">
                    <a:off x="3269" y="2054"/>
                    <a:ext cx="13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60" name="Line 28"/>
                  <p:cNvSpPr>
                    <a:spLocks noChangeShapeType="1"/>
                  </p:cNvSpPr>
                  <p:nvPr/>
                </p:nvSpPr>
                <p:spPr bwMode="auto">
                  <a:xfrm>
                    <a:off x="3334" y="2061"/>
                    <a:ext cx="1" cy="8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61" name="Line 29"/>
                  <p:cNvSpPr>
                    <a:spLocks noChangeShapeType="1"/>
                  </p:cNvSpPr>
                  <p:nvPr/>
                </p:nvSpPr>
                <p:spPr bwMode="auto">
                  <a:xfrm flipH="1">
                    <a:off x="3269" y="1982"/>
                    <a:ext cx="13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62" name="Line 30"/>
                  <p:cNvSpPr>
                    <a:spLocks noChangeShapeType="1"/>
                  </p:cNvSpPr>
                  <p:nvPr/>
                </p:nvSpPr>
                <p:spPr bwMode="auto">
                  <a:xfrm>
                    <a:off x="3334" y="1911"/>
                    <a:ext cx="1" cy="8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7679" name="Group 31"/>
                <p:cNvGrpSpPr>
                  <a:grpSpLocks/>
                </p:cNvGrpSpPr>
                <p:nvPr/>
              </p:nvGrpSpPr>
              <p:grpSpPr bwMode="auto">
                <a:xfrm>
                  <a:off x="3335" y="1683"/>
                  <a:ext cx="655" cy="685"/>
                  <a:chOff x="3335" y="1683"/>
                  <a:chExt cx="655" cy="685"/>
                </a:xfrm>
              </p:grpSpPr>
              <p:sp>
                <p:nvSpPr>
                  <p:cNvPr id="27752" name="Rectangle 32"/>
                  <p:cNvSpPr>
                    <a:spLocks noChangeArrowheads="1"/>
                  </p:cNvSpPr>
                  <p:nvPr/>
                </p:nvSpPr>
                <p:spPr bwMode="auto">
                  <a:xfrm>
                    <a:off x="3500" y="1683"/>
                    <a:ext cx="322" cy="68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nvGrpSpPr>
                  <p:cNvPr id="27753" name="Group 33"/>
                  <p:cNvGrpSpPr>
                    <a:grpSpLocks/>
                  </p:cNvGrpSpPr>
                  <p:nvPr/>
                </p:nvGrpSpPr>
                <p:grpSpPr bwMode="auto">
                  <a:xfrm>
                    <a:off x="3826" y="1853"/>
                    <a:ext cx="164" cy="345"/>
                    <a:chOff x="3826" y="1853"/>
                    <a:chExt cx="164" cy="345"/>
                  </a:xfrm>
                </p:grpSpPr>
                <p:sp>
                  <p:nvSpPr>
                    <p:cNvPr id="27757" name="Line 34"/>
                    <p:cNvSpPr>
                      <a:spLocks noChangeShapeType="1"/>
                    </p:cNvSpPr>
                    <p:nvPr/>
                  </p:nvSpPr>
                  <p:spPr bwMode="auto">
                    <a:xfrm>
                      <a:off x="3826" y="1853"/>
                      <a:ext cx="16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58" name="Line 35"/>
                    <p:cNvSpPr>
                      <a:spLocks noChangeShapeType="1"/>
                    </p:cNvSpPr>
                    <p:nvPr/>
                  </p:nvSpPr>
                  <p:spPr bwMode="auto">
                    <a:xfrm>
                      <a:off x="3826" y="2198"/>
                      <a:ext cx="16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7754" name="Group 36"/>
                  <p:cNvGrpSpPr>
                    <a:grpSpLocks/>
                  </p:cNvGrpSpPr>
                  <p:nvPr/>
                </p:nvGrpSpPr>
                <p:grpSpPr bwMode="auto">
                  <a:xfrm>
                    <a:off x="3335" y="1853"/>
                    <a:ext cx="164" cy="345"/>
                    <a:chOff x="3335" y="1853"/>
                    <a:chExt cx="164" cy="345"/>
                  </a:xfrm>
                </p:grpSpPr>
                <p:sp>
                  <p:nvSpPr>
                    <p:cNvPr id="27755" name="Line 37"/>
                    <p:cNvSpPr>
                      <a:spLocks noChangeShapeType="1"/>
                    </p:cNvSpPr>
                    <p:nvPr/>
                  </p:nvSpPr>
                  <p:spPr bwMode="auto">
                    <a:xfrm>
                      <a:off x="3335" y="1853"/>
                      <a:ext cx="16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56" name="Line 38"/>
                    <p:cNvSpPr>
                      <a:spLocks noChangeShapeType="1"/>
                    </p:cNvSpPr>
                    <p:nvPr/>
                  </p:nvSpPr>
                  <p:spPr bwMode="auto">
                    <a:xfrm>
                      <a:off x="3335" y="2198"/>
                      <a:ext cx="16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27680" name="Group 39"/>
                <p:cNvGrpSpPr>
                  <a:grpSpLocks/>
                </p:cNvGrpSpPr>
                <p:nvPr/>
              </p:nvGrpSpPr>
              <p:grpSpPr bwMode="auto">
                <a:xfrm>
                  <a:off x="3990" y="1683"/>
                  <a:ext cx="656" cy="685"/>
                  <a:chOff x="3990" y="1683"/>
                  <a:chExt cx="656" cy="685"/>
                </a:xfrm>
              </p:grpSpPr>
              <p:sp>
                <p:nvSpPr>
                  <p:cNvPr id="27745" name="Rectangle 40"/>
                  <p:cNvSpPr>
                    <a:spLocks noChangeArrowheads="1"/>
                  </p:cNvSpPr>
                  <p:nvPr/>
                </p:nvSpPr>
                <p:spPr bwMode="auto">
                  <a:xfrm>
                    <a:off x="4156" y="1683"/>
                    <a:ext cx="323" cy="68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nvGrpSpPr>
                  <p:cNvPr id="27746" name="Group 41"/>
                  <p:cNvGrpSpPr>
                    <a:grpSpLocks/>
                  </p:cNvGrpSpPr>
                  <p:nvPr/>
                </p:nvGrpSpPr>
                <p:grpSpPr bwMode="auto">
                  <a:xfrm>
                    <a:off x="4482" y="1853"/>
                    <a:ext cx="164" cy="345"/>
                    <a:chOff x="4482" y="1853"/>
                    <a:chExt cx="164" cy="345"/>
                  </a:xfrm>
                </p:grpSpPr>
                <p:sp>
                  <p:nvSpPr>
                    <p:cNvPr id="27750" name="Line 42"/>
                    <p:cNvSpPr>
                      <a:spLocks noChangeShapeType="1"/>
                    </p:cNvSpPr>
                    <p:nvPr/>
                  </p:nvSpPr>
                  <p:spPr bwMode="auto">
                    <a:xfrm>
                      <a:off x="4482" y="1853"/>
                      <a:ext cx="16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51" name="Line 43"/>
                    <p:cNvSpPr>
                      <a:spLocks noChangeShapeType="1"/>
                    </p:cNvSpPr>
                    <p:nvPr/>
                  </p:nvSpPr>
                  <p:spPr bwMode="auto">
                    <a:xfrm>
                      <a:off x="4482" y="2198"/>
                      <a:ext cx="16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7747" name="Group 44"/>
                  <p:cNvGrpSpPr>
                    <a:grpSpLocks/>
                  </p:cNvGrpSpPr>
                  <p:nvPr/>
                </p:nvGrpSpPr>
                <p:grpSpPr bwMode="auto">
                  <a:xfrm>
                    <a:off x="3990" y="1853"/>
                    <a:ext cx="164" cy="345"/>
                    <a:chOff x="3990" y="1853"/>
                    <a:chExt cx="164" cy="345"/>
                  </a:xfrm>
                </p:grpSpPr>
                <p:sp>
                  <p:nvSpPr>
                    <p:cNvPr id="27748" name="Line 45"/>
                    <p:cNvSpPr>
                      <a:spLocks noChangeShapeType="1"/>
                    </p:cNvSpPr>
                    <p:nvPr/>
                  </p:nvSpPr>
                  <p:spPr bwMode="auto">
                    <a:xfrm>
                      <a:off x="3990" y="1853"/>
                      <a:ext cx="16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49" name="Line 46"/>
                    <p:cNvSpPr>
                      <a:spLocks noChangeShapeType="1"/>
                    </p:cNvSpPr>
                    <p:nvPr/>
                  </p:nvSpPr>
                  <p:spPr bwMode="auto">
                    <a:xfrm>
                      <a:off x="3990" y="2198"/>
                      <a:ext cx="16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7681" name="Line 47"/>
                <p:cNvSpPr>
                  <a:spLocks noChangeShapeType="1"/>
                </p:cNvSpPr>
                <p:nvPr/>
              </p:nvSpPr>
              <p:spPr bwMode="auto">
                <a:xfrm flipV="1">
                  <a:off x="3989" y="1853"/>
                  <a:ext cx="0" cy="5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82" name="Line 48"/>
                <p:cNvSpPr>
                  <a:spLocks noChangeShapeType="1"/>
                </p:cNvSpPr>
                <p:nvPr/>
              </p:nvSpPr>
              <p:spPr bwMode="auto">
                <a:xfrm flipV="1">
                  <a:off x="3989" y="2141"/>
                  <a:ext cx="0" cy="5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7683" name="Group 49"/>
                <p:cNvGrpSpPr>
                  <a:grpSpLocks/>
                </p:cNvGrpSpPr>
                <p:nvPr/>
              </p:nvGrpSpPr>
              <p:grpSpPr bwMode="auto">
                <a:xfrm>
                  <a:off x="2285" y="1683"/>
                  <a:ext cx="656" cy="685"/>
                  <a:chOff x="2285" y="1683"/>
                  <a:chExt cx="656" cy="685"/>
                </a:xfrm>
              </p:grpSpPr>
              <p:sp>
                <p:nvSpPr>
                  <p:cNvPr id="27738" name="Rectangle 50"/>
                  <p:cNvSpPr>
                    <a:spLocks noChangeArrowheads="1"/>
                  </p:cNvSpPr>
                  <p:nvPr/>
                </p:nvSpPr>
                <p:spPr bwMode="auto">
                  <a:xfrm>
                    <a:off x="2451" y="1683"/>
                    <a:ext cx="323" cy="68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nvGrpSpPr>
                  <p:cNvPr id="27739" name="Group 51"/>
                  <p:cNvGrpSpPr>
                    <a:grpSpLocks/>
                  </p:cNvGrpSpPr>
                  <p:nvPr/>
                </p:nvGrpSpPr>
                <p:grpSpPr bwMode="auto">
                  <a:xfrm>
                    <a:off x="2777" y="1853"/>
                    <a:ext cx="164" cy="345"/>
                    <a:chOff x="2777" y="1853"/>
                    <a:chExt cx="164" cy="345"/>
                  </a:xfrm>
                </p:grpSpPr>
                <p:sp>
                  <p:nvSpPr>
                    <p:cNvPr id="27743" name="Line 52"/>
                    <p:cNvSpPr>
                      <a:spLocks noChangeShapeType="1"/>
                    </p:cNvSpPr>
                    <p:nvPr/>
                  </p:nvSpPr>
                  <p:spPr bwMode="auto">
                    <a:xfrm>
                      <a:off x="2777" y="1853"/>
                      <a:ext cx="16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44" name="Line 53"/>
                    <p:cNvSpPr>
                      <a:spLocks noChangeShapeType="1"/>
                    </p:cNvSpPr>
                    <p:nvPr/>
                  </p:nvSpPr>
                  <p:spPr bwMode="auto">
                    <a:xfrm>
                      <a:off x="2777" y="2198"/>
                      <a:ext cx="16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7740" name="Group 54"/>
                  <p:cNvGrpSpPr>
                    <a:grpSpLocks/>
                  </p:cNvGrpSpPr>
                  <p:nvPr/>
                </p:nvGrpSpPr>
                <p:grpSpPr bwMode="auto">
                  <a:xfrm>
                    <a:off x="2285" y="1853"/>
                    <a:ext cx="164" cy="345"/>
                    <a:chOff x="2285" y="1853"/>
                    <a:chExt cx="164" cy="345"/>
                  </a:xfrm>
                </p:grpSpPr>
                <p:sp>
                  <p:nvSpPr>
                    <p:cNvPr id="27741" name="Line 55"/>
                    <p:cNvSpPr>
                      <a:spLocks noChangeShapeType="1"/>
                    </p:cNvSpPr>
                    <p:nvPr/>
                  </p:nvSpPr>
                  <p:spPr bwMode="auto">
                    <a:xfrm>
                      <a:off x="2285" y="1853"/>
                      <a:ext cx="16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42" name="Line 56"/>
                    <p:cNvSpPr>
                      <a:spLocks noChangeShapeType="1"/>
                    </p:cNvSpPr>
                    <p:nvPr/>
                  </p:nvSpPr>
                  <p:spPr bwMode="auto">
                    <a:xfrm>
                      <a:off x="2285" y="2198"/>
                      <a:ext cx="16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27684" name="Group 57"/>
                <p:cNvGrpSpPr>
                  <a:grpSpLocks/>
                </p:cNvGrpSpPr>
                <p:nvPr/>
              </p:nvGrpSpPr>
              <p:grpSpPr bwMode="auto">
                <a:xfrm>
                  <a:off x="2875" y="1910"/>
                  <a:ext cx="66" cy="230"/>
                  <a:chOff x="2875" y="1910"/>
                  <a:chExt cx="66" cy="230"/>
                </a:xfrm>
              </p:grpSpPr>
              <p:grpSp>
                <p:nvGrpSpPr>
                  <p:cNvPr id="27724" name="Group 58"/>
                  <p:cNvGrpSpPr>
                    <a:grpSpLocks/>
                  </p:cNvGrpSpPr>
                  <p:nvPr/>
                </p:nvGrpSpPr>
                <p:grpSpPr bwMode="auto">
                  <a:xfrm>
                    <a:off x="2875" y="1980"/>
                    <a:ext cx="66" cy="45"/>
                    <a:chOff x="2875" y="1980"/>
                    <a:chExt cx="66" cy="45"/>
                  </a:xfrm>
                </p:grpSpPr>
                <p:sp>
                  <p:nvSpPr>
                    <p:cNvPr id="27736" name="Arc 59"/>
                    <p:cNvSpPr>
                      <a:spLocks/>
                    </p:cNvSpPr>
                    <p:nvPr/>
                  </p:nvSpPr>
                  <p:spPr bwMode="auto">
                    <a:xfrm>
                      <a:off x="2875" y="2002"/>
                      <a:ext cx="66" cy="23"/>
                    </a:xfrm>
                    <a:custGeom>
                      <a:avLst/>
                      <a:gdLst>
                        <a:gd name="T0" fmla="*/ 65 w 21600"/>
                        <a:gd name="T1" fmla="*/ 23 h 21597"/>
                        <a:gd name="T2" fmla="*/ 0 w 21600"/>
                        <a:gd name="T3" fmla="*/ 0 h 21597"/>
                        <a:gd name="T4" fmla="*/ 66 w 21600"/>
                        <a:gd name="T5" fmla="*/ 0 h 21597"/>
                        <a:gd name="T6" fmla="*/ 0 60000 65536"/>
                        <a:gd name="T7" fmla="*/ 0 60000 65536"/>
                        <a:gd name="T8" fmla="*/ 0 60000 65536"/>
                        <a:gd name="T9" fmla="*/ 0 w 21600"/>
                        <a:gd name="T10" fmla="*/ 0 h 21597"/>
                        <a:gd name="T11" fmla="*/ 21600 w 21600"/>
                        <a:gd name="T12" fmla="*/ 21597 h 21597"/>
                      </a:gdLst>
                      <a:ahLst/>
                      <a:cxnLst>
                        <a:cxn ang="T6">
                          <a:pos x="T0" y="T1"/>
                        </a:cxn>
                        <a:cxn ang="T7">
                          <a:pos x="T2" y="T3"/>
                        </a:cxn>
                        <a:cxn ang="T8">
                          <a:pos x="T4" y="T5"/>
                        </a:cxn>
                      </a:cxnLst>
                      <a:rect l="T9" t="T10" r="T11" b="T12"/>
                      <a:pathLst>
                        <a:path w="21600" h="21597" fill="none" extrusionOk="0">
                          <a:moveTo>
                            <a:pt x="21257" y="21597"/>
                          </a:moveTo>
                          <a:cubicBezTo>
                            <a:pt x="9463" y="21410"/>
                            <a:pt x="0" y="11796"/>
                            <a:pt x="0" y="0"/>
                          </a:cubicBezTo>
                        </a:path>
                        <a:path w="21600" h="21597" stroke="0" extrusionOk="0">
                          <a:moveTo>
                            <a:pt x="21257" y="21597"/>
                          </a:moveTo>
                          <a:cubicBezTo>
                            <a:pt x="9463" y="21410"/>
                            <a:pt x="0" y="11796"/>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7737" name="Arc 60"/>
                    <p:cNvSpPr>
                      <a:spLocks/>
                    </p:cNvSpPr>
                    <p:nvPr/>
                  </p:nvSpPr>
                  <p:spPr bwMode="auto">
                    <a:xfrm>
                      <a:off x="2875" y="1980"/>
                      <a:ext cx="66" cy="23"/>
                    </a:xfrm>
                    <a:custGeom>
                      <a:avLst/>
                      <a:gdLst>
                        <a:gd name="T0" fmla="*/ 0 w 21600"/>
                        <a:gd name="T1" fmla="*/ 23 h 21598"/>
                        <a:gd name="T2" fmla="*/ 65 w 21600"/>
                        <a:gd name="T3" fmla="*/ 0 h 21598"/>
                        <a:gd name="T4" fmla="*/ 66 w 21600"/>
                        <a:gd name="T5" fmla="*/ 23 h 21598"/>
                        <a:gd name="T6" fmla="*/ 0 60000 65536"/>
                        <a:gd name="T7" fmla="*/ 0 60000 65536"/>
                        <a:gd name="T8" fmla="*/ 0 60000 65536"/>
                        <a:gd name="T9" fmla="*/ 0 w 21600"/>
                        <a:gd name="T10" fmla="*/ 0 h 21598"/>
                        <a:gd name="T11" fmla="*/ 21600 w 21600"/>
                        <a:gd name="T12" fmla="*/ 21598 h 21598"/>
                      </a:gdLst>
                      <a:ahLst/>
                      <a:cxnLst>
                        <a:cxn ang="T6">
                          <a:pos x="T0" y="T1"/>
                        </a:cxn>
                        <a:cxn ang="T7">
                          <a:pos x="T2" y="T3"/>
                        </a:cxn>
                        <a:cxn ang="T8">
                          <a:pos x="T4" y="T5"/>
                        </a:cxn>
                      </a:cxnLst>
                      <a:rect l="T9" t="T10" r="T11" b="T12"/>
                      <a:pathLst>
                        <a:path w="21600" h="21598" fill="none" extrusionOk="0">
                          <a:moveTo>
                            <a:pt x="0" y="21598"/>
                          </a:moveTo>
                          <a:cubicBezTo>
                            <a:pt x="0" y="9796"/>
                            <a:pt x="9472" y="179"/>
                            <a:pt x="21273" y="0"/>
                          </a:cubicBezTo>
                        </a:path>
                        <a:path w="21600" h="21598" stroke="0" extrusionOk="0">
                          <a:moveTo>
                            <a:pt x="0" y="21598"/>
                          </a:moveTo>
                          <a:cubicBezTo>
                            <a:pt x="0" y="9796"/>
                            <a:pt x="9472" y="179"/>
                            <a:pt x="21273" y="0"/>
                          </a:cubicBezTo>
                          <a:lnTo>
                            <a:pt x="21600" y="21598"/>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7725" name="Group 61"/>
                  <p:cNvGrpSpPr>
                    <a:grpSpLocks/>
                  </p:cNvGrpSpPr>
                  <p:nvPr/>
                </p:nvGrpSpPr>
                <p:grpSpPr bwMode="auto">
                  <a:xfrm>
                    <a:off x="2875" y="2026"/>
                    <a:ext cx="66" cy="46"/>
                    <a:chOff x="2875" y="2026"/>
                    <a:chExt cx="66" cy="46"/>
                  </a:xfrm>
                </p:grpSpPr>
                <p:sp>
                  <p:nvSpPr>
                    <p:cNvPr id="27734" name="Arc 62"/>
                    <p:cNvSpPr>
                      <a:spLocks/>
                    </p:cNvSpPr>
                    <p:nvPr/>
                  </p:nvSpPr>
                  <p:spPr bwMode="auto">
                    <a:xfrm>
                      <a:off x="2875" y="2049"/>
                      <a:ext cx="66" cy="23"/>
                    </a:xfrm>
                    <a:custGeom>
                      <a:avLst/>
                      <a:gdLst>
                        <a:gd name="T0" fmla="*/ 65 w 21600"/>
                        <a:gd name="T1" fmla="*/ 23 h 21597"/>
                        <a:gd name="T2" fmla="*/ 0 w 21600"/>
                        <a:gd name="T3" fmla="*/ 0 h 21597"/>
                        <a:gd name="T4" fmla="*/ 66 w 21600"/>
                        <a:gd name="T5" fmla="*/ 0 h 21597"/>
                        <a:gd name="T6" fmla="*/ 0 60000 65536"/>
                        <a:gd name="T7" fmla="*/ 0 60000 65536"/>
                        <a:gd name="T8" fmla="*/ 0 60000 65536"/>
                        <a:gd name="T9" fmla="*/ 0 w 21600"/>
                        <a:gd name="T10" fmla="*/ 0 h 21597"/>
                        <a:gd name="T11" fmla="*/ 21600 w 21600"/>
                        <a:gd name="T12" fmla="*/ 21597 h 21597"/>
                      </a:gdLst>
                      <a:ahLst/>
                      <a:cxnLst>
                        <a:cxn ang="T6">
                          <a:pos x="T0" y="T1"/>
                        </a:cxn>
                        <a:cxn ang="T7">
                          <a:pos x="T2" y="T3"/>
                        </a:cxn>
                        <a:cxn ang="T8">
                          <a:pos x="T4" y="T5"/>
                        </a:cxn>
                      </a:cxnLst>
                      <a:rect l="T9" t="T10" r="T11" b="T12"/>
                      <a:pathLst>
                        <a:path w="21600" h="21597" fill="none" extrusionOk="0">
                          <a:moveTo>
                            <a:pt x="21257" y="21597"/>
                          </a:moveTo>
                          <a:cubicBezTo>
                            <a:pt x="9463" y="21410"/>
                            <a:pt x="0" y="11796"/>
                            <a:pt x="0" y="0"/>
                          </a:cubicBezTo>
                        </a:path>
                        <a:path w="21600" h="21597" stroke="0" extrusionOk="0">
                          <a:moveTo>
                            <a:pt x="21257" y="21597"/>
                          </a:moveTo>
                          <a:cubicBezTo>
                            <a:pt x="9463" y="21410"/>
                            <a:pt x="0" y="11796"/>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7735" name="Arc 63"/>
                    <p:cNvSpPr>
                      <a:spLocks/>
                    </p:cNvSpPr>
                    <p:nvPr/>
                  </p:nvSpPr>
                  <p:spPr bwMode="auto">
                    <a:xfrm>
                      <a:off x="2875" y="2026"/>
                      <a:ext cx="66" cy="23"/>
                    </a:xfrm>
                    <a:custGeom>
                      <a:avLst/>
                      <a:gdLst>
                        <a:gd name="T0" fmla="*/ 0 w 21600"/>
                        <a:gd name="T1" fmla="*/ 23 h 21598"/>
                        <a:gd name="T2" fmla="*/ 65 w 21600"/>
                        <a:gd name="T3" fmla="*/ 0 h 21598"/>
                        <a:gd name="T4" fmla="*/ 66 w 21600"/>
                        <a:gd name="T5" fmla="*/ 23 h 21598"/>
                        <a:gd name="T6" fmla="*/ 0 60000 65536"/>
                        <a:gd name="T7" fmla="*/ 0 60000 65536"/>
                        <a:gd name="T8" fmla="*/ 0 60000 65536"/>
                        <a:gd name="T9" fmla="*/ 0 w 21600"/>
                        <a:gd name="T10" fmla="*/ 0 h 21598"/>
                        <a:gd name="T11" fmla="*/ 21600 w 21600"/>
                        <a:gd name="T12" fmla="*/ 21598 h 21598"/>
                      </a:gdLst>
                      <a:ahLst/>
                      <a:cxnLst>
                        <a:cxn ang="T6">
                          <a:pos x="T0" y="T1"/>
                        </a:cxn>
                        <a:cxn ang="T7">
                          <a:pos x="T2" y="T3"/>
                        </a:cxn>
                        <a:cxn ang="T8">
                          <a:pos x="T4" y="T5"/>
                        </a:cxn>
                      </a:cxnLst>
                      <a:rect l="T9" t="T10" r="T11" b="T12"/>
                      <a:pathLst>
                        <a:path w="21600" h="21598" fill="none" extrusionOk="0">
                          <a:moveTo>
                            <a:pt x="0" y="21598"/>
                          </a:moveTo>
                          <a:cubicBezTo>
                            <a:pt x="0" y="9796"/>
                            <a:pt x="9472" y="179"/>
                            <a:pt x="21273" y="0"/>
                          </a:cubicBezTo>
                        </a:path>
                        <a:path w="21600" h="21598" stroke="0" extrusionOk="0">
                          <a:moveTo>
                            <a:pt x="0" y="21598"/>
                          </a:moveTo>
                          <a:cubicBezTo>
                            <a:pt x="0" y="9796"/>
                            <a:pt x="9472" y="179"/>
                            <a:pt x="21273" y="0"/>
                          </a:cubicBezTo>
                          <a:lnTo>
                            <a:pt x="21600" y="21598"/>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7726" name="Group 64"/>
                  <p:cNvGrpSpPr>
                    <a:grpSpLocks/>
                  </p:cNvGrpSpPr>
                  <p:nvPr/>
                </p:nvGrpSpPr>
                <p:grpSpPr bwMode="auto">
                  <a:xfrm>
                    <a:off x="2875" y="2072"/>
                    <a:ext cx="66" cy="46"/>
                    <a:chOff x="2875" y="2072"/>
                    <a:chExt cx="66" cy="46"/>
                  </a:xfrm>
                </p:grpSpPr>
                <p:sp>
                  <p:nvSpPr>
                    <p:cNvPr id="27732" name="Arc 65"/>
                    <p:cNvSpPr>
                      <a:spLocks/>
                    </p:cNvSpPr>
                    <p:nvPr/>
                  </p:nvSpPr>
                  <p:spPr bwMode="auto">
                    <a:xfrm>
                      <a:off x="2875" y="2095"/>
                      <a:ext cx="66" cy="23"/>
                    </a:xfrm>
                    <a:custGeom>
                      <a:avLst/>
                      <a:gdLst>
                        <a:gd name="T0" fmla="*/ 65 w 21600"/>
                        <a:gd name="T1" fmla="*/ 23 h 21597"/>
                        <a:gd name="T2" fmla="*/ 0 w 21600"/>
                        <a:gd name="T3" fmla="*/ 0 h 21597"/>
                        <a:gd name="T4" fmla="*/ 66 w 21600"/>
                        <a:gd name="T5" fmla="*/ 0 h 21597"/>
                        <a:gd name="T6" fmla="*/ 0 60000 65536"/>
                        <a:gd name="T7" fmla="*/ 0 60000 65536"/>
                        <a:gd name="T8" fmla="*/ 0 60000 65536"/>
                        <a:gd name="T9" fmla="*/ 0 w 21600"/>
                        <a:gd name="T10" fmla="*/ 0 h 21597"/>
                        <a:gd name="T11" fmla="*/ 21600 w 21600"/>
                        <a:gd name="T12" fmla="*/ 21597 h 21597"/>
                      </a:gdLst>
                      <a:ahLst/>
                      <a:cxnLst>
                        <a:cxn ang="T6">
                          <a:pos x="T0" y="T1"/>
                        </a:cxn>
                        <a:cxn ang="T7">
                          <a:pos x="T2" y="T3"/>
                        </a:cxn>
                        <a:cxn ang="T8">
                          <a:pos x="T4" y="T5"/>
                        </a:cxn>
                      </a:cxnLst>
                      <a:rect l="T9" t="T10" r="T11" b="T12"/>
                      <a:pathLst>
                        <a:path w="21600" h="21597" fill="none" extrusionOk="0">
                          <a:moveTo>
                            <a:pt x="21257" y="21597"/>
                          </a:moveTo>
                          <a:cubicBezTo>
                            <a:pt x="9463" y="21410"/>
                            <a:pt x="0" y="11796"/>
                            <a:pt x="0" y="0"/>
                          </a:cubicBezTo>
                        </a:path>
                        <a:path w="21600" h="21597" stroke="0" extrusionOk="0">
                          <a:moveTo>
                            <a:pt x="21257" y="21597"/>
                          </a:moveTo>
                          <a:cubicBezTo>
                            <a:pt x="9463" y="21410"/>
                            <a:pt x="0" y="11796"/>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7733" name="Arc 66"/>
                    <p:cNvSpPr>
                      <a:spLocks/>
                    </p:cNvSpPr>
                    <p:nvPr/>
                  </p:nvSpPr>
                  <p:spPr bwMode="auto">
                    <a:xfrm>
                      <a:off x="2875" y="2072"/>
                      <a:ext cx="66" cy="24"/>
                    </a:xfrm>
                    <a:custGeom>
                      <a:avLst/>
                      <a:gdLst>
                        <a:gd name="T0" fmla="*/ 0 w 21600"/>
                        <a:gd name="T1" fmla="*/ 24 h 21598"/>
                        <a:gd name="T2" fmla="*/ 65 w 21600"/>
                        <a:gd name="T3" fmla="*/ 0 h 21598"/>
                        <a:gd name="T4" fmla="*/ 66 w 21600"/>
                        <a:gd name="T5" fmla="*/ 24 h 21598"/>
                        <a:gd name="T6" fmla="*/ 0 60000 65536"/>
                        <a:gd name="T7" fmla="*/ 0 60000 65536"/>
                        <a:gd name="T8" fmla="*/ 0 60000 65536"/>
                        <a:gd name="T9" fmla="*/ 0 w 21600"/>
                        <a:gd name="T10" fmla="*/ 0 h 21598"/>
                        <a:gd name="T11" fmla="*/ 21600 w 21600"/>
                        <a:gd name="T12" fmla="*/ 21598 h 21598"/>
                      </a:gdLst>
                      <a:ahLst/>
                      <a:cxnLst>
                        <a:cxn ang="T6">
                          <a:pos x="T0" y="T1"/>
                        </a:cxn>
                        <a:cxn ang="T7">
                          <a:pos x="T2" y="T3"/>
                        </a:cxn>
                        <a:cxn ang="T8">
                          <a:pos x="T4" y="T5"/>
                        </a:cxn>
                      </a:cxnLst>
                      <a:rect l="T9" t="T10" r="T11" b="T12"/>
                      <a:pathLst>
                        <a:path w="21600" h="21598" fill="none" extrusionOk="0">
                          <a:moveTo>
                            <a:pt x="0" y="21598"/>
                          </a:moveTo>
                          <a:cubicBezTo>
                            <a:pt x="0" y="9796"/>
                            <a:pt x="9472" y="179"/>
                            <a:pt x="21273" y="0"/>
                          </a:cubicBezTo>
                        </a:path>
                        <a:path w="21600" h="21598" stroke="0" extrusionOk="0">
                          <a:moveTo>
                            <a:pt x="0" y="21598"/>
                          </a:moveTo>
                          <a:cubicBezTo>
                            <a:pt x="0" y="9796"/>
                            <a:pt x="9472" y="179"/>
                            <a:pt x="21273" y="0"/>
                          </a:cubicBezTo>
                          <a:lnTo>
                            <a:pt x="21600" y="21598"/>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7727" name="Group 67"/>
                  <p:cNvGrpSpPr>
                    <a:grpSpLocks/>
                  </p:cNvGrpSpPr>
                  <p:nvPr/>
                </p:nvGrpSpPr>
                <p:grpSpPr bwMode="auto">
                  <a:xfrm>
                    <a:off x="2875" y="1934"/>
                    <a:ext cx="66" cy="45"/>
                    <a:chOff x="2875" y="1934"/>
                    <a:chExt cx="66" cy="45"/>
                  </a:xfrm>
                </p:grpSpPr>
                <p:sp>
                  <p:nvSpPr>
                    <p:cNvPr id="27730" name="Arc 68"/>
                    <p:cNvSpPr>
                      <a:spLocks/>
                    </p:cNvSpPr>
                    <p:nvPr/>
                  </p:nvSpPr>
                  <p:spPr bwMode="auto">
                    <a:xfrm>
                      <a:off x="2875" y="1956"/>
                      <a:ext cx="66" cy="23"/>
                    </a:xfrm>
                    <a:custGeom>
                      <a:avLst/>
                      <a:gdLst>
                        <a:gd name="T0" fmla="*/ 65 w 21600"/>
                        <a:gd name="T1" fmla="*/ 23 h 21597"/>
                        <a:gd name="T2" fmla="*/ 0 w 21600"/>
                        <a:gd name="T3" fmla="*/ 0 h 21597"/>
                        <a:gd name="T4" fmla="*/ 66 w 21600"/>
                        <a:gd name="T5" fmla="*/ 0 h 21597"/>
                        <a:gd name="T6" fmla="*/ 0 60000 65536"/>
                        <a:gd name="T7" fmla="*/ 0 60000 65536"/>
                        <a:gd name="T8" fmla="*/ 0 60000 65536"/>
                        <a:gd name="T9" fmla="*/ 0 w 21600"/>
                        <a:gd name="T10" fmla="*/ 0 h 21597"/>
                        <a:gd name="T11" fmla="*/ 21600 w 21600"/>
                        <a:gd name="T12" fmla="*/ 21597 h 21597"/>
                      </a:gdLst>
                      <a:ahLst/>
                      <a:cxnLst>
                        <a:cxn ang="T6">
                          <a:pos x="T0" y="T1"/>
                        </a:cxn>
                        <a:cxn ang="T7">
                          <a:pos x="T2" y="T3"/>
                        </a:cxn>
                        <a:cxn ang="T8">
                          <a:pos x="T4" y="T5"/>
                        </a:cxn>
                      </a:cxnLst>
                      <a:rect l="T9" t="T10" r="T11" b="T12"/>
                      <a:pathLst>
                        <a:path w="21600" h="21597" fill="none" extrusionOk="0">
                          <a:moveTo>
                            <a:pt x="21257" y="21597"/>
                          </a:moveTo>
                          <a:cubicBezTo>
                            <a:pt x="9463" y="21410"/>
                            <a:pt x="0" y="11796"/>
                            <a:pt x="0" y="0"/>
                          </a:cubicBezTo>
                        </a:path>
                        <a:path w="21600" h="21597" stroke="0" extrusionOk="0">
                          <a:moveTo>
                            <a:pt x="21257" y="21597"/>
                          </a:moveTo>
                          <a:cubicBezTo>
                            <a:pt x="9463" y="21410"/>
                            <a:pt x="0" y="11796"/>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7731" name="Arc 69"/>
                    <p:cNvSpPr>
                      <a:spLocks/>
                    </p:cNvSpPr>
                    <p:nvPr/>
                  </p:nvSpPr>
                  <p:spPr bwMode="auto">
                    <a:xfrm>
                      <a:off x="2875" y="1934"/>
                      <a:ext cx="66" cy="23"/>
                    </a:xfrm>
                    <a:custGeom>
                      <a:avLst/>
                      <a:gdLst>
                        <a:gd name="T0" fmla="*/ 0 w 21600"/>
                        <a:gd name="T1" fmla="*/ 23 h 21598"/>
                        <a:gd name="T2" fmla="*/ 65 w 21600"/>
                        <a:gd name="T3" fmla="*/ 0 h 21598"/>
                        <a:gd name="T4" fmla="*/ 66 w 21600"/>
                        <a:gd name="T5" fmla="*/ 23 h 21598"/>
                        <a:gd name="T6" fmla="*/ 0 60000 65536"/>
                        <a:gd name="T7" fmla="*/ 0 60000 65536"/>
                        <a:gd name="T8" fmla="*/ 0 60000 65536"/>
                        <a:gd name="T9" fmla="*/ 0 w 21600"/>
                        <a:gd name="T10" fmla="*/ 0 h 21598"/>
                        <a:gd name="T11" fmla="*/ 21600 w 21600"/>
                        <a:gd name="T12" fmla="*/ 21598 h 21598"/>
                      </a:gdLst>
                      <a:ahLst/>
                      <a:cxnLst>
                        <a:cxn ang="T6">
                          <a:pos x="T0" y="T1"/>
                        </a:cxn>
                        <a:cxn ang="T7">
                          <a:pos x="T2" y="T3"/>
                        </a:cxn>
                        <a:cxn ang="T8">
                          <a:pos x="T4" y="T5"/>
                        </a:cxn>
                      </a:cxnLst>
                      <a:rect l="T9" t="T10" r="T11" b="T12"/>
                      <a:pathLst>
                        <a:path w="21600" h="21598" fill="none" extrusionOk="0">
                          <a:moveTo>
                            <a:pt x="0" y="21598"/>
                          </a:moveTo>
                          <a:cubicBezTo>
                            <a:pt x="0" y="9796"/>
                            <a:pt x="9472" y="179"/>
                            <a:pt x="21273" y="0"/>
                          </a:cubicBezTo>
                        </a:path>
                        <a:path w="21600" h="21598" stroke="0" extrusionOk="0">
                          <a:moveTo>
                            <a:pt x="0" y="21598"/>
                          </a:moveTo>
                          <a:cubicBezTo>
                            <a:pt x="0" y="9796"/>
                            <a:pt x="9472" y="179"/>
                            <a:pt x="21273" y="0"/>
                          </a:cubicBezTo>
                          <a:lnTo>
                            <a:pt x="21600" y="21598"/>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sp>
                <p:nvSpPr>
                  <p:cNvPr id="27728" name="Line 70"/>
                  <p:cNvSpPr>
                    <a:spLocks noChangeShapeType="1"/>
                  </p:cNvSpPr>
                  <p:nvPr/>
                </p:nvSpPr>
                <p:spPr bwMode="auto">
                  <a:xfrm flipV="1">
                    <a:off x="2940" y="1910"/>
                    <a:ext cx="0"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29" name="Line 71"/>
                  <p:cNvSpPr>
                    <a:spLocks noChangeShapeType="1"/>
                  </p:cNvSpPr>
                  <p:nvPr/>
                </p:nvSpPr>
                <p:spPr bwMode="auto">
                  <a:xfrm flipV="1">
                    <a:off x="2940" y="2118"/>
                    <a:ext cx="0"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7685" name="Line 72"/>
                <p:cNvSpPr>
                  <a:spLocks noChangeShapeType="1"/>
                </p:cNvSpPr>
                <p:nvPr/>
              </p:nvSpPr>
              <p:spPr bwMode="auto">
                <a:xfrm flipV="1">
                  <a:off x="2940" y="2141"/>
                  <a:ext cx="0" cy="5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86" name="Line 73"/>
                <p:cNvSpPr>
                  <a:spLocks noChangeShapeType="1"/>
                </p:cNvSpPr>
                <p:nvPr/>
              </p:nvSpPr>
              <p:spPr bwMode="auto">
                <a:xfrm flipV="1">
                  <a:off x="2940" y="1853"/>
                  <a:ext cx="0" cy="5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7687" name="Group 74"/>
                <p:cNvGrpSpPr>
                  <a:grpSpLocks/>
                </p:cNvGrpSpPr>
                <p:nvPr/>
              </p:nvGrpSpPr>
              <p:grpSpPr bwMode="auto">
                <a:xfrm>
                  <a:off x="3006" y="1795"/>
                  <a:ext cx="262" cy="115"/>
                  <a:chOff x="3006" y="1795"/>
                  <a:chExt cx="262" cy="115"/>
                </a:xfrm>
              </p:grpSpPr>
              <p:sp>
                <p:nvSpPr>
                  <p:cNvPr id="27718" name="Line 75"/>
                  <p:cNvSpPr>
                    <a:spLocks noChangeShapeType="1"/>
                  </p:cNvSpPr>
                  <p:nvPr/>
                </p:nvSpPr>
                <p:spPr bwMode="auto">
                  <a:xfrm flipV="1">
                    <a:off x="3071" y="1796"/>
                    <a:ext cx="130" cy="5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19" name="Line 76"/>
                  <p:cNvSpPr>
                    <a:spLocks noChangeShapeType="1"/>
                  </p:cNvSpPr>
                  <p:nvPr/>
                </p:nvSpPr>
                <p:spPr bwMode="auto">
                  <a:xfrm>
                    <a:off x="3072" y="1853"/>
                    <a:ext cx="130" cy="5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20" name="Line 77"/>
                  <p:cNvSpPr>
                    <a:spLocks noChangeShapeType="1"/>
                  </p:cNvSpPr>
                  <p:nvPr/>
                </p:nvSpPr>
                <p:spPr bwMode="auto">
                  <a:xfrm flipV="1">
                    <a:off x="3202" y="1795"/>
                    <a:ext cx="0" cy="1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21" name="Line 78"/>
                  <p:cNvSpPr>
                    <a:spLocks noChangeShapeType="1"/>
                  </p:cNvSpPr>
                  <p:nvPr/>
                </p:nvSpPr>
                <p:spPr bwMode="auto">
                  <a:xfrm flipV="1">
                    <a:off x="3071" y="1795"/>
                    <a:ext cx="0" cy="1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22" name="Line 79"/>
                  <p:cNvSpPr>
                    <a:spLocks noChangeShapeType="1"/>
                  </p:cNvSpPr>
                  <p:nvPr/>
                </p:nvSpPr>
                <p:spPr bwMode="auto">
                  <a:xfrm flipH="1">
                    <a:off x="3006" y="1852"/>
                    <a:ext cx="65"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23" name="Line 80"/>
                  <p:cNvSpPr>
                    <a:spLocks noChangeShapeType="1"/>
                  </p:cNvSpPr>
                  <p:nvPr/>
                </p:nvSpPr>
                <p:spPr bwMode="auto">
                  <a:xfrm flipH="1">
                    <a:off x="3203" y="1852"/>
                    <a:ext cx="65"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7688" name="Line 81"/>
                <p:cNvSpPr>
                  <a:spLocks noChangeShapeType="1"/>
                </p:cNvSpPr>
                <p:nvPr/>
              </p:nvSpPr>
              <p:spPr bwMode="auto">
                <a:xfrm>
                  <a:off x="2941" y="2198"/>
                  <a:ext cx="39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89" name="Line 82"/>
                <p:cNvSpPr>
                  <a:spLocks noChangeShapeType="1"/>
                </p:cNvSpPr>
                <p:nvPr/>
              </p:nvSpPr>
              <p:spPr bwMode="auto">
                <a:xfrm>
                  <a:off x="2875" y="1853"/>
                  <a:ext cx="19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90" name="Line 83"/>
                <p:cNvSpPr>
                  <a:spLocks noChangeShapeType="1"/>
                </p:cNvSpPr>
                <p:nvPr/>
              </p:nvSpPr>
              <p:spPr bwMode="auto">
                <a:xfrm flipH="1">
                  <a:off x="3203" y="1853"/>
                  <a:ext cx="19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91" name="Line 84"/>
                <p:cNvSpPr>
                  <a:spLocks noChangeShapeType="1"/>
                </p:cNvSpPr>
                <p:nvPr/>
              </p:nvSpPr>
              <p:spPr bwMode="auto">
                <a:xfrm>
                  <a:off x="3334" y="2141"/>
                  <a:ext cx="0" cy="5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92" name="Line 85"/>
                <p:cNvSpPr>
                  <a:spLocks noChangeShapeType="1"/>
                </p:cNvSpPr>
                <p:nvPr/>
              </p:nvSpPr>
              <p:spPr bwMode="auto">
                <a:xfrm flipV="1">
                  <a:off x="3334" y="1853"/>
                  <a:ext cx="0" cy="5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93" name="Rectangle 86"/>
                <p:cNvSpPr>
                  <a:spLocks noChangeArrowheads="1"/>
                </p:cNvSpPr>
                <p:nvPr/>
              </p:nvSpPr>
              <p:spPr bwMode="auto">
                <a:xfrm>
                  <a:off x="3505" y="1853"/>
                  <a:ext cx="288"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800">
                      <a:latin typeface="Times New Roman" panose="02020603050405020304" pitchFamily="18" charset="0"/>
                    </a:rPr>
                    <a:t>Low</a:t>
                  </a:r>
                </a:p>
                <a:p>
                  <a:pPr algn="ctr"/>
                  <a:r>
                    <a:rPr lang="en-US" altLang="en-US" sz="800">
                      <a:latin typeface="Times New Roman" panose="02020603050405020304" pitchFamily="18" charset="0"/>
                    </a:rPr>
                    <a:t>Pass</a:t>
                  </a:r>
                </a:p>
                <a:p>
                  <a:pPr algn="ctr"/>
                  <a:r>
                    <a:rPr lang="en-US" altLang="en-US" sz="800">
                      <a:latin typeface="Times New Roman" panose="02020603050405020304" pitchFamily="18" charset="0"/>
                    </a:rPr>
                    <a:t>Filter</a:t>
                  </a:r>
                </a:p>
              </p:txBody>
            </p:sp>
            <p:sp>
              <p:nvSpPr>
                <p:cNvPr id="27694" name="Rectangle 87"/>
                <p:cNvSpPr>
                  <a:spLocks noChangeArrowheads="1"/>
                </p:cNvSpPr>
                <p:nvPr/>
              </p:nvSpPr>
              <p:spPr bwMode="auto">
                <a:xfrm>
                  <a:off x="2428" y="1853"/>
                  <a:ext cx="35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800">
                      <a:latin typeface="Times New Roman" panose="02020603050405020304" pitchFamily="18" charset="0"/>
                    </a:rPr>
                    <a:t>Input</a:t>
                  </a:r>
                </a:p>
                <a:p>
                  <a:pPr algn="ctr"/>
                  <a:r>
                    <a:rPr lang="en-US" altLang="en-US" sz="800">
                      <a:latin typeface="Times New Roman" panose="02020603050405020304" pitchFamily="18" charset="0"/>
                    </a:rPr>
                    <a:t>Matching</a:t>
                  </a:r>
                </a:p>
                <a:p>
                  <a:pPr algn="ctr"/>
                  <a:r>
                    <a:rPr lang="en-US" altLang="en-US" sz="800">
                      <a:latin typeface="Times New Roman" panose="02020603050405020304" pitchFamily="18" charset="0"/>
                    </a:rPr>
                    <a:t>Network</a:t>
                  </a:r>
                </a:p>
              </p:txBody>
            </p:sp>
            <p:sp>
              <p:nvSpPr>
                <p:cNvPr id="27695" name="Rectangle 88"/>
                <p:cNvSpPr>
                  <a:spLocks noChangeArrowheads="1"/>
                </p:cNvSpPr>
                <p:nvPr/>
              </p:nvSpPr>
              <p:spPr bwMode="auto">
                <a:xfrm>
                  <a:off x="4224" y="1853"/>
                  <a:ext cx="288"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800">
                      <a:latin typeface="Times New Roman" panose="02020603050405020304" pitchFamily="18" charset="0"/>
                    </a:rPr>
                    <a:t>Video</a:t>
                  </a:r>
                </a:p>
                <a:p>
                  <a:r>
                    <a:rPr lang="en-US" altLang="en-US" sz="800">
                      <a:latin typeface="Times New Roman" panose="02020603050405020304" pitchFamily="18" charset="0"/>
                    </a:rPr>
                    <a:t>Amp</a:t>
                  </a:r>
                </a:p>
              </p:txBody>
            </p:sp>
            <p:sp>
              <p:nvSpPr>
                <p:cNvPr id="27696" name="Rectangle 89"/>
                <p:cNvSpPr>
                  <a:spLocks noChangeArrowheads="1"/>
                </p:cNvSpPr>
                <p:nvPr/>
              </p:nvSpPr>
              <p:spPr bwMode="auto">
                <a:xfrm>
                  <a:off x="3002" y="1968"/>
                  <a:ext cx="14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800">
                      <a:latin typeface="Times New Roman" panose="02020603050405020304" pitchFamily="18" charset="0"/>
                    </a:rPr>
                    <a:t>L1</a:t>
                  </a:r>
                </a:p>
              </p:txBody>
            </p:sp>
            <p:sp>
              <p:nvSpPr>
                <p:cNvPr id="27697" name="Rectangle 90"/>
                <p:cNvSpPr>
                  <a:spLocks noChangeArrowheads="1"/>
                </p:cNvSpPr>
                <p:nvPr/>
              </p:nvSpPr>
              <p:spPr bwMode="auto">
                <a:xfrm>
                  <a:off x="3146" y="1968"/>
                  <a:ext cx="14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800">
                      <a:latin typeface="Times New Roman" panose="02020603050405020304" pitchFamily="18" charset="0"/>
                    </a:rPr>
                    <a:t>C1</a:t>
                  </a:r>
                </a:p>
              </p:txBody>
            </p:sp>
            <p:grpSp>
              <p:nvGrpSpPr>
                <p:cNvPr id="27698" name="Group 91"/>
                <p:cNvGrpSpPr>
                  <a:grpSpLocks/>
                </p:cNvGrpSpPr>
                <p:nvPr/>
              </p:nvGrpSpPr>
              <p:grpSpPr bwMode="auto">
                <a:xfrm>
                  <a:off x="3363" y="1565"/>
                  <a:ext cx="72" cy="229"/>
                  <a:chOff x="3363" y="1565"/>
                  <a:chExt cx="72" cy="229"/>
                </a:xfrm>
              </p:grpSpPr>
              <p:grpSp>
                <p:nvGrpSpPr>
                  <p:cNvPr id="27704" name="Group 92"/>
                  <p:cNvGrpSpPr>
                    <a:grpSpLocks/>
                  </p:cNvGrpSpPr>
                  <p:nvPr/>
                </p:nvGrpSpPr>
                <p:grpSpPr bwMode="auto">
                  <a:xfrm>
                    <a:off x="3363" y="1635"/>
                    <a:ext cx="72" cy="45"/>
                    <a:chOff x="3363" y="1635"/>
                    <a:chExt cx="72" cy="45"/>
                  </a:xfrm>
                </p:grpSpPr>
                <p:sp>
                  <p:nvSpPr>
                    <p:cNvPr id="27716" name="Arc 93"/>
                    <p:cNvSpPr>
                      <a:spLocks/>
                    </p:cNvSpPr>
                    <p:nvPr/>
                  </p:nvSpPr>
                  <p:spPr bwMode="auto">
                    <a:xfrm>
                      <a:off x="3363" y="1657"/>
                      <a:ext cx="72" cy="23"/>
                    </a:xfrm>
                    <a:custGeom>
                      <a:avLst/>
                      <a:gdLst>
                        <a:gd name="T0" fmla="*/ 71 w 21600"/>
                        <a:gd name="T1" fmla="*/ 23 h 21598"/>
                        <a:gd name="T2" fmla="*/ 0 w 21600"/>
                        <a:gd name="T3" fmla="*/ 0 h 21598"/>
                        <a:gd name="T4" fmla="*/ 72 w 21600"/>
                        <a:gd name="T5" fmla="*/ 0 h 21598"/>
                        <a:gd name="T6" fmla="*/ 0 60000 65536"/>
                        <a:gd name="T7" fmla="*/ 0 60000 65536"/>
                        <a:gd name="T8" fmla="*/ 0 60000 65536"/>
                        <a:gd name="T9" fmla="*/ 0 w 21600"/>
                        <a:gd name="T10" fmla="*/ 0 h 21598"/>
                        <a:gd name="T11" fmla="*/ 21600 w 21600"/>
                        <a:gd name="T12" fmla="*/ 21598 h 21598"/>
                      </a:gdLst>
                      <a:ahLst/>
                      <a:cxnLst>
                        <a:cxn ang="T6">
                          <a:pos x="T0" y="T1"/>
                        </a:cxn>
                        <a:cxn ang="T7">
                          <a:pos x="T2" y="T3"/>
                        </a:cxn>
                        <a:cxn ang="T8">
                          <a:pos x="T4" y="T5"/>
                        </a:cxn>
                      </a:cxnLst>
                      <a:rect l="T9" t="T10" r="T11" b="T12"/>
                      <a:pathLst>
                        <a:path w="21600" h="21598" fill="none" extrusionOk="0">
                          <a:moveTo>
                            <a:pt x="21286" y="21597"/>
                          </a:moveTo>
                          <a:cubicBezTo>
                            <a:pt x="9480" y="21426"/>
                            <a:pt x="0" y="11806"/>
                            <a:pt x="0" y="0"/>
                          </a:cubicBezTo>
                        </a:path>
                        <a:path w="21600" h="21598" stroke="0" extrusionOk="0">
                          <a:moveTo>
                            <a:pt x="21286" y="21597"/>
                          </a:moveTo>
                          <a:cubicBezTo>
                            <a:pt x="9480" y="21426"/>
                            <a:pt x="0" y="11806"/>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7717" name="Arc 94"/>
                    <p:cNvSpPr>
                      <a:spLocks/>
                    </p:cNvSpPr>
                    <p:nvPr/>
                  </p:nvSpPr>
                  <p:spPr bwMode="auto">
                    <a:xfrm>
                      <a:off x="3363" y="1635"/>
                      <a:ext cx="72" cy="23"/>
                    </a:xfrm>
                    <a:custGeom>
                      <a:avLst/>
                      <a:gdLst>
                        <a:gd name="T0" fmla="*/ 0 w 21600"/>
                        <a:gd name="T1" fmla="*/ 23 h 21598"/>
                        <a:gd name="T2" fmla="*/ 71 w 21600"/>
                        <a:gd name="T3" fmla="*/ 0 h 21598"/>
                        <a:gd name="T4" fmla="*/ 72 w 21600"/>
                        <a:gd name="T5" fmla="*/ 23 h 21598"/>
                        <a:gd name="T6" fmla="*/ 0 60000 65536"/>
                        <a:gd name="T7" fmla="*/ 0 60000 65536"/>
                        <a:gd name="T8" fmla="*/ 0 60000 65536"/>
                        <a:gd name="T9" fmla="*/ 0 w 21600"/>
                        <a:gd name="T10" fmla="*/ 0 h 21598"/>
                        <a:gd name="T11" fmla="*/ 21600 w 21600"/>
                        <a:gd name="T12" fmla="*/ 21598 h 21598"/>
                      </a:gdLst>
                      <a:ahLst/>
                      <a:cxnLst>
                        <a:cxn ang="T6">
                          <a:pos x="T0" y="T1"/>
                        </a:cxn>
                        <a:cxn ang="T7">
                          <a:pos x="T2" y="T3"/>
                        </a:cxn>
                        <a:cxn ang="T8">
                          <a:pos x="T4" y="T5"/>
                        </a:cxn>
                      </a:cxnLst>
                      <a:rect l="T9" t="T10" r="T11" b="T12"/>
                      <a:pathLst>
                        <a:path w="21600" h="21598" fill="none" extrusionOk="0">
                          <a:moveTo>
                            <a:pt x="0" y="21598"/>
                          </a:moveTo>
                          <a:cubicBezTo>
                            <a:pt x="0" y="9785"/>
                            <a:pt x="9488" y="164"/>
                            <a:pt x="21300" y="0"/>
                          </a:cubicBezTo>
                        </a:path>
                        <a:path w="21600" h="21598" stroke="0" extrusionOk="0">
                          <a:moveTo>
                            <a:pt x="0" y="21598"/>
                          </a:moveTo>
                          <a:cubicBezTo>
                            <a:pt x="0" y="9785"/>
                            <a:pt x="9488" y="164"/>
                            <a:pt x="21300" y="0"/>
                          </a:cubicBezTo>
                          <a:lnTo>
                            <a:pt x="21600" y="21598"/>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7705" name="Group 95"/>
                  <p:cNvGrpSpPr>
                    <a:grpSpLocks/>
                  </p:cNvGrpSpPr>
                  <p:nvPr/>
                </p:nvGrpSpPr>
                <p:grpSpPr bwMode="auto">
                  <a:xfrm>
                    <a:off x="3363" y="1681"/>
                    <a:ext cx="72" cy="45"/>
                    <a:chOff x="3363" y="1681"/>
                    <a:chExt cx="72" cy="45"/>
                  </a:xfrm>
                </p:grpSpPr>
                <p:sp>
                  <p:nvSpPr>
                    <p:cNvPr id="27714" name="Arc 96"/>
                    <p:cNvSpPr>
                      <a:spLocks/>
                    </p:cNvSpPr>
                    <p:nvPr/>
                  </p:nvSpPr>
                  <p:spPr bwMode="auto">
                    <a:xfrm>
                      <a:off x="3363" y="1703"/>
                      <a:ext cx="72" cy="23"/>
                    </a:xfrm>
                    <a:custGeom>
                      <a:avLst/>
                      <a:gdLst>
                        <a:gd name="T0" fmla="*/ 71 w 21600"/>
                        <a:gd name="T1" fmla="*/ 23 h 21598"/>
                        <a:gd name="T2" fmla="*/ 0 w 21600"/>
                        <a:gd name="T3" fmla="*/ 0 h 21598"/>
                        <a:gd name="T4" fmla="*/ 72 w 21600"/>
                        <a:gd name="T5" fmla="*/ 0 h 21598"/>
                        <a:gd name="T6" fmla="*/ 0 60000 65536"/>
                        <a:gd name="T7" fmla="*/ 0 60000 65536"/>
                        <a:gd name="T8" fmla="*/ 0 60000 65536"/>
                        <a:gd name="T9" fmla="*/ 0 w 21600"/>
                        <a:gd name="T10" fmla="*/ 0 h 21598"/>
                        <a:gd name="T11" fmla="*/ 21600 w 21600"/>
                        <a:gd name="T12" fmla="*/ 21598 h 21598"/>
                      </a:gdLst>
                      <a:ahLst/>
                      <a:cxnLst>
                        <a:cxn ang="T6">
                          <a:pos x="T0" y="T1"/>
                        </a:cxn>
                        <a:cxn ang="T7">
                          <a:pos x="T2" y="T3"/>
                        </a:cxn>
                        <a:cxn ang="T8">
                          <a:pos x="T4" y="T5"/>
                        </a:cxn>
                      </a:cxnLst>
                      <a:rect l="T9" t="T10" r="T11" b="T12"/>
                      <a:pathLst>
                        <a:path w="21600" h="21598" fill="none" extrusionOk="0">
                          <a:moveTo>
                            <a:pt x="21286" y="21597"/>
                          </a:moveTo>
                          <a:cubicBezTo>
                            <a:pt x="9480" y="21426"/>
                            <a:pt x="0" y="11806"/>
                            <a:pt x="0" y="0"/>
                          </a:cubicBezTo>
                        </a:path>
                        <a:path w="21600" h="21598" stroke="0" extrusionOk="0">
                          <a:moveTo>
                            <a:pt x="21286" y="21597"/>
                          </a:moveTo>
                          <a:cubicBezTo>
                            <a:pt x="9480" y="21426"/>
                            <a:pt x="0" y="11806"/>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7715" name="Arc 97"/>
                    <p:cNvSpPr>
                      <a:spLocks/>
                    </p:cNvSpPr>
                    <p:nvPr/>
                  </p:nvSpPr>
                  <p:spPr bwMode="auto">
                    <a:xfrm>
                      <a:off x="3363" y="1681"/>
                      <a:ext cx="72" cy="23"/>
                    </a:xfrm>
                    <a:custGeom>
                      <a:avLst/>
                      <a:gdLst>
                        <a:gd name="T0" fmla="*/ 0 w 21600"/>
                        <a:gd name="T1" fmla="*/ 23 h 21598"/>
                        <a:gd name="T2" fmla="*/ 71 w 21600"/>
                        <a:gd name="T3" fmla="*/ 0 h 21598"/>
                        <a:gd name="T4" fmla="*/ 72 w 21600"/>
                        <a:gd name="T5" fmla="*/ 23 h 21598"/>
                        <a:gd name="T6" fmla="*/ 0 60000 65536"/>
                        <a:gd name="T7" fmla="*/ 0 60000 65536"/>
                        <a:gd name="T8" fmla="*/ 0 60000 65536"/>
                        <a:gd name="T9" fmla="*/ 0 w 21600"/>
                        <a:gd name="T10" fmla="*/ 0 h 21598"/>
                        <a:gd name="T11" fmla="*/ 21600 w 21600"/>
                        <a:gd name="T12" fmla="*/ 21598 h 21598"/>
                      </a:gdLst>
                      <a:ahLst/>
                      <a:cxnLst>
                        <a:cxn ang="T6">
                          <a:pos x="T0" y="T1"/>
                        </a:cxn>
                        <a:cxn ang="T7">
                          <a:pos x="T2" y="T3"/>
                        </a:cxn>
                        <a:cxn ang="T8">
                          <a:pos x="T4" y="T5"/>
                        </a:cxn>
                      </a:cxnLst>
                      <a:rect l="T9" t="T10" r="T11" b="T12"/>
                      <a:pathLst>
                        <a:path w="21600" h="21598" fill="none" extrusionOk="0">
                          <a:moveTo>
                            <a:pt x="0" y="21598"/>
                          </a:moveTo>
                          <a:cubicBezTo>
                            <a:pt x="0" y="9785"/>
                            <a:pt x="9488" y="164"/>
                            <a:pt x="21300" y="0"/>
                          </a:cubicBezTo>
                        </a:path>
                        <a:path w="21600" h="21598" stroke="0" extrusionOk="0">
                          <a:moveTo>
                            <a:pt x="0" y="21598"/>
                          </a:moveTo>
                          <a:cubicBezTo>
                            <a:pt x="0" y="9785"/>
                            <a:pt x="9488" y="164"/>
                            <a:pt x="21300" y="0"/>
                          </a:cubicBezTo>
                          <a:lnTo>
                            <a:pt x="21600" y="21598"/>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7706" name="Group 98"/>
                  <p:cNvGrpSpPr>
                    <a:grpSpLocks/>
                  </p:cNvGrpSpPr>
                  <p:nvPr/>
                </p:nvGrpSpPr>
                <p:grpSpPr bwMode="auto">
                  <a:xfrm>
                    <a:off x="3363" y="1727"/>
                    <a:ext cx="72" cy="45"/>
                    <a:chOff x="3363" y="1727"/>
                    <a:chExt cx="72" cy="45"/>
                  </a:xfrm>
                </p:grpSpPr>
                <p:sp>
                  <p:nvSpPr>
                    <p:cNvPr id="27712" name="Arc 99"/>
                    <p:cNvSpPr>
                      <a:spLocks/>
                    </p:cNvSpPr>
                    <p:nvPr/>
                  </p:nvSpPr>
                  <p:spPr bwMode="auto">
                    <a:xfrm>
                      <a:off x="3363" y="1749"/>
                      <a:ext cx="72" cy="23"/>
                    </a:xfrm>
                    <a:custGeom>
                      <a:avLst/>
                      <a:gdLst>
                        <a:gd name="T0" fmla="*/ 71 w 21600"/>
                        <a:gd name="T1" fmla="*/ 23 h 21598"/>
                        <a:gd name="T2" fmla="*/ 0 w 21600"/>
                        <a:gd name="T3" fmla="*/ 0 h 21598"/>
                        <a:gd name="T4" fmla="*/ 72 w 21600"/>
                        <a:gd name="T5" fmla="*/ 0 h 21598"/>
                        <a:gd name="T6" fmla="*/ 0 60000 65536"/>
                        <a:gd name="T7" fmla="*/ 0 60000 65536"/>
                        <a:gd name="T8" fmla="*/ 0 60000 65536"/>
                        <a:gd name="T9" fmla="*/ 0 w 21600"/>
                        <a:gd name="T10" fmla="*/ 0 h 21598"/>
                        <a:gd name="T11" fmla="*/ 21600 w 21600"/>
                        <a:gd name="T12" fmla="*/ 21598 h 21598"/>
                      </a:gdLst>
                      <a:ahLst/>
                      <a:cxnLst>
                        <a:cxn ang="T6">
                          <a:pos x="T0" y="T1"/>
                        </a:cxn>
                        <a:cxn ang="T7">
                          <a:pos x="T2" y="T3"/>
                        </a:cxn>
                        <a:cxn ang="T8">
                          <a:pos x="T4" y="T5"/>
                        </a:cxn>
                      </a:cxnLst>
                      <a:rect l="T9" t="T10" r="T11" b="T12"/>
                      <a:pathLst>
                        <a:path w="21600" h="21598" fill="none" extrusionOk="0">
                          <a:moveTo>
                            <a:pt x="21286" y="21597"/>
                          </a:moveTo>
                          <a:cubicBezTo>
                            <a:pt x="9480" y="21426"/>
                            <a:pt x="0" y="11806"/>
                            <a:pt x="0" y="0"/>
                          </a:cubicBezTo>
                        </a:path>
                        <a:path w="21600" h="21598" stroke="0" extrusionOk="0">
                          <a:moveTo>
                            <a:pt x="21286" y="21597"/>
                          </a:moveTo>
                          <a:cubicBezTo>
                            <a:pt x="9480" y="21426"/>
                            <a:pt x="0" y="11806"/>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7713" name="Arc 100"/>
                    <p:cNvSpPr>
                      <a:spLocks/>
                    </p:cNvSpPr>
                    <p:nvPr/>
                  </p:nvSpPr>
                  <p:spPr bwMode="auto">
                    <a:xfrm>
                      <a:off x="3363" y="1727"/>
                      <a:ext cx="72" cy="23"/>
                    </a:xfrm>
                    <a:custGeom>
                      <a:avLst/>
                      <a:gdLst>
                        <a:gd name="T0" fmla="*/ 0 w 21600"/>
                        <a:gd name="T1" fmla="*/ 23 h 21598"/>
                        <a:gd name="T2" fmla="*/ 71 w 21600"/>
                        <a:gd name="T3" fmla="*/ 0 h 21598"/>
                        <a:gd name="T4" fmla="*/ 72 w 21600"/>
                        <a:gd name="T5" fmla="*/ 23 h 21598"/>
                        <a:gd name="T6" fmla="*/ 0 60000 65536"/>
                        <a:gd name="T7" fmla="*/ 0 60000 65536"/>
                        <a:gd name="T8" fmla="*/ 0 60000 65536"/>
                        <a:gd name="T9" fmla="*/ 0 w 21600"/>
                        <a:gd name="T10" fmla="*/ 0 h 21598"/>
                        <a:gd name="T11" fmla="*/ 21600 w 21600"/>
                        <a:gd name="T12" fmla="*/ 21598 h 21598"/>
                      </a:gdLst>
                      <a:ahLst/>
                      <a:cxnLst>
                        <a:cxn ang="T6">
                          <a:pos x="T0" y="T1"/>
                        </a:cxn>
                        <a:cxn ang="T7">
                          <a:pos x="T2" y="T3"/>
                        </a:cxn>
                        <a:cxn ang="T8">
                          <a:pos x="T4" y="T5"/>
                        </a:cxn>
                      </a:cxnLst>
                      <a:rect l="T9" t="T10" r="T11" b="T12"/>
                      <a:pathLst>
                        <a:path w="21600" h="21598" fill="none" extrusionOk="0">
                          <a:moveTo>
                            <a:pt x="0" y="21598"/>
                          </a:moveTo>
                          <a:cubicBezTo>
                            <a:pt x="0" y="9785"/>
                            <a:pt x="9488" y="164"/>
                            <a:pt x="21300" y="0"/>
                          </a:cubicBezTo>
                        </a:path>
                        <a:path w="21600" h="21598" stroke="0" extrusionOk="0">
                          <a:moveTo>
                            <a:pt x="0" y="21598"/>
                          </a:moveTo>
                          <a:cubicBezTo>
                            <a:pt x="0" y="9785"/>
                            <a:pt x="9488" y="164"/>
                            <a:pt x="21300" y="0"/>
                          </a:cubicBezTo>
                          <a:lnTo>
                            <a:pt x="21600" y="21598"/>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7707" name="Group 101"/>
                  <p:cNvGrpSpPr>
                    <a:grpSpLocks/>
                  </p:cNvGrpSpPr>
                  <p:nvPr/>
                </p:nvGrpSpPr>
                <p:grpSpPr bwMode="auto">
                  <a:xfrm>
                    <a:off x="3363" y="1589"/>
                    <a:ext cx="72" cy="45"/>
                    <a:chOff x="3363" y="1589"/>
                    <a:chExt cx="72" cy="45"/>
                  </a:xfrm>
                </p:grpSpPr>
                <p:sp>
                  <p:nvSpPr>
                    <p:cNvPr id="27710" name="Arc 102"/>
                    <p:cNvSpPr>
                      <a:spLocks/>
                    </p:cNvSpPr>
                    <p:nvPr/>
                  </p:nvSpPr>
                  <p:spPr bwMode="auto">
                    <a:xfrm>
                      <a:off x="3363" y="1611"/>
                      <a:ext cx="72" cy="23"/>
                    </a:xfrm>
                    <a:custGeom>
                      <a:avLst/>
                      <a:gdLst>
                        <a:gd name="T0" fmla="*/ 71 w 21600"/>
                        <a:gd name="T1" fmla="*/ 23 h 21598"/>
                        <a:gd name="T2" fmla="*/ 0 w 21600"/>
                        <a:gd name="T3" fmla="*/ 0 h 21598"/>
                        <a:gd name="T4" fmla="*/ 72 w 21600"/>
                        <a:gd name="T5" fmla="*/ 0 h 21598"/>
                        <a:gd name="T6" fmla="*/ 0 60000 65536"/>
                        <a:gd name="T7" fmla="*/ 0 60000 65536"/>
                        <a:gd name="T8" fmla="*/ 0 60000 65536"/>
                        <a:gd name="T9" fmla="*/ 0 w 21600"/>
                        <a:gd name="T10" fmla="*/ 0 h 21598"/>
                        <a:gd name="T11" fmla="*/ 21600 w 21600"/>
                        <a:gd name="T12" fmla="*/ 21598 h 21598"/>
                      </a:gdLst>
                      <a:ahLst/>
                      <a:cxnLst>
                        <a:cxn ang="T6">
                          <a:pos x="T0" y="T1"/>
                        </a:cxn>
                        <a:cxn ang="T7">
                          <a:pos x="T2" y="T3"/>
                        </a:cxn>
                        <a:cxn ang="T8">
                          <a:pos x="T4" y="T5"/>
                        </a:cxn>
                      </a:cxnLst>
                      <a:rect l="T9" t="T10" r="T11" b="T12"/>
                      <a:pathLst>
                        <a:path w="21600" h="21598" fill="none" extrusionOk="0">
                          <a:moveTo>
                            <a:pt x="21286" y="21597"/>
                          </a:moveTo>
                          <a:cubicBezTo>
                            <a:pt x="9480" y="21426"/>
                            <a:pt x="0" y="11806"/>
                            <a:pt x="0" y="0"/>
                          </a:cubicBezTo>
                        </a:path>
                        <a:path w="21600" h="21598" stroke="0" extrusionOk="0">
                          <a:moveTo>
                            <a:pt x="21286" y="21597"/>
                          </a:moveTo>
                          <a:cubicBezTo>
                            <a:pt x="9480" y="21426"/>
                            <a:pt x="0" y="11806"/>
                            <a:pt x="0" y="0"/>
                          </a:cubicBezTo>
                          <a:lnTo>
                            <a:pt x="21600" y="0"/>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7711" name="Arc 103"/>
                    <p:cNvSpPr>
                      <a:spLocks/>
                    </p:cNvSpPr>
                    <p:nvPr/>
                  </p:nvSpPr>
                  <p:spPr bwMode="auto">
                    <a:xfrm>
                      <a:off x="3363" y="1589"/>
                      <a:ext cx="72" cy="23"/>
                    </a:xfrm>
                    <a:custGeom>
                      <a:avLst/>
                      <a:gdLst>
                        <a:gd name="T0" fmla="*/ 0 w 21600"/>
                        <a:gd name="T1" fmla="*/ 23 h 21598"/>
                        <a:gd name="T2" fmla="*/ 71 w 21600"/>
                        <a:gd name="T3" fmla="*/ 0 h 21598"/>
                        <a:gd name="T4" fmla="*/ 72 w 21600"/>
                        <a:gd name="T5" fmla="*/ 23 h 21598"/>
                        <a:gd name="T6" fmla="*/ 0 60000 65536"/>
                        <a:gd name="T7" fmla="*/ 0 60000 65536"/>
                        <a:gd name="T8" fmla="*/ 0 60000 65536"/>
                        <a:gd name="T9" fmla="*/ 0 w 21600"/>
                        <a:gd name="T10" fmla="*/ 0 h 21598"/>
                        <a:gd name="T11" fmla="*/ 21600 w 21600"/>
                        <a:gd name="T12" fmla="*/ 21598 h 21598"/>
                      </a:gdLst>
                      <a:ahLst/>
                      <a:cxnLst>
                        <a:cxn ang="T6">
                          <a:pos x="T0" y="T1"/>
                        </a:cxn>
                        <a:cxn ang="T7">
                          <a:pos x="T2" y="T3"/>
                        </a:cxn>
                        <a:cxn ang="T8">
                          <a:pos x="T4" y="T5"/>
                        </a:cxn>
                      </a:cxnLst>
                      <a:rect l="T9" t="T10" r="T11" b="T12"/>
                      <a:pathLst>
                        <a:path w="21600" h="21598" fill="none" extrusionOk="0">
                          <a:moveTo>
                            <a:pt x="0" y="21598"/>
                          </a:moveTo>
                          <a:cubicBezTo>
                            <a:pt x="0" y="9785"/>
                            <a:pt x="9488" y="164"/>
                            <a:pt x="21300" y="0"/>
                          </a:cubicBezTo>
                        </a:path>
                        <a:path w="21600" h="21598" stroke="0" extrusionOk="0">
                          <a:moveTo>
                            <a:pt x="0" y="21598"/>
                          </a:moveTo>
                          <a:cubicBezTo>
                            <a:pt x="0" y="9785"/>
                            <a:pt x="9488" y="164"/>
                            <a:pt x="21300" y="0"/>
                          </a:cubicBezTo>
                          <a:lnTo>
                            <a:pt x="21600" y="21598"/>
                          </a:lnTo>
                          <a:close/>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sp>
                <p:nvSpPr>
                  <p:cNvPr id="27708" name="Line 104"/>
                  <p:cNvSpPr>
                    <a:spLocks noChangeShapeType="1"/>
                  </p:cNvSpPr>
                  <p:nvPr/>
                </p:nvSpPr>
                <p:spPr bwMode="auto">
                  <a:xfrm flipV="1">
                    <a:off x="3434" y="1565"/>
                    <a:ext cx="0"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09" name="Line 105"/>
                  <p:cNvSpPr>
                    <a:spLocks noChangeShapeType="1"/>
                  </p:cNvSpPr>
                  <p:nvPr/>
                </p:nvSpPr>
                <p:spPr bwMode="auto">
                  <a:xfrm flipV="1">
                    <a:off x="3434" y="1772"/>
                    <a:ext cx="0" cy="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7699" name="Line 106"/>
                <p:cNvSpPr>
                  <a:spLocks noChangeShapeType="1"/>
                </p:cNvSpPr>
                <p:nvPr/>
              </p:nvSpPr>
              <p:spPr bwMode="auto">
                <a:xfrm>
                  <a:off x="3433" y="1796"/>
                  <a:ext cx="1" cy="5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00" name="Line 107"/>
                <p:cNvSpPr>
                  <a:spLocks noChangeShapeType="1"/>
                </p:cNvSpPr>
                <p:nvPr/>
              </p:nvSpPr>
              <p:spPr bwMode="auto">
                <a:xfrm>
                  <a:off x="3433" y="1508"/>
                  <a:ext cx="1" cy="5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701" name="Rectangle 108"/>
                <p:cNvSpPr>
                  <a:spLocks noChangeArrowheads="1"/>
                </p:cNvSpPr>
                <p:nvPr/>
              </p:nvSpPr>
              <p:spPr bwMode="auto">
                <a:xfrm>
                  <a:off x="3505" y="1392"/>
                  <a:ext cx="36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800">
                      <a:latin typeface="Times New Roman" panose="02020603050405020304" pitchFamily="18" charset="0"/>
                    </a:rPr>
                    <a:t>DC Bias (optional)</a:t>
                  </a:r>
                </a:p>
              </p:txBody>
            </p:sp>
            <p:sp>
              <p:nvSpPr>
                <p:cNvPr id="27702" name="Rectangle 109"/>
                <p:cNvSpPr>
                  <a:spLocks noChangeArrowheads="1"/>
                </p:cNvSpPr>
                <p:nvPr/>
              </p:nvSpPr>
              <p:spPr bwMode="auto">
                <a:xfrm>
                  <a:off x="2859" y="1450"/>
                  <a:ext cx="35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800">
                      <a:latin typeface="Times New Roman" panose="02020603050405020304" pitchFamily="18" charset="0"/>
                    </a:rPr>
                    <a:t>Detector</a:t>
                  </a:r>
                </a:p>
                <a:p>
                  <a:r>
                    <a:rPr lang="en-US" altLang="en-US" sz="800">
                      <a:latin typeface="Times New Roman" panose="02020603050405020304" pitchFamily="18" charset="0"/>
                    </a:rPr>
                    <a:t>Diode</a:t>
                  </a:r>
                </a:p>
              </p:txBody>
            </p:sp>
            <p:sp>
              <p:nvSpPr>
                <p:cNvPr id="27703" name="Line 110"/>
                <p:cNvSpPr>
                  <a:spLocks noChangeShapeType="1"/>
                </p:cNvSpPr>
                <p:nvPr/>
              </p:nvSpPr>
              <p:spPr bwMode="auto">
                <a:xfrm>
                  <a:off x="3075" y="1565"/>
                  <a:ext cx="14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7673" name="Rectangle 111"/>
              <p:cNvSpPr>
                <a:spLocks noChangeArrowheads="1"/>
              </p:cNvSpPr>
              <p:nvPr/>
            </p:nvSpPr>
            <p:spPr bwMode="auto">
              <a:xfrm>
                <a:off x="3840" y="1853"/>
                <a:ext cx="17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R</a:t>
                </a:r>
                <a:r>
                  <a:rPr lang="en-US" altLang="en-US" sz="1000" baseline="-25000">
                    <a:latin typeface="Times New Roman" panose="02020603050405020304" pitchFamily="18" charset="0"/>
                  </a:rPr>
                  <a:t>V</a:t>
                </a:r>
              </a:p>
            </p:txBody>
          </p:sp>
          <p:sp>
            <p:nvSpPr>
              <p:cNvPr id="27674" name="Line 112"/>
              <p:cNvSpPr>
                <a:spLocks noChangeShapeType="1"/>
              </p:cNvSpPr>
              <p:nvPr/>
            </p:nvSpPr>
            <p:spPr bwMode="auto">
              <a:xfrm flipH="1">
                <a:off x="3149" y="1566"/>
                <a:ext cx="57" cy="229"/>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7675" name="Rectangle 113"/>
              <p:cNvSpPr>
                <a:spLocks noChangeArrowheads="1"/>
              </p:cNvSpPr>
              <p:nvPr/>
            </p:nvSpPr>
            <p:spPr bwMode="auto">
              <a:xfrm>
                <a:off x="2054" y="1910"/>
                <a:ext cx="23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800">
                    <a:latin typeface="Times New Roman" panose="02020603050405020304" pitchFamily="18" charset="0"/>
                  </a:rPr>
                  <a:t>RF</a:t>
                </a:r>
              </a:p>
              <a:p>
                <a:r>
                  <a:rPr lang="en-US" altLang="en-US" sz="800">
                    <a:latin typeface="Times New Roman" panose="02020603050405020304" pitchFamily="18" charset="0"/>
                  </a:rPr>
                  <a:t>Input</a:t>
                </a:r>
              </a:p>
            </p:txBody>
          </p:sp>
          <p:sp>
            <p:nvSpPr>
              <p:cNvPr id="27676" name="Rectangle 114"/>
              <p:cNvSpPr>
                <a:spLocks noChangeArrowheads="1"/>
              </p:cNvSpPr>
              <p:nvPr/>
            </p:nvSpPr>
            <p:spPr bwMode="auto">
              <a:xfrm>
                <a:off x="4646" y="1910"/>
                <a:ext cx="34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800">
                    <a:latin typeface="Times New Roman" panose="02020603050405020304" pitchFamily="18" charset="0"/>
                  </a:rPr>
                  <a:t>Detector</a:t>
                </a:r>
              </a:p>
              <a:p>
                <a:r>
                  <a:rPr lang="en-US" altLang="en-US" sz="800">
                    <a:latin typeface="Times New Roman" panose="02020603050405020304" pitchFamily="18" charset="0"/>
                  </a:rPr>
                  <a:t>Output</a:t>
                </a:r>
              </a:p>
            </p:txBody>
          </p:sp>
        </p:grpSp>
        <p:grpSp>
          <p:nvGrpSpPr>
            <p:cNvPr id="27654" name="Group 115"/>
            <p:cNvGrpSpPr>
              <a:grpSpLocks/>
            </p:cNvGrpSpPr>
            <p:nvPr/>
          </p:nvGrpSpPr>
          <p:grpSpPr bwMode="auto">
            <a:xfrm>
              <a:off x="961" y="1392"/>
              <a:ext cx="945" cy="1325"/>
              <a:chOff x="961" y="1392"/>
              <a:chExt cx="945" cy="1325"/>
            </a:xfrm>
          </p:grpSpPr>
          <p:grpSp>
            <p:nvGrpSpPr>
              <p:cNvPr id="27655" name="Group 116"/>
              <p:cNvGrpSpPr>
                <a:grpSpLocks/>
              </p:cNvGrpSpPr>
              <p:nvPr/>
            </p:nvGrpSpPr>
            <p:grpSpPr bwMode="auto">
              <a:xfrm>
                <a:off x="961" y="1392"/>
                <a:ext cx="921" cy="405"/>
                <a:chOff x="961" y="1392"/>
                <a:chExt cx="921" cy="405"/>
              </a:xfrm>
            </p:grpSpPr>
            <p:sp>
              <p:nvSpPr>
                <p:cNvPr id="27667" name="Freeform 117"/>
                <p:cNvSpPr>
                  <a:spLocks/>
                </p:cNvSpPr>
                <p:nvPr/>
              </p:nvSpPr>
              <p:spPr bwMode="auto">
                <a:xfrm>
                  <a:off x="1119" y="1392"/>
                  <a:ext cx="224" cy="405"/>
                </a:xfrm>
                <a:custGeom>
                  <a:avLst/>
                  <a:gdLst>
                    <a:gd name="T0" fmla="*/ 2 w 224"/>
                    <a:gd name="T1" fmla="*/ 132 h 405"/>
                    <a:gd name="T2" fmla="*/ 6 w 224"/>
                    <a:gd name="T3" fmla="*/ 48 h 405"/>
                    <a:gd name="T4" fmla="*/ 10 w 224"/>
                    <a:gd name="T5" fmla="*/ 3 h 405"/>
                    <a:gd name="T6" fmla="*/ 14 w 224"/>
                    <a:gd name="T7" fmla="*/ 14 h 405"/>
                    <a:gd name="T8" fmla="*/ 18 w 224"/>
                    <a:gd name="T9" fmla="*/ 73 h 405"/>
                    <a:gd name="T10" fmla="*/ 21 w 224"/>
                    <a:gd name="T11" fmla="*/ 167 h 405"/>
                    <a:gd name="T12" fmla="*/ 25 w 224"/>
                    <a:gd name="T13" fmla="*/ 272 h 405"/>
                    <a:gd name="T14" fmla="*/ 29 w 224"/>
                    <a:gd name="T15" fmla="*/ 355 h 405"/>
                    <a:gd name="T16" fmla="*/ 32 w 224"/>
                    <a:gd name="T17" fmla="*/ 401 h 405"/>
                    <a:gd name="T18" fmla="*/ 37 w 224"/>
                    <a:gd name="T19" fmla="*/ 390 h 405"/>
                    <a:gd name="T20" fmla="*/ 40 w 224"/>
                    <a:gd name="T21" fmla="*/ 331 h 405"/>
                    <a:gd name="T22" fmla="*/ 44 w 224"/>
                    <a:gd name="T23" fmla="*/ 237 h 405"/>
                    <a:gd name="T24" fmla="*/ 47 w 224"/>
                    <a:gd name="T25" fmla="*/ 132 h 405"/>
                    <a:gd name="T26" fmla="*/ 52 w 224"/>
                    <a:gd name="T27" fmla="*/ 48 h 405"/>
                    <a:gd name="T28" fmla="*/ 56 w 224"/>
                    <a:gd name="T29" fmla="*/ 3 h 405"/>
                    <a:gd name="T30" fmla="*/ 57 w 224"/>
                    <a:gd name="T31" fmla="*/ 14 h 405"/>
                    <a:gd name="T32" fmla="*/ 61 w 224"/>
                    <a:gd name="T33" fmla="*/ 73 h 405"/>
                    <a:gd name="T34" fmla="*/ 65 w 224"/>
                    <a:gd name="T35" fmla="*/ 167 h 405"/>
                    <a:gd name="T36" fmla="*/ 69 w 224"/>
                    <a:gd name="T37" fmla="*/ 272 h 405"/>
                    <a:gd name="T38" fmla="*/ 72 w 224"/>
                    <a:gd name="T39" fmla="*/ 355 h 405"/>
                    <a:gd name="T40" fmla="*/ 76 w 224"/>
                    <a:gd name="T41" fmla="*/ 401 h 405"/>
                    <a:gd name="T42" fmla="*/ 80 w 224"/>
                    <a:gd name="T43" fmla="*/ 390 h 405"/>
                    <a:gd name="T44" fmla="*/ 84 w 224"/>
                    <a:gd name="T45" fmla="*/ 331 h 405"/>
                    <a:gd name="T46" fmla="*/ 88 w 224"/>
                    <a:gd name="T47" fmla="*/ 237 h 405"/>
                    <a:gd name="T48" fmla="*/ 91 w 224"/>
                    <a:gd name="T49" fmla="*/ 132 h 405"/>
                    <a:gd name="T50" fmla="*/ 95 w 224"/>
                    <a:gd name="T51" fmla="*/ 48 h 405"/>
                    <a:gd name="T52" fmla="*/ 100 w 224"/>
                    <a:gd name="T53" fmla="*/ 3 h 405"/>
                    <a:gd name="T54" fmla="*/ 103 w 224"/>
                    <a:gd name="T55" fmla="*/ 14 h 405"/>
                    <a:gd name="T56" fmla="*/ 107 w 224"/>
                    <a:gd name="T57" fmla="*/ 73 h 405"/>
                    <a:gd name="T58" fmla="*/ 110 w 224"/>
                    <a:gd name="T59" fmla="*/ 167 h 405"/>
                    <a:gd name="T60" fmla="*/ 114 w 224"/>
                    <a:gd name="T61" fmla="*/ 272 h 405"/>
                    <a:gd name="T62" fmla="*/ 119 w 224"/>
                    <a:gd name="T63" fmla="*/ 355 h 405"/>
                    <a:gd name="T64" fmla="*/ 122 w 224"/>
                    <a:gd name="T65" fmla="*/ 401 h 405"/>
                    <a:gd name="T66" fmla="*/ 123 w 224"/>
                    <a:gd name="T67" fmla="*/ 390 h 405"/>
                    <a:gd name="T68" fmla="*/ 128 w 224"/>
                    <a:gd name="T69" fmla="*/ 331 h 405"/>
                    <a:gd name="T70" fmla="*/ 132 w 224"/>
                    <a:gd name="T71" fmla="*/ 237 h 405"/>
                    <a:gd name="T72" fmla="*/ 135 w 224"/>
                    <a:gd name="T73" fmla="*/ 132 h 405"/>
                    <a:gd name="T74" fmla="*/ 139 w 224"/>
                    <a:gd name="T75" fmla="*/ 48 h 405"/>
                    <a:gd name="T76" fmla="*/ 143 w 224"/>
                    <a:gd name="T77" fmla="*/ 3 h 405"/>
                    <a:gd name="T78" fmla="*/ 147 w 224"/>
                    <a:gd name="T79" fmla="*/ 14 h 405"/>
                    <a:gd name="T80" fmla="*/ 151 w 224"/>
                    <a:gd name="T81" fmla="*/ 73 h 405"/>
                    <a:gd name="T82" fmla="*/ 154 w 224"/>
                    <a:gd name="T83" fmla="*/ 167 h 405"/>
                    <a:gd name="T84" fmla="*/ 158 w 224"/>
                    <a:gd name="T85" fmla="*/ 272 h 405"/>
                    <a:gd name="T86" fmla="*/ 162 w 224"/>
                    <a:gd name="T87" fmla="*/ 355 h 405"/>
                    <a:gd name="T88" fmla="*/ 166 w 224"/>
                    <a:gd name="T89" fmla="*/ 401 h 405"/>
                    <a:gd name="T90" fmla="*/ 170 w 224"/>
                    <a:gd name="T91" fmla="*/ 390 h 405"/>
                    <a:gd name="T92" fmla="*/ 173 w 224"/>
                    <a:gd name="T93" fmla="*/ 331 h 405"/>
                    <a:gd name="T94" fmla="*/ 177 w 224"/>
                    <a:gd name="T95" fmla="*/ 237 h 405"/>
                    <a:gd name="T96" fmla="*/ 181 w 224"/>
                    <a:gd name="T97" fmla="*/ 132 h 405"/>
                    <a:gd name="T98" fmla="*/ 185 w 224"/>
                    <a:gd name="T99" fmla="*/ 48 h 405"/>
                    <a:gd name="T100" fmla="*/ 189 w 224"/>
                    <a:gd name="T101" fmla="*/ 3 h 405"/>
                    <a:gd name="T102" fmla="*/ 190 w 224"/>
                    <a:gd name="T103" fmla="*/ 14 h 405"/>
                    <a:gd name="T104" fmla="*/ 194 w 224"/>
                    <a:gd name="T105" fmla="*/ 73 h 405"/>
                    <a:gd name="T106" fmla="*/ 198 w 224"/>
                    <a:gd name="T107" fmla="*/ 167 h 405"/>
                    <a:gd name="T108" fmla="*/ 202 w 224"/>
                    <a:gd name="T109" fmla="*/ 272 h 405"/>
                    <a:gd name="T110" fmla="*/ 205 w 224"/>
                    <a:gd name="T111" fmla="*/ 355 h 405"/>
                    <a:gd name="T112" fmla="*/ 209 w 224"/>
                    <a:gd name="T113" fmla="*/ 401 h 405"/>
                    <a:gd name="T114" fmla="*/ 213 w 224"/>
                    <a:gd name="T115" fmla="*/ 390 h 405"/>
                    <a:gd name="T116" fmla="*/ 217 w 224"/>
                    <a:gd name="T117" fmla="*/ 331 h 405"/>
                    <a:gd name="T118" fmla="*/ 221 w 224"/>
                    <a:gd name="T119" fmla="*/ 237 h 40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4"/>
                    <a:gd name="T181" fmla="*/ 0 h 405"/>
                    <a:gd name="T182" fmla="*/ 224 w 224"/>
                    <a:gd name="T183" fmla="*/ 405 h 405"/>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4" h="405">
                      <a:moveTo>
                        <a:pt x="0" y="202"/>
                      </a:moveTo>
                      <a:lnTo>
                        <a:pt x="2" y="167"/>
                      </a:lnTo>
                      <a:lnTo>
                        <a:pt x="2" y="132"/>
                      </a:lnTo>
                      <a:lnTo>
                        <a:pt x="4" y="100"/>
                      </a:lnTo>
                      <a:lnTo>
                        <a:pt x="6" y="73"/>
                      </a:lnTo>
                      <a:lnTo>
                        <a:pt x="6" y="48"/>
                      </a:lnTo>
                      <a:lnTo>
                        <a:pt x="7" y="27"/>
                      </a:lnTo>
                      <a:lnTo>
                        <a:pt x="10" y="14"/>
                      </a:lnTo>
                      <a:lnTo>
                        <a:pt x="10" y="3"/>
                      </a:lnTo>
                      <a:lnTo>
                        <a:pt x="11" y="0"/>
                      </a:lnTo>
                      <a:lnTo>
                        <a:pt x="11" y="3"/>
                      </a:lnTo>
                      <a:lnTo>
                        <a:pt x="14" y="14"/>
                      </a:lnTo>
                      <a:lnTo>
                        <a:pt x="14" y="27"/>
                      </a:lnTo>
                      <a:lnTo>
                        <a:pt x="14" y="48"/>
                      </a:lnTo>
                      <a:lnTo>
                        <a:pt x="18" y="73"/>
                      </a:lnTo>
                      <a:lnTo>
                        <a:pt x="19" y="100"/>
                      </a:lnTo>
                      <a:lnTo>
                        <a:pt x="19" y="132"/>
                      </a:lnTo>
                      <a:lnTo>
                        <a:pt x="21" y="167"/>
                      </a:lnTo>
                      <a:lnTo>
                        <a:pt x="23" y="202"/>
                      </a:lnTo>
                      <a:lnTo>
                        <a:pt x="23" y="237"/>
                      </a:lnTo>
                      <a:lnTo>
                        <a:pt x="25" y="272"/>
                      </a:lnTo>
                      <a:lnTo>
                        <a:pt x="26" y="304"/>
                      </a:lnTo>
                      <a:lnTo>
                        <a:pt x="26" y="331"/>
                      </a:lnTo>
                      <a:lnTo>
                        <a:pt x="29" y="355"/>
                      </a:lnTo>
                      <a:lnTo>
                        <a:pt x="30" y="377"/>
                      </a:lnTo>
                      <a:lnTo>
                        <a:pt x="30" y="390"/>
                      </a:lnTo>
                      <a:lnTo>
                        <a:pt x="32" y="401"/>
                      </a:lnTo>
                      <a:lnTo>
                        <a:pt x="34" y="404"/>
                      </a:lnTo>
                      <a:lnTo>
                        <a:pt x="34" y="401"/>
                      </a:lnTo>
                      <a:lnTo>
                        <a:pt x="37" y="390"/>
                      </a:lnTo>
                      <a:lnTo>
                        <a:pt x="37" y="377"/>
                      </a:lnTo>
                      <a:lnTo>
                        <a:pt x="38" y="355"/>
                      </a:lnTo>
                      <a:lnTo>
                        <a:pt x="40" y="331"/>
                      </a:lnTo>
                      <a:lnTo>
                        <a:pt x="40" y="302"/>
                      </a:lnTo>
                      <a:lnTo>
                        <a:pt x="42" y="272"/>
                      </a:lnTo>
                      <a:lnTo>
                        <a:pt x="44" y="237"/>
                      </a:lnTo>
                      <a:lnTo>
                        <a:pt x="44" y="202"/>
                      </a:lnTo>
                      <a:lnTo>
                        <a:pt x="46" y="167"/>
                      </a:lnTo>
                      <a:lnTo>
                        <a:pt x="47" y="132"/>
                      </a:lnTo>
                      <a:lnTo>
                        <a:pt x="47" y="100"/>
                      </a:lnTo>
                      <a:lnTo>
                        <a:pt x="50" y="73"/>
                      </a:lnTo>
                      <a:lnTo>
                        <a:pt x="52" y="48"/>
                      </a:lnTo>
                      <a:lnTo>
                        <a:pt x="52" y="27"/>
                      </a:lnTo>
                      <a:lnTo>
                        <a:pt x="53" y="14"/>
                      </a:lnTo>
                      <a:lnTo>
                        <a:pt x="56" y="3"/>
                      </a:lnTo>
                      <a:lnTo>
                        <a:pt x="56" y="0"/>
                      </a:lnTo>
                      <a:lnTo>
                        <a:pt x="57" y="3"/>
                      </a:lnTo>
                      <a:lnTo>
                        <a:pt x="57" y="14"/>
                      </a:lnTo>
                      <a:lnTo>
                        <a:pt x="59" y="27"/>
                      </a:lnTo>
                      <a:lnTo>
                        <a:pt x="61" y="48"/>
                      </a:lnTo>
                      <a:lnTo>
                        <a:pt x="61" y="73"/>
                      </a:lnTo>
                      <a:lnTo>
                        <a:pt x="63" y="102"/>
                      </a:lnTo>
                      <a:lnTo>
                        <a:pt x="65" y="132"/>
                      </a:lnTo>
                      <a:lnTo>
                        <a:pt x="65" y="167"/>
                      </a:lnTo>
                      <a:lnTo>
                        <a:pt x="66" y="202"/>
                      </a:lnTo>
                      <a:lnTo>
                        <a:pt x="69" y="237"/>
                      </a:lnTo>
                      <a:lnTo>
                        <a:pt x="69" y="272"/>
                      </a:lnTo>
                      <a:lnTo>
                        <a:pt x="70" y="304"/>
                      </a:lnTo>
                      <a:lnTo>
                        <a:pt x="72" y="331"/>
                      </a:lnTo>
                      <a:lnTo>
                        <a:pt x="72" y="355"/>
                      </a:lnTo>
                      <a:lnTo>
                        <a:pt x="74" y="377"/>
                      </a:lnTo>
                      <a:lnTo>
                        <a:pt x="76" y="390"/>
                      </a:lnTo>
                      <a:lnTo>
                        <a:pt x="76" y="401"/>
                      </a:lnTo>
                      <a:lnTo>
                        <a:pt x="78" y="404"/>
                      </a:lnTo>
                      <a:lnTo>
                        <a:pt x="78" y="401"/>
                      </a:lnTo>
                      <a:lnTo>
                        <a:pt x="80" y="390"/>
                      </a:lnTo>
                      <a:lnTo>
                        <a:pt x="82" y="377"/>
                      </a:lnTo>
                      <a:lnTo>
                        <a:pt x="82" y="355"/>
                      </a:lnTo>
                      <a:lnTo>
                        <a:pt x="84" y="331"/>
                      </a:lnTo>
                      <a:lnTo>
                        <a:pt x="85" y="304"/>
                      </a:lnTo>
                      <a:lnTo>
                        <a:pt x="85" y="272"/>
                      </a:lnTo>
                      <a:lnTo>
                        <a:pt x="88" y="237"/>
                      </a:lnTo>
                      <a:lnTo>
                        <a:pt x="89" y="202"/>
                      </a:lnTo>
                      <a:lnTo>
                        <a:pt x="89" y="167"/>
                      </a:lnTo>
                      <a:lnTo>
                        <a:pt x="91" y="132"/>
                      </a:lnTo>
                      <a:lnTo>
                        <a:pt x="94" y="102"/>
                      </a:lnTo>
                      <a:lnTo>
                        <a:pt x="94" y="73"/>
                      </a:lnTo>
                      <a:lnTo>
                        <a:pt x="95" y="48"/>
                      </a:lnTo>
                      <a:lnTo>
                        <a:pt x="97" y="27"/>
                      </a:lnTo>
                      <a:lnTo>
                        <a:pt x="97" y="14"/>
                      </a:lnTo>
                      <a:lnTo>
                        <a:pt x="100" y="3"/>
                      </a:lnTo>
                      <a:lnTo>
                        <a:pt x="101" y="0"/>
                      </a:lnTo>
                      <a:lnTo>
                        <a:pt x="101" y="3"/>
                      </a:lnTo>
                      <a:lnTo>
                        <a:pt x="103" y="14"/>
                      </a:lnTo>
                      <a:lnTo>
                        <a:pt x="103" y="27"/>
                      </a:lnTo>
                      <a:lnTo>
                        <a:pt x="104" y="48"/>
                      </a:lnTo>
                      <a:lnTo>
                        <a:pt x="107" y="73"/>
                      </a:lnTo>
                      <a:lnTo>
                        <a:pt x="107" y="100"/>
                      </a:lnTo>
                      <a:lnTo>
                        <a:pt x="109" y="132"/>
                      </a:lnTo>
                      <a:lnTo>
                        <a:pt x="110" y="167"/>
                      </a:lnTo>
                      <a:lnTo>
                        <a:pt x="110" y="202"/>
                      </a:lnTo>
                      <a:lnTo>
                        <a:pt x="113" y="237"/>
                      </a:lnTo>
                      <a:lnTo>
                        <a:pt x="114" y="272"/>
                      </a:lnTo>
                      <a:lnTo>
                        <a:pt x="114" y="302"/>
                      </a:lnTo>
                      <a:lnTo>
                        <a:pt x="116" y="331"/>
                      </a:lnTo>
                      <a:lnTo>
                        <a:pt x="119" y="355"/>
                      </a:lnTo>
                      <a:lnTo>
                        <a:pt x="119" y="377"/>
                      </a:lnTo>
                      <a:lnTo>
                        <a:pt x="120" y="390"/>
                      </a:lnTo>
                      <a:lnTo>
                        <a:pt x="122" y="401"/>
                      </a:lnTo>
                      <a:lnTo>
                        <a:pt x="122" y="404"/>
                      </a:lnTo>
                      <a:lnTo>
                        <a:pt x="123" y="401"/>
                      </a:lnTo>
                      <a:lnTo>
                        <a:pt x="123" y="390"/>
                      </a:lnTo>
                      <a:lnTo>
                        <a:pt x="126" y="377"/>
                      </a:lnTo>
                      <a:lnTo>
                        <a:pt x="128" y="355"/>
                      </a:lnTo>
                      <a:lnTo>
                        <a:pt x="128" y="331"/>
                      </a:lnTo>
                      <a:lnTo>
                        <a:pt x="129" y="304"/>
                      </a:lnTo>
                      <a:lnTo>
                        <a:pt x="132" y="272"/>
                      </a:lnTo>
                      <a:lnTo>
                        <a:pt x="132" y="237"/>
                      </a:lnTo>
                      <a:lnTo>
                        <a:pt x="133" y="202"/>
                      </a:lnTo>
                      <a:lnTo>
                        <a:pt x="135" y="167"/>
                      </a:lnTo>
                      <a:lnTo>
                        <a:pt x="135" y="132"/>
                      </a:lnTo>
                      <a:lnTo>
                        <a:pt x="138" y="100"/>
                      </a:lnTo>
                      <a:lnTo>
                        <a:pt x="139" y="73"/>
                      </a:lnTo>
                      <a:lnTo>
                        <a:pt x="139" y="48"/>
                      </a:lnTo>
                      <a:lnTo>
                        <a:pt x="141" y="27"/>
                      </a:lnTo>
                      <a:lnTo>
                        <a:pt x="143" y="14"/>
                      </a:lnTo>
                      <a:lnTo>
                        <a:pt x="143" y="3"/>
                      </a:lnTo>
                      <a:lnTo>
                        <a:pt x="145" y="0"/>
                      </a:lnTo>
                      <a:lnTo>
                        <a:pt x="145" y="3"/>
                      </a:lnTo>
                      <a:lnTo>
                        <a:pt x="147" y="14"/>
                      </a:lnTo>
                      <a:lnTo>
                        <a:pt x="148" y="27"/>
                      </a:lnTo>
                      <a:lnTo>
                        <a:pt x="148" y="48"/>
                      </a:lnTo>
                      <a:lnTo>
                        <a:pt x="151" y="73"/>
                      </a:lnTo>
                      <a:lnTo>
                        <a:pt x="153" y="100"/>
                      </a:lnTo>
                      <a:lnTo>
                        <a:pt x="153" y="132"/>
                      </a:lnTo>
                      <a:lnTo>
                        <a:pt x="154" y="167"/>
                      </a:lnTo>
                      <a:lnTo>
                        <a:pt x="157" y="202"/>
                      </a:lnTo>
                      <a:lnTo>
                        <a:pt x="157" y="237"/>
                      </a:lnTo>
                      <a:lnTo>
                        <a:pt x="158" y="272"/>
                      </a:lnTo>
                      <a:lnTo>
                        <a:pt x="160" y="304"/>
                      </a:lnTo>
                      <a:lnTo>
                        <a:pt x="160" y="331"/>
                      </a:lnTo>
                      <a:lnTo>
                        <a:pt x="162" y="355"/>
                      </a:lnTo>
                      <a:lnTo>
                        <a:pt x="164" y="377"/>
                      </a:lnTo>
                      <a:lnTo>
                        <a:pt x="164" y="390"/>
                      </a:lnTo>
                      <a:lnTo>
                        <a:pt x="166" y="401"/>
                      </a:lnTo>
                      <a:lnTo>
                        <a:pt x="167" y="404"/>
                      </a:lnTo>
                      <a:lnTo>
                        <a:pt x="167" y="401"/>
                      </a:lnTo>
                      <a:lnTo>
                        <a:pt x="170" y="390"/>
                      </a:lnTo>
                      <a:lnTo>
                        <a:pt x="170" y="377"/>
                      </a:lnTo>
                      <a:lnTo>
                        <a:pt x="171" y="355"/>
                      </a:lnTo>
                      <a:lnTo>
                        <a:pt x="173" y="331"/>
                      </a:lnTo>
                      <a:lnTo>
                        <a:pt x="173" y="302"/>
                      </a:lnTo>
                      <a:lnTo>
                        <a:pt x="175" y="272"/>
                      </a:lnTo>
                      <a:lnTo>
                        <a:pt x="177" y="237"/>
                      </a:lnTo>
                      <a:lnTo>
                        <a:pt x="177" y="202"/>
                      </a:lnTo>
                      <a:lnTo>
                        <a:pt x="179" y="167"/>
                      </a:lnTo>
                      <a:lnTo>
                        <a:pt x="181" y="132"/>
                      </a:lnTo>
                      <a:lnTo>
                        <a:pt x="181" y="102"/>
                      </a:lnTo>
                      <a:lnTo>
                        <a:pt x="183" y="73"/>
                      </a:lnTo>
                      <a:lnTo>
                        <a:pt x="185" y="48"/>
                      </a:lnTo>
                      <a:lnTo>
                        <a:pt x="185" y="27"/>
                      </a:lnTo>
                      <a:lnTo>
                        <a:pt x="186" y="14"/>
                      </a:lnTo>
                      <a:lnTo>
                        <a:pt x="189" y="3"/>
                      </a:lnTo>
                      <a:lnTo>
                        <a:pt x="189" y="0"/>
                      </a:lnTo>
                      <a:lnTo>
                        <a:pt x="190" y="3"/>
                      </a:lnTo>
                      <a:lnTo>
                        <a:pt x="190" y="14"/>
                      </a:lnTo>
                      <a:lnTo>
                        <a:pt x="193" y="27"/>
                      </a:lnTo>
                      <a:lnTo>
                        <a:pt x="194" y="48"/>
                      </a:lnTo>
                      <a:lnTo>
                        <a:pt x="194" y="73"/>
                      </a:lnTo>
                      <a:lnTo>
                        <a:pt x="196" y="100"/>
                      </a:lnTo>
                      <a:lnTo>
                        <a:pt x="198" y="132"/>
                      </a:lnTo>
                      <a:lnTo>
                        <a:pt x="198" y="167"/>
                      </a:lnTo>
                      <a:lnTo>
                        <a:pt x="200" y="202"/>
                      </a:lnTo>
                      <a:lnTo>
                        <a:pt x="202" y="237"/>
                      </a:lnTo>
                      <a:lnTo>
                        <a:pt x="202" y="272"/>
                      </a:lnTo>
                      <a:lnTo>
                        <a:pt x="204" y="302"/>
                      </a:lnTo>
                      <a:lnTo>
                        <a:pt x="205" y="331"/>
                      </a:lnTo>
                      <a:lnTo>
                        <a:pt x="205" y="355"/>
                      </a:lnTo>
                      <a:lnTo>
                        <a:pt x="208" y="377"/>
                      </a:lnTo>
                      <a:lnTo>
                        <a:pt x="209" y="390"/>
                      </a:lnTo>
                      <a:lnTo>
                        <a:pt x="209" y="401"/>
                      </a:lnTo>
                      <a:lnTo>
                        <a:pt x="211" y="404"/>
                      </a:lnTo>
                      <a:lnTo>
                        <a:pt x="211" y="401"/>
                      </a:lnTo>
                      <a:lnTo>
                        <a:pt x="213" y="390"/>
                      </a:lnTo>
                      <a:lnTo>
                        <a:pt x="215" y="377"/>
                      </a:lnTo>
                      <a:lnTo>
                        <a:pt x="215" y="355"/>
                      </a:lnTo>
                      <a:lnTo>
                        <a:pt x="217" y="331"/>
                      </a:lnTo>
                      <a:lnTo>
                        <a:pt x="219" y="304"/>
                      </a:lnTo>
                      <a:lnTo>
                        <a:pt x="219" y="272"/>
                      </a:lnTo>
                      <a:lnTo>
                        <a:pt x="221" y="237"/>
                      </a:lnTo>
                      <a:lnTo>
                        <a:pt x="223" y="202"/>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7668" name="Line 118"/>
                <p:cNvSpPr>
                  <a:spLocks noChangeShapeType="1"/>
                </p:cNvSpPr>
                <p:nvPr/>
              </p:nvSpPr>
              <p:spPr bwMode="auto">
                <a:xfrm flipH="1">
                  <a:off x="961" y="1594"/>
                  <a:ext cx="15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69" name="Line 119"/>
                <p:cNvSpPr>
                  <a:spLocks noChangeShapeType="1"/>
                </p:cNvSpPr>
                <p:nvPr/>
              </p:nvSpPr>
              <p:spPr bwMode="auto">
                <a:xfrm flipH="1">
                  <a:off x="1343" y="1594"/>
                  <a:ext cx="15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70" name="Freeform 120"/>
                <p:cNvSpPr>
                  <a:spLocks/>
                </p:cNvSpPr>
                <p:nvPr/>
              </p:nvSpPr>
              <p:spPr bwMode="auto">
                <a:xfrm>
                  <a:off x="1500" y="1392"/>
                  <a:ext cx="224" cy="405"/>
                </a:xfrm>
                <a:custGeom>
                  <a:avLst/>
                  <a:gdLst>
                    <a:gd name="T0" fmla="*/ 2 w 224"/>
                    <a:gd name="T1" fmla="*/ 132 h 405"/>
                    <a:gd name="T2" fmla="*/ 6 w 224"/>
                    <a:gd name="T3" fmla="*/ 48 h 405"/>
                    <a:gd name="T4" fmla="*/ 10 w 224"/>
                    <a:gd name="T5" fmla="*/ 3 h 405"/>
                    <a:gd name="T6" fmla="*/ 14 w 224"/>
                    <a:gd name="T7" fmla="*/ 14 h 405"/>
                    <a:gd name="T8" fmla="*/ 18 w 224"/>
                    <a:gd name="T9" fmla="*/ 73 h 405"/>
                    <a:gd name="T10" fmla="*/ 21 w 224"/>
                    <a:gd name="T11" fmla="*/ 167 h 405"/>
                    <a:gd name="T12" fmla="*/ 25 w 224"/>
                    <a:gd name="T13" fmla="*/ 272 h 405"/>
                    <a:gd name="T14" fmla="*/ 29 w 224"/>
                    <a:gd name="T15" fmla="*/ 355 h 405"/>
                    <a:gd name="T16" fmla="*/ 32 w 224"/>
                    <a:gd name="T17" fmla="*/ 401 h 405"/>
                    <a:gd name="T18" fmla="*/ 37 w 224"/>
                    <a:gd name="T19" fmla="*/ 390 h 405"/>
                    <a:gd name="T20" fmla="*/ 40 w 224"/>
                    <a:gd name="T21" fmla="*/ 331 h 405"/>
                    <a:gd name="T22" fmla="*/ 44 w 224"/>
                    <a:gd name="T23" fmla="*/ 237 h 405"/>
                    <a:gd name="T24" fmla="*/ 47 w 224"/>
                    <a:gd name="T25" fmla="*/ 132 h 405"/>
                    <a:gd name="T26" fmla="*/ 52 w 224"/>
                    <a:gd name="T27" fmla="*/ 48 h 405"/>
                    <a:gd name="T28" fmla="*/ 56 w 224"/>
                    <a:gd name="T29" fmla="*/ 3 h 405"/>
                    <a:gd name="T30" fmla="*/ 57 w 224"/>
                    <a:gd name="T31" fmla="*/ 14 h 405"/>
                    <a:gd name="T32" fmla="*/ 61 w 224"/>
                    <a:gd name="T33" fmla="*/ 73 h 405"/>
                    <a:gd name="T34" fmla="*/ 65 w 224"/>
                    <a:gd name="T35" fmla="*/ 167 h 405"/>
                    <a:gd name="T36" fmla="*/ 69 w 224"/>
                    <a:gd name="T37" fmla="*/ 272 h 405"/>
                    <a:gd name="T38" fmla="*/ 72 w 224"/>
                    <a:gd name="T39" fmla="*/ 355 h 405"/>
                    <a:gd name="T40" fmla="*/ 76 w 224"/>
                    <a:gd name="T41" fmla="*/ 401 h 405"/>
                    <a:gd name="T42" fmla="*/ 80 w 224"/>
                    <a:gd name="T43" fmla="*/ 390 h 405"/>
                    <a:gd name="T44" fmla="*/ 84 w 224"/>
                    <a:gd name="T45" fmla="*/ 331 h 405"/>
                    <a:gd name="T46" fmla="*/ 88 w 224"/>
                    <a:gd name="T47" fmla="*/ 237 h 405"/>
                    <a:gd name="T48" fmla="*/ 91 w 224"/>
                    <a:gd name="T49" fmla="*/ 132 h 405"/>
                    <a:gd name="T50" fmla="*/ 95 w 224"/>
                    <a:gd name="T51" fmla="*/ 48 h 405"/>
                    <a:gd name="T52" fmla="*/ 100 w 224"/>
                    <a:gd name="T53" fmla="*/ 3 h 405"/>
                    <a:gd name="T54" fmla="*/ 103 w 224"/>
                    <a:gd name="T55" fmla="*/ 14 h 405"/>
                    <a:gd name="T56" fmla="*/ 107 w 224"/>
                    <a:gd name="T57" fmla="*/ 73 h 405"/>
                    <a:gd name="T58" fmla="*/ 110 w 224"/>
                    <a:gd name="T59" fmla="*/ 167 h 405"/>
                    <a:gd name="T60" fmla="*/ 114 w 224"/>
                    <a:gd name="T61" fmla="*/ 272 h 405"/>
                    <a:gd name="T62" fmla="*/ 119 w 224"/>
                    <a:gd name="T63" fmla="*/ 355 h 405"/>
                    <a:gd name="T64" fmla="*/ 122 w 224"/>
                    <a:gd name="T65" fmla="*/ 401 h 405"/>
                    <a:gd name="T66" fmla="*/ 123 w 224"/>
                    <a:gd name="T67" fmla="*/ 390 h 405"/>
                    <a:gd name="T68" fmla="*/ 128 w 224"/>
                    <a:gd name="T69" fmla="*/ 331 h 405"/>
                    <a:gd name="T70" fmla="*/ 132 w 224"/>
                    <a:gd name="T71" fmla="*/ 237 h 405"/>
                    <a:gd name="T72" fmla="*/ 135 w 224"/>
                    <a:gd name="T73" fmla="*/ 132 h 405"/>
                    <a:gd name="T74" fmla="*/ 139 w 224"/>
                    <a:gd name="T75" fmla="*/ 48 h 405"/>
                    <a:gd name="T76" fmla="*/ 143 w 224"/>
                    <a:gd name="T77" fmla="*/ 3 h 405"/>
                    <a:gd name="T78" fmla="*/ 147 w 224"/>
                    <a:gd name="T79" fmla="*/ 14 h 405"/>
                    <a:gd name="T80" fmla="*/ 151 w 224"/>
                    <a:gd name="T81" fmla="*/ 73 h 405"/>
                    <a:gd name="T82" fmla="*/ 154 w 224"/>
                    <a:gd name="T83" fmla="*/ 167 h 405"/>
                    <a:gd name="T84" fmla="*/ 158 w 224"/>
                    <a:gd name="T85" fmla="*/ 272 h 405"/>
                    <a:gd name="T86" fmla="*/ 162 w 224"/>
                    <a:gd name="T87" fmla="*/ 355 h 405"/>
                    <a:gd name="T88" fmla="*/ 166 w 224"/>
                    <a:gd name="T89" fmla="*/ 401 h 405"/>
                    <a:gd name="T90" fmla="*/ 170 w 224"/>
                    <a:gd name="T91" fmla="*/ 390 h 405"/>
                    <a:gd name="T92" fmla="*/ 173 w 224"/>
                    <a:gd name="T93" fmla="*/ 331 h 405"/>
                    <a:gd name="T94" fmla="*/ 177 w 224"/>
                    <a:gd name="T95" fmla="*/ 237 h 405"/>
                    <a:gd name="T96" fmla="*/ 181 w 224"/>
                    <a:gd name="T97" fmla="*/ 132 h 405"/>
                    <a:gd name="T98" fmla="*/ 185 w 224"/>
                    <a:gd name="T99" fmla="*/ 48 h 405"/>
                    <a:gd name="T100" fmla="*/ 189 w 224"/>
                    <a:gd name="T101" fmla="*/ 3 h 405"/>
                    <a:gd name="T102" fmla="*/ 190 w 224"/>
                    <a:gd name="T103" fmla="*/ 14 h 405"/>
                    <a:gd name="T104" fmla="*/ 194 w 224"/>
                    <a:gd name="T105" fmla="*/ 73 h 405"/>
                    <a:gd name="T106" fmla="*/ 198 w 224"/>
                    <a:gd name="T107" fmla="*/ 167 h 405"/>
                    <a:gd name="T108" fmla="*/ 202 w 224"/>
                    <a:gd name="T109" fmla="*/ 272 h 405"/>
                    <a:gd name="T110" fmla="*/ 205 w 224"/>
                    <a:gd name="T111" fmla="*/ 355 h 405"/>
                    <a:gd name="T112" fmla="*/ 209 w 224"/>
                    <a:gd name="T113" fmla="*/ 401 h 405"/>
                    <a:gd name="T114" fmla="*/ 213 w 224"/>
                    <a:gd name="T115" fmla="*/ 390 h 405"/>
                    <a:gd name="T116" fmla="*/ 217 w 224"/>
                    <a:gd name="T117" fmla="*/ 331 h 405"/>
                    <a:gd name="T118" fmla="*/ 221 w 224"/>
                    <a:gd name="T119" fmla="*/ 237 h 40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4"/>
                    <a:gd name="T181" fmla="*/ 0 h 405"/>
                    <a:gd name="T182" fmla="*/ 224 w 224"/>
                    <a:gd name="T183" fmla="*/ 405 h 405"/>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4" h="405">
                      <a:moveTo>
                        <a:pt x="0" y="202"/>
                      </a:moveTo>
                      <a:lnTo>
                        <a:pt x="2" y="167"/>
                      </a:lnTo>
                      <a:lnTo>
                        <a:pt x="2" y="132"/>
                      </a:lnTo>
                      <a:lnTo>
                        <a:pt x="4" y="100"/>
                      </a:lnTo>
                      <a:lnTo>
                        <a:pt x="6" y="73"/>
                      </a:lnTo>
                      <a:lnTo>
                        <a:pt x="6" y="48"/>
                      </a:lnTo>
                      <a:lnTo>
                        <a:pt x="7" y="27"/>
                      </a:lnTo>
                      <a:lnTo>
                        <a:pt x="10" y="14"/>
                      </a:lnTo>
                      <a:lnTo>
                        <a:pt x="10" y="3"/>
                      </a:lnTo>
                      <a:lnTo>
                        <a:pt x="11" y="0"/>
                      </a:lnTo>
                      <a:lnTo>
                        <a:pt x="11" y="3"/>
                      </a:lnTo>
                      <a:lnTo>
                        <a:pt x="14" y="14"/>
                      </a:lnTo>
                      <a:lnTo>
                        <a:pt x="14" y="27"/>
                      </a:lnTo>
                      <a:lnTo>
                        <a:pt x="14" y="48"/>
                      </a:lnTo>
                      <a:lnTo>
                        <a:pt x="18" y="73"/>
                      </a:lnTo>
                      <a:lnTo>
                        <a:pt x="19" y="100"/>
                      </a:lnTo>
                      <a:lnTo>
                        <a:pt x="19" y="132"/>
                      </a:lnTo>
                      <a:lnTo>
                        <a:pt x="21" y="167"/>
                      </a:lnTo>
                      <a:lnTo>
                        <a:pt x="23" y="202"/>
                      </a:lnTo>
                      <a:lnTo>
                        <a:pt x="23" y="237"/>
                      </a:lnTo>
                      <a:lnTo>
                        <a:pt x="25" y="272"/>
                      </a:lnTo>
                      <a:lnTo>
                        <a:pt x="26" y="304"/>
                      </a:lnTo>
                      <a:lnTo>
                        <a:pt x="26" y="331"/>
                      </a:lnTo>
                      <a:lnTo>
                        <a:pt x="29" y="355"/>
                      </a:lnTo>
                      <a:lnTo>
                        <a:pt x="30" y="377"/>
                      </a:lnTo>
                      <a:lnTo>
                        <a:pt x="30" y="390"/>
                      </a:lnTo>
                      <a:lnTo>
                        <a:pt x="32" y="401"/>
                      </a:lnTo>
                      <a:lnTo>
                        <a:pt x="34" y="404"/>
                      </a:lnTo>
                      <a:lnTo>
                        <a:pt x="34" y="401"/>
                      </a:lnTo>
                      <a:lnTo>
                        <a:pt x="37" y="390"/>
                      </a:lnTo>
                      <a:lnTo>
                        <a:pt x="37" y="377"/>
                      </a:lnTo>
                      <a:lnTo>
                        <a:pt x="38" y="355"/>
                      </a:lnTo>
                      <a:lnTo>
                        <a:pt x="40" y="331"/>
                      </a:lnTo>
                      <a:lnTo>
                        <a:pt x="40" y="302"/>
                      </a:lnTo>
                      <a:lnTo>
                        <a:pt x="42" y="272"/>
                      </a:lnTo>
                      <a:lnTo>
                        <a:pt x="44" y="237"/>
                      </a:lnTo>
                      <a:lnTo>
                        <a:pt x="44" y="202"/>
                      </a:lnTo>
                      <a:lnTo>
                        <a:pt x="46" y="167"/>
                      </a:lnTo>
                      <a:lnTo>
                        <a:pt x="47" y="132"/>
                      </a:lnTo>
                      <a:lnTo>
                        <a:pt x="47" y="100"/>
                      </a:lnTo>
                      <a:lnTo>
                        <a:pt x="50" y="73"/>
                      </a:lnTo>
                      <a:lnTo>
                        <a:pt x="52" y="48"/>
                      </a:lnTo>
                      <a:lnTo>
                        <a:pt x="52" y="27"/>
                      </a:lnTo>
                      <a:lnTo>
                        <a:pt x="53" y="14"/>
                      </a:lnTo>
                      <a:lnTo>
                        <a:pt x="56" y="3"/>
                      </a:lnTo>
                      <a:lnTo>
                        <a:pt x="56" y="0"/>
                      </a:lnTo>
                      <a:lnTo>
                        <a:pt x="57" y="3"/>
                      </a:lnTo>
                      <a:lnTo>
                        <a:pt x="57" y="14"/>
                      </a:lnTo>
                      <a:lnTo>
                        <a:pt x="59" y="27"/>
                      </a:lnTo>
                      <a:lnTo>
                        <a:pt x="61" y="48"/>
                      </a:lnTo>
                      <a:lnTo>
                        <a:pt x="61" y="73"/>
                      </a:lnTo>
                      <a:lnTo>
                        <a:pt x="63" y="102"/>
                      </a:lnTo>
                      <a:lnTo>
                        <a:pt x="65" y="132"/>
                      </a:lnTo>
                      <a:lnTo>
                        <a:pt x="65" y="167"/>
                      </a:lnTo>
                      <a:lnTo>
                        <a:pt x="66" y="202"/>
                      </a:lnTo>
                      <a:lnTo>
                        <a:pt x="69" y="237"/>
                      </a:lnTo>
                      <a:lnTo>
                        <a:pt x="69" y="272"/>
                      </a:lnTo>
                      <a:lnTo>
                        <a:pt x="70" y="304"/>
                      </a:lnTo>
                      <a:lnTo>
                        <a:pt x="72" y="331"/>
                      </a:lnTo>
                      <a:lnTo>
                        <a:pt x="72" y="355"/>
                      </a:lnTo>
                      <a:lnTo>
                        <a:pt x="74" y="377"/>
                      </a:lnTo>
                      <a:lnTo>
                        <a:pt x="76" y="390"/>
                      </a:lnTo>
                      <a:lnTo>
                        <a:pt x="76" y="401"/>
                      </a:lnTo>
                      <a:lnTo>
                        <a:pt x="78" y="404"/>
                      </a:lnTo>
                      <a:lnTo>
                        <a:pt x="78" y="401"/>
                      </a:lnTo>
                      <a:lnTo>
                        <a:pt x="80" y="390"/>
                      </a:lnTo>
                      <a:lnTo>
                        <a:pt x="82" y="377"/>
                      </a:lnTo>
                      <a:lnTo>
                        <a:pt x="82" y="355"/>
                      </a:lnTo>
                      <a:lnTo>
                        <a:pt x="84" y="331"/>
                      </a:lnTo>
                      <a:lnTo>
                        <a:pt x="85" y="304"/>
                      </a:lnTo>
                      <a:lnTo>
                        <a:pt x="85" y="272"/>
                      </a:lnTo>
                      <a:lnTo>
                        <a:pt x="88" y="237"/>
                      </a:lnTo>
                      <a:lnTo>
                        <a:pt x="89" y="202"/>
                      </a:lnTo>
                      <a:lnTo>
                        <a:pt x="89" y="167"/>
                      </a:lnTo>
                      <a:lnTo>
                        <a:pt x="91" y="132"/>
                      </a:lnTo>
                      <a:lnTo>
                        <a:pt x="94" y="102"/>
                      </a:lnTo>
                      <a:lnTo>
                        <a:pt x="94" y="73"/>
                      </a:lnTo>
                      <a:lnTo>
                        <a:pt x="95" y="48"/>
                      </a:lnTo>
                      <a:lnTo>
                        <a:pt x="97" y="27"/>
                      </a:lnTo>
                      <a:lnTo>
                        <a:pt x="97" y="14"/>
                      </a:lnTo>
                      <a:lnTo>
                        <a:pt x="100" y="3"/>
                      </a:lnTo>
                      <a:lnTo>
                        <a:pt x="101" y="0"/>
                      </a:lnTo>
                      <a:lnTo>
                        <a:pt x="101" y="3"/>
                      </a:lnTo>
                      <a:lnTo>
                        <a:pt x="103" y="14"/>
                      </a:lnTo>
                      <a:lnTo>
                        <a:pt x="103" y="27"/>
                      </a:lnTo>
                      <a:lnTo>
                        <a:pt x="104" y="48"/>
                      </a:lnTo>
                      <a:lnTo>
                        <a:pt x="107" y="73"/>
                      </a:lnTo>
                      <a:lnTo>
                        <a:pt x="107" y="100"/>
                      </a:lnTo>
                      <a:lnTo>
                        <a:pt x="109" y="132"/>
                      </a:lnTo>
                      <a:lnTo>
                        <a:pt x="110" y="167"/>
                      </a:lnTo>
                      <a:lnTo>
                        <a:pt x="110" y="202"/>
                      </a:lnTo>
                      <a:lnTo>
                        <a:pt x="113" y="237"/>
                      </a:lnTo>
                      <a:lnTo>
                        <a:pt x="114" y="272"/>
                      </a:lnTo>
                      <a:lnTo>
                        <a:pt x="114" y="302"/>
                      </a:lnTo>
                      <a:lnTo>
                        <a:pt x="116" y="331"/>
                      </a:lnTo>
                      <a:lnTo>
                        <a:pt x="119" y="355"/>
                      </a:lnTo>
                      <a:lnTo>
                        <a:pt x="119" y="377"/>
                      </a:lnTo>
                      <a:lnTo>
                        <a:pt x="120" y="390"/>
                      </a:lnTo>
                      <a:lnTo>
                        <a:pt x="122" y="401"/>
                      </a:lnTo>
                      <a:lnTo>
                        <a:pt x="122" y="404"/>
                      </a:lnTo>
                      <a:lnTo>
                        <a:pt x="123" y="401"/>
                      </a:lnTo>
                      <a:lnTo>
                        <a:pt x="123" y="390"/>
                      </a:lnTo>
                      <a:lnTo>
                        <a:pt x="126" y="377"/>
                      </a:lnTo>
                      <a:lnTo>
                        <a:pt x="128" y="355"/>
                      </a:lnTo>
                      <a:lnTo>
                        <a:pt x="128" y="331"/>
                      </a:lnTo>
                      <a:lnTo>
                        <a:pt x="129" y="304"/>
                      </a:lnTo>
                      <a:lnTo>
                        <a:pt x="132" y="272"/>
                      </a:lnTo>
                      <a:lnTo>
                        <a:pt x="132" y="237"/>
                      </a:lnTo>
                      <a:lnTo>
                        <a:pt x="133" y="202"/>
                      </a:lnTo>
                      <a:lnTo>
                        <a:pt x="135" y="167"/>
                      </a:lnTo>
                      <a:lnTo>
                        <a:pt x="135" y="132"/>
                      </a:lnTo>
                      <a:lnTo>
                        <a:pt x="138" y="100"/>
                      </a:lnTo>
                      <a:lnTo>
                        <a:pt x="139" y="73"/>
                      </a:lnTo>
                      <a:lnTo>
                        <a:pt x="139" y="48"/>
                      </a:lnTo>
                      <a:lnTo>
                        <a:pt x="141" y="27"/>
                      </a:lnTo>
                      <a:lnTo>
                        <a:pt x="143" y="14"/>
                      </a:lnTo>
                      <a:lnTo>
                        <a:pt x="143" y="3"/>
                      </a:lnTo>
                      <a:lnTo>
                        <a:pt x="145" y="0"/>
                      </a:lnTo>
                      <a:lnTo>
                        <a:pt x="145" y="3"/>
                      </a:lnTo>
                      <a:lnTo>
                        <a:pt x="147" y="14"/>
                      </a:lnTo>
                      <a:lnTo>
                        <a:pt x="148" y="27"/>
                      </a:lnTo>
                      <a:lnTo>
                        <a:pt x="148" y="48"/>
                      </a:lnTo>
                      <a:lnTo>
                        <a:pt x="151" y="73"/>
                      </a:lnTo>
                      <a:lnTo>
                        <a:pt x="153" y="100"/>
                      </a:lnTo>
                      <a:lnTo>
                        <a:pt x="153" y="132"/>
                      </a:lnTo>
                      <a:lnTo>
                        <a:pt x="154" y="167"/>
                      </a:lnTo>
                      <a:lnTo>
                        <a:pt x="157" y="202"/>
                      </a:lnTo>
                      <a:lnTo>
                        <a:pt x="157" y="237"/>
                      </a:lnTo>
                      <a:lnTo>
                        <a:pt x="158" y="272"/>
                      </a:lnTo>
                      <a:lnTo>
                        <a:pt x="160" y="304"/>
                      </a:lnTo>
                      <a:lnTo>
                        <a:pt x="160" y="331"/>
                      </a:lnTo>
                      <a:lnTo>
                        <a:pt x="162" y="355"/>
                      </a:lnTo>
                      <a:lnTo>
                        <a:pt x="164" y="377"/>
                      </a:lnTo>
                      <a:lnTo>
                        <a:pt x="164" y="390"/>
                      </a:lnTo>
                      <a:lnTo>
                        <a:pt x="166" y="401"/>
                      </a:lnTo>
                      <a:lnTo>
                        <a:pt x="167" y="404"/>
                      </a:lnTo>
                      <a:lnTo>
                        <a:pt x="167" y="401"/>
                      </a:lnTo>
                      <a:lnTo>
                        <a:pt x="170" y="390"/>
                      </a:lnTo>
                      <a:lnTo>
                        <a:pt x="170" y="377"/>
                      </a:lnTo>
                      <a:lnTo>
                        <a:pt x="171" y="355"/>
                      </a:lnTo>
                      <a:lnTo>
                        <a:pt x="173" y="331"/>
                      </a:lnTo>
                      <a:lnTo>
                        <a:pt x="173" y="302"/>
                      </a:lnTo>
                      <a:lnTo>
                        <a:pt x="175" y="272"/>
                      </a:lnTo>
                      <a:lnTo>
                        <a:pt x="177" y="237"/>
                      </a:lnTo>
                      <a:lnTo>
                        <a:pt x="177" y="202"/>
                      </a:lnTo>
                      <a:lnTo>
                        <a:pt x="179" y="167"/>
                      </a:lnTo>
                      <a:lnTo>
                        <a:pt x="181" y="132"/>
                      </a:lnTo>
                      <a:lnTo>
                        <a:pt x="181" y="102"/>
                      </a:lnTo>
                      <a:lnTo>
                        <a:pt x="183" y="73"/>
                      </a:lnTo>
                      <a:lnTo>
                        <a:pt x="185" y="48"/>
                      </a:lnTo>
                      <a:lnTo>
                        <a:pt x="185" y="27"/>
                      </a:lnTo>
                      <a:lnTo>
                        <a:pt x="186" y="14"/>
                      </a:lnTo>
                      <a:lnTo>
                        <a:pt x="189" y="3"/>
                      </a:lnTo>
                      <a:lnTo>
                        <a:pt x="189" y="0"/>
                      </a:lnTo>
                      <a:lnTo>
                        <a:pt x="190" y="3"/>
                      </a:lnTo>
                      <a:lnTo>
                        <a:pt x="190" y="14"/>
                      </a:lnTo>
                      <a:lnTo>
                        <a:pt x="193" y="27"/>
                      </a:lnTo>
                      <a:lnTo>
                        <a:pt x="194" y="48"/>
                      </a:lnTo>
                      <a:lnTo>
                        <a:pt x="194" y="73"/>
                      </a:lnTo>
                      <a:lnTo>
                        <a:pt x="196" y="100"/>
                      </a:lnTo>
                      <a:lnTo>
                        <a:pt x="198" y="132"/>
                      </a:lnTo>
                      <a:lnTo>
                        <a:pt x="198" y="167"/>
                      </a:lnTo>
                      <a:lnTo>
                        <a:pt x="200" y="202"/>
                      </a:lnTo>
                      <a:lnTo>
                        <a:pt x="202" y="237"/>
                      </a:lnTo>
                      <a:lnTo>
                        <a:pt x="202" y="272"/>
                      </a:lnTo>
                      <a:lnTo>
                        <a:pt x="204" y="302"/>
                      </a:lnTo>
                      <a:lnTo>
                        <a:pt x="205" y="331"/>
                      </a:lnTo>
                      <a:lnTo>
                        <a:pt x="205" y="355"/>
                      </a:lnTo>
                      <a:lnTo>
                        <a:pt x="208" y="377"/>
                      </a:lnTo>
                      <a:lnTo>
                        <a:pt x="209" y="390"/>
                      </a:lnTo>
                      <a:lnTo>
                        <a:pt x="209" y="401"/>
                      </a:lnTo>
                      <a:lnTo>
                        <a:pt x="211" y="404"/>
                      </a:lnTo>
                      <a:lnTo>
                        <a:pt x="211" y="401"/>
                      </a:lnTo>
                      <a:lnTo>
                        <a:pt x="213" y="390"/>
                      </a:lnTo>
                      <a:lnTo>
                        <a:pt x="215" y="377"/>
                      </a:lnTo>
                      <a:lnTo>
                        <a:pt x="215" y="355"/>
                      </a:lnTo>
                      <a:lnTo>
                        <a:pt x="217" y="331"/>
                      </a:lnTo>
                      <a:lnTo>
                        <a:pt x="219" y="304"/>
                      </a:lnTo>
                      <a:lnTo>
                        <a:pt x="219" y="272"/>
                      </a:lnTo>
                      <a:lnTo>
                        <a:pt x="221" y="237"/>
                      </a:lnTo>
                      <a:lnTo>
                        <a:pt x="223" y="202"/>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7671" name="Line 121"/>
                <p:cNvSpPr>
                  <a:spLocks noChangeShapeType="1"/>
                </p:cNvSpPr>
                <p:nvPr/>
              </p:nvSpPr>
              <p:spPr bwMode="auto">
                <a:xfrm flipH="1">
                  <a:off x="1724" y="1594"/>
                  <a:ext cx="15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7656" name="Rectangle 122"/>
              <p:cNvSpPr>
                <a:spLocks noChangeArrowheads="1"/>
              </p:cNvSpPr>
              <p:nvPr/>
            </p:nvSpPr>
            <p:spPr bwMode="auto">
              <a:xfrm>
                <a:off x="1133" y="1853"/>
                <a:ext cx="51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Modulated RF</a:t>
                </a:r>
              </a:p>
              <a:p>
                <a:r>
                  <a:rPr lang="en-US" altLang="en-US" sz="1000">
                    <a:latin typeface="Times New Roman" panose="02020603050405020304" pitchFamily="18" charset="0"/>
                  </a:rPr>
                  <a:t>Input Signal</a:t>
                </a:r>
              </a:p>
            </p:txBody>
          </p:sp>
          <p:sp>
            <p:nvSpPr>
              <p:cNvPr id="27657" name="Line 123"/>
              <p:cNvSpPr>
                <a:spLocks noChangeShapeType="1"/>
              </p:cNvSpPr>
              <p:nvPr/>
            </p:nvSpPr>
            <p:spPr bwMode="auto">
              <a:xfrm flipH="1">
                <a:off x="1768" y="2371"/>
                <a:ext cx="13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58" name="Line 124"/>
              <p:cNvSpPr>
                <a:spLocks noChangeShapeType="1"/>
              </p:cNvSpPr>
              <p:nvPr/>
            </p:nvSpPr>
            <p:spPr bwMode="auto">
              <a:xfrm flipH="1">
                <a:off x="1364" y="2371"/>
                <a:ext cx="17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59" name="Line 125"/>
              <p:cNvSpPr>
                <a:spLocks noChangeShapeType="1"/>
              </p:cNvSpPr>
              <p:nvPr/>
            </p:nvSpPr>
            <p:spPr bwMode="auto">
              <a:xfrm flipH="1">
                <a:off x="961" y="2371"/>
                <a:ext cx="17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60" name="Line 126"/>
              <p:cNvSpPr>
                <a:spLocks noChangeShapeType="1"/>
              </p:cNvSpPr>
              <p:nvPr/>
            </p:nvSpPr>
            <p:spPr bwMode="auto">
              <a:xfrm>
                <a:off x="1134" y="2141"/>
                <a:ext cx="23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61" name="Line 127"/>
              <p:cNvSpPr>
                <a:spLocks noChangeShapeType="1"/>
              </p:cNvSpPr>
              <p:nvPr/>
            </p:nvSpPr>
            <p:spPr bwMode="auto">
              <a:xfrm>
                <a:off x="1537" y="2141"/>
                <a:ext cx="23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62" name="Line 128"/>
              <p:cNvSpPr>
                <a:spLocks noChangeShapeType="1"/>
              </p:cNvSpPr>
              <p:nvPr/>
            </p:nvSpPr>
            <p:spPr bwMode="auto">
              <a:xfrm>
                <a:off x="1133" y="2142"/>
                <a:ext cx="0" cy="22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63" name="Line 129"/>
              <p:cNvSpPr>
                <a:spLocks noChangeShapeType="1"/>
              </p:cNvSpPr>
              <p:nvPr/>
            </p:nvSpPr>
            <p:spPr bwMode="auto">
              <a:xfrm>
                <a:off x="1363" y="2142"/>
                <a:ext cx="1" cy="22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64" name="Line 130"/>
              <p:cNvSpPr>
                <a:spLocks noChangeShapeType="1"/>
              </p:cNvSpPr>
              <p:nvPr/>
            </p:nvSpPr>
            <p:spPr bwMode="auto">
              <a:xfrm>
                <a:off x="1536" y="2142"/>
                <a:ext cx="1" cy="22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65" name="Line 131"/>
              <p:cNvSpPr>
                <a:spLocks noChangeShapeType="1"/>
              </p:cNvSpPr>
              <p:nvPr/>
            </p:nvSpPr>
            <p:spPr bwMode="auto">
              <a:xfrm>
                <a:off x="1767" y="2142"/>
                <a:ext cx="0" cy="22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66" name="Rectangle 132"/>
              <p:cNvSpPr>
                <a:spLocks noChangeArrowheads="1"/>
              </p:cNvSpPr>
              <p:nvPr/>
            </p:nvSpPr>
            <p:spPr bwMode="auto">
              <a:xfrm>
                <a:off x="1133" y="2486"/>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latin typeface="Times New Roman" panose="02020603050405020304" pitchFamily="18" charset="0"/>
                  </a:rPr>
                  <a:t>Detected </a:t>
                </a:r>
              </a:p>
              <a:p>
                <a:r>
                  <a:rPr lang="en-US" altLang="en-US" sz="1000">
                    <a:latin typeface="Times New Roman" panose="02020603050405020304" pitchFamily="18" charset="0"/>
                  </a:rPr>
                  <a:t>Output Signal</a:t>
                </a:r>
              </a:p>
            </p:txBody>
          </p:sp>
        </p:grpSp>
      </p:grpSp>
      <p:sp>
        <p:nvSpPr>
          <p:cNvPr id="27652" name="Rectangle 133"/>
          <p:cNvSpPr>
            <a:spLocks noGrp="1" noChangeArrowheads="1"/>
          </p:cNvSpPr>
          <p:nvPr>
            <p:ph type="body" idx="1"/>
          </p:nvPr>
        </p:nvSpPr>
        <p:spPr>
          <a:xfrm>
            <a:off x="387350" y="4508438"/>
            <a:ext cx="8458200" cy="1371600"/>
          </a:xfrm>
          <a:noFill/>
        </p:spPr>
        <p:txBody>
          <a:bodyPr lIns="92075" tIns="46038" rIns="92075" bIns="46038"/>
          <a:lstStyle/>
          <a:p>
            <a:pPr>
              <a:buSzPct val="90000"/>
            </a:pPr>
            <a:r>
              <a:rPr lang="en-US" altLang="en-US" sz="2400" dirty="0" smtClean="0"/>
              <a:t>Amplitude Detector Using Schottky Diode</a:t>
            </a:r>
          </a:p>
        </p:txBody>
      </p:sp>
    </p:spTree>
    <p:extLst>
      <p:ext uri="{BB962C8B-B14F-4D97-AF65-F5344CB8AC3E}">
        <p14:creationId xmlns:p14="http://schemas.microsoft.com/office/powerpoint/2010/main" val="39377391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noFill/>
        </p:spPr>
        <p:txBody>
          <a:bodyPr lIns="92075" tIns="46038" rIns="92075" bIns="46038" anchor="ctr"/>
          <a:lstStyle/>
          <a:p>
            <a:r>
              <a:rPr lang="en-US" altLang="en-US" dirty="0" smtClean="0"/>
              <a:t>Voltage </a:t>
            </a:r>
            <a:r>
              <a:rPr lang="en-US" altLang="en-US" dirty="0" err="1" smtClean="0"/>
              <a:t>Doubler</a:t>
            </a:r>
            <a:r>
              <a:rPr lang="en-US" altLang="en-US" dirty="0" smtClean="0"/>
              <a:t> Detector</a:t>
            </a:r>
          </a:p>
        </p:txBody>
      </p:sp>
      <p:sp>
        <p:nvSpPr>
          <p:cNvPr id="28675" name="Rectangle 3"/>
          <p:cNvSpPr>
            <a:spLocks noGrp="1" noChangeArrowheads="1"/>
          </p:cNvSpPr>
          <p:nvPr>
            <p:ph type="body" idx="1"/>
          </p:nvPr>
        </p:nvSpPr>
        <p:spPr>
          <a:xfrm>
            <a:off x="341313" y="3771837"/>
            <a:ext cx="8458200" cy="1905000"/>
          </a:xfrm>
          <a:noFill/>
        </p:spPr>
        <p:txBody>
          <a:bodyPr lIns="92075" tIns="46038" rIns="92075" bIns="46038"/>
          <a:lstStyle/>
          <a:p>
            <a:pPr marL="342900" indent="-342900">
              <a:buSzPct val="90000"/>
            </a:pPr>
            <a:r>
              <a:rPr lang="en-US" altLang="en-US" sz="2400" dirty="0" smtClean="0"/>
              <a:t>Positive signal alternation charges one capacitor</a:t>
            </a:r>
          </a:p>
          <a:p>
            <a:pPr marL="342900" indent="-342900">
              <a:buSzPct val="90000"/>
            </a:pPr>
            <a:r>
              <a:rPr lang="en-US" altLang="en-US" sz="2400" dirty="0" smtClean="0"/>
              <a:t>Negative signal alternation charges other capacitor</a:t>
            </a:r>
          </a:p>
          <a:p>
            <a:pPr marL="342900" indent="-342900">
              <a:buSzPct val="90000"/>
            </a:pPr>
            <a:r>
              <a:rPr lang="en-US" altLang="en-US" sz="2400" dirty="0" smtClean="0"/>
              <a:t>Output is taken across both capacitors, effectively doubling detected output voltage</a:t>
            </a:r>
          </a:p>
          <a:p>
            <a:pPr marL="342900" indent="-342900">
              <a:buSzPct val="90000"/>
            </a:pPr>
            <a:r>
              <a:rPr lang="en-US" altLang="en-US" sz="2400" dirty="0" smtClean="0"/>
              <a:t>Requires </a:t>
            </a:r>
            <a:r>
              <a:rPr lang="en-US" altLang="en-US" sz="2400" dirty="0" err="1" smtClean="0"/>
              <a:t>balun</a:t>
            </a:r>
            <a:r>
              <a:rPr lang="en-US" altLang="en-US" sz="2400" dirty="0" smtClean="0"/>
              <a:t> structure</a:t>
            </a:r>
          </a:p>
        </p:txBody>
      </p:sp>
      <p:grpSp>
        <p:nvGrpSpPr>
          <p:cNvPr id="28676" name="Group 4"/>
          <p:cNvGrpSpPr>
            <a:grpSpLocks/>
          </p:cNvGrpSpPr>
          <p:nvPr/>
        </p:nvGrpSpPr>
        <p:grpSpPr bwMode="auto">
          <a:xfrm>
            <a:off x="1828800" y="1676400"/>
            <a:ext cx="5867400" cy="1827213"/>
            <a:chOff x="1200" y="1297"/>
            <a:chExt cx="3696" cy="1151"/>
          </a:xfrm>
        </p:grpSpPr>
        <p:grpSp>
          <p:nvGrpSpPr>
            <p:cNvPr id="28681" name="Group 5"/>
            <p:cNvGrpSpPr>
              <a:grpSpLocks/>
            </p:cNvGrpSpPr>
            <p:nvPr/>
          </p:nvGrpSpPr>
          <p:grpSpPr bwMode="auto">
            <a:xfrm>
              <a:off x="3024" y="1297"/>
              <a:ext cx="1248" cy="959"/>
              <a:chOff x="3024" y="1297"/>
              <a:chExt cx="1248" cy="959"/>
            </a:xfrm>
          </p:grpSpPr>
          <p:grpSp>
            <p:nvGrpSpPr>
              <p:cNvPr id="28733" name="Group 6"/>
              <p:cNvGrpSpPr>
                <a:grpSpLocks/>
              </p:cNvGrpSpPr>
              <p:nvPr/>
            </p:nvGrpSpPr>
            <p:grpSpPr bwMode="auto">
              <a:xfrm>
                <a:off x="3025" y="2065"/>
                <a:ext cx="815" cy="191"/>
                <a:chOff x="3025" y="2065"/>
                <a:chExt cx="815" cy="191"/>
              </a:xfrm>
            </p:grpSpPr>
            <p:sp>
              <p:nvSpPr>
                <p:cNvPr id="28758" name="Line 7"/>
                <p:cNvSpPr>
                  <a:spLocks noChangeShapeType="1"/>
                </p:cNvSpPr>
                <p:nvPr/>
              </p:nvSpPr>
              <p:spPr bwMode="auto">
                <a:xfrm>
                  <a:off x="3025" y="2160"/>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59" name="Line 8"/>
                <p:cNvSpPr>
                  <a:spLocks noChangeShapeType="1"/>
                </p:cNvSpPr>
                <p:nvPr/>
              </p:nvSpPr>
              <p:spPr bwMode="auto">
                <a:xfrm>
                  <a:off x="3361" y="2161"/>
                  <a:ext cx="143"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60" name="Line 9"/>
                <p:cNvSpPr>
                  <a:spLocks noChangeShapeType="1"/>
                </p:cNvSpPr>
                <p:nvPr/>
              </p:nvSpPr>
              <p:spPr bwMode="auto">
                <a:xfrm flipH="1">
                  <a:off x="3361" y="2065"/>
                  <a:ext cx="143"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61" name="Line 10"/>
                <p:cNvSpPr>
                  <a:spLocks noChangeShapeType="1"/>
                </p:cNvSpPr>
                <p:nvPr/>
              </p:nvSpPr>
              <p:spPr bwMode="auto">
                <a:xfrm>
                  <a:off x="3504" y="2065"/>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62" name="Line 11"/>
                <p:cNvSpPr>
                  <a:spLocks noChangeShapeType="1"/>
                </p:cNvSpPr>
                <p:nvPr/>
              </p:nvSpPr>
              <p:spPr bwMode="auto">
                <a:xfrm>
                  <a:off x="3505" y="2160"/>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63" name="Line 12"/>
                <p:cNvSpPr>
                  <a:spLocks noChangeShapeType="1"/>
                </p:cNvSpPr>
                <p:nvPr/>
              </p:nvSpPr>
              <p:spPr bwMode="auto">
                <a:xfrm>
                  <a:off x="3360" y="2065"/>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8734" name="Group 13"/>
              <p:cNvGrpSpPr>
                <a:grpSpLocks/>
              </p:cNvGrpSpPr>
              <p:nvPr/>
            </p:nvGrpSpPr>
            <p:grpSpPr bwMode="auto">
              <a:xfrm>
                <a:off x="3025" y="1297"/>
                <a:ext cx="815" cy="191"/>
                <a:chOff x="3025" y="1297"/>
                <a:chExt cx="815" cy="191"/>
              </a:xfrm>
            </p:grpSpPr>
            <p:sp>
              <p:nvSpPr>
                <p:cNvPr id="28752" name="Line 14"/>
                <p:cNvSpPr>
                  <a:spLocks noChangeShapeType="1"/>
                </p:cNvSpPr>
                <p:nvPr/>
              </p:nvSpPr>
              <p:spPr bwMode="auto">
                <a:xfrm flipH="1">
                  <a:off x="3505" y="1392"/>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53" name="Line 15"/>
                <p:cNvSpPr>
                  <a:spLocks noChangeShapeType="1"/>
                </p:cNvSpPr>
                <p:nvPr/>
              </p:nvSpPr>
              <p:spPr bwMode="auto">
                <a:xfrm flipH="1">
                  <a:off x="3361" y="1393"/>
                  <a:ext cx="143"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54" name="Line 16"/>
                <p:cNvSpPr>
                  <a:spLocks noChangeShapeType="1"/>
                </p:cNvSpPr>
                <p:nvPr/>
              </p:nvSpPr>
              <p:spPr bwMode="auto">
                <a:xfrm>
                  <a:off x="3361" y="1297"/>
                  <a:ext cx="143"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55" name="Line 17"/>
                <p:cNvSpPr>
                  <a:spLocks noChangeShapeType="1"/>
                </p:cNvSpPr>
                <p:nvPr/>
              </p:nvSpPr>
              <p:spPr bwMode="auto">
                <a:xfrm>
                  <a:off x="3360" y="1297"/>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56" name="Line 18"/>
                <p:cNvSpPr>
                  <a:spLocks noChangeShapeType="1"/>
                </p:cNvSpPr>
                <p:nvPr/>
              </p:nvSpPr>
              <p:spPr bwMode="auto">
                <a:xfrm flipH="1">
                  <a:off x="3025" y="1392"/>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57" name="Line 19"/>
                <p:cNvSpPr>
                  <a:spLocks noChangeShapeType="1"/>
                </p:cNvSpPr>
                <p:nvPr/>
              </p:nvSpPr>
              <p:spPr bwMode="auto">
                <a:xfrm>
                  <a:off x="3504" y="1297"/>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8735" name="Group 20"/>
              <p:cNvGrpSpPr>
                <a:grpSpLocks/>
              </p:cNvGrpSpPr>
              <p:nvPr/>
            </p:nvGrpSpPr>
            <p:grpSpPr bwMode="auto">
              <a:xfrm>
                <a:off x="3745" y="1393"/>
                <a:ext cx="191" cy="383"/>
                <a:chOff x="3745" y="1393"/>
                <a:chExt cx="191" cy="383"/>
              </a:xfrm>
            </p:grpSpPr>
            <p:grpSp>
              <p:nvGrpSpPr>
                <p:cNvPr id="28746" name="Group 21"/>
                <p:cNvGrpSpPr>
                  <a:grpSpLocks/>
                </p:cNvGrpSpPr>
                <p:nvPr/>
              </p:nvGrpSpPr>
              <p:grpSpPr bwMode="auto">
                <a:xfrm>
                  <a:off x="3745" y="1393"/>
                  <a:ext cx="191" cy="383"/>
                  <a:chOff x="3745" y="1393"/>
                  <a:chExt cx="191" cy="383"/>
                </a:xfrm>
              </p:grpSpPr>
              <p:sp>
                <p:nvSpPr>
                  <p:cNvPr id="28748" name="Line 22"/>
                  <p:cNvSpPr>
                    <a:spLocks noChangeShapeType="1"/>
                  </p:cNvSpPr>
                  <p:nvPr/>
                </p:nvSpPr>
                <p:spPr bwMode="auto">
                  <a:xfrm>
                    <a:off x="3745" y="1536"/>
                    <a:ext cx="19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49" name="Line 23"/>
                  <p:cNvSpPr>
                    <a:spLocks noChangeShapeType="1"/>
                  </p:cNvSpPr>
                  <p:nvPr/>
                </p:nvSpPr>
                <p:spPr bwMode="auto">
                  <a:xfrm>
                    <a:off x="3745" y="1632"/>
                    <a:ext cx="19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50" name="Line 24"/>
                  <p:cNvSpPr>
                    <a:spLocks noChangeShapeType="1"/>
                  </p:cNvSpPr>
                  <p:nvPr/>
                </p:nvSpPr>
                <p:spPr bwMode="auto">
                  <a:xfrm flipV="1">
                    <a:off x="3840" y="1393"/>
                    <a:ext cx="0" cy="14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51" name="Line 25"/>
                  <p:cNvSpPr>
                    <a:spLocks noChangeShapeType="1"/>
                  </p:cNvSpPr>
                  <p:nvPr/>
                </p:nvSpPr>
                <p:spPr bwMode="auto">
                  <a:xfrm flipV="1">
                    <a:off x="3840" y="1633"/>
                    <a:ext cx="0" cy="14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8747" name="Line 26"/>
                <p:cNvSpPr>
                  <a:spLocks noChangeShapeType="1"/>
                </p:cNvSpPr>
                <p:nvPr/>
              </p:nvSpPr>
              <p:spPr bwMode="auto">
                <a:xfrm flipV="1">
                  <a:off x="3840" y="1393"/>
                  <a:ext cx="0" cy="14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8736" name="Group 27"/>
              <p:cNvGrpSpPr>
                <a:grpSpLocks/>
              </p:cNvGrpSpPr>
              <p:nvPr/>
            </p:nvGrpSpPr>
            <p:grpSpPr bwMode="auto">
              <a:xfrm>
                <a:off x="3745" y="1777"/>
                <a:ext cx="191" cy="383"/>
                <a:chOff x="3745" y="1777"/>
                <a:chExt cx="191" cy="383"/>
              </a:xfrm>
            </p:grpSpPr>
            <p:grpSp>
              <p:nvGrpSpPr>
                <p:cNvPr id="28740" name="Group 28"/>
                <p:cNvGrpSpPr>
                  <a:grpSpLocks/>
                </p:cNvGrpSpPr>
                <p:nvPr/>
              </p:nvGrpSpPr>
              <p:grpSpPr bwMode="auto">
                <a:xfrm>
                  <a:off x="3745" y="1777"/>
                  <a:ext cx="191" cy="383"/>
                  <a:chOff x="3745" y="1777"/>
                  <a:chExt cx="191" cy="383"/>
                </a:xfrm>
              </p:grpSpPr>
              <p:sp>
                <p:nvSpPr>
                  <p:cNvPr id="28742" name="Line 29"/>
                  <p:cNvSpPr>
                    <a:spLocks noChangeShapeType="1"/>
                  </p:cNvSpPr>
                  <p:nvPr/>
                </p:nvSpPr>
                <p:spPr bwMode="auto">
                  <a:xfrm>
                    <a:off x="3745" y="1920"/>
                    <a:ext cx="19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43" name="Line 30"/>
                  <p:cNvSpPr>
                    <a:spLocks noChangeShapeType="1"/>
                  </p:cNvSpPr>
                  <p:nvPr/>
                </p:nvSpPr>
                <p:spPr bwMode="auto">
                  <a:xfrm>
                    <a:off x="3745" y="2016"/>
                    <a:ext cx="19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44" name="Line 31"/>
                  <p:cNvSpPr>
                    <a:spLocks noChangeShapeType="1"/>
                  </p:cNvSpPr>
                  <p:nvPr/>
                </p:nvSpPr>
                <p:spPr bwMode="auto">
                  <a:xfrm flipV="1">
                    <a:off x="3840" y="1777"/>
                    <a:ext cx="0" cy="14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45" name="Line 32"/>
                  <p:cNvSpPr>
                    <a:spLocks noChangeShapeType="1"/>
                  </p:cNvSpPr>
                  <p:nvPr/>
                </p:nvSpPr>
                <p:spPr bwMode="auto">
                  <a:xfrm flipV="1">
                    <a:off x="3840" y="2017"/>
                    <a:ext cx="0" cy="14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8741" name="Line 33"/>
                <p:cNvSpPr>
                  <a:spLocks noChangeShapeType="1"/>
                </p:cNvSpPr>
                <p:nvPr/>
              </p:nvSpPr>
              <p:spPr bwMode="auto">
                <a:xfrm flipV="1">
                  <a:off x="3840" y="1777"/>
                  <a:ext cx="0" cy="14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8737" name="Line 34"/>
              <p:cNvSpPr>
                <a:spLocks noChangeShapeType="1"/>
              </p:cNvSpPr>
              <p:nvPr/>
            </p:nvSpPr>
            <p:spPr bwMode="auto">
              <a:xfrm>
                <a:off x="3841" y="2160"/>
                <a:ext cx="43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38" name="Line 35"/>
              <p:cNvSpPr>
                <a:spLocks noChangeShapeType="1"/>
              </p:cNvSpPr>
              <p:nvPr/>
            </p:nvSpPr>
            <p:spPr bwMode="auto">
              <a:xfrm>
                <a:off x="3841" y="1392"/>
                <a:ext cx="43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39" name="Line 36"/>
              <p:cNvSpPr>
                <a:spLocks noChangeShapeType="1"/>
              </p:cNvSpPr>
              <p:nvPr/>
            </p:nvSpPr>
            <p:spPr bwMode="auto">
              <a:xfrm>
                <a:off x="3024" y="1393"/>
                <a:ext cx="0" cy="76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8682" name="Group 37"/>
            <p:cNvGrpSpPr>
              <a:grpSpLocks/>
            </p:cNvGrpSpPr>
            <p:nvPr/>
          </p:nvGrpSpPr>
          <p:grpSpPr bwMode="auto">
            <a:xfrm>
              <a:off x="2112" y="1393"/>
              <a:ext cx="289" cy="767"/>
              <a:chOff x="2112" y="1393"/>
              <a:chExt cx="289" cy="767"/>
            </a:xfrm>
          </p:grpSpPr>
          <p:grpSp>
            <p:nvGrpSpPr>
              <p:cNvPr id="28707" name="Group 38"/>
              <p:cNvGrpSpPr>
                <a:grpSpLocks/>
              </p:cNvGrpSpPr>
              <p:nvPr/>
            </p:nvGrpSpPr>
            <p:grpSpPr bwMode="auto">
              <a:xfrm>
                <a:off x="2112" y="1393"/>
                <a:ext cx="96" cy="767"/>
                <a:chOff x="2112" y="1393"/>
                <a:chExt cx="96" cy="767"/>
              </a:xfrm>
            </p:grpSpPr>
            <p:grpSp>
              <p:nvGrpSpPr>
                <p:cNvPr id="28721" name="Group 39"/>
                <p:cNvGrpSpPr>
                  <a:grpSpLocks/>
                </p:cNvGrpSpPr>
                <p:nvPr/>
              </p:nvGrpSpPr>
              <p:grpSpPr bwMode="auto">
                <a:xfrm>
                  <a:off x="2112" y="1393"/>
                  <a:ext cx="96" cy="191"/>
                  <a:chOff x="2112" y="1393"/>
                  <a:chExt cx="96" cy="191"/>
                </a:xfrm>
              </p:grpSpPr>
              <p:sp>
                <p:nvSpPr>
                  <p:cNvPr id="28731" name="Arc 40"/>
                  <p:cNvSpPr>
                    <a:spLocks/>
                  </p:cNvSpPr>
                  <p:nvPr/>
                </p:nvSpPr>
                <p:spPr bwMode="auto">
                  <a:xfrm>
                    <a:off x="2112" y="1393"/>
                    <a:ext cx="96" cy="96"/>
                  </a:xfrm>
                  <a:custGeom>
                    <a:avLst/>
                    <a:gdLst>
                      <a:gd name="T0" fmla="*/ 0 w 21600"/>
                      <a:gd name="T1" fmla="*/ 0 h 21600"/>
                      <a:gd name="T2" fmla="*/ 96 w 21600"/>
                      <a:gd name="T3" fmla="*/ 96 h 21600"/>
                      <a:gd name="T4" fmla="*/ 0 w 21600"/>
                      <a:gd name="T5" fmla="*/ 9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8732" name="Arc 41"/>
                  <p:cNvSpPr>
                    <a:spLocks/>
                  </p:cNvSpPr>
                  <p:nvPr/>
                </p:nvSpPr>
                <p:spPr bwMode="auto">
                  <a:xfrm>
                    <a:off x="2112" y="1488"/>
                    <a:ext cx="96" cy="96"/>
                  </a:xfrm>
                  <a:custGeom>
                    <a:avLst/>
                    <a:gdLst>
                      <a:gd name="T0" fmla="*/ 96 w 21600"/>
                      <a:gd name="T1" fmla="*/ 0 h 21600"/>
                      <a:gd name="T2" fmla="*/ 0 w 21600"/>
                      <a:gd name="T3" fmla="*/ 96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8722" name="Group 42"/>
                <p:cNvGrpSpPr>
                  <a:grpSpLocks/>
                </p:cNvGrpSpPr>
                <p:nvPr/>
              </p:nvGrpSpPr>
              <p:grpSpPr bwMode="auto">
                <a:xfrm>
                  <a:off x="2112" y="1777"/>
                  <a:ext cx="96" cy="191"/>
                  <a:chOff x="2112" y="1777"/>
                  <a:chExt cx="96" cy="191"/>
                </a:xfrm>
              </p:grpSpPr>
              <p:sp>
                <p:nvSpPr>
                  <p:cNvPr id="28729" name="Arc 43"/>
                  <p:cNvSpPr>
                    <a:spLocks/>
                  </p:cNvSpPr>
                  <p:nvPr/>
                </p:nvSpPr>
                <p:spPr bwMode="auto">
                  <a:xfrm>
                    <a:off x="2112" y="1777"/>
                    <a:ext cx="96" cy="96"/>
                  </a:xfrm>
                  <a:custGeom>
                    <a:avLst/>
                    <a:gdLst>
                      <a:gd name="T0" fmla="*/ 0 w 21600"/>
                      <a:gd name="T1" fmla="*/ 0 h 21600"/>
                      <a:gd name="T2" fmla="*/ 96 w 21600"/>
                      <a:gd name="T3" fmla="*/ 96 h 21600"/>
                      <a:gd name="T4" fmla="*/ 0 w 21600"/>
                      <a:gd name="T5" fmla="*/ 9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8730" name="Arc 44"/>
                  <p:cNvSpPr>
                    <a:spLocks/>
                  </p:cNvSpPr>
                  <p:nvPr/>
                </p:nvSpPr>
                <p:spPr bwMode="auto">
                  <a:xfrm>
                    <a:off x="2112" y="1872"/>
                    <a:ext cx="96" cy="96"/>
                  </a:xfrm>
                  <a:custGeom>
                    <a:avLst/>
                    <a:gdLst>
                      <a:gd name="T0" fmla="*/ 96 w 21600"/>
                      <a:gd name="T1" fmla="*/ 0 h 21600"/>
                      <a:gd name="T2" fmla="*/ 0 w 21600"/>
                      <a:gd name="T3" fmla="*/ 96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8723" name="Group 45"/>
                <p:cNvGrpSpPr>
                  <a:grpSpLocks/>
                </p:cNvGrpSpPr>
                <p:nvPr/>
              </p:nvGrpSpPr>
              <p:grpSpPr bwMode="auto">
                <a:xfrm>
                  <a:off x="2112" y="1585"/>
                  <a:ext cx="96" cy="191"/>
                  <a:chOff x="2112" y="1585"/>
                  <a:chExt cx="96" cy="191"/>
                </a:xfrm>
              </p:grpSpPr>
              <p:sp>
                <p:nvSpPr>
                  <p:cNvPr id="28727" name="Arc 46"/>
                  <p:cNvSpPr>
                    <a:spLocks/>
                  </p:cNvSpPr>
                  <p:nvPr/>
                </p:nvSpPr>
                <p:spPr bwMode="auto">
                  <a:xfrm>
                    <a:off x="2112" y="1585"/>
                    <a:ext cx="96" cy="96"/>
                  </a:xfrm>
                  <a:custGeom>
                    <a:avLst/>
                    <a:gdLst>
                      <a:gd name="T0" fmla="*/ 0 w 21600"/>
                      <a:gd name="T1" fmla="*/ 0 h 21600"/>
                      <a:gd name="T2" fmla="*/ 96 w 21600"/>
                      <a:gd name="T3" fmla="*/ 96 h 21600"/>
                      <a:gd name="T4" fmla="*/ 0 w 21600"/>
                      <a:gd name="T5" fmla="*/ 9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8728" name="Arc 47"/>
                  <p:cNvSpPr>
                    <a:spLocks/>
                  </p:cNvSpPr>
                  <p:nvPr/>
                </p:nvSpPr>
                <p:spPr bwMode="auto">
                  <a:xfrm>
                    <a:off x="2112" y="1680"/>
                    <a:ext cx="96" cy="96"/>
                  </a:xfrm>
                  <a:custGeom>
                    <a:avLst/>
                    <a:gdLst>
                      <a:gd name="T0" fmla="*/ 96 w 21600"/>
                      <a:gd name="T1" fmla="*/ 0 h 21600"/>
                      <a:gd name="T2" fmla="*/ 0 w 21600"/>
                      <a:gd name="T3" fmla="*/ 96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8724" name="Group 48"/>
                <p:cNvGrpSpPr>
                  <a:grpSpLocks/>
                </p:cNvGrpSpPr>
                <p:nvPr/>
              </p:nvGrpSpPr>
              <p:grpSpPr bwMode="auto">
                <a:xfrm>
                  <a:off x="2112" y="1969"/>
                  <a:ext cx="96" cy="191"/>
                  <a:chOff x="2112" y="1969"/>
                  <a:chExt cx="96" cy="191"/>
                </a:xfrm>
              </p:grpSpPr>
              <p:sp>
                <p:nvSpPr>
                  <p:cNvPr id="28725" name="Arc 49"/>
                  <p:cNvSpPr>
                    <a:spLocks/>
                  </p:cNvSpPr>
                  <p:nvPr/>
                </p:nvSpPr>
                <p:spPr bwMode="auto">
                  <a:xfrm>
                    <a:off x="2112" y="1969"/>
                    <a:ext cx="96" cy="96"/>
                  </a:xfrm>
                  <a:custGeom>
                    <a:avLst/>
                    <a:gdLst>
                      <a:gd name="T0" fmla="*/ 0 w 21600"/>
                      <a:gd name="T1" fmla="*/ 0 h 21600"/>
                      <a:gd name="T2" fmla="*/ 96 w 21600"/>
                      <a:gd name="T3" fmla="*/ 96 h 21600"/>
                      <a:gd name="T4" fmla="*/ 0 w 21600"/>
                      <a:gd name="T5" fmla="*/ 9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8726" name="Arc 50"/>
                  <p:cNvSpPr>
                    <a:spLocks/>
                  </p:cNvSpPr>
                  <p:nvPr/>
                </p:nvSpPr>
                <p:spPr bwMode="auto">
                  <a:xfrm>
                    <a:off x="2112" y="2064"/>
                    <a:ext cx="96" cy="96"/>
                  </a:xfrm>
                  <a:custGeom>
                    <a:avLst/>
                    <a:gdLst>
                      <a:gd name="T0" fmla="*/ 96 w 21600"/>
                      <a:gd name="T1" fmla="*/ 0 h 21600"/>
                      <a:gd name="T2" fmla="*/ 0 w 21600"/>
                      <a:gd name="T3" fmla="*/ 96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grpSp>
            <p:nvGrpSpPr>
              <p:cNvPr id="28708" name="Group 51"/>
              <p:cNvGrpSpPr>
                <a:grpSpLocks/>
              </p:cNvGrpSpPr>
              <p:nvPr/>
            </p:nvGrpSpPr>
            <p:grpSpPr bwMode="auto">
              <a:xfrm>
                <a:off x="2305" y="1393"/>
                <a:ext cx="96" cy="767"/>
                <a:chOff x="2305" y="1393"/>
                <a:chExt cx="96" cy="767"/>
              </a:xfrm>
            </p:grpSpPr>
            <p:grpSp>
              <p:nvGrpSpPr>
                <p:cNvPr id="28709" name="Group 52"/>
                <p:cNvGrpSpPr>
                  <a:grpSpLocks/>
                </p:cNvGrpSpPr>
                <p:nvPr/>
              </p:nvGrpSpPr>
              <p:grpSpPr bwMode="auto">
                <a:xfrm>
                  <a:off x="2305" y="1393"/>
                  <a:ext cx="96" cy="191"/>
                  <a:chOff x="2305" y="1393"/>
                  <a:chExt cx="96" cy="191"/>
                </a:xfrm>
              </p:grpSpPr>
              <p:sp>
                <p:nvSpPr>
                  <p:cNvPr id="28719" name="Arc 53"/>
                  <p:cNvSpPr>
                    <a:spLocks/>
                  </p:cNvSpPr>
                  <p:nvPr/>
                </p:nvSpPr>
                <p:spPr bwMode="auto">
                  <a:xfrm>
                    <a:off x="2305" y="1393"/>
                    <a:ext cx="96" cy="96"/>
                  </a:xfrm>
                  <a:custGeom>
                    <a:avLst/>
                    <a:gdLst>
                      <a:gd name="T0" fmla="*/ 0 w 21600"/>
                      <a:gd name="T1" fmla="*/ 96 h 21599"/>
                      <a:gd name="T2" fmla="*/ 95 w 21600"/>
                      <a:gd name="T3" fmla="*/ 0 h 21599"/>
                      <a:gd name="T4" fmla="*/ 96 w 21600"/>
                      <a:gd name="T5" fmla="*/ 96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57"/>
                          <a:pt x="9534" y="123"/>
                          <a:pt x="21375" y="0"/>
                        </a:cubicBezTo>
                      </a:path>
                      <a:path w="21600" h="21599" stroke="0" extrusionOk="0">
                        <a:moveTo>
                          <a:pt x="0" y="21599"/>
                        </a:moveTo>
                        <a:cubicBezTo>
                          <a:pt x="0" y="9757"/>
                          <a:pt x="9534" y="123"/>
                          <a:pt x="21375" y="0"/>
                        </a:cubicBezTo>
                        <a:lnTo>
                          <a:pt x="21600" y="21599"/>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8720" name="Arc 54"/>
                  <p:cNvSpPr>
                    <a:spLocks/>
                  </p:cNvSpPr>
                  <p:nvPr/>
                </p:nvSpPr>
                <p:spPr bwMode="auto">
                  <a:xfrm>
                    <a:off x="2305" y="1488"/>
                    <a:ext cx="96" cy="96"/>
                  </a:xfrm>
                  <a:custGeom>
                    <a:avLst/>
                    <a:gdLst>
                      <a:gd name="T0" fmla="*/ 95 w 21600"/>
                      <a:gd name="T1" fmla="*/ 96 h 21599"/>
                      <a:gd name="T2" fmla="*/ 0 w 21600"/>
                      <a:gd name="T3" fmla="*/ 0 h 21599"/>
                      <a:gd name="T4" fmla="*/ 96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373" y="21598"/>
                        </a:moveTo>
                        <a:cubicBezTo>
                          <a:pt x="9532" y="21474"/>
                          <a:pt x="0" y="11840"/>
                          <a:pt x="0" y="0"/>
                        </a:cubicBezTo>
                      </a:path>
                      <a:path w="21600" h="21599" stroke="0" extrusionOk="0">
                        <a:moveTo>
                          <a:pt x="21373" y="21598"/>
                        </a:moveTo>
                        <a:cubicBezTo>
                          <a:pt x="9532" y="21474"/>
                          <a:pt x="0" y="11840"/>
                          <a:pt x="0" y="0"/>
                        </a:cubicBezTo>
                        <a:lnTo>
                          <a:pt x="2160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8710" name="Group 55"/>
                <p:cNvGrpSpPr>
                  <a:grpSpLocks/>
                </p:cNvGrpSpPr>
                <p:nvPr/>
              </p:nvGrpSpPr>
              <p:grpSpPr bwMode="auto">
                <a:xfrm>
                  <a:off x="2305" y="1777"/>
                  <a:ext cx="96" cy="191"/>
                  <a:chOff x="2305" y="1777"/>
                  <a:chExt cx="96" cy="191"/>
                </a:xfrm>
              </p:grpSpPr>
              <p:sp>
                <p:nvSpPr>
                  <p:cNvPr id="28717" name="Arc 56"/>
                  <p:cNvSpPr>
                    <a:spLocks/>
                  </p:cNvSpPr>
                  <p:nvPr/>
                </p:nvSpPr>
                <p:spPr bwMode="auto">
                  <a:xfrm>
                    <a:off x="2305" y="1777"/>
                    <a:ext cx="96" cy="96"/>
                  </a:xfrm>
                  <a:custGeom>
                    <a:avLst/>
                    <a:gdLst>
                      <a:gd name="T0" fmla="*/ 0 w 21600"/>
                      <a:gd name="T1" fmla="*/ 96 h 21599"/>
                      <a:gd name="T2" fmla="*/ 95 w 21600"/>
                      <a:gd name="T3" fmla="*/ 0 h 21599"/>
                      <a:gd name="T4" fmla="*/ 96 w 21600"/>
                      <a:gd name="T5" fmla="*/ 96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57"/>
                          <a:pt x="9534" y="123"/>
                          <a:pt x="21375" y="0"/>
                        </a:cubicBezTo>
                      </a:path>
                      <a:path w="21600" h="21599" stroke="0" extrusionOk="0">
                        <a:moveTo>
                          <a:pt x="0" y="21599"/>
                        </a:moveTo>
                        <a:cubicBezTo>
                          <a:pt x="0" y="9757"/>
                          <a:pt x="9534" y="123"/>
                          <a:pt x="21375" y="0"/>
                        </a:cubicBezTo>
                        <a:lnTo>
                          <a:pt x="21600" y="21599"/>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8718" name="Arc 57"/>
                  <p:cNvSpPr>
                    <a:spLocks/>
                  </p:cNvSpPr>
                  <p:nvPr/>
                </p:nvSpPr>
                <p:spPr bwMode="auto">
                  <a:xfrm>
                    <a:off x="2305" y="1872"/>
                    <a:ext cx="96" cy="96"/>
                  </a:xfrm>
                  <a:custGeom>
                    <a:avLst/>
                    <a:gdLst>
                      <a:gd name="T0" fmla="*/ 95 w 21600"/>
                      <a:gd name="T1" fmla="*/ 96 h 21599"/>
                      <a:gd name="T2" fmla="*/ 0 w 21600"/>
                      <a:gd name="T3" fmla="*/ 0 h 21599"/>
                      <a:gd name="T4" fmla="*/ 96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373" y="21598"/>
                        </a:moveTo>
                        <a:cubicBezTo>
                          <a:pt x="9532" y="21474"/>
                          <a:pt x="0" y="11840"/>
                          <a:pt x="0" y="0"/>
                        </a:cubicBezTo>
                      </a:path>
                      <a:path w="21600" h="21599" stroke="0" extrusionOk="0">
                        <a:moveTo>
                          <a:pt x="21373" y="21598"/>
                        </a:moveTo>
                        <a:cubicBezTo>
                          <a:pt x="9532" y="21474"/>
                          <a:pt x="0" y="11840"/>
                          <a:pt x="0" y="0"/>
                        </a:cubicBezTo>
                        <a:lnTo>
                          <a:pt x="2160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8711" name="Group 58"/>
                <p:cNvGrpSpPr>
                  <a:grpSpLocks/>
                </p:cNvGrpSpPr>
                <p:nvPr/>
              </p:nvGrpSpPr>
              <p:grpSpPr bwMode="auto">
                <a:xfrm>
                  <a:off x="2305" y="1585"/>
                  <a:ext cx="96" cy="191"/>
                  <a:chOff x="2305" y="1585"/>
                  <a:chExt cx="96" cy="191"/>
                </a:xfrm>
              </p:grpSpPr>
              <p:sp>
                <p:nvSpPr>
                  <p:cNvPr id="28715" name="Arc 59"/>
                  <p:cNvSpPr>
                    <a:spLocks/>
                  </p:cNvSpPr>
                  <p:nvPr/>
                </p:nvSpPr>
                <p:spPr bwMode="auto">
                  <a:xfrm>
                    <a:off x="2305" y="1585"/>
                    <a:ext cx="96" cy="96"/>
                  </a:xfrm>
                  <a:custGeom>
                    <a:avLst/>
                    <a:gdLst>
                      <a:gd name="T0" fmla="*/ 0 w 21600"/>
                      <a:gd name="T1" fmla="*/ 96 h 21599"/>
                      <a:gd name="T2" fmla="*/ 95 w 21600"/>
                      <a:gd name="T3" fmla="*/ 0 h 21599"/>
                      <a:gd name="T4" fmla="*/ 96 w 21600"/>
                      <a:gd name="T5" fmla="*/ 96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57"/>
                          <a:pt x="9534" y="123"/>
                          <a:pt x="21375" y="0"/>
                        </a:cubicBezTo>
                      </a:path>
                      <a:path w="21600" h="21599" stroke="0" extrusionOk="0">
                        <a:moveTo>
                          <a:pt x="0" y="21599"/>
                        </a:moveTo>
                        <a:cubicBezTo>
                          <a:pt x="0" y="9757"/>
                          <a:pt x="9534" y="123"/>
                          <a:pt x="21375" y="0"/>
                        </a:cubicBezTo>
                        <a:lnTo>
                          <a:pt x="21600" y="21599"/>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8716" name="Arc 60"/>
                  <p:cNvSpPr>
                    <a:spLocks/>
                  </p:cNvSpPr>
                  <p:nvPr/>
                </p:nvSpPr>
                <p:spPr bwMode="auto">
                  <a:xfrm>
                    <a:off x="2305" y="1680"/>
                    <a:ext cx="96" cy="96"/>
                  </a:xfrm>
                  <a:custGeom>
                    <a:avLst/>
                    <a:gdLst>
                      <a:gd name="T0" fmla="*/ 95 w 21600"/>
                      <a:gd name="T1" fmla="*/ 96 h 21599"/>
                      <a:gd name="T2" fmla="*/ 0 w 21600"/>
                      <a:gd name="T3" fmla="*/ 0 h 21599"/>
                      <a:gd name="T4" fmla="*/ 96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373" y="21598"/>
                        </a:moveTo>
                        <a:cubicBezTo>
                          <a:pt x="9532" y="21474"/>
                          <a:pt x="0" y="11840"/>
                          <a:pt x="0" y="0"/>
                        </a:cubicBezTo>
                      </a:path>
                      <a:path w="21600" h="21599" stroke="0" extrusionOk="0">
                        <a:moveTo>
                          <a:pt x="21373" y="21598"/>
                        </a:moveTo>
                        <a:cubicBezTo>
                          <a:pt x="9532" y="21474"/>
                          <a:pt x="0" y="11840"/>
                          <a:pt x="0" y="0"/>
                        </a:cubicBezTo>
                        <a:lnTo>
                          <a:pt x="2160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nvGrpSpPr>
                <p:cNvPr id="28712" name="Group 61"/>
                <p:cNvGrpSpPr>
                  <a:grpSpLocks/>
                </p:cNvGrpSpPr>
                <p:nvPr/>
              </p:nvGrpSpPr>
              <p:grpSpPr bwMode="auto">
                <a:xfrm>
                  <a:off x="2305" y="1969"/>
                  <a:ext cx="96" cy="191"/>
                  <a:chOff x="2305" y="1969"/>
                  <a:chExt cx="96" cy="191"/>
                </a:xfrm>
              </p:grpSpPr>
              <p:sp>
                <p:nvSpPr>
                  <p:cNvPr id="28713" name="Arc 62"/>
                  <p:cNvSpPr>
                    <a:spLocks/>
                  </p:cNvSpPr>
                  <p:nvPr/>
                </p:nvSpPr>
                <p:spPr bwMode="auto">
                  <a:xfrm>
                    <a:off x="2305" y="1969"/>
                    <a:ext cx="96" cy="96"/>
                  </a:xfrm>
                  <a:custGeom>
                    <a:avLst/>
                    <a:gdLst>
                      <a:gd name="T0" fmla="*/ 0 w 21600"/>
                      <a:gd name="T1" fmla="*/ 96 h 21599"/>
                      <a:gd name="T2" fmla="*/ 95 w 21600"/>
                      <a:gd name="T3" fmla="*/ 0 h 21599"/>
                      <a:gd name="T4" fmla="*/ 96 w 21600"/>
                      <a:gd name="T5" fmla="*/ 96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57"/>
                          <a:pt x="9534" y="123"/>
                          <a:pt x="21375" y="0"/>
                        </a:cubicBezTo>
                      </a:path>
                      <a:path w="21600" h="21599" stroke="0" extrusionOk="0">
                        <a:moveTo>
                          <a:pt x="0" y="21599"/>
                        </a:moveTo>
                        <a:cubicBezTo>
                          <a:pt x="0" y="9757"/>
                          <a:pt x="9534" y="123"/>
                          <a:pt x="21375" y="0"/>
                        </a:cubicBezTo>
                        <a:lnTo>
                          <a:pt x="21600" y="21599"/>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8714" name="Arc 63"/>
                  <p:cNvSpPr>
                    <a:spLocks/>
                  </p:cNvSpPr>
                  <p:nvPr/>
                </p:nvSpPr>
                <p:spPr bwMode="auto">
                  <a:xfrm>
                    <a:off x="2305" y="2064"/>
                    <a:ext cx="96" cy="96"/>
                  </a:xfrm>
                  <a:custGeom>
                    <a:avLst/>
                    <a:gdLst>
                      <a:gd name="T0" fmla="*/ 95 w 21600"/>
                      <a:gd name="T1" fmla="*/ 96 h 21599"/>
                      <a:gd name="T2" fmla="*/ 0 w 21600"/>
                      <a:gd name="T3" fmla="*/ 0 h 21599"/>
                      <a:gd name="T4" fmla="*/ 96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373" y="21598"/>
                        </a:moveTo>
                        <a:cubicBezTo>
                          <a:pt x="9532" y="21474"/>
                          <a:pt x="0" y="11840"/>
                          <a:pt x="0" y="0"/>
                        </a:cubicBezTo>
                      </a:path>
                      <a:path w="21600" h="21599" stroke="0" extrusionOk="0">
                        <a:moveTo>
                          <a:pt x="21373" y="21598"/>
                        </a:moveTo>
                        <a:cubicBezTo>
                          <a:pt x="9532" y="21474"/>
                          <a:pt x="0" y="11840"/>
                          <a:pt x="0" y="0"/>
                        </a:cubicBezTo>
                        <a:lnTo>
                          <a:pt x="2160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grpSp>
        </p:grpSp>
        <p:sp>
          <p:nvSpPr>
            <p:cNvPr id="28683" name="Line 64"/>
            <p:cNvSpPr>
              <a:spLocks noChangeShapeType="1"/>
            </p:cNvSpPr>
            <p:nvPr/>
          </p:nvSpPr>
          <p:spPr bwMode="auto">
            <a:xfrm>
              <a:off x="2401" y="1392"/>
              <a:ext cx="62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684" name="Line 65"/>
            <p:cNvSpPr>
              <a:spLocks noChangeShapeType="1"/>
            </p:cNvSpPr>
            <p:nvPr/>
          </p:nvSpPr>
          <p:spPr bwMode="auto">
            <a:xfrm>
              <a:off x="2401" y="2160"/>
              <a:ext cx="28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685" name="Line 66"/>
            <p:cNvSpPr>
              <a:spLocks noChangeShapeType="1"/>
            </p:cNvSpPr>
            <p:nvPr/>
          </p:nvSpPr>
          <p:spPr bwMode="auto">
            <a:xfrm flipV="1">
              <a:off x="2688" y="1777"/>
              <a:ext cx="0" cy="38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8686" name="Group 67"/>
            <p:cNvGrpSpPr>
              <a:grpSpLocks/>
            </p:cNvGrpSpPr>
            <p:nvPr/>
          </p:nvGrpSpPr>
          <p:grpSpPr bwMode="auto">
            <a:xfrm>
              <a:off x="2927" y="1679"/>
              <a:ext cx="192" cy="97"/>
              <a:chOff x="2927" y="1679"/>
              <a:chExt cx="192" cy="97"/>
            </a:xfrm>
          </p:grpSpPr>
          <p:sp>
            <p:nvSpPr>
              <p:cNvPr id="28705" name="Arc 68"/>
              <p:cNvSpPr>
                <a:spLocks/>
              </p:cNvSpPr>
              <p:nvPr/>
            </p:nvSpPr>
            <p:spPr bwMode="auto">
              <a:xfrm rot="-5400000">
                <a:off x="2927" y="1680"/>
                <a:ext cx="96" cy="96"/>
              </a:xfrm>
              <a:custGeom>
                <a:avLst/>
                <a:gdLst>
                  <a:gd name="T0" fmla="*/ 0 w 21600"/>
                  <a:gd name="T1" fmla="*/ 0 h 21600"/>
                  <a:gd name="T2" fmla="*/ 96 w 21600"/>
                  <a:gd name="T3" fmla="*/ 96 h 21600"/>
                  <a:gd name="T4" fmla="*/ 0 w 21600"/>
                  <a:gd name="T5" fmla="*/ 9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8706" name="Arc 69"/>
              <p:cNvSpPr>
                <a:spLocks/>
              </p:cNvSpPr>
              <p:nvPr/>
            </p:nvSpPr>
            <p:spPr bwMode="auto">
              <a:xfrm rot="-5400000">
                <a:off x="3023" y="1679"/>
                <a:ext cx="96" cy="96"/>
              </a:xfrm>
              <a:custGeom>
                <a:avLst/>
                <a:gdLst>
                  <a:gd name="T0" fmla="*/ 96 w 21600"/>
                  <a:gd name="T1" fmla="*/ 0 h 21600"/>
                  <a:gd name="T2" fmla="*/ 0 w 21600"/>
                  <a:gd name="T3" fmla="*/ 96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sp>
          <p:nvSpPr>
            <p:cNvPr id="28687" name="Line 70"/>
            <p:cNvSpPr>
              <a:spLocks noChangeShapeType="1"/>
            </p:cNvSpPr>
            <p:nvPr/>
          </p:nvSpPr>
          <p:spPr bwMode="auto">
            <a:xfrm flipH="1">
              <a:off x="2689" y="1776"/>
              <a:ext cx="239"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688" name="Line 71"/>
            <p:cNvSpPr>
              <a:spLocks noChangeShapeType="1"/>
            </p:cNvSpPr>
            <p:nvPr/>
          </p:nvSpPr>
          <p:spPr bwMode="auto">
            <a:xfrm>
              <a:off x="3121" y="1776"/>
              <a:ext cx="719"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8689" name="Group 72"/>
            <p:cNvGrpSpPr>
              <a:grpSpLocks/>
            </p:cNvGrpSpPr>
            <p:nvPr/>
          </p:nvGrpSpPr>
          <p:grpSpPr bwMode="auto">
            <a:xfrm>
              <a:off x="4129" y="2161"/>
              <a:ext cx="239" cy="287"/>
              <a:chOff x="4129" y="2161"/>
              <a:chExt cx="239" cy="287"/>
            </a:xfrm>
          </p:grpSpPr>
          <p:sp>
            <p:nvSpPr>
              <p:cNvPr id="28700" name="Line 73"/>
              <p:cNvSpPr>
                <a:spLocks noChangeShapeType="1"/>
              </p:cNvSpPr>
              <p:nvPr/>
            </p:nvSpPr>
            <p:spPr bwMode="auto">
              <a:xfrm flipH="1">
                <a:off x="4129" y="2353"/>
                <a:ext cx="47"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01" name="Line 74"/>
              <p:cNvSpPr>
                <a:spLocks noChangeShapeType="1"/>
              </p:cNvSpPr>
              <p:nvPr/>
            </p:nvSpPr>
            <p:spPr bwMode="auto">
              <a:xfrm flipH="1">
                <a:off x="4225" y="2353"/>
                <a:ext cx="47"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02" name="Line 75"/>
              <p:cNvSpPr>
                <a:spLocks noChangeShapeType="1"/>
              </p:cNvSpPr>
              <p:nvPr/>
            </p:nvSpPr>
            <p:spPr bwMode="auto">
              <a:xfrm flipH="1">
                <a:off x="4321" y="2353"/>
                <a:ext cx="47"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03" name="Line 76"/>
              <p:cNvSpPr>
                <a:spLocks noChangeShapeType="1"/>
              </p:cNvSpPr>
              <p:nvPr/>
            </p:nvSpPr>
            <p:spPr bwMode="auto">
              <a:xfrm flipV="1">
                <a:off x="4272" y="2161"/>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704" name="Line 77"/>
              <p:cNvSpPr>
                <a:spLocks noChangeShapeType="1"/>
              </p:cNvSpPr>
              <p:nvPr/>
            </p:nvSpPr>
            <p:spPr bwMode="auto">
              <a:xfrm>
                <a:off x="4177" y="2352"/>
                <a:ext cx="19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8690" name="Group 78"/>
            <p:cNvGrpSpPr>
              <a:grpSpLocks/>
            </p:cNvGrpSpPr>
            <p:nvPr/>
          </p:nvGrpSpPr>
          <p:grpSpPr bwMode="auto">
            <a:xfrm>
              <a:off x="1777" y="2161"/>
              <a:ext cx="239" cy="287"/>
              <a:chOff x="1777" y="2161"/>
              <a:chExt cx="239" cy="287"/>
            </a:xfrm>
          </p:grpSpPr>
          <p:sp>
            <p:nvSpPr>
              <p:cNvPr id="28695" name="Line 79"/>
              <p:cNvSpPr>
                <a:spLocks noChangeShapeType="1"/>
              </p:cNvSpPr>
              <p:nvPr/>
            </p:nvSpPr>
            <p:spPr bwMode="auto">
              <a:xfrm flipH="1">
                <a:off x="1777" y="2353"/>
                <a:ext cx="47"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696" name="Line 80"/>
              <p:cNvSpPr>
                <a:spLocks noChangeShapeType="1"/>
              </p:cNvSpPr>
              <p:nvPr/>
            </p:nvSpPr>
            <p:spPr bwMode="auto">
              <a:xfrm flipH="1">
                <a:off x="1873" y="2353"/>
                <a:ext cx="47"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697" name="Line 81"/>
              <p:cNvSpPr>
                <a:spLocks noChangeShapeType="1"/>
              </p:cNvSpPr>
              <p:nvPr/>
            </p:nvSpPr>
            <p:spPr bwMode="auto">
              <a:xfrm flipH="1">
                <a:off x="1969" y="2353"/>
                <a:ext cx="47" cy="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698" name="Line 82"/>
              <p:cNvSpPr>
                <a:spLocks noChangeShapeType="1"/>
              </p:cNvSpPr>
              <p:nvPr/>
            </p:nvSpPr>
            <p:spPr bwMode="auto">
              <a:xfrm flipV="1">
                <a:off x="1920" y="2161"/>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699" name="Line 83"/>
              <p:cNvSpPr>
                <a:spLocks noChangeShapeType="1"/>
              </p:cNvSpPr>
              <p:nvPr/>
            </p:nvSpPr>
            <p:spPr bwMode="auto">
              <a:xfrm>
                <a:off x="1825" y="2352"/>
                <a:ext cx="19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8691" name="Line 84"/>
            <p:cNvSpPr>
              <a:spLocks noChangeShapeType="1"/>
            </p:cNvSpPr>
            <p:nvPr/>
          </p:nvSpPr>
          <p:spPr bwMode="auto">
            <a:xfrm>
              <a:off x="1921" y="2160"/>
              <a:ext cx="19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692" name="Line 85"/>
            <p:cNvSpPr>
              <a:spLocks noChangeShapeType="1"/>
            </p:cNvSpPr>
            <p:nvPr/>
          </p:nvSpPr>
          <p:spPr bwMode="auto">
            <a:xfrm flipH="1">
              <a:off x="1729" y="1392"/>
              <a:ext cx="38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693" name="Rectangle 86"/>
            <p:cNvSpPr>
              <a:spLocks noChangeArrowheads="1"/>
            </p:cNvSpPr>
            <p:nvPr/>
          </p:nvSpPr>
          <p:spPr bwMode="auto">
            <a:xfrm>
              <a:off x="1200" y="1344"/>
              <a:ext cx="5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200">
                  <a:latin typeface="Arial" panose="020B0604020202020204" pitchFamily="34" charset="0"/>
                </a:rPr>
                <a:t>RF Input</a:t>
              </a:r>
            </a:p>
          </p:txBody>
        </p:sp>
        <p:sp>
          <p:nvSpPr>
            <p:cNvPr id="28694" name="Rectangle 87"/>
            <p:cNvSpPr>
              <a:spLocks noChangeArrowheads="1"/>
            </p:cNvSpPr>
            <p:nvPr/>
          </p:nvSpPr>
          <p:spPr bwMode="auto">
            <a:xfrm>
              <a:off x="4320" y="1344"/>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200">
                  <a:latin typeface="Arial" panose="020B0604020202020204" pitchFamily="34" charset="0"/>
                </a:rPr>
                <a:t>Video Output</a:t>
              </a:r>
            </a:p>
          </p:txBody>
        </p:sp>
      </p:grpSp>
      <p:sp>
        <p:nvSpPr>
          <p:cNvPr id="28677" name="Rectangle 88"/>
          <p:cNvSpPr>
            <a:spLocks noChangeArrowheads="1"/>
          </p:cNvSpPr>
          <p:nvPr/>
        </p:nvSpPr>
        <p:spPr bwMode="auto">
          <a:xfrm>
            <a:off x="6324600" y="2133600"/>
            <a:ext cx="38100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400">
                <a:solidFill>
                  <a:srgbClr val="000000"/>
                </a:solidFill>
                <a:latin typeface="Arial" panose="020B0604020202020204" pitchFamily="34" charset="0"/>
              </a:rPr>
              <a:t>+</a:t>
            </a:r>
          </a:p>
          <a:p>
            <a:pPr>
              <a:spcBef>
                <a:spcPct val="50000"/>
              </a:spcBef>
            </a:pPr>
            <a:r>
              <a:rPr lang="en-US" altLang="en-US" sz="1400">
                <a:solidFill>
                  <a:srgbClr val="000000"/>
                </a:solidFill>
                <a:latin typeface="Arial" panose="020B0604020202020204" pitchFamily="34" charset="0"/>
              </a:rPr>
              <a:t>-</a:t>
            </a:r>
          </a:p>
        </p:txBody>
      </p:sp>
      <p:sp>
        <p:nvSpPr>
          <p:cNvPr id="28678" name="Rectangle 89"/>
          <p:cNvSpPr>
            <a:spLocks noChangeArrowheads="1"/>
          </p:cNvSpPr>
          <p:nvPr/>
        </p:nvSpPr>
        <p:spPr bwMode="auto">
          <a:xfrm>
            <a:off x="6324600" y="2819400"/>
            <a:ext cx="38100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400">
                <a:solidFill>
                  <a:srgbClr val="000000"/>
                </a:solidFill>
                <a:latin typeface="Arial" panose="020B0604020202020204" pitchFamily="34" charset="0"/>
              </a:rPr>
              <a:t>+</a:t>
            </a:r>
          </a:p>
          <a:p>
            <a:pPr>
              <a:spcBef>
                <a:spcPct val="50000"/>
              </a:spcBef>
            </a:pPr>
            <a:r>
              <a:rPr lang="en-US" altLang="en-US" sz="1400">
                <a:solidFill>
                  <a:srgbClr val="000000"/>
                </a:solidFill>
                <a:latin typeface="Arial" panose="020B0604020202020204" pitchFamily="34" charset="0"/>
              </a:rPr>
              <a:t>-</a:t>
            </a:r>
          </a:p>
        </p:txBody>
      </p:sp>
      <p:sp>
        <p:nvSpPr>
          <p:cNvPr id="28679" name="Rectangle 90"/>
          <p:cNvSpPr>
            <a:spLocks noChangeArrowheads="1"/>
          </p:cNvSpPr>
          <p:nvPr/>
        </p:nvSpPr>
        <p:spPr bwMode="auto">
          <a:xfrm>
            <a:off x="6629400" y="2133600"/>
            <a:ext cx="228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600">
                <a:solidFill>
                  <a:srgbClr val="000000"/>
                </a:solidFill>
                <a:latin typeface="Arial" panose="020B0604020202020204" pitchFamily="34" charset="0"/>
              </a:rPr>
              <a:t>+</a:t>
            </a:r>
          </a:p>
        </p:txBody>
      </p:sp>
      <p:sp>
        <p:nvSpPr>
          <p:cNvPr id="28680" name="Rectangle 91"/>
          <p:cNvSpPr>
            <a:spLocks noChangeArrowheads="1"/>
          </p:cNvSpPr>
          <p:nvPr/>
        </p:nvSpPr>
        <p:spPr bwMode="auto">
          <a:xfrm>
            <a:off x="6705600" y="3124200"/>
            <a:ext cx="304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600">
                <a:solidFill>
                  <a:srgbClr val="000000"/>
                </a:solidFill>
                <a:latin typeface="Arial" panose="020B0604020202020204" pitchFamily="34" charset="0"/>
              </a:rPr>
              <a:t>-</a:t>
            </a:r>
          </a:p>
        </p:txBody>
      </p:sp>
    </p:spTree>
    <p:extLst>
      <p:ext uri="{BB962C8B-B14F-4D97-AF65-F5344CB8AC3E}">
        <p14:creationId xmlns:p14="http://schemas.microsoft.com/office/powerpoint/2010/main" val="37124279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noFill/>
        </p:spPr>
        <p:txBody>
          <a:bodyPr lIns="92075" tIns="46038" rIns="92075" bIns="46038" anchor="ctr"/>
          <a:lstStyle/>
          <a:p>
            <a:r>
              <a:rPr lang="en-US" altLang="en-US" dirty="0" smtClean="0"/>
              <a:t>Temperature Compensated Detector</a:t>
            </a:r>
          </a:p>
        </p:txBody>
      </p:sp>
      <p:grpSp>
        <p:nvGrpSpPr>
          <p:cNvPr id="29699" name="Group 3"/>
          <p:cNvGrpSpPr>
            <a:grpSpLocks/>
          </p:cNvGrpSpPr>
          <p:nvPr/>
        </p:nvGrpSpPr>
        <p:grpSpPr bwMode="auto">
          <a:xfrm>
            <a:off x="1371600" y="1524000"/>
            <a:ext cx="6934200" cy="2438400"/>
            <a:chOff x="864" y="1152"/>
            <a:chExt cx="4368" cy="1536"/>
          </a:xfrm>
        </p:grpSpPr>
        <p:grpSp>
          <p:nvGrpSpPr>
            <p:cNvPr id="29705" name="Group 4"/>
            <p:cNvGrpSpPr>
              <a:grpSpLocks/>
            </p:cNvGrpSpPr>
            <p:nvPr/>
          </p:nvGrpSpPr>
          <p:grpSpPr bwMode="auto">
            <a:xfrm>
              <a:off x="864" y="1152"/>
              <a:ext cx="3696" cy="1536"/>
              <a:chOff x="864" y="1152"/>
              <a:chExt cx="3696" cy="1536"/>
            </a:xfrm>
          </p:grpSpPr>
          <p:grpSp>
            <p:nvGrpSpPr>
              <p:cNvPr id="29707" name="Group 5"/>
              <p:cNvGrpSpPr>
                <a:grpSpLocks/>
              </p:cNvGrpSpPr>
              <p:nvPr/>
            </p:nvGrpSpPr>
            <p:grpSpPr bwMode="auto">
              <a:xfrm>
                <a:off x="3409" y="1152"/>
                <a:ext cx="479" cy="73"/>
                <a:chOff x="3409" y="1152"/>
                <a:chExt cx="479" cy="73"/>
              </a:xfrm>
            </p:grpSpPr>
            <p:sp>
              <p:nvSpPr>
                <p:cNvPr id="29832" name="Line 6"/>
                <p:cNvSpPr>
                  <a:spLocks noChangeShapeType="1"/>
                </p:cNvSpPr>
                <p:nvPr/>
              </p:nvSpPr>
              <p:spPr bwMode="auto">
                <a:xfrm>
                  <a:off x="3841" y="1189"/>
                  <a:ext cx="4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9833" name="Group 7"/>
                <p:cNvGrpSpPr>
                  <a:grpSpLocks/>
                </p:cNvGrpSpPr>
                <p:nvPr/>
              </p:nvGrpSpPr>
              <p:grpSpPr bwMode="auto">
                <a:xfrm>
                  <a:off x="3649" y="1152"/>
                  <a:ext cx="95" cy="36"/>
                  <a:chOff x="3649" y="1152"/>
                  <a:chExt cx="95" cy="36"/>
                </a:xfrm>
              </p:grpSpPr>
              <p:sp>
                <p:nvSpPr>
                  <p:cNvPr id="29844" name="Line 8"/>
                  <p:cNvSpPr>
                    <a:spLocks noChangeShapeType="1"/>
                  </p:cNvSpPr>
                  <p:nvPr/>
                </p:nvSpPr>
                <p:spPr bwMode="auto">
                  <a:xfrm flipV="1">
                    <a:off x="3649" y="1152"/>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845" name="Line 9"/>
                  <p:cNvSpPr>
                    <a:spLocks noChangeShapeType="1"/>
                  </p:cNvSpPr>
                  <p:nvPr/>
                </p:nvSpPr>
                <p:spPr bwMode="auto">
                  <a:xfrm flipH="1" flipV="1">
                    <a:off x="3697" y="1152"/>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834" name="Group 10"/>
                <p:cNvGrpSpPr>
                  <a:grpSpLocks/>
                </p:cNvGrpSpPr>
                <p:nvPr/>
              </p:nvGrpSpPr>
              <p:grpSpPr bwMode="auto">
                <a:xfrm>
                  <a:off x="3553" y="1190"/>
                  <a:ext cx="95" cy="35"/>
                  <a:chOff x="3553" y="1190"/>
                  <a:chExt cx="95" cy="35"/>
                </a:xfrm>
              </p:grpSpPr>
              <p:sp>
                <p:nvSpPr>
                  <p:cNvPr id="29842" name="Line 11"/>
                  <p:cNvSpPr>
                    <a:spLocks noChangeShapeType="1"/>
                  </p:cNvSpPr>
                  <p:nvPr/>
                </p:nvSpPr>
                <p:spPr bwMode="auto">
                  <a:xfrm>
                    <a:off x="3553" y="1190"/>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843" name="Line 12"/>
                  <p:cNvSpPr>
                    <a:spLocks noChangeShapeType="1"/>
                  </p:cNvSpPr>
                  <p:nvPr/>
                </p:nvSpPr>
                <p:spPr bwMode="auto">
                  <a:xfrm flipH="1">
                    <a:off x="3601" y="1190"/>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835" name="Group 13"/>
                <p:cNvGrpSpPr>
                  <a:grpSpLocks/>
                </p:cNvGrpSpPr>
                <p:nvPr/>
              </p:nvGrpSpPr>
              <p:grpSpPr bwMode="auto">
                <a:xfrm>
                  <a:off x="3745" y="1190"/>
                  <a:ext cx="95" cy="35"/>
                  <a:chOff x="3745" y="1190"/>
                  <a:chExt cx="95" cy="35"/>
                </a:xfrm>
              </p:grpSpPr>
              <p:sp>
                <p:nvSpPr>
                  <p:cNvPr id="29840" name="Line 14"/>
                  <p:cNvSpPr>
                    <a:spLocks noChangeShapeType="1"/>
                  </p:cNvSpPr>
                  <p:nvPr/>
                </p:nvSpPr>
                <p:spPr bwMode="auto">
                  <a:xfrm>
                    <a:off x="3745" y="1190"/>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841" name="Line 15"/>
                  <p:cNvSpPr>
                    <a:spLocks noChangeShapeType="1"/>
                  </p:cNvSpPr>
                  <p:nvPr/>
                </p:nvSpPr>
                <p:spPr bwMode="auto">
                  <a:xfrm flipH="1">
                    <a:off x="3793" y="1190"/>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836" name="Group 16"/>
                <p:cNvGrpSpPr>
                  <a:grpSpLocks/>
                </p:cNvGrpSpPr>
                <p:nvPr/>
              </p:nvGrpSpPr>
              <p:grpSpPr bwMode="auto">
                <a:xfrm>
                  <a:off x="3457" y="1152"/>
                  <a:ext cx="95" cy="36"/>
                  <a:chOff x="3457" y="1152"/>
                  <a:chExt cx="95" cy="36"/>
                </a:xfrm>
              </p:grpSpPr>
              <p:sp>
                <p:nvSpPr>
                  <p:cNvPr id="29838" name="Line 17"/>
                  <p:cNvSpPr>
                    <a:spLocks noChangeShapeType="1"/>
                  </p:cNvSpPr>
                  <p:nvPr/>
                </p:nvSpPr>
                <p:spPr bwMode="auto">
                  <a:xfrm flipV="1">
                    <a:off x="3457" y="1152"/>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839" name="Line 18"/>
                  <p:cNvSpPr>
                    <a:spLocks noChangeShapeType="1"/>
                  </p:cNvSpPr>
                  <p:nvPr/>
                </p:nvSpPr>
                <p:spPr bwMode="auto">
                  <a:xfrm flipH="1" flipV="1">
                    <a:off x="3505" y="1152"/>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9837" name="Line 19"/>
                <p:cNvSpPr>
                  <a:spLocks noChangeShapeType="1"/>
                </p:cNvSpPr>
                <p:nvPr/>
              </p:nvSpPr>
              <p:spPr bwMode="auto">
                <a:xfrm>
                  <a:off x="3409" y="1189"/>
                  <a:ext cx="4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708" name="Group 20"/>
              <p:cNvGrpSpPr>
                <a:grpSpLocks/>
              </p:cNvGrpSpPr>
              <p:nvPr/>
            </p:nvGrpSpPr>
            <p:grpSpPr bwMode="auto">
              <a:xfrm>
                <a:off x="2497" y="2066"/>
                <a:ext cx="479" cy="73"/>
                <a:chOff x="2497" y="2066"/>
                <a:chExt cx="479" cy="73"/>
              </a:xfrm>
            </p:grpSpPr>
            <p:sp>
              <p:nvSpPr>
                <p:cNvPr id="29818" name="Line 21"/>
                <p:cNvSpPr>
                  <a:spLocks noChangeShapeType="1"/>
                </p:cNvSpPr>
                <p:nvPr/>
              </p:nvSpPr>
              <p:spPr bwMode="auto">
                <a:xfrm>
                  <a:off x="2929" y="2103"/>
                  <a:ext cx="4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9819" name="Group 22"/>
                <p:cNvGrpSpPr>
                  <a:grpSpLocks/>
                </p:cNvGrpSpPr>
                <p:nvPr/>
              </p:nvGrpSpPr>
              <p:grpSpPr bwMode="auto">
                <a:xfrm>
                  <a:off x="2737" y="2066"/>
                  <a:ext cx="95" cy="36"/>
                  <a:chOff x="2737" y="2066"/>
                  <a:chExt cx="95" cy="36"/>
                </a:xfrm>
              </p:grpSpPr>
              <p:sp>
                <p:nvSpPr>
                  <p:cNvPr id="29830" name="Line 23"/>
                  <p:cNvSpPr>
                    <a:spLocks noChangeShapeType="1"/>
                  </p:cNvSpPr>
                  <p:nvPr/>
                </p:nvSpPr>
                <p:spPr bwMode="auto">
                  <a:xfrm flipV="1">
                    <a:off x="2737" y="2066"/>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831" name="Line 24"/>
                  <p:cNvSpPr>
                    <a:spLocks noChangeShapeType="1"/>
                  </p:cNvSpPr>
                  <p:nvPr/>
                </p:nvSpPr>
                <p:spPr bwMode="auto">
                  <a:xfrm flipH="1" flipV="1">
                    <a:off x="2785" y="2066"/>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820" name="Group 25"/>
                <p:cNvGrpSpPr>
                  <a:grpSpLocks/>
                </p:cNvGrpSpPr>
                <p:nvPr/>
              </p:nvGrpSpPr>
              <p:grpSpPr bwMode="auto">
                <a:xfrm>
                  <a:off x="2641" y="2104"/>
                  <a:ext cx="95" cy="35"/>
                  <a:chOff x="2641" y="2104"/>
                  <a:chExt cx="95" cy="35"/>
                </a:xfrm>
              </p:grpSpPr>
              <p:sp>
                <p:nvSpPr>
                  <p:cNvPr id="29828" name="Line 26"/>
                  <p:cNvSpPr>
                    <a:spLocks noChangeShapeType="1"/>
                  </p:cNvSpPr>
                  <p:nvPr/>
                </p:nvSpPr>
                <p:spPr bwMode="auto">
                  <a:xfrm>
                    <a:off x="2641" y="2104"/>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829" name="Line 27"/>
                  <p:cNvSpPr>
                    <a:spLocks noChangeShapeType="1"/>
                  </p:cNvSpPr>
                  <p:nvPr/>
                </p:nvSpPr>
                <p:spPr bwMode="auto">
                  <a:xfrm flipH="1">
                    <a:off x="2689" y="2104"/>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821" name="Group 28"/>
                <p:cNvGrpSpPr>
                  <a:grpSpLocks/>
                </p:cNvGrpSpPr>
                <p:nvPr/>
              </p:nvGrpSpPr>
              <p:grpSpPr bwMode="auto">
                <a:xfrm>
                  <a:off x="2833" y="2104"/>
                  <a:ext cx="95" cy="35"/>
                  <a:chOff x="2833" y="2104"/>
                  <a:chExt cx="95" cy="35"/>
                </a:xfrm>
              </p:grpSpPr>
              <p:sp>
                <p:nvSpPr>
                  <p:cNvPr id="29826" name="Line 29"/>
                  <p:cNvSpPr>
                    <a:spLocks noChangeShapeType="1"/>
                  </p:cNvSpPr>
                  <p:nvPr/>
                </p:nvSpPr>
                <p:spPr bwMode="auto">
                  <a:xfrm>
                    <a:off x="2833" y="2104"/>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827" name="Line 30"/>
                  <p:cNvSpPr>
                    <a:spLocks noChangeShapeType="1"/>
                  </p:cNvSpPr>
                  <p:nvPr/>
                </p:nvSpPr>
                <p:spPr bwMode="auto">
                  <a:xfrm flipH="1">
                    <a:off x="2881" y="2104"/>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822" name="Group 31"/>
                <p:cNvGrpSpPr>
                  <a:grpSpLocks/>
                </p:cNvGrpSpPr>
                <p:nvPr/>
              </p:nvGrpSpPr>
              <p:grpSpPr bwMode="auto">
                <a:xfrm>
                  <a:off x="2545" y="2066"/>
                  <a:ext cx="95" cy="36"/>
                  <a:chOff x="2545" y="2066"/>
                  <a:chExt cx="95" cy="36"/>
                </a:xfrm>
              </p:grpSpPr>
              <p:sp>
                <p:nvSpPr>
                  <p:cNvPr id="29824" name="Line 32"/>
                  <p:cNvSpPr>
                    <a:spLocks noChangeShapeType="1"/>
                  </p:cNvSpPr>
                  <p:nvPr/>
                </p:nvSpPr>
                <p:spPr bwMode="auto">
                  <a:xfrm flipV="1">
                    <a:off x="2545" y="2066"/>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825" name="Line 33"/>
                  <p:cNvSpPr>
                    <a:spLocks noChangeShapeType="1"/>
                  </p:cNvSpPr>
                  <p:nvPr/>
                </p:nvSpPr>
                <p:spPr bwMode="auto">
                  <a:xfrm flipH="1" flipV="1">
                    <a:off x="2593" y="2066"/>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9823" name="Line 34"/>
                <p:cNvSpPr>
                  <a:spLocks noChangeShapeType="1"/>
                </p:cNvSpPr>
                <p:nvPr/>
              </p:nvSpPr>
              <p:spPr bwMode="auto">
                <a:xfrm>
                  <a:off x="2497" y="2103"/>
                  <a:ext cx="4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709" name="Group 35"/>
              <p:cNvGrpSpPr>
                <a:grpSpLocks/>
              </p:cNvGrpSpPr>
              <p:nvPr/>
            </p:nvGrpSpPr>
            <p:grpSpPr bwMode="auto">
              <a:xfrm>
                <a:off x="2497" y="1445"/>
                <a:ext cx="479" cy="73"/>
                <a:chOff x="2497" y="1445"/>
                <a:chExt cx="479" cy="73"/>
              </a:xfrm>
            </p:grpSpPr>
            <p:sp>
              <p:nvSpPr>
                <p:cNvPr id="29804" name="Line 36"/>
                <p:cNvSpPr>
                  <a:spLocks noChangeShapeType="1"/>
                </p:cNvSpPr>
                <p:nvPr/>
              </p:nvSpPr>
              <p:spPr bwMode="auto">
                <a:xfrm>
                  <a:off x="2929" y="1482"/>
                  <a:ext cx="4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9805" name="Group 37"/>
                <p:cNvGrpSpPr>
                  <a:grpSpLocks/>
                </p:cNvGrpSpPr>
                <p:nvPr/>
              </p:nvGrpSpPr>
              <p:grpSpPr bwMode="auto">
                <a:xfrm>
                  <a:off x="2737" y="1445"/>
                  <a:ext cx="95" cy="36"/>
                  <a:chOff x="2737" y="1445"/>
                  <a:chExt cx="95" cy="36"/>
                </a:xfrm>
              </p:grpSpPr>
              <p:sp>
                <p:nvSpPr>
                  <p:cNvPr id="29816" name="Line 38"/>
                  <p:cNvSpPr>
                    <a:spLocks noChangeShapeType="1"/>
                  </p:cNvSpPr>
                  <p:nvPr/>
                </p:nvSpPr>
                <p:spPr bwMode="auto">
                  <a:xfrm flipV="1">
                    <a:off x="2737" y="1445"/>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817" name="Line 39"/>
                  <p:cNvSpPr>
                    <a:spLocks noChangeShapeType="1"/>
                  </p:cNvSpPr>
                  <p:nvPr/>
                </p:nvSpPr>
                <p:spPr bwMode="auto">
                  <a:xfrm flipH="1" flipV="1">
                    <a:off x="2785" y="1445"/>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806" name="Group 40"/>
                <p:cNvGrpSpPr>
                  <a:grpSpLocks/>
                </p:cNvGrpSpPr>
                <p:nvPr/>
              </p:nvGrpSpPr>
              <p:grpSpPr bwMode="auto">
                <a:xfrm>
                  <a:off x="2641" y="1483"/>
                  <a:ext cx="95" cy="35"/>
                  <a:chOff x="2641" y="1483"/>
                  <a:chExt cx="95" cy="35"/>
                </a:xfrm>
              </p:grpSpPr>
              <p:sp>
                <p:nvSpPr>
                  <p:cNvPr id="29814" name="Line 41"/>
                  <p:cNvSpPr>
                    <a:spLocks noChangeShapeType="1"/>
                  </p:cNvSpPr>
                  <p:nvPr/>
                </p:nvSpPr>
                <p:spPr bwMode="auto">
                  <a:xfrm>
                    <a:off x="2641" y="1483"/>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815" name="Line 42"/>
                  <p:cNvSpPr>
                    <a:spLocks noChangeShapeType="1"/>
                  </p:cNvSpPr>
                  <p:nvPr/>
                </p:nvSpPr>
                <p:spPr bwMode="auto">
                  <a:xfrm flipH="1">
                    <a:off x="2689" y="1483"/>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807" name="Group 43"/>
                <p:cNvGrpSpPr>
                  <a:grpSpLocks/>
                </p:cNvGrpSpPr>
                <p:nvPr/>
              </p:nvGrpSpPr>
              <p:grpSpPr bwMode="auto">
                <a:xfrm>
                  <a:off x="2833" y="1483"/>
                  <a:ext cx="95" cy="35"/>
                  <a:chOff x="2833" y="1483"/>
                  <a:chExt cx="95" cy="35"/>
                </a:xfrm>
              </p:grpSpPr>
              <p:sp>
                <p:nvSpPr>
                  <p:cNvPr id="29812" name="Line 44"/>
                  <p:cNvSpPr>
                    <a:spLocks noChangeShapeType="1"/>
                  </p:cNvSpPr>
                  <p:nvPr/>
                </p:nvSpPr>
                <p:spPr bwMode="auto">
                  <a:xfrm>
                    <a:off x="2833" y="1483"/>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813" name="Line 45"/>
                  <p:cNvSpPr>
                    <a:spLocks noChangeShapeType="1"/>
                  </p:cNvSpPr>
                  <p:nvPr/>
                </p:nvSpPr>
                <p:spPr bwMode="auto">
                  <a:xfrm flipH="1">
                    <a:off x="2881" y="1483"/>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808" name="Group 46"/>
                <p:cNvGrpSpPr>
                  <a:grpSpLocks/>
                </p:cNvGrpSpPr>
                <p:nvPr/>
              </p:nvGrpSpPr>
              <p:grpSpPr bwMode="auto">
                <a:xfrm>
                  <a:off x="2545" y="1445"/>
                  <a:ext cx="95" cy="36"/>
                  <a:chOff x="2545" y="1445"/>
                  <a:chExt cx="95" cy="36"/>
                </a:xfrm>
              </p:grpSpPr>
              <p:sp>
                <p:nvSpPr>
                  <p:cNvPr id="29810" name="Line 47"/>
                  <p:cNvSpPr>
                    <a:spLocks noChangeShapeType="1"/>
                  </p:cNvSpPr>
                  <p:nvPr/>
                </p:nvSpPr>
                <p:spPr bwMode="auto">
                  <a:xfrm flipV="1">
                    <a:off x="2545" y="1445"/>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811" name="Line 48"/>
                  <p:cNvSpPr>
                    <a:spLocks noChangeShapeType="1"/>
                  </p:cNvSpPr>
                  <p:nvPr/>
                </p:nvSpPr>
                <p:spPr bwMode="auto">
                  <a:xfrm flipH="1" flipV="1">
                    <a:off x="2593" y="1445"/>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9809" name="Line 49"/>
                <p:cNvSpPr>
                  <a:spLocks noChangeShapeType="1"/>
                </p:cNvSpPr>
                <p:nvPr/>
              </p:nvSpPr>
              <p:spPr bwMode="auto">
                <a:xfrm>
                  <a:off x="2497" y="1482"/>
                  <a:ext cx="4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710" name="Group 50"/>
              <p:cNvGrpSpPr>
                <a:grpSpLocks/>
              </p:cNvGrpSpPr>
              <p:nvPr/>
            </p:nvGrpSpPr>
            <p:grpSpPr bwMode="auto">
              <a:xfrm>
                <a:off x="3070" y="2212"/>
                <a:ext cx="96" cy="364"/>
                <a:chOff x="3070" y="2212"/>
                <a:chExt cx="96" cy="364"/>
              </a:xfrm>
            </p:grpSpPr>
            <p:sp>
              <p:nvSpPr>
                <p:cNvPr id="29790" name="Line 51"/>
                <p:cNvSpPr>
                  <a:spLocks noChangeShapeType="1"/>
                </p:cNvSpPr>
                <p:nvPr/>
              </p:nvSpPr>
              <p:spPr bwMode="auto">
                <a:xfrm>
                  <a:off x="3119" y="2541"/>
                  <a:ext cx="0"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9791" name="Group 52"/>
                <p:cNvGrpSpPr>
                  <a:grpSpLocks/>
                </p:cNvGrpSpPr>
                <p:nvPr/>
              </p:nvGrpSpPr>
              <p:grpSpPr bwMode="auto">
                <a:xfrm>
                  <a:off x="3118" y="2394"/>
                  <a:ext cx="48" cy="72"/>
                  <a:chOff x="3118" y="2394"/>
                  <a:chExt cx="48" cy="72"/>
                </a:xfrm>
              </p:grpSpPr>
              <p:sp>
                <p:nvSpPr>
                  <p:cNvPr id="29802" name="Line 53"/>
                  <p:cNvSpPr>
                    <a:spLocks noChangeShapeType="1"/>
                  </p:cNvSpPr>
                  <p:nvPr/>
                </p:nvSpPr>
                <p:spPr bwMode="auto">
                  <a:xfrm>
                    <a:off x="3118" y="2394"/>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803" name="Line 54"/>
                  <p:cNvSpPr>
                    <a:spLocks noChangeShapeType="1"/>
                  </p:cNvSpPr>
                  <p:nvPr/>
                </p:nvSpPr>
                <p:spPr bwMode="auto">
                  <a:xfrm flipV="1">
                    <a:off x="3119" y="2431"/>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792" name="Group 55"/>
                <p:cNvGrpSpPr>
                  <a:grpSpLocks/>
                </p:cNvGrpSpPr>
                <p:nvPr/>
              </p:nvGrpSpPr>
              <p:grpSpPr bwMode="auto">
                <a:xfrm>
                  <a:off x="3070" y="2322"/>
                  <a:ext cx="48" cy="71"/>
                  <a:chOff x="3070" y="2322"/>
                  <a:chExt cx="48" cy="71"/>
                </a:xfrm>
              </p:grpSpPr>
              <p:sp>
                <p:nvSpPr>
                  <p:cNvPr id="29800" name="Line 56"/>
                  <p:cNvSpPr>
                    <a:spLocks noChangeShapeType="1"/>
                  </p:cNvSpPr>
                  <p:nvPr/>
                </p:nvSpPr>
                <p:spPr bwMode="auto">
                  <a:xfrm flipH="1">
                    <a:off x="3070" y="2322"/>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801" name="Line 57"/>
                  <p:cNvSpPr>
                    <a:spLocks noChangeShapeType="1"/>
                  </p:cNvSpPr>
                  <p:nvPr/>
                </p:nvSpPr>
                <p:spPr bwMode="auto">
                  <a:xfrm flipH="1" flipV="1">
                    <a:off x="3071" y="2358"/>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793" name="Group 58"/>
                <p:cNvGrpSpPr>
                  <a:grpSpLocks/>
                </p:cNvGrpSpPr>
                <p:nvPr/>
              </p:nvGrpSpPr>
              <p:grpSpPr bwMode="auto">
                <a:xfrm>
                  <a:off x="3070" y="2468"/>
                  <a:ext cx="48" cy="71"/>
                  <a:chOff x="3070" y="2468"/>
                  <a:chExt cx="48" cy="71"/>
                </a:xfrm>
              </p:grpSpPr>
              <p:sp>
                <p:nvSpPr>
                  <p:cNvPr id="29798" name="Line 59"/>
                  <p:cNvSpPr>
                    <a:spLocks noChangeShapeType="1"/>
                  </p:cNvSpPr>
                  <p:nvPr/>
                </p:nvSpPr>
                <p:spPr bwMode="auto">
                  <a:xfrm flipH="1">
                    <a:off x="3070" y="2468"/>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99" name="Line 60"/>
                  <p:cNvSpPr>
                    <a:spLocks noChangeShapeType="1"/>
                  </p:cNvSpPr>
                  <p:nvPr/>
                </p:nvSpPr>
                <p:spPr bwMode="auto">
                  <a:xfrm flipH="1" flipV="1">
                    <a:off x="3071" y="2504"/>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794" name="Group 61"/>
                <p:cNvGrpSpPr>
                  <a:grpSpLocks/>
                </p:cNvGrpSpPr>
                <p:nvPr/>
              </p:nvGrpSpPr>
              <p:grpSpPr bwMode="auto">
                <a:xfrm>
                  <a:off x="3118" y="2248"/>
                  <a:ext cx="48" cy="72"/>
                  <a:chOff x="3118" y="2248"/>
                  <a:chExt cx="48" cy="72"/>
                </a:xfrm>
              </p:grpSpPr>
              <p:sp>
                <p:nvSpPr>
                  <p:cNvPr id="29796" name="Line 62"/>
                  <p:cNvSpPr>
                    <a:spLocks noChangeShapeType="1"/>
                  </p:cNvSpPr>
                  <p:nvPr/>
                </p:nvSpPr>
                <p:spPr bwMode="auto">
                  <a:xfrm>
                    <a:off x="3118" y="2248"/>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97" name="Line 63"/>
                  <p:cNvSpPr>
                    <a:spLocks noChangeShapeType="1"/>
                  </p:cNvSpPr>
                  <p:nvPr/>
                </p:nvSpPr>
                <p:spPr bwMode="auto">
                  <a:xfrm flipV="1">
                    <a:off x="3119" y="2285"/>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9795" name="Line 64"/>
                <p:cNvSpPr>
                  <a:spLocks noChangeShapeType="1"/>
                </p:cNvSpPr>
                <p:nvPr/>
              </p:nvSpPr>
              <p:spPr bwMode="auto">
                <a:xfrm>
                  <a:off x="3118" y="2212"/>
                  <a:ext cx="0"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711" name="Group 65"/>
              <p:cNvGrpSpPr>
                <a:grpSpLocks/>
              </p:cNvGrpSpPr>
              <p:nvPr/>
            </p:nvGrpSpPr>
            <p:grpSpPr bwMode="auto">
              <a:xfrm>
                <a:off x="1777" y="1445"/>
                <a:ext cx="239" cy="73"/>
                <a:chOff x="1777" y="1445"/>
                <a:chExt cx="239" cy="73"/>
              </a:xfrm>
            </p:grpSpPr>
            <p:sp>
              <p:nvSpPr>
                <p:cNvPr id="29784" name="Line 66"/>
                <p:cNvSpPr>
                  <a:spLocks noChangeShapeType="1"/>
                </p:cNvSpPr>
                <p:nvPr/>
              </p:nvSpPr>
              <p:spPr bwMode="auto">
                <a:xfrm flipH="1" flipV="1">
                  <a:off x="1873" y="1445"/>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85" name="Line 67"/>
                <p:cNvSpPr>
                  <a:spLocks noChangeShapeType="1"/>
                </p:cNvSpPr>
                <p:nvPr/>
              </p:nvSpPr>
              <p:spPr bwMode="auto">
                <a:xfrm flipV="1">
                  <a:off x="1873" y="1483"/>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86" name="Line 68"/>
                <p:cNvSpPr>
                  <a:spLocks noChangeShapeType="1"/>
                </p:cNvSpPr>
                <p:nvPr/>
              </p:nvSpPr>
              <p:spPr bwMode="auto">
                <a:xfrm>
                  <a:off x="1872" y="1446"/>
                  <a:ext cx="0" cy="7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87" name="Line 69"/>
                <p:cNvSpPr>
                  <a:spLocks noChangeShapeType="1"/>
                </p:cNvSpPr>
                <p:nvPr/>
              </p:nvSpPr>
              <p:spPr bwMode="auto">
                <a:xfrm>
                  <a:off x="1920" y="1446"/>
                  <a:ext cx="0" cy="7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88" name="Line 70"/>
                <p:cNvSpPr>
                  <a:spLocks noChangeShapeType="1"/>
                </p:cNvSpPr>
                <p:nvPr/>
              </p:nvSpPr>
              <p:spPr bwMode="auto">
                <a:xfrm>
                  <a:off x="1921" y="1482"/>
                  <a:ext cx="9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89" name="Line 71"/>
                <p:cNvSpPr>
                  <a:spLocks noChangeShapeType="1"/>
                </p:cNvSpPr>
                <p:nvPr/>
              </p:nvSpPr>
              <p:spPr bwMode="auto">
                <a:xfrm>
                  <a:off x="1777" y="1482"/>
                  <a:ext cx="9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712" name="Group 72"/>
              <p:cNvGrpSpPr>
                <a:grpSpLocks/>
              </p:cNvGrpSpPr>
              <p:nvPr/>
            </p:nvGrpSpPr>
            <p:grpSpPr bwMode="auto">
              <a:xfrm>
                <a:off x="3408" y="1519"/>
                <a:ext cx="528" cy="511"/>
                <a:chOff x="3408" y="1519"/>
                <a:chExt cx="528" cy="511"/>
              </a:xfrm>
            </p:grpSpPr>
            <p:grpSp>
              <p:nvGrpSpPr>
                <p:cNvPr id="29778" name="Group 73"/>
                <p:cNvGrpSpPr>
                  <a:grpSpLocks/>
                </p:cNvGrpSpPr>
                <p:nvPr/>
              </p:nvGrpSpPr>
              <p:grpSpPr bwMode="auto">
                <a:xfrm>
                  <a:off x="3408" y="1519"/>
                  <a:ext cx="528" cy="511"/>
                  <a:chOff x="3408" y="1519"/>
                  <a:chExt cx="528" cy="511"/>
                </a:xfrm>
              </p:grpSpPr>
              <p:sp>
                <p:nvSpPr>
                  <p:cNvPr id="29781" name="Line 74"/>
                  <p:cNvSpPr>
                    <a:spLocks noChangeShapeType="1"/>
                  </p:cNvSpPr>
                  <p:nvPr/>
                </p:nvSpPr>
                <p:spPr bwMode="auto">
                  <a:xfrm>
                    <a:off x="3408" y="1519"/>
                    <a:ext cx="0" cy="51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82" name="Line 75"/>
                  <p:cNvSpPr>
                    <a:spLocks noChangeShapeType="1"/>
                  </p:cNvSpPr>
                  <p:nvPr/>
                </p:nvSpPr>
                <p:spPr bwMode="auto">
                  <a:xfrm flipV="1">
                    <a:off x="3409" y="1775"/>
                    <a:ext cx="527" cy="25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83" name="Line 76"/>
                  <p:cNvSpPr>
                    <a:spLocks noChangeShapeType="1"/>
                  </p:cNvSpPr>
                  <p:nvPr/>
                </p:nvSpPr>
                <p:spPr bwMode="auto">
                  <a:xfrm>
                    <a:off x="3409" y="1519"/>
                    <a:ext cx="527" cy="25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9779" name="Rectangle 77"/>
                <p:cNvSpPr>
                  <a:spLocks noChangeArrowheads="1"/>
                </p:cNvSpPr>
                <p:nvPr/>
              </p:nvSpPr>
              <p:spPr bwMode="auto">
                <a:xfrm>
                  <a:off x="3408" y="1555"/>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400">
                      <a:solidFill>
                        <a:srgbClr val="000000"/>
                      </a:solidFill>
                      <a:latin typeface="Arial" panose="020B0604020202020204" pitchFamily="34" charset="0"/>
                    </a:rPr>
                    <a:t>-</a:t>
                  </a:r>
                </a:p>
              </p:txBody>
            </p:sp>
            <p:sp>
              <p:nvSpPr>
                <p:cNvPr id="29780" name="Rectangle 78"/>
                <p:cNvSpPr>
                  <a:spLocks noChangeArrowheads="1"/>
                </p:cNvSpPr>
                <p:nvPr/>
              </p:nvSpPr>
              <p:spPr bwMode="auto">
                <a:xfrm>
                  <a:off x="3408" y="1847"/>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200">
                      <a:solidFill>
                        <a:srgbClr val="000000"/>
                      </a:solidFill>
                      <a:latin typeface="Arial" panose="020B0604020202020204" pitchFamily="34" charset="0"/>
                    </a:rPr>
                    <a:t>+</a:t>
                  </a:r>
                </a:p>
              </p:txBody>
            </p:sp>
          </p:grpSp>
          <p:sp>
            <p:nvSpPr>
              <p:cNvPr id="29713" name="Line 79"/>
              <p:cNvSpPr>
                <a:spLocks noChangeShapeType="1"/>
              </p:cNvSpPr>
              <p:nvPr/>
            </p:nvSpPr>
            <p:spPr bwMode="auto">
              <a:xfrm flipH="1">
                <a:off x="3121" y="1920"/>
                <a:ext cx="28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14" name="Line 80"/>
              <p:cNvSpPr>
                <a:spLocks noChangeShapeType="1"/>
              </p:cNvSpPr>
              <p:nvPr/>
            </p:nvSpPr>
            <p:spPr bwMode="auto">
              <a:xfrm flipH="1">
                <a:off x="3121" y="1627"/>
                <a:ext cx="28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15" name="Line 81"/>
              <p:cNvSpPr>
                <a:spLocks noChangeShapeType="1"/>
              </p:cNvSpPr>
              <p:nvPr/>
            </p:nvSpPr>
            <p:spPr bwMode="auto">
              <a:xfrm flipH="1">
                <a:off x="3937" y="1774"/>
                <a:ext cx="28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16" name="Line 82"/>
              <p:cNvSpPr>
                <a:spLocks noChangeShapeType="1"/>
              </p:cNvSpPr>
              <p:nvPr/>
            </p:nvSpPr>
            <p:spPr bwMode="auto">
              <a:xfrm flipV="1">
                <a:off x="3120" y="1190"/>
                <a:ext cx="0" cy="43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17" name="Line 83"/>
              <p:cNvSpPr>
                <a:spLocks noChangeShapeType="1"/>
              </p:cNvSpPr>
              <p:nvPr/>
            </p:nvSpPr>
            <p:spPr bwMode="auto">
              <a:xfrm flipV="1">
                <a:off x="3120" y="1920"/>
                <a:ext cx="0" cy="2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18" name="Line 84"/>
              <p:cNvSpPr>
                <a:spLocks noChangeShapeType="1"/>
              </p:cNvSpPr>
              <p:nvPr/>
            </p:nvSpPr>
            <p:spPr bwMode="auto">
              <a:xfrm>
                <a:off x="2977" y="2103"/>
                <a:ext cx="14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19" name="Line 85"/>
              <p:cNvSpPr>
                <a:spLocks noChangeShapeType="1"/>
              </p:cNvSpPr>
              <p:nvPr/>
            </p:nvSpPr>
            <p:spPr bwMode="auto">
              <a:xfrm>
                <a:off x="2977" y="1481"/>
                <a:ext cx="14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20" name="Line 86"/>
              <p:cNvSpPr>
                <a:spLocks noChangeShapeType="1"/>
              </p:cNvSpPr>
              <p:nvPr/>
            </p:nvSpPr>
            <p:spPr bwMode="auto">
              <a:xfrm>
                <a:off x="3121" y="1189"/>
                <a:ext cx="28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21" name="Line 87"/>
              <p:cNvSpPr>
                <a:spLocks noChangeShapeType="1"/>
              </p:cNvSpPr>
              <p:nvPr/>
            </p:nvSpPr>
            <p:spPr bwMode="auto">
              <a:xfrm>
                <a:off x="3889" y="1189"/>
                <a:ext cx="28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22" name="Line 88"/>
              <p:cNvSpPr>
                <a:spLocks noChangeShapeType="1"/>
              </p:cNvSpPr>
              <p:nvPr/>
            </p:nvSpPr>
            <p:spPr bwMode="auto">
              <a:xfrm>
                <a:off x="4176" y="1190"/>
                <a:ext cx="0" cy="5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23" name="Line 89"/>
              <p:cNvSpPr>
                <a:spLocks noChangeShapeType="1"/>
              </p:cNvSpPr>
              <p:nvPr/>
            </p:nvSpPr>
            <p:spPr bwMode="auto">
              <a:xfrm>
                <a:off x="2017" y="1481"/>
                <a:ext cx="479"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9724" name="Group 90"/>
              <p:cNvGrpSpPr>
                <a:grpSpLocks/>
              </p:cNvGrpSpPr>
              <p:nvPr/>
            </p:nvGrpSpPr>
            <p:grpSpPr bwMode="auto">
              <a:xfrm>
                <a:off x="2158" y="1480"/>
                <a:ext cx="386" cy="477"/>
                <a:chOff x="2158" y="1480"/>
                <a:chExt cx="386" cy="477"/>
              </a:xfrm>
            </p:grpSpPr>
            <p:grpSp>
              <p:nvGrpSpPr>
                <p:cNvPr id="29749" name="Group 91"/>
                <p:cNvGrpSpPr>
                  <a:grpSpLocks/>
                </p:cNvGrpSpPr>
                <p:nvPr/>
              </p:nvGrpSpPr>
              <p:grpSpPr bwMode="auto">
                <a:xfrm>
                  <a:off x="2158" y="1480"/>
                  <a:ext cx="96" cy="365"/>
                  <a:chOff x="2158" y="1480"/>
                  <a:chExt cx="96" cy="365"/>
                </a:xfrm>
              </p:grpSpPr>
              <p:sp>
                <p:nvSpPr>
                  <p:cNvPr id="29764" name="Line 92"/>
                  <p:cNvSpPr>
                    <a:spLocks noChangeShapeType="1"/>
                  </p:cNvSpPr>
                  <p:nvPr/>
                </p:nvSpPr>
                <p:spPr bwMode="auto">
                  <a:xfrm>
                    <a:off x="2206" y="1809"/>
                    <a:ext cx="0"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9765" name="Group 93"/>
                  <p:cNvGrpSpPr>
                    <a:grpSpLocks/>
                  </p:cNvGrpSpPr>
                  <p:nvPr/>
                </p:nvGrpSpPr>
                <p:grpSpPr bwMode="auto">
                  <a:xfrm>
                    <a:off x="2206" y="1662"/>
                    <a:ext cx="48" cy="72"/>
                    <a:chOff x="2206" y="1662"/>
                    <a:chExt cx="48" cy="72"/>
                  </a:xfrm>
                </p:grpSpPr>
                <p:sp>
                  <p:nvSpPr>
                    <p:cNvPr id="29776" name="Line 94"/>
                    <p:cNvSpPr>
                      <a:spLocks noChangeShapeType="1"/>
                    </p:cNvSpPr>
                    <p:nvPr/>
                  </p:nvSpPr>
                  <p:spPr bwMode="auto">
                    <a:xfrm>
                      <a:off x="2206" y="1662"/>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77" name="Line 95"/>
                    <p:cNvSpPr>
                      <a:spLocks noChangeShapeType="1"/>
                    </p:cNvSpPr>
                    <p:nvPr/>
                  </p:nvSpPr>
                  <p:spPr bwMode="auto">
                    <a:xfrm flipV="1">
                      <a:off x="2207" y="1699"/>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766" name="Group 96"/>
                  <p:cNvGrpSpPr>
                    <a:grpSpLocks/>
                  </p:cNvGrpSpPr>
                  <p:nvPr/>
                </p:nvGrpSpPr>
                <p:grpSpPr bwMode="auto">
                  <a:xfrm>
                    <a:off x="2158" y="1590"/>
                    <a:ext cx="48" cy="71"/>
                    <a:chOff x="2158" y="1590"/>
                    <a:chExt cx="48" cy="71"/>
                  </a:xfrm>
                </p:grpSpPr>
                <p:sp>
                  <p:nvSpPr>
                    <p:cNvPr id="29774" name="Line 97"/>
                    <p:cNvSpPr>
                      <a:spLocks noChangeShapeType="1"/>
                    </p:cNvSpPr>
                    <p:nvPr/>
                  </p:nvSpPr>
                  <p:spPr bwMode="auto">
                    <a:xfrm flipH="1">
                      <a:off x="2158" y="1590"/>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75" name="Line 98"/>
                    <p:cNvSpPr>
                      <a:spLocks noChangeShapeType="1"/>
                    </p:cNvSpPr>
                    <p:nvPr/>
                  </p:nvSpPr>
                  <p:spPr bwMode="auto">
                    <a:xfrm flipH="1" flipV="1">
                      <a:off x="2159" y="1626"/>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767" name="Group 99"/>
                  <p:cNvGrpSpPr>
                    <a:grpSpLocks/>
                  </p:cNvGrpSpPr>
                  <p:nvPr/>
                </p:nvGrpSpPr>
                <p:grpSpPr bwMode="auto">
                  <a:xfrm>
                    <a:off x="2158" y="1736"/>
                    <a:ext cx="48" cy="71"/>
                    <a:chOff x="2158" y="1736"/>
                    <a:chExt cx="48" cy="71"/>
                  </a:xfrm>
                </p:grpSpPr>
                <p:sp>
                  <p:nvSpPr>
                    <p:cNvPr id="29772" name="Line 100"/>
                    <p:cNvSpPr>
                      <a:spLocks noChangeShapeType="1"/>
                    </p:cNvSpPr>
                    <p:nvPr/>
                  </p:nvSpPr>
                  <p:spPr bwMode="auto">
                    <a:xfrm flipH="1">
                      <a:off x="2158" y="1736"/>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73" name="Line 101"/>
                    <p:cNvSpPr>
                      <a:spLocks noChangeShapeType="1"/>
                    </p:cNvSpPr>
                    <p:nvPr/>
                  </p:nvSpPr>
                  <p:spPr bwMode="auto">
                    <a:xfrm flipH="1" flipV="1">
                      <a:off x="2159" y="1772"/>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768" name="Group 102"/>
                  <p:cNvGrpSpPr>
                    <a:grpSpLocks/>
                  </p:cNvGrpSpPr>
                  <p:nvPr/>
                </p:nvGrpSpPr>
                <p:grpSpPr bwMode="auto">
                  <a:xfrm>
                    <a:off x="2206" y="1516"/>
                    <a:ext cx="48" cy="72"/>
                    <a:chOff x="2206" y="1516"/>
                    <a:chExt cx="48" cy="72"/>
                  </a:xfrm>
                </p:grpSpPr>
                <p:sp>
                  <p:nvSpPr>
                    <p:cNvPr id="29770" name="Line 103"/>
                    <p:cNvSpPr>
                      <a:spLocks noChangeShapeType="1"/>
                    </p:cNvSpPr>
                    <p:nvPr/>
                  </p:nvSpPr>
                  <p:spPr bwMode="auto">
                    <a:xfrm>
                      <a:off x="2206" y="1516"/>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71" name="Line 104"/>
                    <p:cNvSpPr>
                      <a:spLocks noChangeShapeType="1"/>
                    </p:cNvSpPr>
                    <p:nvPr/>
                  </p:nvSpPr>
                  <p:spPr bwMode="auto">
                    <a:xfrm flipV="1">
                      <a:off x="2207" y="1553"/>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9769" name="Line 105"/>
                  <p:cNvSpPr>
                    <a:spLocks noChangeShapeType="1"/>
                  </p:cNvSpPr>
                  <p:nvPr/>
                </p:nvSpPr>
                <p:spPr bwMode="auto">
                  <a:xfrm>
                    <a:off x="2206" y="1480"/>
                    <a:ext cx="0"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750" name="Group 106"/>
                <p:cNvGrpSpPr>
                  <a:grpSpLocks/>
                </p:cNvGrpSpPr>
                <p:nvPr/>
              </p:nvGrpSpPr>
              <p:grpSpPr bwMode="auto">
                <a:xfrm>
                  <a:off x="2449" y="1481"/>
                  <a:ext cx="95" cy="366"/>
                  <a:chOff x="2449" y="1481"/>
                  <a:chExt cx="95" cy="366"/>
                </a:xfrm>
              </p:grpSpPr>
              <p:grpSp>
                <p:nvGrpSpPr>
                  <p:cNvPr id="29758" name="Group 107"/>
                  <p:cNvGrpSpPr>
                    <a:grpSpLocks/>
                  </p:cNvGrpSpPr>
                  <p:nvPr/>
                </p:nvGrpSpPr>
                <p:grpSpPr bwMode="auto">
                  <a:xfrm>
                    <a:off x="2449" y="1519"/>
                    <a:ext cx="95" cy="328"/>
                    <a:chOff x="2449" y="1519"/>
                    <a:chExt cx="95" cy="328"/>
                  </a:xfrm>
                </p:grpSpPr>
                <p:sp>
                  <p:nvSpPr>
                    <p:cNvPr id="29760" name="Line 108"/>
                    <p:cNvSpPr>
                      <a:spLocks noChangeShapeType="1"/>
                    </p:cNvSpPr>
                    <p:nvPr/>
                  </p:nvSpPr>
                  <p:spPr bwMode="auto">
                    <a:xfrm>
                      <a:off x="2449" y="1664"/>
                      <a:ext cx="9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61" name="Line 109"/>
                    <p:cNvSpPr>
                      <a:spLocks noChangeShapeType="1"/>
                    </p:cNvSpPr>
                    <p:nvPr/>
                  </p:nvSpPr>
                  <p:spPr bwMode="auto">
                    <a:xfrm>
                      <a:off x="2449" y="1701"/>
                      <a:ext cx="9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62" name="Line 110"/>
                    <p:cNvSpPr>
                      <a:spLocks noChangeShapeType="1"/>
                    </p:cNvSpPr>
                    <p:nvPr/>
                  </p:nvSpPr>
                  <p:spPr bwMode="auto">
                    <a:xfrm>
                      <a:off x="2496" y="1519"/>
                      <a:ext cx="0" cy="14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63" name="Line 111"/>
                    <p:cNvSpPr>
                      <a:spLocks noChangeShapeType="1"/>
                    </p:cNvSpPr>
                    <p:nvPr/>
                  </p:nvSpPr>
                  <p:spPr bwMode="auto">
                    <a:xfrm>
                      <a:off x="2496" y="1702"/>
                      <a:ext cx="0" cy="14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9759" name="Line 112"/>
                  <p:cNvSpPr>
                    <a:spLocks noChangeShapeType="1"/>
                  </p:cNvSpPr>
                  <p:nvPr/>
                </p:nvSpPr>
                <p:spPr bwMode="auto">
                  <a:xfrm flipV="1">
                    <a:off x="2496" y="1481"/>
                    <a:ext cx="0"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751" name="Group 113"/>
                <p:cNvGrpSpPr>
                  <a:grpSpLocks/>
                </p:cNvGrpSpPr>
                <p:nvPr/>
              </p:nvGrpSpPr>
              <p:grpSpPr bwMode="auto">
                <a:xfrm>
                  <a:off x="2209" y="1847"/>
                  <a:ext cx="287" cy="110"/>
                  <a:chOff x="2209" y="1847"/>
                  <a:chExt cx="287" cy="110"/>
                </a:xfrm>
              </p:grpSpPr>
              <p:sp>
                <p:nvSpPr>
                  <p:cNvPr id="29752" name="Line 114"/>
                  <p:cNvSpPr>
                    <a:spLocks noChangeShapeType="1"/>
                  </p:cNvSpPr>
                  <p:nvPr/>
                </p:nvSpPr>
                <p:spPr bwMode="auto">
                  <a:xfrm>
                    <a:off x="2209" y="1847"/>
                    <a:ext cx="28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53" name="Line 115"/>
                  <p:cNvSpPr>
                    <a:spLocks noChangeShapeType="1"/>
                  </p:cNvSpPr>
                  <p:nvPr/>
                </p:nvSpPr>
                <p:spPr bwMode="auto">
                  <a:xfrm>
                    <a:off x="2352" y="1848"/>
                    <a:ext cx="0" cy="7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54" name="Line 116"/>
                  <p:cNvSpPr>
                    <a:spLocks noChangeShapeType="1"/>
                  </p:cNvSpPr>
                  <p:nvPr/>
                </p:nvSpPr>
                <p:spPr bwMode="auto">
                  <a:xfrm>
                    <a:off x="2305" y="1920"/>
                    <a:ext cx="9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55" name="Line 117"/>
                  <p:cNvSpPr>
                    <a:spLocks noChangeShapeType="1"/>
                  </p:cNvSpPr>
                  <p:nvPr/>
                </p:nvSpPr>
                <p:spPr bwMode="auto">
                  <a:xfrm flipH="1">
                    <a:off x="2257" y="1921"/>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56" name="Line 118"/>
                  <p:cNvSpPr>
                    <a:spLocks noChangeShapeType="1"/>
                  </p:cNvSpPr>
                  <p:nvPr/>
                </p:nvSpPr>
                <p:spPr bwMode="auto">
                  <a:xfrm flipH="1">
                    <a:off x="2305" y="1921"/>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57" name="Line 119"/>
                  <p:cNvSpPr>
                    <a:spLocks noChangeShapeType="1"/>
                  </p:cNvSpPr>
                  <p:nvPr/>
                </p:nvSpPr>
                <p:spPr bwMode="auto">
                  <a:xfrm flipH="1">
                    <a:off x="2353" y="1921"/>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29725" name="Group 120"/>
              <p:cNvGrpSpPr>
                <a:grpSpLocks/>
              </p:cNvGrpSpPr>
              <p:nvPr/>
            </p:nvGrpSpPr>
            <p:grpSpPr bwMode="auto">
              <a:xfrm>
                <a:off x="3025" y="2579"/>
                <a:ext cx="143" cy="109"/>
                <a:chOff x="3025" y="2579"/>
                <a:chExt cx="143" cy="109"/>
              </a:xfrm>
            </p:grpSpPr>
            <p:sp>
              <p:nvSpPr>
                <p:cNvPr id="29744" name="Line 121"/>
                <p:cNvSpPr>
                  <a:spLocks noChangeShapeType="1"/>
                </p:cNvSpPr>
                <p:nvPr/>
              </p:nvSpPr>
              <p:spPr bwMode="auto">
                <a:xfrm>
                  <a:off x="3120" y="2579"/>
                  <a:ext cx="0" cy="7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45" name="Line 122"/>
                <p:cNvSpPr>
                  <a:spLocks noChangeShapeType="1"/>
                </p:cNvSpPr>
                <p:nvPr/>
              </p:nvSpPr>
              <p:spPr bwMode="auto">
                <a:xfrm>
                  <a:off x="3073" y="2651"/>
                  <a:ext cx="9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46" name="Line 123"/>
                <p:cNvSpPr>
                  <a:spLocks noChangeShapeType="1"/>
                </p:cNvSpPr>
                <p:nvPr/>
              </p:nvSpPr>
              <p:spPr bwMode="auto">
                <a:xfrm flipH="1">
                  <a:off x="3025" y="2652"/>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47" name="Line 124"/>
                <p:cNvSpPr>
                  <a:spLocks noChangeShapeType="1"/>
                </p:cNvSpPr>
                <p:nvPr/>
              </p:nvSpPr>
              <p:spPr bwMode="auto">
                <a:xfrm flipH="1">
                  <a:off x="3073" y="2652"/>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48" name="Line 125"/>
                <p:cNvSpPr>
                  <a:spLocks noChangeShapeType="1"/>
                </p:cNvSpPr>
                <p:nvPr/>
              </p:nvSpPr>
              <p:spPr bwMode="auto">
                <a:xfrm flipH="1">
                  <a:off x="3121" y="2652"/>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726" name="Group 126"/>
              <p:cNvGrpSpPr>
                <a:grpSpLocks/>
              </p:cNvGrpSpPr>
              <p:nvPr/>
            </p:nvGrpSpPr>
            <p:grpSpPr bwMode="auto">
              <a:xfrm>
                <a:off x="1777" y="2066"/>
                <a:ext cx="239" cy="73"/>
                <a:chOff x="1777" y="2066"/>
                <a:chExt cx="239" cy="73"/>
              </a:xfrm>
            </p:grpSpPr>
            <p:sp>
              <p:nvSpPr>
                <p:cNvPr id="29738" name="Line 127"/>
                <p:cNvSpPr>
                  <a:spLocks noChangeShapeType="1"/>
                </p:cNvSpPr>
                <p:nvPr/>
              </p:nvSpPr>
              <p:spPr bwMode="auto">
                <a:xfrm flipH="1" flipV="1">
                  <a:off x="1873" y="2066"/>
                  <a:ext cx="47"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39" name="Line 128"/>
                <p:cNvSpPr>
                  <a:spLocks noChangeShapeType="1"/>
                </p:cNvSpPr>
                <p:nvPr/>
              </p:nvSpPr>
              <p:spPr bwMode="auto">
                <a:xfrm flipV="1">
                  <a:off x="1873" y="2104"/>
                  <a:ext cx="47" cy="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40" name="Line 129"/>
                <p:cNvSpPr>
                  <a:spLocks noChangeShapeType="1"/>
                </p:cNvSpPr>
                <p:nvPr/>
              </p:nvSpPr>
              <p:spPr bwMode="auto">
                <a:xfrm>
                  <a:off x="1872" y="2067"/>
                  <a:ext cx="0" cy="7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41" name="Line 130"/>
                <p:cNvSpPr>
                  <a:spLocks noChangeShapeType="1"/>
                </p:cNvSpPr>
                <p:nvPr/>
              </p:nvSpPr>
              <p:spPr bwMode="auto">
                <a:xfrm>
                  <a:off x="1920" y="2067"/>
                  <a:ext cx="0" cy="7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42" name="Line 131"/>
                <p:cNvSpPr>
                  <a:spLocks noChangeShapeType="1"/>
                </p:cNvSpPr>
                <p:nvPr/>
              </p:nvSpPr>
              <p:spPr bwMode="auto">
                <a:xfrm>
                  <a:off x="1921" y="2103"/>
                  <a:ext cx="9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43" name="Line 132"/>
                <p:cNvSpPr>
                  <a:spLocks noChangeShapeType="1"/>
                </p:cNvSpPr>
                <p:nvPr/>
              </p:nvSpPr>
              <p:spPr bwMode="auto">
                <a:xfrm>
                  <a:off x="1777" y="2103"/>
                  <a:ext cx="9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9727" name="Line 133"/>
              <p:cNvSpPr>
                <a:spLocks noChangeShapeType="1"/>
              </p:cNvSpPr>
              <p:nvPr/>
            </p:nvSpPr>
            <p:spPr bwMode="auto">
              <a:xfrm>
                <a:off x="1969" y="2103"/>
                <a:ext cx="52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28" name="Rectangle 134"/>
              <p:cNvSpPr>
                <a:spLocks noChangeArrowheads="1"/>
              </p:cNvSpPr>
              <p:nvPr/>
            </p:nvSpPr>
            <p:spPr bwMode="auto">
              <a:xfrm>
                <a:off x="3504" y="126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400">
                    <a:solidFill>
                      <a:srgbClr val="000000"/>
                    </a:solidFill>
                    <a:latin typeface="Arial" panose="020B0604020202020204" pitchFamily="34" charset="0"/>
                  </a:rPr>
                  <a:t>R</a:t>
                </a:r>
              </a:p>
            </p:txBody>
          </p:sp>
          <p:sp>
            <p:nvSpPr>
              <p:cNvPr id="29729" name="Rectangle 135"/>
              <p:cNvSpPr>
                <a:spLocks noChangeArrowheads="1"/>
              </p:cNvSpPr>
              <p:nvPr/>
            </p:nvSpPr>
            <p:spPr bwMode="auto">
              <a:xfrm>
                <a:off x="2592" y="192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400">
                    <a:solidFill>
                      <a:srgbClr val="000000"/>
                    </a:solidFill>
                    <a:latin typeface="Arial" panose="020B0604020202020204" pitchFamily="34" charset="0"/>
                  </a:rPr>
                  <a:t>R</a:t>
                </a:r>
              </a:p>
            </p:txBody>
          </p:sp>
          <p:sp>
            <p:nvSpPr>
              <p:cNvPr id="29730" name="Rectangle 136"/>
              <p:cNvSpPr>
                <a:spLocks noChangeArrowheads="1"/>
              </p:cNvSpPr>
              <p:nvPr/>
            </p:nvSpPr>
            <p:spPr bwMode="auto">
              <a:xfrm>
                <a:off x="2592" y="129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400">
                    <a:solidFill>
                      <a:srgbClr val="000000"/>
                    </a:solidFill>
                    <a:latin typeface="Arial" panose="020B0604020202020204" pitchFamily="34" charset="0"/>
                  </a:rPr>
                  <a:t>R</a:t>
                </a:r>
              </a:p>
            </p:txBody>
          </p:sp>
          <p:sp>
            <p:nvSpPr>
              <p:cNvPr id="29731" name="Rectangle 137"/>
              <p:cNvSpPr>
                <a:spLocks noChangeArrowheads="1"/>
              </p:cNvSpPr>
              <p:nvPr/>
            </p:nvSpPr>
            <p:spPr bwMode="auto">
              <a:xfrm>
                <a:off x="3168" y="232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400">
                    <a:solidFill>
                      <a:srgbClr val="000000"/>
                    </a:solidFill>
                    <a:latin typeface="Arial" panose="020B0604020202020204" pitchFamily="34" charset="0"/>
                  </a:rPr>
                  <a:t>R</a:t>
                </a:r>
              </a:p>
            </p:txBody>
          </p:sp>
          <p:sp>
            <p:nvSpPr>
              <p:cNvPr id="29732" name="Line 138"/>
              <p:cNvSpPr>
                <a:spLocks noChangeShapeType="1"/>
              </p:cNvSpPr>
              <p:nvPr/>
            </p:nvSpPr>
            <p:spPr bwMode="auto">
              <a:xfrm>
                <a:off x="4225" y="1774"/>
                <a:ext cx="33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33" name="Rectangle 139"/>
              <p:cNvSpPr>
                <a:spLocks noChangeArrowheads="1"/>
              </p:cNvSpPr>
              <p:nvPr/>
            </p:nvSpPr>
            <p:spPr bwMode="auto">
              <a:xfrm>
                <a:off x="1680" y="1408"/>
                <a:ext cx="432" cy="768"/>
              </a:xfrm>
              <a:prstGeom prst="rect">
                <a:avLst/>
              </a:prstGeom>
              <a:noFill/>
              <a:ln w="1270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29734" name="Line 140"/>
              <p:cNvSpPr>
                <a:spLocks noChangeShapeType="1"/>
              </p:cNvSpPr>
              <p:nvPr/>
            </p:nvSpPr>
            <p:spPr bwMode="auto">
              <a:xfrm flipH="1">
                <a:off x="1537" y="2103"/>
                <a:ext cx="239"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35" name="Line 141"/>
              <p:cNvSpPr>
                <a:spLocks noChangeShapeType="1"/>
              </p:cNvSpPr>
              <p:nvPr/>
            </p:nvSpPr>
            <p:spPr bwMode="auto">
              <a:xfrm flipH="1">
                <a:off x="1537" y="1481"/>
                <a:ext cx="239"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736" name="Rectangle 142"/>
              <p:cNvSpPr>
                <a:spLocks noChangeArrowheads="1"/>
              </p:cNvSpPr>
              <p:nvPr/>
            </p:nvSpPr>
            <p:spPr bwMode="auto">
              <a:xfrm>
                <a:off x="864" y="1371"/>
                <a:ext cx="6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600">
                    <a:solidFill>
                      <a:srgbClr val="000000"/>
                    </a:solidFill>
                    <a:latin typeface="Arial" panose="020B0604020202020204" pitchFamily="34" charset="0"/>
                  </a:rPr>
                  <a:t>RF Input</a:t>
                </a:r>
              </a:p>
            </p:txBody>
          </p:sp>
          <p:sp>
            <p:nvSpPr>
              <p:cNvPr id="29737" name="Rectangle 143"/>
              <p:cNvSpPr>
                <a:spLocks noChangeArrowheads="1"/>
              </p:cNvSpPr>
              <p:nvPr/>
            </p:nvSpPr>
            <p:spPr bwMode="auto">
              <a:xfrm>
                <a:off x="912" y="1993"/>
                <a:ext cx="624"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600">
                    <a:solidFill>
                      <a:srgbClr val="000000"/>
                    </a:solidFill>
                    <a:latin typeface="Arial" panose="020B0604020202020204" pitchFamily="34" charset="0"/>
                  </a:rPr>
                  <a:t>Bias Current</a:t>
                </a:r>
              </a:p>
            </p:txBody>
          </p:sp>
        </p:grpSp>
        <p:sp>
          <p:nvSpPr>
            <p:cNvPr id="29706" name="Rectangle 144"/>
            <p:cNvSpPr>
              <a:spLocks noChangeArrowheads="1"/>
            </p:cNvSpPr>
            <p:nvPr/>
          </p:nvSpPr>
          <p:spPr bwMode="auto">
            <a:xfrm>
              <a:off x="4560" y="1664"/>
              <a:ext cx="672"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600">
                  <a:solidFill>
                    <a:srgbClr val="000000"/>
                  </a:solidFill>
                  <a:latin typeface="Arial" panose="020B0604020202020204" pitchFamily="34" charset="0"/>
                </a:rPr>
                <a:t>Detected Output</a:t>
              </a:r>
            </a:p>
          </p:txBody>
        </p:sp>
      </p:grpSp>
      <p:sp>
        <p:nvSpPr>
          <p:cNvPr id="29700" name="Rectangle 145"/>
          <p:cNvSpPr>
            <a:spLocks noChangeArrowheads="1"/>
          </p:cNvSpPr>
          <p:nvPr/>
        </p:nvSpPr>
        <p:spPr bwMode="auto">
          <a:xfrm>
            <a:off x="762000" y="4114800"/>
            <a:ext cx="77724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l">
              <a:spcBef>
                <a:spcPct val="20000"/>
              </a:spcBef>
              <a:buClr>
                <a:schemeClr val="tx1"/>
              </a:buClr>
            </a:pPr>
            <a:r>
              <a:rPr lang="en-US" altLang="en-US" dirty="0">
                <a:latin typeface="Arial" panose="020B0604020202020204" pitchFamily="34" charset="0"/>
                <a:cs typeface="Arial" panose="020B0604020202020204" pitchFamily="34" charset="0"/>
              </a:rPr>
              <a:t>Use two “identical” diodes</a:t>
            </a:r>
          </a:p>
          <a:p>
            <a:pPr algn="l">
              <a:spcBef>
                <a:spcPct val="20000"/>
              </a:spcBef>
              <a:buClr>
                <a:schemeClr val="tx1"/>
              </a:buClr>
              <a:buFontTx/>
              <a:buChar char="•"/>
            </a:pPr>
            <a:r>
              <a:rPr lang="en-US" altLang="en-US" dirty="0">
                <a:latin typeface="Arial" panose="020B0604020202020204" pitchFamily="34" charset="0"/>
                <a:cs typeface="Arial" panose="020B0604020202020204" pitchFamily="34" charset="0"/>
              </a:rPr>
              <a:t>One acts as a detector</a:t>
            </a:r>
          </a:p>
          <a:p>
            <a:pPr algn="l">
              <a:spcBef>
                <a:spcPct val="20000"/>
              </a:spcBef>
              <a:buClr>
                <a:schemeClr val="tx1"/>
              </a:buClr>
              <a:buFontTx/>
              <a:buChar char="•"/>
            </a:pPr>
            <a:r>
              <a:rPr lang="en-US" altLang="en-US" dirty="0">
                <a:latin typeface="Arial" panose="020B0604020202020204" pitchFamily="34" charset="0"/>
                <a:cs typeface="Arial" panose="020B0604020202020204" pitchFamily="34" charset="0"/>
              </a:rPr>
              <a:t>Other acts as a thermometer</a:t>
            </a:r>
          </a:p>
          <a:p>
            <a:pPr algn="l">
              <a:spcBef>
                <a:spcPct val="20000"/>
              </a:spcBef>
              <a:buClr>
                <a:schemeClr val="tx1"/>
              </a:buClr>
              <a:buFontTx/>
              <a:buChar char="•"/>
            </a:pPr>
            <a:r>
              <a:rPr lang="en-US" altLang="en-US" dirty="0">
                <a:latin typeface="Arial" panose="020B0604020202020204" pitchFamily="34" charset="0"/>
                <a:cs typeface="Arial" panose="020B0604020202020204" pitchFamily="34" charset="0"/>
              </a:rPr>
              <a:t>Diodes must be thermally coupled and electrically independent (i.e., an unconnected pair in the same package)</a:t>
            </a:r>
          </a:p>
        </p:txBody>
      </p:sp>
      <p:sp>
        <p:nvSpPr>
          <p:cNvPr id="29701" name="Rectangle 146"/>
          <p:cNvSpPr>
            <a:spLocks noChangeArrowheads="1"/>
          </p:cNvSpPr>
          <p:nvPr/>
        </p:nvSpPr>
        <p:spPr bwMode="auto">
          <a:xfrm>
            <a:off x="5638800" y="3048000"/>
            <a:ext cx="1371600"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600">
                <a:solidFill>
                  <a:srgbClr val="003399"/>
                </a:solidFill>
                <a:latin typeface="Arial" panose="020B0604020202020204" pitchFamily="34" charset="0"/>
              </a:rPr>
              <a:t>Differential</a:t>
            </a:r>
          </a:p>
          <a:p>
            <a:pPr>
              <a:spcBef>
                <a:spcPct val="50000"/>
              </a:spcBef>
            </a:pPr>
            <a:r>
              <a:rPr lang="en-US" altLang="en-US" sz="1600">
                <a:solidFill>
                  <a:srgbClr val="003399"/>
                </a:solidFill>
                <a:latin typeface="Arial" panose="020B0604020202020204" pitchFamily="34" charset="0"/>
              </a:rPr>
              <a:t>Amplifier</a:t>
            </a:r>
          </a:p>
        </p:txBody>
      </p:sp>
      <p:sp>
        <p:nvSpPr>
          <p:cNvPr id="29702" name="Rectangle 147"/>
          <p:cNvSpPr>
            <a:spLocks noChangeArrowheads="1"/>
          </p:cNvSpPr>
          <p:nvPr/>
        </p:nvSpPr>
        <p:spPr bwMode="auto">
          <a:xfrm>
            <a:off x="2743200" y="1524000"/>
            <a:ext cx="1295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600">
                <a:solidFill>
                  <a:srgbClr val="003399"/>
                </a:solidFill>
                <a:latin typeface="Arial" panose="020B0604020202020204" pitchFamily="34" charset="0"/>
              </a:rPr>
              <a:t>Detector</a:t>
            </a:r>
          </a:p>
        </p:txBody>
      </p:sp>
      <p:sp>
        <p:nvSpPr>
          <p:cNvPr id="29703" name="Rectangle 148"/>
          <p:cNvSpPr>
            <a:spLocks noChangeArrowheads="1"/>
          </p:cNvSpPr>
          <p:nvPr/>
        </p:nvSpPr>
        <p:spPr bwMode="auto">
          <a:xfrm>
            <a:off x="2743200" y="3276600"/>
            <a:ext cx="13716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1600">
                <a:solidFill>
                  <a:srgbClr val="003399"/>
                </a:solidFill>
                <a:latin typeface="Arial" panose="020B0604020202020204" pitchFamily="34" charset="0"/>
              </a:rPr>
              <a:t>Reference circuit</a:t>
            </a:r>
          </a:p>
        </p:txBody>
      </p:sp>
      <p:sp>
        <p:nvSpPr>
          <p:cNvPr id="29704" name="Line 149"/>
          <p:cNvSpPr>
            <a:spLocks noChangeShapeType="1"/>
          </p:cNvSpPr>
          <p:nvPr/>
        </p:nvSpPr>
        <p:spPr bwMode="auto">
          <a:xfrm flipV="1">
            <a:off x="2971800" y="2209800"/>
            <a:ext cx="0" cy="608013"/>
          </a:xfrm>
          <a:prstGeom prst="line">
            <a:avLst/>
          </a:prstGeom>
          <a:noFill/>
          <a:ln w="12700">
            <a:solidFill>
              <a:schemeClr val="tx1"/>
            </a:solidFill>
            <a:prstDash val="sysDot"/>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42425217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304800" y="76200"/>
            <a:ext cx="7086600" cy="838200"/>
          </a:xfrm>
        </p:spPr>
        <p:txBody>
          <a:bodyPr/>
          <a:lstStyle/>
          <a:p>
            <a:pPr eaLnBrk="1" hangingPunct="1"/>
            <a:r>
              <a:rPr lang="en-US" altLang="en-US" dirty="0" smtClean="0"/>
              <a:t>MACOM Schottky Diode Package Styles</a:t>
            </a:r>
          </a:p>
        </p:txBody>
      </p:sp>
      <p:sp>
        <p:nvSpPr>
          <p:cNvPr id="30723" name="Rectangle 3"/>
          <p:cNvSpPr>
            <a:spLocks noGrp="1" noChangeArrowheads="1"/>
          </p:cNvSpPr>
          <p:nvPr>
            <p:ph type="body" sz="half" idx="1"/>
          </p:nvPr>
        </p:nvSpPr>
        <p:spPr>
          <a:xfrm>
            <a:off x="838200" y="1676400"/>
            <a:ext cx="4152900" cy="4114800"/>
          </a:xfrm>
        </p:spPr>
        <p:txBody>
          <a:bodyPr/>
          <a:lstStyle/>
          <a:p>
            <a:pPr>
              <a:buSzPct val="90000"/>
              <a:buFontTx/>
              <a:buNone/>
            </a:pPr>
            <a:r>
              <a:rPr lang="en-US" altLang="en-US" sz="2400" dirty="0" smtClean="0"/>
              <a:t>Silicon</a:t>
            </a:r>
          </a:p>
          <a:p>
            <a:pPr>
              <a:buSzPct val="90000"/>
            </a:pPr>
            <a:r>
              <a:rPr lang="en-US" altLang="en-US" sz="2400" dirty="0" smtClean="0"/>
              <a:t>Die</a:t>
            </a:r>
          </a:p>
          <a:p>
            <a:pPr lvl="1">
              <a:buSzPct val="90000"/>
            </a:pPr>
            <a:r>
              <a:rPr lang="en-US" altLang="en-US" sz="2000" dirty="0" smtClean="0"/>
              <a:t>Chip scale</a:t>
            </a:r>
          </a:p>
          <a:p>
            <a:pPr lvl="1">
              <a:buSzPct val="90000"/>
            </a:pPr>
            <a:r>
              <a:rPr lang="en-US" altLang="en-US" sz="2000" dirty="0" smtClean="0"/>
              <a:t>HMIC</a:t>
            </a:r>
          </a:p>
          <a:p>
            <a:pPr>
              <a:buSzPct val="90000"/>
            </a:pPr>
            <a:r>
              <a:rPr lang="en-US" altLang="en-US" sz="2200" dirty="0" smtClean="0"/>
              <a:t>Beam Lead</a:t>
            </a:r>
          </a:p>
          <a:p>
            <a:pPr>
              <a:buSzPct val="90000"/>
            </a:pPr>
            <a:r>
              <a:rPr lang="en-US" altLang="en-US" sz="2400" dirty="0" smtClean="0"/>
              <a:t>Surface Mount</a:t>
            </a:r>
          </a:p>
          <a:p>
            <a:pPr lvl="1"/>
            <a:r>
              <a:rPr lang="en-US" altLang="en-US" sz="2000" dirty="0" smtClean="0"/>
              <a:t>SC-79</a:t>
            </a:r>
          </a:p>
          <a:p>
            <a:pPr lvl="1"/>
            <a:r>
              <a:rPr lang="en-US" altLang="en-US" sz="2000" dirty="0" smtClean="0"/>
              <a:t>SOD-323</a:t>
            </a:r>
          </a:p>
          <a:p>
            <a:pPr lvl="1"/>
            <a:r>
              <a:rPr lang="en-US" altLang="en-US" sz="2000" dirty="0" smtClean="0"/>
              <a:t>SOT-23</a:t>
            </a:r>
          </a:p>
          <a:p>
            <a:pPr lvl="1"/>
            <a:r>
              <a:rPr lang="en-US" altLang="en-US" sz="2000" dirty="0" smtClean="0"/>
              <a:t>SOT-143</a:t>
            </a:r>
          </a:p>
          <a:p>
            <a:pPr lvl="1"/>
            <a:r>
              <a:rPr lang="en-US" altLang="en-US" sz="2000" dirty="0" err="1" smtClean="0"/>
              <a:t>LGA</a:t>
            </a:r>
            <a:endParaRPr lang="en-US" altLang="en-US" sz="2000" dirty="0" smtClean="0"/>
          </a:p>
          <a:p>
            <a:pPr eaLnBrk="1" hangingPunct="1"/>
            <a:endParaRPr lang="en-US" altLang="en-US" sz="2000" dirty="0" smtClean="0"/>
          </a:p>
        </p:txBody>
      </p:sp>
      <p:sp>
        <p:nvSpPr>
          <p:cNvPr id="30724" name="Rectangle 4"/>
          <p:cNvSpPr>
            <a:spLocks noGrp="1" noChangeArrowheads="1"/>
          </p:cNvSpPr>
          <p:nvPr>
            <p:ph type="body" sz="half" idx="2"/>
          </p:nvPr>
        </p:nvSpPr>
        <p:spPr/>
        <p:txBody>
          <a:bodyPr/>
          <a:lstStyle/>
          <a:p>
            <a:pPr>
              <a:lnSpc>
                <a:spcPct val="115000"/>
              </a:lnSpc>
              <a:spcBef>
                <a:spcPct val="0"/>
              </a:spcBef>
              <a:buClrTx/>
              <a:buFontTx/>
              <a:buNone/>
            </a:pPr>
            <a:r>
              <a:rPr lang="en-US" altLang="en-US" sz="2400" smtClean="0"/>
              <a:t>GaAs</a:t>
            </a:r>
          </a:p>
          <a:p>
            <a:pPr>
              <a:lnSpc>
                <a:spcPct val="115000"/>
              </a:lnSpc>
              <a:spcBef>
                <a:spcPct val="0"/>
              </a:spcBef>
              <a:buClrTx/>
            </a:pPr>
            <a:r>
              <a:rPr lang="en-US" altLang="en-US" sz="2400" smtClean="0"/>
              <a:t>Flip Chip</a:t>
            </a:r>
          </a:p>
          <a:p>
            <a:pPr>
              <a:lnSpc>
                <a:spcPct val="115000"/>
              </a:lnSpc>
              <a:spcBef>
                <a:spcPct val="0"/>
              </a:spcBef>
              <a:buClrTx/>
              <a:buFontTx/>
              <a:buNone/>
            </a:pPr>
            <a:endParaRPr lang="en-US" altLang="en-US" sz="2400" smtClean="0"/>
          </a:p>
          <a:p>
            <a:pPr eaLnBrk="1" hangingPunct="1"/>
            <a:endParaRPr lang="en-US" altLang="en-US" sz="2000" smtClean="0"/>
          </a:p>
        </p:txBody>
      </p:sp>
    </p:spTree>
    <p:extLst>
      <p:ext uri="{BB962C8B-B14F-4D97-AF65-F5344CB8AC3E}">
        <p14:creationId xmlns:p14="http://schemas.microsoft.com/office/powerpoint/2010/main" val="35609389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p:spPr>
        <p:txBody>
          <a:bodyPr lIns="90488" tIns="44450" rIns="90488" bIns="44450" anchor="ctr"/>
          <a:lstStyle/>
          <a:p>
            <a:r>
              <a:rPr lang="en-US" altLang="en-US" dirty="0" smtClean="0"/>
              <a:t> Schottky Diodes</a:t>
            </a:r>
          </a:p>
        </p:txBody>
      </p:sp>
      <p:sp>
        <p:nvSpPr>
          <p:cNvPr id="31747" name="Rectangle 3"/>
          <p:cNvSpPr>
            <a:spLocks noGrp="1" noChangeArrowheads="1"/>
          </p:cNvSpPr>
          <p:nvPr>
            <p:ph type="body" idx="1"/>
          </p:nvPr>
        </p:nvSpPr>
        <p:spPr>
          <a:xfrm>
            <a:off x="818322" y="1308655"/>
            <a:ext cx="7772400" cy="4572000"/>
          </a:xfrm>
          <a:noFill/>
        </p:spPr>
        <p:txBody>
          <a:bodyPr lIns="90488" tIns="44450" rIns="90488" bIns="44450"/>
          <a:lstStyle/>
          <a:p>
            <a:pPr marL="342900" indent="-342900">
              <a:buFontTx/>
              <a:buNone/>
            </a:pPr>
            <a:r>
              <a:rPr lang="en-US" altLang="en-US" sz="3600" dirty="0" smtClean="0"/>
              <a:t>Summary</a:t>
            </a:r>
          </a:p>
          <a:p>
            <a:pPr marL="342900" indent="-342900">
              <a:buSzPct val="90000"/>
            </a:pPr>
            <a:r>
              <a:rPr lang="en-US" altLang="en-US" sz="2800" dirty="0" smtClean="0"/>
              <a:t>Schottky diodes are metal-semiconductor junction diodes</a:t>
            </a:r>
          </a:p>
          <a:p>
            <a:pPr marL="342900" indent="-342900">
              <a:buSzPct val="90000"/>
            </a:pPr>
            <a:r>
              <a:rPr lang="en-US" altLang="en-US" sz="2800" dirty="0" smtClean="0"/>
              <a:t>Used as RF/microwave detectors and mixers</a:t>
            </a:r>
          </a:p>
          <a:p>
            <a:pPr marL="342900" indent="-342900">
              <a:buSzPct val="90000"/>
            </a:pPr>
            <a:r>
              <a:rPr lang="en-US" altLang="en-US" sz="2800" dirty="0" smtClean="0"/>
              <a:t>MACOM Schottky diodes are made from Si or GaAs</a:t>
            </a:r>
          </a:p>
          <a:p>
            <a:pPr marL="342900" indent="-342900">
              <a:buSzPct val="90000"/>
            </a:pPr>
            <a:r>
              <a:rPr lang="en-US" altLang="en-US" sz="2800" dirty="0" smtClean="0"/>
              <a:t>Barrier height is proportional to forward voltage </a:t>
            </a:r>
          </a:p>
          <a:p>
            <a:pPr marL="742950" lvl="1" indent="-285750"/>
            <a:r>
              <a:rPr lang="en-US" altLang="en-US" sz="2400" dirty="0" smtClean="0"/>
              <a:t>Si: 4 barrier heights available</a:t>
            </a:r>
          </a:p>
          <a:p>
            <a:pPr marL="742950" lvl="1" indent="-285750"/>
            <a:r>
              <a:rPr lang="en-US" altLang="en-US" sz="2400" dirty="0" smtClean="0"/>
              <a:t>GaAs: 1 barrier height available</a:t>
            </a:r>
          </a:p>
        </p:txBody>
      </p:sp>
    </p:spTree>
    <p:extLst>
      <p:ext uri="{BB962C8B-B14F-4D97-AF65-F5344CB8AC3E}">
        <p14:creationId xmlns:p14="http://schemas.microsoft.com/office/powerpoint/2010/main" val="11803523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8554" y="1844824"/>
            <a:ext cx="7315200" cy="640080"/>
          </a:xfrm>
        </p:spPr>
        <p:txBody>
          <a:bodyPr>
            <a:noAutofit/>
          </a:bodyPr>
          <a:lstStyle/>
          <a:p>
            <a:r>
              <a:rPr lang="en-US" sz="3200" dirty="0" smtClean="0"/>
              <a:t>Schottky Diodes</a:t>
            </a:r>
            <a:endParaRPr lang="en-US" sz="3200" dirty="0"/>
          </a:p>
        </p:txBody>
      </p:sp>
      <p:sp>
        <p:nvSpPr>
          <p:cNvPr id="6" name="Text Placeholder 5"/>
          <p:cNvSpPr>
            <a:spLocks noGrp="1"/>
          </p:cNvSpPr>
          <p:nvPr>
            <p:ph type="body" sz="quarter" idx="10"/>
          </p:nvPr>
        </p:nvSpPr>
        <p:spPr/>
        <p:txBody>
          <a:bodyPr/>
          <a:lstStyle/>
          <a:p>
            <a:r>
              <a:rPr lang="en-US" dirty="0"/>
              <a:t>Si and GaAs</a:t>
            </a:r>
            <a:br>
              <a:rPr lang="en-US" dirty="0"/>
            </a:br>
            <a:r>
              <a:rPr lang="en-US" dirty="0"/>
              <a:t>Frequency Mixing</a:t>
            </a:r>
            <a:br>
              <a:rPr lang="en-US" dirty="0"/>
            </a:br>
            <a:r>
              <a:rPr lang="en-US" dirty="0"/>
              <a:t>Detection</a:t>
            </a:r>
          </a:p>
          <a:p>
            <a:endParaRPr lang="en-US" dirty="0"/>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6174556" y="4796416"/>
            <a:ext cx="2591438" cy="1184657"/>
          </a:xfrm>
          <a:prstGeom prst="rect">
            <a:avLst/>
          </a:prstGeom>
          <a:noFill/>
          <a:ln w="9525">
            <a:noFill/>
            <a:miter lim="800000"/>
            <a:headEnd/>
            <a:tailEnd/>
          </a:ln>
        </p:spPr>
      </p:pic>
      <p:pic>
        <p:nvPicPr>
          <p:cNvPr id="3" name="Picture 2"/>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676700" y="4655923"/>
            <a:ext cx="1281037" cy="1281037"/>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911058" y="4563013"/>
            <a:ext cx="2529162" cy="1462171"/>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472190" y="4909541"/>
            <a:ext cx="1252915" cy="769116"/>
          </a:xfrm>
          <a:prstGeom prst="rect">
            <a:avLst/>
          </a:prstGeom>
        </p:spPr>
      </p:pic>
    </p:spTree>
    <p:extLst>
      <p:ext uri="{BB962C8B-B14F-4D97-AF65-F5344CB8AC3E}">
        <p14:creationId xmlns:p14="http://schemas.microsoft.com/office/powerpoint/2010/main" val="39460834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4390" y="333269"/>
            <a:ext cx="6983413" cy="544512"/>
          </a:xfrm>
        </p:spPr>
        <p:txBody>
          <a:bodyPr/>
          <a:lstStyle/>
          <a:p>
            <a:r>
              <a:rPr lang="en-US" dirty="0" smtClean="0"/>
              <a:t>GaAs Flip Chip Schottky Diodes</a:t>
            </a:r>
            <a:endParaRPr lang="en-US" dirty="0"/>
          </a:p>
        </p:txBody>
      </p:sp>
      <p:sp>
        <p:nvSpPr>
          <p:cNvPr id="6" name="TextBox 5"/>
          <p:cNvSpPr txBox="1"/>
          <p:nvPr/>
        </p:nvSpPr>
        <p:spPr>
          <a:xfrm>
            <a:off x="238729" y="1785984"/>
            <a:ext cx="3911929" cy="4607415"/>
          </a:xfrm>
          <a:prstGeom prst="rect">
            <a:avLst/>
          </a:prstGeom>
          <a:noFill/>
        </p:spPr>
        <p:txBody>
          <a:bodyPr wrap="square" rtlCol="0">
            <a:spAutoFit/>
          </a:bodyPr>
          <a:lstStyle/>
          <a:p>
            <a:pPr algn="l"/>
            <a:r>
              <a:rPr lang="en-US" b="1" dirty="0" smtClean="0"/>
              <a:t>Features</a:t>
            </a:r>
          </a:p>
          <a:p>
            <a:pPr marL="342900" indent="-342900" algn="l">
              <a:buFont typeface="Arial" panose="020B0604020202020204" pitchFamily="34" charset="0"/>
              <a:buChar char="•"/>
            </a:pPr>
            <a:r>
              <a:rPr lang="en-US" dirty="0" smtClean="0"/>
              <a:t>Available As:</a:t>
            </a:r>
          </a:p>
          <a:p>
            <a:pPr marL="800100" lvl="1" indent="-342900" algn="l">
              <a:buFont typeface="Arial" panose="020B0604020202020204" pitchFamily="34" charset="0"/>
              <a:buChar char="•"/>
            </a:pPr>
            <a:r>
              <a:rPr lang="en-US" dirty="0" smtClean="0"/>
              <a:t>Single Junction </a:t>
            </a:r>
          </a:p>
          <a:p>
            <a:pPr marL="800100" lvl="1" indent="-342900" algn="l">
              <a:buFont typeface="Arial" panose="020B0604020202020204" pitchFamily="34" charset="0"/>
              <a:buChar char="•"/>
            </a:pPr>
            <a:r>
              <a:rPr lang="en-US" dirty="0" smtClean="0"/>
              <a:t>Series Tees</a:t>
            </a:r>
          </a:p>
          <a:p>
            <a:pPr marL="800100" lvl="1" indent="-342900" algn="l">
              <a:buFont typeface="Arial" panose="020B0604020202020204" pitchFamily="34" charset="0"/>
              <a:buChar char="•"/>
            </a:pPr>
            <a:r>
              <a:rPr lang="en-US" dirty="0" smtClean="0"/>
              <a:t>Reverse Series Tees </a:t>
            </a:r>
          </a:p>
          <a:p>
            <a:pPr marL="800100" lvl="1" indent="-342900" algn="l">
              <a:buFont typeface="Arial" panose="020B0604020202020204" pitchFamily="34" charset="0"/>
              <a:buChar char="•"/>
            </a:pPr>
            <a:r>
              <a:rPr lang="en-US" dirty="0" smtClean="0"/>
              <a:t>Antiparallel </a:t>
            </a:r>
            <a:r>
              <a:rPr lang="en-US" dirty="0"/>
              <a:t>P</a:t>
            </a:r>
            <a:r>
              <a:rPr lang="en-US" dirty="0" smtClean="0"/>
              <a:t>airs</a:t>
            </a:r>
          </a:p>
          <a:p>
            <a:pPr marL="800100" lvl="1" indent="-342900" algn="l">
              <a:buFont typeface="Arial" panose="020B0604020202020204" pitchFamily="34" charset="0"/>
              <a:buChar char="•"/>
            </a:pPr>
            <a:r>
              <a:rPr lang="en-US" dirty="0" smtClean="0"/>
              <a:t>Unconnected Pairs</a:t>
            </a:r>
          </a:p>
          <a:p>
            <a:pPr marL="342900" indent="-342900" algn="l">
              <a:buFont typeface="Arial" panose="020B0604020202020204" pitchFamily="34" charset="0"/>
              <a:buChar char="•"/>
            </a:pPr>
            <a:r>
              <a:rPr lang="en-US" dirty="0" smtClean="0"/>
              <a:t>Low Series Resistance</a:t>
            </a:r>
          </a:p>
          <a:p>
            <a:pPr marL="342900" indent="-342900" algn="l">
              <a:buFont typeface="Arial" panose="020B0604020202020204" pitchFamily="34" charset="0"/>
              <a:buChar char="•"/>
            </a:pPr>
            <a:r>
              <a:rPr lang="en-US" dirty="0" smtClean="0"/>
              <a:t>Low Junction Capacitance</a:t>
            </a:r>
            <a:endParaRPr lang="en-US" dirty="0"/>
          </a:p>
          <a:p>
            <a:pPr algn="l"/>
            <a:endParaRPr lang="en-US" dirty="0" smtClean="0"/>
          </a:p>
          <a:p>
            <a:pPr algn="l"/>
            <a:r>
              <a:rPr lang="en-US" b="1" dirty="0" smtClean="0"/>
              <a:t>Applications</a:t>
            </a:r>
          </a:p>
          <a:p>
            <a:pPr marL="285750" indent="-285750" algn="l">
              <a:buFont typeface="Arial" panose="020B0604020202020204" pitchFamily="34" charset="0"/>
              <a:buChar char="•"/>
            </a:pPr>
            <a:r>
              <a:rPr lang="en-US" dirty="0" smtClean="0"/>
              <a:t>Mixer and Detector Applications</a:t>
            </a:r>
          </a:p>
        </p:txBody>
      </p:sp>
      <p:pic>
        <p:nvPicPr>
          <p:cNvPr id="5" name="Picture 4"/>
          <p:cNvPicPr>
            <a:picLocks noChangeAspect="1"/>
          </p:cNvPicPr>
          <p:nvPr/>
        </p:nvPicPr>
        <p:blipFill>
          <a:blip r:embed="rId3"/>
          <a:stretch>
            <a:fillRect/>
          </a:stretch>
        </p:blipFill>
        <p:spPr>
          <a:xfrm>
            <a:off x="4624464" y="1441453"/>
            <a:ext cx="1561183" cy="1713157"/>
          </a:xfrm>
          <a:prstGeom prst="rect">
            <a:avLst/>
          </a:prstGeom>
        </p:spPr>
      </p:pic>
      <p:pic>
        <p:nvPicPr>
          <p:cNvPr id="8" name="Picture 7"/>
          <p:cNvPicPr>
            <a:picLocks noChangeAspect="1"/>
          </p:cNvPicPr>
          <p:nvPr/>
        </p:nvPicPr>
        <p:blipFill>
          <a:blip r:embed="rId4"/>
          <a:stretch>
            <a:fillRect/>
          </a:stretch>
        </p:blipFill>
        <p:spPr>
          <a:xfrm>
            <a:off x="7220651" y="2659328"/>
            <a:ext cx="1035843" cy="1339841"/>
          </a:xfrm>
          <a:prstGeom prst="rect">
            <a:avLst/>
          </a:prstGeom>
        </p:spPr>
      </p:pic>
      <p:pic>
        <p:nvPicPr>
          <p:cNvPr id="9" name="Picture 8"/>
          <p:cNvPicPr>
            <a:picLocks noChangeAspect="1"/>
          </p:cNvPicPr>
          <p:nvPr/>
        </p:nvPicPr>
        <p:blipFill>
          <a:blip r:embed="rId5"/>
          <a:stretch>
            <a:fillRect/>
          </a:stretch>
        </p:blipFill>
        <p:spPr>
          <a:xfrm>
            <a:off x="5133608" y="4255778"/>
            <a:ext cx="1160632" cy="1512733"/>
          </a:xfrm>
          <a:prstGeom prst="rect">
            <a:avLst/>
          </a:prstGeom>
        </p:spPr>
      </p:pic>
    </p:spTree>
    <p:extLst>
      <p:ext uri="{BB962C8B-B14F-4D97-AF65-F5344CB8AC3E}">
        <p14:creationId xmlns:p14="http://schemas.microsoft.com/office/powerpoint/2010/main" val="31483471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8291" y="323842"/>
            <a:ext cx="6015801" cy="583258"/>
          </a:xfrm>
        </p:spPr>
        <p:txBody>
          <a:bodyPr>
            <a:normAutofit/>
          </a:bodyPr>
          <a:lstStyle/>
          <a:p>
            <a:r>
              <a:rPr lang="en-US" dirty="0" smtClean="0"/>
              <a:t>GaAs Beamlead</a:t>
            </a:r>
            <a:r>
              <a:rPr lang="en-US" dirty="0"/>
              <a:t> </a:t>
            </a:r>
            <a:r>
              <a:rPr lang="en-US" dirty="0" smtClean="0"/>
              <a:t>Schottky Diodes</a:t>
            </a:r>
            <a:endParaRPr lang="en-US" dirty="0"/>
          </a:p>
        </p:txBody>
      </p:sp>
      <p:pic>
        <p:nvPicPr>
          <p:cNvPr id="5" name="Picture 4"/>
          <p:cNvPicPr>
            <a:picLocks noChangeAspect="1"/>
          </p:cNvPicPr>
          <p:nvPr/>
        </p:nvPicPr>
        <p:blipFill>
          <a:blip r:embed="rId3"/>
          <a:stretch>
            <a:fillRect/>
          </a:stretch>
        </p:blipFill>
        <p:spPr>
          <a:xfrm>
            <a:off x="5518896" y="2066127"/>
            <a:ext cx="2283000" cy="1877424"/>
          </a:xfrm>
          <a:prstGeom prst="rect">
            <a:avLst/>
          </a:prstGeom>
        </p:spPr>
      </p:pic>
      <p:sp>
        <p:nvSpPr>
          <p:cNvPr id="6" name="TextBox 5"/>
          <p:cNvSpPr txBox="1"/>
          <p:nvPr/>
        </p:nvSpPr>
        <p:spPr>
          <a:xfrm>
            <a:off x="577227" y="1273013"/>
            <a:ext cx="4284208" cy="5244513"/>
          </a:xfrm>
          <a:prstGeom prst="rect">
            <a:avLst/>
          </a:prstGeom>
          <a:noFill/>
        </p:spPr>
        <p:txBody>
          <a:bodyPr wrap="square" rtlCol="0">
            <a:spAutoFit/>
          </a:bodyPr>
          <a:lstStyle/>
          <a:p>
            <a:pPr algn="l"/>
            <a:r>
              <a:rPr lang="en-US" b="1" dirty="0" smtClean="0"/>
              <a:t>Features</a:t>
            </a:r>
          </a:p>
          <a:p>
            <a:pPr marL="285750" indent="-285750" algn="l">
              <a:buFont typeface="Arial" panose="020B0604020202020204" pitchFamily="34" charset="0"/>
              <a:buChar char="•"/>
            </a:pPr>
            <a:r>
              <a:rPr lang="en-US" dirty="0" smtClean="0"/>
              <a:t>Single Barrier Height</a:t>
            </a:r>
          </a:p>
          <a:p>
            <a:pPr marL="285750" indent="-285750" algn="l">
              <a:buFont typeface="Arial" panose="020B0604020202020204" pitchFamily="34" charset="0"/>
              <a:buChar char="•"/>
            </a:pPr>
            <a:r>
              <a:rPr lang="en-US" dirty="0" smtClean="0"/>
              <a:t>Frequency Range: DC – 40 GHz</a:t>
            </a:r>
          </a:p>
          <a:p>
            <a:pPr marL="285750" indent="-285750" algn="l">
              <a:buFont typeface="Arial" panose="020B0604020202020204" pitchFamily="34" charset="0"/>
              <a:buChar char="•"/>
            </a:pPr>
            <a:r>
              <a:rPr lang="en-US" dirty="0" smtClean="0"/>
              <a:t>Available as</a:t>
            </a:r>
          </a:p>
          <a:p>
            <a:pPr marL="742950" lvl="1" indent="-285750" algn="l">
              <a:buFont typeface="Arial" panose="020B0604020202020204" pitchFamily="34" charset="0"/>
              <a:buChar char="•"/>
            </a:pPr>
            <a:r>
              <a:rPr lang="en-US" dirty="0" smtClean="0"/>
              <a:t>Single Junction</a:t>
            </a:r>
          </a:p>
          <a:p>
            <a:pPr marL="742950" lvl="1" indent="-285750" algn="l">
              <a:buFont typeface="Arial" panose="020B0604020202020204" pitchFamily="34" charset="0"/>
              <a:buChar char="•"/>
            </a:pPr>
            <a:r>
              <a:rPr lang="en-US" dirty="0" smtClean="0"/>
              <a:t>2-, 4- and 6-Junction Series Tees</a:t>
            </a:r>
          </a:p>
          <a:p>
            <a:pPr marL="742950" lvl="1" indent="-285750" algn="l">
              <a:buFont typeface="Arial" panose="020B0604020202020204" pitchFamily="34" charset="0"/>
              <a:buChar char="•"/>
            </a:pPr>
            <a:r>
              <a:rPr lang="en-US" dirty="0" smtClean="0"/>
              <a:t>Antiparallel Pairs</a:t>
            </a:r>
          </a:p>
          <a:p>
            <a:pPr marL="742950" lvl="1" indent="-285750" algn="l">
              <a:buFont typeface="Arial" panose="020B0604020202020204" pitchFamily="34" charset="0"/>
              <a:buChar char="•"/>
            </a:pPr>
            <a:r>
              <a:rPr lang="en-US" dirty="0" smtClean="0"/>
              <a:t>4-, 8- and 12-Junction Ring Quad</a:t>
            </a:r>
            <a:endParaRPr lang="en-US" dirty="0"/>
          </a:p>
          <a:p>
            <a:pPr marL="342900" indent="-342900" algn="l">
              <a:buFont typeface="Arial" panose="020B0604020202020204" pitchFamily="34" charset="0"/>
              <a:buChar char="•"/>
            </a:pPr>
            <a:r>
              <a:rPr lang="en-US" dirty="0" smtClean="0"/>
              <a:t>Low </a:t>
            </a:r>
            <a:r>
              <a:rPr lang="en-US" dirty="0"/>
              <a:t>Series </a:t>
            </a:r>
            <a:r>
              <a:rPr lang="en-US" dirty="0" smtClean="0"/>
              <a:t>Resistance</a:t>
            </a:r>
            <a:endParaRPr lang="en-US" dirty="0"/>
          </a:p>
          <a:p>
            <a:pPr marL="342900" indent="-342900" algn="l">
              <a:buFont typeface="Arial" panose="020B0604020202020204" pitchFamily="34" charset="0"/>
              <a:buChar char="•"/>
            </a:pPr>
            <a:r>
              <a:rPr lang="en-US" dirty="0"/>
              <a:t>Low Junction Capacitance</a:t>
            </a:r>
          </a:p>
          <a:p>
            <a:pPr marL="742950" lvl="1" indent="-285750" algn="l">
              <a:buFont typeface="Arial" panose="020B0604020202020204" pitchFamily="34" charset="0"/>
              <a:buChar char="•"/>
            </a:pPr>
            <a:endParaRPr lang="en-US" dirty="0" smtClean="0"/>
          </a:p>
          <a:p>
            <a:pPr algn="l"/>
            <a:r>
              <a:rPr lang="en-US" b="1" dirty="0" smtClean="0"/>
              <a:t>Applications</a:t>
            </a:r>
          </a:p>
          <a:p>
            <a:pPr marL="285750" indent="-285750" algn="l">
              <a:buFont typeface="Arial" panose="020B0604020202020204" pitchFamily="34" charset="0"/>
              <a:buChar char="•"/>
            </a:pPr>
            <a:r>
              <a:rPr lang="en-US" dirty="0" smtClean="0"/>
              <a:t>Mixer and Detector Applications</a:t>
            </a:r>
          </a:p>
        </p:txBody>
      </p:sp>
      <p:pic>
        <p:nvPicPr>
          <p:cNvPr id="8" name="Picture 5"/>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rot="633077">
            <a:off x="6200463" y="4631297"/>
            <a:ext cx="1073039" cy="387091"/>
          </a:xfrm>
          <a:prstGeom prst="rect">
            <a:avLst/>
          </a:prstGeom>
          <a:noFill/>
          <a:ln w="9525">
            <a:noFill/>
            <a:miter lim="800000"/>
            <a:headEnd/>
            <a:tailEnd/>
          </a:ln>
        </p:spPr>
      </p:pic>
    </p:spTree>
    <p:extLst>
      <p:ext uri="{BB962C8B-B14F-4D97-AF65-F5344CB8AC3E}">
        <p14:creationId xmlns:p14="http://schemas.microsoft.com/office/powerpoint/2010/main" val="27061128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idx="4294967295"/>
          </p:nvPr>
        </p:nvSpPr>
        <p:spPr>
          <a:xfrm>
            <a:off x="151113" y="271955"/>
            <a:ext cx="6540500" cy="547688"/>
          </a:xfrm>
        </p:spPr>
        <p:txBody>
          <a:bodyPr/>
          <a:lstStyle/>
          <a:p>
            <a:r>
              <a:rPr lang="en-US" dirty="0"/>
              <a:t>HMIC</a:t>
            </a:r>
            <a:r>
              <a:rPr lang="en-US" baseline="42000" dirty="0"/>
              <a:t>TM</a:t>
            </a:r>
            <a:r>
              <a:rPr lang="en-US" dirty="0"/>
              <a:t> Discrete </a:t>
            </a:r>
            <a:r>
              <a:rPr lang="en-US" dirty="0" smtClean="0"/>
              <a:t>Schottky Diodes</a:t>
            </a:r>
            <a:endParaRPr lang="en-US" dirty="0"/>
          </a:p>
        </p:txBody>
      </p:sp>
      <p:sp>
        <p:nvSpPr>
          <p:cNvPr id="50454" name="Oval 1302">
            <a:hlinkClick r:id="" action="ppaction://noaction"/>
          </p:cNvPr>
          <p:cNvSpPr>
            <a:spLocks noChangeArrowheads="1"/>
          </p:cNvSpPr>
          <p:nvPr/>
        </p:nvSpPr>
        <p:spPr bwMode="auto">
          <a:xfrm>
            <a:off x="7535863" y="0"/>
            <a:ext cx="1608137" cy="903288"/>
          </a:xfrm>
          <a:prstGeom prst="ellipse">
            <a:avLst/>
          </a:prstGeom>
          <a:solidFill>
            <a:schemeClr val="bg1">
              <a:alpha val="0"/>
            </a:schemeClr>
          </a:solidFill>
          <a:ln w="9525" algn="ctr">
            <a:noFill/>
            <a:round/>
            <a:headEnd/>
            <a:tailEnd/>
          </a:ln>
          <a:effectLst/>
        </p:spPr>
        <p:txBody>
          <a:bodyPr wrap="none" anchor="ctr"/>
          <a:lstStyle/>
          <a:p>
            <a:endParaRPr lang="en-US" dirty="0"/>
          </a:p>
        </p:txBody>
      </p:sp>
      <p:pic>
        <p:nvPicPr>
          <p:cNvPr id="50452" name="Picture 1300"/>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rot="-1999023">
            <a:off x="7372212" y="2409281"/>
            <a:ext cx="998537" cy="384175"/>
          </a:xfrm>
          <a:prstGeom prst="rect">
            <a:avLst/>
          </a:prstGeom>
          <a:noFill/>
          <a:ln w="9525" algn="ctr">
            <a:pattFill prst="pct25">
              <a:fgClr>
                <a:schemeClr val="tx1"/>
              </a:fgClr>
              <a:bgClr>
                <a:schemeClr val="accent1"/>
              </a:bgClr>
            </a:pattFill>
            <a:miter lim="800000"/>
            <a:headEnd/>
            <a:tailEnd/>
          </a:ln>
          <a:effectLst/>
        </p:spPr>
      </p:pic>
      <p:pic>
        <p:nvPicPr>
          <p:cNvPr id="50455" name="Picture 1303"/>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rot="-5726158">
            <a:off x="6488728" y="2526706"/>
            <a:ext cx="998537" cy="384175"/>
          </a:xfrm>
          <a:prstGeom prst="rect">
            <a:avLst/>
          </a:prstGeom>
          <a:noFill/>
          <a:ln w="9525" algn="ctr">
            <a:pattFill prst="pct25">
              <a:fgClr>
                <a:schemeClr val="tx1"/>
              </a:fgClr>
              <a:bgClr>
                <a:schemeClr val="accent1"/>
              </a:bgClr>
            </a:pattFill>
            <a:miter lim="800000"/>
            <a:headEnd/>
            <a:tailEnd/>
          </a:ln>
          <a:effectLst/>
        </p:spPr>
      </p:pic>
      <p:pic>
        <p:nvPicPr>
          <p:cNvPr id="50456" name="Picture 1304"/>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rot="11126797">
            <a:off x="6756590" y="3454151"/>
            <a:ext cx="998538" cy="384175"/>
          </a:xfrm>
          <a:prstGeom prst="rect">
            <a:avLst/>
          </a:prstGeom>
          <a:noFill/>
          <a:ln w="9525" algn="ctr">
            <a:pattFill prst="pct25">
              <a:fgClr>
                <a:schemeClr val="tx1"/>
              </a:fgClr>
              <a:bgClr>
                <a:schemeClr val="accent1"/>
              </a:bgClr>
            </a:pattFill>
            <a:miter lim="800000"/>
            <a:headEnd/>
            <a:tailEnd/>
          </a:ln>
          <a:effectLst/>
        </p:spPr>
      </p:pic>
      <p:pic>
        <p:nvPicPr>
          <p:cNvPr id="50457" name="Picture 1305"/>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rot="14543893">
            <a:off x="5662018" y="2426516"/>
            <a:ext cx="998538" cy="384175"/>
          </a:xfrm>
          <a:prstGeom prst="rect">
            <a:avLst/>
          </a:prstGeom>
          <a:noFill/>
          <a:ln w="9525" algn="ctr">
            <a:pattFill prst="pct25">
              <a:fgClr>
                <a:schemeClr val="tx1"/>
              </a:fgClr>
              <a:bgClr>
                <a:schemeClr val="accent1"/>
              </a:bgClr>
            </a:pattFill>
            <a:miter lim="800000"/>
            <a:headEnd/>
            <a:tailEnd/>
          </a:ln>
          <a:effectLst/>
        </p:spPr>
      </p:pic>
      <p:sp>
        <p:nvSpPr>
          <p:cNvPr id="10" name="TextBox 9"/>
          <p:cNvSpPr txBox="1"/>
          <p:nvPr/>
        </p:nvSpPr>
        <p:spPr>
          <a:xfrm>
            <a:off x="414779" y="1395167"/>
            <a:ext cx="4677174" cy="5106013"/>
          </a:xfrm>
          <a:prstGeom prst="rect">
            <a:avLst/>
          </a:prstGeom>
          <a:noFill/>
        </p:spPr>
        <p:txBody>
          <a:bodyPr wrap="square" rtlCol="0">
            <a:spAutoFit/>
          </a:bodyPr>
          <a:lstStyle/>
          <a:p>
            <a:pPr algn="l"/>
            <a:r>
              <a:rPr lang="en-US" b="1" dirty="0" smtClean="0"/>
              <a:t>Features</a:t>
            </a:r>
          </a:p>
          <a:p>
            <a:pPr marL="285750" indent="-285750" algn="l">
              <a:buFont typeface="Arial" panose="020B0604020202020204" pitchFamily="34" charset="0"/>
              <a:buChar char="•"/>
            </a:pPr>
            <a:r>
              <a:rPr lang="en-US" dirty="0" smtClean="0"/>
              <a:t>Surmount Single-Junction Si Schottky diodes</a:t>
            </a:r>
          </a:p>
          <a:p>
            <a:pPr marL="285750" indent="-285750" algn="l">
              <a:buFont typeface="Arial" panose="020B0604020202020204" pitchFamily="34" charset="0"/>
              <a:buChar char="•"/>
            </a:pPr>
            <a:r>
              <a:rPr lang="en-US" dirty="0" smtClean="0"/>
              <a:t>Low, Medium and High Barrier Heights Available</a:t>
            </a:r>
          </a:p>
          <a:p>
            <a:pPr marL="285750" indent="-285750" algn="l">
              <a:buFont typeface="Arial" panose="020B0604020202020204" pitchFamily="34" charset="0"/>
              <a:buChar char="•"/>
            </a:pPr>
            <a:r>
              <a:rPr lang="en-US" dirty="0" smtClean="0"/>
              <a:t>Frequency Range: DC – 30 GHz</a:t>
            </a:r>
          </a:p>
          <a:p>
            <a:pPr marL="285750" indent="-285750" algn="l">
              <a:buFont typeface="Arial" panose="020B0604020202020204" pitchFamily="34" charset="0"/>
              <a:buChar char="•"/>
            </a:pPr>
            <a:r>
              <a:rPr lang="en-US" dirty="0" smtClean="0"/>
              <a:t>Very Low Series Resistance</a:t>
            </a:r>
          </a:p>
          <a:p>
            <a:pPr marL="285750" indent="-285750" algn="l">
              <a:buFont typeface="Arial" panose="020B0604020202020204" pitchFamily="34" charset="0"/>
              <a:buChar char="•"/>
            </a:pPr>
            <a:r>
              <a:rPr lang="en-US" dirty="0" smtClean="0"/>
              <a:t>Very Low Junction Capacitance</a:t>
            </a:r>
          </a:p>
          <a:p>
            <a:pPr marL="285750" indent="-285750" algn="l">
              <a:buFont typeface="Arial" panose="020B0604020202020204" pitchFamily="34" charset="0"/>
              <a:buChar char="•"/>
            </a:pPr>
            <a:r>
              <a:rPr lang="en-US" dirty="0" smtClean="0"/>
              <a:t>Solderable – No Wire Bonds Required</a:t>
            </a:r>
          </a:p>
          <a:p>
            <a:pPr marL="285750" indent="-285750" algn="l">
              <a:buFont typeface="Arial" panose="020B0604020202020204" pitchFamily="34" charset="0"/>
              <a:buChar char="•"/>
            </a:pPr>
            <a:endParaRPr lang="en-US" dirty="0"/>
          </a:p>
          <a:p>
            <a:pPr algn="l"/>
            <a:r>
              <a:rPr lang="en-US" b="1" dirty="0" smtClean="0"/>
              <a:t>Applications</a:t>
            </a:r>
          </a:p>
          <a:p>
            <a:pPr marL="285750" indent="-285750" algn="l">
              <a:buFont typeface="Arial" panose="020B0604020202020204" pitchFamily="34" charset="0"/>
              <a:buChar char="•"/>
            </a:pPr>
            <a:r>
              <a:rPr lang="en-US" dirty="0" smtClean="0"/>
              <a:t>Mixers and Detectors</a:t>
            </a:r>
          </a:p>
          <a:p>
            <a:pPr marL="285750" indent="-285750" algn="l">
              <a:buFont typeface="Arial" panose="020B0604020202020204" pitchFamily="34" charset="0"/>
              <a:buChar char="•"/>
            </a:pPr>
            <a:r>
              <a:rPr lang="en-US" dirty="0" smtClean="0"/>
              <a:t>Receiver Protector Limiters</a:t>
            </a:r>
          </a:p>
          <a:p>
            <a:pPr algn="l"/>
            <a:endParaRPr lang="en-US" dirty="0" smtClean="0"/>
          </a:p>
        </p:txBody>
      </p:sp>
    </p:spTree>
    <p:extLst>
      <p:ext uri="{BB962C8B-B14F-4D97-AF65-F5344CB8AC3E}">
        <p14:creationId xmlns:p14="http://schemas.microsoft.com/office/powerpoint/2010/main" val="412388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a:xfrm>
            <a:off x="1188554" y="2307865"/>
            <a:ext cx="7315200" cy="640080"/>
          </a:xfrm>
        </p:spPr>
        <p:txBody>
          <a:bodyPr/>
          <a:lstStyle/>
          <a:p>
            <a:r>
              <a:rPr lang="en-US" sz="4000" dirty="0" smtClean="0"/>
              <a:t>Thank You</a:t>
            </a:r>
            <a:endParaRPr lang="en-US" sz="4000" dirty="0"/>
          </a:p>
        </p:txBody>
      </p:sp>
      <p:sp>
        <p:nvSpPr>
          <p:cNvPr id="15" name="TextBox 14"/>
          <p:cNvSpPr txBox="1"/>
          <p:nvPr/>
        </p:nvSpPr>
        <p:spPr>
          <a:xfrm>
            <a:off x="1660880" y="5543792"/>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1761121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0"/>
  <p:tag name="ISPRING_RESOURCE_PATHS_HASH_2" val="754e257bf4e67b6eda8b5226aec68fcba58438"/>
  <p:tag name="MMPROD_UIDATA" val="&lt;database version=&quot;11.0&quot;&gt;&lt;object type=&quot;1&quot; unique_id=&quot;10001&quot;&gt;&lt;object type=&quot;8&quot; unique_id=&quot;10222&quot;&gt;&lt;/object&gt;&lt;object type=&quot;2&quot; unique_id=&quot;10223&quot;&gt;&lt;object type=&quot;3&quot; unique_id=&quot;33884&quot;&gt;&lt;property id=&quot;20148&quot; value=&quot;5&quot;/&gt;&lt;property id=&quot;20300&quot; value=&quot;Slide 1 - &amp;quot;Click to Edit MACOM Title Slide  Arial Black 24pt&amp;quot;&quot;/&gt;&lt;property id=&quot;20307&quot; value=&quot;484&quot;/&gt;&lt;/object&gt;&lt;object type=&quot;3&quot; unique_id=&quot;33885&quot;&gt;&lt;property id=&quot;20148&quot; value=&quot;5&quot;/&gt;&lt;property id=&quot;20300&quot; value=&quot;Slide 2 - &amp;quot;Layout: Section Divider&amp;quot;&quot;/&gt;&lt;property id=&quot;20307&quot; value=&quot;503&quot;/&gt;&lt;/object&gt;&lt;object type=&quot;3&quot; unique_id=&quot;33886&quot;&gt;&lt;property id=&quot;20148&quot; value=&quot;5&quot;/&gt;&lt;property id=&quot;20300&quot; value=&quot;Slide 3 - &amp;quot;Title and Content, Arial Black 24pt&amp;quot;&quot;/&gt;&lt;property id=&quot;20307&quot; value=&quot;489&quot;/&gt;&lt;/object&gt;&lt;object type=&quot;3&quot; unique_id=&quot;33887&quot;&gt;&lt;property id=&quot;20148&quot; value=&quot;5&quot;/&gt;&lt;property id=&quot;20300&quot; value=&quot;Slide 4 - &amp;quot;Title and Content with Subhead&amp;quot;&quot;/&gt;&lt;property id=&quot;20307&quot; value=&quot;504&quot;/&gt;&lt;/object&gt;&lt;object type=&quot;3&quot; unique_id=&quot;33888&quot;&gt;&lt;property id=&quot;20148&quot; value=&quot;5&quot;/&gt;&lt;property id=&quot;20300&quot; value=&quot;Slide 5 - &amp;quot;Layout: Two Content, No subhead&amp;quot;&quot;/&gt;&lt;property id=&quot;20307&quot; value=&quot;490&quot;/&gt;&lt;/object&gt;&lt;object type=&quot;3&quot; unique_id=&quot;33889&quot;&gt;&lt;property id=&quot;20148&quot; value=&quot;5&quot;/&gt;&lt;property id=&quot;20300&quot; value=&quot;Slide 6 - &amp;quot;Layout: Two Content, with Subhead&amp;quot;&quot;/&gt;&lt;property id=&quot;20307&quot; value=&quot;505&quot;/&gt;&lt;/object&gt;&lt;object type=&quot;3&quot; unique_id=&quot;33890&quot;&gt;&lt;property id=&quot;20148&quot; value=&quot;5&quot;/&gt;&lt;property id=&quot;20300&quot; value=&quot;Slide 7 - &amp;quot;Layout: Comparison&amp;quot;&quot;/&gt;&lt;property id=&quot;20307&quot; value=&quot;506&quot;/&gt;&lt;/object&gt;&lt;object type=&quot;3&quot; unique_id=&quot;33891&quot;&gt;&lt;property id=&quot;20148&quot; value=&quot;5&quot;/&gt;&lt;property id=&quot;20300&quot; value=&quot;Slide 8 - &amp;quot;Color Scheme&amp;quot;&quot;/&gt;&lt;property id=&quot;20307&quot; value=&quot;491&quot;/&gt;&lt;/object&gt;&lt;object type=&quot;3&quot; unique_id=&quot;33892&quot;&gt;&lt;property id=&quot;20148&quot; value=&quot;5&quot;/&gt;&lt;property id=&quot;20300&quot; value=&quot;Slide 9 - &amp;quot;Default Settings&amp;quot;&quot;/&gt;&lt;property id=&quot;20307&quot; value=&quot;493&quot;/&gt;&lt;/object&gt;&lt;object type=&quot;3&quot; unique_id=&quot;33893&quot;&gt;&lt;property id=&quot;20148&quot; value=&quot;5&quot;/&gt;&lt;property id=&quot;20300&quot; value=&quot;Slide 10 - &amp;quot;Default Table Style&amp;quot;&quot;/&gt;&lt;property id=&quot;20307&quot; value=&quot;494&quot;/&gt;&lt;/object&gt;&lt;object type=&quot;3&quot; unique_id=&quot;33894&quot;&gt;&lt;property id=&quot;20148&quot; value=&quot;5&quot;/&gt;&lt;property id=&quot;20300&quot; value=&quot;Slide 11 - &amp;quot;Column Chart Sample&amp;quot;&quot;/&gt;&lt;property id=&quot;20307&quot; value=&quot;496&quot;/&gt;&lt;/object&gt;&lt;object type=&quot;3&quot; unique_id=&quot;33895&quot;&gt;&lt;property id=&quot;20148&quot; value=&quot;5&quot;/&gt;&lt;property id=&quot;20300&quot; value=&quot;Slide 12 - &amp;quot;Two Content  Column Chart Sample&amp;quot;&quot;/&gt;&lt;property id=&quot;20307&quot; value=&quot;495&quot;/&gt;&lt;/object&gt;&lt;object type=&quot;3&quot; unique_id=&quot;33896&quot;&gt;&lt;property id=&quot;20148&quot; value=&quot;5&quot;/&gt;&lt;property id=&quot;20300&quot; value=&quot;Slide 13 - &amp;quot;Line Chart Sample&amp;quot;&quot;/&gt;&lt;property id=&quot;20307&quot; value=&quot;501&quot;/&gt;&lt;/object&gt;&lt;object type=&quot;3&quot; unique_id=&quot;33897&quot;&gt;&lt;property id=&quot;20148&quot; value=&quot;5&quot;/&gt;&lt;property id=&quot;20300&quot; value=&quot;Slide 14 - &amp;quot;Two Content  Line Chart Sample&amp;quot;&quot;/&gt;&lt;property id=&quot;20307&quot; value=&quot;502&quot;/&gt;&lt;/object&gt;&lt;object type=&quot;3&quot; unique_id=&quot;33898&quot;&gt;&lt;property id=&quot;20148&quot; value=&quot;5&quot;/&gt;&lt;property id=&quot;20300&quot; value=&quot;Slide 15 - &amp;quot;Pie Chart Sample &amp;quot;&quot;/&gt;&lt;property id=&quot;20307&quot; value=&quot;499&quot;/&gt;&lt;/object&gt;&lt;object type=&quot;3&quot; unique_id=&quot;33899&quot;&gt;&lt;property id=&quot;20148&quot; value=&quot;5&quot;/&gt;&lt;property id=&quot;20300&quot; value=&quot;Slide 16 - &amp;quot;Two Content  Pie Chart Sample &amp;quot;&quot;/&gt;&lt;property id=&quot;20307&quot; value=&quot;500&quot;/&gt;&lt;/object&gt;&lt;/object&gt;&lt;/object&gt;&lt;/database&gt;"/>
  <p:tag name="SECTOMILLISECCONVERTED" val="1"/>
</p:tagLst>
</file>

<file path=ppt/theme/theme1.xml><?xml version="1.0" encoding="utf-8"?>
<a:theme xmlns:a="http://schemas.openxmlformats.org/drawingml/2006/main" name="PPT-2010-Template_LightDark">
  <a:themeElements>
    <a:clrScheme name="MACOM">
      <a:dk1>
        <a:sysClr val="windowText" lastClr="000000"/>
      </a:dk1>
      <a:lt1>
        <a:sysClr val="window" lastClr="FFFFFF"/>
      </a:lt1>
      <a:dk2>
        <a:srgbClr val="00243E"/>
      </a:dk2>
      <a:lt2>
        <a:srgbClr val="FFFFFF"/>
      </a:lt2>
      <a:accent1>
        <a:srgbClr val="005A84"/>
      </a:accent1>
      <a:accent2>
        <a:srgbClr val="0083C2"/>
      </a:accent2>
      <a:accent3>
        <a:srgbClr val="00A5B6"/>
      </a:accent3>
      <a:accent4>
        <a:srgbClr val="6C953C"/>
      </a:accent4>
      <a:accent5>
        <a:srgbClr val="8DC73F"/>
      </a:accent5>
      <a:accent6>
        <a:srgbClr val="DADA56"/>
      </a:accent6>
      <a:hlink>
        <a:srgbClr val="0083C2"/>
      </a:hlink>
      <a:folHlink>
        <a:srgbClr val="77B800"/>
      </a:folHlink>
    </a:clrScheme>
    <a:fontScheme name="MACOM">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w="12700" cap="sq" algn="ctr">
          <a:noFill/>
          <a:miter lim="800000"/>
          <a:headEnd/>
          <a:tailEnd/>
        </a:ln>
        <a:effectLst/>
      </a:spPr>
      <a:bodyPr wrap="square" lIns="0" rIns="0" rtlCol="0" anchor="ctr"/>
      <a:lstStyle>
        <a:defPPr algn="ctr">
          <a:spcBef>
            <a:spcPts val="600"/>
          </a:spcBef>
          <a:defRPr dirty="0" smtClean="0">
            <a:solidFill>
              <a:schemeClr val="bg1"/>
            </a:solidFill>
            <a:latin typeface="+mn-lt"/>
          </a:defRPr>
        </a:defPPr>
      </a:lstStyle>
    </a:spDef>
    <a:lnDef>
      <a:spPr bwMode="auto">
        <a:solidFill>
          <a:schemeClr val="accent2"/>
        </a:solidFill>
        <a:ln w="19050" cap="sq" cmpd="sng" algn="ctr">
          <a:solidFill>
            <a:schemeClr val="accent2"/>
          </a:solidFill>
          <a:prstDash val="solid"/>
          <a:round/>
          <a:headEnd type="none" w="med" len="med"/>
          <a:tailEnd type="none" w="med" len="med"/>
        </a:ln>
        <a:effectLst/>
      </a:spPr>
      <a:bodyPr/>
      <a:lstStyle/>
    </a:lnDef>
    <a:txDef>
      <a:spPr bwMode="auto">
        <a:noFill/>
        <a:ln w="12700" cap="sq" algn="ctr">
          <a:noFill/>
          <a:miter lim="800000"/>
          <a:headEnd/>
          <a:tailEnd/>
        </a:ln>
        <a:effectLst/>
      </a:spPr>
      <a:bodyPr wrap="square" rtlCol="0" anchor="ctr" anchorCtr="0">
        <a:noAutofit/>
      </a:bodyPr>
      <a:lstStyle>
        <a:defPPr>
          <a:spcBef>
            <a:spcPts val="900"/>
          </a:spcBef>
          <a:defRPr dirty="0" err="1" smtClean="0">
            <a:solidFill>
              <a:schemeClr val="tx2"/>
            </a:solidFill>
            <a:latin typeface="+mn-lt"/>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17388-MACOM2016-4x3-edit</Template>
  <TotalTime>716</TotalTime>
  <Words>1384</Words>
  <Application>Microsoft Office PowerPoint</Application>
  <PresentationFormat>On-screen Show (4:3)</PresentationFormat>
  <Paragraphs>418</Paragraphs>
  <Slides>38</Slides>
  <Notes>36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3</vt:i4>
      </vt:variant>
      <vt:variant>
        <vt:lpstr>Slide Titles</vt:lpstr>
      </vt:variant>
      <vt:variant>
        <vt:i4>38</vt:i4>
      </vt:variant>
    </vt:vector>
  </HeadingPairs>
  <TitlesOfParts>
    <vt:vector size="49" baseType="lpstr">
      <vt:lpstr>Arial</vt:lpstr>
      <vt:lpstr>Arial Black</vt:lpstr>
      <vt:lpstr>Arial Narrow</vt:lpstr>
      <vt:lpstr>Calibri</vt:lpstr>
      <vt:lpstr>Symbol</vt:lpstr>
      <vt:lpstr>Times</vt:lpstr>
      <vt:lpstr>Times New Roman</vt:lpstr>
      <vt:lpstr>PPT-2010-Template_LightDark</vt:lpstr>
      <vt:lpstr>Document</vt:lpstr>
      <vt:lpstr>Mathcad 6.0</vt:lpstr>
      <vt:lpstr>Visio</vt:lpstr>
      <vt:lpstr>MACOM Diode Products - Schottky rev 0</vt:lpstr>
      <vt:lpstr>PowerPoint Presentation</vt:lpstr>
      <vt:lpstr>PowerPoint Presentation</vt:lpstr>
      <vt:lpstr>Schottky Diodes</vt:lpstr>
      <vt:lpstr>Walter Schottky</vt:lpstr>
      <vt:lpstr>P-N Junction vs. Schottky Junction</vt:lpstr>
      <vt:lpstr>Schottky Diodes</vt:lpstr>
      <vt:lpstr>Schottky Diodes </vt:lpstr>
      <vt:lpstr>Schottky Diodes</vt:lpstr>
      <vt:lpstr>Metal-Semiconductor Barrier Heights</vt:lpstr>
      <vt:lpstr>Schottky Diode Barrier Heights</vt:lpstr>
      <vt:lpstr>Schottky Diode I-V Characteristic</vt:lpstr>
      <vt:lpstr>Typical Si Schottky I-V Curves</vt:lpstr>
      <vt:lpstr> Schottky Diodes</vt:lpstr>
      <vt:lpstr>Schottky Diode Schematic</vt:lpstr>
      <vt:lpstr>Schottky Diode Equivalent Circuit</vt:lpstr>
      <vt:lpstr>Electrostatic Discharge</vt:lpstr>
      <vt:lpstr>Schottky Diode Configurations – Singles, Pairs</vt:lpstr>
      <vt:lpstr>Schottky Diode Configurations - Quads </vt:lpstr>
      <vt:lpstr>Schottky Diode Configurations – Back-to-Back Crossover Ring Quads</vt:lpstr>
      <vt:lpstr>Schottky Diodes – Specifications of Interest</vt:lpstr>
      <vt:lpstr>Single-ended Mixer</vt:lpstr>
      <vt:lpstr>Balanced Mixer</vt:lpstr>
      <vt:lpstr>Subharmonic Mixer</vt:lpstr>
      <vt:lpstr>Double Balanced Mixer</vt:lpstr>
      <vt:lpstr>Detectors </vt:lpstr>
      <vt:lpstr>Schottky Diode Detector</vt:lpstr>
      <vt:lpstr>Typical Detector Transfer Function</vt:lpstr>
      <vt:lpstr>Schottky Diode Detector</vt:lpstr>
      <vt:lpstr>Voltage Doubler Detector</vt:lpstr>
      <vt:lpstr>Temperature Compensated Detector</vt:lpstr>
      <vt:lpstr>MACOM Schottky Diode Package Styles</vt:lpstr>
      <vt:lpstr> Schottky Diodes</vt:lpstr>
      <vt:lpstr>Schottky Diodes</vt:lpstr>
      <vt:lpstr>GaAs Flip Chip Schottky Diodes</vt:lpstr>
      <vt:lpstr>GaAs Beamlead Schottky Diodes</vt:lpstr>
      <vt:lpstr>HMICTM Discrete Schottky Diodes</vt:lpstr>
      <vt:lpstr>Thank You</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Click to Edit MACOM Title Slide  Arial Black 24pt</dc:title>
  <dc:creator>Megan Haley</dc:creator>
  <cp:lastModifiedBy>Rick Cory</cp:lastModifiedBy>
  <cp:revision>42</cp:revision>
  <cp:lastPrinted>2014-03-27T13:48:09Z</cp:lastPrinted>
  <dcterms:created xsi:type="dcterms:W3CDTF">2016-07-13T20:18:51Z</dcterms:created>
  <dcterms:modified xsi:type="dcterms:W3CDTF">2017-03-03T13:56:46Z</dcterms:modified>
</cp:coreProperties>
</file>