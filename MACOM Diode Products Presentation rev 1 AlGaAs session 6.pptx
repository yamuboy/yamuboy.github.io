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wmf" ContentType="image/x-wmf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98" r:id="rId1"/>
  </p:sldMasterIdLst>
  <p:notesMasterIdLst>
    <p:notesMasterId r:id="rId25"/>
  </p:notesMasterIdLst>
  <p:handoutMasterIdLst>
    <p:handoutMasterId r:id="rId26"/>
  </p:handoutMasterIdLst>
  <p:sldIdLst>
    <p:sldId id="507" r:id="rId2"/>
    <p:sldId id="508" r:id="rId3"/>
    <p:sldId id="509" r:id="rId4"/>
    <p:sldId id="571" r:id="rId5"/>
    <p:sldId id="585" r:id="rId6"/>
    <p:sldId id="583" r:id="rId7"/>
    <p:sldId id="596" r:id="rId8"/>
    <p:sldId id="587" r:id="rId9"/>
    <p:sldId id="589" r:id="rId10"/>
    <p:sldId id="588" r:id="rId11"/>
    <p:sldId id="590" r:id="rId12"/>
    <p:sldId id="511" r:id="rId13"/>
    <p:sldId id="514" r:id="rId14"/>
    <p:sldId id="522" r:id="rId15"/>
    <p:sldId id="595" r:id="rId16"/>
    <p:sldId id="591" r:id="rId17"/>
    <p:sldId id="592" r:id="rId18"/>
    <p:sldId id="593" r:id="rId19"/>
    <p:sldId id="594" r:id="rId20"/>
    <p:sldId id="550" r:id="rId21"/>
    <p:sldId id="551" r:id="rId22"/>
    <p:sldId id="556" r:id="rId23"/>
    <p:sldId id="563" r:id="rId24"/>
  </p:sldIdLst>
  <p:sldSz cx="9144000" cy="6858000" type="screen4x3"/>
  <p:notesSz cx="7010400" cy="9296400"/>
  <p:custDataLst>
    <p:tags r:id="rId27"/>
  </p:custDataLst>
  <p:defaultTextStyle>
    <a:defPPr>
      <a:defRPr lang="en-US"/>
    </a:defPPr>
    <a:lvl1pPr algn="ctr" rtl="0" fontAlgn="base">
      <a:lnSpc>
        <a:spcPct val="90000"/>
      </a:lnSpc>
      <a:spcBef>
        <a:spcPct val="5000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ctr" rtl="0" fontAlgn="base">
      <a:lnSpc>
        <a:spcPct val="90000"/>
      </a:lnSpc>
      <a:spcBef>
        <a:spcPct val="5000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ctr" rtl="0" fontAlgn="base">
      <a:lnSpc>
        <a:spcPct val="90000"/>
      </a:lnSpc>
      <a:spcBef>
        <a:spcPct val="5000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ctr" rtl="0" fontAlgn="base">
      <a:lnSpc>
        <a:spcPct val="90000"/>
      </a:lnSpc>
      <a:spcBef>
        <a:spcPct val="5000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ctr" rtl="0" fontAlgn="base">
      <a:lnSpc>
        <a:spcPct val="90000"/>
      </a:lnSpc>
      <a:spcBef>
        <a:spcPct val="5000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948">
          <p15:clr>
            <a:srgbClr val="A4A3A4"/>
          </p15:clr>
        </p15:guide>
        <p15:guide id="2" orient="horz" pos="3889">
          <p15:clr>
            <a:srgbClr val="A4A3A4"/>
          </p15:clr>
        </p15:guide>
        <p15:guide id="3" orient="horz" pos="722">
          <p15:clr>
            <a:srgbClr val="A4A3A4"/>
          </p15:clr>
        </p15:guide>
        <p15:guide id="4" pos="2880">
          <p15:clr>
            <a:srgbClr val="A4A3A4"/>
          </p15:clr>
        </p15:guide>
        <p15:guide id="5" pos="260">
          <p15:clr>
            <a:srgbClr val="A4A3A4"/>
          </p15:clr>
        </p15:guide>
        <p15:guide id="6" pos="549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>
          <p15:clr>
            <a:srgbClr val="A4A3A4"/>
          </p15:clr>
        </p15:guide>
        <p15:guide id="2" pos="22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DDDDD"/>
    <a:srgbClr val="EAEAEA"/>
    <a:srgbClr val="000000"/>
    <a:srgbClr val="C0C0C0"/>
    <a:srgbClr val="B2B2B2"/>
    <a:srgbClr val="FFFF66"/>
    <a:srgbClr val="3333CC"/>
    <a:srgbClr val="FF00CC"/>
    <a:srgbClr val="CBCBDF"/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352" autoAdjust="0"/>
    <p:restoredTop sz="86578" autoAdjust="0"/>
  </p:normalViewPr>
  <p:slideViewPr>
    <p:cSldViewPr snapToGrid="0">
      <p:cViewPr varScale="1">
        <p:scale>
          <a:sx n="52" d="100"/>
          <a:sy n="52" d="100"/>
        </p:scale>
        <p:origin x="677" y="53"/>
      </p:cViewPr>
      <p:guideLst>
        <p:guide orient="horz" pos="948"/>
        <p:guide orient="horz" pos="3889"/>
        <p:guide orient="horz" pos="722"/>
        <p:guide pos="2880"/>
        <p:guide pos="260"/>
        <p:guide pos="5499"/>
      </p:guideLst>
    </p:cSldViewPr>
  </p:slideViewPr>
  <p:outlineViewPr>
    <p:cViewPr>
      <p:scale>
        <a:sx n="33" d="100"/>
        <a:sy n="33" d="100"/>
      </p:scale>
      <p:origin x="0" y="-13358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97" d="100"/>
          <a:sy n="97" d="100"/>
        </p:scale>
        <p:origin x="-1698" y="-90"/>
      </p:cViewPr>
      <p:guideLst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gs" Target="tags/tag1.xml"/><Relationship Id="rId30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A307F97-8337-459C-8052-DEFA8E9BFD8F}" type="doc">
      <dgm:prSet loTypeId="urn:microsoft.com/office/officeart/2005/8/layout/venn1" loCatId="relationship" qsTypeId="urn:microsoft.com/office/officeart/2005/8/quickstyle/simple1" qsCatId="simple" csTypeId="urn:microsoft.com/office/officeart/2005/8/colors/accent1_2" csCatId="accent1" phldr="0"/>
      <dgm:spPr/>
    </dgm:pt>
    <dgm:pt modelId="{E02E9C0D-9D04-41C2-B8E2-18B353D47237}" type="pres">
      <dgm:prSet presAssocID="{5A307F97-8337-459C-8052-DEFA8E9BFD8F}" presName="compositeShape" presStyleCnt="0">
        <dgm:presLayoutVars>
          <dgm:chMax val="7"/>
          <dgm:dir/>
          <dgm:resizeHandles val="exact"/>
        </dgm:presLayoutVars>
      </dgm:prSet>
      <dgm:spPr/>
    </dgm:pt>
  </dgm:ptLst>
  <dgm:cxnLst>
    <dgm:cxn modelId="{B27DB965-C5ED-4BB0-987C-0EC588D29AE0}" type="presOf" srcId="{5A307F97-8337-459C-8052-DEFA8E9BFD8F}" destId="{E02E9C0D-9D04-41C2-B8E2-18B353D47237}" srcOrd="0" destOrd="0" presId="urn:microsoft.com/office/officeart/2005/8/layout/ven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1">
  <dgm:title val=""/>
  <dgm:desc val=""/>
  <dgm:catLst>
    <dgm:cat type="relationship" pri="28000"/>
    <dgm:cat type="convert" pri="19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clrData>
  <dgm:layoutNode name="compositeShape">
    <dgm:varLst>
      <dgm:chMax val="7"/>
      <dgm:dir/>
      <dgm:resizeHandles val="exact"/>
    </dgm:varLst>
    <dgm:choose name="Name0">
      <dgm:if name="Name1" axis="ch" ptType="node" func="cnt" op="equ" val="1">
        <dgm:alg type="composite">
          <dgm:param type="ar" val="1"/>
        </dgm:alg>
      </dgm:if>
      <dgm:if name="Name2" axis="ch" ptType="node" func="cnt" op="equ" val="2">
        <dgm:alg type="composite">
          <dgm:param type="ar" val="1.792"/>
        </dgm:alg>
      </dgm:if>
      <dgm:if name="Name3" axis="ch" ptType="node" func="cnt" op="equ" val="3">
        <dgm:alg type="composite">
          <dgm:param type="ar" val="1"/>
        </dgm:alg>
      </dgm:if>
      <dgm:if name="Name4" axis="ch" ptType="node" func="cnt" op="equ" val="4">
        <dgm:alg type="composite">
          <dgm:param type="ar" val="1"/>
        </dgm:alg>
      </dgm:if>
      <dgm:if name="Name5" axis="ch" ptType="node" func="cnt" op="equ" val="5">
        <dgm:alg type="composite">
          <dgm:param type="ar" val="1.4"/>
        </dgm:alg>
      </dgm:if>
      <dgm:if name="Name6" axis="ch" ptType="node" func="cnt" op="equ" val="6">
        <dgm:alg type="composite">
          <dgm:param type="ar" val="1.285"/>
        </dgm:alg>
      </dgm:if>
      <dgm:if name="Name7" axis="ch" ptType="node" func="cnt" op="equ" val="7">
        <dgm:alg type="composite">
          <dgm:param type="ar" val="1.359"/>
        </dgm:alg>
      </dgm:if>
      <dgm:else name="Name8">
        <dgm:alg type="composite">
          <dgm:param type="ar" val="1.359"/>
        </dgm:alg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1">
        <dgm:constrLst>
          <dgm:constr type="ctrX" for="ch" forName="circ1TxSh" refType="w" fact="0.5"/>
          <dgm:constr type="ctrY" for="ch" forName="circ1TxSh" refType="h" fact="0.5"/>
          <dgm:constr type="w" for="ch" forName="circ1TxSh" refType="w"/>
          <dgm:constr type="h" for="ch" forName="circ1TxSh" refType="h"/>
          <dgm:constr type="primFontSz" for="ch" ptType="node" op="equ"/>
        </dgm:constrLst>
      </dgm:if>
      <dgm:if name="Name11" axis="ch" ptType="node" func="cnt" op="equ" val="2">
        <dgm:constrLst>
          <dgm:constr type="ctrX" for="ch" forName="circ1" refType="w" fact="0.3"/>
          <dgm:constr type="ctrY" for="ch" forName="circ1" refType="h" fact="0.5"/>
          <dgm:constr type="w" for="ch" forName="circ1" refType="w" fact="0.555"/>
          <dgm:constr type="h" for="ch" forName="circ1" refType="h" fact="0.99456"/>
          <dgm:constr type="l" for="ch" forName="circ1Tx" refType="w" fact="0.1"/>
          <dgm:constr type="t" for="ch" forName="circ1Tx" refType="h" fact="0.12"/>
          <dgm:constr type="w" for="ch" forName="circ1Tx" refType="w" fact="0.32"/>
          <dgm:constr type="h" for="ch" forName="circ1Tx" refType="h" fact="0.76"/>
          <dgm:constr type="ctrX" for="ch" forName="circ2" refType="w" fact="0.7"/>
          <dgm:constr type="ctrY" for="ch" forName="circ2" refType="h" fact="0.5"/>
          <dgm:constr type="w" for="ch" forName="circ2" refType="w" fact="0.555"/>
          <dgm:constr type="h" for="ch" forName="circ2" refType="h" fact="0.99456"/>
          <dgm:constr type="l" for="ch" forName="circ2Tx" refType="w" fact="0.58"/>
          <dgm:constr type="t" for="ch" forName="circ2Tx" refType="h" fact="0.12"/>
          <dgm:constr type="w" for="ch" forName="circ2Tx" refType="w" fact="0.32"/>
          <dgm:constr type="h" for="ch" forName="circ2Tx" refType="h" fact="0.76"/>
          <dgm:constr type="primFontSz" for="ch" ptType="node" op="equ"/>
        </dgm:constrLst>
      </dgm:if>
      <dgm:if name="Name12" axis="ch" ptType="node" func="cnt" op="equ" val="3">
        <dgm:constrLst>
          <dgm:constr type="ctrX" for="ch" forName="circ1" refType="w" fact="0.5"/>
          <dgm:constr type="ctrY" for="ch" forName="circ1" refType="w" fact="0.25"/>
          <dgm:constr type="w" for="ch" forName="circ1" refType="w" fact="0.6"/>
          <dgm:constr type="h" for="ch" forName="circ1" refType="h" fact="0.6"/>
          <dgm:constr type="l" for="ch" forName="circ1Tx" refType="w" fact="0.28"/>
          <dgm:constr type="t" for="ch" forName="circ1Tx" refType="h" fact="0.055"/>
          <dgm:constr type="w" for="ch" forName="circ1Tx" refType="w" fact="0.44"/>
          <dgm:constr type="h" for="ch" forName="circ1Tx" refType="h" fact="0.27"/>
          <dgm:constr type="ctrX" for="ch" forName="circ2" refType="w" fact="0.7165"/>
          <dgm:constr type="ctrY" for="ch" forName="circ2" refType="w" fact="0.625"/>
          <dgm:constr type="w" for="ch" forName="circ2" refType="w" fact="0.6"/>
          <dgm:constr type="h" for="ch" forName="circ2" refType="h" fact="0.6"/>
          <dgm:constr type="l" for="ch" forName="circ2Tx" refType="w" fact="0.6"/>
          <dgm:constr type="t" for="ch" forName="circ2Tx" refType="h" fact="0.48"/>
          <dgm:constr type="w" for="ch" forName="circ2Tx" refType="w" fact="0.36"/>
          <dgm:constr type="h" for="ch" forName="circ2Tx" refType="h" fact="0.33"/>
          <dgm:constr type="ctrX" for="ch" forName="circ3" refType="w" fact="0.2835"/>
          <dgm:constr type="ctrY" for="ch" forName="circ3" refType="w" fact="0.625"/>
          <dgm:constr type="w" for="ch" forName="circ3" refType="w" fact="0.6"/>
          <dgm:constr type="h" for="ch" forName="circ3" refType="h" fact="0.6"/>
          <dgm:constr type="l" for="ch" forName="circ3Tx" refType="w" fact="0.04"/>
          <dgm:constr type="t" for="ch" forName="circ3Tx" refType="h" fact="0.48"/>
          <dgm:constr type="w" for="ch" forName="circ3Tx" refType="w" fact="0.36"/>
          <dgm:constr type="h" for="ch" forName="circ3Tx" refType="h" fact="0.33"/>
          <dgm:constr type="primFontSz" for="ch" ptType="node" op="equ"/>
        </dgm:constrLst>
      </dgm:if>
      <dgm:if name="Name13" axis="ch" ptType="node" func="cnt" op="equ" val="4">
        <dgm:constrLst>
          <dgm:constr type="ctrX" for="ch" forName="circ1" refType="w" fact="0.5"/>
          <dgm:constr type="ctrY" for="ch" forName="circ1" refType="w" fact="0.27"/>
          <dgm:constr type="w" for="ch" forName="circ1" refType="w" fact="0.52"/>
          <dgm:constr type="h" for="ch" forName="circ1" refType="h" fact="0.52"/>
          <dgm:constr type="l" for="ch" forName="circ1Tx" refType="w" fact="0.3"/>
          <dgm:constr type="t" for="ch" forName="circ1Tx" refType="h" fact="0.08"/>
          <dgm:constr type="w" for="ch" forName="circ1Tx" refType="w" fact="0.4"/>
          <dgm:constr type="h" for="ch" forName="circ1Tx" refType="h" fact="0.165"/>
          <dgm:constr type="ctrX" for="ch" forName="circ2" refType="w" fact="0.73"/>
          <dgm:constr type="ctrY" for="ch" forName="circ2" refType="w" fact="0.5"/>
          <dgm:constr type="w" for="ch" forName="circ2" refType="w" fact="0.52"/>
          <dgm:constr type="h" for="ch" forName="circ2" refType="h" fact="0.52"/>
          <dgm:constr type="r" for="ch" forName="circ2Tx" refType="w" fact="0.95"/>
          <dgm:constr type="t" for="ch" forName="circ2Tx" refType="h" fact="0.3"/>
          <dgm:constr type="w" for="ch" forName="circ2Tx" refType="w" fact="0.2"/>
          <dgm:constr type="h" for="ch" forName="circ2Tx" refType="h" fact="0.4"/>
          <dgm:constr type="ctrX" for="ch" forName="circ3" refType="w" fact="0.5"/>
          <dgm:constr type="ctrY" for="ch" forName="circ3" refType="w" fact="0.73"/>
          <dgm:constr type="w" for="ch" forName="circ3" refType="w" fact="0.52"/>
          <dgm:constr type="h" for="ch" forName="circ3" refType="h" fact="0.52"/>
          <dgm:constr type="l" for="ch" forName="circ3Tx" refType="w" fact="0.3"/>
          <dgm:constr type="b" for="ch" forName="circ3Tx" refType="h" fact="0.92"/>
          <dgm:constr type="w" for="ch" forName="circ3Tx" refType="w" fact="0.4"/>
          <dgm:constr type="h" for="ch" forName="circ3Tx" refType="h" fact="0.165"/>
          <dgm:constr type="ctrX" for="ch" forName="circ4" refType="w" fact="0.27"/>
          <dgm:constr type="ctrY" for="ch" forName="circ4" refType="h" fact="0.5"/>
          <dgm:constr type="w" for="ch" forName="circ4" refType="w" fact="0.52"/>
          <dgm:constr type="h" for="ch" forName="circ4" refType="h" fact="0.52"/>
          <dgm:constr type="l" for="ch" forName="circ4Tx" refType="w" fact="0.05"/>
          <dgm:constr type="t" for="ch" forName="circ4Tx" refType="h" fact="0.3"/>
          <dgm:constr type="w" for="ch" forName="circ4Tx" refType="w" fact="0.2"/>
          <dgm:constr type="h" for="ch" forName="circ4Tx" refType="h" fact="0.4"/>
          <dgm:constr type="primFontSz" for="ch" ptType="node" op="equ"/>
        </dgm:constrLst>
      </dgm:if>
      <dgm:if name="Name14" axis="ch" ptType="node" func="cnt" op="equ" val="5">
        <dgm:constrLst>
          <dgm:constr type="ctrX" for="ch" forName="circ1" refType="w" fact="0.5"/>
          <dgm:constr type="ctrY" for="ch" forName="circ1" refType="h" fact="0.46"/>
          <dgm:constr type="w" for="ch" forName="circ1" refType="w" fact="0.25"/>
          <dgm:constr type="h" for="ch" forName="circ1" refType="h" fact="0.35"/>
          <dgm:constr type="l" for="ch" forName="circ1Tx" refType="w" fact="0.355"/>
          <dgm:constr type="t" for="ch" forName="circ1Tx"/>
          <dgm:constr type="w" for="ch" forName="circ1Tx" refType="w" fact="0.29"/>
          <dgm:constr type="h" for="ch" forName="circ1Tx" refType="h" fact="0.235"/>
          <dgm:constr type="ctrX" for="ch" forName="circ2" refType="w" fact="0.5951"/>
          <dgm:constr type="ctrY" for="ch" forName="circ2" refType="h" fact="0.5567"/>
          <dgm:constr type="w" for="ch" forName="circ2" refType="w" fact="0.25"/>
          <dgm:constr type="h" for="ch" forName="circ2" refType="h" fact="0.35"/>
          <dgm:constr type="l" for="ch" forName="circ2Tx" refType="w" fact="0.74"/>
          <dgm:constr type="t" for="ch" forName="circ2Tx" refType="h" fact="0.31"/>
          <dgm:constr type="w" for="ch" forName="circ2Tx" refType="w" fact="0.26"/>
          <dgm:constr type="h" for="ch" forName="circ2Tx" refType="h" fact="0.255"/>
          <dgm:constr type="ctrX" for="ch" forName="circ3" refType="w" fact="0.5588"/>
          <dgm:constr type="ctrY" for="ch" forName="circ3" refType="h" fact="0.7133"/>
          <dgm:constr type="w" for="ch" forName="circ3" refType="w" fact="0.25"/>
          <dgm:constr type="h" for="ch" forName="circ3" refType="h" fact="0.35"/>
          <dgm:constr type="l" for="ch" forName="circ3Tx" refType="w" fact="0.7"/>
          <dgm:constr type="t" for="ch" forName="circ3Tx" refType="h" fact="0.745"/>
          <dgm:constr type="w" for="ch" forName="circ3Tx" refType="w" fact="0.26"/>
          <dgm:constr type="h" for="ch" forName="circ3Tx" refType="h" fact="0.255"/>
          <dgm:constr type="ctrX" for="ch" forName="circ4" refType="w" fact="0.4412"/>
          <dgm:constr type="ctrY" for="ch" forName="circ4" refType="h" fact="0.7133"/>
          <dgm:constr type="w" for="ch" forName="circ4" refType="w" fact="0.25"/>
          <dgm:constr type="h" for="ch" forName="circ4" refType="h" fact="0.35"/>
          <dgm:constr type="l" for="ch" forName="circ4Tx" refType="w" fact="0.04"/>
          <dgm:constr type="t" for="ch" forName="circ4Tx" refType="h" fact="0.745"/>
          <dgm:constr type="w" for="ch" forName="circ4Tx" refType="w" fact="0.26"/>
          <dgm:constr type="h" for="ch" forName="circ4Tx" refType="h" fact="0.255"/>
          <dgm:constr type="ctrX" for="ch" forName="circ5" refType="w" fact="0.4049"/>
          <dgm:constr type="ctrY" for="ch" forName="circ5" refType="h" fact="0.5567"/>
          <dgm:constr type="w" for="ch" forName="circ5" refType="w" fact="0.25"/>
          <dgm:constr type="h" for="ch" forName="circ5" refType="h" fact="0.35"/>
          <dgm:constr type="l" for="ch" forName="circ5Tx"/>
          <dgm:constr type="t" for="ch" forName="circ5Tx" refType="h" fact="0.31"/>
          <dgm:constr type="w" for="ch" forName="circ5Tx" refType="w" fact="0.26"/>
          <dgm:constr type="h" for="ch" forName="circ5Tx" refType="h" fact="0.255"/>
          <dgm:constr type="primFontSz" for="ch" ptType="node" op="equ"/>
        </dgm:constrLst>
      </dgm:if>
      <dgm:if name="Name15" axis="ch" ptType="node" func="cnt" op="equ" val="6">
        <dgm:constrLst>
          <dgm:constr type="ctrX" for="ch" forName="circ1" refType="w" fact="0.5"/>
          <dgm:constr type="ctrY" for="ch" forName="circ1" refType="h" fact="0.3844"/>
          <dgm:constr type="w" for="ch" forName="circ1" refType="w" fact="0.24"/>
          <dgm:constr type="h" for="ch" forName="circ1" refType="h" fact="0.3084"/>
          <dgm:constr type="l" for="ch" forName="circ1Tx" refType="w" fact="0.35"/>
          <dgm:constr type="t" for="ch" forName="circ1Tx"/>
          <dgm:constr type="w" for="ch" forName="circ1Tx" refType="w" fact="0.3"/>
          <dgm:constr type="h" for="ch" forName="circ1Tx" refType="h" fact="0.21"/>
          <dgm:constr type="ctrX" for="ch" forName="circ2" refType="w" fact="0.5779"/>
          <dgm:constr type="ctrY" for="ch" forName="circ2" refType="h" fact="0.4422"/>
          <dgm:constr type="w" for="ch" forName="circ2" refType="w" fact="0.24"/>
          <dgm:constr type="h" for="ch" forName="circ2" refType="h" fact="0.3084"/>
          <dgm:constr type="l" for="ch" forName="circ2Tx" refType="w" fact="0.7157"/>
          <dgm:constr type="t" for="ch" forName="circ2Tx" refType="h" fact="0.2"/>
          <dgm:constr type="w" for="ch" forName="circ2Tx" refType="w" fact="0.2843"/>
          <dgm:constr type="h" for="ch" forName="circ2Tx" refType="h" fact="0.23"/>
          <dgm:constr type="ctrX" for="ch" forName="circ3" refType="w" fact="0.5779"/>
          <dgm:constr type="ctrY" for="ch" forName="circ3" refType="h" fact="0.5578"/>
          <dgm:constr type="w" for="ch" forName="circ3" refType="w" fact="0.24"/>
          <dgm:constr type="h" for="ch" forName="circ3" refType="h" fact="0.3084"/>
          <dgm:constr type="l" for="ch" forName="circ3Tx" refType="w" fact="0.7157"/>
          <dgm:constr type="t" for="ch" forName="circ3Tx" refType="h" fact="0.543"/>
          <dgm:constr type="w" for="ch" forName="circ3Tx" refType="w" fact="0.2843"/>
          <dgm:constr type="h" for="ch" forName="circ3Tx" refType="h" fact="0.257"/>
          <dgm:constr type="ctrX" for="ch" forName="circ4" refType="w" fact="0.5"/>
          <dgm:constr type="ctrY" for="ch" forName="circ4" refType="h" fact="0.6157"/>
          <dgm:constr type="w" for="ch" forName="circ4" refType="w" fact="0.24"/>
          <dgm:constr type="h" for="ch" forName="circ4" refType="h" fact="0.3084"/>
          <dgm:constr type="l" for="ch" forName="circ4Tx" refType="w" fact="0.35"/>
          <dgm:constr type="t" for="ch" forName="circ4Tx" refType="h" fact="0.79"/>
          <dgm:constr type="w" for="ch" forName="circ4Tx" refType="w" fact="0.3"/>
          <dgm:constr type="h" for="ch" forName="circ4Tx" refType="h" fact="0.21"/>
          <dgm:constr type="ctrX" for="ch" forName="circ5" refType="w" fact="0.4221"/>
          <dgm:constr type="ctrY" for="ch" forName="circ5" refType="h" fact="0.5578"/>
          <dgm:constr type="w" for="ch" forName="circ5" refType="w" fact="0.24"/>
          <dgm:constr type="h" for="ch" forName="circ5" refType="h" fact="0.3084"/>
          <dgm:constr type="l" for="ch" forName="circ5Tx" refType="w" fact="0"/>
          <dgm:constr type="t" for="ch" forName="circ5Tx" refType="h" fact="0.543"/>
          <dgm:constr type="w" for="ch" forName="circ5Tx" refType="w" fact="0.2843"/>
          <dgm:constr type="h" for="ch" forName="circ5Tx" refType="h" fact="0.257"/>
          <dgm:constr type="ctrX" for="ch" forName="circ6" refType="w" fact="0.4221"/>
          <dgm:constr type="ctrY" for="ch" forName="circ6" refType="h" fact="0.4422"/>
          <dgm:constr type="w" for="ch" forName="circ6" refType="w" fact="0.24"/>
          <dgm:constr type="h" for="ch" forName="circ6" refType="h" fact="0.3084"/>
          <dgm:constr type="l" for="ch" forName="circ6Tx" refType="w" fact="0"/>
          <dgm:constr type="t" for="ch" forName="circ6Tx" refType="h" fact="0.2"/>
          <dgm:constr type="w" for="ch" forName="circ6Tx" refType="w" fact="0.2843"/>
          <dgm:constr type="h" for="ch" forName="circ6Tx" refType="h" fact="0.257"/>
          <dgm:constr type="primFontSz" for="ch" ptType="node" op="equ"/>
        </dgm:constrLst>
      </dgm:if>
      <dgm:else name="Name16">
        <dgm:constrLst>
          <dgm:constr type="ctrX" for="ch" forName="circ1" refType="w" fact="0.5"/>
          <dgm:constr type="ctrY" for="ch" forName="circ1" refType="h" fact="0.4177"/>
          <dgm:constr type="w" for="ch" forName="circ1" refType="w" fact="0.24"/>
          <dgm:constr type="h" for="ch" forName="circ1" refType="h" fact="0.3262"/>
          <dgm:constr type="l" for="ch" forName="circ1Tx" refType="w" fact="0.3625"/>
          <dgm:constr type="t" for="ch" forName="circ1Tx"/>
          <dgm:constr type="w" for="ch" forName="circ1Tx" refType="w" fact="0.275"/>
          <dgm:constr type="h" for="ch" forName="circ1Tx" refType="h" fact="0.2"/>
          <dgm:constr type="ctrX" for="ch" forName="circ2" refType="w" fact="0.5704"/>
          <dgm:constr type="ctrY" for="ch" forName="circ2" refType="h" fact="0.4637"/>
          <dgm:constr type="w" for="ch" forName="circ2" refType="w" fact="0.24"/>
          <dgm:constr type="h" for="ch" forName="circ2" refType="h" fact="0.3262"/>
          <dgm:constr type="l" for="ch" forName="circ2Tx" refType="w" fact="0.72"/>
          <dgm:constr type="t" for="ch" forName="circ2Tx" refType="h" fact="0.19"/>
          <dgm:constr type="w" for="ch" forName="circ2Tx" refType="w" fact="0.26"/>
          <dgm:constr type="h" for="ch" forName="circ2Tx" refType="h" fact="0.22"/>
          <dgm:constr type="ctrX" for="ch" forName="circ3" refType="w" fact="0.5877"/>
          <dgm:constr type="ctrY" for="ch" forName="circ3" refType="h" fact="0.5672"/>
          <dgm:constr type="w" for="ch" forName="circ3" refType="w" fact="0.24"/>
          <dgm:constr type="h" for="ch" forName="circ3" refType="h" fact="0.3262"/>
          <dgm:constr type="l" for="ch" forName="circ3Tx" refType="w" fact="0.745"/>
          <dgm:constr type="t" for="ch" forName="circ3Tx" refType="h" fact="0.47"/>
          <dgm:constr type="w" for="ch" forName="circ3Tx" refType="w" fact="0.255"/>
          <dgm:constr type="h" for="ch" forName="circ3Tx" refType="h" fact="0.235"/>
          <dgm:constr type="ctrX" for="ch" forName="circ4" refType="w" fact="0.539"/>
          <dgm:constr type="ctrY" for="ch" forName="circ4" refType="h" fact="0.6502"/>
          <dgm:constr type="w" for="ch" forName="circ4" refType="w" fact="0.24"/>
          <dgm:constr type="h" for="ch" forName="circ4" refType="h" fact="0.3262"/>
          <dgm:constr type="l" for="ch" forName="circ4Tx" refType="w" fact="0.635"/>
          <dgm:constr type="t" for="ch" forName="circ4Tx" refType="h" fact="0.785"/>
          <dgm:constr type="w" for="ch" forName="circ4Tx" refType="w" fact="0.275"/>
          <dgm:constr type="h" for="ch" forName="circ4Tx" refType="h" fact="0.215"/>
          <dgm:constr type="ctrX" for="ch" forName="circ5" refType="w" fact="0.461"/>
          <dgm:constr type="ctrY" for="ch" forName="circ5" refType="h" fact="0.6502"/>
          <dgm:constr type="w" for="ch" forName="circ5" refType="w" fact="0.24"/>
          <dgm:constr type="h" for="ch" forName="circ5" refType="h" fact="0.3262"/>
          <dgm:constr type="l" for="ch" forName="circ5Tx" refType="w" fact="0.09"/>
          <dgm:constr type="t" for="ch" forName="circ5Tx" refType="h" fact="0.785"/>
          <dgm:constr type="w" for="ch" forName="circ5Tx" refType="w" fact="0.275"/>
          <dgm:constr type="h" for="ch" forName="circ5Tx" refType="h" fact="0.215"/>
          <dgm:constr type="ctrX" for="ch" forName="circ6" refType="w" fact="0.4123"/>
          <dgm:constr type="ctrY" for="ch" forName="circ6" refType="h" fact="0.5672"/>
          <dgm:constr type="w" for="ch" forName="circ6" refType="w" fact="0.24"/>
          <dgm:constr type="h" for="ch" forName="circ6" refType="h" fact="0.3262"/>
          <dgm:constr type="l" for="ch" forName="circ6Tx"/>
          <dgm:constr type="t" for="ch" forName="circ6Tx" refType="h" fact="0.47"/>
          <dgm:constr type="w" for="ch" forName="circ6Tx" refType="w" fact="0.255"/>
          <dgm:constr type="h" for="ch" forName="circ6Tx" refType="h" fact="0.235"/>
          <dgm:constr type="ctrX" for="ch" forName="circ7" refType="w" fact="0.4296"/>
          <dgm:constr type="ctrY" for="ch" forName="circ7" refType="h" fact="0.4637"/>
          <dgm:constr type="w" for="ch" forName="circ7" refType="w" fact="0.24"/>
          <dgm:constr type="h" for="ch" forName="circ7" refType="h" fact="0.3262"/>
          <dgm:constr type="l" for="ch" forName="circ7Tx" refType="w" fact="0.02"/>
          <dgm:constr type="t" for="ch" forName="circ7Tx" refType="h" fact="0.19"/>
          <dgm:constr type="w" for="ch" forName="circ7Tx" refType="w" fact="0.26"/>
          <dgm:constr type="h" for="ch" forName="circ7Tx" refType="h" fact="0.22"/>
          <dgm:constr type="primFontSz" for="ch" ptType="node" op="equ"/>
        </dgm:constrLst>
      </dgm:else>
    </dgm:choose>
    <dgm:ruleLst/>
    <dgm:forEach name="Name17" axis="ch" ptType="node" cnt="1">
      <dgm:choose name="Name18">
        <dgm:if name="Name19" axis="root ch" ptType="all node" func="cnt" op="equ" val="1">
          <dgm:layoutNode name="circ1TxSh" styleLbl="vennNode1"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0">
              <dgm:if name="Name21" func="var" arg="dir" op="equ" val="norm">
                <dgm:choose name="Name22">
                  <dgm:if name="Name23" axis="root ch" ptType="all node" func="cnt" op="lte" val="4">
                    <dgm:presOf axis="desOrSelf" ptType="node"/>
                  </dgm:if>
                  <dgm:else name="Name24">
                    <dgm:presOf/>
                  </dgm:else>
                </dgm:choose>
              </dgm:if>
              <dgm:else name="Name25">
                <dgm:choose name="Name26">
                  <dgm:if name="Name27" axis="root ch" ptType="all node" func="cnt" op="equ" val="2">
                    <dgm:presOf axis="root ch desOrSelf" ptType="all node node" st="1 2 1" cnt="1 1 0"/>
                  </dgm:if>
                  <dgm:else name="Name28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if>
        <dgm:else name="Name29">
          <dgm:layoutNode name="circ1" styleLbl="vennNode1">
            <dgm:alg type="sp"/>
            <dgm:shape xmlns:r="http://schemas.openxmlformats.org/officeDocument/2006/relationships" type="ellipse" r:blip="">
              <dgm:adjLst/>
            </dgm:shape>
            <dgm:choose name="Name30">
              <dgm:if name="Name31" func="var" arg="dir" op="equ" val="norm">
                <dgm:choose name="Name32">
                  <dgm:if name="Name33" axis="root ch" ptType="all node" func="cnt" op="lte" val="4">
                    <dgm:presOf axis="desOrSelf" ptType="node"/>
                  </dgm:if>
                  <dgm:else name="Name34">
                    <dgm:presOf/>
                  </dgm:else>
                </dgm:choose>
              </dgm:if>
              <dgm:else name="Name35">
                <dgm:choose name="Name36">
                  <dgm:if name="Name37" axis="root ch" ptType="all node" func="cnt" op="equ" val="2">
                    <dgm:presOf axis="root ch desOrSelf" ptType="all node node" st="1 2 1" cnt="1 1 0"/>
                  </dgm:if>
                  <dgm:else name="Name38">
                    <dgm:choose name="Name39">
                      <dgm:if name="Name40" axis="root ch" ptType="all node" func="cnt" op="lte" val="4">
                        <dgm:presOf axis="desOrSelf" ptType="node"/>
                      </dgm:if>
                      <dgm:else name="Name41">
                        <dgm:presOf/>
                      </dgm:else>
                    </dgm:choose>
                  </dgm:else>
                </dgm:choose>
              </dgm:else>
            </dgm:choose>
            <dgm:constrLst/>
            <dgm:ruleLst/>
          </dgm:layoutNode>
          <dgm:layoutNode name="circ1Tx" styleLbl="revTx">
            <dgm:varLst>
              <dgm:chMax val="0"/>
              <dgm:chPref val="0"/>
              <dgm:bulletEnabled val="1"/>
            </dgm:varLst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choose name="Name42">
              <dgm:if name="Name43" func="var" arg="dir" op="equ" val="norm">
                <dgm:presOf axis="desOrSelf" ptType="node"/>
              </dgm:if>
              <dgm:else name="Name44">
                <dgm:choose name="Name45">
                  <dgm:if name="Name46" axis="root ch" ptType="all node" func="cnt" op="equ" val="2">
                    <dgm:presOf axis="root ch desOrSelf" ptType="all node node" st="1 2 1" cnt="1 1 0"/>
                  </dgm:if>
                  <dgm:else name="Name47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else>
      </dgm:choose>
    </dgm:forEach>
    <dgm:forEach name="Name48" axis="ch" ptType="node" st="2" cnt="1">
      <dgm:layoutNode name="circ2" styleLbl="vennNode1">
        <dgm:alg type="sp"/>
        <dgm:shape xmlns:r="http://schemas.openxmlformats.org/officeDocument/2006/relationships" type="ellipse" r:blip="">
          <dgm:adjLst/>
        </dgm:shape>
        <dgm:choose name="Name49">
          <dgm:if name="Name50" func="var" arg="dir" op="equ" val="norm">
            <dgm:choose name="Name51">
              <dgm:if name="Name52" axis="root ch" ptType="all node" func="cnt" op="lte" val="4">
                <dgm:presOf axis="desOrSelf" ptType="node"/>
              </dgm:if>
              <dgm:else name="Name53">
                <dgm:presOf/>
              </dgm:else>
            </dgm:choose>
          </dgm:if>
          <dgm:else name="Name54">
            <dgm:choose name="Name55">
              <dgm:if name="Name56" axis="root ch" ptType="all node" func="cnt" op="equ" val="2">
                <dgm:presOf axis="root ch desOrSelf" ptType="all node node" st="1 1 1" cnt="1 1 0"/>
              </dgm:if>
              <dgm:if name="Name57" axis="root ch" ptType="all node" func="cnt" op="equ" val="3">
                <dgm:presOf axis="root ch desOrSelf" ptType="all node node" st="1 3 1" cnt="1 1 0"/>
              </dgm:if>
              <dgm:if name="Name58" axis="root ch" ptType="all node" func="cnt" op="equ" val="4">
                <dgm:presOf axis="root ch desOrSelf" ptType="all node node" st="1 4 1" cnt="1 1 0"/>
              </dgm:if>
              <dgm:else name="Name59">
                <dgm:presOf/>
              </dgm:else>
            </dgm:choose>
          </dgm:else>
        </dgm:choose>
        <dgm:constrLst/>
        <dgm:ruleLst/>
      </dgm:layoutNode>
      <dgm:layoutNode name="circ2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60">
          <dgm:if name="Name61" func="var" arg="dir" op="equ" val="norm">
            <dgm:presOf axis="desOrSelf" ptType="node"/>
          </dgm:if>
          <dgm:else name="Name62">
            <dgm:choose name="Name63">
              <dgm:if name="Name64" axis="root ch" ptType="all node" func="cnt" op="equ" val="2">
                <dgm:presOf axis="root ch desOrSelf" ptType="all node node" st="1 1 1" cnt="1 1 0"/>
              </dgm:if>
              <dgm:if name="Name65" axis="root ch" ptType="all node" func="cnt" op="equ" val="3">
                <dgm:presOf axis="root ch desOrSelf" ptType="all node node" st="1 3 1" cnt="1 1 0"/>
              </dgm:if>
              <dgm:if name="Name66" axis="root ch" ptType="all node" func="cnt" op="equ" val="4">
                <dgm:presOf axis="root ch desOrSelf" ptType="all node node" st="1 4 1" cnt="1 1 0"/>
              </dgm:if>
              <dgm:if name="Name67" axis="root ch" ptType="all node" func="cnt" op="equ" val="5">
                <dgm:presOf axis="root ch desOrSelf" ptType="all node node" st="1 5 1" cnt="1 1 0"/>
              </dgm:if>
              <dgm:if name="Name68" axis="root ch" ptType="all node" func="cnt" op="equ" val="6">
                <dgm:presOf axis="root ch desOrSelf" ptType="all node node" st="1 6 1" cnt="1 1 0"/>
              </dgm:if>
              <dgm:else name="Name69">
                <dgm:presOf axis="root ch desOrSelf" ptType="all node node" st="1 7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70" axis="ch" ptType="node" st="3" cnt="1">
      <dgm:layoutNode name="circ3" styleLbl="vennNode1">
        <dgm:alg type="sp"/>
        <dgm:shape xmlns:r="http://schemas.openxmlformats.org/officeDocument/2006/relationships" type="ellipse" r:blip="">
          <dgm:adjLst/>
        </dgm:shape>
        <dgm:choose name="Name71">
          <dgm:if name="Name72" func="var" arg="dir" op="equ" val="norm">
            <dgm:choose name="Name73">
              <dgm:if name="Name74" axis="root ch" ptType="all node" func="cnt" op="lte" val="4">
                <dgm:presOf axis="desOrSelf" ptType="node"/>
              </dgm:if>
              <dgm:else name="Name75">
                <dgm:presOf/>
              </dgm:else>
            </dgm:choose>
          </dgm:if>
          <dgm:else name="Name76">
            <dgm:choose name="Name77">
              <dgm:if name="Name78" axis="root ch" ptType="all node" func="cnt" op="equ" val="3">
                <dgm:presOf axis="root ch desOrSelf" ptType="all node node" st="1 2 1" cnt="1 1 0"/>
              </dgm:if>
              <dgm:if name="Name79" axis="root ch" ptType="all node" func="cnt" op="equ" val="4">
                <dgm:presOf axis="root ch desOrSelf" ptType="all node node" st="1 3 1" cnt="1 1 0"/>
              </dgm:if>
              <dgm:else name="Name80">
                <dgm:presOf/>
              </dgm:else>
            </dgm:choose>
          </dgm:else>
        </dgm:choose>
        <dgm:constrLst/>
        <dgm:ruleLst/>
      </dgm:layoutNode>
      <dgm:layoutNode name="circ3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81">
          <dgm:if name="Name82" func="var" arg="dir" op="equ" val="norm">
            <dgm:presOf axis="desOrSelf" ptType="node"/>
          </dgm:if>
          <dgm:else name="Name83">
            <dgm:choose name="Name84">
              <dgm:if name="Name85" axis="root ch" ptType="all node" func="cnt" op="equ" val="3">
                <dgm:presOf axis="root ch desOrSelf" ptType="all node node" st="1 2 1" cnt="1 1 0"/>
              </dgm:if>
              <dgm:if name="Name86" axis="root ch" ptType="all node" func="cnt" op="equ" val="4">
                <dgm:presOf axis="root ch desOrSelf" ptType="all node node" st="1 3 1" cnt="1 1 0"/>
              </dgm:if>
              <dgm:if name="Name87" axis="root ch" ptType="all node" func="cnt" op="equ" val="5">
                <dgm:presOf axis="root ch desOrSelf" ptType="all node node" st="1 4 1" cnt="1 1 0"/>
              </dgm:if>
              <dgm:if name="Name88" axis="root ch" ptType="all node" func="cnt" op="equ" val="6">
                <dgm:presOf axis="root ch desOrSelf" ptType="all node node" st="1 5 1" cnt="1 1 0"/>
              </dgm:if>
              <dgm:else name="Name89">
                <dgm:presOf axis="root ch desOrSelf" ptType="all node node" st="1 6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circ4" styleLbl="vennNode1">
        <dgm:alg type="sp"/>
        <dgm:shape xmlns:r="http://schemas.openxmlformats.org/officeDocument/2006/relationships" type="ellipse" r:blip="">
          <dgm:adjLst/>
        </dgm:shape>
        <dgm:choose name="Name91">
          <dgm:if name="Name92" func="var" arg="dir" op="equ" val="norm">
            <dgm:choose name="Name93">
              <dgm:if name="Name94" axis="root ch" ptType="all node" func="cnt" op="lte" val="4">
                <dgm:presOf axis="desOrSelf" ptType="node"/>
              </dgm:if>
              <dgm:else name="Name95">
                <dgm:presOf/>
              </dgm:else>
            </dgm:choose>
          </dgm:if>
          <dgm:else name="Name96">
            <dgm:choose name="Name97">
              <dgm:if name="Name98" axis="root ch" ptType="all node" func="cnt" op="equ" val="4">
                <dgm:presOf axis="root ch desOrSelf" ptType="all node node" st="1 2 1" cnt="1 1 0"/>
              </dgm:if>
              <dgm:else name="Name99">
                <dgm:presOf/>
              </dgm:else>
            </dgm:choose>
          </dgm:else>
        </dgm:choose>
        <dgm:constrLst/>
        <dgm:ruleLst/>
      </dgm:layoutNode>
      <dgm:layoutNode name="circ4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0">
          <dgm:if name="Name101" func="var" arg="dir" op="equ" val="norm">
            <dgm:presOf axis="desOrSelf" ptType="node"/>
          </dgm:if>
          <dgm:else name="Name102">
            <dgm:choose name="Name103">
              <dgm:if name="Name104" axis="root ch" ptType="all node" func="cnt" op="equ" val="4">
                <dgm:presOf axis="root ch desOrSelf" ptType="all node node" st="1 2 1" cnt="1 1 0"/>
              </dgm:if>
              <dgm:if name="Name105" axis="root ch" ptType="all node" func="cnt" op="equ" val="5">
                <dgm:presOf axis="root ch desOrSelf" ptType="all node node" st="1 3 1" cnt="1 1 0"/>
              </dgm:if>
              <dgm:if name="Name106" axis="root ch" ptType="all node" func="cnt" op="equ" val="6">
                <dgm:presOf axis="root ch desOrSelf" ptType="all node node" st="1 4 1" cnt="1 1 0"/>
              </dgm:if>
              <dgm:else name="Name107">
                <dgm:presOf axis="root ch desOrSelf" ptType="all node node" st="1 5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08" axis="ch" ptType="node" st="5" cnt="1">
      <dgm:layoutNode name="circ5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5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9">
          <dgm:if name="Name110" func="var" arg="dir" op="equ" val="norm">
            <dgm:presOf axis="desOrSelf" ptType="node"/>
          </dgm:if>
          <dgm:else name="Name111">
            <dgm:choose name="Name112">
              <dgm:if name="Name113" axis="root ch" ptType="all node" func="cnt" op="equ" val="5">
                <dgm:presOf axis="root ch desOrSelf" ptType="all node node" st="1 2 1" cnt="1 1 0"/>
              </dgm:if>
              <dgm:if name="Name114" axis="root ch" ptType="all node" func="cnt" op="equ" val="6">
                <dgm:presOf axis="root ch desOrSelf" ptType="all node node" st="1 3 1" cnt="1 1 0"/>
              </dgm:if>
              <dgm:else name="Name115">
                <dgm:presOf axis="root ch desOrSelf" ptType="all node node" st="1 4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16" axis="ch" ptType="node" st="6" cnt="1">
      <dgm:layoutNode name="circ6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6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17">
          <dgm:if name="Name118" func="var" arg="dir" op="equ" val="norm">
            <dgm:presOf axis="desOrSelf" ptType="node"/>
          </dgm:if>
          <dgm:else name="Name119">
            <dgm:choose name="Name120">
              <dgm:if name="Name121" axis="root ch" ptType="all node" func="cnt" op="equ" val="6">
                <dgm:presOf axis="root ch desOrSelf" ptType="all node node" st="1 2 1" cnt="1 1 0"/>
              </dgm:if>
              <dgm:else name="Name122">
                <dgm:presOf axis="root ch desOrSelf" ptType="all node node" st="1 3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23" axis="ch" ptType="node" st="7" cnt="1">
      <dgm:layoutNode name="circ7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7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24">
          <dgm:if name="Name125" func="var" arg="dir" op="equ" val="norm">
            <dgm:presOf axis="desOrSelf" ptType="node"/>
          </dgm:if>
          <dgm:else name="Name126">
            <dgm:presOf axis="root ch desOrSelf" ptType="all node node" st="1 2 1" cnt="1 1 0"/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038258" cy="464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576" y="1"/>
            <a:ext cx="3038258" cy="464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623381-AFEF-490F-AA45-31EC49CF1500}" type="datetimeFigureOut">
              <a:rPr lang="en-US" smtClean="0"/>
              <a:pPr/>
              <a:t>4/7/2017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8830268"/>
            <a:ext cx="3038258" cy="4644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576" y="8830268"/>
            <a:ext cx="3038258" cy="4644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5BF31A-114D-494C-A5D5-F6526D17527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486694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038258" cy="464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576" y="1"/>
            <a:ext cx="3038258" cy="464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CA216A-1E3F-4AD2-B74F-855E5673142F}" type="datetimeFigureOut">
              <a:rPr lang="en-US" smtClean="0"/>
              <a:pPr/>
              <a:t>4/7/2017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0413" y="4415133"/>
            <a:ext cx="5609574" cy="41837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8830268"/>
            <a:ext cx="3038258" cy="4644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576" y="8830268"/>
            <a:ext cx="3038258" cy="4644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A09BFF-9304-4EE8-967B-56F816FBB8C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47389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9E985CD-0FB1-4244-87CC-A8D8BA843764}" type="slidenum">
              <a:rPr lang="en-US" smtClean="0"/>
              <a:pPr>
                <a:defRPr/>
              </a:pPr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84894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9E985CD-0FB1-4244-87CC-A8D8BA843764}" type="slidenum">
              <a:rPr lang="en-US" smtClean="0"/>
              <a:pPr>
                <a:defRPr/>
              </a:pPr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31996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9E985CD-0FB1-4244-87CC-A8D8BA843764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47375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9E985CD-0FB1-4244-87CC-A8D8BA843764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75806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A09BFF-9304-4EE8-967B-56F816FBB8C1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22743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A09BFF-9304-4EE8-967B-56F816FBB8C1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55939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9E985CD-0FB1-4244-87CC-A8D8BA843764}" type="slidenum">
              <a:rPr lang="en-US" smtClean="0"/>
              <a:pPr>
                <a:defRPr/>
              </a:pPr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893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9E985CD-0FB1-4244-87CC-A8D8BA843764}" type="slidenum">
              <a:rPr lang="en-US" smtClean="0"/>
              <a:pPr>
                <a:defRPr/>
              </a:pPr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102937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9E985CD-0FB1-4244-87CC-A8D8BA843764}" type="slidenum">
              <a:rPr lang="en-US" smtClean="0"/>
              <a:pPr>
                <a:defRPr/>
              </a:pPr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417934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9E985CD-0FB1-4244-87CC-A8D8BA843764}" type="slidenum">
              <a:rPr lang="en-US" smtClean="0"/>
              <a:pPr>
                <a:defRPr/>
              </a:pPr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454038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9E985CD-0FB1-4244-87CC-A8D8BA843764}" type="slidenum">
              <a:rPr lang="en-US" smtClean="0"/>
              <a:pPr>
                <a:defRPr/>
              </a:pPr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145635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Delete specs table?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9E985CD-0FB1-4244-87CC-A8D8BA843764}" type="slidenum">
              <a:rPr lang="en-US" smtClean="0"/>
              <a:pPr>
                <a:defRPr/>
              </a:pPr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334229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Delete specs table?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9E985CD-0FB1-4244-87CC-A8D8BA843764}" type="slidenum">
              <a:rPr lang="en-US" smtClean="0"/>
              <a:pPr>
                <a:defRPr/>
              </a:pPr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487353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9E985CD-0FB1-4244-87CC-A8D8BA843764}" type="slidenum">
              <a:rPr lang="en-US" smtClean="0"/>
              <a:pPr>
                <a:defRPr/>
              </a:pPr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099433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9E985CD-0FB1-4244-87CC-A8D8BA843764}" type="slidenum">
              <a:rPr lang="en-US" smtClean="0"/>
              <a:pPr>
                <a:defRPr/>
              </a:pPr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466710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9E985CD-0FB1-4244-87CC-A8D8BA843764}" type="slidenum">
              <a:rPr lang="en-US" smtClean="0"/>
              <a:pPr>
                <a:defRPr/>
              </a:pPr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184464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5997609-418E-4D0C-9783-1B23ADC71C1C}" type="slidenum">
              <a:rPr lang="en-US"/>
              <a:pPr/>
              <a:t>23</a:t>
            </a:fld>
            <a:endParaRPr lang="en-US" dirty="0"/>
          </a:p>
        </p:txBody>
      </p:sp>
      <p:sp>
        <p:nvSpPr>
          <p:cNvPr id="829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14139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74231" y="930872"/>
            <a:ext cx="2817272" cy="73998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14400" y="2943225"/>
            <a:ext cx="6400800" cy="64008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 smtClean="0"/>
              <a:t>Click to Edit MACOM Title Slide </a:t>
            </a:r>
            <a:br>
              <a:rPr lang="en-US" dirty="0" smtClean="0"/>
            </a:br>
            <a:r>
              <a:rPr lang="en-US" dirty="0" smtClean="0"/>
              <a:t>Arial Black 24pt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914400" y="3749040"/>
            <a:ext cx="4572000" cy="731520"/>
          </a:xfrm>
        </p:spPr>
        <p:txBody>
          <a:bodyPr/>
          <a:lstStyle>
            <a:lvl1pPr marL="0" indent="0">
              <a:spcBef>
                <a:spcPts val="600"/>
              </a:spcBef>
              <a:buFontTx/>
              <a:buNone/>
              <a:defRPr sz="1800" baseline="0">
                <a:solidFill>
                  <a:schemeClr val="bg1"/>
                </a:solidFill>
              </a:defRPr>
            </a:lvl1pPr>
            <a:lvl2pPr marL="400050" indent="0">
              <a:buFontTx/>
              <a:buNone/>
              <a:defRPr/>
            </a:lvl2pPr>
            <a:lvl3pPr marL="800100" indent="0">
              <a:buFontTx/>
              <a:buNone/>
              <a:defRPr/>
            </a:lvl3pPr>
            <a:lvl4pPr marL="1143000" indent="0">
              <a:buFontTx/>
              <a:buNone/>
              <a:defRPr/>
            </a:lvl4pPr>
            <a:lvl5pPr marL="1543050" indent="0">
              <a:buFontTx/>
              <a:buNone/>
              <a:defRPr/>
            </a:lvl5pPr>
          </a:lstStyle>
          <a:p>
            <a:r>
              <a:rPr lang="en-US" dirty="0" smtClean="0"/>
              <a:t>Click to edit Subhead Arial 18pt</a:t>
            </a:r>
            <a:br>
              <a:rPr lang="en-US" dirty="0" smtClean="0"/>
            </a:br>
            <a:r>
              <a:rPr lang="en-US" dirty="0" smtClean="0"/>
              <a:t>Presenter Name and Date</a:t>
            </a: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4343400"/>
            <a:ext cx="9144000" cy="25146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342426"/>
            <a:ext cx="8766807" cy="2779776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13715" y="346569"/>
            <a:ext cx="1484623" cy="247437"/>
          </a:xfrm>
          <a:prstGeom prst="rect">
            <a:avLst/>
          </a:prstGeom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188554" y="1920240"/>
            <a:ext cx="7315200" cy="640080"/>
          </a:xfrm>
        </p:spPr>
        <p:txBody>
          <a:bodyPr anchor="b" anchorCtr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1188554" y="2651760"/>
            <a:ext cx="7315200" cy="914400"/>
          </a:xfrm>
        </p:spPr>
        <p:txBody>
          <a:bodyPr/>
          <a:lstStyle>
            <a:lvl1pPr marL="0" indent="0">
              <a:buFontTx/>
              <a:buNone/>
              <a:defRPr sz="1800">
                <a:solidFill>
                  <a:schemeClr val="bg1"/>
                </a:solidFill>
              </a:defRPr>
            </a:lvl1pPr>
            <a:lvl2pPr marL="400050" indent="0">
              <a:buFontTx/>
              <a:buNone/>
              <a:defRPr/>
            </a:lvl2pPr>
            <a:lvl3pPr marL="800100" indent="0">
              <a:buFontTx/>
              <a:buNone/>
              <a:defRPr/>
            </a:lvl3pPr>
            <a:lvl4pPr marL="1143000" indent="0">
              <a:buFontTx/>
              <a:buNone/>
              <a:defRPr/>
            </a:lvl4pPr>
            <a:lvl5pPr marL="154305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  <p:transition>
    <p:wipe dir="r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gray"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gray"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12750" y="310896"/>
            <a:ext cx="6400800" cy="365760"/>
          </a:xfrm>
        </p:spPr>
        <p:txBody>
          <a:bodyPr/>
          <a:lstStyle>
            <a:lvl1pPr>
              <a:defRPr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5" name="Text Placeholder 2"/>
          <p:cNvSpPr>
            <a:spLocks noGrp="1"/>
          </p:cNvSpPr>
          <p:nvPr>
            <p:ph type="body" idx="11"/>
          </p:nvPr>
        </p:nvSpPr>
        <p:spPr bwMode="gray">
          <a:xfrm>
            <a:off x="412749" y="676275"/>
            <a:ext cx="8316913" cy="365760"/>
          </a:xfrm>
        </p:spPr>
        <p:txBody>
          <a:bodyPr anchor="t" anchorCtr="0"/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sz="1800" b="0"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16113055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412750" y="1504951"/>
            <a:ext cx="4018280" cy="4668838"/>
          </a:xfrm>
        </p:spPr>
        <p:txBody>
          <a:bodyPr/>
          <a:lstStyle>
            <a:lvl1pPr>
              <a:spcBef>
                <a:spcPts val="1200"/>
              </a:spcBef>
              <a:defRPr sz="2000"/>
            </a:lvl1pPr>
            <a:lvl2pPr>
              <a:spcBef>
                <a:spcPts val="800"/>
              </a:spcBef>
              <a:defRPr sz="1800"/>
            </a:lvl2pPr>
            <a:lvl3pPr>
              <a:spcBef>
                <a:spcPts val="800"/>
              </a:spcBef>
              <a:defRPr sz="1600"/>
            </a:lvl3pPr>
            <a:lvl4pPr marL="1143000" indent="-228600">
              <a:spcBef>
                <a:spcPts val="800"/>
              </a:spcBef>
              <a:defRPr sz="1600"/>
            </a:lvl4pPr>
            <a:lvl5pPr marL="1485900" indent="-228600">
              <a:spcBef>
                <a:spcPts val="800"/>
              </a:spcBef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 bwMode="gray">
          <a:xfrm>
            <a:off x="4711383" y="1504951"/>
            <a:ext cx="4018280" cy="4668838"/>
          </a:xfrm>
        </p:spPr>
        <p:txBody>
          <a:bodyPr/>
          <a:lstStyle>
            <a:lvl1pPr>
              <a:spcBef>
                <a:spcPts val="1200"/>
              </a:spcBef>
              <a:defRPr sz="2000"/>
            </a:lvl1pPr>
            <a:lvl2pPr>
              <a:spcBef>
                <a:spcPts val="800"/>
              </a:spcBef>
              <a:defRPr sz="1800"/>
            </a:lvl2pPr>
            <a:lvl3pPr>
              <a:spcBef>
                <a:spcPts val="800"/>
              </a:spcBef>
              <a:defRPr sz="1600"/>
            </a:lvl3pPr>
            <a:lvl4pPr marL="1143000" indent="-228600">
              <a:spcBef>
                <a:spcPts val="800"/>
              </a:spcBef>
              <a:defRPr sz="1600"/>
            </a:lvl4pPr>
            <a:lvl5pPr marL="1485900" indent="-228600">
              <a:spcBef>
                <a:spcPts val="800"/>
              </a:spcBef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  <p:transition>
    <p:wipe dir="r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ith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412750" y="1504951"/>
            <a:ext cx="4018280" cy="4668838"/>
          </a:xfrm>
        </p:spPr>
        <p:txBody>
          <a:bodyPr/>
          <a:lstStyle>
            <a:lvl1pPr>
              <a:spcBef>
                <a:spcPts val="1200"/>
              </a:spcBef>
              <a:defRPr sz="2000"/>
            </a:lvl1pPr>
            <a:lvl2pPr>
              <a:spcBef>
                <a:spcPts val="800"/>
              </a:spcBef>
              <a:defRPr sz="1800"/>
            </a:lvl2pPr>
            <a:lvl3pPr>
              <a:spcBef>
                <a:spcPts val="800"/>
              </a:spcBef>
              <a:defRPr sz="1600"/>
            </a:lvl3pPr>
            <a:lvl4pPr marL="1143000" indent="-228600">
              <a:spcBef>
                <a:spcPts val="800"/>
              </a:spcBef>
              <a:defRPr sz="1600"/>
            </a:lvl4pPr>
            <a:lvl5pPr marL="1485900" indent="-228600">
              <a:spcBef>
                <a:spcPts val="800"/>
              </a:spcBef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 bwMode="gray">
          <a:xfrm>
            <a:off x="4711383" y="1504951"/>
            <a:ext cx="4018280" cy="4668838"/>
          </a:xfrm>
        </p:spPr>
        <p:txBody>
          <a:bodyPr/>
          <a:lstStyle>
            <a:lvl1pPr>
              <a:spcBef>
                <a:spcPts val="1200"/>
              </a:spcBef>
              <a:defRPr sz="2000"/>
            </a:lvl1pPr>
            <a:lvl2pPr>
              <a:spcBef>
                <a:spcPts val="800"/>
              </a:spcBef>
              <a:defRPr sz="1800"/>
            </a:lvl2pPr>
            <a:lvl3pPr>
              <a:spcBef>
                <a:spcPts val="800"/>
              </a:spcBef>
              <a:defRPr sz="1600"/>
            </a:lvl3pPr>
            <a:lvl4pPr marL="1143000" indent="-228600">
              <a:spcBef>
                <a:spcPts val="800"/>
              </a:spcBef>
              <a:defRPr sz="1600"/>
            </a:lvl4pPr>
            <a:lvl5pPr marL="1485900" indent="-228600">
              <a:spcBef>
                <a:spcPts val="800"/>
              </a:spcBef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2750" y="310896"/>
            <a:ext cx="6400800" cy="36576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5" name="Text Placeholder 2"/>
          <p:cNvSpPr>
            <a:spLocks noGrp="1"/>
          </p:cNvSpPr>
          <p:nvPr>
            <p:ph type="body" idx="11"/>
          </p:nvPr>
        </p:nvSpPr>
        <p:spPr bwMode="gray">
          <a:xfrm>
            <a:off x="412749" y="676275"/>
            <a:ext cx="6400800" cy="365760"/>
          </a:xfrm>
        </p:spPr>
        <p:txBody>
          <a:bodyPr anchor="t" anchorCtr="0"/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sz="1800" b="0"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97672987"/>
      </p:ext>
    </p:extLst>
  </p:cSld>
  <p:clrMapOvr>
    <a:masterClrMapping/>
  </p:clrMapOvr>
  <p:transition>
    <p:wipe dir="r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"/>
          <p:cNvSpPr>
            <a:spLocks noGrp="1"/>
          </p:cNvSpPr>
          <p:nvPr>
            <p:ph type="body" idx="1"/>
          </p:nvPr>
        </p:nvSpPr>
        <p:spPr bwMode="gray">
          <a:xfrm>
            <a:off x="412750" y="1504950"/>
            <a:ext cx="4018280" cy="640080"/>
          </a:xfr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285750" indent="-285750">
              <a:spcBef>
                <a:spcPts val="0"/>
              </a:spcBef>
              <a:buNone/>
              <a:defRPr lang="en-US" sz="1800" b="1" dirty="0" smtClean="0">
                <a:latin typeface="+mj-lt"/>
              </a:defRPr>
            </a:lvl1pPr>
          </a:lstStyle>
          <a:p>
            <a:pPr marL="0" lvl="0" indent="0"/>
            <a:r>
              <a:rPr lang="en-US" smtClean="0"/>
              <a:t>Click to edit Master text styles</a:t>
            </a:r>
          </a:p>
        </p:txBody>
      </p:sp>
      <p:sp>
        <p:nvSpPr>
          <p:cNvPr id="5" name="Content Placeholder 3"/>
          <p:cNvSpPr>
            <a:spLocks noGrp="1"/>
          </p:cNvSpPr>
          <p:nvPr>
            <p:ph sz="half" idx="2"/>
          </p:nvPr>
        </p:nvSpPr>
        <p:spPr bwMode="gray">
          <a:xfrm>
            <a:off x="412750" y="2126744"/>
            <a:ext cx="4018280" cy="4047044"/>
          </a:xfrm>
        </p:spPr>
        <p:txBody>
          <a:bodyPr/>
          <a:lstStyle>
            <a:lvl1pPr>
              <a:spcBef>
                <a:spcPts val="1200"/>
              </a:spcBef>
              <a:defRPr sz="2000"/>
            </a:lvl1pPr>
            <a:lvl2pPr>
              <a:spcBef>
                <a:spcPts val="800"/>
              </a:spcBef>
              <a:defRPr sz="1800"/>
            </a:lvl2pPr>
            <a:lvl3pPr>
              <a:spcBef>
                <a:spcPts val="800"/>
              </a:spcBef>
              <a:defRPr sz="1600"/>
            </a:lvl3pPr>
            <a:lvl4pPr>
              <a:spcBef>
                <a:spcPts val="800"/>
              </a:spcBef>
              <a:defRPr sz="1600"/>
            </a:lvl4pPr>
            <a:lvl5pPr marL="1600200" indent="-228600">
              <a:spcBef>
                <a:spcPts val="800"/>
              </a:spcBef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6" name="Text Placeholder 4"/>
          <p:cNvSpPr>
            <a:spLocks noGrp="1"/>
          </p:cNvSpPr>
          <p:nvPr>
            <p:ph type="body" sz="quarter" idx="3"/>
          </p:nvPr>
        </p:nvSpPr>
        <p:spPr bwMode="gray">
          <a:xfrm>
            <a:off x="4711383" y="1504950"/>
            <a:ext cx="4018280" cy="640080"/>
          </a:xfr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285750" indent="-285750">
              <a:spcBef>
                <a:spcPts val="0"/>
              </a:spcBef>
              <a:buNone/>
              <a:defRPr lang="en-US" sz="1800" b="1" dirty="0" smtClean="0">
                <a:latin typeface="+mj-lt"/>
              </a:defRPr>
            </a:lvl1pPr>
          </a:lstStyle>
          <a:p>
            <a:pPr marL="0" lvl="0" indent="0"/>
            <a:r>
              <a:rPr lang="en-US" smtClean="0"/>
              <a:t>Click to edit Master text styles</a:t>
            </a:r>
          </a:p>
        </p:txBody>
      </p:sp>
      <p:sp>
        <p:nvSpPr>
          <p:cNvPr id="7" name="Content Placeholder 5"/>
          <p:cNvSpPr>
            <a:spLocks noGrp="1"/>
          </p:cNvSpPr>
          <p:nvPr>
            <p:ph sz="quarter" idx="4"/>
          </p:nvPr>
        </p:nvSpPr>
        <p:spPr bwMode="gray">
          <a:xfrm>
            <a:off x="4711383" y="2126744"/>
            <a:ext cx="4018280" cy="4047044"/>
          </a:xfrm>
        </p:spPr>
        <p:txBody>
          <a:bodyPr/>
          <a:lstStyle>
            <a:lvl1pPr>
              <a:spcBef>
                <a:spcPts val="1200"/>
              </a:spcBef>
              <a:defRPr sz="2000"/>
            </a:lvl1pPr>
            <a:lvl2pPr>
              <a:spcBef>
                <a:spcPts val="800"/>
              </a:spcBef>
              <a:defRPr sz="1800"/>
            </a:lvl2pPr>
            <a:lvl3pPr>
              <a:spcBef>
                <a:spcPts val="800"/>
              </a:spcBef>
              <a:defRPr sz="1600"/>
            </a:lvl3pPr>
            <a:lvl4pPr>
              <a:spcBef>
                <a:spcPts val="800"/>
              </a:spcBef>
              <a:defRPr sz="1600"/>
            </a:lvl4pPr>
            <a:lvl5pPr marL="1485900" indent="-228600">
              <a:spcBef>
                <a:spcPts val="800"/>
              </a:spcBef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  <p:transition>
    <p:wipe dir="r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  <p:transition>
    <p:wipe dir="r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wipe dir="r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1.jp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92138" y="4988742"/>
            <a:ext cx="6330615" cy="993474"/>
          </a:xfrm>
        </p:spPr>
        <p:txBody>
          <a:bodyPr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pic>
        <p:nvPicPr>
          <p:cNvPr id="3" name="Picture 2" descr="banner 8 Jan_small.jpg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203575"/>
            <a:ext cx="9144000" cy="1792733"/>
          </a:xfrm>
          <a:prstGeom prst="rect">
            <a:avLst/>
          </a:prstGeom>
        </p:spPr>
      </p:pic>
      <p:pic>
        <p:nvPicPr>
          <p:cNvPr id="4" name="Picture 3" descr="MACOM wrdmrk 3025 TM Tag RFLT.png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40250" y="1600200"/>
            <a:ext cx="3446585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23804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0421223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ullet List - Standard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7719392" cy="533400"/>
          </a:xfrm>
          <a:prstGeom prst="rect">
            <a:avLst/>
          </a:prstGeo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4270" y="1059904"/>
            <a:ext cx="7726122" cy="5105400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spcBef>
                <a:spcPts val="1200"/>
              </a:spcBef>
              <a:defRPr b="0" i="0" baseline="0"/>
            </a:lvl1pPr>
            <a:lvl2pPr>
              <a:lnSpc>
                <a:spcPct val="100000"/>
              </a:lnSpc>
              <a:spcBef>
                <a:spcPts val="600"/>
              </a:spcBef>
              <a:defRPr sz="1800" b="0" i="0" baseline="0"/>
            </a:lvl2pPr>
            <a:lvl3pPr>
              <a:lnSpc>
                <a:spcPct val="100000"/>
              </a:lnSpc>
              <a:defRPr b="0" i="0" baseline="0"/>
            </a:lvl3pPr>
            <a:lvl4pPr>
              <a:lnSpc>
                <a:spcPct val="100000"/>
              </a:lnSpc>
              <a:spcBef>
                <a:spcPts val="600"/>
              </a:spcBef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1600200" y="6613525"/>
            <a:ext cx="609600" cy="2286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586BA18-6A16-43B4-BC6F-0B09B9E9A901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69486491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584200"/>
            <a:ext cx="8031163" cy="4572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609600" y="1343025"/>
            <a:ext cx="7988300" cy="4900613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38450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2592231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3096750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688856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430399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3647689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5587447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1997859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9900" y="209550"/>
            <a:ext cx="8229600" cy="939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69900" y="1330325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60900" y="1330325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60900" y="3668713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56081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4343400"/>
            <a:ext cx="9144000" cy="25146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13715" y="346569"/>
            <a:ext cx="1484623" cy="247437"/>
          </a:xfrm>
          <a:prstGeom prst="rect">
            <a:avLst/>
          </a:prstGeom>
        </p:spPr>
      </p:pic>
      <p:cxnSp>
        <p:nvCxnSpPr>
          <p:cNvPr id="11" name="Straight Connector 10"/>
          <p:cNvCxnSpPr/>
          <p:nvPr userDrawn="1"/>
        </p:nvCxnSpPr>
        <p:spPr bwMode="auto">
          <a:xfrm>
            <a:off x="0" y="1147763"/>
            <a:ext cx="8774810" cy="0"/>
          </a:xfrm>
          <a:prstGeom prst="line">
            <a:avLst/>
          </a:prstGeom>
          <a:solidFill>
            <a:schemeClr val="accent2"/>
          </a:solidFill>
          <a:ln w="28575" cap="sq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553986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12750" y="310896"/>
            <a:ext cx="6400800" cy="6400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  <a:endParaRPr lang="en-US" dirty="0" smtClean="0"/>
          </a:p>
        </p:txBody>
      </p:sp>
      <p:sp>
        <p:nvSpPr>
          <p:cNvPr id="553987" name="Rectangle 3"/>
          <p:cNvSpPr>
            <a:spLocks noGrp="1" noChangeArrowheads="1"/>
          </p:cNvSpPr>
          <p:nvPr>
            <p:ph type="body" idx="1"/>
          </p:nvPr>
        </p:nvSpPr>
        <p:spPr bwMode="gray">
          <a:xfrm>
            <a:off x="412751" y="1504951"/>
            <a:ext cx="8316912" cy="4668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553996" name="Text Box 12"/>
          <p:cNvSpPr txBox="1">
            <a:spLocks noChangeArrowheads="1"/>
          </p:cNvSpPr>
          <p:nvPr userDrawn="1"/>
        </p:nvSpPr>
        <p:spPr bwMode="gray">
          <a:xfrm>
            <a:off x="412750" y="6557963"/>
            <a:ext cx="5600700" cy="30003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91440" tIns="45720" rIns="91440" bIns="45720"/>
          <a:lstStyle/>
          <a:p>
            <a:pPr algn="l">
              <a:spcBef>
                <a:spcPts val="900"/>
              </a:spcBef>
            </a:pPr>
            <a:r>
              <a:rPr lang="en-US" sz="1000" kern="1200" dirty="0" smtClean="0">
                <a:solidFill>
                  <a:schemeClr val="tx2"/>
                </a:solidFill>
                <a:latin typeface="Arial" charset="0"/>
                <a:ea typeface="+mn-ea"/>
                <a:cs typeface="+mn-cs"/>
              </a:rPr>
              <a:t>Company Confidential</a:t>
            </a:r>
          </a:p>
        </p:txBody>
      </p:sp>
      <p:sp>
        <p:nvSpPr>
          <p:cNvPr id="7" name="Rectangle 5"/>
          <p:cNvSpPr txBox="1">
            <a:spLocks noChangeArrowheads="1"/>
          </p:cNvSpPr>
          <p:nvPr/>
        </p:nvSpPr>
        <p:spPr bwMode="gray">
          <a:xfrm>
            <a:off x="7926388" y="6557963"/>
            <a:ext cx="803275" cy="300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320040" numCol="1" anchor="t" anchorCtr="0" compatLnSpc="1">
            <a:prstTxWarp prst="textNoShape">
              <a:avLst/>
            </a:prstTxWarp>
          </a:bodyPr>
          <a:lstStyle>
            <a:lvl1pPr algn="r" eaLnBrk="0" hangingPunct="0">
              <a:lnSpc>
                <a:spcPct val="100000"/>
              </a:lnSpc>
              <a:spcBef>
                <a:spcPct val="0"/>
              </a:spcBef>
              <a:defRPr sz="1000">
                <a:solidFill>
                  <a:schemeClr val="tx2"/>
                </a:solidFill>
              </a:defRPr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C78AFB4-C6FC-46C2-866E-1D035D18C51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  <p:sldLayoutId id="2147483701" r:id="rId2"/>
    <p:sldLayoutId id="2147483700" r:id="rId3"/>
    <p:sldLayoutId id="2147483713" r:id="rId4"/>
    <p:sldLayoutId id="2147483702" r:id="rId5"/>
    <p:sldLayoutId id="2147483715" r:id="rId6"/>
    <p:sldLayoutId id="2147483712" r:id="rId7"/>
    <p:sldLayoutId id="2147483704" r:id="rId8"/>
    <p:sldLayoutId id="2147483705" r:id="rId9"/>
    <p:sldLayoutId id="2147483716" r:id="rId10"/>
    <p:sldLayoutId id="2147483717" r:id="rId11"/>
    <p:sldLayoutId id="2147483718" r:id="rId12"/>
    <p:sldLayoutId id="2147483719" r:id="rId13"/>
    <p:sldLayoutId id="2147483721" r:id="rId14"/>
    <p:sldLayoutId id="2147483722" r:id="rId15"/>
    <p:sldLayoutId id="2147483724" r:id="rId16"/>
    <p:sldLayoutId id="2147483725" r:id="rId17"/>
    <p:sldLayoutId id="2147483726" r:id="rId18"/>
    <p:sldLayoutId id="2147483727" r:id="rId19"/>
    <p:sldLayoutId id="2147483728" r:id="rId20"/>
    <p:sldLayoutId id="2147483729" r:id="rId21"/>
  </p:sldLayoutIdLst>
  <p:transition>
    <p:wipe dir="r"/>
  </p:transition>
  <p:timing>
    <p:tnLst>
      <p:par>
        <p:cTn id="1" dur="indefinite" restart="never" nodeType="tmRoot"/>
      </p:par>
    </p:tnLst>
  </p:timing>
  <p:hf sldNum="0" hdr="0" ftr="0" dt="0"/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400" b="0" i="0" u="none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charset="0"/>
        </a:defRPr>
      </a:lvl9pPr>
    </p:titleStyle>
    <p:bodyStyle>
      <a:lvl1pPr marL="285750" indent="-285750" algn="l" rtl="0" eaLnBrk="1" fontAlgn="base" hangingPunct="1">
        <a:lnSpc>
          <a:spcPct val="95000"/>
        </a:lnSpc>
        <a:spcBef>
          <a:spcPts val="1200"/>
        </a:spcBef>
        <a:spcAft>
          <a:spcPct val="0"/>
        </a:spcAft>
        <a:buClr>
          <a:schemeClr val="accent2"/>
        </a:buClr>
        <a:buFont typeface="Arial Black" panose="020B0A04020102020204" pitchFamily="34" charset="0"/>
        <a:buChar char="&gt;"/>
        <a:defRPr sz="2000">
          <a:solidFill>
            <a:schemeClr val="tx2"/>
          </a:solidFill>
          <a:latin typeface="+mn-lt"/>
          <a:ea typeface="+mn-ea"/>
          <a:cs typeface="+mn-cs"/>
        </a:defRPr>
      </a:lvl1pPr>
      <a:lvl2pPr marL="571500" indent="-228600" algn="l" rtl="0" eaLnBrk="1" fontAlgn="base" hangingPunct="1">
        <a:lnSpc>
          <a:spcPct val="95000"/>
        </a:lnSpc>
        <a:spcBef>
          <a:spcPts val="800"/>
        </a:spcBef>
        <a:spcAft>
          <a:spcPct val="0"/>
        </a:spcAft>
        <a:buClr>
          <a:schemeClr val="accent2"/>
        </a:buClr>
        <a:buFont typeface="Arial" panose="020B0604020202020204" pitchFamily="34" charset="0"/>
        <a:buChar char="•"/>
        <a:defRPr sz="1800">
          <a:solidFill>
            <a:schemeClr val="tx2"/>
          </a:solidFill>
          <a:latin typeface="+mn-lt"/>
        </a:defRPr>
      </a:lvl2pPr>
      <a:lvl3pPr marL="857250" indent="-228600" algn="l" rtl="0" eaLnBrk="1" fontAlgn="base" hangingPunct="1">
        <a:lnSpc>
          <a:spcPct val="95000"/>
        </a:lnSpc>
        <a:spcBef>
          <a:spcPts val="800"/>
        </a:spcBef>
        <a:spcAft>
          <a:spcPct val="0"/>
        </a:spcAft>
        <a:buClr>
          <a:schemeClr val="accent2"/>
        </a:buClr>
        <a:buFont typeface="Arial" panose="020B0604020202020204" pitchFamily="34" charset="0"/>
        <a:buChar char="•"/>
        <a:defRPr sz="1600">
          <a:solidFill>
            <a:schemeClr val="tx2"/>
          </a:solidFill>
          <a:latin typeface="+mn-lt"/>
        </a:defRPr>
      </a:lvl3pPr>
      <a:lvl4pPr marL="1143000" indent="-228600" algn="l" rtl="0" eaLnBrk="1" fontAlgn="base" hangingPunct="1">
        <a:lnSpc>
          <a:spcPct val="95000"/>
        </a:lnSpc>
        <a:spcBef>
          <a:spcPts val="800"/>
        </a:spcBef>
        <a:spcAft>
          <a:spcPct val="0"/>
        </a:spcAft>
        <a:buClr>
          <a:schemeClr val="accent2"/>
        </a:buClr>
        <a:buFont typeface="Arial" panose="020B0604020202020204" pitchFamily="34" charset="0"/>
        <a:buChar char="•"/>
        <a:defRPr sz="1600">
          <a:solidFill>
            <a:schemeClr val="tx2"/>
          </a:solidFill>
          <a:latin typeface="+mn-lt"/>
        </a:defRPr>
      </a:lvl4pPr>
      <a:lvl5pPr marL="1485900" indent="-228600" algn="l" rtl="0" eaLnBrk="1" fontAlgn="base" hangingPunct="1">
        <a:lnSpc>
          <a:spcPct val="95000"/>
        </a:lnSpc>
        <a:spcBef>
          <a:spcPts val="800"/>
        </a:spcBef>
        <a:spcAft>
          <a:spcPct val="0"/>
        </a:spcAft>
        <a:buClr>
          <a:schemeClr val="accent2"/>
        </a:buClr>
        <a:buFont typeface="Arial" panose="020B0604020202020204" pitchFamily="34" charset="0"/>
        <a:buChar char="•"/>
        <a:defRPr sz="1600">
          <a:solidFill>
            <a:schemeClr val="tx2"/>
          </a:solidFill>
          <a:latin typeface="+mn-lt"/>
        </a:defRPr>
      </a:lvl5pPr>
      <a:lvl6pPr marL="2228850" indent="-228600" algn="l" rtl="0" eaLnBrk="1" fontAlgn="base" hangingPunct="1">
        <a:lnSpc>
          <a:spcPct val="95000"/>
        </a:lnSpc>
        <a:spcBef>
          <a:spcPct val="25000"/>
        </a:spcBef>
        <a:spcAft>
          <a:spcPct val="0"/>
        </a:spcAft>
        <a:buClr>
          <a:schemeClr val="accent1"/>
        </a:buClr>
        <a:buChar char="•"/>
        <a:defRPr sz="1600">
          <a:solidFill>
            <a:schemeClr val="tx1"/>
          </a:solidFill>
          <a:latin typeface="+mn-lt"/>
        </a:defRPr>
      </a:lvl6pPr>
      <a:lvl7pPr marL="2686050" indent="-228600" algn="l" rtl="0" eaLnBrk="1" fontAlgn="base" hangingPunct="1">
        <a:lnSpc>
          <a:spcPct val="95000"/>
        </a:lnSpc>
        <a:spcBef>
          <a:spcPct val="25000"/>
        </a:spcBef>
        <a:spcAft>
          <a:spcPct val="0"/>
        </a:spcAft>
        <a:buClr>
          <a:schemeClr val="accent1"/>
        </a:buClr>
        <a:buChar char="•"/>
        <a:defRPr sz="1600">
          <a:solidFill>
            <a:schemeClr val="tx1"/>
          </a:solidFill>
          <a:latin typeface="+mn-lt"/>
        </a:defRPr>
      </a:lvl7pPr>
      <a:lvl8pPr marL="3143250" indent="-228600" algn="l" rtl="0" eaLnBrk="1" fontAlgn="base" hangingPunct="1">
        <a:lnSpc>
          <a:spcPct val="95000"/>
        </a:lnSpc>
        <a:spcBef>
          <a:spcPct val="25000"/>
        </a:spcBef>
        <a:spcAft>
          <a:spcPct val="0"/>
        </a:spcAft>
        <a:buClr>
          <a:schemeClr val="accent1"/>
        </a:buClr>
        <a:buChar char="•"/>
        <a:defRPr sz="1600">
          <a:solidFill>
            <a:schemeClr val="tx1"/>
          </a:solidFill>
          <a:latin typeface="+mn-lt"/>
        </a:defRPr>
      </a:lvl8pPr>
      <a:lvl9pPr marL="3600450" indent="-228600" algn="l" rtl="0" eaLnBrk="1" fontAlgn="base" hangingPunct="1">
        <a:lnSpc>
          <a:spcPct val="95000"/>
        </a:lnSpc>
        <a:spcBef>
          <a:spcPct val="25000"/>
        </a:spcBef>
        <a:spcAft>
          <a:spcPct val="0"/>
        </a:spcAft>
        <a:buClr>
          <a:schemeClr val="accent1"/>
        </a:buClr>
        <a:buChar char="•"/>
        <a:defRPr sz="16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2.png"/><Relationship Id="rId5" Type="http://schemas.openxmlformats.org/officeDocument/2006/relationships/image" Target="../media/image11.jpeg"/><Relationship Id="rId4" Type="http://schemas.openxmlformats.org/officeDocument/2006/relationships/image" Target="../media/image10.jpeg"/><Relationship Id="rId9" Type="http://schemas.openxmlformats.org/officeDocument/2006/relationships/image" Target="../media/image15.emf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6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jpeg"/><Relationship Id="rId3" Type="http://schemas.openxmlformats.org/officeDocument/2006/relationships/image" Target="../media/image27.png"/><Relationship Id="rId7" Type="http://schemas.openxmlformats.org/officeDocument/2006/relationships/image" Target="../media/image31.jpe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0.jpeg"/><Relationship Id="rId11" Type="http://schemas.openxmlformats.org/officeDocument/2006/relationships/image" Target="../media/image13.png"/><Relationship Id="rId5" Type="http://schemas.openxmlformats.org/officeDocument/2006/relationships/image" Target="../media/image29.emf"/><Relationship Id="rId10" Type="http://schemas.openxmlformats.org/officeDocument/2006/relationships/image" Target="../media/image12.png"/><Relationship Id="rId4" Type="http://schemas.openxmlformats.org/officeDocument/2006/relationships/image" Target="../media/image28.jpeg"/><Relationship Id="rId9" Type="http://schemas.openxmlformats.org/officeDocument/2006/relationships/image" Target="../media/image33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36.png"/><Relationship Id="rId4" Type="http://schemas.openxmlformats.org/officeDocument/2006/relationships/image" Target="../media/image35.w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40.png"/><Relationship Id="rId5" Type="http://schemas.openxmlformats.org/officeDocument/2006/relationships/image" Target="../media/image39.jpeg"/><Relationship Id="rId4" Type="http://schemas.openxmlformats.org/officeDocument/2006/relationships/image" Target="../media/image3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848955"/>
            <a:ext cx="7136296" cy="64008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MACOM</a:t>
            </a:r>
            <a:br>
              <a:rPr lang="en-US" dirty="0" smtClean="0"/>
            </a:br>
            <a:r>
              <a:rPr lang="en-US" dirty="0" smtClean="0"/>
              <a:t>Diode Products – AlGaAs Control Products</a:t>
            </a:r>
            <a:br>
              <a:rPr lang="en-US" dirty="0" smtClean="0"/>
            </a:br>
            <a:r>
              <a:rPr lang="en-US" dirty="0" smtClean="0"/>
              <a:t>rev </a:t>
            </a:r>
            <a:r>
              <a:rPr lang="en-US" dirty="0" smtClean="0"/>
              <a:t>1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914400" y="3777321"/>
            <a:ext cx="4572000" cy="731520"/>
          </a:xfrm>
        </p:spPr>
        <p:txBody>
          <a:bodyPr/>
          <a:lstStyle/>
          <a:p>
            <a:r>
              <a:rPr lang="en-US" dirty="0" smtClean="0"/>
              <a:t>Joe Bukowski, Rick Cory</a:t>
            </a:r>
          </a:p>
          <a:p>
            <a:r>
              <a:rPr lang="en-US" dirty="0" smtClean="0"/>
              <a:t>23 March 2017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13009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436795" y="422029"/>
            <a:ext cx="5247568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3200" b="1" dirty="0" smtClean="0"/>
              <a:t>Product Families</a:t>
            </a:r>
          </a:p>
        </p:txBody>
      </p:sp>
      <p:sp>
        <p:nvSpPr>
          <p:cNvPr id="30" name="Freeform 29"/>
          <p:cNvSpPr/>
          <p:nvPr/>
        </p:nvSpPr>
        <p:spPr>
          <a:xfrm>
            <a:off x="3572029" y="3457545"/>
            <a:ext cx="1674580" cy="1150965"/>
          </a:xfrm>
          <a:custGeom>
            <a:avLst/>
            <a:gdLst>
              <a:gd name="connsiteX0" fmla="*/ 0 w 1196197"/>
              <a:gd name="connsiteY0" fmla="*/ 59810 h 598098"/>
              <a:gd name="connsiteX1" fmla="*/ 17518 w 1196197"/>
              <a:gd name="connsiteY1" fmla="*/ 17518 h 598098"/>
              <a:gd name="connsiteX2" fmla="*/ 59810 w 1196197"/>
              <a:gd name="connsiteY2" fmla="*/ 0 h 598098"/>
              <a:gd name="connsiteX3" fmla="*/ 1136387 w 1196197"/>
              <a:gd name="connsiteY3" fmla="*/ 0 h 598098"/>
              <a:gd name="connsiteX4" fmla="*/ 1178679 w 1196197"/>
              <a:gd name="connsiteY4" fmla="*/ 17518 h 598098"/>
              <a:gd name="connsiteX5" fmla="*/ 1196197 w 1196197"/>
              <a:gd name="connsiteY5" fmla="*/ 59810 h 598098"/>
              <a:gd name="connsiteX6" fmla="*/ 1196197 w 1196197"/>
              <a:gd name="connsiteY6" fmla="*/ 538288 h 598098"/>
              <a:gd name="connsiteX7" fmla="*/ 1178679 w 1196197"/>
              <a:gd name="connsiteY7" fmla="*/ 580580 h 598098"/>
              <a:gd name="connsiteX8" fmla="*/ 1136387 w 1196197"/>
              <a:gd name="connsiteY8" fmla="*/ 598098 h 598098"/>
              <a:gd name="connsiteX9" fmla="*/ 59810 w 1196197"/>
              <a:gd name="connsiteY9" fmla="*/ 598098 h 598098"/>
              <a:gd name="connsiteX10" fmla="*/ 17518 w 1196197"/>
              <a:gd name="connsiteY10" fmla="*/ 580580 h 598098"/>
              <a:gd name="connsiteX11" fmla="*/ 0 w 1196197"/>
              <a:gd name="connsiteY11" fmla="*/ 538288 h 598098"/>
              <a:gd name="connsiteX12" fmla="*/ 0 w 1196197"/>
              <a:gd name="connsiteY12" fmla="*/ 59810 h 5980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196197" h="598098">
                <a:moveTo>
                  <a:pt x="0" y="59810"/>
                </a:moveTo>
                <a:cubicBezTo>
                  <a:pt x="0" y="43947"/>
                  <a:pt x="6301" y="28734"/>
                  <a:pt x="17518" y="17518"/>
                </a:cubicBezTo>
                <a:cubicBezTo>
                  <a:pt x="28735" y="6301"/>
                  <a:pt x="43947" y="0"/>
                  <a:pt x="59810" y="0"/>
                </a:cubicBezTo>
                <a:lnTo>
                  <a:pt x="1136387" y="0"/>
                </a:lnTo>
                <a:cubicBezTo>
                  <a:pt x="1152250" y="0"/>
                  <a:pt x="1167463" y="6301"/>
                  <a:pt x="1178679" y="17518"/>
                </a:cubicBezTo>
                <a:cubicBezTo>
                  <a:pt x="1189896" y="28735"/>
                  <a:pt x="1196197" y="43947"/>
                  <a:pt x="1196197" y="59810"/>
                </a:cubicBezTo>
                <a:lnTo>
                  <a:pt x="1196197" y="538288"/>
                </a:lnTo>
                <a:cubicBezTo>
                  <a:pt x="1196197" y="554151"/>
                  <a:pt x="1189896" y="569364"/>
                  <a:pt x="1178679" y="580580"/>
                </a:cubicBezTo>
                <a:cubicBezTo>
                  <a:pt x="1167462" y="591797"/>
                  <a:pt x="1152250" y="598098"/>
                  <a:pt x="1136387" y="598098"/>
                </a:cubicBezTo>
                <a:lnTo>
                  <a:pt x="59810" y="598098"/>
                </a:lnTo>
                <a:cubicBezTo>
                  <a:pt x="43947" y="598098"/>
                  <a:pt x="28734" y="591797"/>
                  <a:pt x="17518" y="580580"/>
                </a:cubicBezTo>
                <a:cubicBezTo>
                  <a:pt x="6301" y="569363"/>
                  <a:pt x="0" y="554151"/>
                  <a:pt x="0" y="538288"/>
                </a:cubicBezTo>
                <a:lnTo>
                  <a:pt x="0" y="59810"/>
                </a:lnTo>
                <a:close/>
              </a:path>
            </a:pathLst>
          </a:custGeom>
          <a:solidFill>
            <a:srgbClr val="18921E"/>
          </a:solidFill>
        </p:spPr>
        <p:style>
          <a:lnRef idx="3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7678" tIns="27678" rIns="27678" bIns="27678" numCol="1" spcCol="1270" anchor="ctr" anchorCtr="0">
            <a:noAutofit/>
          </a:bodyPr>
          <a:lstStyle/>
          <a:p>
            <a:pPr lvl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400" b="1" kern="1200" dirty="0" smtClean="0"/>
              <a:t>Diode Products</a:t>
            </a:r>
            <a:endParaRPr lang="en-US" sz="2400" b="1" kern="1200" dirty="0"/>
          </a:p>
        </p:txBody>
      </p:sp>
      <p:sp>
        <p:nvSpPr>
          <p:cNvPr id="32" name="Freeform 31"/>
          <p:cNvSpPr/>
          <p:nvPr/>
        </p:nvSpPr>
        <p:spPr>
          <a:xfrm>
            <a:off x="3689087" y="1488128"/>
            <a:ext cx="1371600" cy="1245435"/>
          </a:xfrm>
          <a:custGeom>
            <a:avLst/>
            <a:gdLst>
              <a:gd name="connsiteX0" fmla="*/ 0 w 1196197"/>
              <a:gd name="connsiteY0" fmla="*/ 59810 h 598098"/>
              <a:gd name="connsiteX1" fmla="*/ 17518 w 1196197"/>
              <a:gd name="connsiteY1" fmla="*/ 17518 h 598098"/>
              <a:gd name="connsiteX2" fmla="*/ 59810 w 1196197"/>
              <a:gd name="connsiteY2" fmla="*/ 0 h 598098"/>
              <a:gd name="connsiteX3" fmla="*/ 1136387 w 1196197"/>
              <a:gd name="connsiteY3" fmla="*/ 0 h 598098"/>
              <a:gd name="connsiteX4" fmla="*/ 1178679 w 1196197"/>
              <a:gd name="connsiteY4" fmla="*/ 17518 h 598098"/>
              <a:gd name="connsiteX5" fmla="*/ 1196197 w 1196197"/>
              <a:gd name="connsiteY5" fmla="*/ 59810 h 598098"/>
              <a:gd name="connsiteX6" fmla="*/ 1196197 w 1196197"/>
              <a:gd name="connsiteY6" fmla="*/ 538288 h 598098"/>
              <a:gd name="connsiteX7" fmla="*/ 1178679 w 1196197"/>
              <a:gd name="connsiteY7" fmla="*/ 580580 h 598098"/>
              <a:gd name="connsiteX8" fmla="*/ 1136387 w 1196197"/>
              <a:gd name="connsiteY8" fmla="*/ 598098 h 598098"/>
              <a:gd name="connsiteX9" fmla="*/ 59810 w 1196197"/>
              <a:gd name="connsiteY9" fmla="*/ 598098 h 598098"/>
              <a:gd name="connsiteX10" fmla="*/ 17518 w 1196197"/>
              <a:gd name="connsiteY10" fmla="*/ 580580 h 598098"/>
              <a:gd name="connsiteX11" fmla="*/ 0 w 1196197"/>
              <a:gd name="connsiteY11" fmla="*/ 538288 h 598098"/>
              <a:gd name="connsiteX12" fmla="*/ 0 w 1196197"/>
              <a:gd name="connsiteY12" fmla="*/ 59810 h 5980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196197" h="598098">
                <a:moveTo>
                  <a:pt x="0" y="59810"/>
                </a:moveTo>
                <a:cubicBezTo>
                  <a:pt x="0" y="43947"/>
                  <a:pt x="6301" y="28734"/>
                  <a:pt x="17518" y="17518"/>
                </a:cubicBezTo>
                <a:cubicBezTo>
                  <a:pt x="28735" y="6301"/>
                  <a:pt x="43947" y="0"/>
                  <a:pt x="59810" y="0"/>
                </a:cubicBezTo>
                <a:lnTo>
                  <a:pt x="1136387" y="0"/>
                </a:lnTo>
                <a:cubicBezTo>
                  <a:pt x="1152250" y="0"/>
                  <a:pt x="1167463" y="6301"/>
                  <a:pt x="1178679" y="17518"/>
                </a:cubicBezTo>
                <a:cubicBezTo>
                  <a:pt x="1189896" y="28735"/>
                  <a:pt x="1196197" y="43947"/>
                  <a:pt x="1196197" y="59810"/>
                </a:cubicBezTo>
                <a:lnTo>
                  <a:pt x="1196197" y="538288"/>
                </a:lnTo>
                <a:cubicBezTo>
                  <a:pt x="1196197" y="554151"/>
                  <a:pt x="1189896" y="569364"/>
                  <a:pt x="1178679" y="580580"/>
                </a:cubicBezTo>
                <a:cubicBezTo>
                  <a:pt x="1167462" y="591797"/>
                  <a:pt x="1152250" y="598098"/>
                  <a:pt x="1136387" y="598098"/>
                </a:cubicBezTo>
                <a:lnTo>
                  <a:pt x="59810" y="598098"/>
                </a:lnTo>
                <a:cubicBezTo>
                  <a:pt x="43947" y="598098"/>
                  <a:pt x="28734" y="591797"/>
                  <a:pt x="17518" y="580580"/>
                </a:cubicBezTo>
                <a:cubicBezTo>
                  <a:pt x="6301" y="569363"/>
                  <a:pt x="0" y="554151"/>
                  <a:pt x="0" y="538288"/>
                </a:cubicBezTo>
                <a:lnTo>
                  <a:pt x="0" y="59810"/>
                </a:lnTo>
                <a:close/>
              </a:path>
            </a:pathLst>
          </a:custGeom>
          <a:solidFill>
            <a:srgbClr val="18921E"/>
          </a:solidFill>
          <a:ln w="57150">
            <a:solidFill>
              <a:srgbClr val="FF0000"/>
            </a:solidFill>
          </a:ln>
        </p:spPr>
        <p:style>
          <a:lnRef idx="3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7678" tIns="27678" rIns="27678" bIns="27678" numCol="1" spcCol="1270" anchor="ctr" anchorCtr="0">
            <a:noAutofit/>
          </a:bodyPr>
          <a:lstStyle/>
          <a:p>
            <a:pPr lvl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400" b="1" kern="1200" dirty="0" smtClean="0"/>
              <a:t>PIN/NIP Diodes:</a:t>
            </a:r>
          </a:p>
          <a:p>
            <a:pPr lvl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400" b="1" dirty="0" smtClean="0"/>
              <a:t>Switching</a:t>
            </a:r>
          </a:p>
          <a:p>
            <a:pPr lvl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400" b="1" kern="1200" dirty="0" smtClean="0"/>
              <a:t>Attenuation</a:t>
            </a:r>
          </a:p>
          <a:p>
            <a:pPr lvl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400" b="1" dirty="0" smtClean="0"/>
              <a:t>Limiting</a:t>
            </a:r>
            <a:endParaRPr lang="en-US" sz="1400" b="1" kern="1200" dirty="0"/>
          </a:p>
        </p:txBody>
      </p:sp>
      <p:sp>
        <p:nvSpPr>
          <p:cNvPr id="34" name="Freeform 33"/>
          <p:cNvSpPr/>
          <p:nvPr/>
        </p:nvSpPr>
        <p:spPr>
          <a:xfrm>
            <a:off x="5952417" y="2418202"/>
            <a:ext cx="1371600" cy="1005840"/>
          </a:xfrm>
          <a:custGeom>
            <a:avLst/>
            <a:gdLst>
              <a:gd name="connsiteX0" fmla="*/ 0 w 1196197"/>
              <a:gd name="connsiteY0" fmla="*/ 59810 h 598098"/>
              <a:gd name="connsiteX1" fmla="*/ 17518 w 1196197"/>
              <a:gd name="connsiteY1" fmla="*/ 17518 h 598098"/>
              <a:gd name="connsiteX2" fmla="*/ 59810 w 1196197"/>
              <a:gd name="connsiteY2" fmla="*/ 0 h 598098"/>
              <a:gd name="connsiteX3" fmla="*/ 1136387 w 1196197"/>
              <a:gd name="connsiteY3" fmla="*/ 0 h 598098"/>
              <a:gd name="connsiteX4" fmla="*/ 1178679 w 1196197"/>
              <a:gd name="connsiteY4" fmla="*/ 17518 h 598098"/>
              <a:gd name="connsiteX5" fmla="*/ 1196197 w 1196197"/>
              <a:gd name="connsiteY5" fmla="*/ 59810 h 598098"/>
              <a:gd name="connsiteX6" fmla="*/ 1196197 w 1196197"/>
              <a:gd name="connsiteY6" fmla="*/ 538288 h 598098"/>
              <a:gd name="connsiteX7" fmla="*/ 1178679 w 1196197"/>
              <a:gd name="connsiteY7" fmla="*/ 580580 h 598098"/>
              <a:gd name="connsiteX8" fmla="*/ 1136387 w 1196197"/>
              <a:gd name="connsiteY8" fmla="*/ 598098 h 598098"/>
              <a:gd name="connsiteX9" fmla="*/ 59810 w 1196197"/>
              <a:gd name="connsiteY9" fmla="*/ 598098 h 598098"/>
              <a:gd name="connsiteX10" fmla="*/ 17518 w 1196197"/>
              <a:gd name="connsiteY10" fmla="*/ 580580 h 598098"/>
              <a:gd name="connsiteX11" fmla="*/ 0 w 1196197"/>
              <a:gd name="connsiteY11" fmla="*/ 538288 h 598098"/>
              <a:gd name="connsiteX12" fmla="*/ 0 w 1196197"/>
              <a:gd name="connsiteY12" fmla="*/ 59810 h 5980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196197" h="598098">
                <a:moveTo>
                  <a:pt x="0" y="59810"/>
                </a:moveTo>
                <a:cubicBezTo>
                  <a:pt x="0" y="43947"/>
                  <a:pt x="6301" y="28734"/>
                  <a:pt x="17518" y="17518"/>
                </a:cubicBezTo>
                <a:cubicBezTo>
                  <a:pt x="28735" y="6301"/>
                  <a:pt x="43947" y="0"/>
                  <a:pt x="59810" y="0"/>
                </a:cubicBezTo>
                <a:lnTo>
                  <a:pt x="1136387" y="0"/>
                </a:lnTo>
                <a:cubicBezTo>
                  <a:pt x="1152250" y="0"/>
                  <a:pt x="1167463" y="6301"/>
                  <a:pt x="1178679" y="17518"/>
                </a:cubicBezTo>
                <a:cubicBezTo>
                  <a:pt x="1189896" y="28735"/>
                  <a:pt x="1196197" y="43947"/>
                  <a:pt x="1196197" y="59810"/>
                </a:cubicBezTo>
                <a:lnTo>
                  <a:pt x="1196197" y="538288"/>
                </a:lnTo>
                <a:cubicBezTo>
                  <a:pt x="1196197" y="554151"/>
                  <a:pt x="1189896" y="569364"/>
                  <a:pt x="1178679" y="580580"/>
                </a:cubicBezTo>
                <a:cubicBezTo>
                  <a:pt x="1167462" y="591797"/>
                  <a:pt x="1152250" y="598098"/>
                  <a:pt x="1136387" y="598098"/>
                </a:cubicBezTo>
                <a:lnTo>
                  <a:pt x="59810" y="598098"/>
                </a:lnTo>
                <a:cubicBezTo>
                  <a:pt x="43947" y="598098"/>
                  <a:pt x="28734" y="591797"/>
                  <a:pt x="17518" y="580580"/>
                </a:cubicBezTo>
                <a:cubicBezTo>
                  <a:pt x="6301" y="569363"/>
                  <a:pt x="0" y="554151"/>
                  <a:pt x="0" y="538288"/>
                </a:cubicBezTo>
                <a:lnTo>
                  <a:pt x="0" y="59810"/>
                </a:lnTo>
                <a:close/>
              </a:path>
            </a:pathLst>
          </a:custGeom>
          <a:solidFill>
            <a:srgbClr val="18921E"/>
          </a:solidFill>
          <a:ln w="57150">
            <a:solidFill>
              <a:schemeClr val="bg1"/>
            </a:solidFill>
          </a:ln>
        </p:spPr>
        <p:style>
          <a:lnRef idx="3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7678" tIns="27678" rIns="27678" bIns="27678" numCol="1" spcCol="1270" anchor="ctr" anchorCtr="0">
            <a:noAutofit/>
          </a:bodyPr>
          <a:lstStyle/>
          <a:p>
            <a:pPr marL="0" lvl="0" indent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tabLst>
                <a:tab pos="1603375" algn="l"/>
              </a:tabLst>
            </a:pPr>
            <a:r>
              <a:rPr lang="en-US" sz="1200" b="1" kern="1200" dirty="0" smtClean="0"/>
              <a:t>Schottky Diodes:</a:t>
            </a:r>
          </a:p>
          <a:p>
            <a:pPr marL="0" lvl="0" indent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tabLst>
                <a:tab pos="1603375" algn="l"/>
              </a:tabLst>
            </a:pPr>
            <a:r>
              <a:rPr lang="en-US" sz="1200" b="1" dirty="0" smtClean="0"/>
              <a:t>Detection</a:t>
            </a:r>
          </a:p>
          <a:p>
            <a:pPr marL="0" lvl="0" indent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tabLst>
                <a:tab pos="1603375" algn="l"/>
              </a:tabLst>
            </a:pPr>
            <a:r>
              <a:rPr lang="en-US" sz="1200" b="1" kern="1200" dirty="0" smtClean="0"/>
              <a:t>Frequency Mixing</a:t>
            </a:r>
            <a:endParaRPr lang="en-US" sz="1200" b="1" kern="1200" dirty="0"/>
          </a:p>
        </p:txBody>
      </p:sp>
      <p:sp>
        <p:nvSpPr>
          <p:cNvPr id="36" name="Freeform 35"/>
          <p:cNvSpPr/>
          <p:nvPr/>
        </p:nvSpPr>
        <p:spPr>
          <a:xfrm>
            <a:off x="1530167" y="4547701"/>
            <a:ext cx="1371600" cy="1005840"/>
          </a:xfrm>
          <a:custGeom>
            <a:avLst/>
            <a:gdLst>
              <a:gd name="connsiteX0" fmla="*/ 0 w 1196197"/>
              <a:gd name="connsiteY0" fmla="*/ 85508 h 855077"/>
              <a:gd name="connsiteX1" fmla="*/ 25045 w 1196197"/>
              <a:gd name="connsiteY1" fmla="*/ 25045 h 855077"/>
              <a:gd name="connsiteX2" fmla="*/ 85508 w 1196197"/>
              <a:gd name="connsiteY2" fmla="*/ 0 h 855077"/>
              <a:gd name="connsiteX3" fmla="*/ 1110689 w 1196197"/>
              <a:gd name="connsiteY3" fmla="*/ 0 h 855077"/>
              <a:gd name="connsiteX4" fmla="*/ 1171152 w 1196197"/>
              <a:gd name="connsiteY4" fmla="*/ 25045 h 855077"/>
              <a:gd name="connsiteX5" fmla="*/ 1196197 w 1196197"/>
              <a:gd name="connsiteY5" fmla="*/ 85508 h 855077"/>
              <a:gd name="connsiteX6" fmla="*/ 1196197 w 1196197"/>
              <a:gd name="connsiteY6" fmla="*/ 769569 h 855077"/>
              <a:gd name="connsiteX7" fmla="*/ 1171152 w 1196197"/>
              <a:gd name="connsiteY7" fmla="*/ 830032 h 855077"/>
              <a:gd name="connsiteX8" fmla="*/ 1110689 w 1196197"/>
              <a:gd name="connsiteY8" fmla="*/ 855077 h 855077"/>
              <a:gd name="connsiteX9" fmla="*/ 85508 w 1196197"/>
              <a:gd name="connsiteY9" fmla="*/ 855077 h 855077"/>
              <a:gd name="connsiteX10" fmla="*/ 25045 w 1196197"/>
              <a:gd name="connsiteY10" fmla="*/ 830032 h 855077"/>
              <a:gd name="connsiteX11" fmla="*/ 0 w 1196197"/>
              <a:gd name="connsiteY11" fmla="*/ 769569 h 855077"/>
              <a:gd name="connsiteX12" fmla="*/ 0 w 1196197"/>
              <a:gd name="connsiteY12" fmla="*/ 85508 h 8550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196197" h="855077">
                <a:moveTo>
                  <a:pt x="0" y="85508"/>
                </a:moveTo>
                <a:cubicBezTo>
                  <a:pt x="0" y="62830"/>
                  <a:pt x="9009" y="41081"/>
                  <a:pt x="25045" y="25045"/>
                </a:cubicBezTo>
                <a:cubicBezTo>
                  <a:pt x="41081" y="9009"/>
                  <a:pt x="62830" y="0"/>
                  <a:pt x="85508" y="0"/>
                </a:cubicBezTo>
                <a:lnTo>
                  <a:pt x="1110689" y="0"/>
                </a:lnTo>
                <a:cubicBezTo>
                  <a:pt x="1133367" y="0"/>
                  <a:pt x="1155116" y="9009"/>
                  <a:pt x="1171152" y="25045"/>
                </a:cubicBezTo>
                <a:cubicBezTo>
                  <a:pt x="1187188" y="41081"/>
                  <a:pt x="1196197" y="62830"/>
                  <a:pt x="1196197" y="85508"/>
                </a:cubicBezTo>
                <a:lnTo>
                  <a:pt x="1196197" y="769569"/>
                </a:lnTo>
                <a:cubicBezTo>
                  <a:pt x="1196197" y="792247"/>
                  <a:pt x="1187188" y="813996"/>
                  <a:pt x="1171152" y="830032"/>
                </a:cubicBezTo>
                <a:cubicBezTo>
                  <a:pt x="1155116" y="846068"/>
                  <a:pt x="1133367" y="855077"/>
                  <a:pt x="1110689" y="855077"/>
                </a:cubicBezTo>
                <a:lnTo>
                  <a:pt x="85508" y="855077"/>
                </a:lnTo>
                <a:cubicBezTo>
                  <a:pt x="62830" y="855077"/>
                  <a:pt x="41081" y="846068"/>
                  <a:pt x="25045" y="830032"/>
                </a:cubicBezTo>
                <a:cubicBezTo>
                  <a:pt x="9009" y="813996"/>
                  <a:pt x="0" y="792247"/>
                  <a:pt x="0" y="769569"/>
                </a:cubicBezTo>
                <a:lnTo>
                  <a:pt x="0" y="85508"/>
                </a:lnTo>
                <a:close/>
              </a:path>
            </a:pathLst>
          </a:custGeom>
          <a:solidFill>
            <a:srgbClr val="18921E"/>
          </a:solidFill>
        </p:spPr>
        <p:style>
          <a:lnRef idx="3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5204" tIns="35204" rIns="35204" bIns="35204" numCol="1" spcCol="1270" anchor="ctr" anchorCtr="0">
            <a:noAutofit/>
          </a:bodyPr>
          <a:lstStyle/>
          <a:p>
            <a:pPr lvl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600" b="1" kern="1200" dirty="0" smtClean="0"/>
              <a:t>Attenuators</a:t>
            </a:r>
            <a:endParaRPr lang="en-US" sz="1600" b="1" kern="1200" dirty="0"/>
          </a:p>
        </p:txBody>
      </p:sp>
      <p:sp>
        <p:nvSpPr>
          <p:cNvPr id="38" name="Freeform 37"/>
          <p:cNvSpPr/>
          <p:nvPr/>
        </p:nvSpPr>
        <p:spPr>
          <a:xfrm>
            <a:off x="1530167" y="2400774"/>
            <a:ext cx="1371600" cy="1005840"/>
          </a:xfrm>
          <a:custGeom>
            <a:avLst/>
            <a:gdLst>
              <a:gd name="connsiteX0" fmla="*/ 0 w 1196197"/>
              <a:gd name="connsiteY0" fmla="*/ 59810 h 598098"/>
              <a:gd name="connsiteX1" fmla="*/ 17518 w 1196197"/>
              <a:gd name="connsiteY1" fmla="*/ 17518 h 598098"/>
              <a:gd name="connsiteX2" fmla="*/ 59810 w 1196197"/>
              <a:gd name="connsiteY2" fmla="*/ 0 h 598098"/>
              <a:gd name="connsiteX3" fmla="*/ 1136387 w 1196197"/>
              <a:gd name="connsiteY3" fmla="*/ 0 h 598098"/>
              <a:gd name="connsiteX4" fmla="*/ 1178679 w 1196197"/>
              <a:gd name="connsiteY4" fmla="*/ 17518 h 598098"/>
              <a:gd name="connsiteX5" fmla="*/ 1196197 w 1196197"/>
              <a:gd name="connsiteY5" fmla="*/ 59810 h 598098"/>
              <a:gd name="connsiteX6" fmla="*/ 1196197 w 1196197"/>
              <a:gd name="connsiteY6" fmla="*/ 538288 h 598098"/>
              <a:gd name="connsiteX7" fmla="*/ 1178679 w 1196197"/>
              <a:gd name="connsiteY7" fmla="*/ 580580 h 598098"/>
              <a:gd name="connsiteX8" fmla="*/ 1136387 w 1196197"/>
              <a:gd name="connsiteY8" fmla="*/ 598098 h 598098"/>
              <a:gd name="connsiteX9" fmla="*/ 59810 w 1196197"/>
              <a:gd name="connsiteY9" fmla="*/ 598098 h 598098"/>
              <a:gd name="connsiteX10" fmla="*/ 17518 w 1196197"/>
              <a:gd name="connsiteY10" fmla="*/ 580580 h 598098"/>
              <a:gd name="connsiteX11" fmla="*/ 0 w 1196197"/>
              <a:gd name="connsiteY11" fmla="*/ 538288 h 598098"/>
              <a:gd name="connsiteX12" fmla="*/ 0 w 1196197"/>
              <a:gd name="connsiteY12" fmla="*/ 59810 h 5980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196197" h="598098">
                <a:moveTo>
                  <a:pt x="0" y="59810"/>
                </a:moveTo>
                <a:cubicBezTo>
                  <a:pt x="0" y="43947"/>
                  <a:pt x="6301" y="28734"/>
                  <a:pt x="17518" y="17518"/>
                </a:cubicBezTo>
                <a:cubicBezTo>
                  <a:pt x="28735" y="6301"/>
                  <a:pt x="43947" y="0"/>
                  <a:pt x="59810" y="0"/>
                </a:cubicBezTo>
                <a:lnTo>
                  <a:pt x="1136387" y="0"/>
                </a:lnTo>
                <a:cubicBezTo>
                  <a:pt x="1152250" y="0"/>
                  <a:pt x="1167463" y="6301"/>
                  <a:pt x="1178679" y="17518"/>
                </a:cubicBezTo>
                <a:cubicBezTo>
                  <a:pt x="1189896" y="28735"/>
                  <a:pt x="1196197" y="43947"/>
                  <a:pt x="1196197" y="59810"/>
                </a:cubicBezTo>
                <a:lnTo>
                  <a:pt x="1196197" y="538288"/>
                </a:lnTo>
                <a:cubicBezTo>
                  <a:pt x="1196197" y="554151"/>
                  <a:pt x="1189896" y="569364"/>
                  <a:pt x="1178679" y="580580"/>
                </a:cubicBezTo>
                <a:cubicBezTo>
                  <a:pt x="1167462" y="591797"/>
                  <a:pt x="1152250" y="598098"/>
                  <a:pt x="1136387" y="598098"/>
                </a:cubicBezTo>
                <a:lnTo>
                  <a:pt x="59810" y="598098"/>
                </a:lnTo>
                <a:cubicBezTo>
                  <a:pt x="43947" y="598098"/>
                  <a:pt x="28734" y="591797"/>
                  <a:pt x="17518" y="580580"/>
                </a:cubicBezTo>
                <a:cubicBezTo>
                  <a:pt x="6301" y="569363"/>
                  <a:pt x="0" y="554151"/>
                  <a:pt x="0" y="538288"/>
                </a:cubicBezTo>
                <a:lnTo>
                  <a:pt x="0" y="59810"/>
                </a:lnTo>
                <a:close/>
              </a:path>
            </a:pathLst>
          </a:custGeom>
          <a:solidFill>
            <a:srgbClr val="18921E"/>
          </a:solidFill>
        </p:spPr>
        <p:style>
          <a:lnRef idx="3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7678" tIns="27678" rIns="27678" bIns="27678" numCol="1" spcCol="1270" anchor="ctr" anchorCtr="0">
            <a:noAutofit/>
          </a:bodyPr>
          <a:lstStyle/>
          <a:p>
            <a:pPr lvl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200" b="1" kern="1200" dirty="0" smtClean="0"/>
              <a:t>Varactor Diodes:</a:t>
            </a:r>
          </a:p>
          <a:p>
            <a:pPr lvl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200" b="1" dirty="0" smtClean="0"/>
              <a:t>Tuning</a:t>
            </a:r>
          </a:p>
          <a:p>
            <a:pPr lvl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200" b="1" kern="1200" dirty="0" smtClean="0"/>
              <a:t>Phase Shifting</a:t>
            </a:r>
            <a:endParaRPr lang="en-US" sz="1200" b="1" kern="1200" dirty="0"/>
          </a:p>
        </p:txBody>
      </p:sp>
      <p:sp>
        <p:nvSpPr>
          <p:cNvPr id="40" name="Freeform 39"/>
          <p:cNvSpPr/>
          <p:nvPr/>
        </p:nvSpPr>
        <p:spPr>
          <a:xfrm>
            <a:off x="3682783" y="5343763"/>
            <a:ext cx="1371600" cy="1347156"/>
          </a:xfrm>
          <a:custGeom>
            <a:avLst/>
            <a:gdLst>
              <a:gd name="connsiteX0" fmla="*/ 0 w 1196197"/>
              <a:gd name="connsiteY0" fmla="*/ 59810 h 598098"/>
              <a:gd name="connsiteX1" fmla="*/ 17518 w 1196197"/>
              <a:gd name="connsiteY1" fmla="*/ 17518 h 598098"/>
              <a:gd name="connsiteX2" fmla="*/ 59810 w 1196197"/>
              <a:gd name="connsiteY2" fmla="*/ 0 h 598098"/>
              <a:gd name="connsiteX3" fmla="*/ 1136387 w 1196197"/>
              <a:gd name="connsiteY3" fmla="*/ 0 h 598098"/>
              <a:gd name="connsiteX4" fmla="*/ 1178679 w 1196197"/>
              <a:gd name="connsiteY4" fmla="*/ 17518 h 598098"/>
              <a:gd name="connsiteX5" fmla="*/ 1196197 w 1196197"/>
              <a:gd name="connsiteY5" fmla="*/ 59810 h 598098"/>
              <a:gd name="connsiteX6" fmla="*/ 1196197 w 1196197"/>
              <a:gd name="connsiteY6" fmla="*/ 538288 h 598098"/>
              <a:gd name="connsiteX7" fmla="*/ 1178679 w 1196197"/>
              <a:gd name="connsiteY7" fmla="*/ 580580 h 598098"/>
              <a:gd name="connsiteX8" fmla="*/ 1136387 w 1196197"/>
              <a:gd name="connsiteY8" fmla="*/ 598098 h 598098"/>
              <a:gd name="connsiteX9" fmla="*/ 59810 w 1196197"/>
              <a:gd name="connsiteY9" fmla="*/ 598098 h 598098"/>
              <a:gd name="connsiteX10" fmla="*/ 17518 w 1196197"/>
              <a:gd name="connsiteY10" fmla="*/ 580580 h 598098"/>
              <a:gd name="connsiteX11" fmla="*/ 0 w 1196197"/>
              <a:gd name="connsiteY11" fmla="*/ 538288 h 598098"/>
              <a:gd name="connsiteX12" fmla="*/ 0 w 1196197"/>
              <a:gd name="connsiteY12" fmla="*/ 59810 h 5980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196197" h="598098">
                <a:moveTo>
                  <a:pt x="0" y="59810"/>
                </a:moveTo>
                <a:cubicBezTo>
                  <a:pt x="0" y="43947"/>
                  <a:pt x="6301" y="28734"/>
                  <a:pt x="17518" y="17518"/>
                </a:cubicBezTo>
                <a:cubicBezTo>
                  <a:pt x="28735" y="6301"/>
                  <a:pt x="43947" y="0"/>
                  <a:pt x="59810" y="0"/>
                </a:cubicBezTo>
                <a:lnTo>
                  <a:pt x="1136387" y="0"/>
                </a:lnTo>
                <a:cubicBezTo>
                  <a:pt x="1152250" y="0"/>
                  <a:pt x="1167463" y="6301"/>
                  <a:pt x="1178679" y="17518"/>
                </a:cubicBezTo>
                <a:cubicBezTo>
                  <a:pt x="1189896" y="28735"/>
                  <a:pt x="1196197" y="43947"/>
                  <a:pt x="1196197" y="59810"/>
                </a:cubicBezTo>
                <a:lnTo>
                  <a:pt x="1196197" y="538288"/>
                </a:lnTo>
                <a:cubicBezTo>
                  <a:pt x="1196197" y="554151"/>
                  <a:pt x="1189896" y="569364"/>
                  <a:pt x="1178679" y="580580"/>
                </a:cubicBezTo>
                <a:cubicBezTo>
                  <a:pt x="1167462" y="591797"/>
                  <a:pt x="1152250" y="598098"/>
                  <a:pt x="1136387" y="598098"/>
                </a:cubicBezTo>
                <a:lnTo>
                  <a:pt x="59810" y="598098"/>
                </a:lnTo>
                <a:cubicBezTo>
                  <a:pt x="43947" y="598098"/>
                  <a:pt x="28734" y="591797"/>
                  <a:pt x="17518" y="580580"/>
                </a:cubicBezTo>
                <a:cubicBezTo>
                  <a:pt x="6301" y="569363"/>
                  <a:pt x="0" y="554151"/>
                  <a:pt x="0" y="538288"/>
                </a:cubicBezTo>
                <a:lnTo>
                  <a:pt x="0" y="59810"/>
                </a:lnTo>
                <a:close/>
              </a:path>
            </a:pathLst>
          </a:custGeom>
          <a:solidFill>
            <a:srgbClr val="18921E"/>
          </a:solidFill>
          <a:ln w="57150">
            <a:solidFill>
              <a:schemeClr val="bg1"/>
            </a:solidFill>
          </a:ln>
        </p:spPr>
        <p:style>
          <a:lnRef idx="3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7678" tIns="27678" rIns="27678" bIns="27678" numCol="1" spcCol="1270" anchor="ctr" anchorCtr="0">
            <a:noAutofit/>
          </a:bodyPr>
          <a:lstStyle/>
          <a:p>
            <a:pPr lvl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200" b="1" kern="1200" dirty="0" smtClean="0"/>
              <a:t>Passive Devices</a:t>
            </a:r>
          </a:p>
          <a:p>
            <a:pPr lvl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200" b="1" dirty="0" smtClean="0"/>
              <a:t>RF Chokes/Inductors</a:t>
            </a:r>
          </a:p>
          <a:p>
            <a:pPr lvl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200" b="1" kern="1200" dirty="0" smtClean="0"/>
              <a:t>MNS Capacitors</a:t>
            </a:r>
          </a:p>
          <a:p>
            <a:pPr lvl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200" b="1" dirty="0" smtClean="0"/>
              <a:t>Resistors</a:t>
            </a:r>
            <a:endParaRPr lang="en-US" sz="1200" b="1" kern="1200" dirty="0"/>
          </a:p>
        </p:txBody>
      </p:sp>
      <p:sp>
        <p:nvSpPr>
          <p:cNvPr id="42" name="Freeform 41"/>
          <p:cNvSpPr/>
          <p:nvPr/>
        </p:nvSpPr>
        <p:spPr>
          <a:xfrm>
            <a:off x="5952417" y="4540776"/>
            <a:ext cx="1371600" cy="1005840"/>
          </a:xfrm>
          <a:custGeom>
            <a:avLst/>
            <a:gdLst>
              <a:gd name="connsiteX0" fmla="*/ 0 w 1196197"/>
              <a:gd name="connsiteY0" fmla="*/ 59810 h 598098"/>
              <a:gd name="connsiteX1" fmla="*/ 17518 w 1196197"/>
              <a:gd name="connsiteY1" fmla="*/ 17518 h 598098"/>
              <a:gd name="connsiteX2" fmla="*/ 59810 w 1196197"/>
              <a:gd name="connsiteY2" fmla="*/ 0 h 598098"/>
              <a:gd name="connsiteX3" fmla="*/ 1136387 w 1196197"/>
              <a:gd name="connsiteY3" fmla="*/ 0 h 598098"/>
              <a:gd name="connsiteX4" fmla="*/ 1178679 w 1196197"/>
              <a:gd name="connsiteY4" fmla="*/ 17518 h 598098"/>
              <a:gd name="connsiteX5" fmla="*/ 1196197 w 1196197"/>
              <a:gd name="connsiteY5" fmla="*/ 59810 h 598098"/>
              <a:gd name="connsiteX6" fmla="*/ 1196197 w 1196197"/>
              <a:gd name="connsiteY6" fmla="*/ 538288 h 598098"/>
              <a:gd name="connsiteX7" fmla="*/ 1178679 w 1196197"/>
              <a:gd name="connsiteY7" fmla="*/ 580580 h 598098"/>
              <a:gd name="connsiteX8" fmla="*/ 1136387 w 1196197"/>
              <a:gd name="connsiteY8" fmla="*/ 598098 h 598098"/>
              <a:gd name="connsiteX9" fmla="*/ 59810 w 1196197"/>
              <a:gd name="connsiteY9" fmla="*/ 598098 h 598098"/>
              <a:gd name="connsiteX10" fmla="*/ 17518 w 1196197"/>
              <a:gd name="connsiteY10" fmla="*/ 580580 h 598098"/>
              <a:gd name="connsiteX11" fmla="*/ 0 w 1196197"/>
              <a:gd name="connsiteY11" fmla="*/ 538288 h 598098"/>
              <a:gd name="connsiteX12" fmla="*/ 0 w 1196197"/>
              <a:gd name="connsiteY12" fmla="*/ 59810 h 5980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196197" h="598098">
                <a:moveTo>
                  <a:pt x="0" y="59810"/>
                </a:moveTo>
                <a:cubicBezTo>
                  <a:pt x="0" y="43947"/>
                  <a:pt x="6301" y="28734"/>
                  <a:pt x="17518" y="17518"/>
                </a:cubicBezTo>
                <a:cubicBezTo>
                  <a:pt x="28735" y="6301"/>
                  <a:pt x="43947" y="0"/>
                  <a:pt x="59810" y="0"/>
                </a:cubicBezTo>
                <a:lnTo>
                  <a:pt x="1136387" y="0"/>
                </a:lnTo>
                <a:cubicBezTo>
                  <a:pt x="1152250" y="0"/>
                  <a:pt x="1167463" y="6301"/>
                  <a:pt x="1178679" y="17518"/>
                </a:cubicBezTo>
                <a:cubicBezTo>
                  <a:pt x="1189896" y="28735"/>
                  <a:pt x="1196197" y="43947"/>
                  <a:pt x="1196197" y="59810"/>
                </a:cubicBezTo>
                <a:lnTo>
                  <a:pt x="1196197" y="538288"/>
                </a:lnTo>
                <a:cubicBezTo>
                  <a:pt x="1196197" y="554151"/>
                  <a:pt x="1189896" y="569364"/>
                  <a:pt x="1178679" y="580580"/>
                </a:cubicBezTo>
                <a:cubicBezTo>
                  <a:pt x="1167462" y="591797"/>
                  <a:pt x="1152250" y="598098"/>
                  <a:pt x="1136387" y="598098"/>
                </a:cubicBezTo>
                <a:lnTo>
                  <a:pt x="59810" y="598098"/>
                </a:lnTo>
                <a:cubicBezTo>
                  <a:pt x="43947" y="598098"/>
                  <a:pt x="28734" y="591797"/>
                  <a:pt x="17518" y="580580"/>
                </a:cubicBezTo>
                <a:cubicBezTo>
                  <a:pt x="6301" y="569363"/>
                  <a:pt x="0" y="554151"/>
                  <a:pt x="0" y="538288"/>
                </a:cubicBezTo>
                <a:lnTo>
                  <a:pt x="0" y="59810"/>
                </a:lnTo>
                <a:close/>
              </a:path>
            </a:pathLst>
          </a:custGeom>
          <a:solidFill>
            <a:srgbClr val="18921E"/>
          </a:solidFill>
        </p:spPr>
        <p:style>
          <a:lnRef idx="3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7678" tIns="27678" rIns="27678" bIns="27678" numCol="1" spcCol="1270" anchor="ctr" anchorCtr="0">
            <a:noAutofit/>
          </a:bodyPr>
          <a:lstStyle/>
          <a:p>
            <a:pPr lvl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200" b="1" kern="1200" dirty="0" smtClean="0"/>
              <a:t>Multiplier Diodes:</a:t>
            </a:r>
          </a:p>
          <a:p>
            <a:pPr lvl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200" b="1" dirty="0" smtClean="0"/>
              <a:t>Frequency Multiplication</a:t>
            </a:r>
          </a:p>
          <a:p>
            <a:pPr lvl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200" b="1" kern="1200" dirty="0" smtClean="0"/>
              <a:t>Waveshaping</a:t>
            </a:r>
            <a:endParaRPr lang="en-US" sz="1200" b="1" kern="1200" dirty="0"/>
          </a:p>
        </p:txBody>
      </p:sp>
      <p:cxnSp>
        <p:nvCxnSpPr>
          <p:cNvPr id="65" name="Straight Arrow Connector 64"/>
          <p:cNvCxnSpPr/>
          <p:nvPr/>
        </p:nvCxnSpPr>
        <p:spPr>
          <a:xfrm flipH="1" flipV="1">
            <a:off x="4383742" y="2838484"/>
            <a:ext cx="6304" cy="502869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/>
          <p:nvPr/>
        </p:nvCxnSpPr>
        <p:spPr>
          <a:xfrm flipH="1" flipV="1">
            <a:off x="2994212" y="3179143"/>
            <a:ext cx="448074" cy="27840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 flipV="1">
            <a:off x="5369616" y="3179143"/>
            <a:ext cx="448074" cy="27840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>
            <a:off x="5369616" y="4547701"/>
            <a:ext cx="448074" cy="27840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 flipH="1">
            <a:off x="2994212" y="4547701"/>
            <a:ext cx="448074" cy="27840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 flipH="1">
            <a:off x="4368583" y="4724702"/>
            <a:ext cx="6304" cy="502869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81902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92164" y="126938"/>
            <a:ext cx="5978698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 b="1" dirty="0" smtClean="0"/>
              <a:t>Product Configurations</a:t>
            </a:r>
          </a:p>
        </p:txBody>
      </p:sp>
      <p:pic>
        <p:nvPicPr>
          <p:cNvPr id="73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2262414">
            <a:off x="3960200" y="4153946"/>
            <a:ext cx="741505" cy="602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5" name="Freeform 54"/>
          <p:cNvSpPr/>
          <p:nvPr/>
        </p:nvSpPr>
        <p:spPr>
          <a:xfrm>
            <a:off x="3754026" y="1468771"/>
            <a:ext cx="1162320" cy="900541"/>
          </a:xfrm>
          <a:custGeom>
            <a:avLst/>
            <a:gdLst>
              <a:gd name="connsiteX0" fmla="*/ 0 w 1196197"/>
              <a:gd name="connsiteY0" fmla="*/ 59810 h 598098"/>
              <a:gd name="connsiteX1" fmla="*/ 17518 w 1196197"/>
              <a:gd name="connsiteY1" fmla="*/ 17518 h 598098"/>
              <a:gd name="connsiteX2" fmla="*/ 59810 w 1196197"/>
              <a:gd name="connsiteY2" fmla="*/ 0 h 598098"/>
              <a:gd name="connsiteX3" fmla="*/ 1136387 w 1196197"/>
              <a:gd name="connsiteY3" fmla="*/ 0 h 598098"/>
              <a:gd name="connsiteX4" fmla="*/ 1178679 w 1196197"/>
              <a:gd name="connsiteY4" fmla="*/ 17518 h 598098"/>
              <a:gd name="connsiteX5" fmla="*/ 1196197 w 1196197"/>
              <a:gd name="connsiteY5" fmla="*/ 59810 h 598098"/>
              <a:gd name="connsiteX6" fmla="*/ 1196197 w 1196197"/>
              <a:gd name="connsiteY6" fmla="*/ 538288 h 598098"/>
              <a:gd name="connsiteX7" fmla="*/ 1178679 w 1196197"/>
              <a:gd name="connsiteY7" fmla="*/ 580580 h 598098"/>
              <a:gd name="connsiteX8" fmla="*/ 1136387 w 1196197"/>
              <a:gd name="connsiteY8" fmla="*/ 598098 h 598098"/>
              <a:gd name="connsiteX9" fmla="*/ 59810 w 1196197"/>
              <a:gd name="connsiteY9" fmla="*/ 598098 h 598098"/>
              <a:gd name="connsiteX10" fmla="*/ 17518 w 1196197"/>
              <a:gd name="connsiteY10" fmla="*/ 580580 h 598098"/>
              <a:gd name="connsiteX11" fmla="*/ 0 w 1196197"/>
              <a:gd name="connsiteY11" fmla="*/ 538288 h 598098"/>
              <a:gd name="connsiteX12" fmla="*/ 0 w 1196197"/>
              <a:gd name="connsiteY12" fmla="*/ 59810 h 5980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196197" h="598098">
                <a:moveTo>
                  <a:pt x="0" y="59810"/>
                </a:moveTo>
                <a:cubicBezTo>
                  <a:pt x="0" y="43947"/>
                  <a:pt x="6301" y="28734"/>
                  <a:pt x="17518" y="17518"/>
                </a:cubicBezTo>
                <a:cubicBezTo>
                  <a:pt x="28735" y="6301"/>
                  <a:pt x="43947" y="0"/>
                  <a:pt x="59810" y="0"/>
                </a:cubicBezTo>
                <a:lnTo>
                  <a:pt x="1136387" y="0"/>
                </a:lnTo>
                <a:cubicBezTo>
                  <a:pt x="1152250" y="0"/>
                  <a:pt x="1167463" y="6301"/>
                  <a:pt x="1178679" y="17518"/>
                </a:cubicBezTo>
                <a:cubicBezTo>
                  <a:pt x="1189896" y="28735"/>
                  <a:pt x="1196197" y="43947"/>
                  <a:pt x="1196197" y="59810"/>
                </a:cubicBezTo>
                <a:lnTo>
                  <a:pt x="1196197" y="538288"/>
                </a:lnTo>
                <a:cubicBezTo>
                  <a:pt x="1196197" y="554151"/>
                  <a:pt x="1189896" y="569364"/>
                  <a:pt x="1178679" y="580580"/>
                </a:cubicBezTo>
                <a:cubicBezTo>
                  <a:pt x="1167462" y="591797"/>
                  <a:pt x="1152250" y="598098"/>
                  <a:pt x="1136387" y="598098"/>
                </a:cubicBezTo>
                <a:lnTo>
                  <a:pt x="59810" y="598098"/>
                </a:lnTo>
                <a:cubicBezTo>
                  <a:pt x="43947" y="598098"/>
                  <a:pt x="28734" y="591797"/>
                  <a:pt x="17518" y="580580"/>
                </a:cubicBezTo>
                <a:cubicBezTo>
                  <a:pt x="6301" y="569363"/>
                  <a:pt x="0" y="554151"/>
                  <a:pt x="0" y="538288"/>
                </a:cubicBezTo>
                <a:lnTo>
                  <a:pt x="0" y="59810"/>
                </a:lnTo>
                <a:close/>
              </a:path>
            </a:pathLst>
          </a:custGeom>
          <a:solidFill>
            <a:srgbClr val="18921E"/>
          </a:solidFill>
        </p:spPr>
        <p:style>
          <a:lnRef idx="3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7678" tIns="27678" rIns="27678" bIns="27678" numCol="1" spcCol="1270" anchor="ctr" anchorCtr="0">
            <a:noAutofit/>
          </a:bodyPr>
          <a:lstStyle/>
          <a:p>
            <a:pPr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000" b="1" dirty="0"/>
              <a:t>Discrete Device</a:t>
            </a:r>
          </a:p>
        </p:txBody>
      </p:sp>
      <p:grpSp>
        <p:nvGrpSpPr>
          <p:cNvPr id="57" name="Group 56"/>
          <p:cNvGrpSpPr/>
          <p:nvPr/>
        </p:nvGrpSpPr>
        <p:grpSpPr>
          <a:xfrm>
            <a:off x="5484301" y="2414510"/>
            <a:ext cx="2447422" cy="845500"/>
            <a:chOff x="7495028" y="4286137"/>
            <a:chExt cx="2500537" cy="855077"/>
          </a:xfrm>
        </p:grpSpPr>
        <p:pic>
          <p:nvPicPr>
            <p:cNvPr id="90" name="Picture 4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 rot="1329096">
              <a:off x="9420243" y="4749811"/>
              <a:ext cx="575322" cy="249827"/>
            </a:xfrm>
            <a:prstGeom prst="rect">
              <a:avLst/>
            </a:prstGeom>
            <a:solidFill>
              <a:schemeClr val="folHlink">
                <a:alpha val="94901"/>
              </a:schemeClr>
            </a:solidFill>
            <a:ln w="28575">
              <a:solidFill>
                <a:schemeClr val="folHlink"/>
              </a:solidFill>
              <a:miter lim="800000"/>
              <a:headEnd/>
              <a:tailEnd/>
            </a:ln>
          </p:spPr>
        </p:pic>
        <p:pic>
          <p:nvPicPr>
            <p:cNvPr id="91" name="Picture 6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 rot="4729279">
              <a:off x="8846045" y="4646281"/>
              <a:ext cx="598631" cy="2836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92" name="Freeform 91"/>
            <p:cNvSpPr/>
            <p:nvPr/>
          </p:nvSpPr>
          <p:spPr>
            <a:xfrm>
              <a:off x="7495028" y="4286137"/>
              <a:ext cx="1196197" cy="855077"/>
            </a:xfrm>
            <a:custGeom>
              <a:avLst/>
              <a:gdLst>
                <a:gd name="connsiteX0" fmla="*/ 0 w 1196197"/>
                <a:gd name="connsiteY0" fmla="*/ 85508 h 855077"/>
                <a:gd name="connsiteX1" fmla="*/ 25045 w 1196197"/>
                <a:gd name="connsiteY1" fmla="*/ 25045 h 855077"/>
                <a:gd name="connsiteX2" fmla="*/ 85508 w 1196197"/>
                <a:gd name="connsiteY2" fmla="*/ 0 h 855077"/>
                <a:gd name="connsiteX3" fmla="*/ 1110689 w 1196197"/>
                <a:gd name="connsiteY3" fmla="*/ 0 h 855077"/>
                <a:gd name="connsiteX4" fmla="*/ 1171152 w 1196197"/>
                <a:gd name="connsiteY4" fmla="*/ 25045 h 855077"/>
                <a:gd name="connsiteX5" fmla="*/ 1196197 w 1196197"/>
                <a:gd name="connsiteY5" fmla="*/ 85508 h 855077"/>
                <a:gd name="connsiteX6" fmla="*/ 1196197 w 1196197"/>
                <a:gd name="connsiteY6" fmla="*/ 769569 h 855077"/>
                <a:gd name="connsiteX7" fmla="*/ 1171152 w 1196197"/>
                <a:gd name="connsiteY7" fmla="*/ 830032 h 855077"/>
                <a:gd name="connsiteX8" fmla="*/ 1110689 w 1196197"/>
                <a:gd name="connsiteY8" fmla="*/ 855077 h 855077"/>
                <a:gd name="connsiteX9" fmla="*/ 85508 w 1196197"/>
                <a:gd name="connsiteY9" fmla="*/ 855077 h 855077"/>
                <a:gd name="connsiteX10" fmla="*/ 25045 w 1196197"/>
                <a:gd name="connsiteY10" fmla="*/ 830032 h 855077"/>
                <a:gd name="connsiteX11" fmla="*/ 0 w 1196197"/>
                <a:gd name="connsiteY11" fmla="*/ 769569 h 855077"/>
                <a:gd name="connsiteX12" fmla="*/ 0 w 1196197"/>
                <a:gd name="connsiteY12" fmla="*/ 85508 h 8550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96197" h="855077">
                  <a:moveTo>
                    <a:pt x="0" y="85508"/>
                  </a:moveTo>
                  <a:cubicBezTo>
                    <a:pt x="0" y="62830"/>
                    <a:pt x="9009" y="41081"/>
                    <a:pt x="25045" y="25045"/>
                  </a:cubicBezTo>
                  <a:cubicBezTo>
                    <a:pt x="41081" y="9009"/>
                    <a:pt x="62830" y="0"/>
                    <a:pt x="85508" y="0"/>
                  </a:cubicBezTo>
                  <a:lnTo>
                    <a:pt x="1110689" y="0"/>
                  </a:lnTo>
                  <a:cubicBezTo>
                    <a:pt x="1133367" y="0"/>
                    <a:pt x="1155116" y="9009"/>
                    <a:pt x="1171152" y="25045"/>
                  </a:cubicBezTo>
                  <a:cubicBezTo>
                    <a:pt x="1187188" y="41081"/>
                    <a:pt x="1196197" y="62830"/>
                    <a:pt x="1196197" y="85508"/>
                  </a:cubicBezTo>
                  <a:lnTo>
                    <a:pt x="1196197" y="769569"/>
                  </a:lnTo>
                  <a:cubicBezTo>
                    <a:pt x="1196197" y="792247"/>
                    <a:pt x="1187188" y="813996"/>
                    <a:pt x="1171152" y="830032"/>
                  </a:cubicBezTo>
                  <a:cubicBezTo>
                    <a:pt x="1155116" y="846068"/>
                    <a:pt x="1133367" y="855077"/>
                    <a:pt x="1110689" y="855077"/>
                  </a:cubicBezTo>
                  <a:lnTo>
                    <a:pt x="85508" y="855077"/>
                  </a:lnTo>
                  <a:cubicBezTo>
                    <a:pt x="62830" y="855077"/>
                    <a:pt x="41081" y="846068"/>
                    <a:pt x="25045" y="830032"/>
                  </a:cubicBezTo>
                  <a:cubicBezTo>
                    <a:pt x="9009" y="813996"/>
                    <a:pt x="0" y="792247"/>
                    <a:pt x="0" y="769569"/>
                  </a:cubicBezTo>
                  <a:lnTo>
                    <a:pt x="0" y="85508"/>
                  </a:lnTo>
                  <a:close/>
                </a:path>
              </a:pathLst>
            </a:custGeom>
            <a:solidFill>
              <a:srgbClr val="18921E"/>
            </a:solidFill>
          </p:spPr>
          <p:style>
            <a:lnRef idx="3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35204" tIns="35204" rIns="35204" bIns="35204" numCol="1" spcCol="1270" anchor="ctr" anchorCtr="0">
              <a:noAutofit/>
            </a:bodyPr>
            <a:lstStyle/>
            <a:p>
              <a:pPr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050" b="1" dirty="0"/>
                <a:t>HMIC Discrete Surmount</a:t>
              </a:r>
            </a:p>
            <a:p>
              <a:pPr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050" b="1" dirty="0"/>
                <a:t>(to 26.5GHz)</a:t>
              </a:r>
            </a:p>
          </p:txBody>
        </p:sp>
      </p:grpSp>
      <p:pic>
        <p:nvPicPr>
          <p:cNvPr id="87" name="Picture 21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 rot="19472443">
            <a:off x="1094104" y="2732721"/>
            <a:ext cx="651413" cy="372921"/>
          </a:xfrm>
          <a:prstGeom prst="rect">
            <a:avLst/>
          </a:prstGeom>
          <a:noFill/>
        </p:spPr>
      </p:pic>
      <p:pic>
        <p:nvPicPr>
          <p:cNvPr id="88" name="Picture 18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 rot="13393308">
            <a:off x="295084" y="2789304"/>
            <a:ext cx="621609" cy="298326"/>
          </a:xfrm>
          <a:prstGeom prst="rect">
            <a:avLst/>
          </a:prstGeom>
          <a:noFill/>
        </p:spPr>
      </p:pic>
      <p:sp>
        <p:nvSpPr>
          <p:cNvPr id="89" name="Freeform 88"/>
          <p:cNvSpPr/>
          <p:nvPr/>
        </p:nvSpPr>
        <p:spPr>
          <a:xfrm>
            <a:off x="1907108" y="2490292"/>
            <a:ext cx="1170788" cy="693936"/>
          </a:xfrm>
          <a:custGeom>
            <a:avLst/>
            <a:gdLst>
              <a:gd name="connsiteX0" fmla="*/ 0 w 1196197"/>
              <a:gd name="connsiteY0" fmla="*/ 59810 h 598098"/>
              <a:gd name="connsiteX1" fmla="*/ 17518 w 1196197"/>
              <a:gd name="connsiteY1" fmla="*/ 17518 h 598098"/>
              <a:gd name="connsiteX2" fmla="*/ 59810 w 1196197"/>
              <a:gd name="connsiteY2" fmla="*/ 0 h 598098"/>
              <a:gd name="connsiteX3" fmla="*/ 1136387 w 1196197"/>
              <a:gd name="connsiteY3" fmla="*/ 0 h 598098"/>
              <a:gd name="connsiteX4" fmla="*/ 1178679 w 1196197"/>
              <a:gd name="connsiteY4" fmla="*/ 17518 h 598098"/>
              <a:gd name="connsiteX5" fmla="*/ 1196197 w 1196197"/>
              <a:gd name="connsiteY5" fmla="*/ 59810 h 598098"/>
              <a:gd name="connsiteX6" fmla="*/ 1196197 w 1196197"/>
              <a:gd name="connsiteY6" fmla="*/ 538288 h 598098"/>
              <a:gd name="connsiteX7" fmla="*/ 1178679 w 1196197"/>
              <a:gd name="connsiteY7" fmla="*/ 580580 h 598098"/>
              <a:gd name="connsiteX8" fmla="*/ 1136387 w 1196197"/>
              <a:gd name="connsiteY8" fmla="*/ 598098 h 598098"/>
              <a:gd name="connsiteX9" fmla="*/ 59810 w 1196197"/>
              <a:gd name="connsiteY9" fmla="*/ 598098 h 598098"/>
              <a:gd name="connsiteX10" fmla="*/ 17518 w 1196197"/>
              <a:gd name="connsiteY10" fmla="*/ 580580 h 598098"/>
              <a:gd name="connsiteX11" fmla="*/ 0 w 1196197"/>
              <a:gd name="connsiteY11" fmla="*/ 538288 h 598098"/>
              <a:gd name="connsiteX12" fmla="*/ 0 w 1196197"/>
              <a:gd name="connsiteY12" fmla="*/ 59810 h 5980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196197" h="598098">
                <a:moveTo>
                  <a:pt x="0" y="59810"/>
                </a:moveTo>
                <a:cubicBezTo>
                  <a:pt x="0" y="43947"/>
                  <a:pt x="6301" y="28734"/>
                  <a:pt x="17518" y="17518"/>
                </a:cubicBezTo>
                <a:cubicBezTo>
                  <a:pt x="28735" y="6301"/>
                  <a:pt x="43947" y="0"/>
                  <a:pt x="59810" y="0"/>
                </a:cubicBezTo>
                <a:lnTo>
                  <a:pt x="1136387" y="0"/>
                </a:lnTo>
                <a:cubicBezTo>
                  <a:pt x="1152250" y="0"/>
                  <a:pt x="1167463" y="6301"/>
                  <a:pt x="1178679" y="17518"/>
                </a:cubicBezTo>
                <a:cubicBezTo>
                  <a:pt x="1189896" y="28735"/>
                  <a:pt x="1196197" y="43947"/>
                  <a:pt x="1196197" y="59810"/>
                </a:cubicBezTo>
                <a:lnTo>
                  <a:pt x="1196197" y="538288"/>
                </a:lnTo>
                <a:cubicBezTo>
                  <a:pt x="1196197" y="554151"/>
                  <a:pt x="1189896" y="569364"/>
                  <a:pt x="1178679" y="580580"/>
                </a:cubicBezTo>
                <a:cubicBezTo>
                  <a:pt x="1167462" y="591797"/>
                  <a:pt x="1152250" y="598098"/>
                  <a:pt x="1136387" y="598098"/>
                </a:cubicBezTo>
                <a:lnTo>
                  <a:pt x="59810" y="598098"/>
                </a:lnTo>
                <a:cubicBezTo>
                  <a:pt x="43947" y="598098"/>
                  <a:pt x="28734" y="591797"/>
                  <a:pt x="17518" y="580580"/>
                </a:cubicBezTo>
                <a:cubicBezTo>
                  <a:pt x="6301" y="569363"/>
                  <a:pt x="0" y="554151"/>
                  <a:pt x="0" y="538288"/>
                </a:cubicBezTo>
                <a:lnTo>
                  <a:pt x="0" y="59810"/>
                </a:lnTo>
                <a:close/>
              </a:path>
            </a:pathLst>
          </a:custGeom>
          <a:solidFill>
            <a:srgbClr val="18921E"/>
          </a:solidFill>
        </p:spPr>
        <p:style>
          <a:lnRef idx="3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7678" tIns="27678" rIns="27678" bIns="27678" numCol="1" spcCol="1270" anchor="ctr" anchorCtr="0">
            <a:noAutofit/>
          </a:bodyPr>
          <a:lstStyle/>
          <a:p>
            <a:pPr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050" b="1" dirty="0"/>
              <a:t>Beam Lead/ Flip Chip</a:t>
            </a:r>
          </a:p>
          <a:p>
            <a:pPr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050" b="1" dirty="0"/>
              <a:t>(to 70+ GHz) </a:t>
            </a:r>
          </a:p>
        </p:txBody>
      </p:sp>
      <p:cxnSp>
        <p:nvCxnSpPr>
          <p:cNvPr id="61" name="Straight Arrow Connector 60"/>
          <p:cNvCxnSpPr/>
          <p:nvPr/>
        </p:nvCxnSpPr>
        <p:spPr>
          <a:xfrm>
            <a:off x="4272258" y="2578354"/>
            <a:ext cx="25950" cy="68165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/>
          <p:cNvCxnSpPr/>
          <p:nvPr/>
        </p:nvCxnSpPr>
        <p:spPr>
          <a:xfrm>
            <a:off x="4944694" y="2414510"/>
            <a:ext cx="462193" cy="42275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Freeform 70"/>
          <p:cNvSpPr/>
          <p:nvPr/>
        </p:nvSpPr>
        <p:spPr>
          <a:xfrm>
            <a:off x="3745558" y="3389308"/>
            <a:ext cx="1170788" cy="591400"/>
          </a:xfrm>
          <a:custGeom>
            <a:avLst/>
            <a:gdLst>
              <a:gd name="connsiteX0" fmla="*/ 0 w 1196197"/>
              <a:gd name="connsiteY0" fmla="*/ 59810 h 598098"/>
              <a:gd name="connsiteX1" fmla="*/ 17518 w 1196197"/>
              <a:gd name="connsiteY1" fmla="*/ 17518 h 598098"/>
              <a:gd name="connsiteX2" fmla="*/ 59810 w 1196197"/>
              <a:gd name="connsiteY2" fmla="*/ 0 h 598098"/>
              <a:gd name="connsiteX3" fmla="*/ 1136387 w 1196197"/>
              <a:gd name="connsiteY3" fmla="*/ 0 h 598098"/>
              <a:gd name="connsiteX4" fmla="*/ 1178679 w 1196197"/>
              <a:gd name="connsiteY4" fmla="*/ 17518 h 598098"/>
              <a:gd name="connsiteX5" fmla="*/ 1196197 w 1196197"/>
              <a:gd name="connsiteY5" fmla="*/ 59810 h 598098"/>
              <a:gd name="connsiteX6" fmla="*/ 1196197 w 1196197"/>
              <a:gd name="connsiteY6" fmla="*/ 538288 h 598098"/>
              <a:gd name="connsiteX7" fmla="*/ 1178679 w 1196197"/>
              <a:gd name="connsiteY7" fmla="*/ 580580 h 598098"/>
              <a:gd name="connsiteX8" fmla="*/ 1136387 w 1196197"/>
              <a:gd name="connsiteY8" fmla="*/ 598098 h 598098"/>
              <a:gd name="connsiteX9" fmla="*/ 59810 w 1196197"/>
              <a:gd name="connsiteY9" fmla="*/ 598098 h 598098"/>
              <a:gd name="connsiteX10" fmla="*/ 17518 w 1196197"/>
              <a:gd name="connsiteY10" fmla="*/ 580580 h 598098"/>
              <a:gd name="connsiteX11" fmla="*/ 0 w 1196197"/>
              <a:gd name="connsiteY11" fmla="*/ 538288 h 598098"/>
              <a:gd name="connsiteX12" fmla="*/ 0 w 1196197"/>
              <a:gd name="connsiteY12" fmla="*/ 59810 h 5980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196197" h="598098">
                <a:moveTo>
                  <a:pt x="0" y="59810"/>
                </a:moveTo>
                <a:cubicBezTo>
                  <a:pt x="0" y="43947"/>
                  <a:pt x="6301" y="28734"/>
                  <a:pt x="17518" y="17518"/>
                </a:cubicBezTo>
                <a:cubicBezTo>
                  <a:pt x="28735" y="6301"/>
                  <a:pt x="43947" y="0"/>
                  <a:pt x="59810" y="0"/>
                </a:cubicBezTo>
                <a:lnTo>
                  <a:pt x="1136387" y="0"/>
                </a:lnTo>
                <a:cubicBezTo>
                  <a:pt x="1152250" y="0"/>
                  <a:pt x="1167463" y="6301"/>
                  <a:pt x="1178679" y="17518"/>
                </a:cubicBezTo>
                <a:cubicBezTo>
                  <a:pt x="1189896" y="28735"/>
                  <a:pt x="1196197" y="43947"/>
                  <a:pt x="1196197" y="59810"/>
                </a:cubicBezTo>
                <a:lnTo>
                  <a:pt x="1196197" y="538288"/>
                </a:lnTo>
                <a:cubicBezTo>
                  <a:pt x="1196197" y="554151"/>
                  <a:pt x="1189896" y="569364"/>
                  <a:pt x="1178679" y="580580"/>
                </a:cubicBezTo>
                <a:cubicBezTo>
                  <a:pt x="1167462" y="591797"/>
                  <a:pt x="1152250" y="598098"/>
                  <a:pt x="1136387" y="598098"/>
                </a:cubicBezTo>
                <a:lnTo>
                  <a:pt x="59810" y="598098"/>
                </a:lnTo>
                <a:cubicBezTo>
                  <a:pt x="43947" y="598098"/>
                  <a:pt x="28734" y="591797"/>
                  <a:pt x="17518" y="580580"/>
                </a:cubicBezTo>
                <a:cubicBezTo>
                  <a:pt x="6301" y="569363"/>
                  <a:pt x="0" y="554151"/>
                  <a:pt x="0" y="538288"/>
                </a:cubicBezTo>
                <a:lnTo>
                  <a:pt x="0" y="59810"/>
                </a:lnTo>
                <a:close/>
              </a:path>
            </a:pathLst>
          </a:custGeom>
          <a:solidFill>
            <a:srgbClr val="18921E"/>
          </a:solidFill>
        </p:spPr>
        <p:style>
          <a:lnRef idx="3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7678" tIns="27678" rIns="27678" bIns="27678" numCol="1" spcCol="1270" anchor="ctr" anchorCtr="0">
            <a:noAutofit/>
          </a:bodyPr>
          <a:lstStyle/>
          <a:p>
            <a:pPr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050" b="1" dirty="0"/>
              <a:t>Plastic</a:t>
            </a:r>
          </a:p>
          <a:p>
            <a:pPr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050" b="1" dirty="0"/>
              <a:t>(to 6 GHz)</a:t>
            </a:r>
          </a:p>
        </p:txBody>
      </p:sp>
      <p:cxnSp>
        <p:nvCxnSpPr>
          <p:cNvPr id="99" name="Straight Arrow Connector 98"/>
          <p:cNvCxnSpPr/>
          <p:nvPr/>
        </p:nvCxnSpPr>
        <p:spPr>
          <a:xfrm flipH="1">
            <a:off x="3155310" y="2414510"/>
            <a:ext cx="501491" cy="42181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4" name="Picture 36">
            <a:hlinkClick r:id="" action="ppaction://noaction"/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rot="21040347">
            <a:off x="3037944" y="5703645"/>
            <a:ext cx="641373" cy="550736"/>
          </a:xfrm>
          <a:prstGeom prst="rect">
            <a:avLst/>
          </a:prstGeom>
          <a:noFill/>
          <a:ln w="38100">
            <a:solidFill>
              <a:srgbClr val="001522"/>
            </a:solidFill>
            <a:miter lim="800000"/>
            <a:headEnd/>
            <a:tailEnd/>
          </a:ln>
        </p:spPr>
      </p:pic>
      <p:pic>
        <p:nvPicPr>
          <p:cNvPr id="46" name="Picture 16">
            <a:hlinkClick r:id="" action="ppaction://noaction"/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rot="1803430">
            <a:off x="2936302" y="4968171"/>
            <a:ext cx="608383" cy="479449"/>
          </a:xfrm>
          <a:prstGeom prst="rect">
            <a:avLst/>
          </a:prstGeom>
          <a:noFill/>
          <a:ln w="31750">
            <a:noFill/>
            <a:miter lim="800000"/>
            <a:headEnd/>
            <a:tailEnd/>
          </a:ln>
          <a:effectLst/>
        </p:spPr>
      </p:pic>
      <p:sp>
        <p:nvSpPr>
          <p:cNvPr id="48" name="Freeform 47"/>
          <p:cNvSpPr/>
          <p:nvPr/>
        </p:nvSpPr>
        <p:spPr>
          <a:xfrm>
            <a:off x="4336987" y="5026287"/>
            <a:ext cx="1698286" cy="952726"/>
          </a:xfrm>
          <a:custGeom>
            <a:avLst/>
            <a:gdLst>
              <a:gd name="connsiteX0" fmla="*/ 0 w 1196197"/>
              <a:gd name="connsiteY0" fmla="*/ 59810 h 598098"/>
              <a:gd name="connsiteX1" fmla="*/ 17518 w 1196197"/>
              <a:gd name="connsiteY1" fmla="*/ 17518 h 598098"/>
              <a:gd name="connsiteX2" fmla="*/ 59810 w 1196197"/>
              <a:gd name="connsiteY2" fmla="*/ 0 h 598098"/>
              <a:gd name="connsiteX3" fmla="*/ 1136387 w 1196197"/>
              <a:gd name="connsiteY3" fmla="*/ 0 h 598098"/>
              <a:gd name="connsiteX4" fmla="*/ 1178679 w 1196197"/>
              <a:gd name="connsiteY4" fmla="*/ 17518 h 598098"/>
              <a:gd name="connsiteX5" fmla="*/ 1196197 w 1196197"/>
              <a:gd name="connsiteY5" fmla="*/ 59810 h 598098"/>
              <a:gd name="connsiteX6" fmla="*/ 1196197 w 1196197"/>
              <a:gd name="connsiteY6" fmla="*/ 538288 h 598098"/>
              <a:gd name="connsiteX7" fmla="*/ 1178679 w 1196197"/>
              <a:gd name="connsiteY7" fmla="*/ 580580 h 598098"/>
              <a:gd name="connsiteX8" fmla="*/ 1136387 w 1196197"/>
              <a:gd name="connsiteY8" fmla="*/ 598098 h 598098"/>
              <a:gd name="connsiteX9" fmla="*/ 59810 w 1196197"/>
              <a:gd name="connsiteY9" fmla="*/ 598098 h 598098"/>
              <a:gd name="connsiteX10" fmla="*/ 17518 w 1196197"/>
              <a:gd name="connsiteY10" fmla="*/ 580580 h 598098"/>
              <a:gd name="connsiteX11" fmla="*/ 0 w 1196197"/>
              <a:gd name="connsiteY11" fmla="*/ 538288 h 598098"/>
              <a:gd name="connsiteX12" fmla="*/ 0 w 1196197"/>
              <a:gd name="connsiteY12" fmla="*/ 59810 h 5980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196197" h="598098">
                <a:moveTo>
                  <a:pt x="0" y="59810"/>
                </a:moveTo>
                <a:cubicBezTo>
                  <a:pt x="0" y="43947"/>
                  <a:pt x="6301" y="28734"/>
                  <a:pt x="17518" y="17518"/>
                </a:cubicBezTo>
                <a:cubicBezTo>
                  <a:pt x="28735" y="6301"/>
                  <a:pt x="43947" y="0"/>
                  <a:pt x="59810" y="0"/>
                </a:cubicBezTo>
                <a:lnTo>
                  <a:pt x="1136387" y="0"/>
                </a:lnTo>
                <a:cubicBezTo>
                  <a:pt x="1152250" y="0"/>
                  <a:pt x="1167463" y="6301"/>
                  <a:pt x="1178679" y="17518"/>
                </a:cubicBezTo>
                <a:cubicBezTo>
                  <a:pt x="1189896" y="28735"/>
                  <a:pt x="1196197" y="43947"/>
                  <a:pt x="1196197" y="59810"/>
                </a:cubicBezTo>
                <a:lnTo>
                  <a:pt x="1196197" y="538288"/>
                </a:lnTo>
                <a:cubicBezTo>
                  <a:pt x="1196197" y="554151"/>
                  <a:pt x="1189896" y="569364"/>
                  <a:pt x="1178679" y="580580"/>
                </a:cubicBezTo>
                <a:cubicBezTo>
                  <a:pt x="1167462" y="591797"/>
                  <a:pt x="1152250" y="598098"/>
                  <a:pt x="1136387" y="598098"/>
                </a:cubicBezTo>
                <a:lnTo>
                  <a:pt x="59810" y="598098"/>
                </a:lnTo>
                <a:cubicBezTo>
                  <a:pt x="43947" y="598098"/>
                  <a:pt x="28734" y="591797"/>
                  <a:pt x="17518" y="580580"/>
                </a:cubicBezTo>
                <a:cubicBezTo>
                  <a:pt x="6301" y="569363"/>
                  <a:pt x="0" y="554151"/>
                  <a:pt x="0" y="538288"/>
                </a:cubicBezTo>
                <a:lnTo>
                  <a:pt x="0" y="59810"/>
                </a:lnTo>
                <a:close/>
              </a:path>
            </a:pathLst>
          </a:custGeom>
          <a:solidFill>
            <a:srgbClr val="002060"/>
          </a:solidFill>
        </p:spPr>
        <p:style>
          <a:lnRef idx="3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7678" tIns="27678" rIns="27678" bIns="27678" numCol="1" spcCol="1270" anchor="ctr" anchorCtr="0">
            <a:noAutofit/>
          </a:bodyPr>
          <a:lstStyle/>
          <a:p>
            <a:pPr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b="1" dirty="0"/>
              <a:t>Integrated Solutions</a:t>
            </a:r>
          </a:p>
        </p:txBody>
      </p:sp>
      <p:cxnSp>
        <p:nvCxnSpPr>
          <p:cNvPr id="103" name="Straight Arrow Connector 102"/>
          <p:cNvCxnSpPr/>
          <p:nvPr/>
        </p:nvCxnSpPr>
        <p:spPr>
          <a:xfrm flipH="1" flipV="1">
            <a:off x="3833492" y="5502650"/>
            <a:ext cx="438766" cy="1130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94851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 smtClean="0"/>
              <a:t>AlGaAs PIN Process</a:t>
            </a:r>
            <a:endParaRPr lang="en-US" sz="360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dirty="0" smtClean="0"/>
              <a:t>PIN Diode Circuits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06263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83542" y="1431235"/>
            <a:ext cx="5391702" cy="4472420"/>
          </a:xfrm>
        </p:spPr>
        <p:txBody>
          <a:bodyPr/>
          <a:lstStyle/>
          <a:p>
            <a:r>
              <a:rPr lang="en-US" sz="1800" dirty="0" smtClean="0"/>
              <a:t>At very high frequencies (&gt;25 GHz) the carrier mobility of Si causes series resistance to increase significantly with increasing frequency</a:t>
            </a:r>
          </a:p>
          <a:p>
            <a:r>
              <a:rPr lang="en-US" sz="1800" dirty="0" smtClean="0"/>
              <a:t>The higher carrier mobility of III-V compound semiconductors makes them preferable at mmW</a:t>
            </a:r>
          </a:p>
          <a:p>
            <a:pPr marL="0" indent="0">
              <a:buNone/>
            </a:pPr>
            <a:r>
              <a:rPr lang="en-US" sz="1800" b="1" dirty="0" smtClean="0"/>
              <a:t>BUT </a:t>
            </a:r>
          </a:p>
          <a:p>
            <a:r>
              <a:rPr lang="en-US" sz="1800" dirty="0" smtClean="0"/>
              <a:t>We still see junction capacitance and series resistance of PIN structures governed by diode geometry</a:t>
            </a:r>
          </a:p>
          <a:p>
            <a:r>
              <a:rPr lang="en-US" sz="1800" dirty="0" smtClean="0"/>
              <a:t>Junction capacitance must be very small, typically accomplished by reducing the area of the junction</a:t>
            </a:r>
          </a:p>
          <a:p>
            <a:r>
              <a:rPr lang="en-US" sz="1800" dirty="0" smtClean="0"/>
              <a:t>Reduced junction area produces increased series resistance</a:t>
            </a:r>
            <a:endParaRPr lang="en-US" sz="1800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PIN Diodes at mmW – the Classic  Conundrum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 bwMode="auto">
              <a:xfrm>
                <a:off x="6356350" y="3933744"/>
                <a:ext cx="1500716" cy="914400"/>
              </a:xfrm>
              <a:prstGeom prst="rect">
                <a:avLst/>
              </a:prstGeom>
              <a:noFill/>
              <a:ln w="12700" cap="sq" algn="ctr">
                <a:noFill/>
                <a:miter lim="800000"/>
                <a:headEnd/>
                <a:tailEnd/>
              </a:ln>
              <a:effectLst/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>
                  <a:spcBef>
                    <a:spcPts val="9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32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𝐽</m:t>
                          </m:r>
                        </m:sub>
                      </m:sSub>
                      <m:r>
                        <a:rPr lang="en-US" sz="32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32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2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𝜖</m:t>
                          </m:r>
                          <m:r>
                            <a:rPr lang="en-US" sz="32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num>
                        <m:den>
                          <m:r>
                            <a:rPr lang="en-US" sz="32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den>
                      </m:f>
                    </m:oMath>
                  </m:oMathPara>
                </a14:m>
                <a:endParaRPr lang="en-US" sz="3200" dirty="0" err="1" smtClean="0">
                  <a:solidFill>
                    <a:schemeClr val="tx2"/>
                  </a:solidFill>
                  <a:latin typeface="+mn-lt"/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356350" y="3933744"/>
                <a:ext cx="1500716" cy="914400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  <a:ln w="12700" cap="sq" algn="ctr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 bwMode="auto">
              <a:xfrm>
                <a:off x="6299062" y="4989255"/>
                <a:ext cx="1615292" cy="914400"/>
              </a:xfrm>
              <a:prstGeom prst="rect">
                <a:avLst/>
              </a:prstGeom>
              <a:noFill/>
              <a:ln w="12700" cap="sq" algn="ctr">
                <a:noFill/>
                <a:miter lim="800000"/>
                <a:headEnd/>
                <a:tailEnd/>
              </a:ln>
              <a:effectLst/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>
                  <a:spcBef>
                    <a:spcPts val="9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32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</m:sSub>
                      <m:r>
                        <a:rPr lang="en-US" sz="32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32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2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𝜌</m:t>
                          </m:r>
                          <m:r>
                            <a:rPr lang="en-US" sz="32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</m:t>
                          </m:r>
                        </m:num>
                        <m:den>
                          <m:r>
                            <a:rPr lang="en-US" sz="32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den>
                      </m:f>
                    </m:oMath>
                  </m:oMathPara>
                </a14:m>
                <a:endParaRPr lang="en-US" sz="3200" dirty="0" err="1" smtClean="0">
                  <a:solidFill>
                    <a:schemeClr val="tx2"/>
                  </a:solidFill>
                  <a:latin typeface="+mn-lt"/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299062" y="4989255"/>
                <a:ext cx="1615292" cy="914400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  <a:ln w="12700" cap="sq" algn="ctr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5670" y="1777612"/>
            <a:ext cx="3347765" cy="2015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1112942"/>
      </p:ext>
    </p:extLst>
  </p:cSld>
  <p:clrMapOvr>
    <a:masterClrMapping/>
  </p:clrMapOvr>
  <p:transition>
    <p:wipe dir="r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98262" y="1323991"/>
            <a:ext cx="5017205" cy="4728810"/>
          </a:xfrm>
        </p:spPr>
        <p:txBody>
          <a:bodyPr/>
          <a:lstStyle/>
          <a:p>
            <a:r>
              <a:rPr lang="en-US" sz="2400" dirty="0" smtClean="0"/>
              <a:t>The addition of Al as a p-type dopant in the anode layer of the PIN structure</a:t>
            </a:r>
          </a:p>
          <a:p>
            <a:pPr lvl="1"/>
            <a:r>
              <a:rPr lang="en-US" sz="2000" dirty="0" smtClean="0"/>
              <a:t>Is patented by MACOM</a:t>
            </a:r>
          </a:p>
          <a:p>
            <a:pPr lvl="1"/>
            <a:r>
              <a:rPr lang="en-US" sz="2000" dirty="0" smtClean="0"/>
              <a:t>Increases the bandgap with respect to GaAs</a:t>
            </a:r>
          </a:p>
          <a:p>
            <a:pPr lvl="1"/>
            <a:r>
              <a:rPr lang="en-US" sz="2000" dirty="0" smtClean="0"/>
              <a:t>Creates a barrier to hole “back injection” from the I layer into the P layer</a:t>
            </a:r>
          </a:p>
          <a:p>
            <a:pPr lvl="1"/>
            <a:r>
              <a:rPr lang="en-US" sz="2000" dirty="0" smtClean="0"/>
              <a:t>Enhances forward injection of holes from the P layer to the I layer</a:t>
            </a:r>
          </a:p>
          <a:p>
            <a:pPr lvl="1"/>
            <a:r>
              <a:rPr lang="en-US" sz="2000" dirty="0" smtClean="0"/>
              <a:t>Results in higher charge concentration in I layer under forward bias</a:t>
            </a:r>
          </a:p>
          <a:p>
            <a:pPr lvl="1"/>
            <a:endParaRPr lang="en-US" sz="2000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Why AlGaAs?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0383" y="2111238"/>
            <a:ext cx="3567796" cy="289186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 bwMode="auto">
          <a:xfrm>
            <a:off x="412750" y="6154033"/>
            <a:ext cx="8629650" cy="370577"/>
          </a:xfrm>
          <a:prstGeom prst="rect">
            <a:avLst/>
          </a:prstGeom>
          <a:noFill/>
          <a:ln w="12700" cap="sq" algn="ctr">
            <a:noFill/>
            <a:miter lim="800000"/>
            <a:headEnd/>
            <a:tailEnd/>
          </a:ln>
          <a:effectLst/>
        </p:spPr>
        <p:txBody>
          <a:bodyPr wrap="square" rtlCol="0" anchor="ctr" anchorCtr="0">
            <a:noAutofit/>
          </a:bodyPr>
          <a:lstStyle/>
          <a:p>
            <a:pPr algn="l">
              <a:spcBef>
                <a:spcPts val="900"/>
              </a:spcBef>
            </a:pPr>
            <a:r>
              <a:rPr lang="en-US" sz="1400" dirty="0" smtClean="0">
                <a:solidFill>
                  <a:schemeClr val="tx2"/>
                </a:solidFill>
                <a:latin typeface="+mn-lt"/>
              </a:rPr>
              <a:t>Source: Boles, T. et al, </a:t>
            </a:r>
            <a:r>
              <a:rPr lang="en-US" sz="1400" dirty="0" smtClean="0"/>
              <a:t>AlGaAs </a:t>
            </a:r>
            <a:r>
              <a:rPr lang="en-US" sz="1400" dirty="0"/>
              <a:t>mmW PIN Diode Switch</a:t>
            </a:r>
            <a:r>
              <a:rPr lang="en-US" sz="1400" dirty="0" smtClean="0"/>
              <a:t>: A </a:t>
            </a:r>
            <a:r>
              <a:rPr lang="en-US" sz="1400" dirty="0"/>
              <a:t>New Benchmark for Power Handling</a:t>
            </a:r>
            <a:endParaRPr lang="en-US" sz="1400" dirty="0" smtClean="0">
              <a:solidFill>
                <a:schemeClr val="tx2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08096037"/>
      </p:ext>
    </p:extLst>
  </p:cSld>
  <p:clrMapOvr>
    <a:masterClrMapping/>
  </p:clrMapOvr>
  <p:transition>
    <p:wipe dir="r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6485" y="1253199"/>
            <a:ext cx="7695382" cy="5295214"/>
          </a:xfrm>
          <a:prstGeom prst="rect">
            <a:avLst/>
          </a:prstGeo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58044" y="96407"/>
            <a:ext cx="6553906" cy="640080"/>
          </a:xfrm>
        </p:spPr>
        <p:txBody>
          <a:bodyPr/>
          <a:lstStyle/>
          <a:p>
            <a:r>
              <a:rPr lang="en-US" dirty="0" smtClean="0"/>
              <a:t>How to Increase Charge in the I Layer?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7483045"/>
      </p:ext>
    </p:extLst>
  </p:cSld>
  <p:clrMapOvr>
    <a:masterClrMapping/>
  </p:clrMapOvr>
  <p:transition>
    <p:wipe dir="r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98262" y="1264357"/>
            <a:ext cx="5017205" cy="4728810"/>
          </a:xfrm>
        </p:spPr>
        <p:txBody>
          <a:bodyPr/>
          <a:lstStyle/>
          <a:p>
            <a:r>
              <a:rPr lang="en-US" sz="2400" dirty="0" smtClean="0"/>
              <a:t>Al dopant </a:t>
            </a:r>
          </a:p>
          <a:p>
            <a:pPr lvl="1"/>
            <a:r>
              <a:rPr lang="en-US" sz="2000" dirty="0" smtClean="0"/>
              <a:t>reduces diode forward-bias series resistance </a:t>
            </a:r>
          </a:p>
          <a:p>
            <a:pPr lvl="1"/>
            <a:r>
              <a:rPr lang="en-US" sz="2000" dirty="0" smtClean="0"/>
              <a:t>has no effect on </a:t>
            </a:r>
            <a:r>
              <a:rPr lang="en-US" sz="2000" dirty="0" err="1" smtClean="0"/>
              <a:t>nonconduction</a:t>
            </a:r>
            <a:r>
              <a:rPr lang="en-US" sz="2000" dirty="0" smtClean="0"/>
              <a:t> state characteristics</a:t>
            </a:r>
          </a:p>
          <a:p>
            <a:pPr lvl="1"/>
            <a:r>
              <a:rPr lang="en-US" sz="2000" dirty="0" smtClean="0"/>
              <a:t>junction capacitance of AlGaAs junction the same as physically-identical GaAs junction capacitance</a:t>
            </a:r>
          </a:p>
          <a:p>
            <a:pPr>
              <a:spcBef>
                <a:spcPts val="600"/>
              </a:spcBef>
            </a:pPr>
            <a:r>
              <a:rPr lang="en-US" altLang="en-US" sz="2200" dirty="0" smtClean="0"/>
              <a:t>Demonstrated </a:t>
            </a:r>
            <a:r>
              <a:rPr lang="en-US" altLang="en-US" sz="2200" dirty="0"/>
              <a:t>a 37% </a:t>
            </a:r>
            <a:r>
              <a:rPr lang="en-US" altLang="en-US" sz="2200" dirty="0" smtClean="0"/>
              <a:t>reduction </a:t>
            </a:r>
            <a:r>
              <a:rPr lang="en-US" altLang="en-US" sz="2200" dirty="0"/>
              <a:t>in Rs, and </a:t>
            </a:r>
            <a:r>
              <a:rPr lang="en-US" altLang="en-US" sz="2200" dirty="0" smtClean="0"/>
              <a:t>no change </a:t>
            </a:r>
            <a:r>
              <a:rPr lang="en-US" altLang="en-US" sz="2200" dirty="0"/>
              <a:t>in </a:t>
            </a:r>
            <a:r>
              <a:rPr lang="en-US" altLang="en-US" sz="2200" dirty="0" smtClean="0"/>
              <a:t>junction capacitance</a:t>
            </a:r>
            <a:endParaRPr lang="en-US" altLang="en-US" sz="2200" dirty="0"/>
          </a:p>
          <a:p>
            <a:pPr lvl="1"/>
            <a:r>
              <a:rPr lang="en-US" altLang="en-US" sz="2000" dirty="0"/>
              <a:t>Confirmed by </a:t>
            </a:r>
            <a:r>
              <a:rPr lang="en-US" altLang="en-US" sz="2000" dirty="0" smtClean="0"/>
              <a:t>fabricated device measurements and simulations</a:t>
            </a:r>
          </a:p>
          <a:p>
            <a:pPr marL="342900" lvl="1" indent="0">
              <a:buNone/>
            </a:pPr>
            <a:endParaRPr lang="en-US" sz="2000" dirty="0" smtClean="0"/>
          </a:p>
          <a:p>
            <a:pPr lvl="1"/>
            <a:endParaRPr lang="en-US" sz="2400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Why AlGaAs (cont’d)?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0383" y="2111238"/>
            <a:ext cx="3567796" cy="2891865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 bwMode="auto">
          <a:xfrm>
            <a:off x="5595730" y="5257800"/>
            <a:ext cx="2991679" cy="1083365"/>
          </a:xfrm>
          <a:prstGeom prst="rect">
            <a:avLst/>
          </a:prstGeom>
          <a:noFill/>
          <a:ln w="12700" cap="sq" algn="ctr">
            <a:noFill/>
            <a:miter lim="800000"/>
            <a:headEnd/>
            <a:tailEnd/>
          </a:ln>
          <a:effectLst/>
        </p:spPr>
        <p:txBody>
          <a:bodyPr wrap="square" rtlCol="0" anchor="ctr" anchorCtr="0">
            <a:noAutofit/>
          </a:bodyPr>
          <a:lstStyle/>
          <a:p>
            <a:pPr algn="l">
              <a:spcBef>
                <a:spcPts val="900"/>
              </a:spcBef>
            </a:pPr>
            <a:r>
              <a:rPr lang="en-US" altLang="en-US" dirty="0"/>
              <a:t>Extends the use of the PIN structure through 100+ </a:t>
            </a:r>
            <a:r>
              <a:rPr lang="en-US" altLang="en-US" dirty="0" smtClean="0"/>
              <a:t>GHz</a:t>
            </a:r>
            <a:endParaRPr lang="en-US" dirty="0" smtClean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7" name="TextBox 6"/>
          <p:cNvSpPr txBox="1"/>
          <p:nvPr/>
        </p:nvSpPr>
        <p:spPr bwMode="auto">
          <a:xfrm>
            <a:off x="412750" y="6176611"/>
            <a:ext cx="8629650" cy="370577"/>
          </a:xfrm>
          <a:prstGeom prst="rect">
            <a:avLst/>
          </a:prstGeom>
          <a:noFill/>
          <a:ln w="12700" cap="sq" algn="ctr">
            <a:noFill/>
            <a:miter lim="800000"/>
            <a:headEnd/>
            <a:tailEnd/>
          </a:ln>
          <a:effectLst/>
        </p:spPr>
        <p:txBody>
          <a:bodyPr wrap="square" rtlCol="0" anchor="ctr" anchorCtr="0">
            <a:noAutofit/>
          </a:bodyPr>
          <a:lstStyle/>
          <a:p>
            <a:pPr algn="l">
              <a:spcBef>
                <a:spcPts val="900"/>
              </a:spcBef>
            </a:pPr>
            <a:r>
              <a:rPr lang="en-US" sz="1400" dirty="0" smtClean="0">
                <a:solidFill>
                  <a:schemeClr val="tx2"/>
                </a:solidFill>
                <a:latin typeface="+mn-lt"/>
              </a:rPr>
              <a:t>Source: Boles, T. et al, </a:t>
            </a:r>
            <a:r>
              <a:rPr lang="en-US" sz="1400" dirty="0" smtClean="0"/>
              <a:t>AlGaAs </a:t>
            </a:r>
            <a:r>
              <a:rPr lang="en-US" sz="1400" dirty="0"/>
              <a:t>mmW PIN Diode Switch</a:t>
            </a:r>
            <a:r>
              <a:rPr lang="en-US" sz="1400" dirty="0" smtClean="0"/>
              <a:t>: A </a:t>
            </a:r>
            <a:r>
              <a:rPr lang="en-US" sz="1400" dirty="0"/>
              <a:t>New Benchmark for Power Handling</a:t>
            </a:r>
            <a:endParaRPr lang="en-US" sz="1400" dirty="0" smtClean="0">
              <a:solidFill>
                <a:schemeClr val="tx2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232352149"/>
      </p:ext>
    </p:extLst>
  </p:cSld>
  <p:clrMapOvr>
    <a:masterClrMapping/>
  </p:clrMapOvr>
  <p:transition>
    <p:wipe dir="r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5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402" t="13333" r="3807" b="49722"/>
          <a:stretch>
            <a:fillRect/>
          </a:stretch>
        </p:blipFill>
        <p:spPr bwMode="auto">
          <a:xfrm>
            <a:off x="5360990" y="4315212"/>
            <a:ext cx="3428550" cy="18944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167" t="13135" r="3572" b="49901"/>
          <a:stretch>
            <a:fillRect/>
          </a:stretch>
        </p:blipFill>
        <p:spPr bwMode="auto">
          <a:xfrm>
            <a:off x="850899" y="4312031"/>
            <a:ext cx="3453003" cy="18880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6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637" t="13512" r="3819" b="49722"/>
          <a:stretch>
            <a:fillRect/>
          </a:stretch>
        </p:blipFill>
        <p:spPr bwMode="auto">
          <a:xfrm>
            <a:off x="5403852" y="1595827"/>
            <a:ext cx="3393800" cy="1876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64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167" t="13333" r="3931" b="49901"/>
          <a:stretch>
            <a:fillRect/>
          </a:stretch>
        </p:blipFill>
        <p:spPr bwMode="auto">
          <a:xfrm>
            <a:off x="850898" y="1592645"/>
            <a:ext cx="3438846" cy="18867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366" name="Rectangle 6"/>
          <p:cNvSpPr>
            <a:spLocks noGrp="1" noChangeArrowheads="1"/>
          </p:cNvSpPr>
          <p:nvPr>
            <p:ph type="title"/>
          </p:nvPr>
        </p:nvSpPr>
        <p:spPr>
          <a:xfrm>
            <a:off x="128391" y="265223"/>
            <a:ext cx="7147052" cy="462583"/>
          </a:xfrm>
        </p:spPr>
        <p:txBody>
          <a:bodyPr>
            <a:normAutofit/>
          </a:bodyPr>
          <a:lstStyle/>
          <a:p>
            <a:r>
              <a:rPr lang="en-US" altLang="en-US" sz="2800" dirty="0" smtClean="0"/>
              <a:t>Rs Reduction &amp; Isolation Validation</a:t>
            </a:r>
          </a:p>
        </p:txBody>
      </p:sp>
      <p:sp>
        <p:nvSpPr>
          <p:cNvPr id="15367" name="Rectangle 7"/>
          <p:cNvSpPr>
            <a:spLocks noGrp="1" noChangeArrowheads="1"/>
          </p:cNvSpPr>
          <p:nvPr>
            <p:ph type="body" sz="half" idx="1"/>
          </p:nvPr>
        </p:nvSpPr>
        <p:spPr>
          <a:xfrm>
            <a:off x="1043732" y="1316419"/>
            <a:ext cx="3274111" cy="4525962"/>
          </a:xfrm>
        </p:spPr>
        <p:txBody>
          <a:bodyPr/>
          <a:lstStyle/>
          <a:p>
            <a:pPr>
              <a:spcBef>
                <a:spcPct val="25000"/>
              </a:spcBef>
            </a:pPr>
            <a:r>
              <a:rPr lang="en-US" altLang="en-US" sz="1400" b="1" dirty="0" smtClean="0">
                <a:solidFill>
                  <a:srgbClr val="00B0F0"/>
                </a:solidFill>
              </a:rPr>
              <a:t>Series Loss (dB) vs Freq @ 10mA</a:t>
            </a:r>
          </a:p>
          <a:p>
            <a:pPr>
              <a:spcBef>
                <a:spcPct val="25000"/>
              </a:spcBef>
            </a:pPr>
            <a:endParaRPr lang="en-US" altLang="en-US" sz="1400" dirty="0" smtClean="0"/>
          </a:p>
          <a:p>
            <a:pPr>
              <a:spcBef>
                <a:spcPct val="25000"/>
              </a:spcBef>
            </a:pPr>
            <a:endParaRPr lang="en-US" altLang="en-US" sz="1400" dirty="0" smtClean="0"/>
          </a:p>
          <a:p>
            <a:pPr>
              <a:spcBef>
                <a:spcPct val="25000"/>
              </a:spcBef>
            </a:pPr>
            <a:endParaRPr lang="en-US" altLang="en-US" sz="1400" dirty="0" smtClean="0"/>
          </a:p>
          <a:p>
            <a:pPr>
              <a:spcBef>
                <a:spcPct val="25000"/>
              </a:spcBef>
            </a:pPr>
            <a:endParaRPr lang="en-US" altLang="en-US" sz="1400" dirty="0" smtClean="0"/>
          </a:p>
          <a:p>
            <a:pPr>
              <a:spcBef>
                <a:spcPct val="25000"/>
              </a:spcBef>
            </a:pPr>
            <a:endParaRPr lang="en-US" altLang="en-US" sz="1400" dirty="0" smtClean="0"/>
          </a:p>
          <a:p>
            <a:pPr>
              <a:spcBef>
                <a:spcPct val="25000"/>
              </a:spcBef>
            </a:pPr>
            <a:endParaRPr lang="en-US" altLang="en-US" sz="1400" dirty="0" smtClean="0"/>
          </a:p>
          <a:p>
            <a:pPr>
              <a:spcBef>
                <a:spcPct val="25000"/>
              </a:spcBef>
            </a:pPr>
            <a:endParaRPr lang="en-US" altLang="en-US" sz="1400" dirty="0" smtClean="0"/>
          </a:p>
          <a:p>
            <a:pPr>
              <a:spcBef>
                <a:spcPct val="25000"/>
              </a:spcBef>
            </a:pPr>
            <a:endParaRPr lang="en-US" altLang="en-US" sz="1400" dirty="0" smtClean="0"/>
          </a:p>
          <a:p>
            <a:pPr>
              <a:spcBef>
                <a:spcPct val="25000"/>
              </a:spcBef>
            </a:pPr>
            <a:endParaRPr lang="en-US" altLang="en-US" sz="1400" dirty="0"/>
          </a:p>
          <a:p>
            <a:pPr>
              <a:spcBef>
                <a:spcPct val="25000"/>
              </a:spcBef>
            </a:pPr>
            <a:r>
              <a:rPr lang="en-US" altLang="en-US" sz="1400" b="1" dirty="0" smtClean="0">
                <a:solidFill>
                  <a:srgbClr val="00B0F0"/>
                </a:solidFill>
              </a:rPr>
              <a:t>Shunt Isolation (dB) vs Freq @ 10mA</a:t>
            </a:r>
          </a:p>
        </p:txBody>
      </p:sp>
      <p:sp>
        <p:nvSpPr>
          <p:cNvPr id="15368" name="Rectangle 8"/>
          <p:cNvSpPr>
            <a:spLocks noGrp="1" noChangeArrowheads="1"/>
          </p:cNvSpPr>
          <p:nvPr>
            <p:ph type="body" sz="half" idx="2"/>
          </p:nvPr>
        </p:nvSpPr>
        <p:spPr>
          <a:xfrm>
            <a:off x="5292728" y="1295400"/>
            <a:ext cx="3274111" cy="4525962"/>
          </a:xfrm>
        </p:spPr>
        <p:txBody>
          <a:bodyPr/>
          <a:lstStyle/>
          <a:p>
            <a:pPr>
              <a:spcBef>
                <a:spcPct val="25000"/>
              </a:spcBef>
            </a:pPr>
            <a:r>
              <a:rPr lang="en-US" altLang="en-US" sz="1400" b="1" dirty="0" smtClean="0">
                <a:solidFill>
                  <a:srgbClr val="00B0F0"/>
                </a:solidFill>
              </a:rPr>
              <a:t>Series Isolation (dB) vs Freq @10V</a:t>
            </a:r>
          </a:p>
          <a:p>
            <a:pPr>
              <a:spcBef>
                <a:spcPct val="25000"/>
              </a:spcBef>
            </a:pPr>
            <a:endParaRPr lang="en-US" altLang="en-US" sz="1400" dirty="0" smtClean="0"/>
          </a:p>
          <a:p>
            <a:pPr>
              <a:spcBef>
                <a:spcPct val="25000"/>
              </a:spcBef>
            </a:pPr>
            <a:endParaRPr lang="en-US" altLang="en-US" sz="1400" dirty="0" smtClean="0"/>
          </a:p>
          <a:p>
            <a:pPr>
              <a:spcBef>
                <a:spcPct val="25000"/>
              </a:spcBef>
            </a:pPr>
            <a:endParaRPr lang="en-US" altLang="en-US" sz="1400" dirty="0" smtClean="0"/>
          </a:p>
          <a:p>
            <a:pPr>
              <a:spcBef>
                <a:spcPct val="25000"/>
              </a:spcBef>
            </a:pPr>
            <a:endParaRPr lang="en-US" altLang="en-US" sz="1400" dirty="0" smtClean="0"/>
          </a:p>
          <a:p>
            <a:pPr>
              <a:spcBef>
                <a:spcPct val="25000"/>
              </a:spcBef>
            </a:pPr>
            <a:endParaRPr lang="en-US" altLang="en-US" sz="1400" dirty="0" smtClean="0"/>
          </a:p>
          <a:p>
            <a:pPr>
              <a:spcBef>
                <a:spcPct val="25000"/>
              </a:spcBef>
            </a:pPr>
            <a:endParaRPr lang="en-US" altLang="en-US" sz="1400" dirty="0" smtClean="0"/>
          </a:p>
          <a:p>
            <a:pPr>
              <a:spcBef>
                <a:spcPct val="25000"/>
              </a:spcBef>
            </a:pPr>
            <a:endParaRPr lang="en-US" altLang="en-US" sz="1400" dirty="0" smtClean="0"/>
          </a:p>
          <a:p>
            <a:pPr>
              <a:spcBef>
                <a:spcPct val="25000"/>
              </a:spcBef>
            </a:pPr>
            <a:endParaRPr lang="en-US" altLang="en-US" sz="1400" dirty="0" smtClean="0"/>
          </a:p>
          <a:p>
            <a:pPr>
              <a:spcBef>
                <a:spcPct val="25000"/>
              </a:spcBef>
            </a:pPr>
            <a:endParaRPr lang="en-US" altLang="en-US" sz="1400" dirty="0"/>
          </a:p>
          <a:p>
            <a:pPr>
              <a:spcBef>
                <a:spcPct val="25000"/>
              </a:spcBef>
            </a:pPr>
            <a:r>
              <a:rPr lang="en-US" altLang="en-US" sz="1400" b="1" dirty="0" smtClean="0">
                <a:solidFill>
                  <a:srgbClr val="00B0F0"/>
                </a:solidFill>
              </a:rPr>
              <a:t>Shunt Loss (dB) vs Freq @ 10V</a:t>
            </a:r>
          </a:p>
        </p:txBody>
      </p:sp>
      <p:sp>
        <p:nvSpPr>
          <p:cNvPr id="15369" name="Text Box 9"/>
          <p:cNvSpPr txBox="1">
            <a:spLocks noChangeArrowheads="1"/>
          </p:cNvSpPr>
          <p:nvPr/>
        </p:nvSpPr>
        <p:spPr bwMode="auto">
          <a:xfrm>
            <a:off x="2986091" y="2074577"/>
            <a:ext cx="777347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125000"/>
              </a:lnSpc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lnSpc>
                <a:spcPct val="125000"/>
              </a:lnSpc>
              <a:buChar char="–"/>
              <a:defRPr sz="16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lnSpc>
                <a:spcPct val="125000"/>
              </a:lnSpc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lnSpc>
                <a:spcPct val="120000"/>
              </a:lnSpc>
              <a:buChar char="–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lnSpc>
                <a:spcPct val="120000"/>
              </a:lnSpc>
              <a:buChar char="•"/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har char="•"/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har char="•"/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har char="•"/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har char="•"/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buFontTx/>
              <a:buNone/>
            </a:pPr>
            <a:r>
              <a:rPr lang="en-US" altLang="en-US" sz="1800" dirty="0">
                <a:solidFill>
                  <a:schemeClr val="tx1"/>
                </a:solidFill>
                <a:ea typeface="MS PGothic" panose="020B0600070205080204" pitchFamily="34" charset="-128"/>
              </a:rPr>
              <a:t>AlGaAs</a:t>
            </a:r>
          </a:p>
        </p:txBody>
      </p:sp>
      <p:sp>
        <p:nvSpPr>
          <p:cNvPr id="15370" name="Text Box 10"/>
          <p:cNvSpPr txBox="1">
            <a:spLocks noChangeArrowheads="1"/>
          </p:cNvSpPr>
          <p:nvPr/>
        </p:nvSpPr>
        <p:spPr bwMode="auto">
          <a:xfrm>
            <a:off x="2230440" y="2564193"/>
            <a:ext cx="612604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125000"/>
              </a:lnSpc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lnSpc>
                <a:spcPct val="125000"/>
              </a:lnSpc>
              <a:buChar char="–"/>
              <a:defRPr sz="16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lnSpc>
                <a:spcPct val="125000"/>
              </a:lnSpc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lnSpc>
                <a:spcPct val="120000"/>
              </a:lnSpc>
              <a:buChar char="–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lnSpc>
                <a:spcPct val="120000"/>
              </a:lnSpc>
              <a:buChar char="•"/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har char="•"/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har char="•"/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har char="•"/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har char="•"/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buFontTx/>
              <a:buNone/>
            </a:pPr>
            <a:r>
              <a:rPr lang="en-US" altLang="en-US" sz="1800" dirty="0">
                <a:solidFill>
                  <a:schemeClr val="tx1"/>
                </a:solidFill>
                <a:ea typeface="MS PGothic" panose="020B0600070205080204" pitchFamily="34" charset="-128"/>
              </a:rPr>
              <a:t>GaAs</a:t>
            </a:r>
          </a:p>
        </p:txBody>
      </p:sp>
      <p:sp>
        <p:nvSpPr>
          <p:cNvPr id="15371" name="Text Box 11"/>
          <p:cNvSpPr txBox="1">
            <a:spLocks noChangeArrowheads="1"/>
          </p:cNvSpPr>
          <p:nvPr/>
        </p:nvSpPr>
        <p:spPr bwMode="auto">
          <a:xfrm>
            <a:off x="2188726" y="5475668"/>
            <a:ext cx="777347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125000"/>
              </a:lnSpc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lnSpc>
                <a:spcPct val="125000"/>
              </a:lnSpc>
              <a:buChar char="–"/>
              <a:defRPr sz="16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lnSpc>
                <a:spcPct val="125000"/>
              </a:lnSpc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lnSpc>
                <a:spcPct val="120000"/>
              </a:lnSpc>
              <a:buChar char="–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lnSpc>
                <a:spcPct val="120000"/>
              </a:lnSpc>
              <a:buChar char="•"/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har char="•"/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har char="•"/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har char="•"/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har char="•"/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buFontTx/>
              <a:buNone/>
            </a:pPr>
            <a:r>
              <a:rPr lang="en-US" altLang="en-US" sz="1800" dirty="0">
                <a:solidFill>
                  <a:schemeClr val="tx1"/>
                </a:solidFill>
                <a:ea typeface="MS PGothic" panose="020B0600070205080204" pitchFamily="34" charset="-128"/>
              </a:rPr>
              <a:t>AlGaAs</a:t>
            </a:r>
          </a:p>
        </p:txBody>
      </p:sp>
      <p:sp>
        <p:nvSpPr>
          <p:cNvPr id="15372" name="Text Box 12"/>
          <p:cNvSpPr txBox="1">
            <a:spLocks noChangeArrowheads="1"/>
          </p:cNvSpPr>
          <p:nvPr/>
        </p:nvSpPr>
        <p:spPr bwMode="auto">
          <a:xfrm>
            <a:off x="2504636" y="4925912"/>
            <a:ext cx="612604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125000"/>
              </a:lnSpc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lnSpc>
                <a:spcPct val="125000"/>
              </a:lnSpc>
              <a:buChar char="–"/>
              <a:defRPr sz="16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lnSpc>
                <a:spcPct val="125000"/>
              </a:lnSpc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lnSpc>
                <a:spcPct val="120000"/>
              </a:lnSpc>
              <a:buChar char="–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lnSpc>
                <a:spcPct val="120000"/>
              </a:lnSpc>
              <a:buChar char="•"/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har char="•"/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har char="•"/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har char="•"/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har char="•"/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buFontTx/>
              <a:buNone/>
            </a:pPr>
            <a:r>
              <a:rPr lang="en-US" altLang="en-US" sz="1800" dirty="0">
                <a:solidFill>
                  <a:schemeClr val="tx1"/>
                </a:solidFill>
                <a:ea typeface="MS PGothic" panose="020B0600070205080204" pitchFamily="34" charset="-128"/>
              </a:rPr>
              <a:t>GaAs</a:t>
            </a:r>
          </a:p>
        </p:txBody>
      </p:sp>
      <p:sp>
        <p:nvSpPr>
          <p:cNvPr id="13" name="TextBox 12"/>
          <p:cNvSpPr txBox="1"/>
          <p:nvPr/>
        </p:nvSpPr>
        <p:spPr bwMode="auto">
          <a:xfrm>
            <a:off x="412750" y="6233056"/>
            <a:ext cx="8629650" cy="370577"/>
          </a:xfrm>
          <a:prstGeom prst="rect">
            <a:avLst/>
          </a:prstGeom>
          <a:noFill/>
          <a:ln w="12700" cap="sq" algn="ctr">
            <a:noFill/>
            <a:miter lim="800000"/>
            <a:headEnd/>
            <a:tailEnd/>
          </a:ln>
          <a:effectLst/>
        </p:spPr>
        <p:txBody>
          <a:bodyPr wrap="square" rtlCol="0" anchor="ctr" anchorCtr="0">
            <a:noAutofit/>
          </a:bodyPr>
          <a:lstStyle/>
          <a:p>
            <a:pPr algn="l">
              <a:spcBef>
                <a:spcPts val="900"/>
              </a:spcBef>
            </a:pPr>
            <a:r>
              <a:rPr lang="en-US" sz="1400" dirty="0" smtClean="0">
                <a:solidFill>
                  <a:schemeClr val="tx2"/>
                </a:solidFill>
                <a:latin typeface="+mn-lt"/>
              </a:rPr>
              <a:t>Source: Boles, T. et al, </a:t>
            </a:r>
            <a:r>
              <a:rPr lang="en-US" sz="1400" dirty="0" smtClean="0"/>
              <a:t>AlGaAs </a:t>
            </a:r>
            <a:r>
              <a:rPr lang="en-US" sz="1400" dirty="0"/>
              <a:t>mmW PIN Diode Switch</a:t>
            </a:r>
            <a:r>
              <a:rPr lang="en-US" sz="1400" dirty="0" smtClean="0"/>
              <a:t>: A </a:t>
            </a:r>
            <a:r>
              <a:rPr lang="en-US" sz="1400" dirty="0"/>
              <a:t>New Benchmark for Power Handling</a:t>
            </a:r>
            <a:endParaRPr lang="en-US" sz="1400" dirty="0" smtClean="0">
              <a:solidFill>
                <a:schemeClr val="tx2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72938865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458" name="Rectangle 2"/>
          <p:cNvSpPr>
            <a:spLocks noGrp="1" noChangeArrowheads="1"/>
          </p:cNvSpPr>
          <p:nvPr>
            <p:ph type="title"/>
          </p:nvPr>
        </p:nvSpPr>
        <p:spPr>
          <a:xfrm>
            <a:off x="79076" y="230597"/>
            <a:ext cx="6926349" cy="436693"/>
          </a:xfrm>
        </p:spPr>
        <p:txBody>
          <a:bodyPr>
            <a:normAutofit/>
          </a:bodyPr>
          <a:lstStyle/>
          <a:p>
            <a:r>
              <a:rPr lang="en-US" altLang="en-US" sz="2800" dirty="0" smtClean="0"/>
              <a:t>Power Handling/Switch Topology</a:t>
            </a:r>
            <a:endParaRPr lang="en-US" altLang="en-US" sz="2800" dirty="0"/>
          </a:p>
        </p:txBody>
      </p:sp>
      <p:sp>
        <p:nvSpPr>
          <p:cNvPr id="2" name="Text Placeholder 1"/>
          <p:cNvSpPr>
            <a:spLocks noGrp="1"/>
          </p:cNvSpPr>
          <p:nvPr>
            <p:ph type="body" sz="half" idx="1"/>
          </p:nvPr>
        </p:nvSpPr>
        <p:spPr>
          <a:xfrm>
            <a:off x="216521" y="1211265"/>
            <a:ext cx="8487212" cy="5021791"/>
          </a:xfrm>
        </p:spPr>
        <p:txBody>
          <a:bodyPr>
            <a:normAutofit lnSpcReduction="10000"/>
          </a:bodyPr>
          <a:lstStyle/>
          <a:p>
            <a:r>
              <a:rPr lang="en-US" sz="1800" dirty="0" smtClean="0"/>
              <a:t>Series Element Switch</a:t>
            </a:r>
          </a:p>
          <a:p>
            <a:pPr lvl="1">
              <a:spcBef>
                <a:spcPts val="600"/>
              </a:spcBef>
            </a:pPr>
            <a:r>
              <a:rPr lang="en-US" sz="1600" dirty="0" smtClean="0"/>
              <a:t>Peak Junction Temperature Dominated by Insertion Loss/I</a:t>
            </a:r>
            <a:r>
              <a:rPr lang="en-US" sz="1600" baseline="30000" dirty="0" smtClean="0"/>
              <a:t>2</a:t>
            </a:r>
            <a:r>
              <a:rPr lang="en-US" sz="1600" dirty="0" smtClean="0"/>
              <a:t>R Losses </a:t>
            </a:r>
          </a:p>
          <a:p>
            <a:pPr lvl="1">
              <a:spcBef>
                <a:spcPts val="600"/>
              </a:spcBef>
            </a:pPr>
            <a:r>
              <a:rPr lang="en-US" sz="1600" dirty="0" smtClean="0"/>
              <a:t>IL is Direct Function of Device Series Resistance &amp; Incident Power </a:t>
            </a:r>
          </a:p>
          <a:p>
            <a:pPr lvl="1">
              <a:spcBef>
                <a:spcPts val="600"/>
              </a:spcBef>
            </a:pPr>
            <a:r>
              <a:rPr lang="en-US" sz="1600" dirty="0" smtClean="0"/>
              <a:t>Primarily RF Drive Power</a:t>
            </a:r>
          </a:p>
          <a:p>
            <a:pPr lvl="1">
              <a:spcBef>
                <a:spcPts val="0"/>
              </a:spcBef>
            </a:pPr>
            <a:r>
              <a:rPr lang="en-US" sz="1600" dirty="0" smtClean="0"/>
              <a:t>Easily 10%-20% (0.5dB-1.0dB) of Incident Power</a:t>
            </a:r>
          </a:p>
          <a:p>
            <a:pPr lvl="1">
              <a:spcBef>
                <a:spcPts val="0"/>
              </a:spcBef>
            </a:pPr>
            <a:r>
              <a:rPr lang="en-US" sz="1600" dirty="0" smtClean="0"/>
              <a:t>DC Bias Power Very Minor Contributor</a:t>
            </a:r>
          </a:p>
          <a:p>
            <a:pPr lvl="1">
              <a:spcBef>
                <a:spcPts val="0"/>
              </a:spcBef>
            </a:pPr>
            <a:r>
              <a:rPr lang="en-US" sz="1600" dirty="0" smtClean="0"/>
              <a:t>Very Broadband/ISO is Function of Frequency</a:t>
            </a:r>
          </a:p>
          <a:p>
            <a:pPr>
              <a:spcBef>
                <a:spcPts val="600"/>
              </a:spcBef>
            </a:pPr>
            <a:r>
              <a:rPr lang="en-US" sz="1800" dirty="0" smtClean="0"/>
              <a:t>Shunt Element Switch</a:t>
            </a:r>
          </a:p>
          <a:p>
            <a:pPr lvl="1">
              <a:spcBef>
                <a:spcPts val="0"/>
              </a:spcBef>
            </a:pPr>
            <a:r>
              <a:rPr lang="en-US" sz="1600" dirty="0" smtClean="0"/>
              <a:t>RF Energy Path  NOT through Device</a:t>
            </a:r>
          </a:p>
          <a:p>
            <a:pPr lvl="1">
              <a:spcBef>
                <a:spcPts val="0"/>
              </a:spcBef>
            </a:pPr>
            <a:r>
              <a:rPr lang="en-US" sz="1600" dirty="0" smtClean="0"/>
              <a:t>Peak </a:t>
            </a:r>
            <a:r>
              <a:rPr lang="en-US" sz="1600" dirty="0"/>
              <a:t>Junction Temperature </a:t>
            </a:r>
            <a:endParaRPr lang="en-US" sz="1600" dirty="0" smtClean="0"/>
          </a:p>
          <a:p>
            <a:pPr lvl="2">
              <a:spcBef>
                <a:spcPts val="0"/>
              </a:spcBef>
            </a:pPr>
            <a:r>
              <a:rPr lang="en-US" sz="1400" dirty="0" smtClean="0"/>
              <a:t>RF Isolation Leakage </a:t>
            </a:r>
          </a:p>
          <a:p>
            <a:pPr lvl="2">
              <a:spcBef>
                <a:spcPts val="0"/>
              </a:spcBef>
            </a:pPr>
            <a:r>
              <a:rPr lang="en-US" sz="1400" dirty="0" smtClean="0"/>
              <a:t>DC Bias Power</a:t>
            </a:r>
          </a:p>
          <a:p>
            <a:pPr lvl="2">
              <a:spcBef>
                <a:spcPts val="0"/>
              </a:spcBef>
            </a:pPr>
            <a:r>
              <a:rPr lang="en-US" sz="1400" dirty="0" smtClean="0"/>
              <a:t>I</a:t>
            </a:r>
            <a:r>
              <a:rPr lang="en-US" sz="1400" baseline="30000" dirty="0" smtClean="0"/>
              <a:t>2</a:t>
            </a:r>
            <a:r>
              <a:rPr lang="en-US" sz="1400" dirty="0" smtClean="0"/>
              <a:t>R Losses in Metallic Airbridges</a:t>
            </a:r>
          </a:p>
          <a:p>
            <a:pPr lvl="2">
              <a:spcBef>
                <a:spcPts val="0"/>
              </a:spcBef>
            </a:pPr>
            <a:r>
              <a:rPr lang="en-US" sz="1400" dirty="0" smtClean="0"/>
              <a:t>All have Relatively Minor Heating Effect</a:t>
            </a:r>
          </a:p>
          <a:p>
            <a:pPr lvl="1">
              <a:spcBef>
                <a:spcPts val="0"/>
              </a:spcBef>
            </a:pPr>
            <a:r>
              <a:rPr lang="en-US" sz="1600" dirty="0" smtClean="0"/>
              <a:t>Switch IL a Function C</a:t>
            </a:r>
            <a:r>
              <a:rPr lang="en-US" sz="1600" baseline="-25000" dirty="0" smtClean="0"/>
              <a:t>J</a:t>
            </a:r>
            <a:r>
              <a:rPr lang="en-US" sz="1600" dirty="0" smtClean="0"/>
              <a:t>, NOT Series Resistance</a:t>
            </a:r>
          </a:p>
          <a:p>
            <a:pPr lvl="1">
              <a:spcBef>
                <a:spcPts val="0"/>
              </a:spcBef>
            </a:pPr>
            <a:r>
              <a:rPr lang="en-US" sz="1600" dirty="0" smtClean="0"/>
              <a:t>Multi-Throw Shunt Switch Limitation</a:t>
            </a:r>
          </a:p>
          <a:p>
            <a:pPr lvl="2">
              <a:spcBef>
                <a:spcPts val="0"/>
              </a:spcBef>
            </a:pPr>
            <a:r>
              <a:rPr lang="en-US" sz="1400" dirty="0" smtClean="0"/>
              <a:t>Bandwidth </a:t>
            </a:r>
            <a:r>
              <a:rPr lang="en-US" sz="1400" b="1" dirty="0" smtClean="0">
                <a:latin typeface="Symbol" panose="05050102010706020507" pitchFamily="18" charset="2"/>
              </a:rPr>
              <a:t>»</a:t>
            </a:r>
            <a:r>
              <a:rPr lang="en-US" sz="1400" dirty="0" smtClean="0"/>
              <a:t>1 Octave</a:t>
            </a:r>
          </a:p>
          <a:p>
            <a:pPr lvl="2">
              <a:spcBef>
                <a:spcPts val="0"/>
              </a:spcBef>
            </a:pPr>
            <a:r>
              <a:rPr lang="en-US" sz="1400" dirty="0" smtClean="0">
                <a:latin typeface="Symbol" panose="05050102010706020507" pitchFamily="18" charset="2"/>
              </a:rPr>
              <a:t>l</a:t>
            </a:r>
            <a:r>
              <a:rPr lang="en-US" sz="1400" dirty="0" smtClean="0"/>
              <a:t>/4 Bias Structures</a:t>
            </a:r>
          </a:p>
          <a:p>
            <a:pPr>
              <a:spcBef>
                <a:spcPts val="600"/>
              </a:spcBef>
            </a:pPr>
            <a:r>
              <a:rPr lang="en-US" sz="1800" dirty="0" smtClean="0"/>
              <a:t>RF Power Handling</a:t>
            </a:r>
          </a:p>
          <a:p>
            <a:pPr lvl="1">
              <a:spcBef>
                <a:spcPts val="0"/>
              </a:spcBef>
            </a:pPr>
            <a:r>
              <a:rPr lang="en-US" sz="1600" dirty="0" smtClean="0"/>
              <a:t>All Shunt Switch =&gt; Highest RF Power Handling</a:t>
            </a:r>
          </a:p>
          <a:p>
            <a:pPr lvl="1">
              <a:spcBef>
                <a:spcPts val="0"/>
              </a:spcBef>
            </a:pPr>
            <a:r>
              <a:rPr lang="en-US" sz="1600" dirty="0" smtClean="0"/>
              <a:t>Essentially NO Intrinsic RF Losses in Active Semiconductors</a:t>
            </a:r>
          </a:p>
          <a:p>
            <a:pPr lvl="1">
              <a:spcBef>
                <a:spcPts val="0"/>
              </a:spcBef>
            </a:pPr>
            <a:r>
              <a:rPr lang="en-US" sz="1600" dirty="0" smtClean="0"/>
              <a:t>Only RF Loss - Metallic Conductors &amp; Capacitive Isolation</a:t>
            </a:r>
            <a:endParaRPr lang="en-US" sz="1600" dirty="0"/>
          </a:p>
        </p:txBody>
      </p:sp>
      <p:sp>
        <p:nvSpPr>
          <p:cNvPr id="46" name="TextBox 45"/>
          <p:cNvSpPr txBox="1"/>
          <p:nvPr/>
        </p:nvSpPr>
        <p:spPr bwMode="auto">
          <a:xfrm>
            <a:off x="412750" y="6233056"/>
            <a:ext cx="8629650" cy="370577"/>
          </a:xfrm>
          <a:prstGeom prst="rect">
            <a:avLst/>
          </a:prstGeom>
          <a:noFill/>
          <a:ln w="12700" cap="sq" algn="ctr">
            <a:noFill/>
            <a:miter lim="800000"/>
            <a:headEnd/>
            <a:tailEnd/>
          </a:ln>
          <a:effectLst/>
        </p:spPr>
        <p:txBody>
          <a:bodyPr wrap="square" rtlCol="0" anchor="ctr" anchorCtr="0">
            <a:noAutofit/>
          </a:bodyPr>
          <a:lstStyle/>
          <a:p>
            <a:pPr algn="l">
              <a:spcBef>
                <a:spcPts val="900"/>
              </a:spcBef>
            </a:pPr>
            <a:r>
              <a:rPr lang="en-US" sz="1400" dirty="0" smtClean="0">
                <a:solidFill>
                  <a:schemeClr val="tx2"/>
                </a:solidFill>
                <a:latin typeface="+mn-lt"/>
              </a:rPr>
              <a:t>Source: Boles, T. et al, </a:t>
            </a:r>
            <a:r>
              <a:rPr lang="en-US" sz="1400" dirty="0" smtClean="0"/>
              <a:t>AlGaAs </a:t>
            </a:r>
            <a:r>
              <a:rPr lang="en-US" sz="1400" dirty="0"/>
              <a:t>mmW PIN Diode Switch</a:t>
            </a:r>
            <a:r>
              <a:rPr lang="en-US" sz="1400" dirty="0" smtClean="0"/>
              <a:t>: A </a:t>
            </a:r>
            <a:r>
              <a:rPr lang="en-US" sz="1400" dirty="0"/>
              <a:t>New Benchmark for Power Handling</a:t>
            </a:r>
            <a:endParaRPr lang="en-US" sz="1400" dirty="0" smtClean="0">
              <a:solidFill>
                <a:schemeClr val="tx2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9187792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458" name="Rectangle 2"/>
          <p:cNvSpPr>
            <a:spLocks noGrp="1" noChangeArrowheads="1"/>
          </p:cNvSpPr>
          <p:nvPr>
            <p:ph type="title"/>
          </p:nvPr>
        </p:nvSpPr>
        <p:spPr>
          <a:xfrm>
            <a:off x="79076" y="230597"/>
            <a:ext cx="6976480" cy="593492"/>
          </a:xfrm>
        </p:spPr>
        <p:txBody>
          <a:bodyPr>
            <a:normAutofit/>
          </a:bodyPr>
          <a:lstStyle/>
          <a:p>
            <a:r>
              <a:rPr lang="en-US" altLang="en-US" sz="2800" dirty="0" smtClean="0"/>
              <a:t>AlGaAs Shunt PIN Diode Structure</a:t>
            </a:r>
            <a:endParaRPr lang="en-US" altLang="en-US" sz="2800" dirty="0"/>
          </a:p>
        </p:txBody>
      </p:sp>
      <p:sp>
        <p:nvSpPr>
          <p:cNvPr id="2" name="Text Placeholder 1"/>
          <p:cNvSpPr>
            <a:spLocks noGrp="1"/>
          </p:cNvSpPr>
          <p:nvPr>
            <p:ph type="body" sz="half" idx="1"/>
          </p:nvPr>
        </p:nvSpPr>
        <p:spPr>
          <a:xfrm>
            <a:off x="252682" y="4265539"/>
            <a:ext cx="8363896" cy="1762728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MACOM AlGaAs switches are shunt-diode only</a:t>
            </a:r>
          </a:p>
          <a:p>
            <a:r>
              <a:rPr lang="en-US" dirty="0" smtClean="0"/>
              <a:t>Active diode layers are built upon semi-insulating (SI) GaAs substrate</a:t>
            </a:r>
          </a:p>
          <a:p>
            <a:r>
              <a:rPr lang="en-US" dirty="0" smtClean="0"/>
              <a:t>Electrical connection from cathode (n-layer) to backside of wafer is accomplished by through wafer vias (</a:t>
            </a:r>
            <a:r>
              <a:rPr lang="en-US" dirty="0" err="1" smtClean="0"/>
              <a:t>TWVs</a:t>
            </a:r>
            <a:r>
              <a:rPr lang="en-US" dirty="0" smtClean="0"/>
              <a:t>)</a:t>
            </a:r>
          </a:p>
          <a:p>
            <a:r>
              <a:rPr lang="en-US" dirty="0" smtClean="0"/>
              <a:t>I layer thickness = 3 µm</a:t>
            </a:r>
          </a:p>
          <a:p>
            <a:pPr lvl="1"/>
            <a:endParaRPr lang="en-US" dirty="0"/>
          </a:p>
        </p:txBody>
      </p:sp>
      <p:grpSp>
        <p:nvGrpSpPr>
          <p:cNvPr id="28" name="Group 27"/>
          <p:cNvGrpSpPr/>
          <p:nvPr/>
        </p:nvGrpSpPr>
        <p:grpSpPr>
          <a:xfrm>
            <a:off x="1377245" y="1548633"/>
            <a:ext cx="6114770" cy="2673412"/>
            <a:chOff x="4919619" y="1706160"/>
            <a:chExt cx="4224381" cy="1599619"/>
          </a:xfrm>
        </p:grpSpPr>
        <p:pic>
          <p:nvPicPr>
            <p:cNvPr id="29" name="Picture 4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4919619" y="1706160"/>
              <a:ext cx="4224381" cy="1599619"/>
            </a:xfrm>
            <a:prstGeom prst="rect">
              <a:avLst/>
            </a:prstGeom>
          </p:spPr>
        </p:pic>
        <p:sp>
          <p:nvSpPr>
            <p:cNvPr id="46" name="Rectangle 45"/>
            <p:cNvSpPr/>
            <p:nvPr/>
          </p:nvSpPr>
          <p:spPr>
            <a:xfrm>
              <a:off x="5001768" y="2323088"/>
              <a:ext cx="594360" cy="30123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5269191" y="2413636"/>
              <a:ext cx="409086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600" dirty="0" smtClean="0"/>
                <a:t>Nitride</a:t>
              </a:r>
              <a:endParaRPr lang="en-US" sz="600" dirty="0"/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5946067" y="2170903"/>
              <a:ext cx="357790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600" dirty="0" smtClean="0"/>
                <a:t>3 </a:t>
              </a:r>
              <a:r>
                <a:rPr lang="en-US" sz="600" dirty="0" smtClean="0">
                  <a:latin typeface="Symbol" panose="05050102010706020507" pitchFamily="18" charset="2"/>
                </a:rPr>
                <a:t>m</a:t>
              </a:r>
              <a:r>
                <a:rPr lang="en-US" sz="600" dirty="0" smtClean="0"/>
                <a:t>m</a:t>
              </a:r>
              <a:endParaRPr lang="en-US" sz="600" dirty="0"/>
            </a:p>
          </p:txBody>
        </p:sp>
      </p:grpSp>
      <p:sp>
        <p:nvSpPr>
          <p:cNvPr id="49" name="TextBox 48"/>
          <p:cNvSpPr txBox="1"/>
          <p:nvPr/>
        </p:nvSpPr>
        <p:spPr bwMode="auto">
          <a:xfrm>
            <a:off x="412750" y="6233056"/>
            <a:ext cx="8629650" cy="370577"/>
          </a:xfrm>
          <a:prstGeom prst="rect">
            <a:avLst/>
          </a:prstGeom>
          <a:noFill/>
          <a:ln w="12700" cap="sq" algn="ctr">
            <a:noFill/>
            <a:miter lim="800000"/>
            <a:headEnd/>
            <a:tailEnd/>
          </a:ln>
          <a:effectLst/>
        </p:spPr>
        <p:txBody>
          <a:bodyPr wrap="square" rtlCol="0" anchor="ctr" anchorCtr="0">
            <a:noAutofit/>
          </a:bodyPr>
          <a:lstStyle/>
          <a:p>
            <a:pPr algn="l">
              <a:spcBef>
                <a:spcPts val="900"/>
              </a:spcBef>
            </a:pPr>
            <a:r>
              <a:rPr lang="en-US" sz="1400" dirty="0" smtClean="0">
                <a:solidFill>
                  <a:schemeClr val="tx2"/>
                </a:solidFill>
                <a:latin typeface="+mn-lt"/>
              </a:rPr>
              <a:t>Source: Boles, T. et al, </a:t>
            </a:r>
            <a:r>
              <a:rPr lang="en-US" sz="1400" dirty="0" smtClean="0"/>
              <a:t>AlGaAs </a:t>
            </a:r>
            <a:r>
              <a:rPr lang="en-US" sz="1400" dirty="0"/>
              <a:t>mmW PIN Diode Switch</a:t>
            </a:r>
            <a:r>
              <a:rPr lang="en-US" sz="1400" dirty="0" smtClean="0"/>
              <a:t>: A </a:t>
            </a:r>
            <a:r>
              <a:rPr lang="en-US" sz="1400" dirty="0"/>
              <a:t>New Benchmark for Power Handling</a:t>
            </a:r>
            <a:endParaRPr lang="en-US" sz="1400" dirty="0" smtClean="0">
              <a:solidFill>
                <a:schemeClr val="tx2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5463200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5" descr="High isolation generic PIN SPDT.em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710076" y="4542523"/>
            <a:ext cx="3313113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AlGaAs PIN Diode Products</a:t>
            </a:r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 smtClean="0"/>
              <a:t>Switching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6303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5835" y="288365"/>
            <a:ext cx="3083859" cy="4572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PIN Diode Families</a:t>
            </a:r>
            <a:endParaRPr lang="en-US" dirty="0"/>
          </a:p>
        </p:txBody>
      </p:sp>
      <p:graphicFrame>
        <p:nvGraphicFramePr>
          <p:cNvPr id="5" name="Table Placeholder 4"/>
          <p:cNvGraphicFramePr>
            <a:graphicFrameLocks noGrp="1"/>
          </p:cNvGraphicFramePr>
          <p:nvPr>
            <p:ph type="tbl" idx="1"/>
            <p:extLst>
              <p:ext uri="{D42A27DB-BD31-4B8C-83A1-F6EECF244321}">
                <p14:modId xmlns:p14="http://schemas.microsoft.com/office/powerpoint/2010/main" val="3546377299"/>
              </p:ext>
            </p:extLst>
          </p:nvPr>
        </p:nvGraphicFramePr>
        <p:xfrm>
          <a:off x="627529" y="1198482"/>
          <a:ext cx="7988300" cy="52890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7075"/>
                <a:gridCol w="1997075"/>
                <a:gridCol w="1997075"/>
                <a:gridCol w="1997075"/>
              </a:tblGrid>
              <a:tr h="485777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Si Discrete</a:t>
                      </a:r>
                      <a:endParaRPr lang="en-US" sz="20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Si HMIC™</a:t>
                      </a:r>
                      <a:endParaRPr lang="en-US" sz="20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GaAs</a:t>
                      </a:r>
                      <a:endParaRPr lang="en-US" sz="20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bg1"/>
                          </a:solidFill>
                        </a:rPr>
                        <a:t>AlGaAs</a:t>
                      </a:r>
                      <a:endParaRPr lang="en-US" sz="20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1084729">
                <a:tc>
                  <a:txBody>
                    <a:bodyPr/>
                    <a:lstStyle/>
                    <a:p>
                      <a:pPr marL="457200" lvl="1" indent="0">
                        <a:buFont typeface="Arial" panose="020B0604020202020204" pitchFamily="34" charset="0"/>
                        <a:buNone/>
                      </a:pPr>
                      <a:endParaRPr lang="en-US" sz="16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57200" marR="0" lvl="1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1600" dirty="0" smtClean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endParaRPr lang="en-US" sz="16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107547"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Wide operating frequency range, to</a:t>
                      </a:r>
                      <a:r>
                        <a:rPr lang="en-US" sz="1400" baseline="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 20 GHz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1400" baseline="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Excellent power handling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1400" baseline="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PIN and NIP diodes available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1400" baseline="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I layer: 2 – 300 µm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1400" baseline="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Available as:</a:t>
                      </a:r>
                    </a:p>
                    <a:p>
                      <a:pPr marL="800100" lvl="1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1400" baseline="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Unpackaged chips</a:t>
                      </a:r>
                    </a:p>
                    <a:p>
                      <a:pPr marL="800100" lvl="1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1400" baseline="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SMT packages</a:t>
                      </a:r>
                    </a:p>
                    <a:p>
                      <a:pPr marL="800100" lvl="1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1400" baseline="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Ceramic Packages</a:t>
                      </a:r>
                    </a:p>
                    <a:p>
                      <a:pPr marL="800100" lvl="1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1400" baseline="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Beam leads</a:t>
                      </a:r>
                      <a:endParaRPr lang="en-US" sz="14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Very Wide operating frequency range, to 30 GHz</a:t>
                      </a:r>
                    </a:p>
                    <a:p>
                      <a:pPr marL="285750" marR="0" indent="-2857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 </a:t>
                      </a:r>
                      <a:r>
                        <a:rPr lang="en-US" sz="1400" baseline="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I layer: 8 – 100 µm</a:t>
                      </a:r>
                      <a:endParaRPr lang="en-US" sz="1400" dirty="0" smtClean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Available as</a:t>
                      </a: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Single junction devices</a:t>
                      </a: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Multiple junction ICs</a:t>
                      </a: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Wire-bondable or solderable</a:t>
                      </a: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Wide operating frequency range, to</a:t>
                      </a:r>
                      <a:r>
                        <a:rPr lang="en-US" sz="1400" baseline="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 30 GHz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1400" baseline="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Good power handling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1400" baseline="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Available as:</a:t>
                      </a:r>
                    </a:p>
                    <a:p>
                      <a:pPr marL="800100" lvl="1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1400" baseline="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Unpackaged chips</a:t>
                      </a:r>
                    </a:p>
                    <a:p>
                      <a:pPr marL="800100" lvl="1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1400" baseline="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SMT packages</a:t>
                      </a:r>
                    </a:p>
                    <a:p>
                      <a:pPr marL="800100" lvl="1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1400" baseline="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Ceramic Packages</a:t>
                      </a:r>
                    </a:p>
                    <a:p>
                      <a:pPr marL="800100" lvl="1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1400" baseline="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Beam leads</a:t>
                      </a:r>
                      <a:endParaRPr lang="en-US" sz="1400" dirty="0" smtClean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  <a:p>
                      <a:endParaRPr 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 smtClean="0">
                          <a:solidFill>
                            <a:schemeClr val="tx1"/>
                          </a:solidFill>
                        </a:rPr>
                        <a:t>Extremely wide operating frequency range, to 100 GHz 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 smtClean="0">
                          <a:solidFill>
                            <a:schemeClr val="tx1"/>
                          </a:solidFill>
                        </a:rPr>
                        <a:t>Lower insertion loss than comparable Si or GaAs switches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baseline="0" dirty="0" smtClean="0">
                          <a:solidFill>
                            <a:schemeClr val="tx1"/>
                          </a:solidFill>
                        </a:rPr>
                        <a:t>I layer: 3 µm</a:t>
                      </a:r>
                      <a:endParaRPr lang="en-US" sz="1400" dirty="0" smtClean="0">
                        <a:solidFill>
                          <a:schemeClr val="tx1"/>
                        </a:solidFill>
                      </a:endParaRP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 smtClean="0">
                          <a:solidFill>
                            <a:schemeClr val="tx1"/>
                          </a:solidFill>
                        </a:rPr>
                        <a:t>Available as</a:t>
                      </a: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 smtClean="0">
                          <a:solidFill>
                            <a:schemeClr val="tx1"/>
                          </a:solidFill>
                        </a:rPr>
                        <a:t>Multiple junction ICs</a:t>
                      </a: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 smtClean="0">
                          <a:solidFill>
                            <a:schemeClr val="tx1"/>
                          </a:solidFill>
                        </a:rPr>
                        <a:t>Wire-bondable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pic>
        <p:nvPicPr>
          <p:cNvPr id="6" name="Picture 5"/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rot="1358513">
            <a:off x="3821086" y="1862218"/>
            <a:ext cx="339264" cy="147190"/>
          </a:xfrm>
          <a:prstGeom prst="rect">
            <a:avLst/>
          </a:prstGeom>
          <a:solidFill>
            <a:schemeClr val="folHlink">
              <a:alpha val="94901"/>
            </a:schemeClr>
          </a:solidFill>
          <a:ln w="28575">
            <a:noFill/>
            <a:miter lim="800000"/>
            <a:headEnd/>
            <a:tailEnd/>
          </a:ln>
        </p:spPr>
      </p:pic>
      <p:pic>
        <p:nvPicPr>
          <p:cNvPr id="8" name="Picture 2" descr="Varactor_crop_rot"/>
          <p:cNvPicPr>
            <a:picLocks noChangeAspect="1" noChangeArrowheads="1"/>
          </p:cNvPicPr>
          <p:nvPr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rot="19846674">
            <a:off x="5873120" y="2138816"/>
            <a:ext cx="300929" cy="3009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4" descr="HeteroSP5T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159480" y="1822261"/>
            <a:ext cx="876282" cy="708446"/>
          </a:xfrm>
          <a:prstGeom prst="rect">
            <a:avLst/>
          </a:prstGeom>
        </p:spPr>
      </p:pic>
      <p:pic>
        <p:nvPicPr>
          <p:cNvPr id="10" name="Picture 5"/>
          <p:cNvPicPr>
            <a:picLocks noChangeAspect="1" noChangeArrowheads="1"/>
          </p:cNvPicPr>
          <p:nvPr/>
        </p:nvPicPr>
        <p:blipFill>
          <a:blip r:embed="rId5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rot="19934200">
            <a:off x="2814576" y="1844234"/>
            <a:ext cx="779092" cy="664499"/>
          </a:xfrm>
          <a:prstGeom prst="rect">
            <a:avLst/>
          </a:prstGeom>
          <a:noFill/>
          <a:ln w="9525" algn="ctr">
            <a:solidFill>
              <a:schemeClr val="bg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" name="Picture 11" descr="2012"/>
          <p:cNvPicPr>
            <a:picLocks noChangeAspect="1" noChangeArrowheads="1"/>
          </p:cNvPicPr>
          <p:nvPr/>
        </p:nvPicPr>
        <p:blipFill>
          <a:blip r:embed="rId6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99970" y="1987313"/>
            <a:ext cx="393943" cy="3939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17" descr="pindiode chips"/>
          <p:cNvPicPr>
            <a:picLocks noChangeAspect="1" noChangeArrowheads="1"/>
          </p:cNvPicPr>
          <p:nvPr/>
        </p:nvPicPr>
        <p:blipFill>
          <a:blip r:embed="rId7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410954" y="1881784"/>
            <a:ext cx="406492" cy="4994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8" descr="Beamlead"/>
          <p:cNvPicPr>
            <a:picLocks noChangeAspect="1" noChangeArrowheads="1"/>
          </p:cNvPicPr>
          <p:nvPr/>
        </p:nvPicPr>
        <p:blipFill>
          <a:blip r:embed="rId8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955511" y="1856498"/>
            <a:ext cx="556767" cy="6555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" name="Picture 466"/>
          <p:cNvPicPr>
            <a:picLocks noChangeAspect="1" noChangeArrowheads="1"/>
          </p:cNvPicPr>
          <p:nvPr/>
        </p:nvPicPr>
        <p:blipFill>
          <a:blip r:embed="rId9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862791" y="2186194"/>
            <a:ext cx="611658" cy="490936"/>
          </a:xfrm>
          <a:prstGeom prst="rect">
            <a:avLst/>
          </a:prstGeom>
          <a:noFill/>
        </p:spPr>
      </p:pic>
      <p:grpSp>
        <p:nvGrpSpPr>
          <p:cNvPr id="16" name="Group 15"/>
          <p:cNvGrpSpPr/>
          <p:nvPr/>
        </p:nvGrpSpPr>
        <p:grpSpPr>
          <a:xfrm>
            <a:off x="5219760" y="2069039"/>
            <a:ext cx="449650" cy="384761"/>
            <a:chOff x="939434" y="5386577"/>
            <a:chExt cx="716415" cy="750093"/>
          </a:xfrm>
        </p:grpSpPr>
        <p:pic>
          <p:nvPicPr>
            <p:cNvPr id="17" name="Picture 21"/>
            <p:cNvPicPr>
              <a:picLocks noChangeAspect="1" noChangeArrowheads="1"/>
            </p:cNvPicPr>
            <p:nvPr/>
          </p:nvPicPr>
          <p:blipFill>
            <a:blip r:embed="rId10" cstate="print">
              <a:duotone>
                <a:schemeClr val="bg2">
                  <a:shade val="45000"/>
                  <a:satMod val="135000"/>
                </a:schemeClr>
                <a:prstClr val="white"/>
              </a:duotone>
            </a:blip>
            <a:srcRect/>
            <a:stretch>
              <a:fillRect/>
            </a:stretch>
          </p:blipFill>
          <p:spPr bwMode="auto">
            <a:xfrm>
              <a:off x="939434" y="5719945"/>
              <a:ext cx="716415" cy="416725"/>
            </a:xfrm>
            <a:prstGeom prst="rect">
              <a:avLst/>
            </a:prstGeom>
            <a:noFill/>
          </p:spPr>
        </p:pic>
        <p:pic>
          <p:nvPicPr>
            <p:cNvPr id="18" name="Picture 18"/>
            <p:cNvPicPr>
              <a:picLocks noChangeAspect="1" noChangeArrowheads="1"/>
            </p:cNvPicPr>
            <p:nvPr/>
          </p:nvPicPr>
          <p:blipFill>
            <a:blip r:embed="rId11" cstate="print">
              <a:duotone>
                <a:schemeClr val="bg2">
                  <a:shade val="45000"/>
                  <a:satMod val="135000"/>
                </a:schemeClr>
                <a:prstClr val="white"/>
              </a:duotone>
            </a:blip>
            <a:srcRect/>
            <a:stretch>
              <a:fillRect/>
            </a:stretch>
          </p:blipFill>
          <p:spPr bwMode="auto">
            <a:xfrm rot="10800000">
              <a:off x="952450" y="5386577"/>
              <a:ext cx="683637" cy="333368"/>
            </a:xfrm>
            <a:prstGeom prst="rect">
              <a:avLst/>
            </a:prstGeom>
            <a:noFill/>
          </p:spPr>
        </p:pic>
      </p:grpSp>
    </p:spTree>
    <p:extLst>
      <p:ext uri="{BB962C8B-B14F-4D97-AF65-F5344CB8AC3E}">
        <p14:creationId xmlns:p14="http://schemas.microsoft.com/office/powerpoint/2010/main" val="15490423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 smtClean="0"/>
              <a:t>PIN Switches</a:t>
            </a:r>
            <a:endParaRPr lang="en-US" sz="360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Modules</a:t>
            </a:r>
            <a:br>
              <a:rPr lang="en-US" dirty="0"/>
            </a:br>
            <a:r>
              <a:rPr lang="en-US" dirty="0"/>
              <a:t>Single-Chip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53898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/>
          <p:cNvGraphicFramePr/>
          <p:nvPr>
            <p:extLst/>
          </p:nvPr>
        </p:nvGraphicFramePr>
        <p:xfrm>
          <a:off x="315913" y="974725"/>
          <a:ext cx="8229600" cy="51244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411756" name="Group 108"/>
          <p:cNvGraphicFramePr>
            <a:graphicFrameLocks noGrp="1"/>
          </p:cNvGraphicFramePr>
          <p:nvPr>
            <p:extLst/>
          </p:nvPr>
        </p:nvGraphicFramePr>
        <p:xfrm>
          <a:off x="611030" y="1206631"/>
          <a:ext cx="7863840" cy="4211872"/>
        </p:xfrm>
        <a:graphic>
          <a:graphicData uri="http://schemas.openxmlformats.org/drawingml/2006/table">
            <a:tbl>
              <a:tblPr firstRow="1" bandRow="1">
                <a:effectLst>
                  <a:innerShdw blurRad="63500" dist="50800" dir="2700000">
                    <a:prstClr val="black">
                      <a:alpha val="50000"/>
                    </a:prstClr>
                  </a:innerShdw>
                </a:effectLst>
                <a:tableStyleId>{3C2FFA5D-87B4-456A-9821-1D502468CF0F}</a:tableStyleId>
              </a:tblPr>
              <a:tblGrid>
                <a:gridCol w="914400"/>
                <a:gridCol w="1005840"/>
                <a:gridCol w="914400"/>
                <a:gridCol w="822960"/>
                <a:gridCol w="640080"/>
                <a:gridCol w="1005840"/>
                <a:gridCol w="548640"/>
                <a:gridCol w="1188720"/>
                <a:gridCol w="822960"/>
              </a:tblGrid>
              <a:tr h="76001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2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Topology</a:t>
                      </a:r>
                      <a:endParaRPr kumimoji="0" lang="en-US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Helvetica" pitchFamily="34" charset="0"/>
                        <a:cs typeface="Arial" charset="0"/>
                      </a:endParaRPr>
                    </a:p>
                  </a:txBody>
                  <a:tcPr anchor="ctr" anchorCtr="1" horzOverflow="overflow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2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Frequency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2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(GHz)</a:t>
                      </a:r>
                      <a:endParaRPr kumimoji="0" lang="en-US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Helvetica" pitchFamily="34" charset="0"/>
                        <a:cs typeface="Arial" charset="0"/>
                      </a:endParaRPr>
                    </a:p>
                  </a:txBody>
                  <a:tcPr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2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Insertion Loss (dB)</a:t>
                      </a:r>
                      <a:endParaRPr kumimoji="0" lang="en-US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Helvetica" pitchFamily="34" charset="0"/>
                        <a:cs typeface="Arial" charset="0"/>
                      </a:endParaRPr>
                    </a:p>
                  </a:txBody>
                  <a:tcPr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2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Isolation (dB)</a:t>
                      </a:r>
                      <a:endParaRPr kumimoji="0" lang="en-US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Helvetica" pitchFamily="34" charset="0"/>
                        <a:cs typeface="Arial" charset="0"/>
                      </a:endParaRPr>
                    </a:p>
                  </a:txBody>
                  <a:tcPr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2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P</a:t>
                      </a:r>
                      <a:r>
                        <a:rPr kumimoji="0" lang="en-US" sz="1200" u="none" strike="noStrike" cap="none" normalizeH="0" baseline="-25000" dirty="0" smtClean="0">
                          <a:ln>
                            <a:noFill/>
                          </a:ln>
                          <a:effectLst/>
                        </a:rPr>
                        <a:t>1dB</a:t>
                      </a:r>
                      <a:r>
                        <a:rPr kumimoji="0" lang="en-US" sz="12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 (dBm)</a:t>
                      </a:r>
                      <a:endParaRPr kumimoji="0" lang="en-US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Helvetica" pitchFamily="34" charset="0"/>
                        <a:cs typeface="Arial" charset="0"/>
                      </a:endParaRPr>
                    </a:p>
                  </a:txBody>
                  <a:tcPr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2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Reflective or Absorptive</a:t>
                      </a:r>
                      <a:endParaRPr kumimoji="0" lang="en-US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Helvetica" pitchFamily="34" charset="0"/>
                        <a:cs typeface="Arial" charset="0"/>
                      </a:endParaRPr>
                    </a:p>
                  </a:txBody>
                  <a:tcPr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2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Bias (mA)</a:t>
                      </a:r>
                      <a:endParaRPr kumimoji="0" lang="en-US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Helvetica" pitchFamily="34" charset="0"/>
                        <a:cs typeface="Arial" charset="0"/>
                      </a:endParaRPr>
                    </a:p>
                  </a:txBody>
                  <a:tcPr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2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Part Number</a:t>
                      </a:r>
                      <a:endParaRPr kumimoji="0" lang="en-US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Helvetica" pitchFamily="34" charset="0"/>
                        <a:cs typeface="Arial" charset="0"/>
                      </a:endParaRPr>
                    </a:p>
                  </a:txBody>
                  <a:tcPr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2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Package</a:t>
                      </a:r>
                      <a:endParaRPr kumimoji="0" lang="en-US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Helvetica" pitchFamily="34" charset="0"/>
                        <a:cs typeface="Arial" charset="0"/>
                      </a:endParaRPr>
                    </a:p>
                  </a:txBody>
                  <a:tcPr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1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SPST</a:t>
                      </a:r>
                      <a:endParaRPr kumimoji="0" lang="en-US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itchFamily="34" charset="0"/>
                        <a:cs typeface="Arial" charset="0"/>
                      </a:endParaRPr>
                    </a:p>
                  </a:txBody>
                  <a:tcPr anchor="ctr" anchorCtr="1" horzOverflow="overflow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BEAF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1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0.05 - 18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1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18 – 50</a:t>
                      </a:r>
                      <a:endParaRPr kumimoji="0" lang="en-US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itchFamily="34" charset="0"/>
                        <a:cs typeface="Arial" charset="0"/>
                      </a:endParaRPr>
                    </a:p>
                  </a:txBody>
                  <a:tcPr anchor="ctr" anchorCtr="1" horzOverflow="overflow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BEAF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1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0.2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1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0.3</a:t>
                      </a:r>
                      <a:endParaRPr kumimoji="0" lang="en-US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itchFamily="34" charset="0"/>
                        <a:cs typeface="Arial" charset="0"/>
                      </a:endParaRPr>
                    </a:p>
                  </a:txBody>
                  <a:tcPr anchor="ctr" anchorCtr="1" horzOverflow="overflow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BEAF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1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22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1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46</a:t>
                      </a:r>
                      <a:endParaRPr kumimoji="0" lang="en-US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itchFamily="34" charset="0"/>
                        <a:cs typeface="Arial" charset="0"/>
                      </a:endParaRPr>
                    </a:p>
                  </a:txBody>
                  <a:tcPr anchor="ctr" anchorCtr="1" horzOverflow="overflow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BEAF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1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23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endParaRPr kumimoji="0" lang="en-US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itchFamily="34" charset="0"/>
                        <a:cs typeface="Arial" charset="0"/>
                      </a:endParaRPr>
                    </a:p>
                  </a:txBody>
                  <a:tcPr anchor="ctr" anchorCtr="1" horzOverflow="overflow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BEAF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1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Reflective</a:t>
                      </a:r>
                      <a:endParaRPr kumimoji="0" lang="en-US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itchFamily="34" charset="0"/>
                        <a:cs typeface="Arial" charset="0"/>
                      </a:endParaRPr>
                    </a:p>
                  </a:txBody>
                  <a:tcPr anchor="ctr" anchorCtr="1" horzOverflow="overflow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BEAF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1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10</a:t>
                      </a:r>
                      <a:endParaRPr kumimoji="0" lang="en-US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itchFamily="34" charset="0"/>
                        <a:cs typeface="Arial" charset="0"/>
                      </a:endParaRPr>
                    </a:p>
                  </a:txBody>
                  <a:tcPr anchor="ctr" anchorCtr="1" horzOverflow="overflow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BEAF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1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MA4AGSW1</a:t>
                      </a:r>
                      <a:endParaRPr kumimoji="0" lang="en-US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itchFamily="34" charset="0"/>
                        <a:cs typeface="Arial" charset="0"/>
                      </a:endParaRPr>
                    </a:p>
                  </a:txBody>
                  <a:tcPr anchor="ctr" anchorCtr="1" horzOverflow="overflow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BEAF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1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DIE</a:t>
                      </a:r>
                      <a:endParaRPr kumimoji="0" lang="en-US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itchFamily="34" charset="0"/>
                        <a:cs typeface="Arial" charset="0"/>
                      </a:endParaRPr>
                    </a:p>
                  </a:txBody>
                  <a:tcPr anchor="ctr" anchorCtr="1" horzOverflow="overflow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BEAF">
                        <a:alpha val="40000"/>
                      </a:srgbClr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1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SPST</a:t>
                      </a:r>
                      <a:endParaRPr kumimoji="0" lang="en-US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itchFamily="34" charset="0"/>
                        <a:cs typeface="Arial" charset="0"/>
                      </a:endParaRPr>
                    </a:p>
                  </a:txBody>
                  <a:tcPr anchor="ctr" anchorCtr="1" horzOverflow="overflow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1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10-50</a:t>
                      </a:r>
                      <a:endParaRPr kumimoji="0" lang="en-US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itchFamily="34" charset="0"/>
                        <a:cs typeface="Arial" charset="0"/>
                      </a:endParaRPr>
                    </a:p>
                  </a:txBody>
                  <a:tcPr anchor="ctr" anchorCtr="1" horzOverflow="overflow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1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1.2</a:t>
                      </a:r>
                      <a:endParaRPr kumimoji="0" lang="en-US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itchFamily="34" charset="0"/>
                        <a:cs typeface="Arial" charset="0"/>
                      </a:endParaRPr>
                    </a:p>
                  </a:txBody>
                  <a:tcPr anchor="ctr" anchorCtr="1" horzOverflow="overflow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1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30</a:t>
                      </a:r>
                      <a:endParaRPr kumimoji="0" lang="en-US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itchFamily="34" charset="0"/>
                        <a:cs typeface="Arial" charset="0"/>
                      </a:endParaRPr>
                    </a:p>
                  </a:txBody>
                  <a:tcPr anchor="ctr" anchorCtr="1" horzOverflow="overflow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1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23</a:t>
                      </a:r>
                      <a:endParaRPr kumimoji="0" lang="en-US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itchFamily="34" charset="0"/>
                        <a:cs typeface="Arial" charset="0"/>
                      </a:endParaRPr>
                    </a:p>
                  </a:txBody>
                  <a:tcPr anchor="ctr" anchorCtr="1" horzOverflow="overflow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1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Absorptive</a:t>
                      </a:r>
                      <a:endParaRPr kumimoji="0" lang="en-US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itchFamily="34" charset="0"/>
                        <a:cs typeface="Arial" charset="0"/>
                      </a:endParaRPr>
                    </a:p>
                  </a:txBody>
                  <a:tcPr anchor="ctr" anchorCtr="1" horzOverflow="overflow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1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10</a:t>
                      </a:r>
                      <a:endParaRPr kumimoji="0" lang="en-US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itchFamily="34" charset="0"/>
                        <a:cs typeface="Arial" charset="0"/>
                      </a:endParaRPr>
                    </a:p>
                  </a:txBody>
                  <a:tcPr anchor="ctr" anchorCtr="1" horzOverflow="overflow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1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MA4AGSW1A</a:t>
                      </a:r>
                      <a:endParaRPr kumimoji="0" lang="en-US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itchFamily="34" charset="0"/>
                        <a:cs typeface="Arial" charset="0"/>
                      </a:endParaRPr>
                    </a:p>
                  </a:txBody>
                  <a:tcPr anchor="ctr" anchorCtr="1" horzOverflow="overflow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1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DIE</a:t>
                      </a:r>
                      <a:endParaRPr kumimoji="0" lang="en-US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itchFamily="34" charset="0"/>
                        <a:cs typeface="Arial" charset="0"/>
                      </a:endParaRPr>
                    </a:p>
                  </a:txBody>
                  <a:tcPr anchor="ctr" anchorCtr="1" horzOverflow="overflow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1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SP2T</a:t>
                      </a:r>
                      <a:endParaRPr kumimoji="0" lang="en-US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itchFamily="34" charset="0"/>
                        <a:cs typeface="Arial" charset="0"/>
                      </a:endParaRPr>
                    </a:p>
                  </a:txBody>
                  <a:tcPr anchor="ctr" anchorCtr="1" horzOverflow="overflow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BEAF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1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0.05 - 18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1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18 – 50</a:t>
                      </a:r>
                      <a:endParaRPr kumimoji="0" lang="en-US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itchFamily="34" charset="0"/>
                        <a:cs typeface="Arial" charset="0"/>
                      </a:endParaRPr>
                    </a:p>
                  </a:txBody>
                  <a:tcPr anchor="ctr" anchorCtr="1" horzOverflow="overflow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BEAF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1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0.5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1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0.7</a:t>
                      </a:r>
                      <a:endParaRPr kumimoji="0" lang="en-US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itchFamily="34" charset="0"/>
                        <a:cs typeface="Arial" charset="0"/>
                      </a:endParaRPr>
                    </a:p>
                  </a:txBody>
                  <a:tcPr anchor="ctr" anchorCtr="1" horzOverflow="overflow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BEAF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1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47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1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33</a:t>
                      </a:r>
                      <a:endParaRPr kumimoji="0" lang="en-US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itchFamily="34" charset="0"/>
                        <a:cs typeface="Arial" charset="0"/>
                      </a:endParaRPr>
                    </a:p>
                  </a:txBody>
                  <a:tcPr anchor="ctr" anchorCtr="1" horzOverflow="overflow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BEAF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1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23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endParaRPr kumimoji="0" lang="en-US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itchFamily="34" charset="0"/>
                        <a:cs typeface="Arial" charset="0"/>
                      </a:endParaRPr>
                    </a:p>
                  </a:txBody>
                  <a:tcPr anchor="ctr" anchorCtr="1" horzOverflow="overflow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BEAF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1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Reflective</a:t>
                      </a:r>
                      <a:endParaRPr kumimoji="0" lang="en-US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itchFamily="34" charset="0"/>
                        <a:cs typeface="Arial" charset="0"/>
                      </a:endParaRPr>
                    </a:p>
                  </a:txBody>
                  <a:tcPr anchor="ctr" anchorCtr="1" horzOverflow="overflow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BEAF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1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10</a:t>
                      </a:r>
                      <a:endParaRPr kumimoji="0" lang="en-US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itchFamily="34" charset="0"/>
                        <a:cs typeface="Arial" charset="0"/>
                      </a:endParaRPr>
                    </a:p>
                  </a:txBody>
                  <a:tcPr anchor="ctr" anchorCtr="1" horzOverflow="overflow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BEAF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1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MA4AGSW2</a:t>
                      </a:r>
                      <a:endParaRPr kumimoji="0" lang="en-US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itchFamily="34" charset="0"/>
                        <a:cs typeface="Arial" charset="0"/>
                      </a:endParaRPr>
                    </a:p>
                  </a:txBody>
                  <a:tcPr anchor="ctr" anchorCtr="1" horzOverflow="overflow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BEAF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1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DIE</a:t>
                      </a:r>
                      <a:endParaRPr kumimoji="0" lang="en-US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itchFamily="34" charset="0"/>
                        <a:cs typeface="Arial" charset="0"/>
                      </a:endParaRPr>
                    </a:p>
                  </a:txBody>
                  <a:tcPr anchor="ctr" anchorCtr="1" horzOverflow="overflow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BEAF">
                        <a:alpha val="40000"/>
                      </a:srgbClr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1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SP3T</a:t>
                      </a:r>
                      <a:endParaRPr kumimoji="0" lang="en-US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itchFamily="34" charset="0"/>
                        <a:cs typeface="Arial" charset="0"/>
                      </a:endParaRPr>
                    </a:p>
                  </a:txBody>
                  <a:tcPr anchor="ctr" anchorCtr="1" horzOverflow="overflow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1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0.05 - 18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1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18 – 50</a:t>
                      </a:r>
                      <a:endParaRPr kumimoji="0" lang="en-US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itchFamily="34" charset="0"/>
                        <a:cs typeface="Arial" charset="0"/>
                      </a:endParaRPr>
                    </a:p>
                  </a:txBody>
                  <a:tcPr anchor="ctr" anchorCtr="1" horzOverflow="overflow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1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0.6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1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0.8</a:t>
                      </a:r>
                      <a:endParaRPr kumimoji="0" lang="en-US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itchFamily="34" charset="0"/>
                        <a:cs typeface="Arial" charset="0"/>
                      </a:endParaRPr>
                    </a:p>
                  </a:txBody>
                  <a:tcPr anchor="ctr" anchorCtr="1" horzOverflow="overflow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1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45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1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31</a:t>
                      </a:r>
                      <a:endParaRPr kumimoji="0" lang="en-US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itchFamily="34" charset="0"/>
                        <a:cs typeface="Arial" charset="0"/>
                      </a:endParaRPr>
                    </a:p>
                  </a:txBody>
                  <a:tcPr anchor="ctr" anchorCtr="1" horzOverflow="overflow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1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23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endParaRPr kumimoji="0" lang="en-US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itchFamily="34" charset="0"/>
                        <a:cs typeface="Arial" charset="0"/>
                      </a:endParaRPr>
                    </a:p>
                  </a:txBody>
                  <a:tcPr anchor="ctr" anchorCtr="1" horzOverflow="overflow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1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Reflective</a:t>
                      </a:r>
                      <a:endParaRPr kumimoji="0" lang="en-US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itchFamily="34" charset="0"/>
                        <a:cs typeface="Arial" charset="0"/>
                      </a:endParaRPr>
                    </a:p>
                  </a:txBody>
                  <a:tcPr anchor="ctr" anchorCtr="1" horzOverflow="overflow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1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10</a:t>
                      </a:r>
                      <a:endParaRPr kumimoji="0" lang="en-US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itchFamily="34" charset="0"/>
                        <a:cs typeface="Arial" charset="0"/>
                      </a:endParaRPr>
                    </a:p>
                  </a:txBody>
                  <a:tcPr anchor="ctr" anchorCtr="1" horzOverflow="overflow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1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MA4AGSW3</a:t>
                      </a:r>
                      <a:endParaRPr kumimoji="0" lang="en-US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itchFamily="34" charset="0"/>
                        <a:cs typeface="Arial" charset="0"/>
                      </a:endParaRPr>
                    </a:p>
                  </a:txBody>
                  <a:tcPr anchor="ctr" anchorCtr="1" horzOverflow="overflow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1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DIE</a:t>
                      </a:r>
                      <a:endParaRPr kumimoji="0" lang="en-US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itchFamily="34" charset="0"/>
                        <a:cs typeface="Arial" charset="0"/>
                      </a:endParaRPr>
                    </a:p>
                  </a:txBody>
                  <a:tcPr anchor="ctr" anchorCtr="1" horzOverflow="overflow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1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SP4T</a:t>
                      </a:r>
                      <a:endParaRPr kumimoji="0" lang="en-US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itchFamily="34" charset="0"/>
                        <a:cs typeface="Arial" charset="0"/>
                      </a:endParaRPr>
                    </a:p>
                  </a:txBody>
                  <a:tcPr anchor="ctr" anchorCtr="1" horzOverflow="overflow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BEAF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1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0.05 - 18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1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18 – 50</a:t>
                      </a:r>
                      <a:endParaRPr kumimoji="0" lang="en-US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itchFamily="34" charset="0"/>
                        <a:cs typeface="Arial" charset="0"/>
                      </a:endParaRPr>
                    </a:p>
                  </a:txBody>
                  <a:tcPr anchor="ctr" anchorCtr="1" horzOverflow="overflow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BEAF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1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0.7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1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1.0</a:t>
                      </a:r>
                      <a:endParaRPr kumimoji="0" lang="en-US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itchFamily="34" charset="0"/>
                        <a:cs typeface="Arial" charset="0"/>
                      </a:endParaRPr>
                    </a:p>
                  </a:txBody>
                  <a:tcPr anchor="ctr" anchorCtr="1" horzOverflow="overflow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BEAF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1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41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1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32</a:t>
                      </a:r>
                      <a:endParaRPr kumimoji="0" lang="en-US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itchFamily="34" charset="0"/>
                        <a:cs typeface="Arial" charset="0"/>
                      </a:endParaRPr>
                    </a:p>
                  </a:txBody>
                  <a:tcPr anchor="ctr" anchorCtr="1" horzOverflow="overflow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BEAF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1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23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endParaRPr kumimoji="0" lang="en-US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itchFamily="34" charset="0"/>
                        <a:cs typeface="Arial" charset="0"/>
                      </a:endParaRPr>
                    </a:p>
                  </a:txBody>
                  <a:tcPr anchor="ctr" anchorCtr="1" horzOverflow="overflow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BEAF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1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Reflective</a:t>
                      </a:r>
                      <a:endParaRPr kumimoji="0" lang="en-US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itchFamily="34" charset="0"/>
                        <a:cs typeface="Arial" charset="0"/>
                      </a:endParaRPr>
                    </a:p>
                  </a:txBody>
                  <a:tcPr anchor="ctr" anchorCtr="1" horzOverflow="overflow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BEAF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1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10</a:t>
                      </a:r>
                      <a:endParaRPr kumimoji="0" lang="en-US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itchFamily="34" charset="0"/>
                        <a:cs typeface="Arial" charset="0"/>
                      </a:endParaRPr>
                    </a:p>
                  </a:txBody>
                  <a:tcPr anchor="ctr" anchorCtr="1" horzOverflow="overflow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BEAF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1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MA4AGSW4</a:t>
                      </a:r>
                      <a:endParaRPr kumimoji="0" lang="en-US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itchFamily="34" charset="0"/>
                        <a:cs typeface="Arial" charset="0"/>
                      </a:endParaRPr>
                    </a:p>
                  </a:txBody>
                  <a:tcPr anchor="ctr" anchorCtr="1" horzOverflow="overflow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BEAF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1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DIE</a:t>
                      </a:r>
                      <a:endParaRPr kumimoji="0" lang="en-US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itchFamily="34" charset="0"/>
                        <a:cs typeface="Arial" charset="0"/>
                      </a:endParaRPr>
                    </a:p>
                  </a:txBody>
                  <a:tcPr anchor="ctr" anchorCtr="1" horzOverflow="overflow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BEAF">
                        <a:alpha val="40000"/>
                      </a:srgbClr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1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SP5T</a:t>
                      </a:r>
                      <a:endParaRPr kumimoji="0" lang="en-US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itchFamily="34" charset="0"/>
                        <a:cs typeface="Arial" charset="0"/>
                      </a:endParaRPr>
                    </a:p>
                  </a:txBody>
                  <a:tcPr anchor="ctr" anchorCtr="1" horzOverflow="overflow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1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0.05 - 18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1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18 – 50</a:t>
                      </a:r>
                      <a:endParaRPr kumimoji="0" lang="en-US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itchFamily="34" charset="0"/>
                        <a:cs typeface="Arial" charset="0"/>
                      </a:endParaRPr>
                    </a:p>
                  </a:txBody>
                  <a:tcPr anchor="ctr" anchorCtr="1" horzOverflow="overflow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1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1.4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1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1.9</a:t>
                      </a:r>
                      <a:endParaRPr kumimoji="0" lang="en-US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itchFamily="34" charset="0"/>
                        <a:cs typeface="Arial" charset="0"/>
                      </a:endParaRPr>
                    </a:p>
                  </a:txBody>
                  <a:tcPr anchor="ctr" anchorCtr="1" horzOverflow="overflow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1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35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1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30</a:t>
                      </a:r>
                      <a:endParaRPr kumimoji="0" lang="en-US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itchFamily="34" charset="0"/>
                        <a:cs typeface="Arial" charset="0"/>
                      </a:endParaRPr>
                    </a:p>
                  </a:txBody>
                  <a:tcPr anchor="ctr" anchorCtr="1" horzOverflow="overflow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1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23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endParaRPr kumimoji="0" lang="en-US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itchFamily="34" charset="0"/>
                        <a:cs typeface="Arial" charset="0"/>
                      </a:endParaRPr>
                    </a:p>
                  </a:txBody>
                  <a:tcPr anchor="ctr" anchorCtr="1" horzOverflow="overflow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1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Reflective</a:t>
                      </a:r>
                      <a:endParaRPr kumimoji="0" lang="en-US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itchFamily="34" charset="0"/>
                        <a:cs typeface="Arial" charset="0"/>
                      </a:endParaRPr>
                    </a:p>
                  </a:txBody>
                  <a:tcPr anchor="ctr" anchorCtr="1" horzOverflow="overflow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1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10</a:t>
                      </a:r>
                      <a:endParaRPr kumimoji="0" lang="en-US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itchFamily="34" charset="0"/>
                        <a:cs typeface="Arial" charset="0"/>
                      </a:endParaRPr>
                    </a:p>
                  </a:txBody>
                  <a:tcPr anchor="ctr" anchorCtr="1" horzOverflow="overflow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1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MA4AGSW5</a:t>
                      </a:r>
                      <a:endParaRPr kumimoji="0" lang="en-US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itchFamily="34" charset="0"/>
                        <a:cs typeface="Arial" charset="0"/>
                      </a:endParaRPr>
                    </a:p>
                  </a:txBody>
                  <a:tcPr anchor="ctr" anchorCtr="1" horzOverflow="overflow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1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DIE</a:t>
                      </a:r>
                      <a:endParaRPr kumimoji="0" lang="en-US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itchFamily="34" charset="0"/>
                        <a:cs typeface="Arial" charset="0"/>
                      </a:endParaRPr>
                    </a:p>
                  </a:txBody>
                  <a:tcPr anchor="ctr" anchorCtr="1" horzOverflow="overflow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1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SP8T</a:t>
                      </a:r>
                      <a:endParaRPr kumimoji="0" lang="en-US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itchFamily="34" charset="0"/>
                        <a:cs typeface="Arial" charset="0"/>
                      </a:endParaRPr>
                    </a:p>
                  </a:txBody>
                  <a:tcPr anchor="ctr" anchorCtr="1" horzOverflow="overflow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BEAF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1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0.05 - 18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1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18 - 50</a:t>
                      </a:r>
                      <a:endParaRPr kumimoji="0" lang="en-US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itchFamily="34" charset="0"/>
                        <a:cs typeface="Arial" charset="0"/>
                      </a:endParaRPr>
                    </a:p>
                  </a:txBody>
                  <a:tcPr anchor="ctr" anchorCtr="1" horzOverflow="overflow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BEAF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1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1.5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1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2.0</a:t>
                      </a:r>
                      <a:endParaRPr kumimoji="0" lang="en-US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itchFamily="34" charset="0"/>
                        <a:cs typeface="Arial" charset="0"/>
                      </a:endParaRPr>
                    </a:p>
                  </a:txBody>
                  <a:tcPr anchor="ctr" anchorCtr="1" horzOverflow="overflow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BEAF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1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32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1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32</a:t>
                      </a:r>
                      <a:endParaRPr kumimoji="0" lang="en-US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itchFamily="34" charset="0"/>
                        <a:cs typeface="Arial" charset="0"/>
                      </a:endParaRPr>
                    </a:p>
                  </a:txBody>
                  <a:tcPr anchor="ctr" anchorCtr="1" horzOverflow="overflow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BEAF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1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23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endParaRPr kumimoji="0" lang="en-US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itchFamily="34" charset="0"/>
                        <a:cs typeface="Arial" charset="0"/>
                      </a:endParaRPr>
                    </a:p>
                  </a:txBody>
                  <a:tcPr anchor="ctr" anchorCtr="1" horzOverflow="overflow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BEAF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1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Reflective</a:t>
                      </a:r>
                      <a:endParaRPr kumimoji="0" lang="en-US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itchFamily="34" charset="0"/>
                        <a:cs typeface="Arial" charset="0"/>
                      </a:endParaRPr>
                    </a:p>
                  </a:txBody>
                  <a:tcPr anchor="ctr" anchorCtr="1" horzOverflow="overflow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BEAF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1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10</a:t>
                      </a:r>
                      <a:endParaRPr kumimoji="0" lang="en-US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itchFamily="34" charset="0"/>
                        <a:cs typeface="Arial" charset="0"/>
                      </a:endParaRPr>
                    </a:p>
                  </a:txBody>
                  <a:tcPr anchor="ctr" anchorCtr="1" horzOverflow="overflow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BEAF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1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MA4AGSW8-1</a:t>
                      </a:r>
                      <a:endParaRPr kumimoji="0" lang="en-US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itchFamily="34" charset="0"/>
                        <a:cs typeface="Arial" charset="0"/>
                      </a:endParaRPr>
                    </a:p>
                  </a:txBody>
                  <a:tcPr anchor="ctr" anchorCtr="1" horzOverflow="overflow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BEAF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1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DIE</a:t>
                      </a:r>
                      <a:endParaRPr kumimoji="0" lang="en-US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itchFamily="34" charset="0"/>
                        <a:cs typeface="Arial" charset="0"/>
                      </a:endParaRPr>
                    </a:p>
                  </a:txBody>
                  <a:tcPr anchor="ctr" anchorCtr="1" horzOverflow="overflow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BEAF">
                        <a:alpha val="4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411757" name="Rectangle 109"/>
          <p:cNvSpPr>
            <a:spLocks noGrp="1"/>
          </p:cNvSpPr>
          <p:nvPr>
            <p:ph type="title" idx="4294967295"/>
          </p:nvPr>
        </p:nvSpPr>
        <p:spPr>
          <a:xfrm>
            <a:off x="284377" y="355357"/>
            <a:ext cx="5481638" cy="457200"/>
          </a:xfrm>
        </p:spPr>
        <p:txBody>
          <a:bodyPr>
            <a:noAutofit/>
          </a:bodyPr>
          <a:lstStyle/>
          <a:p>
            <a:r>
              <a:rPr lang="en-US" sz="3200" dirty="0"/>
              <a:t>AlGaAs </a:t>
            </a:r>
            <a:r>
              <a:rPr lang="en-US" sz="3200" dirty="0" smtClean="0"/>
              <a:t>Products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9414828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/>
          </p:cNvSpPr>
          <p:nvPr>
            <p:ph type="title" idx="4294967295"/>
          </p:nvPr>
        </p:nvSpPr>
        <p:spPr>
          <a:xfrm>
            <a:off x="122831" y="276324"/>
            <a:ext cx="6933062" cy="547687"/>
          </a:xfrm>
        </p:spPr>
        <p:txBody>
          <a:bodyPr>
            <a:noAutofit/>
          </a:bodyPr>
          <a:lstStyle/>
          <a:p>
            <a:r>
              <a:rPr lang="en-US" dirty="0"/>
              <a:t>AlGaAs </a:t>
            </a:r>
            <a:r>
              <a:rPr lang="en-US" dirty="0" smtClean="0"/>
              <a:t>PIN Diode Switches </a:t>
            </a:r>
            <a:endParaRPr lang="en-US" dirty="0"/>
          </a:p>
        </p:txBody>
      </p:sp>
      <p:sp>
        <p:nvSpPr>
          <p:cNvPr id="17486" name="Rectangle 78"/>
          <p:cNvSpPr>
            <a:spLocks noChangeArrowheads="1"/>
          </p:cNvSpPr>
          <p:nvPr/>
        </p:nvSpPr>
        <p:spPr bwMode="auto">
          <a:xfrm>
            <a:off x="1371600" y="387350"/>
            <a:ext cx="556895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ctr"/>
          <a:lstStyle/>
          <a:p>
            <a:pPr algn="ctr" defTabSz="912813" eaLnBrk="0" hangingPunct="0"/>
            <a:endParaRPr lang="en-US" sz="2400" b="1" i="1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pic>
        <p:nvPicPr>
          <p:cNvPr id="17487" name="Picture 79" descr="HeteroSP5T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rot="-1500514">
            <a:off x="6756400" y="3019891"/>
            <a:ext cx="1887538" cy="1525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7488" name="Text Box 80"/>
          <p:cNvSpPr txBox="1">
            <a:spLocks noChangeArrowheads="1"/>
          </p:cNvSpPr>
          <p:nvPr/>
        </p:nvSpPr>
        <p:spPr bwMode="auto">
          <a:xfrm>
            <a:off x="7796213" y="4736722"/>
            <a:ext cx="8255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i="1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SP5T</a:t>
            </a:r>
          </a:p>
        </p:txBody>
      </p:sp>
      <p:sp>
        <p:nvSpPr>
          <p:cNvPr id="17489" name="Rectangle 81"/>
          <p:cNvSpPr>
            <a:spLocks noChangeArrowheads="1"/>
          </p:cNvSpPr>
          <p:nvPr/>
        </p:nvSpPr>
        <p:spPr bwMode="auto">
          <a:xfrm>
            <a:off x="375958" y="1287086"/>
            <a:ext cx="4566304" cy="3355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rIns="45720"/>
          <a:lstStyle/>
          <a:p>
            <a:pPr marL="304800" indent="-304800" algn="l" defTabSz="912813" eaLnBrk="0" hangingPunct="0">
              <a:lnSpc>
                <a:spcPct val="110000"/>
              </a:lnSpc>
              <a:spcBef>
                <a:spcPct val="25000"/>
              </a:spcBef>
              <a:buClr>
                <a:schemeClr val="tx1"/>
              </a:buClr>
              <a:buFont typeface="Arial" charset="0"/>
              <a:buNone/>
            </a:pPr>
            <a:r>
              <a:rPr lang="en-US" sz="2400" b="1" i="1" dirty="0"/>
              <a:t>Product Offering</a:t>
            </a:r>
          </a:p>
          <a:p>
            <a:pPr marL="533400" lvl="1" indent="-304800" algn="l" defTabSz="912813" eaLnBrk="0" hangingPunct="0">
              <a:lnSpc>
                <a:spcPct val="110000"/>
              </a:lnSpc>
              <a:spcBef>
                <a:spcPct val="25000"/>
              </a:spcBef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2000" dirty="0" smtClean="0"/>
              <a:t>SPST </a:t>
            </a:r>
            <a:r>
              <a:rPr lang="en-US" sz="2000" dirty="0"/>
              <a:t>to </a:t>
            </a:r>
            <a:r>
              <a:rPr lang="en-US" sz="2000" dirty="0" smtClean="0"/>
              <a:t>SP8T</a:t>
            </a:r>
            <a:endParaRPr lang="en-US" sz="2000" dirty="0"/>
          </a:p>
          <a:p>
            <a:pPr marL="304800" indent="-304800" algn="l" defTabSz="912813" eaLnBrk="0" hangingPunct="0">
              <a:lnSpc>
                <a:spcPct val="110000"/>
              </a:lnSpc>
              <a:spcBef>
                <a:spcPct val="25000"/>
              </a:spcBef>
              <a:buClr>
                <a:schemeClr val="tx1"/>
              </a:buClr>
            </a:pPr>
            <a:r>
              <a:rPr lang="en-US" sz="2400" b="1" i="1" dirty="0" smtClean="0"/>
              <a:t>Features</a:t>
            </a:r>
            <a:endParaRPr lang="en-US" sz="2400" b="1" i="1" dirty="0"/>
          </a:p>
          <a:p>
            <a:pPr marL="533400" lvl="1" indent="-304800" algn="l" defTabSz="912813" eaLnBrk="0" hangingPunct="0">
              <a:lnSpc>
                <a:spcPct val="110000"/>
              </a:lnSpc>
              <a:spcBef>
                <a:spcPct val="25000"/>
              </a:spcBef>
              <a:buClr>
                <a:schemeClr val="tx1"/>
              </a:buClr>
              <a:buFont typeface="Wingdings" pitchFamily="2" charset="2"/>
              <a:buChar char="§"/>
            </a:pPr>
            <a:r>
              <a:rPr lang="en-US" dirty="0"/>
              <a:t>Operating Frequency = 50 MHz - 70 GHz</a:t>
            </a:r>
          </a:p>
          <a:p>
            <a:pPr marL="533400" lvl="1" indent="-304800" algn="l" defTabSz="912813" eaLnBrk="0" hangingPunct="0">
              <a:lnSpc>
                <a:spcPct val="110000"/>
              </a:lnSpc>
              <a:spcBef>
                <a:spcPct val="25000"/>
              </a:spcBef>
              <a:buClr>
                <a:schemeClr val="tx1"/>
              </a:buClr>
              <a:buFont typeface="Wingdings" pitchFamily="2" charset="2"/>
              <a:buChar char="§"/>
            </a:pPr>
            <a:r>
              <a:rPr lang="en-US" dirty="0" smtClean="0"/>
              <a:t>Maximum </a:t>
            </a:r>
            <a:r>
              <a:rPr lang="en-US" dirty="0"/>
              <a:t>RF </a:t>
            </a:r>
            <a:r>
              <a:rPr lang="en-US" dirty="0" smtClean="0"/>
              <a:t>Average </a:t>
            </a:r>
            <a:r>
              <a:rPr lang="en-US" dirty="0"/>
              <a:t>Incident Power = 0.25 W </a:t>
            </a:r>
            <a:r>
              <a:rPr lang="en-US" dirty="0" smtClean="0"/>
              <a:t>CW</a:t>
            </a:r>
            <a:endParaRPr lang="en-US" dirty="0"/>
          </a:p>
          <a:p>
            <a:pPr marL="533400" lvl="1" indent="-304800" algn="l" defTabSz="912813" eaLnBrk="0" hangingPunct="0">
              <a:lnSpc>
                <a:spcPct val="110000"/>
              </a:lnSpc>
              <a:spcBef>
                <a:spcPct val="25000"/>
              </a:spcBef>
              <a:buClr>
                <a:schemeClr val="tx1"/>
              </a:buClr>
              <a:buFont typeface="Wingdings" pitchFamily="2" charset="2"/>
              <a:buChar char="§"/>
            </a:pPr>
            <a:r>
              <a:rPr lang="en-US" dirty="0"/>
              <a:t>AlGaAs ~ 0.3 dB Lower IL (20 GHz) vs. GaAs &amp; Si Switches</a:t>
            </a:r>
          </a:p>
          <a:p>
            <a:pPr marL="533400" lvl="1" indent="-304800" algn="l" defTabSz="912813" eaLnBrk="0" hangingPunct="0">
              <a:lnSpc>
                <a:spcPct val="110000"/>
              </a:lnSpc>
              <a:spcBef>
                <a:spcPct val="25000"/>
              </a:spcBef>
              <a:buClr>
                <a:schemeClr val="tx1"/>
              </a:buClr>
              <a:buFont typeface="Wingdings" pitchFamily="2" charset="2"/>
              <a:buChar char="§"/>
            </a:pPr>
            <a:r>
              <a:rPr lang="en-US" dirty="0" smtClean="0"/>
              <a:t>Very Low Insertion Loss</a:t>
            </a:r>
          </a:p>
          <a:p>
            <a:pPr marL="533400" lvl="1" indent="-304800" algn="l" defTabSz="912813" eaLnBrk="0" hangingPunct="0">
              <a:lnSpc>
                <a:spcPct val="110000"/>
              </a:lnSpc>
              <a:spcBef>
                <a:spcPct val="25000"/>
              </a:spcBef>
              <a:buClr>
                <a:schemeClr val="tx1"/>
              </a:buClr>
              <a:buFont typeface="Wingdings" pitchFamily="2" charset="2"/>
              <a:buChar char="§"/>
            </a:pPr>
            <a:r>
              <a:rPr lang="en-US" dirty="0" smtClean="0"/>
              <a:t>Excellent Isolation</a:t>
            </a:r>
          </a:p>
          <a:p>
            <a:pPr marL="533400" lvl="1" indent="-304800" algn="l" defTabSz="912813" eaLnBrk="0" hangingPunct="0">
              <a:lnSpc>
                <a:spcPct val="110000"/>
              </a:lnSpc>
              <a:spcBef>
                <a:spcPct val="25000"/>
              </a:spcBef>
              <a:buClr>
                <a:schemeClr val="tx1"/>
              </a:buClr>
              <a:buFont typeface="Wingdings" pitchFamily="2" charset="2"/>
              <a:buChar char="§"/>
            </a:pPr>
            <a:r>
              <a:rPr lang="en-US" dirty="0" smtClean="0"/>
              <a:t>Low Switching Time</a:t>
            </a:r>
            <a:endParaRPr lang="en-US" dirty="0"/>
          </a:p>
          <a:p>
            <a:pPr marL="304800" indent="-304800" algn="l" defTabSz="912813" eaLnBrk="0" hangingPunct="0">
              <a:lnSpc>
                <a:spcPct val="110000"/>
              </a:lnSpc>
              <a:spcBef>
                <a:spcPct val="25000"/>
              </a:spcBef>
              <a:buClr>
                <a:schemeClr val="tx1"/>
              </a:buClr>
              <a:buFont typeface="Wingdings" pitchFamily="2" charset="2"/>
              <a:buNone/>
            </a:pPr>
            <a:endParaRPr lang="en-US" b="1" i="1" dirty="0"/>
          </a:p>
        </p:txBody>
      </p:sp>
      <p:pic>
        <p:nvPicPr>
          <p:cNvPr id="17491" name="Picture 83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rot="2033472">
            <a:off x="4999017" y="4696806"/>
            <a:ext cx="1665288" cy="1404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7492" name="Text Box 84"/>
          <p:cNvSpPr txBox="1">
            <a:spLocks noChangeArrowheads="1"/>
          </p:cNvSpPr>
          <p:nvPr/>
        </p:nvSpPr>
        <p:spPr bwMode="auto">
          <a:xfrm>
            <a:off x="6738917" y="5531831"/>
            <a:ext cx="809625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i="1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SPST</a:t>
            </a:r>
          </a:p>
        </p:txBody>
      </p:sp>
      <p:pic>
        <p:nvPicPr>
          <p:cNvPr id="17493" name="Picture 8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 rot="882974">
            <a:off x="5264430" y="1581462"/>
            <a:ext cx="1666875" cy="1074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7494" name="Text Box 86"/>
          <p:cNvSpPr txBox="1">
            <a:spLocks noChangeArrowheads="1"/>
          </p:cNvSpPr>
          <p:nvPr/>
        </p:nvSpPr>
        <p:spPr bwMode="auto">
          <a:xfrm>
            <a:off x="5393017" y="2694300"/>
            <a:ext cx="8255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i="1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SP2T</a:t>
            </a:r>
          </a:p>
        </p:txBody>
      </p:sp>
    </p:spTree>
    <p:extLst>
      <p:ext uri="{BB962C8B-B14F-4D97-AF65-F5344CB8AC3E}">
        <p14:creationId xmlns:p14="http://schemas.microsoft.com/office/powerpoint/2010/main" val="13971814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757" name="Rectangle 109"/>
          <p:cNvSpPr>
            <a:spLocks noGrp="1"/>
          </p:cNvSpPr>
          <p:nvPr>
            <p:ph type="title" idx="4294967295"/>
          </p:nvPr>
        </p:nvSpPr>
        <p:spPr>
          <a:xfrm>
            <a:off x="108143" y="244261"/>
            <a:ext cx="6489568" cy="771544"/>
          </a:xfrm>
        </p:spPr>
        <p:txBody>
          <a:bodyPr>
            <a:noAutofit/>
          </a:bodyPr>
          <a:lstStyle/>
          <a:p>
            <a:r>
              <a:rPr lang="en-US" sz="2400" dirty="0" smtClean="0"/>
              <a:t>AlGaAs </a:t>
            </a:r>
            <a:r>
              <a:rPr lang="en-US" sz="2400" dirty="0"/>
              <a:t>SP3T W Band </a:t>
            </a:r>
            <a:r>
              <a:rPr lang="en-US" sz="2400" dirty="0" smtClean="0"/>
              <a:t>Switch</a:t>
            </a:r>
            <a:r>
              <a:rPr lang="en-US" sz="2400" b="0" dirty="0" smtClean="0"/>
              <a:t/>
            </a:r>
            <a:br>
              <a:rPr lang="en-US" sz="2400" b="0" dirty="0" smtClean="0"/>
            </a:br>
            <a:r>
              <a:rPr lang="en-US" sz="2400" dirty="0" smtClean="0"/>
              <a:t>MASW-011029 </a:t>
            </a:r>
            <a:endParaRPr lang="en-US" sz="2400" dirty="0"/>
          </a:p>
        </p:txBody>
      </p:sp>
      <p:sp>
        <p:nvSpPr>
          <p:cNvPr id="3" name="Rectangle 2"/>
          <p:cNvSpPr/>
          <p:nvPr/>
        </p:nvSpPr>
        <p:spPr>
          <a:xfrm>
            <a:off x="108143" y="1146103"/>
            <a:ext cx="4401104" cy="23698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000" dirty="0"/>
              <a:t>Broadband Operating </a:t>
            </a:r>
            <a:r>
              <a:rPr lang="en-US" sz="2000" dirty="0" smtClean="0"/>
              <a:t>Frequency: 60 - 110 GHz</a:t>
            </a:r>
            <a:endParaRPr lang="en-US" sz="2000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000" dirty="0"/>
              <a:t>Insertion </a:t>
            </a:r>
            <a:r>
              <a:rPr lang="en-US" sz="2000" dirty="0" smtClean="0"/>
              <a:t>Loss:1.3 </a:t>
            </a:r>
            <a:r>
              <a:rPr lang="en-US" sz="2000" dirty="0"/>
              <a:t>dB Typical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000" dirty="0" smtClean="0"/>
              <a:t>Isolation: 33 dB Typical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000" dirty="0" smtClean="0"/>
              <a:t>Silicon </a:t>
            </a:r>
            <a:r>
              <a:rPr lang="en-US" sz="2000" dirty="0"/>
              <a:t>Nitride Passivation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000" dirty="0" smtClean="0"/>
              <a:t>BCB </a:t>
            </a:r>
            <a:r>
              <a:rPr lang="en-US" sz="2000" dirty="0"/>
              <a:t>Scratch </a:t>
            </a:r>
            <a:r>
              <a:rPr lang="en-US" sz="2000" dirty="0" smtClean="0"/>
              <a:t>Protection</a:t>
            </a:r>
            <a:endParaRPr lang="en-US" sz="2000" dirty="0"/>
          </a:p>
        </p:txBody>
      </p:sp>
      <p:grpSp>
        <p:nvGrpSpPr>
          <p:cNvPr id="12" name="Group 11"/>
          <p:cNvGrpSpPr/>
          <p:nvPr/>
        </p:nvGrpSpPr>
        <p:grpSpPr>
          <a:xfrm>
            <a:off x="839536" y="3576918"/>
            <a:ext cx="7641076" cy="3031707"/>
            <a:chOff x="550096" y="3450209"/>
            <a:chExt cx="7052769" cy="2728110"/>
          </a:xfrm>
        </p:grpSpPr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50096" y="3450209"/>
              <a:ext cx="3512808" cy="2728110"/>
            </a:xfrm>
            <a:prstGeom prst="rect">
              <a:avLst/>
            </a:prstGeom>
          </p:spPr>
        </p:pic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062904" y="3450209"/>
              <a:ext cx="3539961" cy="2728110"/>
            </a:xfrm>
            <a:prstGeom prst="rect">
              <a:avLst/>
            </a:prstGeom>
          </p:spPr>
        </p:pic>
      </p:grpSp>
      <p:pic>
        <p:nvPicPr>
          <p:cNvPr id="1026" name="Picture 2" descr="http://4.bp.blogspot.com/_o74ruxv2td0/TNyrVavE64I/AAAAAAAAC5Y/kHFPrwddbRo/s1600/rcjFreescale77b.jp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818977" y="1516160"/>
            <a:ext cx="2967208" cy="15083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4240364" y="2958433"/>
            <a:ext cx="1934193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Collision Avoidance Radar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86185" y="1523182"/>
            <a:ext cx="2142498" cy="140694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124820" y="3024491"/>
            <a:ext cx="14652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Passive Imaging</a:t>
            </a:r>
          </a:p>
        </p:txBody>
      </p:sp>
    </p:spTree>
    <p:extLst>
      <p:ext uri="{BB962C8B-B14F-4D97-AF65-F5344CB8AC3E}">
        <p14:creationId xmlns:p14="http://schemas.microsoft.com/office/powerpoint/2010/main" val="17634434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757" name="Rectangle 109"/>
          <p:cNvSpPr>
            <a:spLocks noGrp="1"/>
          </p:cNvSpPr>
          <p:nvPr>
            <p:ph type="title" idx="4294967295"/>
          </p:nvPr>
        </p:nvSpPr>
        <p:spPr>
          <a:xfrm>
            <a:off x="89288" y="74579"/>
            <a:ext cx="6489568" cy="457200"/>
          </a:xfrm>
        </p:spPr>
        <p:txBody>
          <a:bodyPr>
            <a:noAutofit/>
          </a:bodyPr>
          <a:lstStyle/>
          <a:p>
            <a:r>
              <a:rPr lang="en-US" sz="2400" dirty="0" smtClean="0"/>
              <a:t>MASW-011036 </a:t>
            </a:r>
            <a:br>
              <a:rPr lang="en-US" sz="2400" dirty="0" smtClean="0"/>
            </a:br>
            <a:r>
              <a:rPr lang="en-US" sz="2400" dirty="0" smtClean="0"/>
              <a:t>Ka-Band </a:t>
            </a:r>
            <a:r>
              <a:rPr lang="en-US" sz="2400" dirty="0"/>
              <a:t>High Power </a:t>
            </a:r>
            <a:r>
              <a:rPr lang="en-US" sz="2400" dirty="0" smtClean="0"/>
              <a:t>Terminated AlGaAs SPDT </a:t>
            </a:r>
            <a:r>
              <a:rPr lang="en-US" sz="2400" dirty="0"/>
              <a:t>PIN </a:t>
            </a:r>
            <a:r>
              <a:rPr lang="en-US" sz="2400" dirty="0" smtClean="0"/>
              <a:t>Switch</a:t>
            </a:r>
            <a:endParaRPr lang="en-US" sz="2400" dirty="0"/>
          </a:p>
        </p:txBody>
      </p:sp>
      <p:sp>
        <p:nvSpPr>
          <p:cNvPr id="22" name="Rectangle 21"/>
          <p:cNvSpPr/>
          <p:nvPr/>
        </p:nvSpPr>
        <p:spPr>
          <a:xfrm>
            <a:off x="239889" y="1342647"/>
            <a:ext cx="4572000" cy="2037481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 smtClean="0"/>
              <a:t>Broadband Performance: </a:t>
            </a:r>
            <a:r>
              <a:rPr lang="en-US" sz="1600" dirty="0"/>
              <a:t>26 to 40 GHz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 smtClean="0"/>
              <a:t>Low </a:t>
            </a:r>
            <a:r>
              <a:rPr lang="en-US" sz="1600" dirty="0"/>
              <a:t>Loss &lt;1 </a:t>
            </a:r>
            <a:r>
              <a:rPr lang="en-US" sz="1600" dirty="0" smtClean="0"/>
              <a:t>dB; High </a:t>
            </a:r>
            <a:r>
              <a:rPr lang="en-US" sz="1600" dirty="0"/>
              <a:t>Isolation &gt;38 dB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 smtClean="0"/>
              <a:t>Up </a:t>
            </a:r>
            <a:r>
              <a:rPr lang="en-US" sz="1600" dirty="0"/>
              <a:t>to 13 W CW Power, </a:t>
            </a:r>
            <a:r>
              <a:rPr lang="en-US" sz="1600" dirty="0" smtClean="0"/>
              <a:t>85 °</a:t>
            </a:r>
            <a:r>
              <a:rPr lang="en-US" sz="1600" dirty="0"/>
              <a:t>C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 smtClean="0"/>
              <a:t>Die </a:t>
            </a:r>
            <a:r>
              <a:rPr lang="en-US" sz="1600" dirty="0"/>
              <a:t>with </a:t>
            </a:r>
            <a:r>
              <a:rPr lang="en-US" sz="1600" dirty="0" smtClean="0"/>
              <a:t>G-S-G </a:t>
            </a:r>
            <a:r>
              <a:rPr lang="en-US" sz="1600" dirty="0"/>
              <a:t>RF Pads and DC Bias Pads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 smtClean="0"/>
              <a:t>Includes </a:t>
            </a:r>
            <a:r>
              <a:rPr lang="en-US" sz="1600" dirty="0"/>
              <a:t>DC Blocks and RF Bias Networks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 smtClean="0"/>
              <a:t>23 </a:t>
            </a:r>
            <a:r>
              <a:rPr lang="en-US" sz="1600" dirty="0"/>
              <a:t>dBm power handling in terminated port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3249" y="1762663"/>
            <a:ext cx="1900237" cy="7620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5205" y="1392611"/>
            <a:ext cx="1835884" cy="151793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9006" y="3496452"/>
            <a:ext cx="3359563" cy="259289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45772" y="3380128"/>
            <a:ext cx="3438865" cy="2658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17360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757" name="Rectangle 109"/>
          <p:cNvSpPr>
            <a:spLocks noGrp="1"/>
          </p:cNvSpPr>
          <p:nvPr>
            <p:ph type="title" idx="4294967295"/>
          </p:nvPr>
        </p:nvSpPr>
        <p:spPr>
          <a:xfrm>
            <a:off x="108142" y="131140"/>
            <a:ext cx="6489568" cy="457200"/>
          </a:xfrm>
        </p:spPr>
        <p:txBody>
          <a:bodyPr>
            <a:noAutofit/>
          </a:bodyPr>
          <a:lstStyle/>
          <a:p>
            <a:r>
              <a:rPr lang="en-US" sz="2400" dirty="0" smtClean="0"/>
              <a:t>MASW-010646 </a:t>
            </a:r>
            <a:br>
              <a:rPr lang="en-US" sz="2400" dirty="0" smtClean="0"/>
            </a:br>
            <a:r>
              <a:rPr lang="en-US" sz="2400" dirty="0" smtClean="0"/>
              <a:t>Ka-Band </a:t>
            </a:r>
            <a:r>
              <a:rPr lang="en-US" sz="2400" dirty="0"/>
              <a:t>High Power Reflective </a:t>
            </a:r>
            <a:r>
              <a:rPr lang="en-US" sz="2400" dirty="0" smtClean="0"/>
              <a:t>AlGaAs SPDT </a:t>
            </a:r>
            <a:r>
              <a:rPr lang="en-US" sz="2400" dirty="0"/>
              <a:t>PIN </a:t>
            </a:r>
            <a:r>
              <a:rPr lang="en-US" sz="2400" dirty="0" smtClean="0"/>
              <a:t>Switch</a:t>
            </a:r>
            <a:endParaRPr lang="en-US" sz="2400" dirty="0"/>
          </a:p>
        </p:txBody>
      </p:sp>
      <p:sp>
        <p:nvSpPr>
          <p:cNvPr id="22" name="Rectangle 21"/>
          <p:cNvSpPr/>
          <p:nvPr/>
        </p:nvSpPr>
        <p:spPr>
          <a:xfrm>
            <a:off x="221959" y="1432291"/>
            <a:ext cx="4572000" cy="2037481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 smtClean="0">
                <a:latin typeface="Arial" panose="020B0604020202020204" pitchFamily="34" charset="0"/>
              </a:rPr>
              <a:t>Broadband Performance: </a:t>
            </a:r>
            <a:r>
              <a:rPr lang="en-US" sz="1600" dirty="0">
                <a:latin typeface="Arial" panose="020B0604020202020204" pitchFamily="34" charset="0"/>
              </a:rPr>
              <a:t>26 to 40 GHz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 smtClean="0">
                <a:latin typeface="Arial" panose="020B0604020202020204" pitchFamily="34" charset="0"/>
              </a:rPr>
              <a:t>Low </a:t>
            </a:r>
            <a:r>
              <a:rPr lang="en-US" sz="1600" dirty="0">
                <a:latin typeface="Arial" panose="020B0604020202020204" pitchFamily="34" charset="0"/>
              </a:rPr>
              <a:t>Loss: 0.6 dB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 smtClean="0">
                <a:latin typeface="Arial" panose="020B0604020202020204" pitchFamily="34" charset="0"/>
              </a:rPr>
              <a:t>High </a:t>
            </a:r>
            <a:r>
              <a:rPr lang="en-US" sz="1600" dirty="0">
                <a:latin typeface="Arial" panose="020B0604020202020204" pitchFamily="34" charset="0"/>
              </a:rPr>
              <a:t>Isolation: 32 dB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 smtClean="0">
                <a:latin typeface="Arial" panose="020B0604020202020204" pitchFamily="34" charset="0"/>
              </a:rPr>
              <a:t>Up </a:t>
            </a:r>
            <a:r>
              <a:rPr lang="en-US" sz="1600" dirty="0">
                <a:latin typeface="Arial" panose="020B0604020202020204" pitchFamily="34" charset="0"/>
              </a:rPr>
              <a:t>to 13 W CW Power, </a:t>
            </a:r>
            <a:r>
              <a:rPr lang="en-US" sz="1600" dirty="0" smtClean="0">
                <a:latin typeface="Arial" panose="020B0604020202020204" pitchFamily="34" charset="0"/>
              </a:rPr>
              <a:t>85 °</a:t>
            </a:r>
            <a:r>
              <a:rPr lang="en-US" sz="1600" dirty="0">
                <a:latin typeface="Arial" panose="020B0604020202020204" pitchFamily="34" charset="0"/>
              </a:rPr>
              <a:t>C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 smtClean="0">
                <a:latin typeface="Arial" panose="020B0604020202020204" pitchFamily="34" charset="0"/>
              </a:rPr>
              <a:t>Die </a:t>
            </a:r>
            <a:r>
              <a:rPr lang="en-US" sz="1600" dirty="0">
                <a:latin typeface="Arial" panose="020B0604020202020204" pitchFamily="34" charset="0"/>
              </a:rPr>
              <a:t>with </a:t>
            </a:r>
            <a:r>
              <a:rPr lang="en-US" sz="1600" dirty="0" smtClean="0">
                <a:latin typeface="Arial" panose="020B0604020202020204" pitchFamily="34" charset="0"/>
              </a:rPr>
              <a:t>G-S-G </a:t>
            </a:r>
            <a:r>
              <a:rPr lang="en-US" sz="1600" dirty="0">
                <a:latin typeface="Arial" panose="020B0604020202020204" pitchFamily="34" charset="0"/>
              </a:rPr>
              <a:t>RF Pads and DC Bias Pads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 smtClean="0">
                <a:latin typeface="Arial" panose="020B0604020202020204" pitchFamily="34" charset="0"/>
              </a:rPr>
              <a:t>Includes </a:t>
            </a:r>
            <a:r>
              <a:rPr lang="en-US" sz="1600" dirty="0">
                <a:latin typeface="Arial" panose="020B0604020202020204" pitchFamily="34" charset="0"/>
              </a:rPr>
              <a:t>DC Blocks and RF Bias Networks</a:t>
            </a:r>
            <a:endParaRPr lang="en-US" sz="1600" dirty="0">
              <a:effectLst/>
              <a:latin typeface="Arial" panose="020B0604020202020204" pitchFamily="34" charset="0"/>
            </a:endParaRPr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127" y="3638379"/>
            <a:ext cx="3389078" cy="2632126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5412" y="3610711"/>
            <a:ext cx="3499976" cy="2757015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27084" y="1728955"/>
            <a:ext cx="1845497" cy="920248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80041" y="1608747"/>
            <a:ext cx="1869623" cy="1223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58208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/>
          <p:cNvSpPr>
            <a:spLocks noGrp="1"/>
          </p:cNvSpPr>
          <p:nvPr>
            <p:ph type="title"/>
          </p:nvPr>
        </p:nvSpPr>
        <p:spPr>
          <a:xfrm>
            <a:off x="1188554" y="2307865"/>
            <a:ext cx="7315200" cy="640080"/>
          </a:xfrm>
        </p:spPr>
        <p:txBody>
          <a:bodyPr/>
          <a:lstStyle/>
          <a:p>
            <a:r>
              <a:rPr lang="en-US" sz="4000" dirty="0" smtClean="0"/>
              <a:t>Thank You</a:t>
            </a:r>
            <a:endParaRPr lang="en-US" sz="4000" dirty="0"/>
          </a:p>
        </p:txBody>
      </p:sp>
      <p:sp>
        <p:nvSpPr>
          <p:cNvPr id="15" name="TextBox 14"/>
          <p:cNvSpPr txBox="1"/>
          <p:nvPr/>
        </p:nvSpPr>
        <p:spPr>
          <a:xfrm>
            <a:off x="1660880" y="5543792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61121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 smtClean="0"/>
              <a:t>Appendix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609202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64" name="Rectangle 16"/>
          <p:cNvSpPr>
            <a:spLocks noGrp="1"/>
          </p:cNvSpPr>
          <p:nvPr>
            <p:ph type="title" idx="4294967295"/>
          </p:nvPr>
        </p:nvSpPr>
        <p:spPr>
          <a:xfrm>
            <a:off x="119123" y="356933"/>
            <a:ext cx="6540500" cy="547688"/>
          </a:xfrm>
        </p:spPr>
        <p:txBody>
          <a:bodyPr/>
          <a:lstStyle/>
          <a:p>
            <a:r>
              <a:rPr lang="en-US" dirty="0"/>
              <a:t>Flip </a:t>
            </a:r>
            <a:r>
              <a:rPr lang="en-US" dirty="0" smtClean="0"/>
              <a:t>Chip Products</a:t>
            </a: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7422435"/>
              </p:ext>
            </p:extLst>
          </p:nvPr>
        </p:nvGraphicFramePr>
        <p:xfrm>
          <a:off x="549813" y="1932146"/>
          <a:ext cx="7584374" cy="1947223"/>
        </p:xfrm>
        <a:graphic>
          <a:graphicData uri="http://schemas.openxmlformats.org/drawingml/2006/table">
            <a:tbl>
              <a:tblPr firstRow="1" bandRow="1">
                <a:effectLst>
                  <a:innerShdw blurRad="63500" dist="50800" dir="2700000">
                    <a:prstClr val="black">
                      <a:alpha val="50000"/>
                    </a:prstClr>
                  </a:innerShdw>
                </a:effectLst>
                <a:tableStyleId>{5C22544A-7EE6-4342-B048-85BDC9FD1C3A}</a:tableStyleId>
              </a:tblPr>
              <a:tblGrid>
                <a:gridCol w="1249697"/>
                <a:gridCol w="1434999"/>
                <a:gridCol w="982521"/>
                <a:gridCol w="1063162"/>
                <a:gridCol w="646487"/>
                <a:gridCol w="1103754"/>
                <a:gridCol w="1103754"/>
              </a:tblGrid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en-US" sz="1100" dirty="0" smtClean="0">
                          <a:solidFill>
                            <a:schemeClr val="bg1"/>
                          </a:solidFill>
                        </a:rPr>
                        <a:t>PIN</a:t>
                      </a:r>
                    </a:p>
                    <a:p>
                      <a:pPr algn="ctr"/>
                      <a:r>
                        <a:rPr lang="en-US" sz="1100" dirty="0" smtClean="0">
                          <a:solidFill>
                            <a:schemeClr val="bg1"/>
                          </a:solidFill>
                        </a:rPr>
                        <a:t> Diodes</a:t>
                      </a:r>
                      <a:endParaRPr lang="en-US" sz="11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>
                          <a:solidFill>
                            <a:schemeClr val="bg1"/>
                          </a:solidFill>
                        </a:rPr>
                        <a:t>Configuration</a:t>
                      </a:r>
                      <a:endParaRPr lang="en-US" sz="105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>
                          <a:solidFill>
                            <a:schemeClr val="bg1"/>
                          </a:solidFill>
                        </a:rPr>
                        <a:t>Max Frequency</a:t>
                      </a:r>
                      <a:endParaRPr lang="en-US" sz="105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>
                          <a:solidFill>
                            <a:schemeClr val="bg1"/>
                          </a:solidFill>
                        </a:rPr>
                        <a:t>Breakdown Voltage Vb</a:t>
                      </a:r>
                      <a:endParaRPr lang="en-US" sz="105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>
                          <a:solidFill>
                            <a:schemeClr val="bg1"/>
                          </a:solidFill>
                        </a:rPr>
                        <a:t>Ct Max</a:t>
                      </a:r>
                      <a:endParaRPr lang="en-US" sz="105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>
                          <a:solidFill>
                            <a:schemeClr val="bg1"/>
                          </a:solidFill>
                        </a:rPr>
                        <a:t>Rs Typical</a:t>
                      </a:r>
                      <a:endParaRPr lang="en-US" sz="105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>
                          <a:solidFill>
                            <a:schemeClr val="bg1"/>
                          </a:solidFill>
                        </a:rPr>
                        <a:t>Material</a:t>
                      </a:r>
                      <a:endParaRPr lang="en-US" sz="105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71483">
                <a:tc vMerge="1">
                  <a:txBody>
                    <a:bodyPr/>
                    <a:lstStyle/>
                    <a:p>
                      <a:pPr algn="ctr"/>
                      <a:endParaRPr lang="en-US" sz="105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>
                          <a:solidFill>
                            <a:schemeClr val="bg1"/>
                          </a:solidFill>
                        </a:rPr>
                        <a:t>(GHz)</a:t>
                      </a:r>
                      <a:endParaRPr lang="en-US" sz="105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>
                          <a:solidFill>
                            <a:schemeClr val="bg1"/>
                          </a:solidFill>
                        </a:rPr>
                        <a:t>(V)</a:t>
                      </a:r>
                      <a:endParaRPr lang="en-US" sz="105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>
                          <a:solidFill>
                            <a:schemeClr val="bg1"/>
                          </a:solidFill>
                        </a:rPr>
                        <a:t>(pf)</a:t>
                      </a:r>
                      <a:endParaRPr lang="en-US" sz="105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>
                          <a:solidFill>
                            <a:schemeClr val="bg1"/>
                          </a:solidFill>
                        </a:rPr>
                        <a:t>(</a:t>
                      </a:r>
                      <a:r>
                        <a:rPr lang="en-US" sz="1050" dirty="0" smtClean="0">
                          <a:solidFill>
                            <a:schemeClr val="bg1"/>
                          </a:solidFill>
                          <a:sym typeface="Symbol"/>
                        </a:rPr>
                        <a:t>)</a:t>
                      </a:r>
                      <a:endParaRPr lang="en-US" sz="105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</a:tr>
              <a:tr h="258420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/>
                        <a:t>MA4GP907</a:t>
                      </a:r>
                      <a:endParaRPr lang="en-US" sz="1050" dirty="0"/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/>
                        <a:t>Single</a:t>
                      </a:r>
                      <a:endParaRPr lang="en-US" sz="105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/>
                        <a:t>40</a:t>
                      </a:r>
                      <a:endParaRPr lang="en-US" sz="105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/>
                        <a:t>45</a:t>
                      </a:r>
                      <a:endParaRPr lang="en-US" sz="105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/>
                        <a:t>0.025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/>
                        <a:t>4.2</a:t>
                      </a:r>
                      <a:endParaRPr lang="en-US" sz="1050" dirty="0"/>
                    </a:p>
                  </a:txBody>
                  <a:tcPr anchor="ctr">
                    <a:lnL w="12700" cmpd="sng">
                      <a:noFill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/>
                        <a:t>GaAs</a:t>
                      </a:r>
                      <a:endParaRPr lang="en-US" sz="1050" dirty="0"/>
                    </a:p>
                  </a:txBody>
                  <a:tcPr anchor="ctr">
                    <a:lnL w="12700" cmpd="sng">
                      <a:noFill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33482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/>
                        <a:t>MA4AGP907</a:t>
                      </a:r>
                      <a:endParaRPr lang="en-US" sz="1050" dirty="0"/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/>
                        <a:t>Single</a:t>
                      </a:r>
                      <a:endParaRPr lang="en-US" sz="105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/>
                        <a:t>50</a:t>
                      </a:r>
                      <a:endParaRPr lang="en-US" sz="105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/>
                        <a:t>50</a:t>
                      </a:r>
                      <a:endParaRPr lang="en-US" sz="105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/>
                        <a:t>0.020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/>
                        <a:t>4.2</a:t>
                      </a:r>
                      <a:endParaRPr lang="en-US" sz="1050" dirty="0"/>
                    </a:p>
                  </a:txBody>
                  <a:tcPr anchor="ctr">
                    <a:lnL w="12700" cmpd="sng">
                      <a:noFill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/>
                        <a:t>AlGaAs</a:t>
                      </a:r>
                      <a:endParaRPr lang="en-US" sz="1050" dirty="0"/>
                    </a:p>
                  </a:txBody>
                  <a:tcPr anchor="ctr">
                    <a:lnL w="12700" cmpd="sng">
                      <a:noFill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32294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/>
                        <a:t>MA4FCP200</a:t>
                      </a:r>
                      <a:endParaRPr lang="en-US" sz="1050" dirty="0"/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/>
                        <a:t>Single</a:t>
                      </a:r>
                      <a:endParaRPr lang="en-US" sz="105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/>
                        <a:t>40</a:t>
                      </a:r>
                      <a:endParaRPr lang="en-US" sz="105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/>
                        <a:t>50</a:t>
                      </a:r>
                      <a:endParaRPr lang="en-US" sz="105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/>
                        <a:t>0.015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/>
                        <a:t>2.8</a:t>
                      </a:r>
                      <a:endParaRPr lang="en-US" sz="1050" dirty="0"/>
                    </a:p>
                  </a:txBody>
                  <a:tcPr anchor="ctr">
                    <a:lnL w="12700" cmpd="sng">
                      <a:noFill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/>
                        <a:t>HMIC </a:t>
                      </a:r>
                      <a:endParaRPr lang="en-US" sz="1050" dirty="0"/>
                    </a:p>
                  </a:txBody>
                  <a:tcPr anchor="ctr">
                    <a:lnL w="12700" cmpd="sng">
                      <a:noFill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07356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/>
                        <a:t>MA4FCP300</a:t>
                      </a:r>
                      <a:endParaRPr lang="en-US" sz="1050" dirty="0"/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/>
                        <a:t>Single</a:t>
                      </a:r>
                      <a:endParaRPr lang="en-US" sz="105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/>
                        <a:t>30</a:t>
                      </a:r>
                      <a:endParaRPr lang="en-US" sz="105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/>
                        <a:t>70</a:t>
                      </a:r>
                      <a:endParaRPr lang="en-US" sz="105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/>
                        <a:t>0.025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/>
                        <a:t>2.6</a:t>
                      </a:r>
                      <a:endParaRPr lang="en-US" sz="1050" dirty="0"/>
                    </a:p>
                  </a:txBody>
                  <a:tcPr anchor="ctr">
                    <a:lnL w="12700" cmpd="sng">
                      <a:noFill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/>
                        <a:t>HMIC</a:t>
                      </a:r>
                      <a:endParaRPr lang="en-US" sz="1050" dirty="0"/>
                    </a:p>
                  </a:txBody>
                  <a:tcPr anchor="ctr">
                    <a:lnL w="12700" cmpd="sng">
                      <a:noFill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194293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/>
                        <a:t>MA4FCP305</a:t>
                      </a:r>
                      <a:endParaRPr lang="en-US" sz="1050" dirty="0"/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/>
                        <a:t>Single</a:t>
                      </a:r>
                      <a:endParaRPr lang="en-US" sz="105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/>
                        <a:t>18</a:t>
                      </a:r>
                      <a:endParaRPr lang="en-US" sz="105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/>
                        <a:t>40</a:t>
                      </a:r>
                      <a:endParaRPr lang="en-US" sz="105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/>
                        <a:t>0.050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/>
                        <a:t>2.1</a:t>
                      </a:r>
                      <a:endParaRPr lang="en-US" sz="1050" dirty="0"/>
                    </a:p>
                  </a:txBody>
                  <a:tcPr anchor="ctr">
                    <a:lnL w="12700" cmpd="sng">
                      <a:noFill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/>
                        <a:t>HMIC</a:t>
                      </a:r>
                      <a:endParaRPr lang="en-US" sz="1050" dirty="0"/>
                    </a:p>
                  </a:txBody>
                  <a:tcPr anchor="ctr">
                    <a:lnL w="12700" cmpd="sng">
                      <a:noFill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8244976"/>
              </p:ext>
            </p:extLst>
          </p:nvPr>
        </p:nvGraphicFramePr>
        <p:xfrm>
          <a:off x="549813" y="4064742"/>
          <a:ext cx="7635837" cy="1173677"/>
        </p:xfrm>
        <a:graphic>
          <a:graphicData uri="http://schemas.openxmlformats.org/drawingml/2006/table">
            <a:tbl>
              <a:tblPr firstRow="1" bandRow="1">
                <a:effectLst>
                  <a:innerShdw blurRad="63500" dist="50800" dir="2700000">
                    <a:prstClr val="black">
                      <a:alpha val="50000"/>
                    </a:prstClr>
                  </a:innerShdw>
                </a:effectLst>
                <a:tableStyleId>{5C22544A-7EE6-4342-B048-85BDC9FD1C3A}</a:tableStyleId>
              </a:tblPr>
              <a:tblGrid>
                <a:gridCol w="1034296"/>
                <a:gridCol w="1602029"/>
                <a:gridCol w="1080654"/>
                <a:gridCol w="1021279"/>
                <a:gridCol w="926275"/>
                <a:gridCol w="860059"/>
                <a:gridCol w="1111245"/>
              </a:tblGrid>
              <a:tr h="359823">
                <a:tc rowSpan="2">
                  <a:txBody>
                    <a:bodyPr/>
                    <a:lstStyle/>
                    <a:p>
                      <a:pPr algn="ctr"/>
                      <a:r>
                        <a:rPr lang="en-US" sz="1100" dirty="0" smtClean="0">
                          <a:solidFill>
                            <a:schemeClr val="bg1"/>
                          </a:solidFill>
                        </a:rPr>
                        <a:t>Varactor</a:t>
                      </a:r>
                      <a:r>
                        <a:rPr lang="en-US" sz="1100" baseline="0" dirty="0" smtClean="0">
                          <a:solidFill>
                            <a:schemeClr val="bg1"/>
                          </a:solidFill>
                        </a:rPr>
                        <a:t> Diodes</a:t>
                      </a:r>
                      <a:endParaRPr lang="en-US" sz="11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>
                          <a:solidFill>
                            <a:schemeClr val="bg1"/>
                          </a:solidFill>
                        </a:rPr>
                        <a:t>Configuration</a:t>
                      </a:r>
                      <a:endParaRPr lang="en-US" sz="105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>
                          <a:solidFill>
                            <a:schemeClr val="bg1"/>
                          </a:solidFill>
                        </a:rPr>
                        <a:t>Max Frequency</a:t>
                      </a:r>
                      <a:endParaRPr lang="en-US" sz="105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>
                          <a:solidFill>
                            <a:schemeClr val="bg1"/>
                          </a:solidFill>
                        </a:rPr>
                        <a:t>Breakdown Voltage Vb</a:t>
                      </a:r>
                      <a:endParaRPr lang="en-US" sz="105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>
                          <a:solidFill>
                            <a:schemeClr val="bg1"/>
                          </a:solidFill>
                        </a:rPr>
                        <a:t>Ct 4V</a:t>
                      </a:r>
                      <a:endParaRPr lang="en-US" sz="105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>
                          <a:solidFill>
                            <a:schemeClr val="bg1"/>
                          </a:solidFill>
                        </a:rPr>
                        <a:t>Gamma</a:t>
                      </a:r>
                      <a:endParaRPr lang="en-US" sz="105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 smtClean="0">
                          <a:solidFill>
                            <a:schemeClr val="bg1"/>
                          </a:solidFill>
                        </a:rPr>
                        <a:t>Material</a:t>
                      </a:r>
                      <a:endParaRPr lang="en-US" sz="105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187630">
                <a:tc vMerge="1">
                  <a:txBody>
                    <a:bodyPr/>
                    <a:lstStyle/>
                    <a:p>
                      <a:pPr algn="ctr"/>
                      <a:endParaRPr lang="en-US" sz="105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>
                          <a:solidFill>
                            <a:schemeClr val="bg1"/>
                          </a:solidFill>
                        </a:rPr>
                        <a:t>(GHz)</a:t>
                      </a:r>
                      <a:endParaRPr lang="en-US" sz="105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>
                          <a:solidFill>
                            <a:schemeClr val="bg1"/>
                          </a:solidFill>
                        </a:rPr>
                        <a:t>(V)</a:t>
                      </a:r>
                      <a:endParaRPr lang="en-US" sz="105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>
                          <a:solidFill>
                            <a:schemeClr val="bg1"/>
                          </a:solidFill>
                        </a:rPr>
                        <a:t>(pf)</a:t>
                      </a:r>
                      <a:endParaRPr lang="en-US" sz="105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</a:tr>
              <a:tr h="259277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/>
                        <a:t>MA46H146</a:t>
                      </a:r>
                      <a:endParaRPr lang="en-US" sz="1050" dirty="0"/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/>
                        <a:t>Single</a:t>
                      </a:r>
                      <a:endParaRPr lang="en-US" sz="105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/>
                        <a:t>60</a:t>
                      </a:r>
                      <a:endParaRPr lang="en-US" sz="105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/>
                        <a:t>26</a:t>
                      </a:r>
                      <a:endParaRPr lang="en-US" sz="105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/>
                        <a:t>0.033-0.06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/>
                        <a:t>1</a:t>
                      </a:r>
                      <a:endParaRPr lang="en-US" sz="1050" dirty="0"/>
                    </a:p>
                  </a:txBody>
                  <a:tcPr anchor="ctr">
                    <a:lnL w="12700" cmpd="sng">
                      <a:noFill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/>
                        <a:t>GaAs</a:t>
                      </a:r>
                      <a:endParaRPr lang="en-US" sz="1050" dirty="0"/>
                    </a:p>
                  </a:txBody>
                  <a:tcPr anchor="ctr">
                    <a:lnL w="12700" cmpd="sng">
                      <a:noFill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33482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/>
                        <a:t>MA46H120</a:t>
                      </a:r>
                      <a:endParaRPr lang="en-US" sz="1050" dirty="0"/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/>
                        <a:t>Single</a:t>
                      </a:r>
                      <a:endParaRPr lang="en-US" sz="105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/>
                        <a:t>60</a:t>
                      </a:r>
                      <a:endParaRPr lang="en-US" sz="105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/>
                        <a:t>15</a:t>
                      </a:r>
                      <a:endParaRPr lang="en-US" sz="105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/>
                        <a:t>0.20-0.40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/>
                        <a:t>0.5</a:t>
                      </a:r>
                      <a:endParaRPr lang="en-US" sz="1050" dirty="0"/>
                    </a:p>
                  </a:txBody>
                  <a:tcPr anchor="ctr">
                    <a:lnL w="12700" cmpd="sng">
                      <a:noFill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/>
                        <a:t>GaAs</a:t>
                      </a:r>
                      <a:endParaRPr lang="en-US" sz="1050" dirty="0"/>
                    </a:p>
                  </a:txBody>
                  <a:tcPr anchor="ctr">
                    <a:lnL w="12700" cmpd="sng">
                      <a:noFill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30544" y="1371998"/>
            <a:ext cx="34259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smtClean="0"/>
              <a:t>Low Capacitance Devices</a:t>
            </a:r>
          </a:p>
        </p:txBody>
      </p:sp>
      <p:pic>
        <p:nvPicPr>
          <p:cNvPr id="8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527392" y="5388990"/>
            <a:ext cx="2147852" cy="1173148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985289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30888"/>
            <a:ext cx="7719392" cy="533400"/>
          </a:xfrm>
        </p:spPr>
        <p:txBody>
          <a:bodyPr>
            <a:normAutofit fontScale="90000"/>
          </a:bodyPr>
          <a:lstStyle/>
          <a:p>
            <a:r>
              <a:rPr lang="en-US" sz="2200" dirty="0" smtClean="0"/>
              <a:t>HMIC and AlGaAs MMIC Performance Comparison </a:t>
            </a:r>
            <a:r>
              <a:rPr lang="en-US" dirty="0"/>
              <a:t>		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2147828"/>
              </p:ext>
            </p:extLst>
          </p:nvPr>
        </p:nvGraphicFramePr>
        <p:xfrm>
          <a:off x="104775" y="1019173"/>
          <a:ext cx="8963024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14750"/>
                <a:gridCol w="2752725"/>
                <a:gridCol w="2495549"/>
              </a:tblGrid>
              <a:tr h="351009">
                <a:tc>
                  <a:txBody>
                    <a:bodyPr/>
                    <a:lstStyle/>
                    <a:p>
                      <a:r>
                        <a:rPr lang="en-US" dirty="0" smtClean="0"/>
                        <a:t>Parameter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HMIC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AlGaAs</a:t>
                      </a:r>
                      <a:endParaRPr lang="en-US" dirty="0"/>
                    </a:p>
                  </a:txBody>
                  <a:tcPr/>
                </a:tc>
              </a:tr>
              <a:tr h="614265">
                <a:tc>
                  <a:txBody>
                    <a:bodyPr/>
                    <a:lstStyle/>
                    <a:p>
                      <a:r>
                        <a:rPr lang="en-US" dirty="0" smtClean="0"/>
                        <a:t>Products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Switches, Attenuators, Limiters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Switches</a:t>
                      </a:r>
                      <a:endParaRPr lang="en-US" dirty="0"/>
                    </a:p>
                  </a:txBody>
                  <a:tcPr/>
                </a:tc>
              </a:tr>
              <a:tr h="351009">
                <a:tc>
                  <a:txBody>
                    <a:bodyPr/>
                    <a:lstStyle/>
                    <a:p>
                      <a:r>
                        <a:rPr lang="en-US" dirty="0" smtClean="0"/>
                        <a:t>Medium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Silicon and Glass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Semi-Insulating</a:t>
                      </a:r>
                      <a:r>
                        <a:rPr lang="en-US" baseline="0" dirty="0" smtClean="0"/>
                        <a:t> GaAs</a:t>
                      </a:r>
                      <a:endParaRPr lang="en-US" dirty="0"/>
                    </a:p>
                  </a:txBody>
                  <a:tcPr/>
                </a:tc>
              </a:tr>
              <a:tr h="351009">
                <a:tc>
                  <a:txBody>
                    <a:bodyPr/>
                    <a:lstStyle/>
                    <a:p>
                      <a:r>
                        <a:rPr lang="en-US" dirty="0" smtClean="0"/>
                        <a:t>Die Thickness (um)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125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100</a:t>
                      </a:r>
                      <a:endParaRPr lang="en-US" dirty="0"/>
                    </a:p>
                  </a:txBody>
                  <a:tcPr/>
                </a:tc>
              </a:tr>
              <a:tr h="351009">
                <a:tc>
                  <a:txBody>
                    <a:bodyPr/>
                    <a:lstStyle/>
                    <a:p>
                      <a:r>
                        <a:rPr lang="en-US" dirty="0" smtClean="0"/>
                        <a:t>Intrinsic Length (um)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8 to 100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</a:tr>
              <a:tr h="351009">
                <a:tc>
                  <a:txBody>
                    <a:bodyPr/>
                    <a:lstStyle/>
                    <a:p>
                      <a:r>
                        <a:rPr lang="en-US" dirty="0" smtClean="0"/>
                        <a:t>I/O</a:t>
                      </a:r>
                      <a:r>
                        <a:rPr lang="en-US" baseline="0" dirty="0" smtClean="0"/>
                        <a:t> Connections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Wire Bondable and SMT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Wire Bondable Only</a:t>
                      </a:r>
                      <a:endParaRPr lang="en-US" dirty="0"/>
                    </a:p>
                  </a:txBody>
                  <a:tcPr/>
                </a:tc>
              </a:tr>
              <a:tr h="351009">
                <a:tc>
                  <a:txBody>
                    <a:bodyPr/>
                    <a:lstStyle/>
                    <a:p>
                      <a:r>
                        <a:rPr lang="en-US" dirty="0" smtClean="0"/>
                        <a:t>Passive R,L,C Integration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Yes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Yes</a:t>
                      </a:r>
                      <a:endParaRPr lang="en-US" dirty="0"/>
                    </a:p>
                  </a:txBody>
                  <a:tcPr/>
                </a:tc>
              </a:tr>
              <a:tr h="351009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Breakdown Voltage (V)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50 to 200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70</a:t>
                      </a:r>
                      <a:endParaRPr lang="en-US" dirty="0"/>
                    </a:p>
                  </a:txBody>
                  <a:tcPr/>
                </a:tc>
              </a:tr>
              <a:tr h="351009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F </a:t>
                      </a:r>
                      <a:r>
                        <a:rPr lang="en-US" baseline="0" dirty="0" smtClean="0"/>
                        <a:t>(GHz)</a:t>
                      </a:r>
                      <a:endParaRPr 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0.050 - 30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0.050 - 70</a:t>
                      </a:r>
                      <a:endParaRPr lang="en-US" dirty="0"/>
                    </a:p>
                  </a:txBody>
                  <a:tcPr/>
                </a:tc>
              </a:tr>
              <a:tr h="351009">
                <a:tc>
                  <a:txBody>
                    <a:bodyPr/>
                    <a:lstStyle/>
                    <a:p>
                      <a:r>
                        <a:rPr lang="en-US" dirty="0" smtClean="0"/>
                        <a:t>Insertion Loss at 10 GHz (SP4T)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0.6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0.45</a:t>
                      </a:r>
                      <a:endParaRPr lang="en-US" dirty="0"/>
                    </a:p>
                  </a:txBody>
                  <a:tcPr/>
                </a:tc>
              </a:tr>
              <a:tr h="351009">
                <a:tc>
                  <a:txBody>
                    <a:bodyPr/>
                    <a:lstStyle/>
                    <a:p>
                      <a:r>
                        <a:rPr lang="en-US" dirty="0" smtClean="0"/>
                        <a:t>Switching Speed (ns)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100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15</a:t>
                      </a:r>
                      <a:endParaRPr lang="en-US" dirty="0"/>
                    </a:p>
                  </a:txBody>
                  <a:tcPr/>
                </a:tc>
              </a:tr>
              <a:tr h="351009">
                <a:tc>
                  <a:txBody>
                    <a:bodyPr/>
                    <a:lstStyle/>
                    <a:p>
                      <a:r>
                        <a:rPr lang="en-US" dirty="0" smtClean="0"/>
                        <a:t>IIP3 (dBm)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25</a:t>
                      </a:r>
                      <a:endParaRPr lang="en-US" dirty="0"/>
                    </a:p>
                  </a:txBody>
                  <a:tcPr/>
                </a:tc>
              </a:tr>
              <a:tr h="515743">
                <a:tc>
                  <a:txBody>
                    <a:bodyPr/>
                    <a:lstStyle/>
                    <a:p>
                      <a:r>
                        <a:rPr lang="en-US" dirty="0" smtClean="0"/>
                        <a:t>CW Power Handling, @ 2 GHz (dBm)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+38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+28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154853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10"/>
  <p:tag name="ISPRING_RESOURCE_PATHS_HASH_2" val="754e257bf4e67b6eda8b5226aec68fcba58438"/>
  <p:tag name="MMPROD_UIDATA" val="&lt;database version=&quot;11.0&quot;&gt;&lt;object type=&quot;1&quot; unique_id=&quot;10001&quot;&gt;&lt;object type=&quot;8&quot; unique_id=&quot;10222&quot;&gt;&lt;/object&gt;&lt;object type=&quot;2&quot; unique_id=&quot;10223&quot;&gt;&lt;object type=&quot;3&quot; unique_id=&quot;33884&quot;&gt;&lt;property id=&quot;20148&quot; value=&quot;5&quot;/&gt;&lt;property id=&quot;20300&quot; value=&quot;Slide 1 - &amp;quot;Click to Edit MACOM Title Slide  Arial Black 24pt&amp;quot;&quot;/&gt;&lt;property id=&quot;20307&quot; value=&quot;484&quot;/&gt;&lt;/object&gt;&lt;object type=&quot;3&quot; unique_id=&quot;33885&quot;&gt;&lt;property id=&quot;20148&quot; value=&quot;5&quot;/&gt;&lt;property id=&quot;20300&quot; value=&quot;Slide 2 - &amp;quot;Layout: Section Divider&amp;quot;&quot;/&gt;&lt;property id=&quot;20307&quot; value=&quot;503&quot;/&gt;&lt;/object&gt;&lt;object type=&quot;3&quot; unique_id=&quot;33886&quot;&gt;&lt;property id=&quot;20148&quot; value=&quot;5&quot;/&gt;&lt;property id=&quot;20300&quot; value=&quot;Slide 3 - &amp;quot;Title and Content, Arial Black 24pt&amp;quot;&quot;/&gt;&lt;property id=&quot;20307&quot; value=&quot;489&quot;/&gt;&lt;/object&gt;&lt;object type=&quot;3&quot; unique_id=&quot;33887&quot;&gt;&lt;property id=&quot;20148&quot; value=&quot;5&quot;/&gt;&lt;property id=&quot;20300&quot; value=&quot;Slide 4 - &amp;quot;Title and Content with Subhead&amp;quot;&quot;/&gt;&lt;property id=&quot;20307&quot; value=&quot;504&quot;/&gt;&lt;/object&gt;&lt;object type=&quot;3&quot; unique_id=&quot;33888&quot;&gt;&lt;property id=&quot;20148&quot; value=&quot;5&quot;/&gt;&lt;property id=&quot;20300&quot; value=&quot;Slide 5 - &amp;quot;Layout: Two Content, No subhead&amp;quot;&quot;/&gt;&lt;property id=&quot;20307&quot; value=&quot;490&quot;/&gt;&lt;/object&gt;&lt;object type=&quot;3&quot; unique_id=&quot;33889&quot;&gt;&lt;property id=&quot;20148&quot; value=&quot;5&quot;/&gt;&lt;property id=&quot;20300&quot; value=&quot;Slide 6 - &amp;quot;Layout: Two Content, with Subhead&amp;quot;&quot;/&gt;&lt;property id=&quot;20307&quot; value=&quot;505&quot;/&gt;&lt;/object&gt;&lt;object type=&quot;3&quot; unique_id=&quot;33890&quot;&gt;&lt;property id=&quot;20148&quot; value=&quot;5&quot;/&gt;&lt;property id=&quot;20300&quot; value=&quot;Slide 7 - &amp;quot;Layout: Comparison&amp;quot;&quot;/&gt;&lt;property id=&quot;20307&quot; value=&quot;506&quot;/&gt;&lt;/object&gt;&lt;object type=&quot;3&quot; unique_id=&quot;33891&quot;&gt;&lt;property id=&quot;20148&quot; value=&quot;5&quot;/&gt;&lt;property id=&quot;20300&quot; value=&quot;Slide 8 - &amp;quot;Color Scheme&amp;quot;&quot;/&gt;&lt;property id=&quot;20307&quot; value=&quot;491&quot;/&gt;&lt;/object&gt;&lt;object type=&quot;3&quot; unique_id=&quot;33892&quot;&gt;&lt;property id=&quot;20148&quot; value=&quot;5&quot;/&gt;&lt;property id=&quot;20300&quot; value=&quot;Slide 9 - &amp;quot;Default Settings&amp;quot;&quot;/&gt;&lt;property id=&quot;20307&quot; value=&quot;493&quot;/&gt;&lt;/object&gt;&lt;object type=&quot;3&quot; unique_id=&quot;33893&quot;&gt;&lt;property id=&quot;20148&quot; value=&quot;5&quot;/&gt;&lt;property id=&quot;20300&quot; value=&quot;Slide 10 - &amp;quot;Default Table Style&amp;quot;&quot;/&gt;&lt;property id=&quot;20307&quot; value=&quot;494&quot;/&gt;&lt;/object&gt;&lt;object type=&quot;3&quot; unique_id=&quot;33894&quot;&gt;&lt;property id=&quot;20148&quot; value=&quot;5&quot;/&gt;&lt;property id=&quot;20300&quot; value=&quot;Slide 11 - &amp;quot;Column Chart Sample&amp;quot;&quot;/&gt;&lt;property id=&quot;20307&quot; value=&quot;496&quot;/&gt;&lt;/object&gt;&lt;object type=&quot;3&quot; unique_id=&quot;33895&quot;&gt;&lt;property id=&quot;20148&quot; value=&quot;5&quot;/&gt;&lt;property id=&quot;20300&quot; value=&quot;Slide 12 - &amp;quot;Two Content  Column Chart Sample&amp;quot;&quot;/&gt;&lt;property id=&quot;20307&quot; value=&quot;495&quot;/&gt;&lt;/object&gt;&lt;object type=&quot;3&quot; unique_id=&quot;33896&quot;&gt;&lt;property id=&quot;20148&quot; value=&quot;5&quot;/&gt;&lt;property id=&quot;20300&quot; value=&quot;Slide 13 - &amp;quot;Line Chart Sample&amp;quot;&quot;/&gt;&lt;property id=&quot;20307&quot; value=&quot;501&quot;/&gt;&lt;/object&gt;&lt;object type=&quot;3&quot; unique_id=&quot;33897&quot;&gt;&lt;property id=&quot;20148&quot; value=&quot;5&quot;/&gt;&lt;property id=&quot;20300&quot; value=&quot;Slide 14 - &amp;quot;Two Content  Line Chart Sample&amp;quot;&quot;/&gt;&lt;property id=&quot;20307&quot; value=&quot;502&quot;/&gt;&lt;/object&gt;&lt;object type=&quot;3&quot; unique_id=&quot;33898&quot;&gt;&lt;property id=&quot;20148&quot; value=&quot;5&quot;/&gt;&lt;property id=&quot;20300&quot; value=&quot;Slide 15 - &amp;quot;Pie Chart Sample &amp;quot;&quot;/&gt;&lt;property id=&quot;20307&quot; value=&quot;499&quot;/&gt;&lt;/object&gt;&lt;object type=&quot;3&quot; unique_id=&quot;33899&quot;&gt;&lt;property id=&quot;20148&quot; value=&quot;5&quot;/&gt;&lt;property id=&quot;20300&quot; value=&quot;Slide 16 - &amp;quot;Two Content  Pie Chart Sample &amp;quot;&quot;/&gt;&lt;property id=&quot;20307&quot; value=&quot;500&quot;/&gt;&lt;/object&gt;&lt;/object&gt;&lt;/object&gt;&lt;/database&gt;"/>
  <p:tag name="SECTOMILLISECCONVERTED" val="1"/>
</p:tagLst>
</file>

<file path=ppt/theme/theme1.xml><?xml version="1.0" encoding="utf-8"?>
<a:theme xmlns:a="http://schemas.openxmlformats.org/drawingml/2006/main" name="PPT-2010-Template_LightDark">
  <a:themeElements>
    <a:clrScheme name="MACOM">
      <a:dk1>
        <a:sysClr val="windowText" lastClr="000000"/>
      </a:dk1>
      <a:lt1>
        <a:sysClr val="window" lastClr="FFFFFF"/>
      </a:lt1>
      <a:dk2>
        <a:srgbClr val="00243E"/>
      </a:dk2>
      <a:lt2>
        <a:srgbClr val="FFFFFF"/>
      </a:lt2>
      <a:accent1>
        <a:srgbClr val="005A84"/>
      </a:accent1>
      <a:accent2>
        <a:srgbClr val="0083C2"/>
      </a:accent2>
      <a:accent3>
        <a:srgbClr val="00A5B6"/>
      </a:accent3>
      <a:accent4>
        <a:srgbClr val="6C953C"/>
      </a:accent4>
      <a:accent5>
        <a:srgbClr val="8DC73F"/>
      </a:accent5>
      <a:accent6>
        <a:srgbClr val="DADA56"/>
      </a:accent6>
      <a:hlink>
        <a:srgbClr val="0083C2"/>
      </a:hlink>
      <a:folHlink>
        <a:srgbClr val="77B800"/>
      </a:folHlink>
    </a:clrScheme>
    <a:fontScheme name="MACOM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2"/>
        </a:solidFill>
        <a:ln w="12700" cap="sq" algn="ctr">
          <a:noFill/>
          <a:miter lim="800000"/>
          <a:headEnd/>
          <a:tailEnd/>
        </a:ln>
        <a:effectLst/>
      </a:spPr>
      <a:bodyPr wrap="square" lIns="0" rIns="0" rtlCol="0" anchor="ctr"/>
      <a:lstStyle>
        <a:defPPr algn="ctr">
          <a:spcBef>
            <a:spcPts val="600"/>
          </a:spcBef>
          <a:defRPr dirty="0" smtClean="0">
            <a:solidFill>
              <a:schemeClr val="bg1"/>
            </a:solidFill>
            <a:latin typeface="+mn-lt"/>
          </a:defRPr>
        </a:defPPr>
      </a:lstStyle>
    </a:spDef>
    <a:lnDef>
      <a:spPr bwMode="auto">
        <a:solidFill>
          <a:schemeClr val="accent2"/>
        </a:solidFill>
        <a:ln w="19050" cap="sq" cmpd="sng" algn="ctr">
          <a:solidFill>
            <a:schemeClr val="accent2"/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</a:lnDef>
    <a:txDef>
      <a:spPr bwMode="auto">
        <a:noFill/>
        <a:ln w="12700" cap="sq" algn="ctr">
          <a:noFill/>
          <a:miter lim="800000"/>
          <a:headEnd/>
          <a:tailEnd/>
        </a:ln>
        <a:effectLst/>
      </a:spPr>
      <a:bodyPr wrap="square" rtlCol="0" anchor="ctr" anchorCtr="0">
        <a:noAutofit/>
      </a:bodyPr>
      <a:lstStyle>
        <a:defPPr>
          <a:spcBef>
            <a:spcPts val="900"/>
          </a:spcBef>
          <a:defRPr dirty="0" err="1" smtClean="0">
            <a:solidFill>
              <a:schemeClr val="tx2"/>
            </a:solidFill>
            <a:latin typeface="+mn-lt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17388-MACOM2016-4x3-edit</Template>
  <TotalTime>1312</TotalTime>
  <Words>1325</Words>
  <Application>Microsoft Office PowerPoint</Application>
  <PresentationFormat>On-screen Show (4:3)</PresentationFormat>
  <Paragraphs>419</Paragraphs>
  <Slides>23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2" baseType="lpstr">
      <vt:lpstr>MS PGothic</vt:lpstr>
      <vt:lpstr>Arial</vt:lpstr>
      <vt:lpstr>Arial Black</vt:lpstr>
      <vt:lpstr>Calibri</vt:lpstr>
      <vt:lpstr>Cambria Math</vt:lpstr>
      <vt:lpstr>Helvetica</vt:lpstr>
      <vt:lpstr>Symbol</vt:lpstr>
      <vt:lpstr>Wingdings</vt:lpstr>
      <vt:lpstr>PPT-2010-Template_LightDark</vt:lpstr>
      <vt:lpstr>MACOM Diode Products – AlGaAs Control Products rev 1</vt:lpstr>
      <vt:lpstr>PowerPoint Presentation</vt:lpstr>
      <vt:lpstr>PowerPoint Presentation</vt:lpstr>
      <vt:lpstr>AlGaAs PIN Process</vt:lpstr>
      <vt:lpstr>PIN Diodes at mmW – the Classic  Conundrum</vt:lpstr>
      <vt:lpstr>Why AlGaAs?</vt:lpstr>
      <vt:lpstr>How to Increase Charge in the I Layer?</vt:lpstr>
      <vt:lpstr>Why AlGaAs (cont’d)?</vt:lpstr>
      <vt:lpstr>Rs Reduction &amp; Isolation Validation</vt:lpstr>
      <vt:lpstr>Power Handling/Switch Topology</vt:lpstr>
      <vt:lpstr>AlGaAs Shunt PIN Diode Structure</vt:lpstr>
      <vt:lpstr>AlGaAs PIN Diode Products</vt:lpstr>
      <vt:lpstr>PIN Diode Families</vt:lpstr>
      <vt:lpstr>PIN Switches</vt:lpstr>
      <vt:lpstr>AlGaAs Products</vt:lpstr>
      <vt:lpstr>AlGaAs PIN Diode Switches </vt:lpstr>
      <vt:lpstr>AlGaAs SP3T W Band Switch MASW-011029 </vt:lpstr>
      <vt:lpstr>MASW-011036  Ka-Band High Power Terminated AlGaAs SPDT PIN Switch</vt:lpstr>
      <vt:lpstr>MASW-010646  Ka-Band High Power Reflective AlGaAs SPDT PIN Switch</vt:lpstr>
      <vt:lpstr>Thank You</vt:lpstr>
      <vt:lpstr>Appendix</vt:lpstr>
      <vt:lpstr>Flip Chip Products</vt:lpstr>
      <vt:lpstr>HMIC and AlGaAs MMIC Performance Comparison   </vt:lpstr>
    </vt:vector>
  </TitlesOfParts>
  <Company>Microsoft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Click to Edit MACOM Title Slide  Arial Black 24pt</dc:title>
  <dc:creator>Megan Haley</dc:creator>
  <cp:lastModifiedBy>Rick Cory</cp:lastModifiedBy>
  <cp:revision>67</cp:revision>
  <cp:lastPrinted>2014-03-27T13:48:09Z</cp:lastPrinted>
  <dcterms:created xsi:type="dcterms:W3CDTF">2016-07-13T20:18:51Z</dcterms:created>
  <dcterms:modified xsi:type="dcterms:W3CDTF">2017-04-07T14:36:18Z</dcterms:modified>
</cp:coreProperties>
</file>